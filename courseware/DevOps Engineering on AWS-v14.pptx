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45.xml" ContentType="application/vnd.openxmlformats-officedocument.presentationml.notesSlide+xml"/>
  <Override PartName="/ppt/notesSlides/notesSlide446.xml" ContentType="application/vnd.openxmlformats-officedocument.presentationml.notesSlide+xml"/>
  <Override PartName="/ppt/notesSlides/notesSlide447.xml" ContentType="application/vnd.openxmlformats-officedocument.presentationml.notesSlide+xml"/>
  <Override PartName="/ppt/notesSlides/notesSlide448.xml" ContentType="application/vnd.openxmlformats-officedocument.presentationml.notesSlide+xml"/>
  <Override PartName="/ppt/notesSlides/notesSlide449.xml" ContentType="application/vnd.openxmlformats-officedocument.presentationml.notesSlide+xml"/>
  <Override PartName="/ppt/notesSlides/notesSlide45.xml" ContentType="application/vnd.openxmlformats-officedocument.presentationml.notesSlide+xml"/>
  <Override PartName="/ppt/notesSlides/notesSlide450.xml" ContentType="application/vnd.openxmlformats-officedocument.presentationml.notesSlide+xml"/>
  <Override PartName="/ppt/notesSlides/notesSlide451.xml" ContentType="application/vnd.openxmlformats-officedocument.presentationml.notesSlide+xml"/>
  <Override PartName="/ppt/notesSlides/notesSlide452.xml" ContentType="application/vnd.openxmlformats-officedocument.presentationml.notesSlide+xml"/>
  <Override PartName="/ppt/notesSlides/notesSlide453.xml" ContentType="application/vnd.openxmlformats-officedocument.presentationml.notesSlide+xml"/>
  <Override PartName="/ppt/notesSlides/notesSlide454.xml" ContentType="application/vnd.openxmlformats-officedocument.presentationml.notesSlide+xml"/>
  <Override PartName="/ppt/notesSlides/notesSlide455.xml" ContentType="application/vnd.openxmlformats-officedocument.presentationml.notesSlide+xml"/>
  <Override PartName="/ppt/notesSlides/notesSlide456.xml" ContentType="application/vnd.openxmlformats-officedocument.presentationml.notesSlide+xml"/>
  <Override PartName="/ppt/notesSlides/notesSlide457.xml" ContentType="application/vnd.openxmlformats-officedocument.presentationml.notesSlide+xml"/>
  <Override PartName="/ppt/notesSlides/notesSlide458.xml" ContentType="application/vnd.openxmlformats-officedocument.presentationml.notesSlide+xml"/>
  <Override PartName="/ppt/notesSlides/notesSlide459.xml" ContentType="application/vnd.openxmlformats-officedocument.presentationml.notesSlide+xml"/>
  <Override PartName="/ppt/notesSlides/notesSlide46.xml" ContentType="application/vnd.openxmlformats-officedocument.presentationml.notesSlide+xml"/>
  <Override PartName="/ppt/notesSlides/notesSlide460.xml" ContentType="application/vnd.openxmlformats-officedocument.presentationml.notesSlide+xml"/>
  <Override PartName="/ppt/notesSlides/notesSlide461.xml" ContentType="application/vnd.openxmlformats-officedocument.presentationml.notesSlide+xml"/>
  <Override PartName="/ppt/notesSlides/notesSlide462.xml" ContentType="application/vnd.openxmlformats-officedocument.presentationml.notesSlide+xml"/>
  <Override PartName="/ppt/notesSlides/notesSlide463.xml" ContentType="application/vnd.openxmlformats-officedocument.presentationml.notesSlide+xml"/>
  <Override PartName="/ppt/notesSlides/notesSlide464.xml" ContentType="application/vnd.openxmlformats-officedocument.presentationml.notesSlide+xml"/>
  <Override PartName="/ppt/notesSlides/notesSlide465.xml" ContentType="application/vnd.openxmlformats-officedocument.presentationml.notesSlide+xml"/>
  <Override PartName="/ppt/notesSlides/notesSlide466.xml" ContentType="application/vnd.openxmlformats-officedocument.presentationml.notesSlide+xml"/>
  <Override PartName="/ppt/notesSlides/notesSlide467.xml" ContentType="application/vnd.openxmlformats-officedocument.presentationml.notesSlide+xml"/>
  <Override PartName="/ppt/notesSlides/notesSlide468.xml" ContentType="application/vnd.openxmlformats-officedocument.presentationml.notesSlide+xml"/>
  <Override PartName="/ppt/notesSlides/notesSlide469.xml" ContentType="application/vnd.openxmlformats-officedocument.presentationml.notesSlide+xml"/>
  <Override PartName="/ppt/notesSlides/notesSlide47.xml" ContentType="application/vnd.openxmlformats-officedocument.presentationml.notesSlide+xml"/>
  <Override PartName="/ppt/notesSlides/notesSlide470.xml" ContentType="application/vnd.openxmlformats-officedocument.presentationml.notesSlide+xml"/>
  <Override PartName="/ppt/notesSlides/notesSlide471.xml" ContentType="application/vnd.openxmlformats-officedocument.presentationml.notesSlide+xml"/>
  <Override PartName="/ppt/notesSlides/notesSlide472.xml" ContentType="application/vnd.openxmlformats-officedocument.presentationml.notesSlide+xml"/>
  <Override PartName="/ppt/notesSlides/notesSlide473.xml" ContentType="application/vnd.openxmlformats-officedocument.presentationml.notesSlide+xml"/>
  <Override PartName="/ppt/notesSlides/notesSlide474.xml" ContentType="application/vnd.openxmlformats-officedocument.presentationml.notesSlide+xml"/>
  <Override PartName="/ppt/notesSlides/notesSlide475.xml" ContentType="application/vnd.openxmlformats-officedocument.presentationml.notesSlide+xml"/>
  <Override PartName="/ppt/notesSlides/notesSlide476.xml" ContentType="application/vnd.openxmlformats-officedocument.presentationml.notesSlide+xml"/>
  <Override PartName="/ppt/notesSlides/notesSlide477.xml" ContentType="application/vnd.openxmlformats-officedocument.presentationml.notesSlide+xml"/>
  <Override PartName="/ppt/notesSlides/notesSlide478.xml" ContentType="application/vnd.openxmlformats-officedocument.presentationml.notesSlide+xml"/>
  <Override PartName="/ppt/notesSlides/notesSlide479.xml" ContentType="application/vnd.openxmlformats-officedocument.presentationml.notesSlide+xml"/>
  <Override PartName="/ppt/notesSlides/notesSlide48.xml" ContentType="application/vnd.openxmlformats-officedocument.presentationml.notesSlide+xml"/>
  <Override PartName="/ppt/notesSlides/notesSlide480.xml" ContentType="application/vnd.openxmlformats-officedocument.presentationml.notesSlide+xml"/>
  <Override PartName="/ppt/notesSlides/notesSlide481.xml" ContentType="application/vnd.openxmlformats-officedocument.presentationml.notesSlide+xml"/>
  <Override PartName="/ppt/notesSlides/notesSlide482.xml" ContentType="application/vnd.openxmlformats-officedocument.presentationml.notesSlide+xml"/>
  <Override PartName="/ppt/notesSlides/notesSlide483.xml" ContentType="application/vnd.openxmlformats-officedocument.presentationml.notesSlide+xml"/>
  <Override PartName="/ppt/notesSlides/notesSlide484.xml" ContentType="application/vnd.openxmlformats-officedocument.presentationml.notesSlide+xml"/>
  <Override PartName="/ppt/notesSlides/notesSlide485.xml" ContentType="application/vnd.openxmlformats-officedocument.presentationml.notesSlide+xml"/>
  <Override PartName="/ppt/notesSlides/notesSlide486.xml" ContentType="application/vnd.openxmlformats-officedocument.presentationml.notesSlide+xml"/>
  <Override PartName="/ppt/notesSlides/notesSlide487.xml" ContentType="application/vnd.openxmlformats-officedocument.presentationml.notesSlide+xml"/>
  <Override PartName="/ppt/notesSlides/notesSlide488.xml" ContentType="application/vnd.openxmlformats-officedocument.presentationml.notesSlide+xml"/>
  <Override PartName="/ppt/notesSlides/notesSlide489.xml" ContentType="application/vnd.openxmlformats-officedocument.presentationml.notesSlide+xml"/>
  <Override PartName="/ppt/notesSlides/notesSlide49.xml" ContentType="application/vnd.openxmlformats-officedocument.presentationml.notesSlide+xml"/>
  <Override PartName="/ppt/notesSlides/notesSlide490.xml" ContentType="application/vnd.openxmlformats-officedocument.presentationml.notesSlide+xml"/>
  <Override PartName="/ppt/notesSlides/notesSlide491.xml" ContentType="application/vnd.openxmlformats-officedocument.presentationml.notesSlide+xml"/>
  <Override PartName="/ppt/notesSlides/notesSlide492.xml" ContentType="application/vnd.openxmlformats-officedocument.presentationml.notesSlide+xml"/>
  <Override PartName="/ppt/notesSlides/notesSlide493.xml" ContentType="application/vnd.openxmlformats-officedocument.presentationml.notesSlide+xml"/>
  <Override PartName="/ppt/notesSlides/notesSlide494.xml" ContentType="application/vnd.openxmlformats-officedocument.presentationml.notesSlide+xml"/>
  <Override PartName="/ppt/notesSlides/notesSlide495.xml" ContentType="application/vnd.openxmlformats-officedocument.presentationml.notesSlide+xml"/>
  <Override PartName="/ppt/notesSlides/notesSlide496.xml" ContentType="application/vnd.openxmlformats-officedocument.presentationml.notesSlide+xml"/>
  <Override PartName="/ppt/notesSlides/notesSlide497.xml" ContentType="application/vnd.openxmlformats-officedocument.presentationml.notesSlide+xml"/>
  <Override PartName="/ppt/notesSlides/notesSlide498.xml" ContentType="application/vnd.openxmlformats-officedocument.presentationml.notesSlide+xml"/>
  <Override PartName="/ppt/notesSlides/notesSlide49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00.xml" ContentType="application/vnd.openxmlformats-officedocument.presentationml.notesSlide+xml"/>
  <Override PartName="/ppt/notesSlides/notesSlide501.xml" ContentType="application/vnd.openxmlformats-officedocument.presentationml.notesSlide+xml"/>
  <Override PartName="/ppt/notesSlides/notesSlide502.xml" ContentType="application/vnd.openxmlformats-officedocument.presentationml.notesSlide+xml"/>
  <Override PartName="/ppt/notesSlides/notesSlide503.xml" ContentType="application/vnd.openxmlformats-officedocument.presentationml.notesSlide+xml"/>
  <Override PartName="/ppt/notesSlides/notesSlide504.xml" ContentType="application/vnd.openxmlformats-officedocument.presentationml.notesSlide+xml"/>
  <Override PartName="/ppt/notesSlides/notesSlide505.xml" ContentType="application/vnd.openxmlformats-officedocument.presentationml.notesSlide+xml"/>
  <Override PartName="/ppt/notesSlides/notesSlide506.xml" ContentType="application/vnd.openxmlformats-officedocument.presentationml.notesSlide+xml"/>
  <Override PartName="/ppt/notesSlides/notesSlide507.xml" ContentType="application/vnd.openxmlformats-officedocument.presentationml.notesSlide+xml"/>
  <Override PartName="/ppt/notesSlides/notesSlide508.xml" ContentType="application/vnd.openxmlformats-officedocument.presentationml.notesSlide+xml"/>
  <Override PartName="/ppt/notesSlides/notesSlide509.xml" ContentType="application/vnd.openxmlformats-officedocument.presentationml.notesSlide+xml"/>
  <Override PartName="/ppt/notesSlides/notesSlide51.xml" ContentType="application/vnd.openxmlformats-officedocument.presentationml.notesSlide+xml"/>
  <Override PartName="/ppt/notesSlides/notesSlide510.xml" ContentType="application/vnd.openxmlformats-officedocument.presentationml.notesSlide+xml"/>
  <Override PartName="/ppt/notesSlides/notesSlide511.xml" ContentType="application/vnd.openxmlformats-officedocument.presentationml.notesSlide+xml"/>
  <Override PartName="/ppt/notesSlides/notesSlide512.xml" ContentType="application/vnd.openxmlformats-officedocument.presentationml.notesSlide+xml"/>
  <Override PartName="/ppt/notesSlides/notesSlide513.xml" ContentType="application/vnd.openxmlformats-officedocument.presentationml.notesSlide+xml"/>
  <Override PartName="/ppt/notesSlides/notesSlide514.xml" ContentType="application/vnd.openxmlformats-officedocument.presentationml.notesSlide+xml"/>
  <Override PartName="/ppt/notesSlides/notesSlide515.xml" ContentType="application/vnd.openxmlformats-officedocument.presentationml.notesSlide+xml"/>
  <Override PartName="/ppt/notesSlides/notesSlide516.xml" ContentType="application/vnd.openxmlformats-officedocument.presentationml.notesSlide+xml"/>
  <Override PartName="/ppt/notesSlides/notesSlide517.xml" ContentType="application/vnd.openxmlformats-officedocument.presentationml.notesSlide+xml"/>
  <Override PartName="/ppt/notesSlides/notesSlide518.xml" ContentType="application/vnd.openxmlformats-officedocument.presentationml.notesSlide+xml"/>
  <Override PartName="/ppt/notesSlides/notesSlide519.xml" ContentType="application/vnd.openxmlformats-officedocument.presentationml.notesSlide+xml"/>
  <Override PartName="/ppt/notesSlides/notesSlide52.xml" ContentType="application/vnd.openxmlformats-officedocument.presentationml.notesSlide+xml"/>
  <Override PartName="/ppt/notesSlides/notesSlide520.xml" ContentType="application/vnd.openxmlformats-officedocument.presentationml.notesSlide+xml"/>
  <Override PartName="/ppt/notesSlides/notesSlide521.xml" ContentType="application/vnd.openxmlformats-officedocument.presentationml.notesSlide+xml"/>
  <Override PartName="/ppt/notesSlides/notesSlide522.xml" ContentType="application/vnd.openxmlformats-officedocument.presentationml.notesSlide+xml"/>
  <Override PartName="/ppt/notesSlides/notesSlide523.xml" ContentType="application/vnd.openxmlformats-officedocument.presentationml.notesSlide+xml"/>
  <Override PartName="/ppt/notesSlides/notesSlide524.xml" ContentType="application/vnd.openxmlformats-officedocument.presentationml.notesSlide+xml"/>
  <Override PartName="/ppt/notesSlides/notesSlide525.xml" ContentType="application/vnd.openxmlformats-officedocument.presentationml.notesSlide+xml"/>
  <Override PartName="/ppt/notesSlides/notesSlide526.xml" ContentType="application/vnd.openxmlformats-officedocument.presentationml.notesSlide+xml"/>
  <Override PartName="/ppt/notesSlides/notesSlide527.xml" ContentType="application/vnd.openxmlformats-officedocument.presentationml.notesSlide+xml"/>
  <Override PartName="/ppt/notesSlides/notesSlide528.xml" ContentType="application/vnd.openxmlformats-officedocument.presentationml.notesSlide+xml"/>
  <Override PartName="/ppt/notesSlides/notesSlide529.xml" ContentType="application/vnd.openxmlformats-officedocument.presentationml.notesSlide+xml"/>
  <Override PartName="/ppt/notesSlides/notesSlide53.xml" ContentType="application/vnd.openxmlformats-officedocument.presentationml.notesSlide+xml"/>
  <Override PartName="/ppt/notesSlides/notesSlide530.xml" ContentType="application/vnd.openxmlformats-officedocument.presentationml.notesSlide+xml"/>
  <Override PartName="/ppt/notesSlides/notesSlide531.xml" ContentType="application/vnd.openxmlformats-officedocument.presentationml.notesSlide+xml"/>
  <Override PartName="/ppt/notesSlides/notesSlide532.xml" ContentType="application/vnd.openxmlformats-officedocument.presentationml.notesSlide+xml"/>
  <Override PartName="/ppt/notesSlides/notesSlide533.xml" ContentType="application/vnd.openxmlformats-officedocument.presentationml.notesSlide+xml"/>
  <Override PartName="/ppt/notesSlides/notesSlide534.xml" ContentType="application/vnd.openxmlformats-officedocument.presentationml.notesSlide+xml"/>
  <Override PartName="/ppt/notesSlides/notesSlide535.xml" ContentType="application/vnd.openxmlformats-officedocument.presentationml.notesSlide+xml"/>
  <Override PartName="/ppt/notesSlides/notesSlide536.xml" ContentType="application/vnd.openxmlformats-officedocument.presentationml.notesSlide+xml"/>
  <Override PartName="/ppt/notesSlides/notesSlide537.xml" ContentType="application/vnd.openxmlformats-officedocument.presentationml.notesSlide+xml"/>
  <Override PartName="/ppt/notesSlides/notesSlide538.xml" ContentType="application/vnd.openxmlformats-officedocument.presentationml.notesSlide+xml"/>
  <Override PartName="/ppt/notesSlides/notesSlide539.xml" ContentType="application/vnd.openxmlformats-officedocument.presentationml.notesSlide+xml"/>
  <Override PartName="/ppt/notesSlides/notesSlide54.xml" ContentType="application/vnd.openxmlformats-officedocument.presentationml.notesSlide+xml"/>
  <Override PartName="/ppt/notesSlides/notesSlide540.xml" ContentType="application/vnd.openxmlformats-officedocument.presentationml.notesSlide+xml"/>
  <Override PartName="/ppt/notesSlides/notesSlide541.xml" ContentType="application/vnd.openxmlformats-officedocument.presentationml.notesSlide+xml"/>
  <Override PartName="/ppt/notesSlides/notesSlide542.xml" ContentType="application/vnd.openxmlformats-officedocument.presentationml.notesSlide+xml"/>
  <Override PartName="/ppt/notesSlides/notesSlide543.xml" ContentType="application/vnd.openxmlformats-officedocument.presentationml.notesSlide+xml"/>
  <Override PartName="/ppt/notesSlides/notesSlide544.xml" ContentType="application/vnd.openxmlformats-officedocument.presentationml.notesSlide+xml"/>
  <Override PartName="/ppt/notesSlides/notesSlide545.xml" ContentType="application/vnd.openxmlformats-officedocument.presentationml.notesSlide+xml"/>
  <Override PartName="/ppt/notesSlides/notesSlide546.xml" ContentType="application/vnd.openxmlformats-officedocument.presentationml.notesSlide+xml"/>
  <Override PartName="/ppt/notesSlides/notesSlide547.xml" ContentType="application/vnd.openxmlformats-officedocument.presentationml.notesSlide+xml"/>
  <Override PartName="/ppt/notesSlides/notesSlide548.xml" ContentType="application/vnd.openxmlformats-officedocument.presentationml.notesSlide+xml"/>
  <Override PartName="/ppt/notesSlides/notesSlide549.xml" ContentType="application/vnd.openxmlformats-officedocument.presentationml.notesSlide+xml"/>
  <Override PartName="/ppt/notesSlides/notesSlide55.xml" ContentType="application/vnd.openxmlformats-officedocument.presentationml.notesSlide+xml"/>
  <Override PartName="/ppt/notesSlides/notesSlide550.xml" ContentType="application/vnd.openxmlformats-officedocument.presentationml.notesSlide+xml"/>
  <Override PartName="/ppt/notesSlides/notesSlide551.xml" ContentType="application/vnd.openxmlformats-officedocument.presentationml.notesSlide+xml"/>
  <Override PartName="/ppt/notesSlides/notesSlide552.xml" ContentType="application/vnd.openxmlformats-officedocument.presentationml.notesSlide+xml"/>
  <Override PartName="/ppt/notesSlides/notesSlide553.xml" ContentType="application/vnd.openxmlformats-officedocument.presentationml.notesSlide+xml"/>
  <Override PartName="/ppt/notesSlides/notesSlide554.xml" ContentType="application/vnd.openxmlformats-officedocument.presentationml.notesSlide+xml"/>
  <Override PartName="/ppt/notesSlides/notesSlide555.xml" ContentType="application/vnd.openxmlformats-officedocument.presentationml.notesSlide+xml"/>
  <Override PartName="/ppt/notesSlides/notesSlide556.xml" ContentType="application/vnd.openxmlformats-officedocument.presentationml.notesSlide+xml"/>
  <Override PartName="/ppt/notesSlides/notesSlide557.xml" ContentType="application/vnd.openxmlformats-officedocument.presentationml.notesSlide+xml"/>
  <Override PartName="/ppt/notesSlides/notesSlide558.xml" ContentType="application/vnd.openxmlformats-officedocument.presentationml.notesSlide+xml"/>
  <Override PartName="/ppt/notesSlides/notesSlide559.xml" ContentType="application/vnd.openxmlformats-officedocument.presentationml.notesSlide+xml"/>
  <Override PartName="/ppt/notesSlides/notesSlide56.xml" ContentType="application/vnd.openxmlformats-officedocument.presentationml.notesSlide+xml"/>
  <Override PartName="/ppt/notesSlides/notesSlide560.xml" ContentType="application/vnd.openxmlformats-officedocument.presentationml.notesSlide+xml"/>
  <Override PartName="/ppt/notesSlides/notesSlide561.xml" ContentType="application/vnd.openxmlformats-officedocument.presentationml.notesSlide+xml"/>
  <Override PartName="/ppt/notesSlides/notesSlide562.xml" ContentType="application/vnd.openxmlformats-officedocument.presentationml.notesSlide+xml"/>
  <Override PartName="/ppt/notesSlides/notesSlide563.xml" ContentType="application/vnd.openxmlformats-officedocument.presentationml.notesSlide+xml"/>
  <Override PartName="/ppt/notesSlides/notesSlide564.xml" ContentType="application/vnd.openxmlformats-officedocument.presentationml.notesSlide+xml"/>
  <Override PartName="/ppt/notesSlides/notesSlide565.xml" ContentType="application/vnd.openxmlformats-officedocument.presentationml.notesSlide+xml"/>
  <Override PartName="/ppt/notesSlides/notesSlide566.xml" ContentType="application/vnd.openxmlformats-officedocument.presentationml.notesSlide+xml"/>
  <Override PartName="/ppt/notesSlides/notesSlide567.xml" ContentType="application/vnd.openxmlformats-officedocument.presentationml.notesSlide+xml"/>
  <Override PartName="/ppt/notesSlides/notesSlide568.xml" ContentType="application/vnd.openxmlformats-officedocument.presentationml.notesSlide+xml"/>
  <Override PartName="/ppt/notesSlides/notesSlide569.xml" ContentType="application/vnd.openxmlformats-officedocument.presentationml.notesSlide+xml"/>
  <Override PartName="/ppt/notesSlides/notesSlide57.xml" ContentType="application/vnd.openxmlformats-officedocument.presentationml.notesSlide+xml"/>
  <Override PartName="/ppt/notesSlides/notesSlide570.xml" ContentType="application/vnd.openxmlformats-officedocument.presentationml.notesSlide+xml"/>
  <Override PartName="/ppt/notesSlides/notesSlide571.xml" ContentType="application/vnd.openxmlformats-officedocument.presentationml.notesSlide+xml"/>
  <Override PartName="/ppt/notesSlides/notesSlide572.xml" ContentType="application/vnd.openxmlformats-officedocument.presentationml.notesSlide+xml"/>
  <Override PartName="/ppt/notesSlides/notesSlide573.xml" ContentType="application/vnd.openxmlformats-officedocument.presentationml.notesSlide+xml"/>
  <Override PartName="/ppt/notesSlides/notesSlide574.xml" ContentType="application/vnd.openxmlformats-officedocument.presentationml.notesSlide+xml"/>
  <Override PartName="/ppt/notesSlides/notesSlide575.xml" ContentType="application/vnd.openxmlformats-officedocument.presentationml.notesSlide+xml"/>
  <Override PartName="/ppt/notesSlides/notesSlide576.xml" ContentType="application/vnd.openxmlformats-officedocument.presentationml.notesSlide+xml"/>
  <Override PartName="/ppt/notesSlides/notesSlide577.xml" ContentType="application/vnd.openxmlformats-officedocument.presentationml.notesSlide+xml"/>
  <Override PartName="/ppt/notesSlides/notesSlide578.xml" ContentType="application/vnd.openxmlformats-officedocument.presentationml.notesSlide+xml"/>
  <Override PartName="/ppt/notesSlides/notesSlide579.xml" ContentType="application/vnd.openxmlformats-officedocument.presentationml.notesSlide+xml"/>
  <Override PartName="/ppt/notesSlides/notesSlide58.xml" ContentType="application/vnd.openxmlformats-officedocument.presentationml.notesSlide+xml"/>
  <Override PartName="/ppt/notesSlides/notesSlide580.xml" ContentType="application/vnd.openxmlformats-officedocument.presentationml.notesSlide+xml"/>
  <Override PartName="/ppt/notesSlides/notesSlide581.xml" ContentType="application/vnd.openxmlformats-officedocument.presentationml.notesSlide+xml"/>
  <Override PartName="/ppt/notesSlides/notesSlide582.xml" ContentType="application/vnd.openxmlformats-officedocument.presentationml.notesSlide+xml"/>
  <Override PartName="/ppt/notesSlides/notesSlide583.xml" ContentType="application/vnd.openxmlformats-officedocument.presentationml.notesSlide+xml"/>
  <Override PartName="/ppt/notesSlides/notesSlide584.xml" ContentType="application/vnd.openxmlformats-officedocument.presentationml.notesSlide+xml"/>
  <Override PartName="/ppt/notesSlides/notesSlide585.xml" ContentType="application/vnd.openxmlformats-officedocument.presentationml.notesSlide+xml"/>
  <Override PartName="/ppt/notesSlides/notesSlide586.xml" ContentType="application/vnd.openxmlformats-officedocument.presentationml.notesSlide+xml"/>
  <Override PartName="/ppt/notesSlides/notesSlide587.xml" ContentType="application/vnd.openxmlformats-officedocument.presentationml.notesSlide+xml"/>
  <Override PartName="/ppt/notesSlides/notesSlide588.xml" ContentType="application/vnd.openxmlformats-officedocument.presentationml.notesSlide+xml"/>
  <Override PartName="/ppt/notesSlides/notesSlide589.xml" ContentType="application/vnd.openxmlformats-officedocument.presentationml.notesSlide+xml"/>
  <Override PartName="/ppt/notesSlides/notesSlide59.xml" ContentType="application/vnd.openxmlformats-officedocument.presentationml.notesSlide+xml"/>
  <Override PartName="/ppt/notesSlides/notesSlide590.xml" ContentType="application/vnd.openxmlformats-officedocument.presentationml.notesSlide+xml"/>
  <Override PartName="/ppt/notesSlides/notesSlide591.xml" ContentType="application/vnd.openxmlformats-officedocument.presentationml.notesSlide+xml"/>
  <Override PartName="/ppt/notesSlides/notesSlide592.xml" ContentType="application/vnd.openxmlformats-officedocument.presentationml.notesSlide+xml"/>
  <Override PartName="/ppt/notesSlides/notesSlide593.xml" ContentType="application/vnd.openxmlformats-officedocument.presentationml.notesSlide+xml"/>
  <Override PartName="/ppt/notesSlides/notesSlide594.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885" r:id="rId637"/>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 id="646" r:id="rId398"/>
    <p:sldId id="647" r:id="rId399"/>
    <p:sldId id="648" r:id="rId400"/>
    <p:sldId id="649" r:id="rId401"/>
    <p:sldId id="650" r:id="rId402"/>
    <p:sldId id="651" r:id="rId403"/>
    <p:sldId id="652" r:id="rId404"/>
    <p:sldId id="653" r:id="rId405"/>
    <p:sldId id="654" r:id="rId406"/>
    <p:sldId id="655" r:id="rId407"/>
    <p:sldId id="656" r:id="rId408"/>
    <p:sldId id="657" r:id="rId409"/>
    <p:sldId id="658" r:id="rId410"/>
    <p:sldId id="659" r:id="rId411"/>
    <p:sldId id="660" r:id="rId412"/>
    <p:sldId id="661" r:id="rId413"/>
    <p:sldId id="662" r:id="rId414"/>
    <p:sldId id="663" r:id="rId415"/>
    <p:sldId id="664" r:id="rId416"/>
    <p:sldId id="665" r:id="rId417"/>
    <p:sldId id="666" r:id="rId418"/>
    <p:sldId id="667" r:id="rId419"/>
    <p:sldId id="668" r:id="rId420"/>
    <p:sldId id="669" r:id="rId421"/>
    <p:sldId id="670" r:id="rId422"/>
    <p:sldId id="671" r:id="rId423"/>
    <p:sldId id="672" r:id="rId424"/>
    <p:sldId id="673" r:id="rId425"/>
    <p:sldId id="674" r:id="rId426"/>
    <p:sldId id="675" r:id="rId427"/>
    <p:sldId id="676" r:id="rId428"/>
    <p:sldId id="677" r:id="rId429"/>
    <p:sldId id="678" r:id="rId430"/>
    <p:sldId id="679" r:id="rId431"/>
    <p:sldId id="680" r:id="rId432"/>
    <p:sldId id="681" r:id="rId433"/>
    <p:sldId id="682" r:id="rId434"/>
    <p:sldId id="683" r:id="rId435"/>
    <p:sldId id="684" r:id="rId436"/>
    <p:sldId id="685" r:id="rId437"/>
    <p:sldId id="686" r:id="rId438"/>
    <p:sldId id="687" r:id="rId439"/>
    <p:sldId id="688" r:id="rId440"/>
    <p:sldId id="689" r:id="rId441"/>
    <p:sldId id="690" r:id="rId442"/>
    <p:sldId id="691" r:id="rId443"/>
    <p:sldId id="692" r:id="rId444"/>
    <p:sldId id="693" r:id="rId445"/>
    <p:sldId id="694" r:id="rId446"/>
    <p:sldId id="695" r:id="rId447"/>
    <p:sldId id="696" r:id="rId448"/>
    <p:sldId id="697" r:id="rId449"/>
    <p:sldId id="698" r:id="rId450"/>
    <p:sldId id="699" r:id="rId451"/>
    <p:sldId id="700" r:id="rId452"/>
    <p:sldId id="701" r:id="rId453"/>
    <p:sldId id="702" r:id="rId454"/>
    <p:sldId id="703" r:id="rId455"/>
    <p:sldId id="704" r:id="rId456"/>
    <p:sldId id="705" r:id="rId457"/>
    <p:sldId id="706" r:id="rId458"/>
    <p:sldId id="707" r:id="rId459"/>
    <p:sldId id="708" r:id="rId460"/>
    <p:sldId id="709" r:id="rId461"/>
    <p:sldId id="710" r:id="rId462"/>
    <p:sldId id="711" r:id="rId463"/>
    <p:sldId id="712" r:id="rId464"/>
    <p:sldId id="713" r:id="rId465"/>
    <p:sldId id="714" r:id="rId466"/>
    <p:sldId id="715" r:id="rId467"/>
    <p:sldId id="716" r:id="rId468"/>
    <p:sldId id="717" r:id="rId469"/>
    <p:sldId id="718" r:id="rId470"/>
    <p:sldId id="719" r:id="rId471"/>
    <p:sldId id="720" r:id="rId472"/>
    <p:sldId id="721" r:id="rId473"/>
    <p:sldId id="722" r:id="rId474"/>
    <p:sldId id="723" r:id="rId475"/>
    <p:sldId id="724" r:id="rId476"/>
    <p:sldId id="725" r:id="rId477"/>
    <p:sldId id="726" r:id="rId478"/>
    <p:sldId id="727" r:id="rId479"/>
    <p:sldId id="728" r:id="rId480"/>
    <p:sldId id="729" r:id="rId481"/>
    <p:sldId id="730" r:id="rId482"/>
    <p:sldId id="731" r:id="rId483"/>
    <p:sldId id="732" r:id="rId484"/>
    <p:sldId id="733" r:id="rId485"/>
    <p:sldId id="734" r:id="rId486"/>
    <p:sldId id="735" r:id="rId487"/>
    <p:sldId id="736" r:id="rId488"/>
    <p:sldId id="737" r:id="rId489"/>
    <p:sldId id="738" r:id="rId490"/>
    <p:sldId id="739" r:id="rId491"/>
    <p:sldId id="740" r:id="rId492"/>
    <p:sldId id="741" r:id="rId493"/>
    <p:sldId id="742" r:id="rId494"/>
    <p:sldId id="743" r:id="rId495"/>
    <p:sldId id="744" r:id="rId496"/>
    <p:sldId id="745" r:id="rId497"/>
    <p:sldId id="746" r:id="rId498"/>
    <p:sldId id="747" r:id="rId499"/>
    <p:sldId id="748" r:id="rId500"/>
    <p:sldId id="749" r:id="rId501"/>
    <p:sldId id="750" r:id="rId502"/>
    <p:sldId id="751" r:id="rId503"/>
    <p:sldId id="752" r:id="rId504"/>
    <p:sldId id="753" r:id="rId505"/>
    <p:sldId id="754" r:id="rId506"/>
    <p:sldId id="755" r:id="rId507"/>
    <p:sldId id="756" r:id="rId508"/>
    <p:sldId id="757" r:id="rId509"/>
    <p:sldId id="758" r:id="rId510"/>
    <p:sldId id="759" r:id="rId511"/>
    <p:sldId id="760" r:id="rId512"/>
    <p:sldId id="761" r:id="rId513"/>
    <p:sldId id="762" r:id="rId514"/>
    <p:sldId id="763" r:id="rId515"/>
    <p:sldId id="764" r:id="rId516"/>
    <p:sldId id="765" r:id="rId517"/>
    <p:sldId id="766" r:id="rId518"/>
    <p:sldId id="767" r:id="rId519"/>
    <p:sldId id="768" r:id="rId520"/>
    <p:sldId id="769" r:id="rId521"/>
    <p:sldId id="770" r:id="rId522"/>
    <p:sldId id="771" r:id="rId523"/>
    <p:sldId id="772" r:id="rId524"/>
    <p:sldId id="773" r:id="rId525"/>
    <p:sldId id="774" r:id="rId526"/>
    <p:sldId id="775" r:id="rId527"/>
    <p:sldId id="776" r:id="rId528"/>
    <p:sldId id="777" r:id="rId529"/>
    <p:sldId id="778" r:id="rId530"/>
    <p:sldId id="779" r:id="rId531"/>
    <p:sldId id="780" r:id="rId532"/>
    <p:sldId id="781" r:id="rId533"/>
    <p:sldId id="782" r:id="rId534"/>
    <p:sldId id="783" r:id="rId535"/>
    <p:sldId id="784" r:id="rId536"/>
    <p:sldId id="785" r:id="rId537"/>
    <p:sldId id="786" r:id="rId538"/>
    <p:sldId id="787" r:id="rId539"/>
    <p:sldId id="788" r:id="rId540"/>
    <p:sldId id="789" r:id="rId541"/>
    <p:sldId id="790" r:id="rId542"/>
    <p:sldId id="791" r:id="rId543"/>
    <p:sldId id="792" r:id="rId544"/>
    <p:sldId id="793" r:id="rId545"/>
    <p:sldId id="794" r:id="rId546"/>
    <p:sldId id="795" r:id="rId547"/>
    <p:sldId id="796" r:id="rId548"/>
    <p:sldId id="797" r:id="rId549"/>
    <p:sldId id="798" r:id="rId550"/>
    <p:sldId id="799" r:id="rId551"/>
    <p:sldId id="800" r:id="rId552"/>
    <p:sldId id="801" r:id="rId553"/>
    <p:sldId id="802" r:id="rId554"/>
    <p:sldId id="803" r:id="rId555"/>
    <p:sldId id="804" r:id="rId556"/>
    <p:sldId id="805" r:id="rId557"/>
    <p:sldId id="806" r:id="rId558"/>
    <p:sldId id="807" r:id="rId559"/>
    <p:sldId id="808" r:id="rId560"/>
    <p:sldId id="809" r:id="rId561"/>
    <p:sldId id="810" r:id="rId562"/>
    <p:sldId id="811" r:id="rId563"/>
    <p:sldId id="812" r:id="rId564"/>
    <p:sldId id="813" r:id="rId565"/>
    <p:sldId id="814" r:id="rId566"/>
    <p:sldId id="815" r:id="rId567"/>
    <p:sldId id="816" r:id="rId568"/>
    <p:sldId id="817" r:id="rId569"/>
    <p:sldId id="818" r:id="rId570"/>
    <p:sldId id="819" r:id="rId571"/>
    <p:sldId id="820" r:id="rId572"/>
    <p:sldId id="821" r:id="rId573"/>
    <p:sldId id="822" r:id="rId574"/>
    <p:sldId id="823" r:id="rId575"/>
    <p:sldId id="824" r:id="rId576"/>
    <p:sldId id="825" r:id="rId577"/>
    <p:sldId id="826" r:id="rId578"/>
    <p:sldId id="827" r:id="rId579"/>
    <p:sldId id="828" r:id="rId580"/>
    <p:sldId id="829" r:id="rId581"/>
    <p:sldId id="830" r:id="rId582"/>
    <p:sldId id="831" r:id="rId583"/>
    <p:sldId id="832" r:id="rId584"/>
    <p:sldId id="833" r:id="rId585"/>
    <p:sldId id="834" r:id="rId586"/>
    <p:sldId id="835" r:id="rId587"/>
    <p:sldId id="836" r:id="rId588"/>
    <p:sldId id="837" r:id="rId589"/>
    <p:sldId id="838" r:id="rId590"/>
    <p:sldId id="839" r:id="rId591"/>
    <p:sldId id="840" r:id="rId592"/>
    <p:sldId id="841" r:id="rId593"/>
    <p:sldId id="842" r:id="rId594"/>
    <p:sldId id="843" r:id="rId595"/>
    <p:sldId id="844" r:id="rId596"/>
    <p:sldId id="845" r:id="rId597"/>
    <p:sldId id="846" r:id="rId598"/>
    <p:sldId id="847" r:id="rId599"/>
    <p:sldId id="848" r:id="rId600"/>
    <p:sldId id="849" r:id="rId601"/>
    <p:sldId id="850" r:id="rId602"/>
    <p:sldId id="851" r:id="rId603"/>
    <p:sldId id="852" r:id="rId604"/>
    <p:sldId id="853" r:id="rId605"/>
    <p:sldId id="854" r:id="rId606"/>
    <p:sldId id="855" r:id="rId607"/>
    <p:sldId id="856" r:id="rId608"/>
    <p:sldId id="857" r:id="rId609"/>
    <p:sldId id="858" r:id="rId610"/>
    <p:sldId id="859" r:id="rId611"/>
    <p:sldId id="860" r:id="rId612"/>
    <p:sldId id="861" r:id="rId613"/>
    <p:sldId id="862" r:id="rId614"/>
    <p:sldId id="863" r:id="rId615"/>
    <p:sldId id="864" r:id="rId616"/>
    <p:sldId id="865" r:id="rId617"/>
    <p:sldId id="866" r:id="rId618"/>
    <p:sldId id="867" r:id="rId619"/>
    <p:sldId id="868" r:id="rId620"/>
    <p:sldId id="869" r:id="rId621"/>
    <p:sldId id="870" r:id="rId622"/>
    <p:sldId id="871" r:id="rId623"/>
    <p:sldId id="872" r:id="rId624"/>
    <p:sldId id="873" r:id="rId625"/>
    <p:sldId id="874" r:id="rId626"/>
    <p:sldId id="875" r:id="rId627"/>
    <p:sldId id="876" r:id="rId628"/>
    <p:sldId id="877" r:id="rId629"/>
    <p:sldId id="878" r:id="rId630"/>
    <p:sldId id="879" r:id="rId631"/>
    <p:sldId id="880" r:id="rId632"/>
    <p:sldId id="881" r:id="rId633"/>
    <p:sldId id="882" r:id="rId634"/>
    <p:sldId id="883" r:id="rId635"/>
    <p:sldId id="884" r:id="rId6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 Id="rId398" Type="http://schemas.openxmlformats.org/officeDocument/2006/relationships/slide" Target="slides/slide391.xml"/><Relationship Id="rId399" Type="http://schemas.openxmlformats.org/officeDocument/2006/relationships/slide" Target="slides/slide392.xml"/><Relationship Id="rId400" Type="http://schemas.openxmlformats.org/officeDocument/2006/relationships/slide" Target="slides/slide393.xml"/><Relationship Id="rId401" Type="http://schemas.openxmlformats.org/officeDocument/2006/relationships/slide" Target="slides/slide394.xml"/><Relationship Id="rId402" Type="http://schemas.openxmlformats.org/officeDocument/2006/relationships/slide" Target="slides/slide395.xml"/><Relationship Id="rId403" Type="http://schemas.openxmlformats.org/officeDocument/2006/relationships/slide" Target="slides/slide396.xml"/><Relationship Id="rId404" Type="http://schemas.openxmlformats.org/officeDocument/2006/relationships/slide" Target="slides/slide397.xml"/><Relationship Id="rId405" Type="http://schemas.openxmlformats.org/officeDocument/2006/relationships/slide" Target="slides/slide398.xml"/><Relationship Id="rId406" Type="http://schemas.openxmlformats.org/officeDocument/2006/relationships/slide" Target="slides/slide399.xml"/><Relationship Id="rId407" Type="http://schemas.openxmlformats.org/officeDocument/2006/relationships/slide" Target="slides/slide400.xml"/><Relationship Id="rId408" Type="http://schemas.openxmlformats.org/officeDocument/2006/relationships/slide" Target="slides/slide401.xml"/><Relationship Id="rId409" Type="http://schemas.openxmlformats.org/officeDocument/2006/relationships/slide" Target="slides/slide402.xml"/><Relationship Id="rId410" Type="http://schemas.openxmlformats.org/officeDocument/2006/relationships/slide" Target="slides/slide403.xml"/><Relationship Id="rId411" Type="http://schemas.openxmlformats.org/officeDocument/2006/relationships/slide" Target="slides/slide404.xml"/><Relationship Id="rId412" Type="http://schemas.openxmlformats.org/officeDocument/2006/relationships/slide" Target="slides/slide405.xml"/><Relationship Id="rId413" Type="http://schemas.openxmlformats.org/officeDocument/2006/relationships/slide" Target="slides/slide406.xml"/><Relationship Id="rId414" Type="http://schemas.openxmlformats.org/officeDocument/2006/relationships/slide" Target="slides/slide407.xml"/><Relationship Id="rId415" Type="http://schemas.openxmlformats.org/officeDocument/2006/relationships/slide" Target="slides/slide408.xml"/><Relationship Id="rId416" Type="http://schemas.openxmlformats.org/officeDocument/2006/relationships/slide" Target="slides/slide409.xml"/><Relationship Id="rId417" Type="http://schemas.openxmlformats.org/officeDocument/2006/relationships/slide" Target="slides/slide410.xml"/><Relationship Id="rId418" Type="http://schemas.openxmlformats.org/officeDocument/2006/relationships/slide" Target="slides/slide411.xml"/><Relationship Id="rId419" Type="http://schemas.openxmlformats.org/officeDocument/2006/relationships/slide" Target="slides/slide412.xml"/><Relationship Id="rId420" Type="http://schemas.openxmlformats.org/officeDocument/2006/relationships/slide" Target="slides/slide413.xml"/><Relationship Id="rId421" Type="http://schemas.openxmlformats.org/officeDocument/2006/relationships/slide" Target="slides/slide414.xml"/><Relationship Id="rId422" Type="http://schemas.openxmlformats.org/officeDocument/2006/relationships/slide" Target="slides/slide415.xml"/><Relationship Id="rId423" Type="http://schemas.openxmlformats.org/officeDocument/2006/relationships/slide" Target="slides/slide416.xml"/><Relationship Id="rId424" Type="http://schemas.openxmlformats.org/officeDocument/2006/relationships/slide" Target="slides/slide417.xml"/><Relationship Id="rId425" Type="http://schemas.openxmlformats.org/officeDocument/2006/relationships/slide" Target="slides/slide418.xml"/><Relationship Id="rId426" Type="http://schemas.openxmlformats.org/officeDocument/2006/relationships/slide" Target="slides/slide419.xml"/><Relationship Id="rId427" Type="http://schemas.openxmlformats.org/officeDocument/2006/relationships/slide" Target="slides/slide420.xml"/><Relationship Id="rId428" Type="http://schemas.openxmlformats.org/officeDocument/2006/relationships/slide" Target="slides/slide421.xml"/><Relationship Id="rId429" Type="http://schemas.openxmlformats.org/officeDocument/2006/relationships/slide" Target="slides/slide422.xml"/><Relationship Id="rId430" Type="http://schemas.openxmlformats.org/officeDocument/2006/relationships/slide" Target="slides/slide423.xml"/><Relationship Id="rId431" Type="http://schemas.openxmlformats.org/officeDocument/2006/relationships/slide" Target="slides/slide424.xml"/><Relationship Id="rId432" Type="http://schemas.openxmlformats.org/officeDocument/2006/relationships/slide" Target="slides/slide425.xml"/><Relationship Id="rId433" Type="http://schemas.openxmlformats.org/officeDocument/2006/relationships/slide" Target="slides/slide426.xml"/><Relationship Id="rId434" Type="http://schemas.openxmlformats.org/officeDocument/2006/relationships/slide" Target="slides/slide427.xml"/><Relationship Id="rId435" Type="http://schemas.openxmlformats.org/officeDocument/2006/relationships/slide" Target="slides/slide428.xml"/><Relationship Id="rId436" Type="http://schemas.openxmlformats.org/officeDocument/2006/relationships/slide" Target="slides/slide429.xml"/><Relationship Id="rId437" Type="http://schemas.openxmlformats.org/officeDocument/2006/relationships/slide" Target="slides/slide430.xml"/><Relationship Id="rId438" Type="http://schemas.openxmlformats.org/officeDocument/2006/relationships/slide" Target="slides/slide431.xml"/><Relationship Id="rId439" Type="http://schemas.openxmlformats.org/officeDocument/2006/relationships/slide" Target="slides/slide432.xml"/><Relationship Id="rId440" Type="http://schemas.openxmlformats.org/officeDocument/2006/relationships/slide" Target="slides/slide433.xml"/><Relationship Id="rId441" Type="http://schemas.openxmlformats.org/officeDocument/2006/relationships/slide" Target="slides/slide434.xml"/><Relationship Id="rId442" Type="http://schemas.openxmlformats.org/officeDocument/2006/relationships/slide" Target="slides/slide435.xml"/><Relationship Id="rId443" Type="http://schemas.openxmlformats.org/officeDocument/2006/relationships/slide" Target="slides/slide436.xml"/><Relationship Id="rId444" Type="http://schemas.openxmlformats.org/officeDocument/2006/relationships/slide" Target="slides/slide437.xml"/><Relationship Id="rId445" Type="http://schemas.openxmlformats.org/officeDocument/2006/relationships/slide" Target="slides/slide438.xml"/><Relationship Id="rId446" Type="http://schemas.openxmlformats.org/officeDocument/2006/relationships/slide" Target="slides/slide439.xml"/><Relationship Id="rId447" Type="http://schemas.openxmlformats.org/officeDocument/2006/relationships/slide" Target="slides/slide440.xml"/><Relationship Id="rId448" Type="http://schemas.openxmlformats.org/officeDocument/2006/relationships/slide" Target="slides/slide441.xml"/><Relationship Id="rId449" Type="http://schemas.openxmlformats.org/officeDocument/2006/relationships/slide" Target="slides/slide442.xml"/><Relationship Id="rId450" Type="http://schemas.openxmlformats.org/officeDocument/2006/relationships/slide" Target="slides/slide443.xml"/><Relationship Id="rId451" Type="http://schemas.openxmlformats.org/officeDocument/2006/relationships/slide" Target="slides/slide444.xml"/><Relationship Id="rId452" Type="http://schemas.openxmlformats.org/officeDocument/2006/relationships/slide" Target="slides/slide445.xml"/><Relationship Id="rId453" Type="http://schemas.openxmlformats.org/officeDocument/2006/relationships/slide" Target="slides/slide446.xml"/><Relationship Id="rId454" Type="http://schemas.openxmlformats.org/officeDocument/2006/relationships/slide" Target="slides/slide447.xml"/><Relationship Id="rId455" Type="http://schemas.openxmlformats.org/officeDocument/2006/relationships/slide" Target="slides/slide448.xml"/><Relationship Id="rId456" Type="http://schemas.openxmlformats.org/officeDocument/2006/relationships/slide" Target="slides/slide449.xml"/><Relationship Id="rId457" Type="http://schemas.openxmlformats.org/officeDocument/2006/relationships/slide" Target="slides/slide450.xml"/><Relationship Id="rId458" Type="http://schemas.openxmlformats.org/officeDocument/2006/relationships/slide" Target="slides/slide451.xml"/><Relationship Id="rId459" Type="http://schemas.openxmlformats.org/officeDocument/2006/relationships/slide" Target="slides/slide452.xml"/><Relationship Id="rId460" Type="http://schemas.openxmlformats.org/officeDocument/2006/relationships/slide" Target="slides/slide453.xml"/><Relationship Id="rId461" Type="http://schemas.openxmlformats.org/officeDocument/2006/relationships/slide" Target="slides/slide454.xml"/><Relationship Id="rId462" Type="http://schemas.openxmlformats.org/officeDocument/2006/relationships/slide" Target="slides/slide455.xml"/><Relationship Id="rId463" Type="http://schemas.openxmlformats.org/officeDocument/2006/relationships/slide" Target="slides/slide456.xml"/><Relationship Id="rId464" Type="http://schemas.openxmlformats.org/officeDocument/2006/relationships/slide" Target="slides/slide457.xml"/><Relationship Id="rId465" Type="http://schemas.openxmlformats.org/officeDocument/2006/relationships/slide" Target="slides/slide458.xml"/><Relationship Id="rId466" Type="http://schemas.openxmlformats.org/officeDocument/2006/relationships/slide" Target="slides/slide459.xml"/><Relationship Id="rId467" Type="http://schemas.openxmlformats.org/officeDocument/2006/relationships/slide" Target="slides/slide460.xml"/><Relationship Id="rId468" Type="http://schemas.openxmlformats.org/officeDocument/2006/relationships/slide" Target="slides/slide461.xml"/><Relationship Id="rId469" Type="http://schemas.openxmlformats.org/officeDocument/2006/relationships/slide" Target="slides/slide462.xml"/><Relationship Id="rId470" Type="http://schemas.openxmlformats.org/officeDocument/2006/relationships/slide" Target="slides/slide463.xml"/><Relationship Id="rId471" Type="http://schemas.openxmlformats.org/officeDocument/2006/relationships/slide" Target="slides/slide464.xml"/><Relationship Id="rId472" Type="http://schemas.openxmlformats.org/officeDocument/2006/relationships/slide" Target="slides/slide465.xml"/><Relationship Id="rId473" Type="http://schemas.openxmlformats.org/officeDocument/2006/relationships/slide" Target="slides/slide466.xml"/><Relationship Id="rId474" Type="http://schemas.openxmlformats.org/officeDocument/2006/relationships/slide" Target="slides/slide467.xml"/><Relationship Id="rId475" Type="http://schemas.openxmlformats.org/officeDocument/2006/relationships/slide" Target="slides/slide468.xml"/><Relationship Id="rId476" Type="http://schemas.openxmlformats.org/officeDocument/2006/relationships/slide" Target="slides/slide469.xml"/><Relationship Id="rId477" Type="http://schemas.openxmlformats.org/officeDocument/2006/relationships/slide" Target="slides/slide470.xml"/><Relationship Id="rId478" Type="http://schemas.openxmlformats.org/officeDocument/2006/relationships/slide" Target="slides/slide471.xml"/><Relationship Id="rId479" Type="http://schemas.openxmlformats.org/officeDocument/2006/relationships/slide" Target="slides/slide472.xml"/><Relationship Id="rId480" Type="http://schemas.openxmlformats.org/officeDocument/2006/relationships/slide" Target="slides/slide473.xml"/><Relationship Id="rId481" Type="http://schemas.openxmlformats.org/officeDocument/2006/relationships/slide" Target="slides/slide474.xml"/><Relationship Id="rId482" Type="http://schemas.openxmlformats.org/officeDocument/2006/relationships/slide" Target="slides/slide475.xml"/><Relationship Id="rId483" Type="http://schemas.openxmlformats.org/officeDocument/2006/relationships/slide" Target="slides/slide476.xml"/><Relationship Id="rId484" Type="http://schemas.openxmlformats.org/officeDocument/2006/relationships/slide" Target="slides/slide477.xml"/><Relationship Id="rId485" Type="http://schemas.openxmlformats.org/officeDocument/2006/relationships/slide" Target="slides/slide478.xml"/><Relationship Id="rId486" Type="http://schemas.openxmlformats.org/officeDocument/2006/relationships/slide" Target="slides/slide479.xml"/><Relationship Id="rId487" Type="http://schemas.openxmlformats.org/officeDocument/2006/relationships/slide" Target="slides/slide480.xml"/><Relationship Id="rId488" Type="http://schemas.openxmlformats.org/officeDocument/2006/relationships/slide" Target="slides/slide481.xml"/><Relationship Id="rId489" Type="http://schemas.openxmlformats.org/officeDocument/2006/relationships/slide" Target="slides/slide482.xml"/><Relationship Id="rId490" Type="http://schemas.openxmlformats.org/officeDocument/2006/relationships/slide" Target="slides/slide483.xml"/><Relationship Id="rId491" Type="http://schemas.openxmlformats.org/officeDocument/2006/relationships/slide" Target="slides/slide484.xml"/><Relationship Id="rId492" Type="http://schemas.openxmlformats.org/officeDocument/2006/relationships/slide" Target="slides/slide485.xml"/><Relationship Id="rId493" Type="http://schemas.openxmlformats.org/officeDocument/2006/relationships/slide" Target="slides/slide486.xml"/><Relationship Id="rId494" Type="http://schemas.openxmlformats.org/officeDocument/2006/relationships/slide" Target="slides/slide487.xml"/><Relationship Id="rId495" Type="http://schemas.openxmlformats.org/officeDocument/2006/relationships/slide" Target="slides/slide488.xml"/><Relationship Id="rId496" Type="http://schemas.openxmlformats.org/officeDocument/2006/relationships/slide" Target="slides/slide489.xml"/><Relationship Id="rId497" Type="http://schemas.openxmlformats.org/officeDocument/2006/relationships/slide" Target="slides/slide490.xml"/><Relationship Id="rId498" Type="http://schemas.openxmlformats.org/officeDocument/2006/relationships/slide" Target="slides/slide491.xml"/><Relationship Id="rId499" Type="http://schemas.openxmlformats.org/officeDocument/2006/relationships/slide" Target="slides/slide492.xml"/><Relationship Id="rId500" Type="http://schemas.openxmlformats.org/officeDocument/2006/relationships/slide" Target="slides/slide493.xml"/><Relationship Id="rId501" Type="http://schemas.openxmlformats.org/officeDocument/2006/relationships/slide" Target="slides/slide494.xml"/><Relationship Id="rId502" Type="http://schemas.openxmlformats.org/officeDocument/2006/relationships/slide" Target="slides/slide495.xml"/><Relationship Id="rId503" Type="http://schemas.openxmlformats.org/officeDocument/2006/relationships/slide" Target="slides/slide496.xml"/><Relationship Id="rId504" Type="http://schemas.openxmlformats.org/officeDocument/2006/relationships/slide" Target="slides/slide497.xml"/><Relationship Id="rId505" Type="http://schemas.openxmlformats.org/officeDocument/2006/relationships/slide" Target="slides/slide498.xml"/><Relationship Id="rId506" Type="http://schemas.openxmlformats.org/officeDocument/2006/relationships/slide" Target="slides/slide499.xml"/><Relationship Id="rId507" Type="http://schemas.openxmlformats.org/officeDocument/2006/relationships/slide" Target="slides/slide500.xml"/><Relationship Id="rId508" Type="http://schemas.openxmlformats.org/officeDocument/2006/relationships/slide" Target="slides/slide501.xml"/><Relationship Id="rId509" Type="http://schemas.openxmlformats.org/officeDocument/2006/relationships/slide" Target="slides/slide502.xml"/><Relationship Id="rId510" Type="http://schemas.openxmlformats.org/officeDocument/2006/relationships/slide" Target="slides/slide503.xml"/><Relationship Id="rId511" Type="http://schemas.openxmlformats.org/officeDocument/2006/relationships/slide" Target="slides/slide504.xml"/><Relationship Id="rId512" Type="http://schemas.openxmlformats.org/officeDocument/2006/relationships/slide" Target="slides/slide505.xml"/><Relationship Id="rId513" Type="http://schemas.openxmlformats.org/officeDocument/2006/relationships/slide" Target="slides/slide506.xml"/><Relationship Id="rId514" Type="http://schemas.openxmlformats.org/officeDocument/2006/relationships/slide" Target="slides/slide507.xml"/><Relationship Id="rId515" Type="http://schemas.openxmlformats.org/officeDocument/2006/relationships/slide" Target="slides/slide508.xml"/><Relationship Id="rId516" Type="http://schemas.openxmlformats.org/officeDocument/2006/relationships/slide" Target="slides/slide509.xml"/><Relationship Id="rId517" Type="http://schemas.openxmlformats.org/officeDocument/2006/relationships/slide" Target="slides/slide510.xml"/><Relationship Id="rId518" Type="http://schemas.openxmlformats.org/officeDocument/2006/relationships/slide" Target="slides/slide511.xml"/><Relationship Id="rId519" Type="http://schemas.openxmlformats.org/officeDocument/2006/relationships/slide" Target="slides/slide512.xml"/><Relationship Id="rId520" Type="http://schemas.openxmlformats.org/officeDocument/2006/relationships/slide" Target="slides/slide513.xml"/><Relationship Id="rId521" Type="http://schemas.openxmlformats.org/officeDocument/2006/relationships/slide" Target="slides/slide514.xml"/><Relationship Id="rId522" Type="http://schemas.openxmlformats.org/officeDocument/2006/relationships/slide" Target="slides/slide515.xml"/><Relationship Id="rId523" Type="http://schemas.openxmlformats.org/officeDocument/2006/relationships/slide" Target="slides/slide516.xml"/><Relationship Id="rId524" Type="http://schemas.openxmlformats.org/officeDocument/2006/relationships/slide" Target="slides/slide517.xml"/><Relationship Id="rId525" Type="http://schemas.openxmlformats.org/officeDocument/2006/relationships/slide" Target="slides/slide518.xml"/><Relationship Id="rId526" Type="http://schemas.openxmlformats.org/officeDocument/2006/relationships/slide" Target="slides/slide519.xml"/><Relationship Id="rId527" Type="http://schemas.openxmlformats.org/officeDocument/2006/relationships/slide" Target="slides/slide520.xml"/><Relationship Id="rId528" Type="http://schemas.openxmlformats.org/officeDocument/2006/relationships/slide" Target="slides/slide521.xml"/><Relationship Id="rId529" Type="http://schemas.openxmlformats.org/officeDocument/2006/relationships/slide" Target="slides/slide522.xml"/><Relationship Id="rId530" Type="http://schemas.openxmlformats.org/officeDocument/2006/relationships/slide" Target="slides/slide523.xml"/><Relationship Id="rId531" Type="http://schemas.openxmlformats.org/officeDocument/2006/relationships/slide" Target="slides/slide524.xml"/><Relationship Id="rId532" Type="http://schemas.openxmlformats.org/officeDocument/2006/relationships/slide" Target="slides/slide525.xml"/><Relationship Id="rId533" Type="http://schemas.openxmlformats.org/officeDocument/2006/relationships/slide" Target="slides/slide526.xml"/><Relationship Id="rId534" Type="http://schemas.openxmlformats.org/officeDocument/2006/relationships/slide" Target="slides/slide527.xml"/><Relationship Id="rId535" Type="http://schemas.openxmlformats.org/officeDocument/2006/relationships/slide" Target="slides/slide528.xml"/><Relationship Id="rId536" Type="http://schemas.openxmlformats.org/officeDocument/2006/relationships/slide" Target="slides/slide529.xml"/><Relationship Id="rId537" Type="http://schemas.openxmlformats.org/officeDocument/2006/relationships/slide" Target="slides/slide530.xml"/><Relationship Id="rId538" Type="http://schemas.openxmlformats.org/officeDocument/2006/relationships/slide" Target="slides/slide531.xml"/><Relationship Id="rId539" Type="http://schemas.openxmlformats.org/officeDocument/2006/relationships/slide" Target="slides/slide532.xml"/><Relationship Id="rId540" Type="http://schemas.openxmlformats.org/officeDocument/2006/relationships/slide" Target="slides/slide533.xml"/><Relationship Id="rId541" Type="http://schemas.openxmlformats.org/officeDocument/2006/relationships/slide" Target="slides/slide534.xml"/><Relationship Id="rId542" Type="http://schemas.openxmlformats.org/officeDocument/2006/relationships/slide" Target="slides/slide535.xml"/><Relationship Id="rId543" Type="http://schemas.openxmlformats.org/officeDocument/2006/relationships/slide" Target="slides/slide536.xml"/><Relationship Id="rId544" Type="http://schemas.openxmlformats.org/officeDocument/2006/relationships/slide" Target="slides/slide537.xml"/><Relationship Id="rId545" Type="http://schemas.openxmlformats.org/officeDocument/2006/relationships/slide" Target="slides/slide538.xml"/><Relationship Id="rId546" Type="http://schemas.openxmlformats.org/officeDocument/2006/relationships/slide" Target="slides/slide539.xml"/><Relationship Id="rId547" Type="http://schemas.openxmlformats.org/officeDocument/2006/relationships/slide" Target="slides/slide540.xml"/><Relationship Id="rId548" Type="http://schemas.openxmlformats.org/officeDocument/2006/relationships/slide" Target="slides/slide541.xml"/><Relationship Id="rId549" Type="http://schemas.openxmlformats.org/officeDocument/2006/relationships/slide" Target="slides/slide542.xml"/><Relationship Id="rId550" Type="http://schemas.openxmlformats.org/officeDocument/2006/relationships/slide" Target="slides/slide543.xml"/><Relationship Id="rId551" Type="http://schemas.openxmlformats.org/officeDocument/2006/relationships/slide" Target="slides/slide544.xml"/><Relationship Id="rId552" Type="http://schemas.openxmlformats.org/officeDocument/2006/relationships/slide" Target="slides/slide545.xml"/><Relationship Id="rId553" Type="http://schemas.openxmlformats.org/officeDocument/2006/relationships/slide" Target="slides/slide546.xml"/><Relationship Id="rId554" Type="http://schemas.openxmlformats.org/officeDocument/2006/relationships/slide" Target="slides/slide547.xml"/><Relationship Id="rId555" Type="http://schemas.openxmlformats.org/officeDocument/2006/relationships/slide" Target="slides/slide548.xml"/><Relationship Id="rId556" Type="http://schemas.openxmlformats.org/officeDocument/2006/relationships/slide" Target="slides/slide549.xml"/><Relationship Id="rId557" Type="http://schemas.openxmlformats.org/officeDocument/2006/relationships/slide" Target="slides/slide550.xml"/><Relationship Id="rId558" Type="http://schemas.openxmlformats.org/officeDocument/2006/relationships/slide" Target="slides/slide551.xml"/><Relationship Id="rId559" Type="http://schemas.openxmlformats.org/officeDocument/2006/relationships/slide" Target="slides/slide552.xml"/><Relationship Id="rId560" Type="http://schemas.openxmlformats.org/officeDocument/2006/relationships/slide" Target="slides/slide553.xml"/><Relationship Id="rId561" Type="http://schemas.openxmlformats.org/officeDocument/2006/relationships/slide" Target="slides/slide554.xml"/><Relationship Id="rId562" Type="http://schemas.openxmlformats.org/officeDocument/2006/relationships/slide" Target="slides/slide555.xml"/><Relationship Id="rId563" Type="http://schemas.openxmlformats.org/officeDocument/2006/relationships/slide" Target="slides/slide556.xml"/><Relationship Id="rId564" Type="http://schemas.openxmlformats.org/officeDocument/2006/relationships/slide" Target="slides/slide557.xml"/><Relationship Id="rId565" Type="http://schemas.openxmlformats.org/officeDocument/2006/relationships/slide" Target="slides/slide558.xml"/><Relationship Id="rId566" Type="http://schemas.openxmlformats.org/officeDocument/2006/relationships/slide" Target="slides/slide559.xml"/><Relationship Id="rId567" Type="http://schemas.openxmlformats.org/officeDocument/2006/relationships/slide" Target="slides/slide560.xml"/><Relationship Id="rId568" Type="http://schemas.openxmlformats.org/officeDocument/2006/relationships/slide" Target="slides/slide561.xml"/><Relationship Id="rId569" Type="http://schemas.openxmlformats.org/officeDocument/2006/relationships/slide" Target="slides/slide562.xml"/><Relationship Id="rId570" Type="http://schemas.openxmlformats.org/officeDocument/2006/relationships/slide" Target="slides/slide563.xml"/><Relationship Id="rId571" Type="http://schemas.openxmlformats.org/officeDocument/2006/relationships/slide" Target="slides/slide564.xml"/><Relationship Id="rId572" Type="http://schemas.openxmlformats.org/officeDocument/2006/relationships/slide" Target="slides/slide565.xml"/><Relationship Id="rId573" Type="http://schemas.openxmlformats.org/officeDocument/2006/relationships/slide" Target="slides/slide566.xml"/><Relationship Id="rId574" Type="http://schemas.openxmlformats.org/officeDocument/2006/relationships/slide" Target="slides/slide567.xml"/><Relationship Id="rId575" Type="http://schemas.openxmlformats.org/officeDocument/2006/relationships/slide" Target="slides/slide568.xml"/><Relationship Id="rId576" Type="http://schemas.openxmlformats.org/officeDocument/2006/relationships/slide" Target="slides/slide569.xml"/><Relationship Id="rId577" Type="http://schemas.openxmlformats.org/officeDocument/2006/relationships/slide" Target="slides/slide570.xml"/><Relationship Id="rId578" Type="http://schemas.openxmlformats.org/officeDocument/2006/relationships/slide" Target="slides/slide571.xml"/><Relationship Id="rId579" Type="http://schemas.openxmlformats.org/officeDocument/2006/relationships/slide" Target="slides/slide572.xml"/><Relationship Id="rId580" Type="http://schemas.openxmlformats.org/officeDocument/2006/relationships/slide" Target="slides/slide573.xml"/><Relationship Id="rId581" Type="http://schemas.openxmlformats.org/officeDocument/2006/relationships/slide" Target="slides/slide574.xml"/><Relationship Id="rId582" Type="http://schemas.openxmlformats.org/officeDocument/2006/relationships/slide" Target="slides/slide575.xml"/><Relationship Id="rId583" Type="http://schemas.openxmlformats.org/officeDocument/2006/relationships/slide" Target="slides/slide576.xml"/><Relationship Id="rId584" Type="http://schemas.openxmlformats.org/officeDocument/2006/relationships/slide" Target="slides/slide577.xml"/><Relationship Id="rId585" Type="http://schemas.openxmlformats.org/officeDocument/2006/relationships/slide" Target="slides/slide578.xml"/><Relationship Id="rId586" Type="http://schemas.openxmlformats.org/officeDocument/2006/relationships/slide" Target="slides/slide579.xml"/><Relationship Id="rId587" Type="http://schemas.openxmlformats.org/officeDocument/2006/relationships/slide" Target="slides/slide580.xml"/><Relationship Id="rId588" Type="http://schemas.openxmlformats.org/officeDocument/2006/relationships/slide" Target="slides/slide581.xml"/><Relationship Id="rId589" Type="http://schemas.openxmlformats.org/officeDocument/2006/relationships/slide" Target="slides/slide582.xml"/><Relationship Id="rId590" Type="http://schemas.openxmlformats.org/officeDocument/2006/relationships/slide" Target="slides/slide583.xml"/><Relationship Id="rId591" Type="http://schemas.openxmlformats.org/officeDocument/2006/relationships/slide" Target="slides/slide584.xml"/><Relationship Id="rId592" Type="http://schemas.openxmlformats.org/officeDocument/2006/relationships/slide" Target="slides/slide585.xml"/><Relationship Id="rId593" Type="http://schemas.openxmlformats.org/officeDocument/2006/relationships/slide" Target="slides/slide586.xml"/><Relationship Id="rId594" Type="http://schemas.openxmlformats.org/officeDocument/2006/relationships/slide" Target="slides/slide587.xml"/><Relationship Id="rId595" Type="http://schemas.openxmlformats.org/officeDocument/2006/relationships/slide" Target="slides/slide588.xml"/><Relationship Id="rId596" Type="http://schemas.openxmlformats.org/officeDocument/2006/relationships/slide" Target="slides/slide589.xml"/><Relationship Id="rId597" Type="http://schemas.openxmlformats.org/officeDocument/2006/relationships/slide" Target="slides/slide590.xml"/><Relationship Id="rId598" Type="http://schemas.openxmlformats.org/officeDocument/2006/relationships/slide" Target="slides/slide591.xml"/><Relationship Id="rId599" Type="http://schemas.openxmlformats.org/officeDocument/2006/relationships/slide" Target="slides/slide592.xml"/><Relationship Id="rId600" Type="http://schemas.openxmlformats.org/officeDocument/2006/relationships/slide" Target="slides/slide593.xml"/><Relationship Id="rId601" Type="http://schemas.openxmlformats.org/officeDocument/2006/relationships/slide" Target="slides/slide594.xml"/><Relationship Id="rId602" Type="http://schemas.openxmlformats.org/officeDocument/2006/relationships/slide" Target="slides/slide595.xml"/><Relationship Id="rId603" Type="http://schemas.openxmlformats.org/officeDocument/2006/relationships/slide" Target="slides/slide596.xml"/><Relationship Id="rId604" Type="http://schemas.openxmlformats.org/officeDocument/2006/relationships/slide" Target="slides/slide597.xml"/><Relationship Id="rId605" Type="http://schemas.openxmlformats.org/officeDocument/2006/relationships/slide" Target="slides/slide598.xml"/><Relationship Id="rId606" Type="http://schemas.openxmlformats.org/officeDocument/2006/relationships/slide" Target="slides/slide599.xml"/><Relationship Id="rId607" Type="http://schemas.openxmlformats.org/officeDocument/2006/relationships/slide" Target="slides/slide600.xml"/><Relationship Id="rId608" Type="http://schemas.openxmlformats.org/officeDocument/2006/relationships/slide" Target="slides/slide601.xml"/><Relationship Id="rId609" Type="http://schemas.openxmlformats.org/officeDocument/2006/relationships/slide" Target="slides/slide602.xml"/><Relationship Id="rId610" Type="http://schemas.openxmlformats.org/officeDocument/2006/relationships/slide" Target="slides/slide603.xml"/><Relationship Id="rId611" Type="http://schemas.openxmlformats.org/officeDocument/2006/relationships/slide" Target="slides/slide604.xml"/><Relationship Id="rId612" Type="http://schemas.openxmlformats.org/officeDocument/2006/relationships/slide" Target="slides/slide605.xml"/><Relationship Id="rId613" Type="http://schemas.openxmlformats.org/officeDocument/2006/relationships/slide" Target="slides/slide606.xml"/><Relationship Id="rId614" Type="http://schemas.openxmlformats.org/officeDocument/2006/relationships/slide" Target="slides/slide607.xml"/><Relationship Id="rId615" Type="http://schemas.openxmlformats.org/officeDocument/2006/relationships/slide" Target="slides/slide608.xml"/><Relationship Id="rId616" Type="http://schemas.openxmlformats.org/officeDocument/2006/relationships/slide" Target="slides/slide609.xml"/><Relationship Id="rId617" Type="http://schemas.openxmlformats.org/officeDocument/2006/relationships/slide" Target="slides/slide610.xml"/><Relationship Id="rId618" Type="http://schemas.openxmlformats.org/officeDocument/2006/relationships/slide" Target="slides/slide611.xml"/><Relationship Id="rId619" Type="http://schemas.openxmlformats.org/officeDocument/2006/relationships/slide" Target="slides/slide612.xml"/><Relationship Id="rId620" Type="http://schemas.openxmlformats.org/officeDocument/2006/relationships/slide" Target="slides/slide613.xml"/><Relationship Id="rId621" Type="http://schemas.openxmlformats.org/officeDocument/2006/relationships/slide" Target="slides/slide614.xml"/><Relationship Id="rId622" Type="http://schemas.openxmlformats.org/officeDocument/2006/relationships/slide" Target="slides/slide615.xml"/><Relationship Id="rId623" Type="http://schemas.openxmlformats.org/officeDocument/2006/relationships/slide" Target="slides/slide616.xml"/><Relationship Id="rId624" Type="http://schemas.openxmlformats.org/officeDocument/2006/relationships/slide" Target="slides/slide617.xml"/><Relationship Id="rId625" Type="http://schemas.openxmlformats.org/officeDocument/2006/relationships/slide" Target="slides/slide618.xml"/><Relationship Id="rId626" Type="http://schemas.openxmlformats.org/officeDocument/2006/relationships/slide" Target="slides/slide619.xml"/><Relationship Id="rId627" Type="http://schemas.openxmlformats.org/officeDocument/2006/relationships/slide" Target="slides/slide620.xml"/><Relationship Id="rId628" Type="http://schemas.openxmlformats.org/officeDocument/2006/relationships/slide" Target="slides/slide621.xml"/><Relationship Id="rId629" Type="http://schemas.openxmlformats.org/officeDocument/2006/relationships/slide" Target="slides/slide622.xml"/><Relationship Id="rId630" Type="http://schemas.openxmlformats.org/officeDocument/2006/relationships/slide" Target="slides/slide623.xml"/><Relationship Id="rId631" Type="http://schemas.openxmlformats.org/officeDocument/2006/relationships/slide" Target="slides/slide624.xml"/><Relationship Id="rId632" Type="http://schemas.openxmlformats.org/officeDocument/2006/relationships/slide" Target="slides/slide625.xml"/><Relationship Id="rId633" Type="http://schemas.openxmlformats.org/officeDocument/2006/relationships/slide" Target="slides/slide626.xml"/><Relationship Id="rId634" Type="http://schemas.openxmlformats.org/officeDocument/2006/relationships/slide" Target="slides/slide627.xml"/><Relationship Id="rId635" Type="http://schemas.openxmlformats.org/officeDocument/2006/relationships/slide" Target="slides/slide628.xml"/><Relationship Id="rId636" Type="http://schemas.openxmlformats.org/officeDocument/2006/relationships/slide" Target="slides/slide629.xml"/><Relationship Id="rId637" Type="http://schemas.openxmlformats.org/officeDocument/2006/relationships/slide" Target="slides/slide6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Weighting %</c:v>
                </c:pt>
              </c:strCache>
            </c:strRef>
          </c:tx>
          <c:spPr>
            <a:solidFill>
              <a:srgbClr val="1F6FEB"/>
            </a:solidFill>
          </c:spPr>
          <c:cat>
            <c:strRef>
              <c:f>Sheet1!$A$2:$A$7</c:f>
              <c:strCache>
                <c:ptCount val="6"/>
                <c:pt idx="0">
                  <c:v>SDLC Automation</c:v>
                </c:pt>
                <c:pt idx="1">
                  <c:v>Configuration Management and IaC</c:v>
                </c:pt>
                <c:pt idx="2">
                  <c:v>Resilient Cloud Solutions</c:v>
                </c:pt>
                <c:pt idx="3">
                  <c:v>Monitoring and Logging</c:v>
                </c:pt>
                <c:pt idx="4">
                  <c:v>Incident and Event Response</c:v>
                </c:pt>
                <c:pt idx="5">
                  <c:v>Security and Compliance</c:v>
                </c:pt>
              </c:strCache>
            </c:strRef>
          </c:cat>
          <c:val>
            <c:numRef>
              <c:f>Sheet1!$B$2:$B$7</c:f>
              <c:numCache>
                <c:formatCode>General</c:formatCode>
                <c:ptCount val="6"/>
                <c:pt idx="0">
                  <c:v>22</c:v>
                </c:pt>
                <c:pt idx="1">
                  <c:v>17</c:v>
                </c:pt>
                <c:pt idx="2">
                  <c:v>15</c:v>
                </c:pt>
                <c:pt idx="3">
                  <c:v>15</c:v>
                </c:pt>
                <c:pt idx="4">
                  <c:v>14</c:v>
                </c:pt>
                <c:pt idx="5">
                  <c:v>17</c:v>
                </c:pt>
              </c:numCache>
            </c:numRef>
          </c:val>
        </c:ser>
        <c:dLbls>
          <c:numFmt formatCode="General" sourceLinked="0"/>
          <c:txPr>
            <a:bodyPr/>
            <a:lstStyle/>
            <a:p>
              <a:pPr>
                <a:defRPr sz="1100" b="1"/>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25.0"/>
        </c:scaling>
        <c:delete val="0"/>
        <c:axPos val="l"/>
        <c:majorGridlines/>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Manual (before)</c:v>
                </c:pt>
              </c:strCache>
            </c:strRef>
          </c:tx>
          <c:spPr>
            <a:solidFill>
              <a:srgbClr val="1F6FEB"/>
            </a:solidFill>
          </c:spPr>
          <c:cat>
            <c:strRef>
              <c:f>Sheet1!$A$2:$A$5</c:f>
              <c:strCache>
                <c:ptCount val="4"/>
                <c:pt idx="0">
                  <c:v>Releases per month</c:v>
                </c:pt>
                <c:pt idx="1">
                  <c:v>Lead time (days)</c:v>
                </c:pt>
                <c:pt idx="2">
                  <c:v>Change-fail rate %</c:v>
                </c:pt>
                <c:pt idx="3">
                  <c:v>Hours to recover</c:v>
                </c:pt>
              </c:strCache>
            </c:strRef>
          </c:cat>
          <c:val>
            <c:numRef>
              <c:f>Sheet1!$B$2:$B$5</c:f>
              <c:numCache>
                <c:formatCode>General</c:formatCode>
                <c:ptCount val="4"/>
                <c:pt idx="0">
                  <c:v>2</c:v>
                </c:pt>
                <c:pt idx="1">
                  <c:v>14</c:v>
                </c:pt>
                <c:pt idx="2">
                  <c:v>30</c:v>
                </c:pt>
                <c:pt idx="3">
                  <c:v>8</c:v>
                </c:pt>
              </c:numCache>
            </c:numRef>
          </c:val>
        </c:ser>
        <c:ser>
          <c:idx val="1"/>
          <c:order val="1"/>
          <c:tx>
            <c:strRef>
              <c:f>Sheet1!$C$1</c:f>
              <c:strCache>
                <c:ptCount val="1"/>
                <c:pt idx="0">
                  <c:v>CI/CD on AWS (after)</c:v>
                </c:pt>
              </c:strCache>
            </c:strRef>
          </c:tx>
          <c:spPr>
            <a:solidFill>
              <a:srgbClr val="10B981"/>
            </a:solidFill>
          </c:spPr>
          <c:cat>
            <c:strRef>
              <c:f>Sheet1!$A$2:$A$5</c:f>
              <c:strCache>
                <c:ptCount val="4"/>
                <c:pt idx="0">
                  <c:v>Releases per month</c:v>
                </c:pt>
                <c:pt idx="1">
                  <c:v>Lead time (days)</c:v>
                </c:pt>
                <c:pt idx="2">
                  <c:v>Change-fail rate %</c:v>
                </c:pt>
                <c:pt idx="3">
                  <c:v>Hours to recover</c:v>
                </c:pt>
              </c:strCache>
            </c:strRef>
          </c:cat>
          <c:val>
            <c:numRef>
              <c:f>Sheet1!$C$2:$C$5</c:f>
              <c:numCache>
                <c:formatCode>General</c:formatCode>
                <c:ptCount val="4"/>
                <c:pt idx="0">
                  <c:v>40</c:v>
                </c:pt>
                <c:pt idx="1">
                  <c:v>1</c:v>
                </c:pt>
                <c:pt idx="2">
                  <c:v>10</c:v>
                </c:pt>
                <c:pt idx="3">
                  <c:v>1</c:v>
                </c:pt>
              </c:numCache>
            </c:numRef>
          </c:val>
        </c:ser>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1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Blast radius (1–10)</c:v>
                </c:pt>
              </c:strCache>
            </c:strRef>
          </c:tx>
          <c:spPr>
            <a:solidFill>
              <a:srgbClr val="1F6FEB"/>
            </a:solidFill>
          </c:spPr>
          <c:cat>
            <c:strRef>
              <c:f>Sheet1!$A$2:$A$5</c:f>
              <c:strCache>
                <c:ptCount val="4"/>
                <c:pt idx="0">
                  <c:v>In-place</c:v>
                </c:pt>
                <c:pt idx="1">
                  <c:v>Rolling</c:v>
                </c:pt>
                <c:pt idx="2">
                  <c:v>Blue/Green</c:v>
                </c:pt>
                <c:pt idx="3">
                  <c:v>Canary</c:v>
                </c:pt>
              </c:strCache>
            </c:strRef>
          </c:cat>
          <c:val>
            <c:numRef>
              <c:f>Sheet1!$B$2:$B$5</c:f>
              <c:numCache>
                <c:formatCode>General</c:formatCode>
                <c:ptCount val="4"/>
                <c:pt idx="0">
                  <c:v>9</c:v>
                </c:pt>
                <c:pt idx="1">
                  <c:v>5</c:v>
                </c:pt>
                <c:pt idx="2">
                  <c:v>2</c:v>
                </c:pt>
                <c:pt idx="3">
                  <c:v>2</c:v>
                </c:pt>
              </c:numCache>
            </c:numRef>
          </c:val>
        </c:ser>
        <c:ser>
          <c:idx val="1"/>
          <c:order val="1"/>
          <c:tx>
            <c:strRef>
              <c:f>Sheet1!$C$1</c:f>
              <c:strCache>
                <c:ptCount val="1"/>
                <c:pt idx="0">
                  <c:v>Rollback speed (1–10)</c:v>
                </c:pt>
              </c:strCache>
            </c:strRef>
          </c:tx>
          <c:spPr>
            <a:solidFill>
              <a:srgbClr val="10B981"/>
            </a:solidFill>
          </c:spPr>
          <c:cat>
            <c:strRef>
              <c:f>Sheet1!$A$2:$A$5</c:f>
              <c:strCache>
                <c:ptCount val="4"/>
                <c:pt idx="0">
                  <c:v>In-place</c:v>
                </c:pt>
                <c:pt idx="1">
                  <c:v>Rolling</c:v>
                </c:pt>
                <c:pt idx="2">
                  <c:v>Blue/Green</c:v>
                </c:pt>
                <c:pt idx="3">
                  <c:v>Canary</c:v>
                </c:pt>
              </c:strCache>
            </c:strRef>
          </c:cat>
          <c:val>
            <c:numRef>
              <c:f>Sheet1!$C$2:$C$5</c:f>
              <c:numCache>
                <c:formatCode>General</c:formatCode>
                <c:ptCount val="4"/>
                <c:pt idx="0">
                  <c:v>3</c:v>
                </c:pt>
                <c:pt idx="1">
                  <c:v>5</c:v>
                </c:pt>
                <c:pt idx="2">
                  <c:v>9</c:v>
                </c:pt>
                <c:pt idx="3">
                  <c:v>8</c:v>
                </c:pt>
              </c:numCache>
            </c:numRef>
          </c:val>
        </c:ser>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100">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Minutes</c:v>
                </c:pt>
              </c:strCache>
            </c:strRef>
          </c:tx>
          <c:spPr>
            <a:solidFill>
              <a:srgbClr val="1F6FEB"/>
            </a:solidFill>
          </c:spPr>
          <c:cat>
            <c:strRef>
              <c:f>Sheet1!$A$2:$A$7</c:f>
              <c:strCache>
                <c:ptCount val="6"/>
                <c:pt idx="0">
                  <c:v>Source</c:v>
                </c:pt>
                <c:pt idx="1">
                  <c:v>Unit test</c:v>
                </c:pt>
                <c:pt idx="2">
                  <c:v>Integration</c:v>
                </c:pt>
                <c:pt idx="3">
                  <c:v>Deploy staging</c:v>
                </c:pt>
                <c:pt idx="4">
                  <c:v>Approval wait</c:v>
                </c:pt>
                <c:pt idx="5">
                  <c:v>Deploy prod</c:v>
                </c:pt>
              </c:strCache>
            </c:strRef>
          </c:cat>
          <c:val>
            <c:numRef>
              <c:f>Sheet1!$B$2:$B$7</c:f>
              <c:numCache>
                <c:formatCode>General</c:formatCode>
                <c:ptCount val="6"/>
                <c:pt idx="0">
                  <c:v>1</c:v>
                </c:pt>
                <c:pt idx="1">
                  <c:v>6</c:v>
                </c:pt>
                <c:pt idx="2">
                  <c:v>12</c:v>
                </c:pt>
                <c:pt idx="3">
                  <c:v>5</c:v>
                </c:pt>
                <c:pt idx="4">
                  <c:v>45</c:v>
                </c:pt>
                <c:pt idx="5">
                  <c:v>6</c:v>
                </c:pt>
              </c:numCache>
            </c:numRef>
          </c:val>
        </c:ser>
        <c:dLbls>
          <c:numFmt formatCode="General" sourceLinked="0"/>
          <c:txPr>
            <a:bodyPr/>
            <a:lstStyle/>
            <a:p>
              <a:pPr>
                <a:defRPr sz="1100" b="1"/>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Manual</c:v>
                </c:pt>
              </c:strCache>
            </c:strRef>
          </c:tx>
          <c:spPr>
            <a:solidFill>
              <a:srgbClr val="1F6FEB"/>
            </a:solidFill>
          </c:spPr>
          <c:cat>
            <c:strRef>
              <c:f>Sheet1!$A$2:$A$4</c:f>
              <c:strCache>
                <c:ptCount val="3"/>
                <c:pt idx="0">
                  <c:v>Time to build env (min)</c:v>
                </c:pt>
                <c:pt idx="1">
                  <c:v>Config errors per env</c:v>
                </c:pt>
                <c:pt idx="2">
                  <c:v>Environments in parity %</c:v>
                </c:pt>
              </c:strCache>
            </c:strRef>
          </c:cat>
          <c:val>
            <c:numRef>
              <c:f>Sheet1!$B$2:$B$4</c:f>
              <c:numCache>
                <c:formatCode>General</c:formatCode>
                <c:ptCount val="3"/>
                <c:pt idx="0">
                  <c:v>240</c:v>
                </c:pt>
                <c:pt idx="1">
                  <c:v>7</c:v>
                </c:pt>
                <c:pt idx="2">
                  <c:v>60</c:v>
                </c:pt>
              </c:numCache>
            </c:numRef>
          </c:val>
        </c:ser>
        <c:ser>
          <c:idx val="1"/>
          <c:order val="1"/>
          <c:tx>
            <c:strRef>
              <c:f>Sheet1!$C$1</c:f>
              <c:strCache>
                <c:ptCount val="1"/>
                <c:pt idx="0">
                  <c:v>CloudFormation</c:v>
                </c:pt>
              </c:strCache>
            </c:strRef>
          </c:tx>
          <c:spPr>
            <a:solidFill>
              <a:srgbClr val="10B981"/>
            </a:solidFill>
          </c:spPr>
          <c:cat>
            <c:strRef>
              <c:f>Sheet1!$A$2:$A$4</c:f>
              <c:strCache>
                <c:ptCount val="3"/>
                <c:pt idx="0">
                  <c:v>Time to build env (min)</c:v>
                </c:pt>
                <c:pt idx="1">
                  <c:v>Config errors per env</c:v>
                </c:pt>
                <c:pt idx="2">
                  <c:v>Environments in parity %</c:v>
                </c:pt>
              </c:strCache>
            </c:strRef>
          </c:cat>
          <c:val>
            <c:numRef>
              <c:f>Sheet1!$C$2:$C$4</c:f>
              <c:numCache>
                <c:formatCode>General</c:formatCode>
                <c:ptCount val="3"/>
                <c:pt idx="0">
                  <c:v>15</c:v>
                </c:pt>
                <c:pt idx="1">
                  <c:v>1</c:v>
                </c:pt>
                <c:pt idx="2">
                  <c:v>100</c:v>
                </c:pt>
              </c:numCache>
            </c:numRef>
          </c:val>
        </c:ser>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100">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RTO (minutes)</c:v>
                </c:pt>
              </c:strCache>
            </c:strRef>
          </c:tx>
          <c:spPr>
            <a:solidFill>
              <a:srgbClr val="1F6FEB"/>
            </a:solidFill>
          </c:spPr>
          <c:cat>
            <c:strRef>
              <c:f>Sheet1!$A$2:$A$5</c:f>
              <c:strCache>
                <c:ptCount val="4"/>
                <c:pt idx="0">
                  <c:v>Backup &amp; Restore</c:v>
                </c:pt>
                <c:pt idx="1">
                  <c:v>Pilot Light</c:v>
                </c:pt>
                <c:pt idx="2">
                  <c:v>Warm Standby</c:v>
                </c:pt>
                <c:pt idx="3">
                  <c:v>Active/Active</c:v>
                </c:pt>
              </c:strCache>
            </c:strRef>
          </c:cat>
          <c:val>
            <c:numRef>
              <c:f>Sheet1!$B$2:$B$5</c:f>
              <c:numCache>
                <c:formatCode>General</c:formatCode>
                <c:ptCount val="4"/>
                <c:pt idx="0">
                  <c:v>240</c:v>
                </c:pt>
                <c:pt idx="1">
                  <c:v>30</c:v>
                </c:pt>
                <c:pt idx="2">
                  <c:v>5</c:v>
                </c:pt>
                <c:pt idx="3">
                  <c:v>1</c:v>
                </c:pt>
              </c:numCache>
            </c:numRef>
          </c:val>
        </c:ser>
        <c:dLbls>
          <c:numFmt formatCode="General" sourceLinked="0"/>
          <c:txPr>
            <a:bodyPr/>
            <a:lstStyle/>
            <a:p>
              <a:pPr>
                <a:defRPr sz="1100" b="1"/>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Downtime hrs/yr (approx)</c:v>
                </c:pt>
              </c:strCache>
            </c:strRef>
          </c:tx>
          <c:spPr>
            <a:solidFill>
              <a:srgbClr val="1F6FEB"/>
            </a:solidFill>
          </c:spPr>
          <c:cat>
            <c:strRef>
              <c:f>Sheet1!$A$2:$A$5</c:f>
              <c:strCache>
                <c:ptCount val="4"/>
                <c:pt idx="0">
                  <c:v>Single instance</c:v>
                </c:pt>
                <c:pt idx="1">
                  <c:v>Single AZ (ASG)</c:v>
                </c:pt>
                <c:pt idx="2">
                  <c:v>Two AZs (ASG+ALB)</c:v>
                </c:pt>
                <c:pt idx="3">
                  <c:v>Multi-Region</c:v>
                </c:pt>
              </c:strCache>
            </c:strRef>
          </c:cat>
          <c:val>
            <c:numRef>
              <c:f>Sheet1!$B$2:$B$5</c:f>
              <c:numCache>
                <c:formatCode>General</c:formatCode>
                <c:ptCount val="4"/>
                <c:pt idx="0">
                  <c:v>88</c:v>
                </c:pt>
                <c:pt idx="1">
                  <c:v>44</c:v>
                </c:pt>
                <c:pt idx="2">
                  <c:v>4</c:v>
                </c:pt>
                <c:pt idx="3">
                  <c:v>1</c:v>
                </c:pt>
              </c:numCache>
            </c:numRef>
          </c:val>
        </c:ser>
        <c:dLbls>
          <c:numFmt formatCode="General" sourceLinked="0"/>
          <c:txPr>
            <a:bodyPr/>
            <a:lstStyle/>
            <a:p>
              <a:pPr>
                <a:defRPr sz="1100" b="1"/>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Requests/sec</c:v>
                </c:pt>
              </c:strCache>
            </c:strRef>
          </c:tx>
          <c:spPr>
            <a:solidFill>
              <a:srgbClr val="1F6FEB"/>
            </a:solidFill>
          </c:spPr>
          <c:cat>
            <c:strRef>
              <c:f>Sheet1!$A$2:$A$7</c:f>
              <c:strCache>
                <c:ptCount val="6"/>
                <c:pt idx="0">
                  <c:v>t0</c:v>
                </c:pt>
                <c:pt idx="1">
                  <c:v>t1</c:v>
                </c:pt>
                <c:pt idx="2">
                  <c:v>t2</c:v>
                </c:pt>
                <c:pt idx="3">
                  <c:v>t3</c:v>
                </c:pt>
                <c:pt idx="4">
                  <c:v>t4</c:v>
                </c:pt>
                <c:pt idx="5">
                  <c:v>t5</c:v>
                </c:pt>
              </c:strCache>
            </c:strRef>
          </c:cat>
          <c:val>
            <c:numRef>
              <c:f>Sheet1!$B$2:$B$7</c:f>
              <c:numCache>
                <c:formatCode>General</c:formatCode>
                <c:ptCount val="6"/>
                <c:pt idx="0">
                  <c:v>100</c:v>
                </c:pt>
                <c:pt idx="1">
                  <c:v>260</c:v>
                </c:pt>
                <c:pt idx="2">
                  <c:v>540</c:v>
                </c:pt>
                <c:pt idx="3">
                  <c:v>600</c:v>
                </c:pt>
                <c:pt idx="4">
                  <c:v>300</c:v>
                </c:pt>
                <c:pt idx="5">
                  <c:v>120</c:v>
                </c:pt>
              </c:numCache>
            </c:numRef>
          </c:val>
          <c:smooth val="0"/>
        </c:ser>
        <c:ser>
          <c:idx val="1"/>
          <c:order val="1"/>
          <c:tx>
            <c:strRef>
              <c:f>Sheet1!$C$1</c:f>
              <c:strCache>
                <c:ptCount val="1"/>
                <c:pt idx="0">
                  <c:v>Instances</c:v>
                </c:pt>
              </c:strCache>
            </c:strRef>
          </c:tx>
          <c:spPr>
            <a:solidFill>
              <a:srgbClr val="10B981"/>
            </a:solidFill>
          </c:spPr>
          <c:cat>
            <c:strRef>
              <c:f>Sheet1!$A$2:$A$7</c:f>
              <c:strCache>
                <c:ptCount val="6"/>
                <c:pt idx="0">
                  <c:v>t0</c:v>
                </c:pt>
                <c:pt idx="1">
                  <c:v>t1</c:v>
                </c:pt>
                <c:pt idx="2">
                  <c:v>t2</c:v>
                </c:pt>
                <c:pt idx="3">
                  <c:v>t3</c:v>
                </c:pt>
                <c:pt idx="4">
                  <c:v>t4</c:v>
                </c:pt>
                <c:pt idx="5">
                  <c:v>t5</c:v>
                </c:pt>
              </c:strCache>
            </c:strRef>
          </c:cat>
          <c:val>
            <c:numRef>
              <c:f>Sheet1!$C$2:$C$7</c:f>
              <c:numCache>
                <c:formatCode>General</c:formatCode>
                <c:ptCount val="6"/>
                <c:pt idx="0">
                  <c:v>2</c:v>
                </c:pt>
                <c:pt idx="1">
                  <c:v>3</c:v>
                </c:pt>
                <c:pt idx="2">
                  <c:v>6</c:v>
                </c:pt>
                <c:pt idx="3">
                  <c:v>6</c:v>
                </c:pt>
                <c:pt idx="4">
                  <c:v>4</c:v>
                </c:pt>
                <c:pt idx="5">
                  <c:v>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Latency ms</c:v>
                </c:pt>
              </c:strCache>
            </c:strRef>
          </c:tx>
          <c:spPr>
            <a:solidFill>
              <a:srgbClr val="1F6FEB"/>
            </a:solidFill>
          </c:spPr>
          <c:cat>
            <c:strRef>
              <c:f>Sheet1!$A$2:$A$7</c:f>
              <c:strCache>
                <c:ptCount val="6"/>
                <c:pt idx="0">
                  <c:v>t-5</c:v>
                </c:pt>
                <c:pt idx="1">
                  <c:v>t-4</c:v>
                </c:pt>
                <c:pt idx="2">
                  <c:v>t-3</c:v>
                </c:pt>
                <c:pt idx="3">
                  <c:v>t-2</c:v>
                </c:pt>
                <c:pt idx="4">
                  <c:v>t-1</c:v>
                </c:pt>
                <c:pt idx="5">
                  <c:v>now</c:v>
                </c:pt>
              </c:strCache>
            </c:strRef>
          </c:cat>
          <c:val>
            <c:numRef>
              <c:f>Sheet1!$B$2:$B$7</c:f>
              <c:numCache>
                <c:formatCode>General</c:formatCode>
                <c:ptCount val="6"/>
                <c:pt idx="0">
                  <c:v>120</c:v>
                </c:pt>
                <c:pt idx="1">
                  <c:v>130</c:v>
                </c:pt>
                <c:pt idx="2">
                  <c:v>140</c:v>
                </c:pt>
                <c:pt idx="3">
                  <c:v>320</c:v>
                </c:pt>
                <c:pt idx="4">
                  <c:v>540</c:v>
                </c:pt>
                <c:pt idx="5">
                  <c:v>720</c:v>
                </c:pt>
              </c:numCache>
            </c:numRef>
          </c:val>
          <c:smooth val="0"/>
        </c:ser>
        <c:ser>
          <c:idx val="1"/>
          <c:order val="1"/>
          <c:tx>
            <c:strRef>
              <c:f>Sheet1!$C$1</c:f>
              <c:strCache>
                <c:ptCount val="1"/>
                <c:pt idx="0">
                  <c:v>Alarm threshold</c:v>
                </c:pt>
              </c:strCache>
            </c:strRef>
          </c:tx>
          <c:spPr>
            <a:solidFill>
              <a:srgbClr val="10B981"/>
            </a:solidFill>
          </c:spPr>
          <c:cat>
            <c:strRef>
              <c:f>Sheet1!$A$2:$A$7</c:f>
              <c:strCache>
                <c:ptCount val="6"/>
                <c:pt idx="0">
                  <c:v>t-5</c:v>
                </c:pt>
                <c:pt idx="1">
                  <c:v>t-4</c:v>
                </c:pt>
                <c:pt idx="2">
                  <c:v>t-3</c:v>
                </c:pt>
                <c:pt idx="3">
                  <c:v>t-2</c:v>
                </c:pt>
                <c:pt idx="4">
                  <c:v>t-1</c:v>
                </c:pt>
                <c:pt idx="5">
                  <c:v>now</c:v>
                </c:pt>
              </c:strCache>
            </c:strRef>
          </c:cat>
          <c:val>
            <c:numRef>
              <c:f>Sheet1!$C$2:$C$7</c:f>
              <c:numCache>
                <c:formatCode>General</c:formatCode>
                <c:ptCount val="6"/>
                <c:pt idx="0">
                  <c:v>400</c:v>
                </c:pt>
                <c:pt idx="1">
                  <c:v>400</c:v>
                </c:pt>
                <c:pt idx="2">
                  <c:v>400</c:v>
                </c:pt>
                <c:pt idx="3">
                  <c:v>400</c:v>
                </c:pt>
                <c:pt idx="4">
                  <c:v>400</c:v>
                </c:pt>
                <c:pt idx="5">
                  <c:v>400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Latency ms</c:v>
                </c:pt>
              </c:strCache>
            </c:strRef>
          </c:tx>
          <c:spPr>
            <a:solidFill>
              <a:srgbClr val="1F6FEB"/>
            </a:solidFill>
          </c:spPr>
          <c:cat>
            <c:strRef>
              <c:f>Sheet1!$A$2:$A$5</c:f>
              <c:strCache>
                <c:ptCount val="4"/>
                <c:pt idx="0">
                  <c:v>Average</c:v>
                </c:pt>
                <c:pt idx="1">
                  <c:v>p50</c:v>
                </c:pt>
                <c:pt idx="2">
                  <c:v>p90</c:v>
                </c:pt>
                <c:pt idx="3">
                  <c:v>p99</c:v>
                </c:pt>
              </c:strCache>
            </c:strRef>
          </c:cat>
          <c:val>
            <c:numRef>
              <c:f>Sheet1!$B$2:$B$5</c:f>
              <c:numCache>
                <c:formatCode>General</c:formatCode>
                <c:ptCount val="4"/>
                <c:pt idx="0">
                  <c:v>140</c:v>
                </c:pt>
                <c:pt idx="1">
                  <c:v>110</c:v>
                </c:pt>
                <c:pt idx="2">
                  <c:v>320</c:v>
                </c:pt>
                <c:pt idx="3">
                  <c:v>900</c:v>
                </c:pt>
              </c:numCache>
            </c:numRef>
          </c:val>
        </c:ser>
        <c:dLbls>
          <c:numFmt formatCode="General" sourceLinked="0"/>
          <c:txPr>
            <a:bodyPr/>
            <a:lstStyle/>
            <a:p>
              <a:pPr>
                <a:defRPr sz="1100" b="1"/>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Manual (min)</c:v>
                </c:pt>
              </c:strCache>
            </c:strRef>
          </c:tx>
          <c:spPr>
            <a:solidFill>
              <a:srgbClr val="1F6FEB"/>
            </a:solidFill>
          </c:spPr>
          <c:cat>
            <c:strRef>
              <c:f>Sheet1!$A$2:$A$5</c:f>
              <c:strCache>
                <c:ptCount val="4"/>
                <c:pt idx="0">
                  <c:v>Detect</c:v>
                </c:pt>
                <c:pt idx="1">
                  <c:v>Notify</c:v>
                </c:pt>
                <c:pt idx="2">
                  <c:v>Diagnose</c:v>
                </c:pt>
                <c:pt idx="3">
                  <c:v>Remediate</c:v>
                </c:pt>
              </c:strCache>
            </c:strRef>
          </c:cat>
          <c:val>
            <c:numRef>
              <c:f>Sheet1!$B$2:$B$5</c:f>
              <c:numCache>
                <c:formatCode>General</c:formatCode>
                <c:ptCount val="4"/>
                <c:pt idx="0">
                  <c:v>10</c:v>
                </c:pt>
                <c:pt idx="1">
                  <c:v>15</c:v>
                </c:pt>
                <c:pt idx="2">
                  <c:v>30</c:v>
                </c:pt>
                <c:pt idx="3">
                  <c:v>20</c:v>
                </c:pt>
              </c:numCache>
            </c:numRef>
          </c:val>
        </c:ser>
        <c:ser>
          <c:idx val="1"/>
          <c:order val="1"/>
          <c:tx>
            <c:strRef>
              <c:f>Sheet1!$C$1</c:f>
              <c:strCache>
                <c:ptCount val="1"/>
                <c:pt idx="0">
                  <c:v>Automated (min)</c:v>
                </c:pt>
              </c:strCache>
            </c:strRef>
          </c:tx>
          <c:spPr>
            <a:solidFill>
              <a:srgbClr val="10B981"/>
            </a:solidFill>
          </c:spPr>
          <c:cat>
            <c:strRef>
              <c:f>Sheet1!$A$2:$A$5</c:f>
              <c:strCache>
                <c:ptCount val="4"/>
                <c:pt idx="0">
                  <c:v>Detect</c:v>
                </c:pt>
                <c:pt idx="1">
                  <c:v>Notify</c:v>
                </c:pt>
                <c:pt idx="2">
                  <c:v>Diagnose</c:v>
                </c:pt>
                <c:pt idx="3">
                  <c:v>Remediate</c:v>
                </c:pt>
              </c:strCache>
            </c:strRef>
          </c:cat>
          <c:val>
            <c:numRef>
              <c:f>Sheet1!$C$2:$C$5</c:f>
              <c:numCache>
                <c:formatCode>General</c:formatCode>
                <c:ptCount val="4"/>
                <c:pt idx="0">
                  <c:v>1</c:v>
                </c:pt>
                <c:pt idx="1">
                  <c:v>1</c:v>
                </c:pt>
                <c:pt idx="2">
                  <c:v>2</c:v>
                </c:pt>
                <c:pt idx="3">
                  <c:v>3</c:v>
                </c:pt>
              </c:numCache>
            </c:numRef>
          </c:val>
        </c:ser>
        <c:gapWidth val="8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overlay val="0"/>
    </c:legend>
    <c:dispBlanksAs val="gap"/>
  </c:chart>
  <c:txPr>
    <a:bodyPr/>
    <a:lstStyle/>
    <a:p>
      <a:pPr>
        <a:defRPr sz="1100">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Manual (min)</c:v>
                </c:pt>
              </c:strCache>
            </c:strRef>
          </c:tx>
          <c:spPr>
            <a:solidFill>
              <a:srgbClr val="1F6FEB"/>
            </a:solidFill>
          </c:spPr>
          <c:cat>
            <c:strRef>
              <c:f>Sheet1!$A$2:$A$5</c:f>
              <c:strCache>
                <c:ptCount val="4"/>
                <c:pt idx="0">
                  <c:v>Detect</c:v>
                </c:pt>
                <c:pt idx="1">
                  <c:v>Notify</c:v>
                </c:pt>
                <c:pt idx="2">
                  <c:v>Diagnose</c:v>
                </c:pt>
                <c:pt idx="3">
                  <c:v>Remediate</c:v>
                </c:pt>
              </c:strCache>
            </c:strRef>
          </c:cat>
          <c:val>
            <c:numRef>
              <c:f>Sheet1!$B$2:$B$5</c:f>
              <c:numCache>
                <c:formatCode>General</c:formatCode>
                <c:ptCount val="4"/>
                <c:pt idx="0">
                  <c:v>10</c:v>
                </c:pt>
                <c:pt idx="1">
                  <c:v>15</c:v>
                </c:pt>
                <c:pt idx="2">
                  <c:v>30</c:v>
                </c:pt>
                <c:pt idx="3">
                  <c:v>20</c:v>
                </c:pt>
              </c:numCache>
            </c:numRef>
          </c:val>
        </c:ser>
        <c:ser>
          <c:idx val="1"/>
          <c:order val="1"/>
          <c:tx>
            <c:strRef>
              <c:f>Sheet1!$C$1</c:f>
              <c:strCache>
                <c:ptCount val="1"/>
                <c:pt idx="0">
                  <c:v>Automated (min)</c:v>
                </c:pt>
              </c:strCache>
            </c:strRef>
          </c:tx>
          <c:spPr>
            <a:solidFill>
              <a:srgbClr val="10B981"/>
            </a:solidFill>
          </c:spPr>
          <c:cat>
            <c:strRef>
              <c:f>Sheet1!$A$2:$A$5</c:f>
              <c:strCache>
                <c:ptCount val="4"/>
                <c:pt idx="0">
                  <c:v>Detect</c:v>
                </c:pt>
                <c:pt idx="1">
                  <c:v>Notify</c:v>
                </c:pt>
                <c:pt idx="2">
                  <c:v>Diagnose</c:v>
                </c:pt>
                <c:pt idx="3">
                  <c:v>Remediate</c:v>
                </c:pt>
              </c:strCache>
            </c:strRef>
          </c:cat>
          <c:val>
            <c:numRef>
              <c:f>Sheet1!$C$2:$C$5</c:f>
              <c:numCache>
                <c:formatCode>General</c:formatCode>
                <c:ptCount val="4"/>
                <c:pt idx="0">
                  <c:v>1</c:v>
                </c:pt>
                <c:pt idx="1">
                  <c:v>1</c:v>
                </c:pt>
                <c:pt idx="2">
                  <c:v>3</c:v>
                </c:pt>
                <c:pt idx="3">
                  <c:v>3</c:v>
                </c:pt>
              </c:numCache>
            </c:numRef>
          </c:val>
        </c:ser>
        <c:gapWidth val="8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overlay val="0"/>
    </c:legend>
    <c:dispBlanksAs val="gap"/>
  </c:chart>
  <c:txPr>
    <a:bodyPr/>
    <a:lstStyle/>
    <a:p>
      <a:pPr>
        <a:defRPr sz="1100">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Exposure window (hours)</c:v>
                </c:pt>
              </c:strCache>
            </c:strRef>
          </c:tx>
          <c:spPr>
            <a:solidFill>
              <a:srgbClr val="1F6FEB"/>
            </a:solidFill>
          </c:spPr>
          <c:cat>
            <c:strRef>
              <c:f>Sheet1!$A$2:$A$4</c:f>
              <c:strCache>
                <c:ptCount val="3"/>
                <c:pt idx="0">
                  <c:v>Manual quarterly audit</c:v>
                </c:pt>
                <c:pt idx="1">
                  <c:v>Weekly script</c:v>
                </c:pt>
                <c:pt idx="2">
                  <c:v>AWS Config rule</c:v>
                </c:pt>
              </c:strCache>
            </c:strRef>
          </c:cat>
          <c:val>
            <c:numRef>
              <c:f>Sheet1!$B$2:$B$4</c:f>
              <c:numCache>
                <c:formatCode>General</c:formatCode>
                <c:ptCount val="3"/>
                <c:pt idx="0">
                  <c:v>720</c:v>
                </c:pt>
                <c:pt idx="1">
                  <c:v>84</c:v>
                </c:pt>
                <c:pt idx="2">
                  <c:v>0.2</c:v>
                </c:pt>
              </c:numCache>
            </c:numRef>
          </c:val>
        </c:ser>
        <c:dLbls>
          <c:numFmt formatCode="General" sourceLinked="0"/>
          <c:txPr>
            <a:bodyPr/>
            <a:lstStyle/>
            <a:p>
              <a:pPr>
                <a:defRPr sz="1100" b="1"/>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3.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4.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5.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6.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8.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3.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4.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5.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0.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1.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2.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3.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4.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5.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7.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8.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9.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0.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1.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2.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3.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4.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5.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6.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7.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8.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9.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0.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1.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2.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3.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4.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5.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6.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7.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8.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9.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0.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1.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2.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3.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4.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5.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6.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7.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8.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9.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0.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1.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2.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3.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4.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5.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6.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7.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8.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9.xm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0.xm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1.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2.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3.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4.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5.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6.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7.xml"/></Relationships>
</file>

<file path=ppt/notesSlides/_rels/notesSlide4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8.xml"/></Relationships>
</file>

<file path=ppt/notesSlides/_rels/notesSlide4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9.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0.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1.xml"/></Relationships>
</file>

<file path=ppt/notesSlides/_rels/notesSlide4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2.xml"/></Relationships>
</file>

<file path=ppt/notesSlides/_rels/notesSlide4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3.xml"/></Relationships>
</file>

<file path=ppt/notesSlides/_rels/notesSlide4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4.xml"/></Relationships>
</file>

<file path=ppt/notesSlides/_rels/notesSlide4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6.xml"/></Relationships>
</file>

<file path=ppt/notesSlides/_rels/notesSlide4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9.xml"/></Relationships>
</file>

<file path=ppt/notesSlides/_rels/notesSlide4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7.xml"/></Relationships>
</file>

<file path=ppt/notesSlides/_rels/notesSlide4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8.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0.xml"/></Relationships>
</file>

<file path=ppt/notesSlides/_rels/notesSlide4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1.xml"/></Relationships>
</file>

<file path=ppt/notesSlides/_rels/notesSlide4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2.xml"/></Relationships>
</file>

<file path=ppt/notesSlides/_rels/notesSlide4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3.xml"/></Relationships>
</file>

<file path=ppt/notesSlides/_rels/notesSlide4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4.xml"/></Relationships>
</file>

<file path=ppt/notesSlides/_rels/notesSlide4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5.xml"/></Relationships>
</file>

<file path=ppt/notesSlides/_rels/notesSlide4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6.xml"/></Relationships>
</file>

<file path=ppt/notesSlides/_rels/notesSlide4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7.xml"/></Relationships>
</file>

<file path=ppt/notesSlides/_rels/notesSlide4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8.xml"/></Relationships>
</file>

<file path=ppt/notesSlides/_rels/notesSlide4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9.xml"/></Relationships>
</file>

<file path=ppt/notesSlides/_rels/notesSlide4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0.xml"/></Relationships>
</file>

<file path=ppt/notesSlides/_rels/notesSlide4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1.xml"/></Relationships>
</file>

<file path=ppt/notesSlides/_rels/notesSlide4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2.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3.xml"/></Relationships>
</file>

<file path=ppt/notesSlides/_rels/notesSlide4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4.xml"/></Relationships>
</file>

<file path=ppt/notesSlides/_rels/notesSlide4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5.xml"/></Relationships>
</file>

<file path=ppt/notesSlides/_rels/notesSlide4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6.xml"/></Relationships>
</file>

<file path=ppt/notesSlides/_rels/notesSlide4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7.xml"/></Relationships>
</file>

<file path=ppt/notesSlides/_rels/notesSlide4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8.xml"/></Relationships>
</file>

<file path=ppt/notesSlides/_rels/notesSlide4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9.xml"/></Relationships>
</file>

<file path=ppt/notesSlides/_rels/notesSlide4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0.xml"/></Relationships>
</file>

<file path=ppt/notesSlides/_rels/notesSlide4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1.xml"/></Relationships>
</file>

<file path=ppt/notesSlides/_rels/notesSlide4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2.xml"/></Relationships>
</file>

<file path=ppt/notesSlides/_rels/notesSlide4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3.xml"/></Relationships>
</file>

<file path=ppt/notesSlides/_rels/notesSlide4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4.xml"/></Relationships>
</file>

<file path=ppt/notesSlides/_rels/notesSlide4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5.xml"/></Relationships>
</file>

<file path=ppt/notesSlides/_rels/notesSlide4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6.xml"/></Relationships>
</file>

<file path=ppt/notesSlides/_rels/notesSlide4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7.xml"/></Relationships>
</file>

<file path=ppt/notesSlides/_rels/notesSlide4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8.xml"/></Relationships>
</file>

<file path=ppt/notesSlides/_rels/notesSlide4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9.xml"/></Relationships>
</file>

<file path=ppt/notesSlides/_rels/notesSlide4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0.xml"/></Relationships>
</file>

<file path=ppt/notesSlides/_rels/notesSlide4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1.xml"/></Relationships>
</file>

<file path=ppt/notesSlides/_rels/notesSlide4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2.xml"/></Relationships>
</file>

<file path=ppt/notesSlides/_rels/notesSlide4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3.xml"/></Relationships>
</file>

<file path=ppt/notesSlides/_rels/notesSlide4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4.xml"/></Relationships>
</file>

<file path=ppt/notesSlides/_rels/notesSlide4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5.xml"/></Relationships>
</file>

<file path=ppt/notesSlides/_rels/notesSlide4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6.xml"/></Relationships>
</file>

<file path=ppt/notesSlides/_rels/notesSlide4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7.xml"/></Relationships>
</file>

<file path=ppt/notesSlides/_rels/notesSlide4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8.xml"/></Relationships>
</file>

<file path=ppt/notesSlides/_rels/notesSlide4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9.xml"/></Relationships>
</file>

<file path=ppt/notesSlides/_rels/notesSlide4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0.xml"/></Relationships>
</file>

<file path=ppt/notesSlides/_rels/notesSlide4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1.xml"/></Relationships>
</file>

<file path=ppt/notesSlides/_rels/notesSlide4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2.xml"/></Relationships>
</file>

<file path=ppt/notesSlides/_rels/notesSlide4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3.xml"/></Relationships>
</file>

<file path=ppt/notesSlides/_rels/notesSlide4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4.xml"/></Relationships>
</file>

<file path=ppt/notesSlides/_rels/notesSlide4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5.xml"/></Relationships>
</file>

<file path=ppt/notesSlides/_rels/notesSlide4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6.xml"/></Relationships>
</file>

<file path=ppt/notesSlides/_rels/notesSlide4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7.xml"/></Relationships>
</file>

<file path=ppt/notesSlides/_rels/notesSlide4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8.xml"/></Relationships>
</file>

<file path=ppt/notesSlides/_rels/notesSlide4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9.xml"/></Relationships>
</file>

<file path=ppt/notesSlides/_rels/notesSlide4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0.xml"/></Relationships>
</file>

<file path=ppt/notesSlides/_rels/notesSlide4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1.xml"/></Relationships>
</file>

<file path=ppt/notesSlides/_rels/notesSlide4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2.xml"/></Relationships>
</file>

<file path=ppt/notesSlides/_rels/notesSlide4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3.xml"/></Relationships>
</file>

<file path=ppt/notesSlides/_rels/notesSlide4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4.xml"/></Relationships>
</file>

<file path=ppt/notesSlides/_rels/notesSlide4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5.xml"/></Relationships>
</file>

<file path=ppt/notesSlides/_rels/notesSlide4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6.xml"/></Relationships>
</file>

<file path=ppt/notesSlides/_rels/notesSlide4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7.xml"/></Relationships>
</file>

<file path=ppt/notesSlides/_rels/notesSlide4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8.xml"/></Relationships>
</file>

<file path=ppt/notesSlides/_rels/notesSlide4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9.xml"/></Relationships>
</file>

<file path=ppt/notesSlides/_rels/notesSlide4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0.xml"/></Relationships>
</file>

<file path=ppt/notesSlides/_rels/notesSlide4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1.xml"/></Relationships>
</file>

<file path=ppt/notesSlides/_rels/notesSlide4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2.xml"/></Relationships>
</file>

<file path=ppt/notesSlides/_rels/notesSlide4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3.xml"/></Relationships>
</file>

<file path=ppt/notesSlides/_rels/notesSlide4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4.xml"/></Relationships>
</file>

<file path=ppt/notesSlides/_rels/notesSlide4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5.xml"/></Relationships>
</file>

<file path=ppt/notesSlides/_rels/notesSlide4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6.xml"/></Relationships>
</file>

<file path=ppt/notesSlides/_rels/notesSlide4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7.xml"/></Relationships>
</file>

<file path=ppt/notesSlides/_rels/notesSlide4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8.xml"/></Relationships>
</file>

<file path=ppt/notesSlides/_rels/notesSlide4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9.xml"/></Relationships>
</file>

<file path=ppt/notesSlides/_rels/notesSlide4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0.xml"/></Relationships>
</file>

<file path=ppt/notesSlides/_rels/notesSlide4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1.xml"/></Relationships>
</file>

<file path=ppt/notesSlides/_rels/notesSlide4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2.xml"/></Relationships>
</file>

<file path=ppt/notesSlides/_rels/notesSlide4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3.xml"/></Relationships>
</file>

<file path=ppt/notesSlides/_rels/notesSlide4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4.xml"/></Relationships>
</file>

<file path=ppt/notesSlides/_rels/notesSlide4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5.xml"/></Relationships>
</file>

<file path=ppt/notesSlides/_rels/notesSlide4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7.xml"/></Relationships>
</file>

<file path=ppt/notesSlides/_rels/notesSlide5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8.xml"/></Relationships>
</file>

<file path=ppt/notesSlides/_rels/notesSlide5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9.xml"/></Relationships>
</file>

<file path=ppt/notesSlides/_rels/notesSlide5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0.xml"/></Relationships>
</file>

<file path=ppt/notesSlides/_rels/notesSlide5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1.xml"/></Relationships>
</file>

<file path=ppt/notesSlides/_rels/notesSlide5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2.xml"/></Relationships>
</file>

<file path=ppt/notesSlides/_rels/notesSlide5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3.xml"/></Relationships>
</file>

<file path=ppt/notesSlides/_rels/notesSlide5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4.xml"/></Relationships>
</file>

<file path=ppt/notesSlides/_rels/notesSlide5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5.xml"/></Relationships>
</file>

<file path=ppt/notesSlides/_rels/notesSlide5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6.xml"/></Relationships>
</file>

<file path=ppt/notesSlides/_rels/notesSlide5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7.xml"/></Relationships>
</file>

<file path=ppt/notesSlides/_rels/notesSlide5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8.xml"/></Relationships>
</file>

<file path=ppt/notesSlides/_rels/notesSlide5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9.xml"/></Relationships>
</file>

<file path=ppt/notesSlides/_rels/notesSlide5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0.xml"/></Relationships>
</file>

<file path=ppt/notesSlides/_rels/notesSlide5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1.xml"/></Relationships>
</file>

<file path=ppt/notesSlides/_rels/notesSlide5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2.xml"/></Relationships>
</file>

<file path=ppt/notesSlides/_rels/notesSlide5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3.xml"/></Relationships>
</file>

<file path=ppt/notesSlides/_rels/notesSlide5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4.xml"/></Relationships>
</file>

<file path=ppt/notesSlides/_rels/notesSlide5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5.xml"/></Relationships>
</file>

<file path=ppt/notesSlides/_rels/notesSlide5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6.xml"/></Relationships>
</file>

<file path=ppt/notesSlides/_rels/notesSlide5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7.xml"/></Relationships>
</file>

<file path=ppt/notesSlides/_rels/notesSlide5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8.xml"/></Relationships>
</file>

<file path=ppt/notesSlides/_rels/notesSlide5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9.xml"/></Relationships>
</file>

<file path=ppt/notesSlides/_rels/notesSlide5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0.xml"/></Relationships>
</file>

<file path=ppt/notesSlides/_rels/notesSlide5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1.xml"/></Relationships>
</file>

<file path=ppt/notesSlides/_rels/notesSlide5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2.xml"/></Relationships>
</file>

<file path=ppt/notesSlides/_rels/notesSlide5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3.xml"/></Relationships>
</file>

<file path=ppt/notesSlides/_rels/notesSlide5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4.xml"/></Relationships>
</file>

<file path=ppt/notesSlides/_rels/notesSlide5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5.xml"/></Relationships>
</file>

<file path=ppt/notesSlides/_rels/notesSlide5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6.xml"/></Relationships>
</file>

<file path=ppt/notesSlides/_rels/notesSlide5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7.xml"/></Relationships>
</file>

<file path=ppt/notesSlides/_rels/notesSlide5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8.xml"/></Relationships>
</file>

<file path=ppt/notesSlides/_rels/notesSlide5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9.xml"/></Relationships>
</file>

<file path=ppt/notesSlides/_rels/notesSlide5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0.xml"/></Relationships>
</file>

<file path=ppt/notesSlides/_rels/notesSlide5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1.xml"/></Relationships>
</file>

<file path=ppt/notesSlides/_rels/notesSlide5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2.xml"/></Relationships>
</file>

<file path=ppt/notesSlides/_rels/notesSlide5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3.xml"/></Relationships>
</file>

<file path=ppt/notesSlides/_rels/notesSlide5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4.xml"/></Relationships>
</file>

<file path=ppt/notesSlides/_rels/notesSlide5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5.xml"/></Relationships>
</file>

<file path=ppt/notesSlides/_rels/notesSlide5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6.xml"/></Relationships>
</file>

<file path=ppt/notesSlides/_rels/notesSlide5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7.xml"/></Relationships>
</file>

<file path=ppt/notesSlides/_rels/notesSlide5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8.xml"/></Relationships>
</file>

<file path=ppt/notesSlides/_rels/notesSlide5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9.xml"/></Relationships>
</file>

<file path=ppt/notesSlides/_rels/notesSlide5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0.xml"/></Relationships>
</file>

<file path=ppt/notesSlides/_rels/notesSlide5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1.xml"/></Relationships>
</file>

<file path=ppt/notesSlides/_rels/notesSlide5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2.xml"/></Relationships>
</file>

<file path=ppt/notesSlides/_rels/notesSlide5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3.xml"/></Relationships>
</file>

<file path=ppt/notesSlides/_rels/notesSlide5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4.xml"/></Relationships>
</file>

<file path=ppt/notesSlides/_rels/notesSlide5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5.xml"/></Relationships>
</file>

<file path=ppt/notesSlides/_rels/notesSlide5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6.xml"/></Relationships>
</file>

<file path=ppt/notesSlides/_rels/notesSlide5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7.xml"/></Relationships>
</file>

<file path=ppt/notesSlides/_rels/notesSlide5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8.xml"/></Relationships>
</file>

<file path=ppt/notesSlides/_rels/notesSlide5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9.xml"/></Relationships>
</file>

<file path=ppt/notesSlides/_rels/notesSlide5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0.xml"/></Relationships>
</file>

<file path=ppt/notesSlides/_rels/notesSlide5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1.xml"/></Relationships>
</file>

<file path=ppt/notesSlides/_rels/notesSlide5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2.xml"/></Relationships>
</file>

<file path=ppt/notesSlides/_rels/notesSlide5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3.xml"/></Relationships>
</file>

<file path=ppt/notesSlides/_rels/notesSlide5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4.xml"/></Relationships>
</file>

<file path=ppt/notesSlides/_rels/notesSlide5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5.xml"/></Relationships>
</file>

<file path=ppt/notesSlides/_rels/notesSlide5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6.xml"/></Relationships>
</file>

<file path=ppt/notesSlides/_rels/notesSlide5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7.xml"/></Relationships>
</file>

<file path=ppt/notesSlides/_rels/notesSlide5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8.xml"/></Relationships>
</file>

<file path=ppt/notesSlides/_rels/notesSlide5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9.xml"/></Relationships>
</file>

<file path=ppt/notesSlides/_rels/notesSlide5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0.xml"/></Relationships>
</file>

<file path=ppt/notesSlides/_rels/notesSlide5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1.xml"/></Relationships>
</file>

<file path=ppt/notesSlides/_rels/notesSlide5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2.xml"/></Relationships>
</file>

<file path=ppt/notesSlides/_rels/notesSlide5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3.xml"/></Relationships>
</file>

<file path=ppt/notesSlides/_rels/notesSlide5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4.xml"/></Relationships>
</file>

<file path=ppt/notesSlides/_rels/notesSlide5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5.xml"/></Relationships>
</file>

<file path=ppt/notesSlides/_rels/notesSlide5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6.xml"/></Relationships>
</file>

<file path=ppt/notesSlides/_rels/notesSlide5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7.xml"/></Relationships>
</file>

<file path=ppt/notesSlides/_rels/notesSlide5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8.xml"/></Relationships>
</file>

<file path=ppt/notesSlides/_rels/notesSlide5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9.xml"/></Relationships>
</file>

<file path=ppt/notesSlides/_rels/notesSlide5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0.xml"/></Relationships>
</file>

<file path=ppt/notesSlides/_rels/notesSlide5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1.xml"/></Relationships>
</file>

<file path=ppt/notesSlides/_rels/notesSlide5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2.xml"/></Relationships>
</file>

<file path=ppt/notesSlides/_rels/notesSlide5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3.xml"/></Relationships>
</file>

<file path=ppt/notesSlides/_rels/notesSlide5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4.xml"/></Relationships>
</file>

<file path=ppt/notesSlides/_rels/notesSlide5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5.xml"/></Relationships>
</file>

<file path=ppt/notesSlides/_rels/notesSlide5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6.xml"/></Relationships>
</file>

<file path=ppt/notesSlides/_rels/notesSlide5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7.xml"/></Relationships>
</file>

<file path=ppt/notesSlides/_rels/notesSlide5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8.xml"/></Relationships>
</file>

<file path=ppt/notesSlides/_rels/notesSlide5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9.xml"/></Relationships>
</file>

<file path=ppt/notesSlides/_rels/notesSlide5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0.xml"/></Relationships>
</file>

<file path=ppt/notesSlides/_rels/notesSlide5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1.xml"/></Relationships>
</file>

<file path=ppt/notesSlides/_rels/notesSlide5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2.xml"/></Relationships>
</file>

<file path=ppt/notesSlides/_rels/notesSlide5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3.xml"/></Relationships>
</file>

<file path=ppt/notesSlides/_rels/notesSlide5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4.xml"/></Relationships>
</file>

<file path=ppt/notesSlides/_rels/notesSlide5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5.xml"/></Relationships>
</file>

<file path=ppt/notesSlides/_rels/notesSlide5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6.xml"/></Relationships>
</file>

<file path=ppt/notesSlides/_rels/notesSlide5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8.xml"/></Relationships>
</file>

<file path=ppt/notesSlides/_rels/notesSlide5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9.xml"/></Relationships>
</file>

<file path=ppt/notesSlides/_rels/notesSlide5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0.xml"/></Relationships>
</file>

<file path=ppt/notesSlides/_rels/notesSlide5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1.xml"/></Relationships>
</file>

<file path=ppt/notesSlides/_rels/notesSlide5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2.xml"/></Relationships>
</file>

<file path=ppt/notesSlides/_rels/notesSlide5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a:t>
            </a:r>
          </a:p>
          <a:p>
            <a:r>
              <a:t>Cover hero illustration created for this course with AI image generation (ImageGen).</a:t>
            </a:r>
          </a:p>
          <a:p/>
          <a:p>
            <a:r>
              <a:t>[Sources]</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attendance (TRAQOM / SSG). Mandatory AM, PM and Assessment attendance for WSQ-funded courses.</a:t>
            </a:r>
          </a:p>
          <a:p>
            <a:r>
              <a:t>The trainer displays the live QR from the SSG portal; the on-slide QR is an illustrative placeholder.</a:t>
            </a:r>
          </a:p>
          <a:p>
            <a:r>
              <a:t>A minimum of 75% attendance is required for assessment and funding.</a:t>
            </a:r>
          </a:p>
          <a:p/>
          <a:p>
            <a:r>
              <a:t>[Sources]</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AWS DevOps Toolchain. CodePipeline orchestrates the top row; IaC, monitoring and security wrap the whole lifecycle.</a:t>
            </a:r>
          </a:p>
          <a:p>
            <a:r>
              <a:t>Editable reference architecture drawn as native PowerPoint shapes.</a:t>
            </a:r>
          </a:p>
          <a:p/>
          <a:p>
            <a:r>
              <a:t>[Sources]</a:t>
            </a:r>
          </a:p>
          <a:p>
            <a:r>
              <a:t>- AWS Certified DevOps Engineer – Professional (DOP-C02) Exam Guide (docs.aws.amazon.com/pdfs/aws-certification/latest/devops-engineer-professional-02).</a:t>
            </a:r>
          </a:p>
          <a:p>
            <a:r>
              <a:t>- Legacy course deck: WSQ Master Trainer Slides — DevOps Engineering on AWS (v7).</a:t>
            </a:r>
          </a:p>
          <a:p>
            <a:r>
              <a:t>- AWS Developer Tools Documentation (docs.aws.amazon.com/codepipeline).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 / Skills Domain Weightings. What the data shows: SDLC Automation (22%) and the two 17% domains — IaC and Security &amp; Compliance — carry the most weight; plan revision time accordingly.</a:t>
            </a:r>
          </a:p>
          <a:p>
            <a:r>
              <a:t>Figures are illustrative teaching values to convey the relationship, not measured benchmarks.</a:t>
            </a:r>
          </a:p>
          <a:p/>
          <a:p>
            <a:r>
              <a:t>[Sources]</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CI/CD — Release Frequency &amp; Lead Time. What the data shows: Automating the pipeline turns a few risky monthly releases into many small, low-risk ones that recover in hours, not days.</a:t>
            </a:r>
          </a:p>
          <a:p>
            <a:r>
              <a:t>Figures are illustrative teaching values to convey the relationship, not measured benchmarks.</a:t>
            </a:r>
          </a:p>
          <a:p/>
          <a:p>
            <a:r>
              <a:t>[Sources]</a:t>
            </a:r>
          </a:p>
          <a:p>
            <a:r>
              <a:t>- DORA / Google Cloud, Accelerate State of DevOps (dora.dev).</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DORA's four metrics pair speed with stability so 'go faster' never means 'break more'.</a:t>
            </a:r>
          </a:p>
          <a:p/>
          <a:p>
            <a:r>
              <a:t>[Sources]</a:t>
            </a:r>
          </a:p>
          <a:p>
            <a:r>
              <a:t>- DORA / Google Cloud, Accelerate State of DevOps (dora.dev).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Trunk-based development plus feature flags is the pattern that makes continuous integration real.</a:t>
            </a:r>
          </a:p>
          <a:p/>
          <a:p>
            <a:r>
              <a:t>[Sources]</a:t>
            </a:r>
          </a:p>
          <a:p>
            <a:r>
              <a:t>- DORA / Google Cloud, Accelerate State of DevOps (dora.dev).</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versioned artifact is promoted through environments; only configuration differs — so what you tested is what you ship.</a:t>
            </a:r>
          </a:p>
          <a:p/>
          <a:p>
            <a:r>
              <a:t>[Sources]</a:t>
            </a:r>
          </a:p>
          <a:p>
            <a:r>
              <a:t>- AWS Certified DevOps Engineer – Professional (DOP-C02) Exam Guide (docs.aws.amazon.com/pdfs/aws-certification/latest/devops-engineer-professional-02).</a:t>
            </a:r>
          </a:p>
          <a:p>
            <a:r>
              <a:t>- AWS CodePipeline Documentation (docs.aws.amazon.com/codepipeline).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labs use GitHub through CodeConnections as the primary source path; CodeCommit is discussed as an AWS-native option only.</a:t>
            </a:r>
          </a:p>
          <a:p/>
          <a:p>
            <a:r>
              <a:t>[Sources]</a:t>
            </a:r>
          </a:p>
          <a:p>
            <a:r>
              <a:t>- AWS Certified DevOps Engineer – Professional (DOP-C02) Exam Guide (docs.aws.amazon.com/pdfs/aws-certification/latest/devops-engineer-professional-02).</a:t>
            </a:r>
          </a:p>
          <a:p>
            <a:r>
              <a:t>- AWS CodeConnections Documentation (docs.aws.amazon.com/dtconsole/latest/userguide/welcome-connections.html).</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Immutable infrastructure removes whole classes of drift and 'works on that box' failures.</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is a first-class operational metric — the same automation that builds resources should clean them up.</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DevSecOps folds security into every stage rather than bolting it on before release.</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 Choosing Compute — EC2 vs ECS/EKS vs Lambda.</a:t>
            </a:r>
          </a:p>
          <a:p/>
          <a:p>
            <a:r>
              <a:t>[Sources]</a:t>
            </a:r>
          </a:p>
          <a:p>
            <a:r>
              <a:t>- AWS Certified DevOps Engineer – Professional (DOP-C02) Exam Guide (docs.aws.amazon.com/pdfs/aws-certification/latest/devops-engineer-professional-02).</a:t>
            </a:r>
          </a:p>
          <a:p>
            <a:r>
              <a:t>- AWS Well-Architected Framework (docs.aws.amazon.com/wellarchitected).</a:t>
            </a:r>
          </a:p>
          <a:p>
            <a:r>
              <a:t>- AWS Compute Documentation (docs.aws.amazon.com/whitepapers/latest/aws-overview/compute-services.html).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Automating the software-delivery lifecycle on AWS</a:t>
            </a:r>
          </a:p>
          <a:p>
            <a:r>
              <a:t>Illustration created for this course with AI image generation (ImageGen).</a:t>
            </a:r>
          </a:p>
          <a:p/>
          <a:p>
            <a:r>
              <a:t>[Sources]</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concepts for Domain 01 — SDLC Automation.</a:t>
            </a:r>
          </a:p>
          <a:p>
            <a:r>
              <a:t>Continuous Integration: Developers push often; CodeBuild runs the build and tests on every commit so bugs are found early, not at release.</a:t>
            </a:r>
          </a:p>
          <a:p>
            <a:r>
              <a:t>Continuous Delivery / Deployment: Every green build is releasable; CodePipeline and CodeDeploy move it through dev → test → prod with approvals.</a:t>
            </a:r>
          </a:p>
          <a:p>
            <a:r>
              <a:t>The AWS developer tools: CodeCommit / CodeBuild / CodeDeploy / CodePipeline / CodeArtifact / CodeGuru compose the managed CI/CD toolchain.</a:t>
            </a:r>
          </a:p>
          <a:p>
            <a:r>
              <a:t>buildspec &amp; appspec: buildspec.yml tells CodeBuild what to build and test; appspec.yml tells CodeDeploy what and how to deploy.</a:t>
            </a:r>
          </a:p>
          <a:p>
            <a:r>
              <a:t>Deployment strategies: In-place, rolling, blue/green and canary trade release speed against blast radius and rollback safety.</a:t>
            </a:r>
          </a:p>
          <a:p>
            <a:r>
              <a:t>Artifacts: Build outputs are versioned in S3 / CodeArtifact so any release is reproducible and traceable.</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 Strategy — Blast Radius vs Rollback Speed. What the data shows: Blue/green and canary minimise how many users a bad release can affect and let you roll back fastest.</a:t>
            </a:r>
          </a:p>
          <a:p>
            <a:r>
              <a:t>Figures are illustrative teaching values to convey the relationship, not measured benchmarks.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01 deep dive — SDLC Automation. Editable AWS-native diagram/table/chart.</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01 deep dive — SDLC Automation. Editable AWS-native diagram/table/chart.</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01 deep dive — SDLC Automation. Editable AWS-native diagram/table/chart.</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01 deep dive — SDLC Automation. Editable AWS-native diagram/table/chart.</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01 deep dive — SDLC Automation. Editable AWS-native diagram/table/chart.</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01 deep dive — SDLC Automation. Editable AWS-native diagram/table/chart.</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Integration — mechanics, not just merging.</a:t>
            </a:r>
          </a:p>
          <a:p>
            <a:r>
              <a:t>Why it matters: Small, frequent integrations keep the merge delta tiny, so defects are cheap to locate and revert — the opposite of a painful 'big-bang' integration before release.</a:t>
            </a:r>
          </a:p>
          <a:p>
            <a:r>
              <a:t>Failure mode: Long-lived feature branches that integrate weekly recreate the very merge-hell CI exists to prevent; the build stays green only because nothing is really being integrated.</a:t>
            </a:r>
          </a:p>
          <a:p>
            <a:r>
              <a:t>Trade-off: Faster feedback needs fast builds — split slow suites into parallel CodeBuild batches or later pipeline stages so the commit-stage stays under ~10 minutes.</a:t>
            </a:r>
          </a:p>
          <a:p/>
          <a:p>
            <a:r>
              <a:t>[Sources]</a:t>
            </a:r>
          </a:p>
          <a:p>
            <a:r>
              <a:t>- AWS Certified DevOps Engineer – Professional (DOP-C02) Exam Guide (docs.aws.amazon.com/pdfs/aws-certification/latest/devops-engineer-professional-02).</a:t>
            </a:r>
          </a:p>
          <a:p>
            <a:r>
              <a:t>- AWS CodeBuild Documentation (docs.aws.amazon.com/codebuild).</a:t>
            </a:r>
          </a:p>
          <a:p>
            <a:r>
              <a:t>- DORA / Google Cloud, Accelerate State of DevOps (dora.dev).</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Delivery vs Continuous Deployment.</a:t>
            </a:r>
          </a:p>
          <a:p>
            <a:r>
              <a:t>Why it matters: Delivery gives regulated or high-blast-radius teams a control point; Deployment gives high-trust teams maximum flow once automated tests and progressive rollout make failures cheap.</a:t>
            </a:r>
          </a:p>
          <a:p>
            <a:r>
              <a:t>Failure mode: Adopting Continuous Deployment before you have strong automated tests and fast rollback turns the pipeline into an automated way to ship bugs to customers.</a:t>
            </a:r>
          </a:p>
          <a:p>
            <a:r>
              <a:t>Trade-off: An approval gate adds safety but also queueing delay and 'rubber-stamp' risk — reserve manual approval for genuinely irreversible or compliance-driven steps.</a:t>
            </a:r>
          </a:p>
          <a:p/>
          <a:p>
            <a:r>
              <a:t>[Sources]</a:t>
            </a:r>
          </a:p>
          <a:p>
            <a:r>
              <a:t>- AWS Certified DevOps Engineer – Professional (DOP-C02) Exam Guide (docs.aws.amazon.com/pdfs/aws-certification/latest/devops-engineer-professional-02).</a:t>
            </a:r>
          </a:p>
          <a:p>
            <a:r>
              <a:t>- AWS CodePipeline Documentation (docs.aws.amazon.com/codepipeline).</a:t>
            </a:r>
          </a:p>
          <a:p>
            <a:r>
              <a:t>- DORA / Google Cloud, Accelerate State of DevOps (dora.dev).</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control as the pipeline trigger — GitHub via CodeConnections.</a:t>
            </a:r>
          </a:p>
          <a:p>
            <a:r>
              <a:t>Why it matters: CodeConnections removes long-lived Git credentials from the pipeline and lets teams keep their existing GitHub workflow, reviews and branch protection.</a:t>
            </a:r>
          </a:p>
          <a:p>
            <a:r>
              <a:t>Failure mode: Polling a repository instead of using the connection's webhook adds minutes of latency and can miss rapid successive commits.</a:t>
            </a:r>
          </a:p>
          <a:p>
            <a:r>
              <a:t>Trade-off: Managed connections centralise trust in one integration — scope its permissions and monitor CodeConnections access as part of your security posture.</a:t>
            </a:r>
          </a:p>
          <a:p/>
          <a:p>
            <a:r>
              <a:t>[Sources]</a:t>
            </a:r>
          </a:p>
          <a:p>
            <a:r>
              <a:t>- AWS Certified DevOps Engineer – Professional (DOP-C02) Exam Guide (docs.aws.amazon.com/pdfs/aws-certification/latest/devops-engineer-professional-02).</a:t>
            </a:r>
          </a:p>
          <a:p>
            <a:r>
              <a:t>- AWS CodeConnections Documentation (docs.aws.amazon.com/dtconsole/latest/userguide/welcome-connections.html).</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buildspec.yml — teaching CodeBuild your build.</a:t>
            </a:r>
          </a:p>
          <a:p>
            <a:r>
              <a:t>Why it matters: A declarative build spec makes the build reproducible and reviewable in code review, and identical across every developer and the pipeline.</a:t>
            </a:r>
          </a:p>
          <a:p>
            <a:r>
              <a:t>Failure mode: Baking credentials or environment-specific values into buildspec.yml couples the artifact to one environment and leaks secrets into logs.</a:t>
            </a:r>
          </a:p>
          <a:p>
            <a:r>
              <a:t>Trade-off: Rich caching (dependencies, layers) speeds builds but can hide dependency drift — pin versions and periodically build clean.</a:t>
            </a:r>
          </a:p>
          <a:p/>
          <a:p>
            <a:r>
              <a:t>[Sources]</a:t>
            </a:r>
          </a:p>
          <a:p>
            <a:r>
              <a:t>- AWS CodeBuild buildspec Documentation (docs.aws.amazon.com/codebuild/latest/userguide/build-spec-ref.html).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appspec + deployment lifecycle hooks.</a:t>
            </a:r>
          </a:p>
          <a:p>
            <a:r>
              <a:t>Why it matters: Lifecycle hooks turn 'copy files' into a safe, verifiable release with an explicit go/no-go check before the deployment is declared successful.</a:t>
            </a:r>
          </a:p>
          <a:p>
            <a:r>
              <a:t>Failure mode: A ValidateService hook that always exits 0 defeats automated rollback — a broken release is reported as healthy.</a:t>
            </a:r>
          </a:p>
          <a:p>
            <a:r>
              <a:t>Trade-off: Longer validation windows catch more problems but slow each deployment and hold the fleet in a mixed-version state.</a:t>
            </a:r>
          </a:p>
          <a:p/>
          <a:p>
            <a:r>
              <a:t>[Sources]</a:t>
            </a:r>
          </a:p>
          <a:p>
            <a:r>
              <a:t>- AWS CodeDeploy appspec Documentation (docs.aws.amazon.com/codedeploy/latest/userguide/reference-appspec-file.html).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Artifacts, versioning and traceability.</a:t>
            </a:r>
          </a:p>
          <a:p>
            <a:r>
              <a:t>Why it matters: Immutable, versioned artifacts make releases reproducible and auditable — essential for incident forensics and compliance evidence.</a:t>
            </a:r>
          </a:p>
          <a:p>
            <a:r>
              <a:t>Failure mode: Rebuilding from source on rollback can pull newer dependencies and reintroduce or mask the very fault you are rolling back from.</a:t>
            </a:r>
          </a:p>
          <a:p>
            <a:r>
              <a:t>Trade-off: Retaining every artifact aids traceability but grows storage cost — apply S3 lifecycle rules to age out old, unreferenced builds.</a:t>
            </a:r>
          </a:p>
          <a:p/>
          <a:p>
            <a:r>
              <a:t>[Sources]</a:t>
            </a:r>
          </a:p>
          <a:p>
            <a:r>
              <a:t>- AWS CodeArtifact Documentation (docs.aws.amazon.com/codeartifact).</a:t>
            </a:r>
          </a:p>
          <a:p>
            <a:r>
              <a:t>- AWS S3 versioning Documentation (docs.aws.amazon.com/AmazonS3/latest/userguide/Versioning.html).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testing and quality gates in the pipeline.</a:t>
            </a:r>
          </a:p>
          <a:p>
            <a:r>
              <a:t>Why it matters: Shifting testing left catches defects when they are cheapest to fix and keeps the mainline releasable at all times.</a:t>
            </a:r>
          </a:p>
          <a:p>
            <a:r>
              <a:t>Failure mode: Flaky tests train the team to ignore red builds; a pipeline everyone overrides provides no protection at all.</a:t>
            </a:r>
          </a:p>
          <a:p>
            <a:r>
              <a:t>Trade-off: More gates raise confidence but lengthen lead time — order them fast-to-slow and fail fast on the cheapest checks.</a:t>
            </a:r>
          </a:p>
          <a:p/>
          <a:p>
            <a:r>
              <a:t>[Sources]</a:t>
            </a:r>
          </a:p>
          <a:p>
            <a:r>
              <a:t>- AWS CodeGuru Documentation (docs.aws.amazon.com/codeguru).</a:t>
            </a:r>
          </a:p>
          <a:p>
            <a:r>
              <a:t>- DORA / Google Cloud, Accelerate State of DevOps (dora.dev).</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a deployment strategy by blast radius.</a:t>
            </a:r>
          </a:p>
          <a:p>
            <a:r>
              <a:t>Why it matters: Matching the strategy to the change's risk lets you trade release speed against how many users a bad release can touch.</a:t>
            </a:r>
          </a:p>
          <a:p>
            <a:r>
              <a:t>Failure mode: Blue/green without draining connections or warming caches can still cause a visible blip at cut-over.</a:t>
            </a:r>
          </a:p>
          <a:p>
            <a:r>
              <a:t>Trade-off: Blue/green needs roughly double capacity during the shift; canary needs good metrics and automated alarms to be safe.</a:t>
            </a:r>
          </a:p>
          <a:p/>
          <a:p>
            <a:r>
              <a:t>[Sources]</a:t>
            </a:r>
          </a:p>
          <a:p>
            <a:r>
              <a:t>- AWS CodeDeploy deployment configs Documentation (docs.aws.amazon.com/codedeploy/latest/userguide/deployment-configurations.html).</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structure — stages, actions and promotion.</a:t>
            </a:r>
          </a:p>
          <a:p>
            <a:r>
              <a:t>Why it matters: Modelling promotion explicitly gives a single, auditable path to production and prevents 'works in staging, different build in prod' drift.</a:t>
            </a:r>
          </a:p>
          <a:p>
            <a:r>
              <a:t>Failure mode: Rebuilding per environment breaks the guarantee that what you tested is what you shipped.</a:t>
            </a:r>
          </a:p>
          <a:p>
            <a:r>
              <a:t>Trade-off: More environments raise confidence but add cost and lead time — keep pre-prod as production-like as budget allows.</a:t>
            </a:r>
          </a:p>
          <a:p/>
          <a:p>
            <a:r>
              <a:t>[Sources]</a:t>
            </a:r>
          </a:p>
          <a:p>
            <a:r>
              <a:t>- AWS CodePipeline structure Documentation (docs.aws.amazon.com/codepipeline/latest/userguide/reference-pipeline-structure.html).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 CI/CD Toolchain — AWS-native vs external.</a:t>
            </a:r>
          </a:p>
          <a:p/>
          <a:p>
            <a:r>
              <a:t>[Sources]</a:t>
            </a:r>
          </a:p>
          <a:p>
            <a:r>
              <a:t>- AWS CodeConnections Documentation (docs.aws.amazon.com/dtconsole/latest/userguide/welcome-connections.html).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Lead Time by Stage — Where the Minutes Go. What the data shows: Manual approval dominates lead time here — automate the checks it waits on so approval is a formality, not a bottleneck.</a:t>
            </a:r>
          </a:p>
          <a:p>
            <a:r>
              <a:t>Figures are illustrative teaching values to convey the relationship, not measured benchmarks.</a:t>
            </a:r>
          </a:p>
          <a:p/>
          <a:p>
            <a:r>
              <a:t>[Sources]</a:t>
            </a:r>
          </a:p>
          <a:p>
            <a:r>
              <a:t>- DORA / Google Cloud, Accelerate State of DevOps (dora.dev).</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CI/CD Failure Modes &amp; Anti-Patterns.</a:t>
            </a:r>
          </a:p>
          <a:p>
            <a:r>
              <a:t>Snowflake build agents — Builds pass locally, fail in CodeBuild → pin runtime-versions and build in clean containers.</a:t>
            </a:r>
          </a:p>
          <a:p>
            <a:r>
              <a:t>Secrets in source/logs — Keys committed or echoed → pull from Secrets Manager/SSM at build time; mask in logs.</a:t>
            </a:r>
          </a:p>
          <a:p>
            <a:r>
              <a:t>Flaky tests ignored — Red builds routinely overridden → quarantine and fix flaky tests; a gate you bypass is no gate.</a:t>
            </a:r>
          </a:p>
          <a:p>
            <a:r>
              <a:t>Rebuild on promotion — Different artifact per environment → build once, promote the same artifact.</a:t>
            </a:r>
          </a:p>
          <a:p>
            <a:r>
              <a:t>No automated rollback — Bad deploy needs a human at 2am → alarm-based rollback on CodeDeploy.</a:t>
            </a:r>
          </a:p>
          <a:p>
            <a:r>
              <a:t>Polling instead of webhooks — Slow, missed triggers → use the CodeConnections webhook.</a:t>
            </a:r>
          </a:p>
          <a:p/>
          <a:p>
            <a:r>
              <a:t>[Sources]</a:t>
            </a:r>
          </a:p>
          <a:p>
            <a:r>
              <a:t>- AWS Certified DevOps Engineer – Professional (DOP-C02) Exam Guide (docs.aws.amazon.com/pdfs/aws-certification/latest/devops-engineer-professional-02).</a:t>
            </a:r>
          </a:p>
          <a:p>
            <a:r>
              <a:t>- AWS CodeBuild Documentation (docs.aws.amazon.com/codebuild).</a:t>
            </a:r>
          </a:p>
          <a:p>
            <a:r>
              <a:t>- DORA / Google Cloud, Accelerate State of DevOps (dora.dev).</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Patterns Worth Adopting.</a:t>
            </a:r>
          </a:p>
          <a:p>
            <a:r>
              <a:t>Trunk-based development — Short-lived branches merged to trunk daily keep integration continuous.</a:t>
            </a:r>
          </a:p>
          <a:p>
            <a:r>
              <a:t>Build once, deploy many — One immutable artifact promoted across environments.</a:t>
            </a:r>
          </a:p>
          <a:p>
            <a:r>
              <a:t>Progressive delivery — Canary/blue-green with automated metric analysis before full rollout.</a:t>
            </a:r>
          </a:p>
          <a:p>
            <a:r>
              <a:t>Pipeline as code — Define the pipeline in CloudFormation/CDK so it is versioned and reviewable.</a:t>
            </a:r>
          </a:p>
          <a:p>
            <a:r>
              <a:t>Fail fast — Cheapest, fastest checks first; stop the line on first failure.</a:t>
            </a:r>
          </a:p>
          <a:p>
            <a:r>
              <a:t>Immutable infrastructure — Replace, don't patch, running servers.</a:t>
            </a:r>
          </a:p>
          <a:p/>
          <a:p>
            <a:r>
              <a:t>[Sources]</a:t>
            </a:r>
          </a:p>
          <a:p>
            <a:r>
              <a:t>- DORA / Google Cloud, Accelerate State of DevOps (dora.dev).</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Decision — Approval Gate or Not?.</a:t>
            </a:r>
          </a:p>
          <a:p>
            <a:r>
              <a:t>Option A — Manual approval before prod: Regulated change, irreversible action, or immature test suite. Adds a control point and audit record — at the cost of queueing delay.</a:t>
            </a:r>
          </a:p>
          <a:p>
            <a:r>
              <a:t>Option B — Automated to prod: High test coverage, fast rollback and progressive rollout in place. Maximises flow — requires strong alarms and canary analysis.</a:t>
            </a:r>
          </a:p>
          <a:p>
            <a:r>
              <a:t>Option C — Hybrid: Auto-deploy low-risk services; gate high-blast-radius or data-migration changes. The common enterprise middle ground.</a:t>
            </a:r>
          </a:p>
          <a:p/>
          <a:p>
            <a:r>
              <a:t>[Sources]</a:t>
            </a:r>
          </a:p>
          <a:p>
            <a:r>
              <a:t>- AWS Certified DevOps Engineer – Professional (DOP-C02) Exam Guide (docs.aws.amazon.com/pdfs/aws-certification/latest/devops-engineer-professional-02).</a:t>
            </a:r>
          </a:p>
          <a:p>
            <a:r>
              <a:t>- DORA / Google Cloud, Accelerate State of DevOps (dora.dev).</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 deployment passes all pipeline stages, but error rates climb 3 minutes after it reaches production.</a:t>
            </a:r>
          </a:p>
          <a:p>
            <a:r>
              <a:t>The build and unit tests were green, so the fault is environment- or scale-specific — exactly what canary analysis is designed to catch.</a:t>
            </a:r>
          </a:p>
          <a:p>
            <a:r>
              <a:t>Because releases use immutable, versioned artifacts, the last known-good build is one redeploy away.</a:t>
            </a:r>
          </a:p>
          <a:p>
            <a:r>
              <a:t>A CloudWatch alarm on error rate can trigger CodeDeploy's automatic rollback without waiting for a human.</a:t>
            </a:r>
          </a:p>
          <a:p>
            <a:r>
              <a:t>Decision: Wire an error-rate alarm to CodeDeploy auto-rollback and move this service to a canary configuration so the next bad change is caught at 5% of traffic, not 100%.</a:t>
            </a:r>
          </a:p>
          <a:p/>
          <a:p>
            <a:r>
              <a:t>[Sources]</a:t>
            </a:r>
          </a:p>
          <a:p>
            <a:r>
              <a:t>- AWS Certified DevOps Engineer – Professional (DOP-C02) Exam Guide (docs.aws.amazon.com/pdfs/aws-certification/latest/devops-engineer-professional-02).</a:t>
            </a:r>
          </a:p>
          <a:p>
            <a:r>
              <a:t>- AWS CodeDeploy rollback Documentation (docs.aws.amazon.com/codedeploy/latest/userguide/deployments-rollback-and-redeploy.html).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The commit-stage build takes 25 minutes; developers batch changes to avoid the wait, so integrations get large and risky.</a:t>
            </a:r>
          </a:p>
          <a:p>
            <a:r>
              <a:t>Slow feedback is pushing the team back towards big-bang integration — the DORA lead-time and batch-size signals both degrade.</a:t>
            </a:r>
          </a:p>
          <a:p>
            <a:r>
              <a:t>Test suites can be split and run in parallel CodeBuild projects; dependency caching removes repeated downloads.</a:t>
            </a:r>
          </a:p>
          <a:p>
            <a:r>
              <a:t>Slow end-to-end tests can move to a later stage so the commit stage stays fast.</a:t>
            </a:r>
          </a:p>
          <a:p>
            <a:r>
              <a:t>Decision: Target a sub-10-minute commit stage: parallelise tests, cache dependencies, and defer slow suites downstream so small, frequent merges become painless again.</a:t>
            </a:r>
          </a:p>
          <a:p/>
          <a:p>
            <a:r>
              <a:t>[Sources]</a:t>
            </a:r>
          </a:p>
          <a:p>
            <a:r>
              <a:t>- DORA / Google Cloud, Accelerate State of DevOps (dora.dev).</a:t>
            </a:r>
          </a:p>
          <a:p>
            <a:r>
              <a:t>- AWS CodeBuild Documentation (docs.aws.amazon.com/codebuild).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Analysis — Sizing the Impact of CI/CD.</a:t>
            </a:r>
          </a:p>
          <a:p>
            <a:r>
              <a:t>Before: 2 releases/month, 14-day lead time — Large batches; each release bundles ~150 changes, so failures are hard to isolate.</a:t>
            </a:r>
          </a:p>
          <a:p>
            <a:r>
              <a:t>After: 40 releases/month, ~1-day lead time — Small batches; each release is ~7 changes, so a regression is trivially bisected.</a:t>
            </a:r>
          </a:p>
          <a:p>
            <a:r>
              <a:t>Change-failure rate 30% → 10% — Automated gates catch defects pre-prod; progressive rollout limits blast radius.</a:t>
            </a:r>
          </a:p>
          <a:p>
            <a:r>
              <a:t>MTTR 8h → 1h — Versioned artifacts + alarm-based rollback make recovery a redeploy, not a rebuild.</a:t>
            </a:r>
          </a:p>
          <a:p>
            <a:r>
              <a:t>Takeaway: The gain is not just speed — smaller batches make every DORA metric move together: deploy more often, recover faster, fail less.</a:t>
            </a:r>
          </a:p>
          <a:p/>
          <a:p>
            <a:r>
              <a:t>[Sources]</a:t>
            </a:r>
          </a:p>
          <a:p>
            <a:r>
              <a:t>- DORA / Google Cloud, Accelerate State of DevOps (dora.dev).</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Source and package governance.</a:t>
            </a:r>
          </a:p>
          <a:p>
            <a:r>
              <a:t>PURPOSE: Control how source, dependencies and container images enter the delivery system.</a:t>
            </a:r>
          </a:p>
          <a:p>
            <a:r>
              <a:t>FEATURE 1: Repository events and protected branches trigger delivery without long-lived credentials.</a:t>
            </a:r>
          </a:p>
          <a:p>
            <a:r>
              <a:t>FEATURE 2: CodeArtifact domains and repositories proxy, version and retain language packages.</a:t>
            </a:r>
          </a:p>
          <a:p>
            <a:r>
              <a:t>FEATURE 3: ECR stores immutable image digests, supports lifecycle rules and exposes scan findings.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and package governance: selection and controls.</a:t>
            </a:r>
          </a:p>
          <a:p>
            <a:r>
              <a:t>CHOOSE WHEN: Use source connections for event-driven repository access, CodeArtifact for governed packages, and ECR for OCI images.</a:t>
            </a:r>
          </a:p>
          <a:p>
            <a:r>
              <a:t>DEVOPS ENGINEERING: Pin versions/digests, enforce review, generate an SBOM where required and promote the same artifact between environments.</a:t>
            </a:r>
          </a:p>
          <a:p>
            <a:r>
              <a:t>FAILURE MODE: Mutable tags, unpinned dependencies or broad repository tokens break provenance and repeatability.</a:t>
            </a:r>
          </a:p>
          <a:p>
            <a:r>
              <a:t>EVIDENCE: Commit SHA, approval, package version, image digest, scan result and promotion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Build and pipeline orchestration.</a:t>
            </a:r>
          </a:p>
          <a:p>
            <a:r>
              <a:t>PURPOSE: Turn a source revision into tested, signed and traceable release artifacts.</a:t>
            </a:r>
          </a:p>
          <a:p>
            <a:r>
              <a:t>FEATURE 1: CodePipeline sequences source, build, test, approval and deploy actions with stage transitions.</a:t>
            </a:r>
          </a:p>
          <a:p>
            <a:r>
              <a:t>FEATURE 2: CodeBuild uses ephemeral environments, buildspec phases, reports, caches and exported variables.</a:t>
            </a:r>
          </a:p>
          <a:p>
            <a:r>
              <a:t>FEATURE 3: Versioned/encrypted S3 artifact stores preserve hand-offs between pipeline actions.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and pipeline orchestration: selection and controls.</a:t>
            </a:r>
          </a:p>
          <a:p>
            <a:r>
              <a:t>CHOOSE WHEN: Use CodePipeline for managed orchestration and CodeBuild when a reproducible build/test environment is needed.</a:t>
            </a:r>
          </a:p>
          <a:p>
            <a:r>
              <a:t>DEVOPS ENGINEERING: Fail fast on test/security gates, isolate service roles, encrypt artifacts and make rollback reference an immutable build.</a:t>
            </a:r>
          </a:p>
          <a:p>
            <a:r>
              <a:t>FAILURE MODE: A green pipeline that does not retain test evidence or artifact identity cannot prove what was deployed.</a:t>
            </a:r>
          </a:p>
          <a:p>
            <a:r>
              <a:t>EVIDENCE: Pipeline execution ID, build logs, test report, artifact checksum, approval and deployment ID.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Deployment services.</a:t>
            </a:r>
          </a:p>
          <a:p>
            <a:r>
              <a:t>PURPOSE: Release applications with a strategy matched to compute model, capacity and user-impact tolerance.</a:t>
            </a:r>
          </a:p>
          <a:p>
            <a:r>
              <a:t>FEATURE 1: CodeDeploy coordinates in-place or blue/green deployments and lifecycle hooks.</a:t>
            </a:r>
          </a:p>
          <a:p>
            <a:r>
              <a:t>FEATURE 2: Elastic Beanstalk manages application environments, versions, health and platform updates.</a:t>
            </a:r>
          </a:p>
          <a:p>
            <a:r>
              <a:t>FEATURE 3: ECS services and Lambda aliases support rolling, blue/green or weighted traffic strategies.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 services: selection and controls.</a:t>
            </a:r>
          </a:p>
          <a:p>
            <a:r>
              <a:t>CHOOSE WHEN: Choose the target-native mechanism, then select all-at-once, rolling, linear, canary or blue/green from the recovery objective.</a:t>
            </a:r>
          </a:p>
          <a:p>
            <a:r>
              <a:t>DEVOPS ENGINEERING: Define health checks, minimum healthy capacity, alarms, hook timeouts and automatic rollback before promotion.</a:t>
            </a:r>
          </a:p>
          <a:p>
            <a:r>
              <a:t>FAILURE MODE: Traffic shifting without representative health signals can promote a release that is technically alive but unusable.</a:t>
            </a:r>
          </a:p>
          <a:p>
            <a:r>
              <a:t>EVIDENCE: Deployment configuration, target health, alarm state, hook logs, traffic weights and rollback event.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Serverless and container delivery.</a:t>
            </a:r>
          </a:p>
          <a:p>
            <a:r>
              <a:t>PURPOSE: Package and operate event-driven functions or container workloads with consistent release evidence.</a:t>
            </a:r>
          </a:p>
          <a:p>
            <a:r>
              <a:t>FEATURE 1: Lambda versions and aliases give immutable function revisions and weighted routing.</a:t>
            </a:r>
          </a:p>
          <a:p>
            <a:r>
              <a:t>FEATURE 2: SAM expands serverless resources and deployment preferences through CloudFormation.</a:t>
            </a:r>
          </a:p>
          <a:p>
            <a:r>
              <a:t>FEATURE 3: ECS/Fargate reduces host management; EKS provides Kubernetes APIs with greater operational responsibility.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Serverless and container delivery: selection and controls.</a:t>
            </a:r>
          </a:p>
          <a:p>
            <a:r>
              <a:t>CHOOSE WHEN: Prefer Lambda for short event-driven execution, ECS/Fargate for managed container orchestration, and EKS when Kubernetes compatibility is a real requirement.</a:t>
            </a:r>
          </a:p>
          <a:p>
            <a:r>
              <a:t>DEVOPS ENGINEERING: Scan images, pin digests, externalise configuration, constrain task/function roles and test startup, readiness and rollback.</a:t>
            </a:r>
          </a:p>
          <a:p>
            <a:r>
              <a:t>FAILURE MODE: Selecting EKS only for portability can add control-plane, add-on and upgrade burden without business value.</a:t>
            </a:r>
          </a:p>
          <a:p>
            <a:r>
              <a:t>EVIDENCE: Function version/image digest, task definition, policy diff, deployment state, health metrics and rollback proof.</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AWS CLI and SDK execution model.</a:t>
            </a:r>
          </a:p>
          <a:p>
            <a:r>
              <a:t>PURPOSE: Automate AWS API calls without embedding permanent credentials or hiding retry, pagination and regional behavior.</a:t>
            </a:r>
          </a:p>
          <a:p>
            <a:r>
              <a:t>SERVICE BOUNDARY: AWS CLI v2 · AWS SDKs · STS · IAM Identity Center</a:t>
            </a:r>
          </a:p>
          <a:p>
            <a:r>
              <a:t>PRIMARY DESIGN DECISION: Use named SSO profiles locally and a CodeBuild service role in CI; resolve account/Region at runtime and log request IDs without logging credentials.</a:t>
            </a:r>
          </a:p>
          <a:p>
            <a:r>
              <a:t>FAILURE BOUNDARY: An implicit default profile can deploy to the wrong account, while unbounded retries can duplicate non-idempotent changes.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CLI and SDK execution model: how it works.</a:t>
            </a:r>
          </a:p>
          <a:p>
            <a:r>
              <a:t>MECHANIC 1: The credential provider chain searches explicit configuration, environment, shared profiles, container or instance roles; production code should normally end at a workload role.</a:t>
            </a:r>
          </a:p>
          <a:p>
            <a:r>
              <a:t>MECHANIC 2: A client is Region-specific and signs each request with SigV4; the Region therefore affects endpoint, resource availability and the authorization scope.</a:t>
            </a:r>
          </a:p>
          <a:p>
            <a:r>
              <a:t>MECHANIC 3: SDK paginators, waiters and retry modes handle common distributed-system behavior, but applications must still set timeouts and make mutating operations idempotent.</a:t>
            </a:r>
          </a:p>
          <a:p>
            <a:r>
              <a:t>MECHANIC 4: CloudTrail records supported API activity, allowing a command, assumed-role session and resulting resource change to be correlated.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CLI and SDK execution model: operating flow.</a:t>
            </a:r>
          </a:p>
          <a:p>
            <a:r>
              <a:t>Resolve profile or role</a:t>
            </a:r>
          </a:p>
          <a:p>
            <a:r>
              <a:t>Obtain temporary session</a:t>
            </a:r>
          </a:p>
          <a:p>
            <a:r>
              <a:t>Create regional client</a:t>
            </a:r>
          </a:p>
          <a:p>
            <a:r>
              <a:t>Call and paginate</a:t>
            </a:r>
          </a:p>
          <a:p>
            <a:r>
              <a:t>Record result and request ID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CLI and SDK execution model: configuration decisions.</a:t>
            </a:r>
          </a:p>
          <a:p>
            <a:r>
              <a:t>AUTHENTICATION: Use IAM Identity Center for workforce access and role credentials for workloads; reserve static keys for exceptional legacy cases.</a:t>
            </a:r>
          </a:p>
          <a:p>
            <a:r>
              <a:t>RETRIES: Use standard or adaptive retry behavior with bounded attempts, jitter and service-specific handling for throttling.</a:t>
            </a:r>
          </a:p>
          <a:p>
            <a:r>
              <a:t>PAGINATION: Consume every page or deliberately cap results; a first-page-only inventory creates false compliance evidence.</a:t>
            </a:r>
          </a:p>
          <a:p>
            <a:r>
              <a:t>IDEMPOTENCY: Supply client tokens where supported and design repeatable state checks before retrying a write.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CLI and SDK execution model: worked architecture decision.</a:t>
            </a:r>
          </a:p>
          <a:p>
            <a:r>
              <a:t>SCENARIO: A deployment utility must work from a developer laptop and CodeBuild while producing the same account and Region evidence.</a:t>
            </a:r>
          </a:p>
          <a:p>
            <a:r>
              <a:t>DESIGN DECISION: Use named SSO profiles locally and a CodeBuild service role in CI; resolve account/Region at runtime and log request IDs without logging credentials.</a:t>
            </a:r>
          </a:p>
          <a:p>
            <a:r>
              <a:t>FAILURE TO AVOID: An implicit default profile can deploy to the wrong account, while unbounded retries can duplicate non-idempotent changes.</a:t>
            </a:r>
          </a:p>
          <a:p>
            <a:r>
              <a:t>ACCEPTANCE EVIDENCE: Caller identity, selected Region, assumed-role ARN, API request ID, retry count and final resource state.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Package and image governance.</a:t>
            </a:r>
          </a:p>
          <a:p>
            <a:r>
              <a:t>PURPOSE: Create a trusted supply chain for language packages and container images, then promote immutable versions across environments.</a:t>
            </a:r>
          </a:p>
          <a:p>
            <a:r>
              <a:t>SERVICE BOUNDARY: CodeArtifact · ECR · KMS · Inspector</a:t>
            </a:r>
          </a:p>
          <a:p>
            <a:r>
              <a:t>PRIMARY DESIGN DECISION: Build once in the tooling account, scan the digest, grant scoped cross-account pull access and promote the same digest through environment manifests.</a:t>
            </a:r>
          </a:p>
          <a:p>
            <a:r>
              <a:t>FAILURE BOUNDARY: Mutable tags can silently replace the reviewed artifact; aggressive lifecycle rules can remove the rollback image.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Package and image governance: how it works.</a:t>
            </a:r>
          </a:p>
          <a:p>
            <a:r>
              <a:t>MECHANIC 1: CodeArtifact domains group repositories and can deduplicate package assets; upstream repositories proxy internal or public sources through a controlled path.</a:t>
            </a:r>
          </a:p>
          <a:p>
            <a:r>
              <a:t>MECHANIC 2: Authentication tokens are temporary and should be requested at build time, never committed to package-manager configuration.</a:t>
            </a:r>
          </a:p>
          <a:p>
            <a:r>
              <a:t>MECHANIC 3: ECR stores OCI images by tag and digest; deployment references should use immutable tags or, preferably, the resolved digest.</a:t>
            </a:r>
          </a:p>
          <a:p>
            <a:r>
              <a:t>MECHANIC 4: Lifecycle policies control retention, while enhanced scanning can surface operating-system and language-package vulnerabilities through Inspector.</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Package and image governance: operating flow.</a:t>
            </a:r>
          </a:p>
          <a:p>
            <a:r>
              <a:t>Resolve approved dependency</a:t>
            </a:r>
          </a:p>
          <a:p>
            <a:r>
              <a:t>Build and test</a:t>
            </a:r>
          </a:p>
          <a:p>
            <a:r>
              <a:t>Publish version or image</a:t>
            </a:r>
          </a:p>
          <a:p>
            <a:r>
              <a:t>Scan and sign evidence</a:t>
            </a:r>
          </a:p>
          <a:p>
            <a:r>
              <a:t>Promote immutable digest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Package and image governance: configuration decisions.</a:t>
            </a:r>
          </a:p>
          <a:p>
            <a:r>
              <a:t>REPOSITORY POLICY: Separate publisher and consumer permissions; restrict cross-account pulls with repository and identity policies.</a:t>
            </a:r>
          </a:p>
          <a:p>
            <a:r>
              <a:t>VERSIONING: Reject overwrites where supported and give every release a unique package version or image digest.</a:t>
            </a:r>
          </a:p>
          <a:p>
            <a:r>
              <a:t>SCANNING: Define severity thresholds and exception ownership; a scan with no release decision is only telemetry.</a:t>
            </a:r>
          </a:p>
          <a:p>
            <a:r>
              <a:t>RETENTION: Keep releases required for rollback and audit while expiring untagged or superseded artifacts safely.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Package and image governance: worked architecture decision.</a:t>
            </a:r>
          </a:p>
          <a:p>
            <a:r>
              <a:t>SCENARIO: Twenty accounts must deploy the identical reviewed container without rebuilding or granting broad registry access.</a:t>
            </a:r>
          </a:p>
          <a:p>
            <a:r>
              <a:t>DESIGN DECISION: Build once in the tooling account, scan the digest, grant scoped cross-account pull access and promote the same digest through environment manifests.</a:t>
            </a:r>
          </a:p>
          <a:p>
            <a:r>
              <a:t>FAILURE TO AVOID: Mutable tags can silently replace the reviewed artifact; aggressive lifecycle rules can remove the rollback image.</a:t>
            </a:r>
          </a:p>
          <a:p>
            <a:r>
              <a:t>ACCEPTANCE EVIDENCE: Package version, repository policy, image digest, scan finding disposition, promotion record and successful cross-account pull.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CodeBuild build environments and quality gates.</a:t>
            </a:r>
          </a:p>
          <a:p>
            <a:r>
              <a:t>PURPOSE: Turn source into reproducible artifacts while making tests, security checks and provenance part of the pipeline decision.</a:t>
            </a:r>
          </a:p>
          <a:p>
            <a:r>
              <a:t>SERVICE BOUNDARY: CodeBuild · buildspec · report groups · S3 cache</a:t>
            </a:r>
          </a:p>
          <a:p>
            <a:r>
              <a:t>PRIMARY DESIGN DECISION: Pin the runtime image, run deterministic installs, publish JUnit/coverage reports and create a manifest containing commit SHA and artifact checksum.</a:t>
            </a:r>
          </a:p>
          <a:p>
            <a:r>
              <a:t>FAILURE BOUNDARY: A shell command followed by another successful command can hide a failed test unless exit handling is explicit.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CodeBuild build environments and quality gates: how it works.</a:t>
            </a:r>
          </a:p>
          <a:p>
            <a:r>
              <a:t>MECHANIC 1: A buildspec separates install, pre_build, build and post_build phases; finally blocks can preserve diagnostics even after a phase fails.</a:t>
            </a:r>
          </a:p>
          <a:p>
            <a:r>
              <a:t>MECHANIC 2: Managed images simplify patching, while custom images provide tool control and must themselves be versioned and scanned.</a:t>
            </a:r>
          </a:p>
          <a:p>
            <a:r>
              <a:t>MECHANIC 3: Privileged mode is mainly required for Docker daemon workflows and materially increases build-container authority.</a:t>
            </a:r>
          </a:p>
          <a:p>
            <a:r>
              <a:t>MECHANIC 4: Report groups retain test or coverage results; artifacts and exported variables pass controlled outputs to later pipeline actions.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CodeBuild build environments and quality gates: operating flow.</a:t>
            </a:r>
          </a:p>
          <a:p>
            <a:r>
              <a:t>Provision ephemeral environment</a:t>
            </a:r>
          </a:p>
          <a:p>
            <a:r>
              <a:t>Install pinned tools</a:t>
            </a:r>
          </a:p>
          <a:p>
            <a:r>
              <a:t>Test and scan</a:t>
            </a:r>
          </a:p>
          <a:p>
            <a:r>
              <a:t>Package immutable output</a:t>
            </a:r>
          </a:p>
          <a:p>
            <a:r>
              <a:t>Publish reports and artifact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CodeBuild build environments and quality gates: configuration decisions.</a:t>
            </a:r>
          </a:p>
          <a:p>
            <a:r>
              <a:t>COMPUTE: Select architecture, size and timeout from measured build demand; avoid oversized always-on assumptions.</a:t>
            </a:r>
          </a:p>
          <a:p>
            <a:r>
              <a:t>NETWORK: Use VPC attachment only when private dependencies require it, and provide routes/endpoints for every required service.</a:t>
            </a:r>
          </a:p>
          <a:p>
            <a:r>
              <a:t>CACHE: Cache dependencies for speed, but key the cache so stale libraries cannot bypass lock-file changes.</a:t>
            </a:r>
          </a:p>
          <a:p>
            <a:r>
              <a:t>SECRETS: Retrieve secrets at runtime from managed stores and mask output; never place secret values in buildspec source.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CodeBuild build environments and quality gates: worked architecture decision.</a:t>
            </a:r>
          </a:p>
          <a:p>
            <a:r>
              <a:t>SCENARIO: A Python service must stop promotion if tests fail, coverage drops below policy, or the artifact cannot be traced to its source revision.</a:t>
            </a:r>
          </a:p>
          <a:p>
            <a:r>
              <a:t>DESIGN DECISION: Pin the runtime image, run deterministic installs, publish JUnit/coverage reports and create a manifest containing commit SHA and artifact checksum.</a:t>
            </a:r>
          </a:p>
          <a:p>
            <a:r>
              <a:t>FAILURE TO AVOID: A shell command followed by another successful command can hide a failed test unless exit handling is explicit.</a:t>
            </a:r>
          </a:p>
          <a:p>
            <a:r>
              <a:t>ACCEPTANCE EVIDENCE: Build ARN, source version, image identifier, test report, coverage threshold, checksum and phase logs.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CodePipeline orchestration and approvals.</a:t>
            </a:r>
          </a:p>
          <a:p>
            <a:r>
              <a:t>PURPOSE: Coordinate source, validation, approval and deployment stages while preserving artifact identity and execution context.</a:t>
            </a:r>
          </a:p>
          <a:p>
            <a:r>
              <a:t>SERVICE BOUNDARY: CodePipeline · CodeConnections · CodeBuild · Lambda actions</a:t>
            </a:r>
          </a:p>
          <a:p>
            <a:r>
              <a:t>PRIMARY DESIGN DECISION: Keep build resources in a tooling account, promote an immutable artifact, assume per-environment roles and require an approval owned outside the developer role.</a:t>
            </a:r>
          </a:p>
          <a:p>
            <a:r>
              <a:t>FAILURE BOUNDARY: Rebuilding for production changes the artifact under review; parallel executions can race against shared CloudFormation state.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CodePipeline orchestration and approvals: how it works.</a:t>
            </a:r>
          </a:p>
          <a:p>
            <a:r>
              <a:t>MECHANIC 1: A pipeline execution moves named artifacts between actions through an encrypted artifact store; each action receives declared inputs and emits declared outputs.</a:t>
            </a:r>
          </a:p>
          <a:p>
            <a:r>
              <a:t>MECHANIC 2: Execution modes determine how concurrent revisions behave: superseding, queueing or running in parallel must match the deployment target's safety model.</a:t>
            </a:r>
          </a:p>
          <a:p>
            <a:r>
              <a:t>MECHANIC 3: Manual approvals pause execution and should present change, test, risk and rollback evidence rather than a context-free button.</a:t>
            </a:r>
          </a:p>
          <a:p>
            <a:r>
              <a:t>MECHANIC 4: Variables and namespaces pass small metadata values; release artifacts belong in governed stores, not pipeline variables.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CodePipeline orchestration and approvals: operating flow.</a:t>
            </a:r>
          </a:p>
          <a:p>
            <a:r>
              <a:t>Receive trusted source event</a:t>
            </a:r>
          </a:p>
          <a:p>
            <a:r>
              <a:t>Build immutable revision</a:t>
            </a:r>
          </a:p>
          <a:p>
            <a:r>
              <a:t>Run parallel gates</a:t>
            </a:r>
          </a:p>
          <a:p>
            <a:r>
              <a:t>Approve with context</a:t>
            </a:r>
          </a:p>
          <a:p>
            <a:r>
              <a:t>Deploy and observe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CodePipeline orchestration and approvals: configuration decisions.</a:t>
            </a:r>
          </a:p>
          <a:p>
            <a:r>
              <a:t>TRIGGER: Filter repository events so pull requests validate while only accepted branches or tags reach deployment.</a:t>
            </a:r>
          </a:p>
          <a:p>
            <a:r>
              <a:t>CONCURRENCY: Use queued execution for shared environments and parallel execution only when targets and state are isolated.</a:t>
            </a:r>
          </a:p>
          <a:p>
            <a:r>
              <a:t>CROSS-ACCOUNT: Assume narrow deployment roles and use KMS/artifact policies that explicitly permit the required account path.</a:t>
            </a:r>
          </a:p>
          <a:p>
            <a:r>
              <a:t>FAILURE: Stop stage transitions, retain the failed execution and automate rollback from the last-known-good artifact.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CodePipeline orchestration and approvals: worked architecture decision.</a:t>
            </a:r>
          </a:p>
          <a:p>
            <a:r>
              <a:t>SCENARIO: A multi-account pipeline must deploy the same revision to test and production, with separation of duties at production approval.</a:t>
            </a:r>
          </a:p>
          <a:p>
            <a:r>
              <a:t>DESIGN DECISION: Keep build resources in a tooling account, promote an immutable artifact, assume per-environment roles and require an approval owned outside the developer role.</a:t>
            </a:r>
          </a:p>
          <a:p>
            <a:r>
              <a:t>FAILURE TO AVOID: Rebuilding for production changes the artifact under review; parallel executions can race against shared CloudFormation state.</a:t>
            </a:r>
          </a:p>
          <a:p>
            <a:r>
              <a:t>ACCEPTANCE EVIDENCE: Pipeline execution ID, artifact digest, gate reports, approval identity/comment, assumed role and deployment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CodeDeploy lifecycle, traffic shifting and rollback.</a:t>
            </a:r>
          </a:p>
          <a:p>
            <a:r>
              <a:t>PURPOSE: Select lifecycle hooks and deployment configurations that expose failures before they reach the full user population.</a:t>
            </a:r>
          </a:p>
          <a:p>
            <a:r>
              <a:t>SERVICE BOUNDARY: CodeDeploy · EC2/On-Premises · ECS · Lambda</a:t>
            </a:r>
          </a:p>
          <a:p>
            <a:r>
              <a:t>PRIMARY DESIGN DECISION: Deploy an immutable version behind an alias, shift a small weight, bind a transaction-error alarm and retain the previous alias target for rollback.</a:t>
            </a:r>
          </a:p>
          <a:p>
            <a:r>
              <a:t>FAILURE BOUNDARY: Infrastructure health alone may stay green while business transactions fail; an alarm that evaluates too slowly misses the canary window.</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CodeDeploy lifecycle, traffic shifting and rollback: how it works.</a:t>
            </a:r>
          </a:p>
          <a:p>
            <a:r>
              <a:t>MECHANIC 1: EC2/on-premises deployments use an AppSpec file to map files and lifecycle scripts; scripts must be idempotent because replacement or retry can rerun them.</a:t>
            </a:r>
          </a:p>
          <a:p>
            <a:r>
              <a:t>MECHANIC 2: ECS blue/green deployments create a replacement task set and move listener traffic after validation through CodeDeploy-controlled hooks.</a:t>
            </a:r>
          </a:p>
          <a:p>
            <a:r>
              <a:t>MECHANIC 3: Lambda deployments shift an alias between immutable versions using canary or linear increments and optional validation hooks.</a:t>
            </a:r>
          </a:p>
          <a:p>
            <a:r>
              <a:t>MECHANIC 4: Automatic rollback can react to deployment failure, stop requests or CloudWatch alarms, but only if alarms represent real release health.</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CodeDeploy lifecycle, traffic shifting and rollback: operating flow.</a:t>
            </a:r>
          </a:p>
          <a:p>
            <a:r>
              <a:t>Create revision</a:t>
            </a:r>
          </a:p>
          <a:p>
            <a:r>
              <a:t>Provision replacement</a:t>
            </a:r>
          </a:p>
          <a:p>
            <a:r>
              <a:t>Run pre-traffic validation</a:t>
            </a:r>
          </a:p>
          <a:p>
            <a:r>
              <a:t>Shift traffic</a:t>
            </a:r>
          </a:p>
          <a:p>
            <a:r>
              <a:t>Observe or roll back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CodeDeploy lifecycle, traffic shifting and rollback: configuration decisions.</a:t>
            </a:r>
          </a:p>
          <a:p>
            <a:r>
              <a:t>IN-PLACE: Lower capacity cost but shares the original environment and normally has a slower recovery path.</a:t>
            </a:r>
          </a:p>
          <a:p>
            <a:r>
              <a:t>BLUE/GREEN: Keeps old capacity for rapid rollback but requires duplicate capacity and compatible data changes.</a:t>
            </a:r>
          </a:p>
          <a:p>
            <a:r>
              <a:t>CANARY/LINEAR: Limits early exposure and needs statistically useful traffic plus alarms that react within the interval.</a:t>
            </a:r>
          </a:p>
          <a:p>
            <a:r>
              <a:t>HOOKS: Use hooks for deterministic validation, not long-running hidden configuration management.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CodeDeploy lifecycle, traffic shifting and rollback: worked architecture decision.</a:t>
            </a:r>
          </a:p>
          <a:p>
            <a:r>
              <a:t>SCENARIO: A payment API needs a small production canary and automatic restoration of the prior version when transaction errors rise.</a:t>
            </a:r>
          </a:p>
          <a:p>
            <a:r>
              <a:t>DESIGN DECISION: Deploy an immutable version behind an alias, shift a small weight, bind a transaction-error alarm and retain the previous alias target for rollback.</a:t>
            </a:r>
          </a:p>
          <a:p>
            <a:r>
              <a:t>FAILURE TO AVOID: Infrastructure health alone may stay green while business transactions fail; an alarm that evaluates too slowly misses the canary window.</a:t>
            </a:r>
          </a:p>
          <a:p>
            <a:r>
              <a:t>ACCEPTANCE EVIDENCE: Revision/version, hook output, target health, traffic weights, alarm history, rollback event and post-rollback transaction check.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Elastic Beanstalk managed application platforms.</a:t>
            </a:r>
          </a:p>
          <a:p>
            <a:r>
              <a:t>PURPOSE: Operate web applications through managed platform versions, environment configuration and deployment policies without losing architectural control.</a:t>
            </a:r>
          </a:p>
          <a:p>
            <a:r>
              <a:t>SERVICE BOUNDARY: Elastic Beanstalk · Auto Scaling · ELB · RDS</a:t>
            </a:r>
          </a:p>
          <a:p>
            <a:r>
              <a:t>PRIMARY DESIGN DECISION: Use a supported platform branch, separate the database lifecycle, choose immutable or rolling-with-batch deployment and test managed updates in a clone.</a:t>
            </a:r>
          </a:p>
          <a:p>
            <a:r>
              <a:t>FAILURE BOUNDARY: Embedding a production database in the environment couples data lifecycle to application replacement; platform hooks can drift when undocumented.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 Beanstalk managed application platforms: how it works.</a:t>
            </a:r>
          </a:p>
          <a:p>
            <a:r>
              <a:t>MECHANIC 1: An application contains versions and environments; an environment creates resources such as instances, an Auto Scaling group and a load balancer from configuration options.</a:t>
            </a:r>
          </a:p>
          <a:p>
            <a:r>
              <a:t>MECHANIC 2: Platform branches and versions define operating system, runtime, proxy and supported lifecycle; managed platform updates reduce but do not remove upgrade testing.</a:t>
            </a:r>
          </a:p>
          <a:p>
            <a:r>
              <a:t>MECHANIC 3: Saved configurations and environment properties support repeatability, while `.ebextensions` and platform hooks apply controlled customisation.</a:t>
            </a:r>
          </a:p>
          <a:p>
            <a:r>
              <a:t>MECHANIC 4: Application health combines resource and request signals; enhanced health exposes instance and deployment-level status.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 Beanstalk managed application platforms: operating flow.</a:t>
            </a:r>
          </a:p>
          <a:p>
            <a:r>
              <a:t>Package application version</a:t>
            </a:r>
          </a:p>
          <a:p>
            <a:r>
              <a:t>Validate configuration</a:t>
            </a:r>
          </a:p>
          <a:p>
            <a:r>
              <a:t>Create replacement capacity</a:t>
            </a:r>
          </a:p>
          <a:p>
            <a:r>
              <a:t>Deploy by policy</a:t>
            </a:r>
          </a:p>
          <a:p>
            <a:r>
              <a:t>Read health and retain rollback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 Beanstalk managed application platforms: configuration decisions.</a:t>
            </a:r>
          </a:p>
          <a:p>
            <a:r>
              <a:t>ALL AT ONCE: Fast and cheap, but introduces downtime or full-fleet risk.</a:t>
            </a:r>
          </a:p>
          <a:p>
            <a:r>
              <a:t>ROLLING: Updates batches while reducing available capacity during the deployment.</a:t>
            </a:r>
          </a:p>
          <a:p>
            <a:r>
              <a:t>ROLLING WITH BATCH: Adds temporary capacity to preserve service level at higher short-term cost.</a:t>
            </a:r>
          </a:p>
          <a:p>
            <a:r>
              <a:t>IMMUTABLE: Launches a fresh group for strong isolation and quick environment-level recovery.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 Beanstalk managed application platforms: worked architecture decision.</a:t>
            </a:r>
          </a:p>
          <a:p>
            <a:r>
              <a:t>SCENARIO: A legacy web service needs managed runtime patching but cannot accept reduced capacity during release.</a:t>
            </a:r>
          </a:p>
          <a:p>
            <a:r>
              <a:t>DESIGN DECISION: Use a supported platform branch, separate the database lifecycle, choose immutable or rolling-with-batch deployment and test managed updates in a clone.</a:t>
            </a:r>
          </a:p>
          <a:p>
            <a:r>
              <a:t>FAILURE TO AVOID: Embedding a production database in the environment couples data lifecycle to application replacement; platform hooks can drift when undocumented.</a:t>
            </a:r>
          </a:p>
          <a:p>
            <a:r>
              <a:t>ACCEPTANCE EVIDENCE: Application version, configuration template, platform version, enhanced-health events, deployment policy and rollback environment.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delivery operating model.</a:t>
            </a:r>
          </a:p>
          <a:p>
            <a:r>
              <a:t>OUTCOME: Turn every accepted change into a repeatable, observable release candidate.</a:t>
            </a:r>
          </a:p>
          <a:p>
            <a:r>
              <a:t>ARCHITECTURE: Separate source, build, test, approval and deploy concerns; promote immutable artifacts rather than rebuilding per environment.</a:t>
            </a:r>
          </a:p>
          <a:p>
            <a:r>
              <a:t>FAILURE MODE: Hidden manual steps create configuration variance and weak rollback evidence.</a:t>
            </a:r>
          </a:p>
          <a:p>
            <a:r>
              <a:t>EVIDENCE: Commit SHA, test report, artifact digest, approval identity and deployment outcome form the release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delivery operating model: operating flow.</a:t>
            </a:r>
          </a:p>
          <a:p>
            <a:r>
              <a:t>Commit</a:t>
            </a:r>
          </a:p>
          <a:p>
            <a:r>
              <a:t>Build once</a:t>
            </a:r>
          </a:p>
          <a:p>
            <a:r>
              <a:t>Test and scan</a:t>
            </a:r>
          </a:p>
          <a:p>
            <a:r>
              <a:t>Approve</a:t>
            </a:r>
          </a:p>
          <a:p>
            <a:r>
              <a:t>Promote</a:t>
            </a:r>
          </a:p>
          <a:p>
            <a:r>
              <a:t>Observe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delivery operating model: design decision.</a:t>
            </a:r>
          </a:p>
          <a:p>
            <a:r>
              <a:t>SCENARIO: A regulated team needs fast releases without allowing developers to deploy directly to production.</a:t>
            </a:r>
          </a:p>
          <a:p>
            <a:r>
              <a:t>DESIGN RESPONSE: Separate source, build, test, approval and deploy concerns; promote immutable artifacts rather than rebuilding per environment.</a:t>
            </a:r>
          </a:p>
          <a:p>
            <a:r>
              <a:t>PRIMARY SERVICES: GitHub · CodePipeline · CodeBuild · CodeDeploy</a:t>
            </a:r>
          </a:p>
          <a:p>
            <a:r>
              <a:t>FAILURE MODE: Hidden manual steps create configuration variance and weak rollback evidence.</a:t>
            </a:r>
          </a:p>
          <a:p>
            <a:r>
              <a:t>PROOF: Commit SHA, test report, artifact digest, approval identity and deployment outcome form the release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delivery operating model: failure diagnostic.</a:t>
            </a:r>
          </a:p>
          <a:p>
            <a:r>
              <a:t>RECOGNISE: Observable failure condition: Hidden manual steps create configuration variance and weak rollback evidence.</a:t>
            </a:r>
          </a:p>
          <a:p>
            <a:r>
              <a:t>CONTAIN: Pause promotion, preserve evidence and reduce impact without destroying diagnostic state.</a:t>
            </a:r>
          </a:p>
          <a:p>
            <a:r>
              <a:t>DIAGNOSE: Trace the workflow from Commit through Observe; compare intended configuration with runtime state.</a:t>
            </a:r>
          </a:p>
          <a:p>
            <a:r>
              <a:t>RECOVER: Restore the last known-good state, then prove recovery with Commit SHA, test report, artifact digest, approval identity and deployment outcome form the release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delivery operating model: worked decision.</a:t>
            </a:r>
          </a:p>
          <a:p>
            <a:r>
              <a:t>CONSTRAINT: A regulated team needs fast releases without allowing developers to deploy directly to production.</a:t>
            </a:r>
          </a:p>
          <a:p>
            <a:r>
              <a:t>DECISION: Separate source, build, test, approval and deploy concerns; promote immutable artifacts rather than rebuilding per environment.</a:t>
            </a:r>
          </a:p>
          <a:p>
            <a:r>
              <a:t>WHY ALTERNATIVES LOSE: Reject options that do not change the stated failure boundary: Hidden manual steps create configuration variance and weak rollback evidence.</a:t>
            </a:r>
          </a:p>
          <a:p>
            <a:r>
              <a:t>ACCEPTANCE TEST: The decision is complete only when this proof exists: Commit SHA, test report, artifact digest, approval identity and deployment outcome form the release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triggers and source governance.</a:t>
            </a:r>
          </a:p>
          <a:p>
            <a:r>
              <a:t>OUTCOME: Start the right pipeline from an authenticated source event while protecting mainline quality.</a:t>
            </a:r>
          </a:p>
          <a:p>
            <a:r>
              <a:t>ARCHITECTURE: Use pull-request checks, protected branches, signed connections and event filters; avoid broad polling and shared credentials.</a:t>
            </a:r>
          </a:p>
          <a:p>
            <a:r>
              <a:t>FAILURE MODE: A trigger that accepts unreviewed branches can promote untrusted code.</a:t>
            </a:r>
          </a:p>
          <a:p>
            <a:r>
              <a:t>EVIDENCE: Repository event, branch rule, connection ARN, trigger filter and execution correlation ID.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triggers and source governance: operating flow.</a:t>
            </a:r>
          </a:p>
          <a:p>
            <a:r>
              <a:t>Pull request</a:t>
            </a:r>
          </a:p>
          <a:p>
            <a:r>
              <a:t>Policy checks</a:t>
            </a:r>
          </a:p>
          <a:p>
            <a:r>
              <a:t>Merge event</a:t>
            </a:r>
          </a:p>
          <a:p>
            <a:r>
              <a:t>Trigger filter</a:t>
            </a:r>
          </a:p>
          <a:p>
            <a:r>
              <a:t>Pipeline execution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triggers and source governance: design decision.</a:t>
            </a:r>
          </a:p>
          <a:p>
            <a:r>
              <a:t>SCENARIO: Feature branches must run tests, but only reviewed merges to main may enter the release pipeline.</a:t>
            </a:r>
          </a:p>
          <a:p>
            <a:r>
              <a:t>DESIGN RESPONSE: Use pull-request checks, protected branches, signed connections and event filters; avoid broad polling and shared credentials.</a:t>
            </a:r>
          </a:p>
          <a:p>
            <a:r>
              <a:t>PRIMARY SERVICES: GitHub · EventBridge · CodeConnections</a:t>
            </a:r>
          </a:p>
          <a:p>
            <a:r>
              <a:t>FAILURE MODE: A trigger that accepts unreviewed branches can promote untrusted code.</a:t>
            </a:r>
          </a:p>
          <a:p>
            <a:r>
              <a:t>PROOF: Repository event, branch rule, connection ARN, trigger filter and execution correlation ID.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triggers and source governance: failure diagnostic.</a:t>
            </a:r>
          </a:p>
          <a:p>
            <a:r>
              <a:t>RECOGNISE: Observable failure condition: A trigger that accepts unreviewed branches can promote untrusted code.</a:t>
            </a:r>
          </a:p>
          <a:p>
            <a:r>
              <a:t>CONTAIN: Pause promotion, preserve evidence and reduce impact without destroying diagnostic state.</a:t>
            </a:r>
          </a:p>
          <a:p>
            <a:r>
              <a:t>DIAGNOSE: Trace the workflow from Pull request through Pipeline execution; compare intended configuration with runtime state.</a:t>
            </a:r>
          </a:p>
          <a:p>
            <a:r>
              <a:t>RECOVER: Restore the last known-good state, then prove recovery with Repository event, branch rule, connection ARN, trigger filter and execution correlation ID.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triggers and source governance: worked decision.</a:t>
            </a:r>
          </a:p>
          <a:p>
            <a:r>
              <a:t>CONSTRAINT: Feature branches must run tests, but only reviewed merges to main may enter the release pipeline.</a:t>
            </a:r>
          </a:p>
          <a:p>
            <a:r>
              <a:t>DECISION: Use pull-request checks, protected branches, signed connections and event filters; avoid broad polling and shared credentials.</a:t>
            </a:r>
          </a:p>
          <a:p>
            <a:r>
              <a:t>WHY ALTERNATIVES LOSE: Reject options that do not change the stated failure boundary: A trigger that accepts unreviewed branches can promote untrusted code.</a:t>
            </a:r>
          </a:p>
          <a:p>
            <a:r>
              <a:t>ACCEPTANCE TEST: The decision is complete only when this proof exists: Repository event, branch rule, connection ARN, trigger filter and execution correlation ID.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CodeBuild and automated quality gates.</a:t>
            </a:r>
          </a:p>
          <a:p>
            <a:r>
              <a:t>OUTCOME: Make build success mean more than compilation by enforcing test, security and quality thresholds.</a:t>
            </a:r>
          </a:p>
          <a:p>
            <a:r>
              <a:t>ARCHITECTURE: Pin runtime images and dependencies, isolate privileged builds, publish reports, and fail on explicit exit codes.</a:t>
            </a:r>
          </a:p>
          <a:p>
            <a:r>
              <a:t>FAILURE MODE: A green build with ignored test failures is a false control.</a:t>
            </a:r>
          </a:p>
          <a:p>
            <a:r>
              <a:t>EVIDENCE: buildspec version, resolved image digest, report group, coverage result and exported variables.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CodeBuild and automated quality gates: operating flow.</a:t>
            </a:r>
          </a:p>
          <a:p>
            <a:r>
              <a:t>Install</a:t>
            </a:r>
          </a:p>
          <a:p>
            <a:r>
              <a:t>Compile</a:t>
            </a:r>
          </a:p>
          <a:p>
            <a:r>
              <a:t>Unit test</a:t>
            </a:r>
          </a:p>
          <a:p>
            <a:r>
              <a:t>Security scan</a:t>
            </a:r>
          </a:p>
          <a:p>
            <a:r>
              <a:t>Package</a:t>
            </a:r>
          </a:p>
          <a:p>
            <a:r>
              <a:t>Publish report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CodeBuild and automated quality gates: design decision.</a:t>
            </a:r>
          </a:p>
          <a:p>
            <a:r>
              <a:t>SCENARIO: A Python service must fail the pipeline below 85% coverage or when a high-severity dependency finding appears.</a:t>
            </a:r>
          </a:p>
          <a:p>
            <a:r>
              <a:t>DESIGN RESPONSE: Pin runtime images and dependencies, isolate privileged builds, publish reports, and fail on explicit exit codes.</a:t>
            </a:r>
          </a:p>
          <a:p>
            <a:r>
              <a:t>PRIMARY SERVICES: CodeBuild · CodeGuru · test reports · coverage</a:t>
            </a:r>
          </a:p>
          <a:p>
            <a:r>
              <a:t>FAILURE MODE: A green build with ignored test failures is a false control.</a:t>
            </a:r>
          </a:p>
          <a:p>
            <a:r>
              <a:t>PROOF: buildspec version, resolved image digest, report group, coverage result and exported variables.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CodeBuild and automated quality gates: failure diagnostic.</a:t>
            </a:r>
          </a:p>
          <a:p>
            <a:r>
              <a:t>RECOGNISE: Observable failure condition: A green build with ignored test failures is a false control.</a:t>
            </a:r>
          </a:p>
          <a:p>
            <a:r>
              <a:t>CONTAIN: Pause promotion, preserve evidence and reduce impact without destroying diagnostic state.</a:t>
            </a:r>
          </a:p>
          <a:p>
            <a:r>
              <a:t>DIAGNOSE: Trace the workflow from Install through Publish report; compare intended configuration with runtime state.</a:t>
            </a:r>
          </a:p>
          <a:p>
            <a:r>
              <a:t>RECOVER: Restore the last known-good state, then prove recovery with buildspec version, resolved image digest, report group, coverage result and exported variables.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CodeBuild and automated quality gates: worked decision.</a:t>
            </a:r>
          </a:p>
          <a:p>
            <a:r>
              <a:t>CONSTRAINT: A Python service must fail the pipeline below 85% coverage or when a high-severity dependency finding appears.</a:t>
            </a:r>
          </a:p>
          <a:p>
            <a:r>
              <a:t>DECISION: Pin runtime images and dependencies, isolate privileged builds, publish reports, and fail on explicit exit codes.</a:t>
            </a:r>
          </a:p>
          <a:p>
            <a:r>
              <a:t>WHY ALTERNATIVES LOSE: Reject options that do not change the stated failure boundary: A green build with ignored test failures is a false control.</a:t>
            </a:r>
          </a:p>
          <a:p>
            <a:r>
              <a:t>ACCEPTANCE TEST: The decision is complete only when this proof exists: buildspec version, resolved image digest, report group, coverage result and exported variables.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Artifact integrity and lifecycle.</a:t>
            </a:r>
          </a:p>
          <a:p>
            <a:r>
              <a:t>OUTCOME: Create traceable, encrypted and retention-managed artifacts for every deployment target.</a:t>
            </a:r>
          </a:p>
          <a:p>
            <a:r>
              <a:t>ARCHITECTURE: Version packages immutably, scan images, sign or checksum outputs, encrypt repositories and expire superseded artifacts deliberately.</a:t>
            </a:r>
          </a:p>
          <a:p>
            <a:r>
              <a:t>FAILURE MODE: Mutable tags such as latest can deploy different bytes under the same release label.</a:t>
            </a:r>
          </a:p>
          <a:p>
            <a:r>
              <a:t>EVIDENCE: Package version, digest, scan status, KMS key, repository policy and retention action.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Artifact integrity and lifecycle: operating flow.</a:t>
            </a:r>
          </a:p>
          <a:p>
            <a:r>
              <a:t>Build artifact</a:t>
            </a:r>
          </a:p>
          <a:p>
            <a:r>
              <a:t>Hash and scan</a:t>
            </a:r>
          </a:p>
          <a:p>
            <a:r>
              <a:t>Store</a:t>
            </a:r>
          </a:p>
          <a:p>
            <a:r>
              <a:t>Authorize</a:t>
            </a:r>
          </a:p>
          <a:p>
            <a:r>
              <a:t>Promote by digest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Artifact integrity and lifecycle: design decision.</a:t>
            </a:r>
          </a:p>
          <a:p>
            <a:r>
              <a:t>SCENARIO: Teams share a container image across accounts and Regions while auditors require proof of exactly what ran.</a:t>
            </a:r>
          </a:p>
          <a:p>
            <a:r>
              <a:t>DESIGN RESPONSE: Version packages immutably, scan images, sign or checksum outputs, encrypt repositories and expire superseded artifacts deliberately.</a:t>
            </a:r>
          </a:p>
          <a:p>
            <a:r>
              <a:t>PRIMARY SERVICES: CodeArtifact · ECR · S3 · KMS · Image Builder</a:t>
            </a:r>
          </a:p>
          <a:p>
            <a:r>
              <a:t>FAILURE MODE: Mutable tags such as latest can deploy different bytes under the same release label.</a:t>
            </a:r>
          </a:p>
          <a:p>
            <a:r>
              <a:t>PROOF: Package version, digest, scan status, KMS key, repository policy and retention action.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Artifact integrity and lifecycle: failure diagnostic.</a:t>
            </a:r>
          </a:p>
          <a:p>
            <a:r>
              <a:t>RECOGNISE: Observable failure condition: Mutable tags such as latest can deploy different bytes under the same release label.</a:t>
            </a:r>
          </a:p>
          <a:p>
            <a:r>
              <a:t>CONTAIN: Pause promotion, preserve evidence and reduce impact without destroying diagnostic state.</a:t>
            </a:r>
          </a:p>
          <a:p>
            <a:r>
              <a:t>DIAGNOSE: Trace the workflow from Build artifact through Promote by digest; compare intended configuration with runtime state.</a:t>
            </a:r>
          </a:p>
          <a:p>
            <a:r>
              <a:t>RECOVER: Restore the last known-good state, then prove recovery with Package version, digest, scan status, KMS key, repository policy and retention action.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Artifact integrity and lifecycle: worked decision.</a:t>
            </a:r>
          </a:p>
          <a:p>
            <a:r>
              <a:t>CONSTRAINT: Teams share a container image across accounts and Regions while auditors require proof of exactly what ran.</a:t>
            </a:r>
          </a:p>
          <a:p>
            <a:r>
              <a:t>DECISION: Version packages immutably, scan images, sign or checksum outputs, encrypt repositories and expire superseded artifacts deliberately.</a:t>
            </a:r>
          </a:p>
          <a:p>
            <a:r>
              <a:t>WHY ALTERNATIVES LOSE: Reject options that do not change the stated failure boundary: Mutable tags such as latest can deploy different bytes under the same release label.</a:t>
            </a:r>
          </a:p>
          <a:p>
            <a:r>
              <a:t>ACCEPTANCE TEST: The decision is complete only when this proof exists: Package version, digest, scan status, KMS key, repository policy and retention action.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CodeDeploy lifecycle and rollback.</a:t>
            </a:r>
          </a:p>
          <a:p>
            <a:r>
              <a:t>OUTCOME: Deploy safely to fleets with lifecycle hooks, health checks and a deterministic rollback path.</a:t>
            </a:r>
          </a:p>
          <a:p>
            <a:r>
              <a:t>ARCHITECTURE: Match AppSpec hooks to deployment topology; use load-balancer health and alarms to halt or roll back unhealthy revisions.</a:t>
            </a:r>
          </a:p>
          <a:p>
            <a:r>
              <a:t>FAILURE MODE: A successful file copy does not prove the application is healthy.</a:t>
            </a:r>
          </a:p>
          <a:p>
            <a:r>
              <a:t>EVIDENCE: Revision ID, lifecycle-hook log, deployment configuration, alarm state and rollback deployment ID.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CodeDeploy lifecycle and rollback: operating flow.</a:t>
            </a:r>
          </a:p>
          <a:p>
            <a:r>
              <a:t>Provision target</a:t>
            </a:r>
          </a:p>
          <a:p>
            <a:r>
              <a:t>Before Install</a:t>
            </a:r>
          </a:p>
          <a:p>
            <a:r>
              <a:t>Install</a:t>
            </a:r>
          </a:p>
          <a:p>
            <a:r>
              <a:t>Validate Service</a:t>
            </a:r>
          </a:p>
          <a:p>
            <a:r>
              <a:t>Shift traffic</a:t>
            </a:r>
          </a:p>
          <a:p>
            <a:r>
              <a:t>Rollback if alarmed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CodeDeploy lifecycle and rollback: design decision.</a:t>
            </a:r>
          </a:p>
          <a:p>
            <a:r>
              <a:t>SCENARIO: An in-place EC2 deployment leaves half the fleet serving incompatible API versions.</a:t>
            </a:r>
          </a:p>
          <a:p>
            <a:r>
              <a:t>DESIGN RESPONSE: Match AppSpec hooks to deployment topology; use load-balancer health and alarms to halt or roll back unhealthy revisions.</a:t>
            </a:r>
          </a:p>
          <a:p>
            <a:r>
              <a:t>PRIMARY SERVICES: CodeDeploy · EC2 · Auto Scaling · ALB</a:t>
            </a:r>
          </a:p>
          <a:p>
            <a:r>
              <a:t>FAILURE MODE: A successful file copy does not prove the application is healthy.</a:t>
            </a:r>
          </a:p>
          <a:p>
            <a:r>
              <a:t>PROOF: Revision ID, lifecycle-hook log, deployment configuration, alarm state and rollback deployment ID.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CodeDeploy lifecycle and rollback: failure diagnostic.</a:t>
            </a:r>
          </a:p>
          <a:p>
            <a:r>
              <a:t>RECOGNISE: Observable failure condition: A successful file copy does not prove the application is healthy.</a:t>
            </a:r>
          </a:p>
          <a:p>
            <a:r>
              <a:t>CONTAIN: Pause promotion, preserve evidence and reduce impact without destroying diagnostic state.</a:t>
            </a:r>
          </a:p>
          <a:p>
            <a:r>
              <a:t>DIAGNOSE: Trace the workflow from Provision target through Rollback if alarmed; compare intended configuration with runtime state.</a:t>
            </a:r>
          </a:p>
          <a:p>
            <a:r>
              <a:t>RECOVER: Restore the last known-good state, then prove recovery with Revision ID, lifecycle-hook log, deployment configuration, alarm state and rollback deployment ID.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CodeDeploy lifecycle and rollback: worked decision.</a:t>
            </a:r>
          </a:p>
          <a:p>
            <a:r>
              <a:t>CONSTRAINT: An in-place EC2 deployment leaves half the fleet serving incompatible API versions.</a:t>
            </a:r>
          </a:p>
          <a:p>
            <a:r>
              <a:t>DECISION: Match AppSpec hooks to deployment topology; use load-balancer health and alarms to halt or roll back unhealthy revisions.</a:t>
            </a:r>
          </a:p>
          <a:p>
            <a:r>
              <a:t>WHY ALTERNATIVES LOSE: Reject options that do not change the stated failure boundary: A successful file copy does not prove the application is healthy.</a:t>
            </a:r>
          </a:p>
          <a:p>
            <a:r>
              <a:t>ACCEPTANCE TEST: The decision is complete only when this proof exists: Revision ID, lifecycle-hook log, deployment configuration, alarm state and rollback deployment ID.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 and serverless deployment strategies.</a:t>
            </a:r>
          </a:p>
          <a:p>
            <a:r>
              <a:t>OUTCOME: Select canary, linear or all-at-once traffic shifting based on blast radius and recovery needs.</a:t>
            </a:r>
          </a:p>
          <a:p>
            <a:r>
              <a:t>ARCHITECTURE: Pair weighted traffic with pre/post hooks, alarms and versioned task definitions or Lambda aliases.</a:t>
            </a:r>
          </a:p>
          <a:p>
            <a:r>
              <a:t>FAILURE MODE: Traffic shifts without representative health signals can amplify failure gradually but silently.</a:t>
            </a:r>
          </a:p>
          <a:p>
            <a:r>
              <a:t>EVIDENCE: Task-definition revision or Lambda version, traffic weights, hook results, alarms and rollback state.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 and serverless deployment strategies: operating flow.</a:t>
            </a:r>
          </a:p>
          <a:p>
            <a:r>
              <a:t>Publish version</a:t>
            </a:r>
          </a:p>
          <a:p>
            <a:r>
              <a:t>Pre-traffic test</a:t>
            </a:r>
          </a:p>
          <a:p>
            <a:r>
              <a:t>Shift fraction</a:t>
            </a:r>
          </a:p>
          <a:p>
            <a:r>
              <a:t>Observe</a:t>
            </a:r>
          </a:p>
          <a:p>
            <a:r>
              <a:t>Complete or roll back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 and serverless deployment strategies: design decision.</a:t>
            </a:r>
          </a:p>
          <a:p>
            <a:r>
              <a:t>SCENARIO: A customer API requires zero-downtime releases and automatic rollback within five minutes.</a:t>
            </a:r>
          </a:p>
          <a:p>
            <a:r>
              <a:t>DESIGN RESPONSE: Pair weighted traffic with pre/post hooks, alarms and versioned task definitions or Lambda aliases.</a:t>
            </a:r>
          </a:p>
          <a:p>
            <a:r>
              <a:t>PRIMARY SERVICES: ECS · Lambda · CodeDeploy · SAM</a:t>
            </a:r>
          </a:p>
          <a:p>
            <a:r>
              <a:t>FAILURE MODE: Traffic shifts without representative health signals can amplify failure gradually but silently.</a:t>
            </a:r>
          </a:p>
          <a:p>
            <a:r>
              <a:t>PROOF: Task-definition revision or Lambda version, traffic weights, hook results, alarms and rollback state.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 and serverless deployment strategies: failure diagnostic.</a:t>
            </a:r>
          </a:p>
          <a:p>
            <a:r>
              <a:t>RECOGNISE: Observable failure condition: Traffic shifts without representative health signals can amplify failure gradually but silently.</a:t>
            </a:r>
          </a:p>
          <a:p>
            <a:r>
              <a:t>CONTAIN: Pause promotion, preserve evidence and reduce impact without destroying diagnostic state.</a:t>
            </a:r>
          </a:p>
          <a:p>
            <a:r>
              <a:t>DIAGNOSE: Trace the workflow from Publish version through Complete or roll back; compare intended configuration with runtime state.</a:t>
            </a:r>
          </a:p>
          <a:p>
            <a:r>
              <a:t>RECOVER: Restore the last known-good state, then prove recovery with Task-definition revision or Lambda version, traffic weights, hook results, alarms and rollback state.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 and serverless deployment strategies: worked decision.</a:t>
            </a:r>
          </a:p>
          <a:p>
            <a:r>
              <a:t>CONSTRAINT: A customer API requires zero-downtime releases and automatic rollback within five minutes.</a:t>
            </a:r>
          </a:p>
          <a:p>
            <a:r>
              <a:t>DECISION: Pair weighted traffic with pre/post hooks, alarms and versioned task definitions or Lambda aliases.</a:t>
            </a:r>
          </a:p>
          <a:p>
            <a:r>
              <a:t>WHY ALTERNATIVES LOSE: Reject options that do not change the stated failure boundary: Traffic shifts without representative health signals can amplify failure gradually but silently.</a:t>
            </a:r>
          </a:p>
          <a:p>
            <a:r>
              <a:t>ACCEPTANCE TEST: The decision is complete only when this proof exists: Task-definition revision or Lambda version, traffic weights, hook results, alarms and rollback state.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Multi-account and multi-Region delivery.</a:t>
            </a:r>
          </a:p>
          <a:p>
            <a:r>
              <a:t>OUTCOME: Promote one release across governed accounts and Regions without duplicating build logic.</a:t>
            </a:r>
          </a:p>
          <a:p>
            <a:r>
              <a:t>ARCHITECTURE: Use cross-account roles, Region-specific artifact stores and keys, ordered waves, approval boundaries and central evidence.</a:t>
            </a:r>
          </a:p>
          <a:p>
            <a:r>
              <a:t>FAILURE MODE: Missing KMS or trust-policy permissions often appear only at the first cross-account action.</a:t>
            </a:r>
          </a:p>
          <a:p>
            <a:r>
              <a:t>EVIDENCE: Role assumption, regional artifact copy, StackSet operation, wave status and approval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Multi-account and multi-Region delivery: operating flow.</a:t>
            </a:r>
          </a:p>
          <a:p>
            <a:r>
              <a:t>Build centrally</a:t>
            </a:r>
          </a:p>
          <a:p>
            <a:r>
              <a:t>Replicate artifact</a:t>
            </a:r>
          </a:p>
          <a:p>
            <a:r>
              <a:t>Assume deploy role</a:t>
            </a:r>
          </a:p>
          <a:p>
            <a:r>
              <a:t>Deploy wave</a:t>
            </a:r>
          </a:p>
          <a:p>
            <a:r>
              <a:t>Verify Region</a:t>
            </a:r>
          </a:p>
          <a:p>
            <a:r>
              <a:t>Continue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Multi-account and multi-Region delivery: design decision.</a:t>
            </a:r>
          </a:p>
          <a:p>
            <a:r>
              <a:t>SCENARIO: A platform team releases to development, staging and two production Regions from one governed pipeline.</a:t>
            </a:r>
          </a:p>
          <a:p>
            <a:r>
              <a:t>DESIGN RESPONSE: Use cross-account roles, Region-specific artifact stores and keys, ordered waves, approval boundaries and central evidence.</a:t>
            </a:r>
          </a:p>
          <a:p>
            <a:r>
              <a:t>PRIMARY SERVICES: CodePipeline · CloudFormation StackSets · KMS · IAM</a:t>
            </a:r>
          </a:p>
          <a:p>
            <a:r>
              <a:t>FAILURE MODE: Missing KMS or trust-policy permissions often appear only at the first cross-account action.</a:t>
            </a:r>
          </a:p>
          <a:p>
            <a:r>
              <a:t>PROOF: Role assumption, regional artifact copy, StackSet operation, wave status and approval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Multi-account and multi-Region delivery: failure diagnostic.</a:t>
            </a:r>
          </a:p>
          <a:p>
            <a:r>
              <a:t>RECOGNISE: Observable failure condition: Missing KMS or trust-policy permissions often appear only at the first cross-account action.</a:t>
            </a:r>
          </a:p>
          <a:p>
            <a:r>
              <a:t>CONTAIN: Pause promotion, preserve evidence and reduce impact without destroying diagnostic state.</a:t>
            </a:r>
          </a:p>
          <a:p>
            <a:r>
              <a:t>DIAGNOSE: Trace the workflow from Build centrally through Continue; compare intended configuration with runtime state.</a:t>
            </a:r>
          </a:p>
          <a:p>
            <a:r>
              <a:t>RECOVER: Restore the last known-good state, then prove recovery with Role assumption, regional artifact copy, StackSet operation, wave status and approval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Multi-account and multi-Region delivery: worked decision.</a:t>
            </a:r>
          </a:p>
          <a:p>
            <a:r>
              <a:t>CONSTRAINT: A platform team releases to development, staging and two production Regions from one governed pipeline.</a:t>
            </a:r>
          </a:p>
          <a:p>
            <a:r>
              <a:t>DECISION: Use cross-account roles, Region-specific artifact stores and keys, ordered waves, approval boundaries and central evidence.</a:t>
            </a:r>
          </a:p>
          <a:p>
            <a:r>
              <a:t>WHY ALTERNATIVES LOSE: Reject options that do not change the stated failure boundary: Missing KMS or trust-policy permissions often appear only at the first cross-account action.</a:t>
            </a:r>
          </a:p>
          <a:p>
            <a:r>
              <a:t>ACCEPTANCE TEST: The decision is complete only when this proof exists: Role assumption, regional artifact copy, StackSet operation, wave status and approval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delivery operating model: architecture map.</a:t>
            </a:r>
          </a:p>
          <a:p>
            <a:r>
              <a:t>TRIGGER / INPUT: Commit</a:t>
            </a:r>
          </a:p>
          <a:p>
            <a:r>
              <a:t>CONTROL PLANE: Separate source, build, test, approval and deploy concerns; promote immutable artifacts rather than rebuilding per environment.</a:t>
            </a:r>
          </a:p>
          <a:p>
            <a:r>
              <a:t>AWS SERVICES: GitHub · CodePipeline · CodeBuild · CodeDeploy</a:t>
            </a:r>
          </a:p>
          <a:p>
            <a:r>
              <a:t>EVIDENCE BOUNDARY: Commit SHA, test report, artifact digest, approval identity and deployment outcome form the release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triggers and source governance: architecture map.</a:t>
            </a:r>
          </a:p>
          <a:p>
            <a:r>
              <a:t>TRIGGER / INPUT: Pull request</a:t>
            </a:r>
          </a:p>
          <a:p>
            <a:r>
              <a:t>CONTROL PLANE: Use pull-request checks, protected branches, signed connections and event filters; avoid broad polling and shared credentials.</a:t>
            </a:r>
          </a:p>
          <a:p>
            <a:r>
              <a:t>AWS SERVICES: GitHub · EventBridge · CodeConnections</a:t>
            </a:r>
          </a:p>
          <a:p>
            <a:r>
              <a:t>EVIDENCE BOUNDARY: Repository event, branch rule, connection ARN, trigger filter and execution correlation ID.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CodeBuild and automated quality gates: architecture map.</a:t>
            </a:r>
          </a:p>
          <a:p>
            <a:r>
              <a:t>TRIGGER / INPUT: Install</a:t>
            </a:r>
          </a:p>
          <a:p>
            <a:r>
              <a:t>CONTROL PLANE: Pin runtime images and dependencies, isolate privileged builds, publish reports, and fail on explicit exit codes.</a:t>
            </a:r>
          </a:p>
          <a:p>
            <a:r>
              <a:t>AWS SERVICES: CodeBuild · CodeGuru · test reports · coverage</a:t>
            </a:r>
          </a:p>
          <a:p>
            <a:r>
              <a:t>EVIDENCE BOUNDARY: buildspec version, resolved image digest, report group, coverage result and exported variables.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Artifact integrity and lifecycle: architecture map.</a:t>
            </a:r>
          </a:p>
          <a:p>
            <a:r>
              <a:t>TRIGGER / INPUT: Build artifact</a:t>
            </a:r>
          </a:p>
          <a:p>
            <a:r>
              <a:t>CONTROL PLANE: Version packages immutably, scan images, sign or checksum outputs, encrypt repositories and expire superseded artifacts deliberately.</a:t>
            </a:r>
          </a:p>
          <a:p>
            <a:r>
              <a:t>AWS SERVICES: CodeArtifact · ECR · S3 · KMS · Image Builder</a:t>
            </a:r>
          </a:p>
          <a:p>
            <a:r>
              <a:t>EVIDENCE BOUNDARY: Package version, digest, scan status, KMS key, repository policy and retention action.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CodeDeploy lifecycle and rollback: architecture map.</a:t>
            </a:r>
          </a:p>
          <a:p>
            <a:r>
              <a:t>TRIGGER / INPUT: Provision target</a:t>
            </a:r>
          </a:p>
          <a:p>
            <a:r>
              <a:t>CONTROL PLANE: Match AppSpec hooks to deployment topology; use load-balancer health and alarms to halt or roll back unhealthy revisions.</a:t>
            </a:r>
          </a:p>
          <a:p>
            <a:r>
              <a:t>AWS SERVICES: CodeDeploy · EC2 · Auto Scaling · ALB</a:t>
            </a:r>
          </a:p>
          <a:p>
            <a:r>
              <a:t>EVIDENCE BOUNDARY: Revision ID, lifecycle-hook log, deployment configuration, alarm state and rollback deployment ID.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 and serverless deployment strategies: architecture map.</a:t>
            </a:r>
          </a:p>
          <a:p>
            <a:r>
              <a:t>TRIGGER / INPUT: Publish version</a:t>
            </a:r>
          </a:p>
          <a:p>
            <a:r>
              <a:t>CONTROL PLANE: Pair weighted traffic with pre/post hooks, alarms and versioned task definitions or Lambda aliases.</a:t>
            </a:r>
          </a:p>
          <a:p>
            <a:r>
              <a:t>AWS SERVICES: ECS · Lambda · CodeDeploy · SAM</a:t>
            </a:r>
          </a:p>
          <a:p>
            <a:r>
              <a:t>EVIDENCE BOUNDARY: Task-definition revision or Lambda version, traffic weights, hook results, alarms and rollback state.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Multi-account and multi-Region delivery: architecture map.</a:t>
            </a:r>
          </a:p>
          <a:p>
            <a:r>
              <a:t>TRIGGER / INPUT: Build centrally</a:t>
            </a:r>
          </a:p>
          <a:p>
            <a:r>
              <a:t>CONTROL PLANE: Use cross-account roles, Region-specific artifact stores and keys, ordered waves, approval boundaries and central evidence.</a:t>
            </a:r>
          </a:p>
          <a:p>
            <a:r>
              <a:t>AWS SERVICES: CodePipeline · CloudFormation StackSets · KMS · IAM</a:t>
            </a:r>
          </a:p>
          <a:p>
            <a:r>
              <a:t>EVIDENCE BOUNDARY: Role assumption, regional artifact copy, StackSet operation, wave status and approval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 overview — Stand up a least-privilege AWS CLI/Git workspace and confirm your identity.</a:t>
            </a:r>
          </a:p>
          <a:p>
            <a:r>
              <a:t>Concept-led briefing only. The full detailed procedure, commands, expected outputs, validation and cleanup live in the Learner Guide and the lab README (not on the slides).</a:t>
            </a:r>
          </a:p>
          <a:p>
            <a:r>
              <a:t>Reference architecture: course-generated diagram for Lab 1.</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 overview — Adopt a trunk-based Git workflow and connect the repository to AWS with CodeConnections.</a:t>
            </a:r>
          </a:p>
          <a:p>
            <a:r>
              <a:t>Concept-led briefing only. The full detailed procedure, commands, expected outputs, validation and cleanup live in the Learner Guide and the lab README (not on the slides).</a:t>
            </a:r>
          </a:p>
          <a:p>
            <a:r>
              <a:t>Reference architecture: course-generated diagram for Lab 2.</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3 overview — Author a buildspec and a CodeBuild project that automatically lints and tests the app.</a:t>
            </a:r>
          </a:p>
          <a:p>
            <a:r>
              <a:t>Concept-led briefing only. The full detailed procedure, commands, expected outputs, validation and cleanup live in the Learner Guide and the lab README (not on the slides).</a:t>
            </a:r>
          </a:p>
          <a:p>
            <a:r>
              <a:t>Reference architecture: course-generated diagram for Lab 3.</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4 overview — Extend the buildspec to package versioned artifacts and store them in an encrypted, versioned bucket.</a:t>
            </a:r>
          </a:p>
          <a:p>
            <a:r>
              <a:t>Concept-led briefing only. The full detailed procedure, commands, expected outputs, validation and cleanup live in the Learner Guide and the lab README (not on the slides).</a:t>
            </a:r>
          </a:p>
          <a:p>
            <a:r>
              <a:t>Reference architecture: course-generated diagram for Lab 4.</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5 overview — Wire an end-to-end pipeline with a manual approval gate, a deployment strategy and auto-rollback.</a:t>
            </a:r>
          </a:p>
          <a:p>
            <a:r>
              <a:t>Concept-led briefing only. The full detailed procedure, commands, expected outputs, validation and cleanup live in the Learner Guide and the lab README (not on the slides).</a:t>
            </a:r>
          </a:p>
          <a:p>
            <a:r>
              <a:t>Reference architecture: course-generated diagram for Lab 5.</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Domain 01 — SDLC Automation.</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concepts for Domain 02 — Configuration Management and IaC.</a:t>
            </a:r>
          </a:p>
          <a:p>
            <a:r>
              <a:t>Infrastructure as Code: Declare infrastructure in version-controlled templates so environments are repeatable, reviewable and disposable.</a:t>
            </a:r>
          </a:p>
          <a:p>
            <a:r>
              <a:t>CloudFormation: Declarative JSON/YAML stacks with parameters, mappings, outputs, change sets, drift detection and automatic rollback.</a:t>
            </a:r>
          </a:p>
          <a:p>
            <a:r>
              <a:t>Reusable components: Nested stacks and modules parameterise a pattern once and reuse it across teams and Regions.</a:t>
            </a:r>
          </a:p>
          <a:p>
            <a:r>
              <a:t>CDK vs CloudFormation vs Terraform: CDK generates CloudFormation from real code; Terraform is multi-cloud — all describe desired state.</a:t>
            </a:r>
          </a:p>
          <a:p>
            <a:r>
              <a:t>Configuration management: Systems Manager (State Manager, Automation, Parameter Store) keeps running instances in their desired configuration.</a:t>
            </a:r>
          </a:p>
          <a:p>
            <a:r>
              <a:t>Multi-account &amp; multi-Region: Organizations, StackSets and Control Tower create, onboard and secure accounts at scale.</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02 deep dive — Configuration Management and IaC. Editable AWS-native diagram/table/chart.</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02 deep dive — Configuration Management and IaC. Editable AWS-native diagram/table/chart.</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02 deep dive — Configuration Management and IaC. Editable AWS-native diagram/table/chart.</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02 deep dive — Configuration Management and IaC. Editable AWS-native diagram/table/chart.</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02 deep dive — Configuration Management and IaC. Editable AWS-native diagram/table/chart.</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02 deep dive — Configuration Management and IaC. Editable AWS-native diagram/table/chart.</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Infrastructure as Code — declarative desired state.</a:t>
            </a:r>
          </a:p>
          <a:p>
            <a:r>
              <a:t>Why it matters: Repeatable, reviewable, disposable environments eliminate configuration drift and the 'it works on that server' class of failure.</a:t>
            </a:r>
          </a:p>
          <a:p>
            <a:r>
              <a:t>Failure mode: Mixing manual console changes with IaC creates drift the template no longer describes — the next deploy can revert or clash with them.</a:t>
            </a:r>
          </a:p>
          <a:p>
            <a:r>
              <a:t>Trade-off: Declarative IaC is safe and auditable but less flexible than imperative scripts — use change sets and modules to regain expressiveness.</a:t>
            </a:r>
          </a:p>
          <a:p/>
          <a:p>
            <a:r>
              <a:t>[Sources]</a:t>
            </a:r>
          </a:p>
          <a:p>
            <a:r>
              <a:t>- AWS Certified DevOps Engineer – Professional (DOP-C02) Exam Guide (docs.aws.amazon.com/pdfs/aws-certification/latest/devops-engineer-professional-02).</a:t>
            </a:r>
          </a:p>
          <a:p>
            <a:r>
              <a:t>- AWS CloudFormation Documentation (docs.aws.amazon.com/cloudformation).</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CloudFormation stacks, change sets and rollback.</a:t>
            </a:r>
          </a:p>
          <a:p>
            <a:r>
              <a:t>Why it matters: Preview-then-apply plus automatic rollback make infrastructure changes as safe and reversible as a code deployment.</a:t>
            </a:r>
          </a:p>
          <a:p>
            <a:r>
              <a:t>Failure mode: A resource that must be replaced (not updated in place) can cause downtime or data loss if you don't read the change set's Replacement column.</a:t>
            </a:r>
          </a:p>
          <a:p>
            <a:r>
              <a:t>Trade-off: Automatic rollback protects you but can mask the real error — always read the stack Events for the first failing resource.</a:t>
            </a:r>
          </a:p>
          <a:p/>
          <a:p>
            <a:r>
              <a:t>[Sources]</a:t>
            </a:r>
          </a:p>
          <a:p>
            <a:r>
              <a:t>- AWS CloudFormation change sets Documentation (docs.aws.amazon.com/AWSCloudFormation/latest/UserGuide/using-cfn-updating-stacks-changesets.html).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anatomy — parameters, mappings, conditions, outputs.</a:t>
            </a:r>
          </a:p>
          <a:p>
            <a:r>
              <a:t>Why it matters: A well-structured template is a reusable product, not a one-off script — one artifact serves many teams and Regions.</a:t>
            </a:r>
          </a:p>
          <a:p>
            <a:r>
              <a:t>Failure mode: Hard-coded AMI IDs, account numbers or Region strings make a template that only works in the account it was written in.</a:t>
            </a:r>
          </a:p>
          <a:p>
            <a:r>
              <a:t>Trade-off: Heavy parameterisation increases flexibility but reduces readability — prefer sensible defaults and SSM public parameters.</a:t>
            </a:r>
          </a:p>
          <a:p/>
          <a:p>
            <a:r>
              <a:t>[Sources]</a:t>
            </a:r>
          </a:p>
          <a:p>
            <a:r>
              <a:t>- AWS CloudFormation template anatomy Documentation (docs.aws.amazon.com/AWSCloudFormation/latest/UserGuide/template-anatomy.html).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Reuse — nested stacks, modules and StackSets.</a:t>
            </a:r>
          </a:p>
          <a:p>
            <a:r>
              <a:t>Why it matters: Reuse turns a proven design into an organisational standard, so every team gets the same secure, compliant baseline.</a:t>
            </a:r>
          </a:p>
          <a:p>
            <a:r>
              <a:t>Failure mode: Over-nesting creates tightly coupled stacks where one change forces wide, slow updates and hard-to-debug failures.</a:t>
            </a:r>
          </a:p>
          <a:p>
            <a:r>
              <a:t>Trade-off: Central StackSets enforce consistency but need governance so account teams aren't blocked waiting on the platform team.</a:t>
            </a:r>
          </a:p>
          <a:p/>
          <a:p>
            <a:r>
              <a:t>[Sources]</a:t>
            </a:r>
          </a:p>
          <a:p>
            <a:r>
              <a:t>- AWS StackSets Documentation (docs.aws.amazon.com/AWSCloudFormation/latest/UserGuide/what-is-cfnstacksets.html).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CDK, SAM and Terraform — when to reach for each.</a:t>
            </a:r>
          </a:p>
          <a:p>
            <a:r>
              <a:t>Why it matters: Choosing the right tool matches the team's skills and estate — real code for testable constructs, SAM for serverless, Terraform for multi-cloud.</a:t>
            </a:r>
          </a:p>
          <a:p>
            <a:r>
              <a:t>Failure mode: Adopting CDK without CloudFormation literacy hides what is really deployed and makes drift and failures harder to reason about.</a:t>
            </a:r>
          </a:p>
          <a:p>
            <a:r>
              <a:t>Trade-off: Higher-level abstractions boost productivity but add a layer to debug when the generated template misbehaves.</a:t>
            </a:r>
          </a:p>
          <a:p/>
          <a:p>
            <a:r>
              <a:t>[Sources]</a:t>
            </a:r>
          </a:p>
          <a:p>
            <a:r>
              <a:t>- AWS CDK Documentation (docs.aws.amazon.com/cdk).</a:t>
            </a:r>
          </a:p>
          <a:p>
            <a:r>
              <a:t>- AWS SAM Documentation (docs.aws.amazon.com/serverless-application-model).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Configuration management with Systems Manager.</a:t>
            </a:r>
          </a:p>
          <a:p>
            <a:r>
              <a:t>Why it matters: Config management closes the gap between 'provisioned' and 'correctly configured and maintained over time'.</a:t>
            </a:r>
          </a:p>
          <a:p>
            <a:r>
              <a:t>Failure mode: Treating servers as pets you SSH into and hand-tune reintroduces drift that no template can track.</a:t>
            </a:r>
          </a:p>
          <a:p>
            <a:r>
              <a:t>Trade-off: Agent-based management adds an agent to run and secure, but removes bastion hosts and standing SSH access.</a:t>
            </a:r>
          </a:p>
          <a:p/>
          <a:p>
            <a:r>
              <a:t>[Sources]</a:t>
            </a:r>
          </a:p>
          <a:p>
            <a:r>
              <a:t>- AWS Systems Manager Documentation (docs.aws.amazon.com/systems-manager).</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Drift detection and remediation.</a:t>
            </a:r>
          </a:p>
          <a:p>
            <a:r>
              <a:t>Why it matters: Detecting drift early prevents the slow divergence that eventually makes a stack un-updatable.</a:t>
            </a:r>
          </a:p>
          <a:p>
            <a:r>
              <a:t>Failure mode: Ignoring drift until an urgent change is needed means your 'safe' update now collides with undocumented manual edits.</a:t>
            </a:r>
          </a:p>
          <a:p>
            <a:r>
              <a:t>Trade-off: Strict no-drift policies improve auditability but can slow emergency fixes — provide a documented break-glass path.</a:t>
            </a:r>
          </a:p>
          <a:p/>
          <a:p>
            <a:r>
              <a:t>[Sources]</a:t>
            </a:r>
          </a:p>
          <a:p>
            <a:r>
              <a:t>- AWS CloudFormation drift Documentation (docs.aws.amazon.com/AWSCloudFormation/latest/UserGuide/using-cfn-stack-drift.html).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Multi-account governance — Organizations, Control Tower, SCPs.</a:t>
            </a:r>
          </a:p>
          <a:p>
            <a:r>
              <a:t>Why it matters: Account-level isolation plus org-wide guardrails give strong blast-radius control and a consistent, auditable baseline.</a:t>
            </a:r>
          </a:p>
          <a:p>
            <a:r>
              <a:t>Failure mode: A single shared account for everything makes least-privilege impossible and one mistake blast-radius huge.</a:t>
            </a:r>
          </a:p>
          <a:p>
            <a:r>
              <a:t>Trade-off: More accounts improve isolation but add networking and operational overhead — automate account vending to keep it manageable.</a:t>
            </a:r>
          </a:p>
          <a:p/>
          <a:p>
            <a:r>
              <a:t>[Sources]</a:t>
            </a:r>
          </a:p>
          <a:p>
            <a:r>
              <a:t>- AWS Organizations Documentation (docs.aws.amazon.com/organizations).</a:t>
            </a:r>
          </a:p>
          <a:p>
            <a:r>
              <a:t>- AWS Control Tower Documentation (docs.aws.amazon.com/controltower).</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Secrets &amp; configuration — Parameter Store vs Secrets Manager.</a:t>
            </a:r>
          </a:p>
          <a:p>
            <a:r>
              <a:t>Why it matters: Externalising configuration and secrets lets one immutable artifact run safely in every environment.</a:t>
            </a:r>
          </a:p>
          <a:p>
            <a:r>
              <a:t>Failure mode: Baking a database password into a template or AMI leaks it into every copy and every log line.</a:t>
            </a:r>
          </a:p>
          <a:p>
            <a:r>
              <a:t>Trade-off: Automatic rotation is safest but must be tested — a rotation that apps don't reload can cause outages.</a:t>
            </a:r>
          </a:p>
          <a:p/>
          <a:p>
            <a:r>
              <a:t>[Sources]</a:t>
            </a:r>
          </a:p>
          <a:p>
            <a:r>
              <a:t>- AWS Secrets Manager Documentation (docs.aws.amazon.com/secretsmanager).</a:t>
            </a:r>
          </a:p>
          <a:p>
            <a:r>
              <a:t>- AWS SSM Parameter Store Documentation (docs.aws.amazon.com/systems-manager/latest/userguide/systems-manager-parameter-store.html).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 Change Set Replacement — Read Before You Execute.</a:t>
            </a:r>
          </a:p>
          <a:p/>
          <a:p>
            <a:r>
              <a:t>[Sources]</a:t>
            </a:r>
          </a:p>
          <a:p>
            <a:r>
              <a:t>- AWS CloudFormation update behaviors Documentation (docs.aws.amazon.com/AWSCloudFormation/latest/UserGuide/using-cfn-updating-stacks-update-behaviors.html).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Environment Provisioning — Manual vs IaC. What the data shows: IaC collapses environment build time and errors and — most importantly — makes every environment identical, so tests actually predict production.</a:t>
            </a:r>
          </a:p>
          <a:p>
            <a:r>
              <a:t>Figures are illustrative teaching values to convey the relationship, not measured benchmarks.</a:t>
            </a:r>
          </a:p>
          <a:p/>
          <a:p>
            <a:r>
              <a:t>[Sources]</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 Failure Modes &amp; Anti-Patterns.</a:t>
            </a:r>
          </a:p>
          <a:p>
            <a:r>
              <a:t>Out-of-band console edits — Drift the template can't see → detect drift; make console read-only in prod.</a:t>
            </a:r>
          </a:p>
          <a:p>
            <a:r>
              <a:t>Hard-coded IDs/Regions — Template only works in one account → parameters + SSM public parameters.</a:t>
            </a:r>
          </a:p>
          <a:p>
            <a:r>
              <a:t>Giant monolith stack — Slow, risky updates → split by lifecycle and blast radius.</a:t>
            </a:r>
          </a:p>
          <a:p>
            <a:r>
              <a:t>No change-set review — Surprise replacements → always preview before execute.</a:t>
            </a:r>
          </a:p>
          <a:p>
            <a:r>
              <a:t>Secrets in templates — Leaked credentials → Secrets Manager / SSM SecureString.</a:t>
            </a:r>
          </a:p>
          <a:p>
            <a:r>
              <a:t>Copy-paste per environment — Divergent envs → one template, many parameter sets.</a:t>
            </a:r>
          </a:p>
          <a:p/>
          <a:p>
            <a:r>
              <a:t>[Sources]</a:t>
            </a:r>
          </a:p>
          <a:p>
            <a:r>
              <a:t>- AWS Certified DevOps Engineer – Professional (DOP-C02) Exam Guide (docs.aws.amazon.com/pdfs/aws-certification/latest/devops-engineer-professional-02).</a:t>
            </a:r>
          </a:p>
          <a:p>
            <a:r>
              <a:t>- AWS CloudFormation Documentation (docs.aws.amazon.com/cloudformation).</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 Patterns Worth Adopting.</a:t>
            </a:r>
          </a:p>
          <a:p>
            <a:r>
              <a:t>Layered stacks — Separate network, platform and app stacks by change rate.</a:t>
            </a:r>
          </a:p>
          <a:p>
            <a:r>
              <a:t>Landing zone — Control Tower baseline + guardrails for every account.</a:t>
            </a:r>
          </a:p>
          <a:p>
            <a:r>
              <a:t>Immutable AMIs — Bake with a pipeline (e.g. EC2 Image Builder); replace, don't patch.</a:t>
            </a:r>
          </a:p>
          <a:p>
            <a:r>
              <a:t>Public SSM parameters — Reference latest AMIs without hard-coding IDs.</a:t>
            </a:r>
          </a:p>
          <a:p>
            <a:r>
              <a:t>Policy as code — Guardrails via SCPs and Config rules, versioned like IaC.</a:t>
            </a:r>
          </a:p>
          <a:p>
            <a:r>
              <a:t>Pipeline-deployed stacks — No manual stack updates in production.</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Decision — One Big Stack or Many?.</a:t>
            </a:r>
          </a:p>
          <a:p>
            <a:r>
              <a:t>Option A — Single stack: Small app, one team, one lifecycle. Simple to reason about — but every change risks the whole system and updates get slow as it grows.</a:t>
            </a:r>
          </a:p>
          <a:p>
            <a:r>
              <a:t>Option B — Layered stacks: Separate network / platform / app by change rate and owner. Smaller blast radius and faster updates — needs disciplined exports/imports.</a:t>
            </a:r>
          </a:p>
          <a:p>
            <a:r>
              <a:t>Option C — StackSets across accounts: Same baseline in many accounts/Regions. Enforces consistency at scale — requires central governance and account-team coordination.</a:t>
            </a:r>
          </a:p>
          <a:p/>
          <a:p>
            <a:r>
              <a:t>[Sources]</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An engineer widens a security group in the console during an incident. Two weeks later, a routine stack update fails or silently reverts the fix.</a:t>
            </a:r>
          </a:p>
          <a:p>
            <a:r>
              <a:t>The live resource no longer matches the template, so CloudFormation's view of desired state is wrong.</a:t>
            </a:r>
          </a:p>
          <a:p>
            <a:r>
              <a:t>Drift detection would have flagged this the same day; Config rules could have alarmed on the open port immediately.</a:t>
            </a:r>
          </a:p>
          <a:p>
            <a:r>
              <a:t>The durable fix is to encode the change in the template and re-apply, not to keep patching by hand.</a:t>
            </a:r>
          </a:p>
          <a:p>
            <a:r>
              <a:t>Decision: Run drift detection on a schedule, alarm on security-group drift via Config, and require that emergency console changes are back-ported into the template within the incident's follow-up.</a:t>
            </a:r>
          </a:p>
          <a:p/>
          <a:p>
            <a:r>
              <a:t>[Sources]</a:t>
            </a:r>
          </a:p>
          <a:p>
            <a:r>
              <a:t>- AWS CloudFormation drift Documentation (docs.aws.amazon.com/AWSCloudFormation/latest/UserGuide/using-cfn-stack-drift.html).</a:t>
            </a:r>
          </a:p>
          <a:p>
            <a:r>
              <a:t>- AWS Config Documentation (docs.aws.amazon.com/config).</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 new business unit needs an AWS account that already meets the company's security, logging and network standards on day one.</a:t>
            </a:r>
          </a:p>
          <a:p>
            <a:r>
              <a:t>Hand-building the account is slow and error-prone and guarantees it drifts from the standard.</a:t>
            </a:r>
          </a:p>
          <a:p>
            <a:r>
              <a:t>Control Tower's account factory vends accounts pre-wired to guardrails and centralised logging.</a:t>
            </a:r>
          </a:p>
          <a:p>
            <a:r>
              <a:t>StackSets push the standard network and security stacks into the new account automatically.</a:t>
            </a:r>
          </a:p>
          <a:p>
            <a:r>
              <a:t>Decision: Vend the account through Control Tower and apply the baseline via StackSets, so 'compliant by default' is the path of least resistance rather than a later audit finding.</a:t>
            </a:r>
          </a:p>
          <a:p/>
          <a:p>
            <a:r>
              <a:t>[Sources]</a:t>
            </a:r>
          </a:p>
          <a:p>
            <a:r>
              <a:t>- AWS Control Tower Documentation (docs.aws.amazon.com/controltower).</a:t>
            </a:r>
          </a:p>
          <a:p>
            <a:r>
              <a:t>- AWS StackSets Documentation (docs.aws.amazon.com/AWSCloudFormation/latest/UserGuide/what-is-cfnstacksets.html).</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Analysis — Parameterising One Template for Three Environments.</a:t>
            </a:r>
          </a:p>
          <a:p>
            <a:r>
              <a:t>Instance size by env — dev t3.micro, staging t3.small, prod m5.large — a single InstanceType parameter.</a:t>
            </a:r>
          </a:p>
          <a:p>
            <a:r>
              <a:t>High availability by env — A Condition creates the Multi-AZ standby and NAT redundancy only when EnvName = prod.</a:t>
            </a:r>
          </a:p>
          <a:p>
            <a:r>
              <a:t>AMI without hard-coding — An SSM public parameter resolves the latest patched Amazon Linux AMI at deploy time.</a:t>
            </a:r>
          </a:p>
          <a:p>
            <a:r>
              <a:t>Secrets by env — Each environment references its own Secrets Manager secret; none appear in the template.</a:t>
            </a:r>
          </a:p>
          <a:p>
            <a:r>
              <a:t>Takeaway: The differences between environments become a short parameter file — the template itself is identical, so staging genuinely predicts production.</a:t>
            </a:r>
          </a:p>
          <a:p/>
          <a:p>
            <a:r>
              <a:t>[Sources]</a:t>
            </a:r>
          </a:p>
          <a:p>
            <a:r>
              <a:t>- AWS Certified DevOps Engineer – Professional (DOP-C02) Exam Guide (docs.aws.amazon.com/pdfs/aws-certification/latest/devops-engineer-professional-02).</a:t>
            </a:r>
          </a:p>
          <a:p>
            <a:r>
              <a:t>- AWS CloudFormation Documentation (docs.aws.amazon.com/cloudformation).</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Infrastructure as code engines.</a:t>
            </a:r>
          </a:p>
          <a:p>
            <a:r>
              <a:t>PURPOSE: Model infrastructure as reviewable desired state and apply it through controlled change sets.</a:t>
            </a:r>
          </a:p>
          <a:p>
            <a:r>
              <a:t>FEATURE 1: CloudFormation manages dependency order, rollback, drift detection, stack policies and change sets.</a:t>
            </a:r>
          </a:p>
          <a:p>
            <a:r>
              <a:t>FEATURE 2: CDK synthesises familiar programming constructs into CloudFormation templates.</a:t>
            </a:r>
          </a:p>
          <a:p>
            <a:r>
              <a:t>FEATURE 3: SAM adds serverless shorthand while retaining CloudFormation deployment semantics.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Infrastructure as code engines: selection and controls.</a:t>
            </a:r>
          </a:p>
          <a:p>
            <a:r>
              <a:t>CHOOSE WHEN: Use CloudFormation as the deployment contract; choose CDK for reusable programmatic constructs and SAM for serverless-focused applications.</a:t>
            </a:r>
          </a:p>
          <a:p>
            <a:r>
              <a:t>DEVOPS ENGINEERING: Lint, synthesize, test, create a change set, review replacement impact, deploy and detect drift.</a:t>
            </a:r>
          </a:p>
          <a:p>
            <a:r>
              <a:t>FAILURE MODE: Generated IaC does not remove the need to review IAM expansion, data replacement and destructive removal policies.</a:t>
            </a:r>
          </a:p>
          <a:p>
            <a:r>
              <a:t>EVIDENCE: Template digest, test output, change set, approval, stack event, drift status and rollback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Multi-account provisioning.</a:t>
            </a:r>
          </a:p>
          <a:p>
            <a:r>
              <a:t>PURPOSE: Apply repeatable baselines across accounts and Regions while separating governance from workload delivery.</a:t>
            </a:r>
          </a:p>
          <a:p>
            <a:r>
              <a:t>FEATURE 1: Organizations groups accounts in OUs and applies policies at hierarchical boundaries.</a:t>
            </a:r>
          </a:p>
          <a:p>
            <a:r>
              <a:t>FEATURE 2: StackSets deploys CloudFormation stacks across target accounts/Regions with concurrency and failure controls.</a:t>
            </a:r>
          </a:p>
          <a:p>
            <a:r>
              <a:t>FEATURE 3: Control Tower adds landing-zone guardrails, account vending and drift visibility.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Multi-account provisioning: selection and controls.</a:t>
            </a:r>
          </a:p>
          <a:p>
            <a:r>
              <a:t>CHOOSE WHEN: Use StackSets for repeatable resources and Control Tower when managed landing-zone governance and account lifecycle are needed.</a:t>
            </a:r>
          </a:p>
          <a:p>
            <a:r>
              <a:t>DEVOPS ENGINEERING: Pilot in one OU, bound concurrency/failure tolerance, preserve delegated administration and verify every target instance.</a:t>
            </a:r>
          </a:p>
          <a:p>
            <a:r>
              <a:t>FAILURE MODE: A broad organization rollout can multiply one template or policy defect across the estate.</a:t>
            </a:r>
          </a:p>
          <a:p>
            <a:r>
              <a:t>EVIDENCE: OU target list, stack-instance status, failed-account list, policy version and drift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Fleet configuration and patching.</a:t>
            </a:r>
          </a:p>
          <a:p>
            <a:r>
              <a:t>PURPOSE: Operate heterogeneous compute without inbound administrative ports or manual host-by-host changes.</a:t>
            </a:r>
          </a:p>
          <a:p>
            <a:r>
              <a:t>FEATURE 1: Managed nodes use the SSM Agent and an instance/hybrid activation identity.</a:t>
            </a:r>
          </a:p>
          <a:p>
            <a:r>
              <a:t>FEATURE 2: State Manager enforces associations; Patch Manager evaluates baselines and compliance.</a:t>
            </a:r>
          </a:p>
          <a:p>
            <a:r>
              <a:t>FEATURE 3: Automation runbooks compose AWS API actions, commands, approvals, branching and rollback.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Fleet configuration and patching: selection and controls.</a:t>
            </a:r>
          </a:p>
          <a:p>
            <a:r>
              <a:t>CHOOSE WHEN: Use State Manager for desired configuration, Patch Manager for patch compliance and Automation for multi-step operational workflows.</a:t>
            </a:r>
          </a:p>
          <a:p>
            <a:r>
              <a:t>DEVOPS ENGINEERING: Target by tags/resource groups, use MaxConcurrency/MaxErrors, canary first and keep parameters out of scripts.</a:t>
            </a:r>
          </a:p>
          <a:p>
            <a:r>
              <a:t>FAILURE MODE: A command that targets all instances at once can turn routine remediation into a fleet-wide outage.</a:t>
            </a:r>
          </a:p>
          <a:p>
            <a:r>
              <a:t>EVIDENCE: Target query, association/runbook version, command output, compliance state, error threshold and rollback.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Workflow and event automation.</a:t>
            </a:r>
          </a:p>
          <a:p>
            <a:r>
              <a:t>PURPOSE: Decouple operational events from durable, observable automation workflows.</a:t>
            </a:r>
          </a:p>
          <a:p>
            <a:r>
              <a:t>FEATURE 1: EventBridge rules and event buses route matched events between producers and targets.</a:t>
            </a:r>
          </a:p>
          <a:p>
            <a:r>
              <a:t>FEATURE 2: Step Functions models state, retries, catches, parallelism, waits and human approval.</a:t>
            </a:r>
          </a:p>
          <a:p>
            <a:r>
              <a:t>FEATURE 3: SQS buffers work and provides visibility timeouts, redrive and dead-letter queues.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and event automation: selection and controls.</a:t>
            </a:r>
          </a:p>
          <a:p>
            <a:r>
              <a:t>CHOOSE WHEN: Use EventBridge for routing, Step Functions for stateful orchestration and SQS when buffering/back-pressure are required.</a:t>
            </a:r>
          </a:p>
          <a:p>
            <a:r>
              <a:t>DEVOPS ENGINEERING: Design idempotent tasks, bounded retries with jitter/backoff, explicit timeouts and dead-letter handling.</a:t>
            </a:r>
          </a:p>
          <a:p>
            <a:r>
              <a:t>FAILURE MODE: Unlimited retry or non-idempotent recovery can amplify failure and duplicate side effects.</a:t>
            </a:r>
          </a:p>
          <a:p>
            <a:r>
              <a:t>EVIDENCE: Event ID, rule match, execution history, retry count, DLQ depth and final state.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CloudFormation template and stack lifecycle.</a:t>
            </a:r>
          </a:p>
          <a:p>
            <a:r>
              <a:t>PURPOSE: Represent infrastructure as desired state, preview resource impact and preserve data through controlled lifecycle policies.</a:t>
            </a:r>
          </a:p>
          <a:p>
            <a:r>
              <a:t>SERVICE BOUNDARY: CloudFormation · change sets · drift detection · hooks</a:t>
            </a:r>
          </a:p>
          <a:p>
            <a:r>
              <a:t>PRIMARY DESIGN DECISION: Generate a change set, inspect replacement flags, snapshot or migrate data explicitly, apply retention policies and rehearse the recovery path.</a:t>
            </a:r>
          </a:p>
          <a:p>
            <a:r>
              <a:t>FAILURE BOUNDARY: Treating every stack update as in-place can delete or orphan stateful resources; drift can make the preview incomplete.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CloudFormation template and stack lifecycle: how it works.</a:t>
            </a:r>
          </a:p>
          <a:p>
            <a:r>
              <a:t>MECHANIC 1: Parameters provide deployment-time values, mappings hold known lookup data and conditions control resource inclusion without duplicating templates.</a:t>
            </a:r>
          </a:p>
          <a:p>
            <a:r>
              <a:t>MECHANIC 2: References and `Fn::GetAtt` build dependency edges; explicit `DependsOn` is reserved for dependencies CloudFormation cannot infer.</a:t>
            </a:r>
          </a:p>
          <a:p>
            <a:r>
              <a:t>MECHANIC 3: Update and replacement behavior is resource-property specific, so a change set must be read for replacement, deletion and import consequences.</a:t>
            </a:r>
          </a:p>
          <a:p>
            <a:r>
              <a:t>MECHANIC 4: DeletionPolicy and UpdateReplacePolicy govern retained data; stack policies and hooks protect or validate sensitive changes.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CloudFormation template and stack lifecycle: operating flow.</a:t>
            </a:r>
          </a:p>
          <a:p>
            <a:r>
              <a:t>Lint and test template</a:t>
            </a:r>
          </a:p>
          <a:p>
            <a:r>
              <a:t>Create change set</a:t>
            </a:r>
          </a:p>
          <a:p>
            <a:r>
              <a:t>Review IAM and replacement</a:t>
            </a:r>
          </a:p>
          <a:p>
            <a:r>
              <a:t>Execute monitored update</a:t>
            </a:r>
          </a:p>
          <a:p>
            <a:r>
              <a:t>Detect drift and retain events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CloudFormation template and stack lifecycle: configuration decisions.</a:t>
            </a:r>
          </a:p>
          <a:p>
            <a:r>
              <a:t>NESTED STACKS: Compose separately owned templates but manage update order and exported dependencies deliberately.</a:t>
            </a:r>
          </a:p>
          <a:p>
            <a:r>
              <a:t>MODULES: Package reusable resource patterns while retaining native CloudFormation semantics.</a:t>
            </a:r>
          </a:p>
          <a:p>
            <a:r>
              <a:t>IMPORTS: Bring existing resources under management only after identifiers and property compatibility are verified.</a:t>
            </a:r>
          </a:p>
          <a:p>
            <a:r>
              <a:t>ROLLBACK: Use stack events and continue-update-rollback carefully; never delete diagnostic evidence first.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CloudFormation template and stack lifecycle: worked architecture decision.</a:t>
            </a:r>
          </a:p>
          <a:p>
            <a:r>
              <a:t>SCENARIO: A database encryption change may replace a resource holding production data and must be proven safe before execution.</a:t>
            </a:r>
          </a:p>
          <a:p>
            <a:r>
              <a:t>DESIGN DECISION: Generate a change set, inspect replacement flags, snapshot or migrate data explicitly, apply retention policies and rehearse the recovery path.</a:t>
            </a:r>
          </a:p>
          <a:p>
            <a:r>
              <a:t>FAILURE TO AVOID: Treating every stack update as in-place can delete or orphan stateful resources; drift can make the preview incomplete.</a:t>
            </a:r>
          </a:p>
          <a:p>
            <a:r>
              <a:t>ACCEPTANCE EVIDENCE: Template digest, validation output, change set, policy review, stack events, retained snapshot and drift status.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AWS CDK and SAM synthesis boundaries.</a:t>
            </a:r>
          </a:p>
          <a:p>
            <a:r>
              <a:t>PURPOSE: Use higher-level authoring tools without skipping review of the CloudFormation contract they generate.</a:t>
            </a:r>
          </a:p>
          <a:p>
            <a:r>
              <a:t>SERVICE BOUNDARY: AWS CDK · constructs · SAM · CloudFormation</a:t>
            </a:r>
          </a:p>
          <a:p>
            <a:r>
              <a:t>PRIMARY DESIGN DECISION: Add policy assertions, narrow grants, parameterise environment behavior and require retention in production before publishing the construct version.</a:t>
            </a:r>
          </a:p>
          <a:p>
            <a:r>
              <a:t>FAILURE BOUNDARY: High-level constructs can hide resources, IAM expansion and destructive defaults; a successful synth is not a security review.</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CDK and SAM synthesis boundaries: how it works.</a:t>
            </a:r>
          </a:p>
          <a:p>
            <a:r>
              <a:t>MECHANIC 1: CDK constructs range from low-level resource mappings to opinionated patterns; all synthesize into CloudFormation resources and IAM statements.</a:t>
            </a:r>
          </a:p>
          <a:p>
            <a:r>
              <a:t>MECHANIC 2: Context values, feature flags and asset hashes affect synthesis, so toolchain versions and context files must be controlled.</a:t>
            </a:r>
          </a:p>
          <a:p>
            <a:r>
              <a:t>MECHANIC 3: CDK bootstrap resources support asset publishing and deployment roles; modern bootstrap trust must be scoped to intended accounts.</a:t>
            </a:r>
          </a:p>
          <a:p>
            <a:r>
              <a:t>MECHANIC 4: SAM transforms concise serverless resources into CloudFormation and can attach deployment preferences, API events and policies.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CDK and SAM synthesis boundaries: operating flow.</a:t>
            </a:r>
          </a:p>
          <a:p>
            <a:r>
              <a:t>Define construct or SAM resource</a:t>
            </a:r>
          </a:p>
          <a:p>
            <a:r>
              <a:t>Run unit assertions</a:t>
            </a:r>
          </a:p>
          <a:p>
            <a:r>
              <a:t>Synthesise template</a:t>
            </a:r>
          </a:p>
          <a:p>
            <a:r>
              <a:t>Review IAM/change set</a:t>
            </a:r>
          </a:p>
          <a:p>
            <a:r>
              <a:t>Deploy and detect drift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CDK and SAM synthesis boundaries: configuration decisions.</a:t>
            </a:r>
          </a:p>
          <a:p>
            <a:r>
              <a:t>L1/L2/L3: Choose low-level control, intent-based resource abstractions or complete patterns according to ownership and audit needs.</a:t>
            </a:r>
          </a:p>
          <a:p>
            <a:r>
              <a:t>ASSETS: Pin dependencies and publish deterministic assets; do not let a local path silently change production content.</a:t>
            </a:r>
          </a:p>
          <a:p>
            <a:r>
              <a:t>POLICY GENERATION: Inspect generated IAM permissions and replace broad convenience grants with resource/action constraints.</a:t>
            </a:r>
          </a:p>
          <a:p>
            <a:r>
              <a:t>REMOVAL: Set retention or destruction behavior explicitly for every stateful resource and environment.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CDK and SAM synthesis boundaries: worked architecture decision.</a:t>
            </a:r>
          </a:p>
          <a:p>
            <a:r>
              <a:t>SCENARIO: A reusable construct speeds delivery but currently creates wildcard permissions and destroys a bucket when a test stack is removed.</a:t>
            </a:r>
          </a:p>
          <a:p>
            <a:r>
              <a:t>DESIGN DECISION: Add policy assertions, narrow grants, parameterise environment behavior and require retention in production before publishing the construct version.</a:t>
            </a:r>
          </a:p>
          <a:p>
            <a:r>
              <a:t>FAILURE TO AVOID: High-level constructs can hide resources, IAM expansion and destructive defaults; a successful synth is not a security review.</a:t>
            </a:r>
          </a:p>
          <a:p>
            <a:r>
              <a:t>ACCEPTANCE EVIDENCE: Toolchain lock, synth output, assertion tests, IAM diff, asset digest, change set and stack state.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Runtime configuration and safe feature release.</a:t>
            </a:r>
          </a:p>
          <a:p>
            <a:r>
              <a:t>PURPOSE: Separate deployable code from environment configuration and change high-risk values through validation and progressive rollout.</a:t>
            </a:r>
          </a:p>
          <a:p>
            <a:r>
              <a:t>SERVICE BOUNDARY: AppConfig · Parameter Store · Secrets Manager · Lambda extensions</a:t>
            </a:r>
          </a:p>
          <a:p>
            <a:r>
              <a:t>PRIMARY DESIGN DECISION: Store the flag in AppConfig, validate its schema, deploy gradually, bind a latency alarm and use the local agent for cached retrieval.</a:t>
            </a:r>
          </a:p>
          <a:p>
            <a:r>
              <a:t>FAILURE BOUNDARY: Reading a parameter on every request can create throttling and latency; logging resolved values can expose secrets.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Runtime configuration and safe feature release: how it works.</a:t>
            </a:r>
          </a:p>
          <a:p>
            <a:r>
              <a:t>MECHANIC 1: Parameter Store supports hierarchical values, versions and SecureString encryption; it is suited to configuration that does not require managed rotation.</a:t>
            </a:r>
          </a:p>
          <a:p>
            <a:r>
              <a:t>MECHANIC 2: Secrets Manager manages secret versions and staging labels and can coordinate rotation through a Lambda function.</a:t>
            </a:r>
          </a:p>
          <a:p>
            <a:r>
              <a:t>MECHANIC 3: AppConfig profiles can source hosted or external configuration, validate content and deploy through linear, canary or exponential strategies.</a:t>
            </a:r>
          </a:p>
          <a:p>
            <a:r>
              <a:t>MECHANIC 4: The AppConfig agent or Lambda extension caches configuration locally, reducing API calls and providing controlled retrieval behavior.</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Runtime configuration and safe feature release: operating flow.</a:t>
            </a:r>
          </a:p>
          <a:p>
            <a:r>
              <a:t>Author versioned configuration</a:t>
            </a:r>
          </a:p>
          <a:p>
            <a:r>
              <a:t>Validate schema or policy</a:t>
            </a:r>
          </a:p>
          <a:p>
            <a:r>
              <a:t>Deploy to small segment</a:t>
            </a:r>
          </a:p>
          <a:p>
            <a:r>
              <a:t>Watch alarms</a:t>
            </a:r>
          </a:p>
          <a:p>
            <a:r>
              <a:t>Bake or roll back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Runtime configuration and safe feature release: configuration decisions.</a:t>
            </a:r>
          </a:p>
          <a:p>
            <a:r>
              <a:t>PARAMETER: Use for non-secret or encrypted configuration with hierarchy and straightforward versioning.</a:t>
            </a:r>
          </a:p>
          <a:p>
            <a:r>
              <a:t>SECRET: Use when credential rotation, secret staging and secret-specific access are required.</a:t>
            </a:r>
          </a:p>
          <a:p>
            <a:r>
              <a:t>APPCONFIG: Use when validation, progressive rollout and automatic rollback are required independently of code deployment.</a:t>
            </a:r>
          </a:p>
          <a:p>
            <a:r>
              <a:t>CACHING: Define refresh and stale-value behavior so a temporary control-plane issue does not overload or stop the application.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Runtime configuration and safe feature release: worked architecture decision.</a:t>
            </a:r>
          </a:p>
          <a:p>
            <a:r>
              <a:t>SCENARIO: A feature flag can increase database load and must be reversed automatically if latency crosses the release threshold.</a:t>
            </a:r>
          </a:p>
          <a:p>
            <a:r>
              <a:t>DESIGN DECISION: Store the flag in AppConfig, validate its schema, deploy gradually, bind a latency alarm and use the local agent for cached retrieval.</a:t>
            </a:r>
          </a:p>
          <a:p>
            <a:r>
              <a:t>FAILURE TO AVOID: Reading a parameter on every request can create throttling and latency; logging resolved values can expose secrets.</a:t>
            </a:r>
          </a:p>
          <a:p>
            <a:r>
              <a:t>ACCEPTANCE EVIDENCE: Configuration version, validator result, deployment strategy, retrieval version, alarm state and rollback event.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Step Functions orchestration semantics.</a:t>
            </a:r>
          </a:p>
          <a:p>
            <a:r>
              <a:t>PURPOSE: Model stateful workflows with explicit data flow, timeout, retry and compensation behavior instead of hiding orchestration in code.</a:t>
            </a:r>
          </a:p>
          <a:p>
            <a:r>
              <a:t>SERVICE BOUNDARY: Step Functions Standard · Express · service integrations</a:t>
            </a:r>
          </a:p>
          <a:p>
            <a:r>
              <a:t>PRIMARY DESIGN DECISION: Persist an idempotency key, retry only transient errors, catch business rejection separately and compensate completed steps before terminal failure.</a:t>
            </a:r>
          </a:p>
          <a:p>
            <a:r>
              <a:t>FAILURE BOUNDARY: A catch-all retry can repeat permanent errors or duplicate side effects; missing timeouts leave executions indefinitely open.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Functions orchestration semantics: how it works.</a:t>
            </a:r>
          </a:p>
          <a:p>
            <a:r>
              <a:t>MECHANIC 1: InputPath, Parameters, ResultSelector, ResultPath and OutputPath shape JSON between states; uncontrolled payload growth can breach limits and obscure contracts.</a:t>
            </a:r>
          </a:p>
          <a:p>
            <a:r>
              <a:t>MECHANIC 2: Retry policies match error names and apply interval, backoff and maximum attempts; Catch transitions to recovery or terminal states.</a:t>
            </a:r>
          </a:p>
          <a:p>
            <a:r>
              <a:t>MECHANIC 3: Standard workflows provide durable, exactly-once workflow execution semantics for long-running auditable flows; Express targets high-rate short workflows with different delivery semantics.</a:t>
            </a:r>
          </a:p>
          <a:p>
            <a:r>
              <a:t>MECHANIC 4: Optimized service integrations can call AWS APIs, run jobs or wait for callback task tokens without custom polling Lambda functions.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Functions orchestration semantics: operating flow.</a:t>
            </a:r>
          </a:p>
          <a:p>
            <a:r>
              <a:t>Validate input contract</a:t>
            </a:r>
          </a:p>
          <a:p>
            <a:r>
              <a:t>Invoke integrated task</a:t>
            </a:r>
          </a:p>
          <a:p>
            <a:r>
              <a:t>Retry transient failure</a:t>
            </a:r>
          </a:p>
          <a:p>
            <a:r>
              <a:t>Catch and compensate</a:t>
            </a:r>
          </a:p>
          <a:p>
            <a:r>
              <a:t>Publish terminal evidence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Functions orchestration semantics: configuration decisions.</a:t>
            </a:r>
          </a:p>
          <a:p>
            <a:r>
              <a:t>STANDARD: Choose for durable history, long waits, human approval or non-idempotent workflow coordination.</a:t>
            </a:r>
          </a:p>
          <a:p>
            <a:r>
              <a:t>EXPRESS: Choose for high-volume, short, idempotent processing with logging configured for required evidence.</a:t>
            </a:r>
          </a:p>
          <a:p>
            <a:r>
              <a:t>MAP: Use inline or distributed map based on item count, concurrency, payload source and isolation requirements.</a:t>
            </a:r>
          </a:p>
          <a:p>
            <a:r>
              <a:t>CALLBACK: Use task tokens for external approval or asynchronous work and set a heartbeat/timeout to avoid stuck executions.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Functions orchestration semantics: worked architecture decision.</a:t>
            </a:r>
          </a:p>
          <a:p>
            <a:r>
              <a:t>SCENARIO: An order workflow calls an unreliable partner and must not charge twice when a response is lost.</a:t>
            </a:r>
          </a:p>
          <a:p>
            <a:r>
              <a:t>DESIGN DECISION: Persist an idempotency key, retry only transient errors, catch business rejection separately and compensate completed steps before terminal failure.</a:t>
            </a:r>
          </a:p>
          <a:p>
            <a:r>
              <a:t>FAILURE TO AVOID: A catch-all retry can repeat permanent errors or duplicate side effects; missing timeouts leave executions indefinitely open.</a:t>
            </a:r>
          </a:p>
          <a:p>
            <a:r>
              <a:t>ACCEPTANCE EVIDENCE: Execution ARN, input version, state transitions, retry count, idempotency record, compensation result and terminal status.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CloudFormation lifecycle.</a:t>
            </a:r>
          </a:p>
          <a:p>
            <a:r>
              <a:t>OUTCOME: Treat infrastructure changes as reviewed, previewable and recoverable releases.</a:t>
            </a:r>
          </a:p>
          <a:p>
            <a:r>
              <a:t>ARCHITECTURE: Validate templates, create change sets, inspect replacements, execute with a service role and capture stack events.</a:t>
            </a:r>
          </a:p>
          <a:p>
            <a:r>
              <a:t>FAILURE MODE: Unexpected replacement of a stateful resource can turn a routine change into data loss.</a:t>
            </a:r>
          </a:p>
          <a:p>
            <a:r>
              <a:t>EVIDENCE: Template digest, parameters, change-set diff, execution role and stack event timeline.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CloudFormation lifecycle: operating flow.</a:t>
            </a:r>
          </a:p>
          <a:p>
            <a:r>
              <a:t>Author</a:t>
            </a:r>
          </a:p>
          <a:p>
            <a:r>
              <a:t>Lint</a:t>
            </a:r>
          </a:p>
          <a:p>
            <a:r>
              <a:t>Preview change set</a:t>
            </a:r>
          </a:p>
          <a:p>
            <a:r>
              <a:t>Approve</a:t>
            </a:r>
          </a:p>
          <a:p>
            <a:r>
              <a:t>Execute</a:t>
            </a:r>
          </a:p>
          <a:p>
            <a:r>
              <a:t>Observe events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CloudFormation lifecycle: design decision.</a:t>
            </a:r>
          </a:p>
          <a:p>
            <a:r>
              <a:t>SCENARIO: A database parameter update may replace a resource; the team needs proof before execution.</a:t>
            </a:r>
          </a:p>
          <a:p>
            <a:r>
              <a:t>DESIGN RESPONSE: Validate templates, create change sets, inspect replacements, execute with a service role and capture stack events.</a:t>
            </a:r>
          </a:p>
          <a:p>
            <a:r>
              <a:t>PRIMARY SERVICES: CloudFormation · Change Sets · CloudTrail</a:t>
            </a:r>
          </a:p>
          <a:p>
            <a:r>
              <a:t>FAILURE MODE: Unexpected replacement of a stateful resource can turn a routine change into data loss.</a:t>
            </a:r>
          </a:p>
          <a:p>
            <a:r>
              <a:t>PROOF: Template digest, parameters, change-set diff, execution role and stack event timeline.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CloudFormation lifecycle: failure diagnostic.</a:t>
            </a:r>
          </a:p>
          <a:p>
            <a:r>
              <a:t>RECOGNISE: Observable failure condition: Unexpected replacement of a stateful resource can turn a routine change into data loss.</a:t>
            </a:r>
          </a:p>
          <a:p>
            <a:r>
              <a:t>CONTAIN: Pause promotion, preserve evidence and reduce impact without destroying diagnostic state.</a:t>
            </a:r>
          </a:p>
          <a:p>
            <a:r>
              <a:t>DIAGNOSE: Trace the workflow from Author through Observe events; compare intended configuration with runtime state.</a:t>
            </a:r>
          </a:p>
          <a:p>
            <a:r>
              <a:t>RECOVER: Restore the last known-good state, then prove recovery with Template digest, parameters, change-set diff, execution role and stack event timeline.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CloudFormation lifecycle: worked decision.</a:t>
            </a:r>
          </a:p>
          <a:p>
            <a:r>
              <a:t>CONSTRAINT: A database parameter update may replace a resource; the team needs proof before execution.</a:t>
            </a:r>
          </a:p>
          <a:p>
            <a:r>
              <a:t>DECISION: Validate templates, create change sets, inspect replacements, execute with a service role and capture stack events.</a:t>
            </a:r>
          </a:p>
          <a:p>
            <a:r>
              <a:t>WHY ALTERNATIVES LOSE: Reject options that do not change the stated failure boundary: Unexpected replacement of a stateful resource can turn a routine change into data loss.</a:t>
            </a:r>
          </a:p>
          <a:p>
            <a:r>
              <a:t>ACCEPTANCE TEST: The decision is complete only when this proof exists: Template digest, parameters, change-set diff, execution role and stack event timeline.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Reusable infrastructure components.</a:t>
            </a:r>
          </a:p>
          <a:p>
            <a:r>
              <a:t>OUTCOME: Create governed building blocks that teams can reuse without copying templates.</a:t>
            </a:r>
          </a:p>
          <a:p>
            <a:r>
              <a:t>ARCHITECTURE: Define stable interfaces, semantic versions, ownership, safe defaults and deprecation paths for components.</a:t>
            </a:r>
          </a:p>
          <a:p>
            <a:r>
              <a:t>FAILURE MODE: Copy-and-edit templates fork controls and make security fixes inconsistent.</a:t>
            </a:r>
          </a:p>
          <a:p>
            <a:r>
              <a:t>EVIDENCE: Component version, input contract, output contract, policy checks and consuming stacks.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Reusable infrastructure components: operating flow.</a:t>
            </a:r>
          </a:p>
          <a:p>
            <a:r>
              <a:t>Define interface</a:t>
            </a:r>
          </a:p>
          <a:p>
            <a:r>
              <a:t>Implement component</a:t>
            </a:r>
          </a:p>
          <a:p>
            <a:r>
              <a:t>Test</a:t>
            </a:r>
          </a:p>
          <a:p>
            <a:r>
              <a:t>Publish version</a:t>
            </a:r>
          </a:p>
          <a:p>
            <a:r>
              <a:t>Consume</a:t>
            </a:r>
          </a:p>
          <a:p>
            <a:r>
              <a:t>Deprecate safely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Reusable infrastructure components: design decision.</a:t>
            </a:r>
          </a:p>
          <a:p>
            <a:r>
              <a:t>SCENARIO: Twenty application teams need the same encrypted logging bucket with centrally managed controls.</a:t>
            </a:r>
          </a:p>
          <a:p>
            <a:r>
              <a:t>DESIGN RESPONSE: Define stable interfaces, semantic versions, ownership, safe defaults and deprecation paths for components.</a:t>
            </a:r>
          </a:p>
          <a:p>
            <a:r>
              <a:t>PRIMARY SERVICES: Nested stacks · Modules · CDK constructs · Service Catalog</a:t>
            </a:r>
          </a:p>
          <a:p>
            <a:r>
              <a:t>FAILURE MODE: Copy-and-edit templates fork controls and make security fixes inconsistent.</a:t>
            </a:r>
          </a:p>
          <a:p>
            <a:r>
              <a:t>PROOF: Component version, input contract, output contract, policy checks and consuming stacks.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Reusable infrastructure components: failure diagnostic.</a:t>
            </a:r>
          </a:p>
          <a:p>
            <a:r>
              <a:t>RECOGNISE: Observable failure condition: Copy-and-edit templates fork controls and make security fixes inconsistent.</a:t>
            </a:r>
          </a:p>
          <a:p>
            <a:r>
              <a:t>CONTAIN: Pause promotion, preserve evidence and reduce impact without destroying diagnostic state.</a:t>
            </a:r>
          </a:p>
          <a:p>
            <a:r>
              <a:t>DIAGNOSE: Trace the workflow from Define interface through Deprecate safely; compare intended configuration with runtime state.</a:t>
            </a:r>
          </a:p>
          <a:p>
            <a:r>
              <a:t>RECOVER: Restore the last known-good state, then prove recovery with Component version, input contract, output contract, policy checks and consuming stacks.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Reusable infrastructure components: worked decision.</a:t>
            </a:r>
          </a:p>
          <a:p>
            <a:r>
              <a:t>CONSTRAINT: Twenty application teams need the same encrypted logging bucket with centrally managed controls.</a:t>
            </a:r>
          </a:p>
          <a:p>
            <a:r>
              <a:t>DECISION: Define stable interfaces, semantic versions, ownership, safe defaults and deprecation paths for components.</a:t>
            </a:r>
          </a:p>
          <a:p>
            <a:r>
              <a:t>WHY ALTERNATIVES LOSE: Reject options that do not change the stated failure boundary: Copy-and-edit templates fork controls and make security fixes inconsistent.</a:t>
            </a:r>
          </a:p>
          <a:p>
            <a:r>
              <a:t>ACCEPTANCE TEST: The decision is complete only when this proof exists: Component version, input contract, output contract, policy checks and consuming stacks.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Parameters, mappings and dynamic references.</a:t>
            </a:r>
          </a:p>
          <a:p>
            <a:r>
              <a:t>OUTCOME: Separate environment configuration and secrets from reusable infrastructure code.</a:t>
            </a:r>
          </a:p>
          <a:p>
            <a:r>
              <a:t>ARCHITECTURE: Use parameters for deployment choices, mappings for curated constants and dynamic references for secret values.</a:t>
            </a:r>
          </a:p>
          <a:p>
            <a:r>
              <a:t>FAILURE MODE: Embedding secrets in templates, outputs or pipeline logs creates durable exposure.</a:t>
            </a:r>
          </a:p>
          <a:p>
            <a:r>
              <a:t>EVIDENCE: Parameter type, allowed values, secret ARN/version, access policy and redacted execution logs.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Parameters, mappings and dynamic references: operating flow.</a:t>
            </a:r>
          </a:p>
          <a:p>
            <a:r>
              <a:t>Declare input</a:t>
            </a:r>
          </a:p>
          <a:p>
            <a:r>
              <a:t>Validate</a:t>
            </a:r>
          </a:p>
          <a:p>
            <a:r>
              <a:t>Resolve secure value</a:t>
            </a:r>
          </a:p>
          <a:p>
            <a:r>
              <a:t>Deploy</a:t>
            </a:r>
          </a:p>
          <a:p>
            <a:r>
              <a:t>Rotate independently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Parameters, mappings and dynamic references: design decision.</a:t>
            </a:r>
          </a:p>
          <a:p>
            <a:r>
              <a:t>SCENARIO: One template serves three environments while database credentials rotate every 30 days.</a:t>
            </a:r>
          </a:p>
          <a:p>
            <a:r>
              <a:t>DESIGN RESPONSE: Use parameters for deployment choices, mappings for curated constants and dynamic references for secret values.</a:t>
            </a:r>
          </a:p>
          <a:p>
            <a:r>
              <a:t>PRIMARY SERVICES: CloudFormation · Parameter Store · Secrets Manager</a:t>
            </a:r>
          </a:p>
          <a:p>
            <a:r>
              <a:t>FAILURE MODE: Embedding secrets in templates, outputs or pipeline logs creates durable exposure.</a:t>
            </a:r>
          </a:p>
          <a:p>
            <a:r>
              <a:t>PROOF: Parameter type, allowed values, secret ARN/version, access policy and redacted execution logs.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Parameters, mappings and dynamic references: failure diagnostic.</a:t>
            </a:r>
          </a:p>
          <a:p>
            <a:r>
              <a:t>RECOGNISE: Observable failure condition: Embedding secrets in templates, outputs or pipeline logs creates durable exposure.</a:t>
            </a:r>
          </a:p>
          <a:p>
            <a:r>
              <a:t>CONTAIN: Pause promotion, preserve evidence and reduce impact without destroying diagnostic state.</a:t>
            </a:r>
          </a:p>
          <a:p>
            <a:r>
              <a:t>DIAGNOSE: Trace the workflow from Declare input through Rotate independently; compare intended configuration with runtime state.</a:t>
            </a:r>
          </a:p>
          <a:p>
            <a:r>
              <a:t>RECOVER: Restore the last known-good state, then prove recovery with Parameter type, allowed values, secret ARN/version, access policy and redacted execution logs.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Parameters, mappings and dynamic references: worked decision.</a:t>
            </a:r>
          </a:p>
          <a:p>
            <a:r>
              <a:t>CONSTRAINT: One template serves three environments while database credentials rotate every 30 days.</a:t>
            </a:r>
          </a:p>
          <a:p>
            <a:r>
              <a:t>DECISION: Use parameters for deployment choices, mappings for curated constants and dynamic references for secret values.</a:t>
            </a:r>
          </a:p>
          <a:p>
            <a:r>
              <a:t>WHY ALTERNATIVES LOSE: Reject options that do not change the stated failure boundary: Embedding secrets in templates, outputs or pipeline logs creates durable exposure.</a:t>
            </a:r>
          </a:p>
          <a:p>
            <a:r>
              <a:t>ACCEPTANCE TEST: The decision is complete only when this proof exists: Parameter type, allowed values, secret ARN/version, access policy and redacted execution logs.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Drift, change control and rollback.</a:t>
            </a:r>
          </a:p>
          <a:p>
            <a:r>
              <a:t>OUTCOME: Detect unmanaged changes and return resources to an approved state without masking the cause.</a:t>
            </a:r>
          </a:p>
          <a:p>
            <a:r>
              <a:t>ARCHITECTURE: Schedule drift detection, triage intent, import legitimate changes into code or remediate unauthorized variance.</a:t>
            </a:r>
          </a:p>
          <a:p>
            <a:r>
              <a:t>FAILURE MODE: Blindly reapplying a stack can overwrite an emergency repair before it is understood.</a:t>
            </a:r>
          </a:p>
          <a:p>
            <a:r>
              <a:t>EVIDENCE: Drift result, actor from CloudTrail, approved exception, change set and post-remediation state.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Drift, change control and rollback: operating flow.</a:t>
            </a:r>
          </a:p>
          <a:p>
            <a:r>
              <a:t>Detect drift</a:t>
            </a:r>
          </a:p>
          <a:p>
            <a:r>
              <a:t>Identify actor</a:t>
            </a:r>
          </a:p>
          <a:p>
            <a:r>
              <a:t>Classify intent</a:t>
            </a:r>
          </a:p>
          <a:p>
            <a:r>
              <a:t>Update code or remediate</a:t>
            </a:r>
          </a:p>
          <a:p>
            <a:r>
              <a:t>Recheck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Drift, change control and rollback: design decision.</a:t>
            </a:r>
          </a:p>
          <a:p>
            <a:r>
              <a:t>SCENARIO: An operator changes a security group during an incident and forgets to restore it.</a:t>
            </a:r>
          </a:p>
          <a:p>
            <a:r>
              <a:t>DESIGN RESPONSE: Schedule drift detection, triage intent, import legitimate changes into code or remediate unauthorized variance.</a:t>
            </a:r>
          </a:p>
          <a:p>
            <a:r>
              <a:t>PRIMARY SERVICES: CloudFormation Drift · Config · Change Sets</a:t>
            </a:r>
          </a:p>
          <a:p>
            <a:r>
              <a:t>FAILURE MODE: Blindly reapplying a stack can overwrite an emergency repair before it is understood.</a:t>
            </a:r>
          </a:p>
          <a:p>
            <a:r>
              <a:t>PROOF: Drift result, actor from CloudTrail, approved exception, change set and post-remediation state.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Drift, change control and rollback: failure diagnostic.</a:t>
            </a:r>
          </a:p>
          <a:p>
            <a:r>
              <a:t>RECOGNISE: Observable failure condition: Blindly reapplying a stack can overwrite an emergency repair before it is understood.</a:t>
            </a:r>
          </a:p>
          <a:p>
            <a:r>
              <a:t>CONTAIN: Pause promotion, preserve evidence and reduce impact without destroying diagnostic state.</a:t>
            </a:r>
          </a:p>
          <a:p>
            <a:r>
              <a:t>DIAGNOSE: Trace the workflow from Detect drift through Recheck; compare intended configuration with runtime state.</a:t>
            </a:r>
          </a:p>
          <a:p>
            <a:r>
              <a:t>RECOVER: Restore the last known-good state, then prove recovery with Drift result, actor from CloudTrail, approved exception, change set and post-remediation state.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Drift, change control and rollback: worked decision.</a:t>
            </a:r>
          </a:p>
          <a:p>
            <a:r>
              <a:t>CONSTRAINT: An operator changes a security group during an incident and forgets to restore it.</a:t>
            </a:r>
          </a:p>
          <a:p>
            <a:r>
              <a:t>DECISION: Schedule drift detection, triage intent, import legitimate changes into code or remediate unauthorized variance.</a:t>
            </a:r>
          </a:p>
          <a:p>
            <a:r>
              <a:t>WHY ALTERNATIVES LOSE: Reject options that do not change the stated failure boundary: Blindly reapplying a stack can overwrite an emergency repair before it is understood.</a:t>
            </a:r>
          </a:p>
          <a:p>
            <a:r>
              <a:t>ACCEPTANCE TEST: The decision is complete only when this proof exists: Drift result, actor from CloudTrail, approved exception, change set and post-remediation state.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StackSets and account vending.</a:t>
            </a:r>
          </a:p>
          <a:p>
            <a:r>
              <a:t>OUTCOME: Deploy mandatory baselines consistently as accounts and Regions are created.</a:t>
            </a:r>
          </a:p>
          <a:p>
            <a:r>
              <a:t>ARCHITECTURE: Use organizational units, delegated administration, automatic deployment and controlled failure tolerance.</a:t>
            </a:r>
          </a:p>
          <a:p>
            <a:r>
              <a:t>FAILURE MODE: An aggressive concurrent rollout can spread a faulty baseline across the organization.</a:t>
            </a:r>
          </a:p>
          <a:p>
            <a:r>
              <a:t>EVIDENCE: OU target, permission model, operation preferences, per-account status and drift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StackSets and account vending: operating flow.</a:t>
            </a:r>
          </a:p>
          <a:p>
            <a:r>
              <a:t>Create account</a:t>
            </a:r>
          </a:p>
          <a:p>
            <a:r>
              <a:t>Place in OU</a:t>
            </a:r>
          </a:p>
          <a:p>
            <a:r>
              <a:t>Apply baseline Stack Set</a:t>
            </a:r>
          </a:p>
          <a:p>
            <a:r>
              <a:t>Verify guardrails</a:t>
            </a:r>
          </a:p>
          <a:p>
            <a:r>
              <a:t>Hand over</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StackSets and account vending: design decision.</a:t>
            </a:r>
          </a:p>
          <a:p>
            <a:r>
              <a:t>SCENARIO: A new production account must receive logging, security roles and Config before application access.</a:t>
            </a:r>
          </a:p>
          <a:p>
            <a:r>
              <a:t>DESIGN RESPONSE: Use organizational units, delegated administration, automatic deployment and controlled failure tolerance.</a:t>
            </a:r>
          </a:p>
          <a:p>
            <a:r>
              <a:t>PRIMARY SERVICES: Organizations · StackSets · Control Tower · Account Factory</a:t>
            </a:r>
          </a:p>
          <a:p>
            <a:r>
              <a:t>FAILURE MODE: An aggressive concurrent rollout can spread a faulty baseline across the organization.</a:t>
            </a:r>
          </a:p>
          <a:p>
            <a:r>
              <a:t>PROOF: OU target, permission model, operation preferences, per-account status and drift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StackSets and account vending: failure diagnostic.</a:t>
            </a:r>
          </a:p>
          <a:p>
            <a:r>
              <a:t>RECOGNISE: Observable failure condition: An aggressive concurrent rollout can spread a faulty baseline across the organization.</a:t>
            </a:r>
          </a:p>
          <a:p>
            <a:r>
              <a:t>CONTAIN: Pause promotion, preserve evidence and reduce impact without destroying diagnostic state.</a:t>
            </a:r>
          </a:p>
          <a:p>
            <a:r>
              <a:t>DIAGNOSE: Trace the workflow from Create account through Hand over; compare intended configuration with runtime state.</a:t>
            </a:r>
          </a:p>
          <a:p>
            <a:r>
              <a:t>RECOVER: Restore the last known-good state, then prove recovery with OU target, permission model, operation preferences, per-account status and drift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StackSets and account vending: worked decision.</a:t>
            </a:r>
          </a:p>
          <a:p>
            <a:r>
              <a:t>CONSTRAINT: A new production account must receive logging, security roles and Config before application access.</a:t>
            </a:r>
          </a:p>
          <a:p>
            <a:r>
              <a:t>DECISION: Use organizational units, delegated administration, automatic deployment and controlled failure tolerance.</a:t>
            </a:r>
          </a:p>
          <a:p>
            <a:r>
              <a:t>WHY ALTERNATIVES LOSE: Reject options that do not change the stated failure boundary: An aggressive concurrent rollout can spread a faulty baseline across the organization.</a:t>
            </a:r>
          </a:p>
          <a:p>
            <a:r>
              <a:t>ACCEPTANCE TEST: The decision is complete only when this proof exists: OU target, permission model, operation preferences, per-account status and drift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Systems Manager fleet automation.</a:t>
            </a:r>
          </a:p>
          <a:p>
            <a:r>
              <a:t>OUTCOME: Operate hybrid and EC2 fleets without inbound administrative ports or unmanaged scripts.</a:t>
            </a:r>
          </a:p>
          <a:p>
            <a:r>
              <a:t>ARCHITECTURE: Use tags, documents, maintenance windows, rate controls, concurrency limits and command output encryption.</a:t>
            </a:r>
          </a:p>
          <a:p>
            <a:r>
              <a:t>FAILURE MODE: A fleet-wide command without error thresholds can create a synchronized outage.</a:t>
            </a:r>
          </a:p>
          <a:p>
            <a:r>
              <a:t>EVIDENCE: Target query, document version, invocation output, compliance result and exception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Systems Manager fleet automation: operating flow.</a:t>
            </a:r>
          </a:p>
          <a:p>
            <a:r>
              <a:t>Select by tag</a:t>
            </a:r>
          </a:p>
          <a:p>
            <a:r>
              <a:t>Run canary</a:t>
            </a:r>
          </a:p>
          <a:p>
            <a:r>
              <a:t>Check output</a:t>
            </a:r>
          </a:p>
          <a:p>
            <a:r>
              <a:t>Expand concurrency</a:t>
            </a:r>
          </a:p>
          <a:p>
            <a:r>
              <a:t>Record compliance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Systems Manager fleet automation: design decision.</a:t>
            </a:r>
          </a:p>
          <a:p>
            <a:r>
              <a:t>SCENARIO: A monthly patch cycle must update hundreds of instances while limiting simultaneous disruption.</a:t>
            </a:r>
          </a:p>
          <a:p>
            <a:r>
              <a:t>DESIGN RESPONSE: Use tags, documents, maintenance windows, rate controls, concurrency limits and command output encryption.</a:t>
            </a:r>
          </a:p>
          <a:p>
            <a:r>
              <a:t>PRIMARY SERVICES: Systems Manager · Run Command · Automation · Patch Manager</a:t>
            </a:r>
          </a:p>
          <a:p>
            <a:r>
              <a:t>FAILURE MODE: A fleet-wide command without error thresholds can create a synchronized outage.</a:t>
            </a:r>
          </a:p>
          <a:p>
            <a:r>
              <a:t>PROOF: Target query, document version, invocation output, compliance result and exception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Systems Manager fleet automation: failure diagnostic.</a:t>
            </a:r>
          </a:p>
          <a:p>
            <a:r>
              <a:t>RECOGNISE: Observable failure condition: A fleet-wide command without error thresholds can create a synchronized outage.</a:t>
            </a:r>
          </a:p>
          <a:p>
            <a:r>
              <a:t>CONTAIN: Pause promotion, preserve evidence and reduce impact without destroying diagnostic state.</a:t>
            </a:r>
          </a:p>
          <a:p>
            <a:r>
              <a:t>DIAGNOSE: Trace the workflow from Select by tag through Record compliance; compare intended configuration with runtime state.</a:t>
            </a:r>
          </a:p>
          <a:p>
            <a:r>
              <a:t>RECOVER: Restore the last known-good state, then prove recovery with Target query, document version, invocation output, compliance result and exception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Systems Manager fleet automation: worked decision.</a:t>
            </a:r>
          </a:p>
          <a:p>
            <a:r>
              <a:t>CONSTRAINT: A monthly patch cycle must update hundreds of instances while limiting simultaneous disruption.</a:t>
            </a:r>
          </a:p>
          <a:p>
            <a:r>
              <a:t>DECISION: Use tags, documents, maintenance windows, rate controls, concurrency limits and command output encryption.</a:t>
            </a:r>
          </a:p>
          <a:p>
            <a:r>
              <a:t>WHY ALTERNATIVES LOSE: Reject options that do not change the stated failure boundary: A fleet-wide command without error thresholds can create a synchronized outage.</a:t>
            </a:r>
          </a:p>
          <a:p>
            <a:r>
              <a:t>ACCEPTANCE TEST: The decision is complete only when this proof exists: Target query, document version, invocation output, compliance result and exception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CDK, SAM and workflow orchestration.</a:t>
            </a:r>
          </a:p>
          <a:p>
            <a:r>
              <a:t>OUTCOME: Choose the right abstraction while preserving reviewable infrastructure output and safe runtime change.</a:t>
            </a:r>
          </a:p>
          <a:p>
            <a:r>
              <a:t>ARCHITECTURE: Synthesize templates, test constructs, separate build-time from runtime configuration, and orchestrate retries explicitly.</a:t>
            </a:r>
          </a:p>
          <a:p>
            <a:r>
              <a:t>FAILURE MODE: High-level abstractions can hide IAM expansion or replacement behavior unless synthesized output is reviewed.</a:t>
            </a:r>
          </a:p>
          <a:p>
            <a:r>
              <a:t>EVIDENCE: Synthesized template, assertions, state-machine history, configuration version and deployment strategy.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CDK, SAM and workflow orchestration: operating flow.</a:t>
            </a:r>
          </a:p>
          <a:p>
            <a:r>
              <a:t>Model</a:t>
            </a:r>
          </a:p>
          <a:p>
            <a:r>
              <a:t>Synthesize</a:t>
            </a:r>
          </a:p>
          <a:p>
            <a:r>
              <a:t>Test policy</a:t>
            </a:r>
          </a:p>
          <a:p>
            <a:r>
              <a:t>Deploy</a:t>
            </a:r>
          </a:p>
          <a:p>
            <a:r>
              <a:t>Release config</a:t>
            </a:r>
          </a:p>
          <a:p>
            <a:r>
              <a:t>Observe execution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CDK, SAM and workflow orchestration: design decision.</a:t>
            </a:r>
          </a:p>
          <a:p>
            <a:r>
              <a:t>SCENARIO: A serverless workflow needs bounded retries and a feature flag that can be rolled back independently.</a:t>
            </a:r>
          </a:p>
          <a:p>
            <a:r>
              <a:t>DESIGN RESPONSE: Synthesize templates, test constructs, separate build-time from runtime configuration, and orchestrate retries explicitly.</a:t>
            </a:r>
          </a:p>
          <a:p>
            <a:r>
              <a:t>PRIMARY SERVICES: CDK · SAM · Step Functions · AppConfig</a:t>
            </a:r>
          </a:p>
          <a:p>
            <a:r>
              <a:t>FAILURE MODE: High-level abstractions can hide IAM expansion or replacement behavior unless synthesized output is reviewed.</a:t>
            </a:r>
          </a:p>
          <a:p>
            <a:r>
              <a:t>PROOF: Synthesized template, assertions, state-machine history, configuration version and deployment strategy.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CDK, SAM and workflow orchestration: failure diagnostic.</a:t>
            </a:r>
          </a:p>
          <a:p>
            <a:r>
              <a:t>RECOGNISE: Observable failure condition: High-level abstractions can hide IAM expansion or replacement behavior unless synthesized output is reviewed.</a:t>
            </a:r>
          </a:p>
          <a:p>
            <a:r>
              <a:t>CONTAIN: Pause promotion, preserve evidence and reduce impact without destroying diagnostic state.</a:t>
            </a:r>
          </a:p>
          <a:p>
            <a:r>
              <a:t>DIAGNOSE: Trace the workflow from Model through Observe execution; compare intended configuration with runtime state.</a:t>
            </a:r>
          </a:p>
          <a:p>
            <a:r>
              <a:t>RECOVER: Restore the last known-good state, then prove recovery with Synthesized template, assertions, state-machine history, configuration version and deployment strategy.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CDK, SAM and workflow orchestration: worked decision.</a:t>
            </a:r>
          </a:p>
          <a:p>
            <a:r>
              <a:t>CONSTRAINT: A serverless workflow needs bounded retries and a feature flag that can be rolled back independently.</a:t>
            </a:r>
          </a:p>
          <a:p>
            <a:r>
              <a:t>DECISION: Synthesize templates, test constructs, separate build-time from runtime configuration, and orchestrate retries explicitly.</a:t>
            </a:r>
          </a:p>
          <a:p>
            <a:r>
              <a:t>WHY ALTERNATIVES LOSE: Reject options that do not change the stated failure boundary: High-level abstractions can hide IAM expansion or replacement behavior unless synthesized output is reviewed.</a:t>
            </a:r>
          </a:p>
          <a:p>
            <a:r>
              <a:t>ACCEPTANCE TEST: The decision is complete only when this proof exists: Synthesized template, assertions, state-machine history, configuration version and deployment strategy.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CloudFormation lifecycle: architecture map.</a:t>
            </a:r>
          </a:p>
          <a:p>
            <a:r>
              <a:t>TRIGGER / INPUT: Author</a:t>
            </a:r>
          </a:p>
          <a:p>
            <a:r>
              <a:t>CONTROL PLANE: Validate templates, create change sets, inspect replacements, execute with a service role and capture stack events.</a:t>
            </a:r>
          </a:p>
          <a:p>
            <a:r>
              <a:t>AWS SERVICES: CloudFormation · Change Sets · CloudTrail</a:t>
            </a:r>
          </a:p>
          <a:p>
            <a:r>
              <a:t>EVIDENCE BOUNDARY: Template digest, parameters, change-set diff, execution role and stack event timeline.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Reusable infrastructure components: architecture map.</a:t>
            </a:r>
          </a:p>
          <a:p>
            <a:r>
              <a:t>TRIGGER / INPUT: Define interface</a:t>
            </a:r>
          </a:p>
          <a:p>
            <a:r>
              <a:t>CONTROL PLANE: Define stable interfaces, semantic versions, ownership, safe defaults and deprecation paths for components.</a:t>
            </a:r>
          </a:p>
          <a:p>
            <a:r>
              <a:t>AWS SERVICES: Nested stacks · Modules · CDK constructs · Service Catalog</a:t>
            </a:r>
          </a:p>
          <a:p>
            <a:r>
              <a:t>EVIDENCE BOUNDARY: Component version, input contract, output contract, policy checks and consuming stacks.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Parameters, mappings and dynamic references: architecture map.</a:t>
            </a:r>
          </a:p>
          <a:p>
            <a:r>
              <a:t>TRIGGER / INPUT: Declare input</a:t>
            </a:r>
          </a:p>
          <a:p>
            <a:r>
              <a:t>CONTROL PLANE: Use parameters for deployment choices, mappings for curated constants and dynamic references for secret values.</a:t>
            </a:r>
          </a:p>
          <a:p>
            <a:r>
              <a:t>AWS SERVICES: CloudFormation · Parameter Store · Secrets Manager</a:t>
            </a:r>
          </a:p>
          <a:p>
            <a:r>
              <a:t>EVIDENCE BOUNDARY: Parameter type, allowed values, secret ARN/version, access policy and redacted execution logs.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Drift, change control and rollback: architecture map.</a:t>
            </a:r>
          </a:p>
          <a:p>
            <a:r>
              <a:t>TRIGGER / INPUT: Detect drift</a:t>
            </a:r>
          </a:p>
          <a:p>
            <a:r>
              <a:t>CONTROL PLANE: Schedule drift detection, triage intent, import legitimate changes into code or remediate unauthorized variance.</a:t>
            </a:r>
          </a:p>
          <a:p>
            <a:r>
              <a:t>AWS SERVICES: CloudFormation Drift · Config · Change Sets</a:t>
            </a:r>
          </a:p>
          <a:p>
            <a:r>
              <a:t>EVIDENCE BOUNDARY: Drift result, actor from CloudTrail, approved exception, change set and post-remediation state.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StackSets and account vending: architecture map.</a:t>
            </a:r>
          </a:p>
          <a:p>
            <a:r>
              <a:t>TRIGGER / INPUT: Create account</a:t>
            </a:r>
          </a:p>
          <a:p>
            <a:r>
              <a:t>CONTROL PLANE: Use organizational units, delegated administration, automatic deployment and controlled failure tolerance.</a:t>
            </a:r>
          </a:p>
          <a:p>
            <a:r>
              <a:t>AWS SERVICES: Organizations · StackSets · Control Tower · Account Factory</a:t>
            </a:r>
          </a:p>
          <a:p>
            <a:r>
              <a:t>EVIDENCE BOUNDARY: OU target, permission model, operation preferences, per-account status and drift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Systems Manager fleet automation: architecture map.</a:t>
            </a:r>
          </a:p>
          <a:p>
            <a:r>
              <a:t>TRIGGER / INPUT: Select by tag</a:t>
            </a:r>
          </a:p>
          <a:p>
            <a:r>
              <a:t>CONTROL PLANE: Use tags, documents, maintenance windows, rate controls, concurrency limits and command output encryption.</a:t>
            </a:r>
          </a:p>
          <a:p>
            <a:r>
              <a:t>AWS SERVICES: Systems Manager · Run Command · Automation · Patch Manager</a:t>
            </a:r>
          </a:p>
          <a:p>
            <a:r>
              <a:t>EVIDENCE BOUNDARY: Target query, document version, invocation output, compliance result and exception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CDK, SAM and workflow orchestration: architecture map.</a:t>
            </a:r>
          </a:p>
          <a:p>
            <a:r>
              <a:t>TRIGGER / INPUT: Model</a:t>
            </a:r>
          </a:p>
          <a:p>
            <a:r>
              <a:t>CONTROL PLANE: Synthesize templates, test constructs, separate build-time from runtime configuration, and orchestrate retries explicitly.</a:t>
            </a:r>
          </a:p>
          <a:p>
            <a:r>
              <a:t>AWS SERVICES: CDK · SAM · Step Functions · AppConfig</a:t>
            </a:r>
          </a:p>
          <a:p>
            <a:r>
              <a:t>EVIDENCE BOUNDARY: Synthesized template, assertions, state-machine history, configuration version and deployment strategy.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6 overview — Author, validate and deploy a reusable VPC network baseline with CloudFormation and publish cross-stack exports (LO2, K3, A3).</a:t>
            </a:r>
          </a:p>
          <a:p>
            <a:r>
              <a:t>Concept-led briefing only. The full detailed procedure, commands, expected outputs, validation and cleanup live in the Learner Guide and the lab README (not on the slides).</a:t>
            </a:r>
          </a:p>
          <a:p>
            <a:r>
              <a:t>Reference architecture: course-generated diagram for Lab 6.</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7 overview — Deploy a parameterized application stack that consumes cross-stack exports and reuse it for dev and test via parameter files (LO2, K3, A3).</a:t>
            </a:r>
          </a:p>
          <a:p>
            <a:r>
              <a:t>Concept-led briefing only. The full detailed procedure, commands, expected outputs, validation and cleanup live in the Learner Guide and the lab README (not on the slides).</a:t>
            </a:r>
          </a:p>
          <a:p>
            <a:r>
              <a:t>Reference architecture: course-generated diagram for Lab 7.</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8 overview — Preview a stack modification safely with a change set before executing, then detect out-of-band drift and reconcile it (LO2, K3, A3).</a:t>
            </a:r>
          </a:p>
          <a:p>
            <a:r>
              <a:t>Concept-led briefing only. The full detailed procedure, commands, expected outputs, validation and cleanup live in the Learner Guide and the lab README (not on the slides).</a:t>
            </a:r>
          </a:p>
          <a:p>
            <a:r>
              <a:t>Reference architecture: course-generated diagram for Lab 8.</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9 overview — Externalize application configuration into SSM Parameter Store (String and SecureString), read it at runtime, and compare Parameter Store with Secrets Manager (LO2, K3, A3).</a:t>
            </a:r>
          </a:p>
          <a:p>
            <a:r>
              <a:t>Concept-led briefing only. The full detailed procedure, commands, expected outputs, validation and cleanup live in the Learner Guide and the lab README (not on the slides).</a:t>
            </a:r>
          </a:p>
          <a:p>
            <a:r>
              <a:t>Reference architecture: course-generated diagram for Lab 9.</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10 overview — Design and deploy a multi-account, multi-Region guardrail using CloudFormation StackSets with AWS Organizations service-managed permissions, and express a preventive guardrail as an SCP (LO2, K3, A3).</a:t>
            </a:r>
          </a:p>
          <a:p>
            <a:r>
              <a:t>Concept-led briefing only. The full detailed procedure, commands, expected outputs, validation and cleanup live in the Learner Guide and the lab README (not on the slides).</a:t>
            </a:r>
          </a:p>
          <a:p>
            <a:r>
              <a:t>Reference architecture: course-generated diagram for Lab 10.</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Domain 02 — Configuration Management and IaC.</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concepts for Domain 03 — Resilient Cloud Solutions.</a:t>
            </a:r>
          </a:p>
          <a:p>
            <a:r>
              <a:t>High availability: Spread compute across multiple Availability Zones behind an Elastic Load Balancer so one AZ failure is survivable.</a:t>
            </a:r>
          </a:p>
          <a:p>
            <a:r>
              <a:t>Elasticity &amp; Auto Scaling: Auto Scaling groups add and remove capacity on demand using target-tracking and step scaling policies.</a:t>
            </a:r>
          </a:p>
          <a:p>
            <a:r>
              <a:t>Decoupling: SQS, SNS and EventBridge decouple producers from consumers so components fail and scale independently.</a:t>
            </a:r>
          </a:p>
          <a:p>
            <a:r>
              <a:t>RTO &amp; RPO: Recovery Time / Point Objectives drive the DR pattern: backup &amp; restore, pilot light, warm standby or multi-site active/active.</a:t>
            </a:r>
          </a:p>
          <a:p>
            <a:r>
              <a:t>Data durability: Multi-AZ RDS, DynamoDB global tables, S3 cross-Region replication and automated snapshots protect state.</a:t>
            </a:r>
          </a:p>
          <a:p>
            <a:r>
              <a:t>Automated recovery: EC2 auto-recovery, ASG health checks and Route 53 health-check failover restore service without human action.</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 Patterns — Approximate Recovery Time (RTO). What the data shows: As you move from backup/restore to active/active, RTO falls from hours to near-zero — at rising cost.</a:t>
            </a:r>
          </a:p>
          <a:p>
            <a:r>
              <a:t>Figures are illustrative teaching values to convey the relationship, not measured benchmarks.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03 deep dive — Resilient Cloud Solutions. Editable AWS-native diagram/table/chart.</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03 deep dive — Resilient Cloud Solutions. Editable AWS-native diagram/table/chart.</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03 deep dive — Resilient Cloud Solutions. Editable AWS-native diagram/table/chart.</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03 deep dive — Resilient Cloud Solutions. Editable AWS-native diagram/table/chart.</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03 deep dive — Resilient Cloud Solutions. Editable AWS-native diagram/table/chart.</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03 deep dive — Resilient Cloud Solutions. Editable AWS-native diagram/table/chart.</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 availability across Availability Zones.</a:t>
            </a:r>
          </a:p>
          <a:p>
            <a:r>
              <a:t>Why it matters: Multi-AZ is the cheapest, highest-leverage resilience decision — most real outages are single-AZ or single-instance, both survivable.</a:t>
            </a:r>
          </a:p>
          <a:p>
            <a:r>
              <a:t>Failure mode: A single-AZ deployment, or a stateful session pinned to one instance, turns a routine hardware failure into a customer-visible outage.</a:t>
            </a:r>
          </a:p>
          <a:p>
            <a:r>
              <a:t>Trade-off: Cross-AZ traffic incurs latency and data-transfer cost — a fair price for surviving an AZ loss.</a:t>
            </a:r>
          </a:p>
          <a:p/>
          <a:p>
            <a:r>
              <a:t>[Sources]</a:t>
            </a:r>
          </a:p>
          <a:p>
            <a:r>
              <a:t>- AWS Certified DevOps Engineer – Professional (DOP-C02) Exam Guide (docs.aws.amazon.com/pdfs/aws-certification/latest/devops-engineer-professional-02).</a:t>
            </a:r>
          </a:p>
          <a:p>
            <a:r>
              <a:t>- AWS Well-Architected Framework (docs.aws.amazon.com/wellarchitected).</a:t>
            </a:r>
          </a:p>
          <a:p>
            <a:r>
              <a:t>- AWS Regions and AZs Documentation (docs.aws.amazon.com/AWSEC2/latest/UserGuide/using-regions-availability-zones.html).</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Elasticity and Auto Scaling.</a:t>
            </a:r>
          </a:p>
          <a:p>
            <a:r>
              <a:t>Why it matters: Elasticity matches cost to demand and provides self-healing — a terminated instance is silently replaced.</a:t>
            </a:r>
          </a:p>
          <a:p>
            <a:r>
              <a:t>Failure mode: Scaling on the wrong metric (CPU for an I/O-bound app) leaves you slow under load and over-provisioned when idle.</a:t>
            </a:r>
          </a:p>
          <a:p>
            <a:r>
              <a:t>Trade-off: Aggressive scaling reacts fast but can thrash — tune cooldowns and warm-up so the group settles.</a:t>
            </a:r>
          </a:p>
          <a:p/>
          <a:p>
            <a:r>
              <a:t>[Sources]</a:t>
            </a:r>
          </a:p>
          <a:p>
            <a:r>
              <a:t>- AWS EC2 Auto Scaling Documentation (docs.aws.amazon.com/autoscaling).</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 balancer types and when to use them.</a:t>
            </a:r>
          </a:p>
          <a:p>
            <a:r>
              <a:t>Why it matters: Choosing the right layer-7 or layer-4 balancer shapes routing, TLS termination, latency and cost.</a:t>
            </a:r>
          </a:p>
          <a:p>
            <a:r>
              <a:t>Failure mode: Forcing an L7 ALB where you need raw TCP throughput or a static IP adds latency and misses the requirement.</a:t>
            </a:r>
          </a:p>
          <a:p>
            <a:r>
              <a:t>Trade-off: ALB gives rich routing at higher per-request processing; NLB gives raw speed with fewer features.</a:t>
            </a:r>
          </a:p>
          <a:p/>
          <a:p>
            <a:r>
              <a:t>[Sources]</a:t>
            </a:r>
          </a:p>
          <a:p>
            <a:r>
              <a:t>- AWS Elastic Load Balancing Documentation (docs.aws.amazon.com/elasticloadbalancing).</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Decoupling with queues, topics and events.</a:t>
            </a:r>
          </a:p>
          <a:p>
            <a:r>
              <a:t>Why it matters: Loose coupling converts synchronous, cascading failures into asynchronous backlogs the system can recover from.</a:t>
            </a:r>
          </a:p>
          <a:p>
            <a:r>
              <a:t>Failure mode: A synchronous call chain means one slow downstream service ties up threads and cascades into a full outage.</a:t>
            </a:r>
          </a:p>
          <a:p>
            <a:r>
              <a:t>Trade-off: Asynchronous designs add eventual-consistency and idempotency concerns — consumers must handle duplicates and out-of-order delivery.</a:t>
            </a:r>
          </a:p>
          <a:p/>
          <a:p>
            <a:r>
              <a:t>[Sources]</a:t>
            </a:r>
          </a:p>
          <a:p>
            <a:r>
              <a:t>- AWS SQS Documentation (docs.aws.amazon.com/AWSSimpleQueueService).</a:t>
            </a:r>
          </a:p>
          <a:p>
            <a:r>
              <a:t>- AWS EventBridge Documentation (docs.aws.amazon.com/eventbridge).</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RTO and RPO drive the DR pattern.</a:t>
            </a:r>
          </a:p>
          <a:p>
            <a:r>
              <a:t>Why it matters: Naming RTO/RPO turns 'make it resilient' into a concrete, testable and budgetable design target.</a:t>
            </a:r>
          </a:p>
          <a:p>
            <a:r>
              <a:t>Failure mode: Buying active/active for a back-office app wastes money; choosing backup-and-restore for a payment system risks the business.</a:t>
            </a:r>
          </a:p>
          <a:p>
            <a:r>
              <a:t>Trade-off: Lower RTO/RPO means more running (and paid-for) standby capacity — match spend to the revenue at risk.</a:t>
            </a:r>
          </a:p>
          <a:p/>
          <a:p>
            <a:r>
              <a:t>[Sources]</a:t>
            </a:r>
          </a:p>
          <a:p>
            <a:r>
              <a:t>- AWS Disaster Recovery Documentation (docs.aws.amazon.com/whitepapers/latest/disaster-recovery-workloads-on-aws).</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durability and multi-Region protection.</a:t>
            </a:r>
          </a:p>
          <a:p>
            <a:r>
              <a:t>Why it matters: Compute is replaceable; data is not — durable, recoverable state is the foundation everything else rebuilds on.</a:t>
            </a:r>
          </a:p>
          <a:p>
            <a:r>
              <a:t>Failure mode: A single-AZ database or un-tested backups mean the app tier can be perfectly redundant yet still lose the business's data.</a:t>
            </a:r>
          </a:p>
          <a:p>
            <a:r>
              <a:t>Trade-off: Synchronous replication protects data but adds write latency; cross-Region copies add cost and lag.</a:t>
            </a:r>
          </a:p>
          <a:p/>
          <a:p>
            <a:r>
              <a:t>[Sources]</a:t>
            </a:r>
          </a:p>
          <a:p>
            <a:r>
              <a:t>- AWS RDS Multi-AZ Documentation (docs.aws.amazon.com/AmazonRDS/latest/UserGuide/Concepts.MultiAZ.html).</a:t>
            </a:r>
          </a:p>
          <a:p>
            <a:r>
              <a:t>- AWS DynamoDB global tables Documentation (docs.aws.amazon.com/amazondynamodb/latest/developerguide/GlobalTables.html).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recovery and self-healing.</a:t>
            </a:r>
          </a:p>
          <a:p>
            <a:r>
              <a:t>Why it matters: Automating recovery shrinks MTTR toward zero for the common failures and frees humans for the novel ones.</a:t>
            </a:r>
          </a:p>
          <a:p>
            <a:r>
              <a:t>Failure mode: Manual failover runbooks that are never rehearsed fail exactly when you need them, under incident pressure.</a:t>
            </a:r>
          </a:p>
          <a:p>
            <a:r>
              <a:t>Trade-off: Automated failover must guard against flapping and split-brain — tune thresholds and use health checks carefully.</a:t>
            </a:r>
          </a:p>
          <a:p/>
          <a:p>
            <a:r>
              <a:t>[Sources]</a:t>
            </a:r>
          </a:p>
          <a:p>
            <a:r>
              <a:t>- AWS Route 53 health checks Documentation (docs.aws.amazon.com/Route53/latest/DeveloperGuide/dns-failover.html).</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Designing for graceful degradation.</a:t>
            </a:r>
          </a:p>
          <a:p>
            <a:r>
              <a:t>Why it matters: Graceful degradation keeps the most important user journeys working even when parts of the system are unhealthy.</a:t>
            </a:r>
          </a:p>
          <a:p>
            <a:r>
              <a:t>Failure mode: Unbounded retries during an incident create a retry storm that turns a brownout into a full outage.</a:t>
            </a:r>
          </a:p>
          <a:p>
            <a:r>
              <a:t>Trade-off: Serving degraded responses reduces functionality temporarily to preserve availability — usually the right call.</a:t>
            </a:r>
          </a:p>
          <a:p/>
          <a:p>
            <a:r>
              <a:t>[Sources]</a:t>
            </a:r>
          </a:p>
          <a:p>
            <a:r>
              <a:t>- AWS Well-Architected Framework (docs.aws.amazon.com/wellarchitected).</a:t>
            </a:r>
          </a:p>
          <a:p>
            <a:r>
              <a:t>- AWS Builders' Library Documentation (docs.aws.amazon.com/builders-library).</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 Disaster Recovery Patterns — Cost vs Recovery.</a:t>
            </a:r>
          </a:p>
          <a:p/>
          <a:p>
            <a:r>
              <a:t>[Sources]</a:t>
            </a:r>
          </a:p>
          <a:p>
            <a:r>
              <a:t>- AWS Disaster Recovery Documentation (docs.aws.amazon.com/whitepapers/latest/disaster-recovery-workloads-on-aws).</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Availability Math — Adding a Second AZ. What the data shows: Most availability gain comes from the first jump to multi-AZ; multi-Region adds resilience against rare Region events at much higher cost.</a:t>
            </a:r>
          </a:p>
          <a:p>
            <a:r>
              <a:t>Figures are illustrative teaching values to convey the relationship, not measured benchmarks.</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 Scaling Under a Load Spike. What the data shows: Target tracking follows demand up and back down, so capacity tracks load — you pay for peak only while the peak lasts.</a:t>
            </a:r>
          </a:p>
          <a:p>
            <a:r>
              <a:t>Figures are illustrative teaching values to convey the relationship, not measured benchmarks.</a:t>
            </a:r>
          </a:p>
          <a:p/>
          <a:p>
            <a:r>
              <a:t>[Sources]</a:t>
            </a:r>
          </a:p>
          <a:p>
            <a:r>
              <a:t>- AWS EC2 Auto Scaling Documentation (docs.aws.amazon.com/autoscaling).</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Resilience Failure Modes &amp; Anti-Patterns.</a:t>
            </a:r>
          </a:p>
          <a:p>
            <a:r>
              <a:t>Single-AZ database — App tier redundant, data tier isn't → Multi-AZ RDS / global tables.</a:t>
            </a:r>
          </a:p>
          <a:p>
            <a:r>
              <a:t>Sticky in-memory sessions — One instance loss logs everyone out → externalise session state.</a:t>
            </a:r>
          </a:p>
          <a:p>
            <a:r>
              <a:t>Retry storms — Unbounded retries amplify an outage → backoff + jitter + circuit breakers.</a:t>
            </a:r>
          </a:p>
          <a:p>
            <a:r>
              <a:t>Untested failover — Runbook fails under pressure → game-days and automated failover.</a:t>
            </a:r>
          </a:p>
          <a:p>
            <a:r>
              <a:t>Scaling on wrong metric — Slow under load, wasteful when idle → scale on the true constraint.</a:t>
            </a:r>
          </a:p>
          <a:p>
            <a:r>
              <a:t>No health-check depth — LB routes to a process that's up but broken → deep health checks.</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Resilience Patterns Worth Adopting.</a:t>
            </a:r>
          </a:p>
          <a:p>
            <a:r>
              <a:t>Multi-AZ by default — Never depend on a single Availability Zone.</a:t>
            </a:r>
          </a:p>
          <a:p>
            <a:r>
              <a:t>Stateless tiers — Push state to RDS/DynamoDB/ElastiCache so any instance is disposable.</a:t>
            </a:r>
          </a:p>
          <a:p>
            <a:r>
              <a:t>Backoff with jitter — Spread retries to avoid synchronised load.</a:t>
            </a:r>
          </a:p>
          <a:p>
            <a:r>
              <a:t>Circuit breaker — Stop calling a failing dependency; fail fast and recover.</a:t>
            </a:r>
          </a:p>
          <a:p>
            <a:r>
              <a:t>Health-check failover — Route 53 / ELB route around unhealthy targets.</a:t>
            </a:r>
          </a:p>
          <a:p>
            <a:r>
              <a:t>Game-days — Rehearse failure so recovery is routine, not heroic.</a:t>
            </a:r>
          </a:p>
          <a:p/>
          <a:p>
            <a:r>
              <a:t>[Sources]</a:t>
            </a:r>
          </a:p>
          <a:p>
            <a:r>
              <a:t>- AWS Well-Architected Framework (docs.aws.amazon.com/wellarchitected).</a:t>
            </a:r>
          </a:p>
          <a:p>
            <a:r>
              <a:t>- AWS Builders' Library Documentation (docs.aws.amazon.com/builders-library).</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Decision — Which DR Pattern?.</a:t>
            </a:r>
          </a:p>
          <a:p>
            <a:r>
              <a:t>Option A — Backup &amp; Restore: Non-critical or easily rebuilt workloads. Cheapest — but recovery takes hours and loses recent data.</a:t>
            </a:r>
          </a:p>
          <a:p>
            <a:r>
              <a:t>Option B — Pilot Light / Warm Standby: Important workloads needing minutes-scale recovery. A scaled-down copy runs ready to promote — moderate standing cost.</a:t>
            </a:r>
          </a:p>
          <a:p>
            <a:r>
              <a:t>Option C — Multi-site Active/Active: Revenue-critical systems that can't be down. Near-zero RTO/RPO — at roughly double the running cost and real complexity.</a:t>
            </a:r>
          </a:p>
          <a:p/>
          <a:p>
            <a:r>
              <a:t>[Sources]</a:t>
            </a:r>
          </a:p>
          <a:p>
            <a:r>
              <a:t>- AWS Disaster Recovery Documentation (docs.aws.amazon.com/whitepapers/latest/disaster-recovery-workloads-on-aws).</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An AZ becomes impaired. Half the fleet is there, and the primary database node runs in it.</a:t>
            </a:r>
          </a:p>
          <a:p>
            <a:r>
              <a:t>Because compute is stateless behind an ALB across two AZs, the load balancer simply stops routing to the failed AZ.</a:t>
            </a:r>
          </a:p>
          <a:p>
            <a:r>
              <a:t>The Auto Scaling group launches replacement instances in the healthy AZ to restore capacity.</a:t>
            </a:r>
          </a:p>
          <a:p>
            <a:r>
              <a:t>Multi-AZ RDS fails over to the synchronous standby in the other AZ automatically.</a:t>
            </a:r>
          </a:p>
          <a:p>
            <a:r>
              <a:t>Decision: No human action is required for the common case — the design absorbs an AZ loss. Confirm capacity headroom so the healthy AZ can carry full load during the event.</a:t>
            </a:r>
          </a:p>
          <a:p/>
          <a:p>
            <a:r>
              <a:t>[Sources]</a:t>
            </a:r>
          </a:p>
          <a:p>
            <a:r>
              <a:t>- AWS Well-Architected Framework (docs.aws.amazon.com/wellarchitected).</a:t>
            </a:r>
          </a:p>
          <a:p>
            <a:r>
              <a:t>- AWS RDS Multi-AZ Documentation (docs.aws.amazon.com/AmazonRDS/latest/UserGuide/Concepts.MultiAZ.html).</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Traffic will rise 6x for a few hours during a sale, then return to normal.</a:t>
            </a:r>
          </a:p>
          <a:p>
            <a:r>
              <a:t>Fixed capacity sized for the peak wastes money the other 360 days; sized for normal, it falls over during the sale.</a:t>
            </a:r>
          </a:p>
          <a:p>
            <a:r>
              <a:t>Scheduled scaling pre-warms capacity just before the known event; target tracking then follows real demand.</a:t>
            </a:r>
          </a:p>
          <a:p>
            <a:r>
              <a:t>Decoupling checkout with SQS lets bursts queue instead of failing when a downstream service saturates.</a:t>
            </a:r>
          </a:p>
          <a:p>
            <a:r>
              <a:t>Decision: Combine scheduled pre-scaling for the known start time with target-tracking for the actual curve, and buffer spiky writes through a queue so load is absorbed as backlog.</a:t>
            </a:r>
          </a:p>
          <a:p/>
          <a:p>
            <a:r>
              <a:t>[Sources]</a:t>
            </a:r>
          </a:p>
          <a:p>
            <a:r>
              <a:t>- AWS EC2 Auto Scaling Documentation (docs.aws.amazon.com/autoscaling).</a:t>
            </a:r>
          </a:p>
          <a:p>
            <a:r>
              <a:t>- AWS SQS Documentation (docs.aws.amazon.com/AWSSimpleQueueService).</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Analysis — Reading an RTO/RPO Requirement.</a:t>
            </a:r>
          </a:p>
          <a:p>
            <a:r>
              <a:t>'Restore within 15 minutes' (RTO) — Rules out backup &amp; restore (hours). Warm standby or pilot light needed.</a:t>
            </a:r>
          </a:p>
          <a:p>
            <a:r>
              <a:t>'Lose at most a few seconds' (RPO) — Requires synchronous or near-real-time replication — Multi-AZ RDS or global tables.</a:t>
            </a:r>
          </a:p>
          <a:p>
            <a:r>
              <a:t>'Survive a Region event' — Forces a cross-Region strategy, not just multi-AZ.</a:t>
            </a:r>
          </a:p>
          <a:p>
            <a:r>
              <a:t>Budget is limited — Pilot light: minimal always-on footprint, scaled up on failover — a pragmatic middle.</a:t>
            </a:r>
          </a:p>
          <a:p>
            <a:r>
              <a:t>Takeaway: Each phrase in the requirement eliminates patterns until one fits — resilience design is requirement-driven, not taste-driven.</a:t>
            </a:r>
          </a:p>
          <a:p/>
          <a:p>
            <a:r>
              <a:t>[Sources]</a:t>
            </a:r>
          </a:p>
          <a:p>
            <a:r>
              <a:t>- AWS Disaster Recovery Documentation (docs.aws.amazon.com/whitepapers/latest/disaster-recovery-workloads-on-aws).</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Compute and elasticity.</a:t>
            </a:r>
          </a:p>
          <a:p>
            <a:r>
              <a:t>PURPOSE: Match execution model and scaling behaviour to availability, latency, control and operational-effort requirements.</a:t>
            </a:r>
          </a:p>
          <a:p>
            <a:r>
              <a:t>FEATURE 1: EC2 exposes instance families, purchase models, launch templates and full operating-system control.</a:t>
            </a:r>
          </a:p>
          <a:p>
            <a:r>
              <a:t>FEATURE 2: Auto Scaling replaces unhealthy capacity and changes desired capacity from metrics or schedules.</a:t>
            </a:r>
          </a:p>
          <a:p>
            <a:r>
              <a:t>FEATURE 3: ALB routes HTTP by host/path; NLB provides high-performance Layer 4 routing and static IP options.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 and elasticity: selection and controls.</a:t>
            </a:r>
          </a:p>
          <a:p>
            <a:r>
              <a:t>CHOOSE WHEN: Use EC2 for host-level control, Lambda for event-driven short execution, and Fargate when containers are wanted without host management.</a:t>
            </a:r>
          </a:p>
          <a:p>
            <a:r>
              <a:t>DEVOPS ENGINEERING: Spread across AZs, use health checks and warm-up, scale on a demand-correlated signal and test replacement capacity.</a:t>
            </a:r>
          </a:p>
          <a:p>
            <a:r>
              <a:t>FAILURE MODE: CPU-only scaling can miss queue depth, concurrency, connection or downstream bottlenecks.</a:t>
            </a:r>
          </a:p>
          <a:p>
            <a:r>
              <a:t>EVIDENCE: Launch-template version, healthy-host count, scaling activity, target latency, saturation and replacement test.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Storage services.</a:t>
            </a:r>
          </a:p>
          <a:p>
            <a:r>
              <a:t>PURPOSE: Select durable object, block or shared-file storage with lifecycle and recovery controls matched to the workload.</a:t>
            </a:r>
          </a:p>
          <a:p>
            <a:r>
              <a:t>FEATURE 1: S3 provides regional object durability, versioning, lifecycle tiers, replication and event notifications.</a:t>
            </a:r>
          </a:p>
          <a:p>
            <a:r>
              <a:t>FEATURE 2: EBS is AZ-scoped block storage with volume types, snapshots and encryption.</a:t>
            </a:r>
          </a:p>
          <a:p>
            <a:r>
              <a:t>FEATURE 3: EFS is elastic regional NFS; FSx supplies managed file systems such as Windows, Lustre, NetApp ONTAP and OpenZFS.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services: selection and controls.</a:t>
            </a:r>
          </a:p>
          <a:p>
            <a:r>
              <a:t>CHOOSE WHEN: Choose from access protocol, latency/throughput, sharing scope, AZ/Region boundary, retention and recovery objectives.</a:t>
            </a:r>
          </a:p>
          <a:p>
            <a:r>
              <a:t>DEVOPS ENGINEERING: Encrypt, version, block public access, automate backup/copy, test restore and separate backup administration.</a:t>
            </a:r>
          </a:p>
          <a:p>
            <a:r>
              <a:t>FAILURE MODE: Replication improves availability but can replicate corruption or deletion; it is not automatically a backup.</a:t>
            </a:r>
          </a:p>
          <a:p>
            <a:r>
              <a:t>EVIDENCE: Storage class/volume type, encryption key, version/snapshot, replication status, restore test and recovery age.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Databases and data durability.</a:t>
            </a:r>
          </a:p>
          <a:p>
            <a:r>
              <a:t>PURPOSE: Provide transactional or key-value persistence with availability, scaling and recovery appropriate to data access patterns.</a:t>
            </a:r>
          </a:p>
          <a:p>
            <a:r>
              <a:t>FEATURE 1: RDS Multi-AZ provides synchronous standby/failover; read replicas primarily scale reads.</a:t>
            </a:r>
          </a:p>
          <a:p>
            <a:r>
              <a:t>FEATURE 2: Aurora separates compute/storage, supports reader endpoints and Global Database options.</a:t>
            </a:r>
          </a:p>
          <a:p>
            <a:r>
              <a:t>FEATURE 3: DynamoDB offers partitioned key-value/document storage, on-demand/provisioned capacity, PITR, Streams and global tables.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Databases and data durability: selection and controls.</a:t>
            </a:r>
          </a:p>
          <a:p>
            <a:r>
              <a:t>CHOOSE WHEN: Choose relational services for joins/transactions and DynamoDB for known key-access patterns at elastic scale; cache only where stale-data semantics are acceptable.</a:t>
            </a:r>
          </a:p>
          <a:p>
            <a:r>
              <a:t>DEVOPS ENGINEERING: Enable backups/PITR, test failover/restore, monitor connections/lag/throttling and version schema changes.</a:t>
            </a:r>
          </a:p>
          <a:p>
            <a:r>
              <a:t>FAILURE MODE: Confusing a read replica with a synchronous standby can produce an incorrect recovery design.</a:t>
            </a:r>
          </a:p>
          <a:p>
            <a:r>
              <a:t>EVIDENCE: Backup/PITR state, replication lag, failover time, throttles, query latency and restore validation.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Networking and global delivery.</a:t>
            </a:r>
          </a:p>
          <a:p>
            <a:r>
              <a:t>PURPOSE: Create isolated network boundaries, predictable routing and resilient regional/global traffic paths.</a:t>
            </a:r>
          </a:p>
          <a:p>
            <a:r>
              <a:t>FEATURE 1: VPC subnets are AZ-scoped; route tables, gateways, security groups and NACLs shape connectivity.</a:t>
            </a:r>
          </a:p>
          <a:p>
            <a:r>
              <a:t>FEATURE 2: Transit Gateway provides hub-and-spoke routing across VPCs and on-premises connections.</a:t>
            </a:r>
          </a:p>
          <a:p>
            <a:r>
              <a:t>FEATURE 3: Route 53 uses DNS policies/health checks; CloudFront caches HTTP content; Global Accelerator uses anycast static IPs over the AWS network.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Networking and global delivery: selection and controls.</a:t>
            </a:r>
          </a:p>
          <a:p>
            <a:r>
              <a:t>CHOOSE WHEN: Choose DNS routing for endpoint selection, CloudFront for cacheable edge delivery and Global Accelerator for fast failover/static global entry points.</a:t>
            </a:r>
          </a:p>
          <a:p>
            <a:r>
              <a:t>DEVOPS ENGINEERING: Design CIDRs and routes centrally, use private endpoints where appropriate, test health-check perspective and log network decisions.</a:t>
            </a:r>
          </a:p>
          <a:p>
            <a:r>
              <a:t>FAILURE MODE: A healthy load balancer check may not prove dependencies, data freshness or the user transaction is healthy.</a:t>
            </a:r>
          </a:p>
          <a:p>
            <a:r>
              <a:t>EVIDENCE: Route table, security-group diff, flow log, endpoint policy, DNS answer, edge metric and failover measurement.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EC2, Auto Scaling and Elastic Load Balancing.</a:t>
            </a:r>
          </a:p>
          <a:p>
            <a:r>
              <a:t>PURPOSE: Build replaceable compute fleets whose capacity, routing and health behavior reflect the actual workload bottleneck.</a:t>
            </a:r>
          </a:p>
          <a:p>
            <a:r>
              <a:t>SERVICE BOUNDARY: EC2 · launch templates · Auto Scaling · ALB/NLB/GWLB</a:t>
            </a:r>
          </a:p>
          <a:p>
            <a:r>
              <a:t>PRIMARY DESIGN DECISION: Scale from backlog per instance, cap maximum capacity from database throughput, warm instances before service and test Spot interruption handling.</a:t>
            </a:r>
          </a:p>
          <a:p>
            <a:r>
              <a:t>FAILURE BOUNDARY: CPU target tracking never reacts to the true bottleneck; immediate termination can abandon in-flight messages.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EC2, Auto Scaling and Elastic Load Balancing: how it works.</a:t>
            </a:r>
          </a:p>
          <a:p>
            <a:r>
              <a:t>MECHANIC 1: Launch templates version AMI, instance type, IAM profile, network and user data; Auto Scaling groups should reference a controlled version rather than an accidental latest value.</a:t>
            </a:r>
          </a:p>
          <a:p>
            <a:r>
              <a:t>MECHANIC 2: Target-tracking, step, predictive and scheduled scaling solve different demand patterns and must account for warm-up and downstream capacity.</a:t>
            </a:r>
          </a:p>
          <a:p>
            <a:r>
              <a:t>MECHANIC 3: ALB routes HTTP/HTTPS using host, path and headers; NLB handles Layer 4 flows and static addresses; GWLB inserts compatible network appliances.</a:t>
            </a:r>
          </a:p>
          <a:p>
            <a:r>
              <a:t>MECHANIC 4: EC2, load-balancer and custom health checks serve different purposes; replacement should use the signal that best represents serviceability.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EC2, Auto Scaling and Elastic Load Balancing: operating flow.</a:t>
            </a:r>
          </a:p>
          <a:p>
            <a:r>
              <a:t>Publish immutable AMI</a:t>
            </a:r>
          </a:p>
          <a:p>
            <a:r>
              <a:t>Create launch-template version</a:t>
            </a:r>
          </a:p>
          <a:p>
            <a:r>
              <a:t>Start multi-AZ capacity</a:t>
            </a:r>
          </a:p>
          <a:p>
            <a:r>
              <a:t>Register healthy targets</a:t>
            </a:r>
          </a:p>
          <a:p>
            <a:r>
              <a:t>Scale from demand signal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EC2, Auto Scaling and Elastic Load Balancing: configuration decisions.</a:t>
            </a:r>
          </a:p>
          <a:p>
            <a:r>
              <a:t>PURCHASE: Combine On-Demand, Spot and commitments from interruption tolerance and baseline demand, not from unit price alone.</a:t>
            </a:r>
          </a:p>
          <a:p>
            <a:r>
              <a:t>SCALING METRIC: Use request count, queue depth or concurrency when CPU does not track the true saturation point.</a:t>
            </a:r>
          </a:p>
          <a:p>
            <a:r>
              <a:t>REFRESH: Use instance refresh with checkpoints and minimum healthy percentage for controlled fleet replacement.</a:t>
            </a:r>
          </a:p>
          <a:p>
            <a:r>
              <a:t>CONNECTION HANDLING: Set deregistration delay and application shutdown so in-flight work completes during replacement.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EC2, Auto Scaling and Elastic Load Balancing: worked architecture decision.</a:t>
            </a:r>
          </a:p>
          <a:p>
            <a:r>
              <a:t>SCENARIO: A queue worker fleet has low CPU but an increasing backlog and must recover without overwhelming the database.</a:t>
            </a:r>
          </a:p>
          <a:p>
            <a:r>
              <a:t>DESIGN DECISION: Scale from backlog per instance, cap maximum capacity from database throughput, warm instances before service and test Spot interruption handling.</a:t>
            </a:r>
          </a:p>
          <a:p>
            <a:r>
              <a:t>FAILURE TO AVOID: CPU target tracking never reacts to the true bottleneck; immediate termination can abandon in-flight messages.</a:t>
            </a:r>
          </a:p>
          <a:p>
            <a:r>
              <a:t>ACCEPTANCE EVIDENCE: Launch-template version, healthy targets, scaling activity, backlog age, database saturation and graceful termination evidence.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S3, EBS and shared file storage.</a:t>
            </a:r>
          </a:p>
          <a:p>
            <a:r>
              <a:t>PURPOSE: Choose object, block or file semantics from access pattern, failure boundary, performance and recovery requirements.</a:t>
            </a:r>
          </a:p>
          <a:p>
            <a:r>
              <a:t>SERVICE BOUNDARY: S3 · EBS · EFS · FSx · AWS Backup</a:t>
            </a:r>
          </a:p>
          <a:p>
            <a:r>
              <a:t>PRIMARY DESIGN DECISION: Use regional EFS with mount targets across application AZs, encrypted transit/storage and independent AWS Backup policy with restore testing.</a:t>
            </a:r>
          </a:p>
          <a:p>
            <a:r>
              <a:t>FAILURE BOUNDARY: An EBS volume cannot attach across AZs as shared NFS; replication alone may reproduce deletion or corruption.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 EBS and shared file storage: how it works.</a:t>
            </a:r>
          </a:p>
          <a:p>
            <a:r>
              <a:t>MECHANIC 1: S3 stores objects in regional buckets with versioning, lifecycle, replication, event notification and multiple storage classes; consistency does not remove application concurrency concerns.</a:t>
            </a:r>
          </a:p>
          <a:p>
            <a:r>
              <a:t>MECHANIC 2: EBS is AZ-scoped block storage; gp3 separates baseline size from provisioned IOPS/throughput, while io2 targets sustained high IOPS and durability requirements.</a:t>
            </a:r>
          </a:p>
          <a:p>
            <a:r>
              <a:t>MECHANIC 3: EFS provides regional NFS with mount targets and performance/throughput modes; access points isolate application paths and POSIX identities.</a:t>
            </a:r>
          </a:p>
          <a:p>
            <a:r>
              <a:t>MECHANIC 4: FSx families expose workload-specific file protocols and performance, while AWS Backup centralizes policy, vault and copy workflows across supported services.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 EBS and shared file storage: operating flow.</a:t>
            </a:r>
          </a:p>
          <a:p>
            <a:r>
              <a:t>Classify protocol and sharing</a:t>
            </a:r>
          </a:p>
          <a:p>
            <a:r>
              <a:t>Select performance tier</a:t>
            </a:r>
          </a:p>
          <a:p>
            <a:r>
              <a:t>Encrypt and version</a:t>
            </a:r>
          </a:p>
          <a:p>
            <a:r>
              <a:t>Automate lifecycle or backup</a:t>
            </a:r>
          </a:p>
          <a:p>
            <a:r>
              <a:t>Restore and measure RPO/RTO</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 EBS and shared file storage: configuration decisions.</a:t>
            </a:r>
          </a:p>
          <a:p>
            <a:r>
              <a:t>S3 PROTECTION: Enable Block Public Access, least-privilege bucket policy, versioning and Object Lock where retention requires immutability.</a:t>
            </a:r>
          </a:p>
          <a:p>
            <a:r>
              <a:t>EBS RECOVERY: Use application-consistent snapshots where necessary and copy/encrypt across account or Region for isolation.</a:t>
            </a:r>
          </a:p>
          <a:p>
            <a:r>
              <a:t>EFS DESIGN: Create mount targets in required AZs, secure NFS traffic and choose lifecycle policies from measured access.</a:t>
            </a:r>
          </a:p>
          <a:p>
            <a:r>
              <a:t>BACKUP: Separate backup administration and vault permissions so workload compromise cannot delete every recovery point.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 EBS and shared file storage: worked architecture decision.</a:t>
            </a:r>
          </a:p>
          <a:p>
            <a:r>
              <a:t>SCENARIO: A shared application volume must survive one AZ failure and retain recoverable versions against accidental deletion.</a:t>
            </a:r>
          </a:p>
          <a:p>
            <a:r>
              <a:t>DESIGN DECISION: Use regional EFS with mount targets across application AZs, encrypted transit/storage and independent AWS Backup policy with restore testing.</a:t>
            </a:r>
          </a:p>
          <a:p>
            <a:r>
              <a:t>FAILURE TO AVOID: An EBS volume cannot attach across AZs as shared NFS; replication alone may reproduce deletion or corruption.</a:t>
            </a:r>
          </a:p>
          <a:p>
            <a:r>
              <a:t>ACCEPTANCE EVIDENCE: Storage configuration, encryption key, version/snapshot, backup job, vault policy, restore checksum and recovery timing.</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RDS, Aurora and ElastiCache data tiers.</a:t>
            </a:r>
          </a:p>
          <a:p>
            <a:r>
              <a:t>PURPOSE: Provide transactional persistence and caching while distinguishing availability, read scaling, connection management and disaster recovery.</a:t>
            </a:r>
          </a:p>
          <a:p>
            <a:r>
              <a:t>SERVICE BOUNDARY: RDS · Aurora · RDS Proxy · ElastiCache</a:t>
            </a:r>
          </a:p>
          <a:p>
            <a:r>
              <a:t>PRIMARY DESIGN DECISION: Keep writes on the relational writer, add RDS Proxy for pooled connections, direct safe reads to replicas and cache only explicitly stale-tolerant data.</a:t>
            </a:r>
          </a:p>
          <a:p>
            <a:r>
              <a:t>FAILURE BOUNDARY: Caching transaction state or treating replica reads as immediately current creates correctness defects hidden by low latency.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RDS, Aurora and ElastiCache data tiers: how it works.</a:t>
            </a:r>
          </a:p>
          <a:p>
            <a:r>
              <a:t>MECHANIC 1: RDS Multi-AZ deployments provide synchronous standby behavior for availability; read replicas are asynchronous and primarily serve read scaling or DR patterns.</a:t>
            </a:r>
          </a:p>
          <a:p>
            <a:r>
              <a:t>MECHANIC 2: Aurora separates distributed storage from compute, exposes writer and reader endpoints and can add Global Database for cross-Region read and recovery designs.</a:t>
            </a:r>
          </a:p>
          <a:p>
            <a:r>
              <a:t>MECHANIC 3: RDS Proxy pools connections and can protect databases from serverless connection storms while integrating with IAM or Secrets Manager authentication.</a:t>
            </a:r>
          </a:p>
          <a:p>
            <a:r>
              <a:t>MECHANIC 4: ElastiCache for Redis/Valkey or Memcached changes latency and load but introduces eviction, expiry and stale-data semantics that the application must own.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RDS, Aurora and ElastiCache data tiers: operating flow.</a:t>
            </a:r>
          </a:p>
          <a:p>
            <a:r>
              <a:t>Model transaction and read pattern</a:t>
            </a:r>
          </a:p>
          <a:p>
            <a:r>
              <a:t>Select HA topology</a:t>
            </a:r>
          </a:p>
          <a:p>
            <a:r>
              <a:t>Control connections</a:t>
            </a:r>
          </a:p>
          <a:p>
            <a:r>
              <a:t>Add cache deliberately</a:t>
            </a:r>
          </a:p>
          <a:p>
            <a:r>
              <a:t>Back up, fail over and restore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RDS, Aurora and ElastiCache data tiers: configuration decisions.</a:t>
            </a:r>
          </a:p>
          <a:p>
            <a:r>
              <a:t>STANDBY VS REPLICA: Use Multi-AZ for service continuity and replicas for read capacity; do not claim a replica is synchronous unless the selected architecture provides it.</a:t>
            </a:r>
          </a:p>
          <a:p>
            <a:r>
              <a:t>CREDENTIALS: Store and rotate database secrets or use IAM authentication where supported; keep credentials out of application packages.</a:t>
            </a:r>
          </a:p>
          <a:p>
            <a:r>
              <a:t>CACHE POLICY: Choose cache-aside, write-through or other behavior with explicit TTL, invalidation and failure fallback.</a:t>
            </a:r>
          </a:p>
          <a:p>
            <a:r>
              <a:t>SCHEMA CHANGE: Use backward-compatible expansion and contraction so application and database versions can overlap during deployment.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RDS, Aurora and ElastiCache data tiers: worked architecture decision.</a:t>
            </a:r>
          </a:p>
          <a:p>
            <a:r>
              <a:t>SCENARIO: A Lambda workload causes connection spikes and read latency during release, but writes must remain strongly transactional.</a:t>
            </a:r>
          </a:p>
          <a:p>
            <a:r>
              <a:t>DESIGN DECISION: Keep writes on the relational writer, add RDS Proxy for pooled connections, direct safe reads to replicas and cache only explicitly stale-tolerant data.</a:t>
            </a:r>
          </a:p>
          <a:p>
            <a:r>
              <a:t>FAILURE TO AVOID: Caching transaction state or treating replica reads as immediately current creates correctness defects hidden by low latency.</a:t>
            </a:r>
          </a:p>
          <a:p>
            <a:r>
              <a:t>ACCEPTANCE EVIDENCE: Connection count, replica lag, failover event, cache hit/eviction, query latency, backup status and restore validation.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DynamoDB keys, capacity and change streams.</a:t>
            </a:r>
          </a:p>
          <a:p>
            <a:r>
              <a:t>PURPOSE: Design key-value workloads from access patterns, partition distribution and consistency requirements before writing application code.</a:t>
            </a:r>
          </a:p>
          <a:p>
            <a:r>
              <a:t>SERVICE BOUNDARY: DynamoDB · Streams · DAX · global tables</a:t>
            </a:r>
          </a:p>
          <a:p>
            <a:r>
              <a:t>PRIMARY DESIGN DECISION: Increase partition-key cardinality with a controlled shard suffix, retain tenant/time queryability through an index or aggregation path and add jittered retries.</a:t>
            </a:r>
          </a:p>
          <a:p>
            <a:r>
              <a:t>FAILURE BOUNDARY: Raising total capacity alone does not redistribute a single hot logical key; blind retries can amplify throttling.</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DynamoDB keys, capacity and change streams: how it works.</a:t>
            </a:r>
          </a:p>
          <a:p>
            <a:r>
              <a:t>MECHANIC 1: Partition and optional sort keys define item placement and query order; scans read broadly and are not a substitute for a missing access pattern.</a:t>
            </a:r>
          </a:p>
          <a:p>
            <a:r>
              <a:t>MECHANIC 2: Global secondary indexes add alternate partition/sort keys and their own capacity behavior; local secondary indexes share the base partition key and must be created with the table.</a:t>
            </a:r>
          </a:p>
          <a:p>
            <a:r>
              <a:t>MECHANIC 3: On-demand capacity absorbs variable traffic, while provisioned capacity and auto scaling fit predictable demand; both can throttle hot partitions.</a:t>
            </a:r>
          </a:p>
          <a:p>
            <a:r>
              <a:t>MECHANIC 4: Streams capture item-level changes for time-bounded processing; TTL expiration, transactions, conditional writes and global tables solve different lifecycle and concurrency problems.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DynamoDB keys, capacity and change streams: operating flow.</a:t>
            </a:r>
          </a:p>
          <a:p>
            <a:r>
              <a:t>List access patterns</a:t>
            </a:r>
          </a:p>
          <a:p>
            <a:r>
              <a:t>Choose high-cardinality key</a:t>
            </a:r>
          </a:p>
          <a:p>
            <a:r>
              <a:t>Add only required indexes</a:t>
            </a:r>
          </a:p>
          <a:p>
            <a:r>
              <a:t>Handle throttling/idempotency</a:t>
            </a:r>
          </a:p>
          <a:p>
            <a:r>
              <a:t>Process stream and monitor lag</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DynamoDB keys, capacity and change streams: configuration decisions.</a:t>
            </a:r>
          </a:p>
          <a:p>
            <a:r>
              <a:t>CONSISTENCY: Strongly consistent reads are available only on supported base-table/index paths and cost more read capacity; global replication remains asynchronous.</a:t>
            </a:r>
          </a:p>
          <a:p>
            <a:r>
              <a:t>CONCURRENCY: Use condition expressions or transactions to prevent lost updates and duplicate state transitions.</a:t>
            </a:r>
          </a:p>
          <a:p>
            <a:r>
              <a:t>LARGE OBJECTS: Store large payloads in S3 and keep an object reference plus integrity metadata in the item.</a:t>
            </a:r>
          </a:p>
          <a:p>
            <a:r>
              <a:t>HOT KEYS: Write-shard only after understanding the required read aggregation and operational complexity.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DynamoDB keys, capacity and change streams: worked architecture decision.</a:t>
            </a:r>
          </a:p>
          <a:p>
            <a:r>
              <a:t>SCENARIO: An event-ingestion table throttles one tenant even though overall capacity is below the configured total.</a:t>
            </a:r>
          </a:p>
          <a:p>
            <a:r>
              <a:t>DESIGN DECISION: Increase partition-key cardinality with a controlled shard suffix, retain tenant/time queryability through an index or aggregation path and add jittered retries.</a:t>
            </a:r>
          </a:p>
          <a:p>
            <a:r>
              <a:t>FAILURE TO AVOID: Raising total capacity alone does not redistribute a single hot logical key; blind retries can amplify throttling.</a:t>
            </a:r>
          </a:p>
          <a:p>
            <a:r>
              <a:t>ACCEPTANCE EVIDENCE: Consumed capacity by operation, throttled requests, key distribution sample, index metrics, stream iterator age and conditional-write failures.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VPC, DNS and global content delivery.</a:t>
            </a:r>
          </a:p>
          <a:p>
            <a:r>
              <a:t>PURPOSE: Control application reachability and global user paths across routing, security, name resolution, caching and failover layers.</a:t>
            </a:r>
          </a:p>
          <a:p>
            <a:r>
              <a:t>SERVICE BOUNDARY: VPC · PrivateLink · Route 53 · CloudFront · Global Accelerator</a:t>
            </a:r>
          </a:p>
          <a:p>
            <a:r>
              <a:t>PRIMARY DESIGN DECISION: Use a private API endpoint with interface endpoints or controlled network connectivity, private DNS and layered endpoint/resource policies.</a:t>
            </a:r>
          </a:p>
          <a:p>
            <a:r>
              <a:t>FAILURE BOUNDARY: A private subnet label provides no isolation by itself; missing routes or broad endpoint policies can defeat the intended boundary.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VPC, DNS and global content delivery: how it works.</a:t>
            </a:r>
          </a:p>
          <a:p>
            <a:r>
              <a:t>MECHANIC 1: Subnets are AZ-scoped, route tables choose next hops, security groups are stateful and NACLs are stateless; each layer answers a different connectivity question.</a:t>
            </a:r>
          </a:p>
          <a:p>
            <a:r>
              <a:t>MECHANIC 2: Gateway and interface VPC endpoints keep supported service traffic on AWS networks and can apply endpoint policies as an additional authorization boundary.</a:t>
            </a:r>
          </a:p>
          <a:p>
            <a:r>
              <a:t>MECHANIC 3: Route 53 policies choose DNS answers from health, latency, geography, weights or failover; TTL controls how quickly resolvers can observe changes.</a:t>
            </a:r>
          </a:p>
          <a:p>
            <a:r>
              <a:t>MECHANIC 4: CloudFront caches HTTP content at the edge using cache and origin-request policies, while Global Accelerator provides static anycast entry addresses and fast endpoint routing.</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VPC, DNS and global content delivery: operating flow.</a:t>
            </a:r>
          </a:p>
          <a:p>
            <a:r>
              <a:t>Resolve name</a:t>
            </a:r>
          </a:p>
          <a:p>
            <a:r>
              <a:t>Route to edge or Region</a:t>
            </a:r>
          </a:p>
          <a:p>
            <a:r>
              <a:t>Evaluate network policy</a:t>
            </a:r>
          </a:p>
          <a:p>
            <a:r>
              <a:t>Reach healthy origin</a:t>
            </a:r>
          </a:p>
          <a:p>
            <a:r>
              <a:t>Log and measure user path</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VPC, DNS and global content delivery: configuration decisions.</a:t>
            </a:r>
          </a:p>
          <a:p>
            <a:r>
              <a:t>PRIVATE ACCESS: Use endpoints and private DNS for service APIs where egress control matters; verify endpoint and resource policies together.</a:t>
            </a:r>
          </a:p>
          <a:p>
            <a:r>
              <a:t>CACHING: Build cache keys only from values that change the response and protect private content with signed access patterns.</a:t>
            </a:r>
          </a:p>
          <a:p>
            <a:r>
              <a:t>FAILOVER: Health checks must represent the user transaction and account for DNS caching or connection persistence.</a:t>
            </a:r>
          </a:p>
          <a:p>
            <a:r>
              <a:t>TROUBLESHOOTING: Check DNS, routes, security groups, NACL return paths, endpoint policy, target health and application logs in order.</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VPC, DNS and global content delivery: worked architecture decision.</a:t>
            </a:r>
          </a:p>
          <a:p>
            <a:r>
              <a:t>SCENARIO: A private API must be consumed by workloads in several VPCs and expose no public internet path.</a:t>
            </a:r>
          </a:p>
          <a:p>
            <a:r>
              <a:t>DESIGN DECISION: Use a private API endpoint with interface endpoints or controlled network connectivity, private DNS and layered endpoint/resource policies.</a:t>
            </a:r>
          </a:p>
          <a:p>
            <a:r>
              <a:t>FAILURE TO AVOID: A private subnet label provides no isolation by itself; missing routes or broad endpoint policies can defeat the intended boundary.</a:t>
            </a:r>
          </a:p>
          <a:p>
            <a:r>
              <a:t>ACCEPTANCE EVIDENCE: DNS response, route path, endpoint ID/policy, flow log, target health, access log and reachability analysis.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Availability requirements and failure modes.</a:t>
            </a:r>
          </a:p>
          <a:p>
            <a:r>
              <a:t>OUTCOME: Translate business impact into explicit availability, recovery and dependency requirements.</a:t>
            </a:r>
          </a:p>
          <a:p>
            <a:r>
              <a:t>ARCHITECTURE: Model component failure domains, remove single points of failure and test degraded modes before selecting services.</a:t>
            </a:r>
          </a:p>
          <a:p>
            <a:r>
              <a:t>FAILURE MODE: Adding replicas does not help when they share the same failure domain or control-plane dependency.</a:t>
            </a:r>
          </a:p>
          <a:p>
            <a:r>
              <a:t>EVIDENCE: Availability target, dependency map, failure-mode analysis, resilience recommendation and test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Availability requirements and failure modes: operating flow.</a:t>
            </a:r>
          </a:p>
          <a:p>
            <a:r>
              <a:t>Define impact</a:t>
            </a:r>
          </a:p>
          <a:p>
            <a:r>
              <a:t>Map dependencies</a:t>
            </a:r>
          </a:p>
          <a:p>
            <a:r>
              <a:t>Identify failure domains</a:t>
            </a:r>
          </a:p>
          <a:p>
            <a:r>
              <a:t>Design controls</a:t>
            </a:r>
          </a:p>
          <a:p>
            <a:r>
              <a:t>Test failure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Availability requirements and failure modes: design decision.</a:t>
            </a:r>
          </a:p>
          <a:p>
            <a:r>
              <a:t>SCENARIO: An order service must remain available through an Availability Zone outage.</a:t>
            </a:r>
          </a:p>
          <a:p>
            <a:r>
              <a:t>DESIGN RESPONSE: Model component failure domains, remove single points of failure and test degraded modes before selecting services.</a:t>
            </a:r>
          </a:p>
          <a:p>
            <a:r>
              <a:t>PRIMARY SERVICES: Multi-AZ · AWS Resilience Hub · Well-Architected Tool</a:t>
            </a:r>
          </a:p>
          <a:p>
            <a:r>
              <a:t>FAILURE MODE: Adding replicas does not help when they share the same failure domain or control-plane dependency.</a:t>
            </a:r>
          </a:p>
          <a:p>
            <a:r>
              <a:t>PROOF: Availability target, dependency map, failure-mode analysis, resilience recommendation and test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Availability requirements and failure modes: failure diagnostic.</a:t>
            </a:r>
          </a:p>
          <a:p>
            <a:r>
              <a:t>RECOGNISE: Observable failure condition: Adding replicas does not help when they share the same failure domain or control-plane dependency.</a:t>
            </a:r>
          </a:p>
          <a:p>
            <a:r>
              <a:t>CONTAIN: Pause promotion, preserve evidence and reduce impact without destroying diagnostic state.</a:t>
            </a:r>
          </a:p>
          <a:p>
            <a:r>
              <a:t>DIAGNOSE: Trace the workflow from Define impact through Test failure; compare intended configuration with runtime state.</a:t>
            </a:r>
          </a:p>
          <a:p>
            <a:r>
              <a:t>RECOVER: Restore the last known-good state, then prove recovery with Availability target, dependency map, failure-mode analysis, resilience recommendation and test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Availability requirements and failure modes: worked decision.</a:t>
            </a:r>
          </a:p>
          <a:p>
            <a:r>
              <a:t>CONSTRAINT: An order service must remain available through an Availability Zone outage.</a:t>
            </a:r>
          </a:p>
          <a:p>
            <a:r>
              <a:t>DECISION: Model component failure domains, remove single points of failure and test degraded modes before selecting services.</a:t>
            </a:r>
          </a:p>
          <a:p>
            <a:r>
              <a:t>WHY ALTERNATIVES LOSE: Reject options that do not change the stated failure boundary: Adding replicas does not help when they share the same failure domain or control-plane dependency.</a:t>
            </a:r>
          </a:p>
          <a:p>
            <a:r>
              <a:t>ACCEPTANCE TEST: The decision is complete only when this proof exists: Availability target, dependency map, failure-mode analysis, resilience recommendation and test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 compute and load distribution.</a:t>
            </a:r>
          </a:p>
          <a:p>
            <a:r>
              <a:t>OUTCOME: Match scaling signals, capacity buffers and load-balancer health to workload behavior.</a:t>
            </a:r>
          </a:p>
          <a:p>
            <a:r>
              <a:t>ARCHITECTURE: Use target tracking where possible, warm-up periods, lifecycle hooks, multiple AZs and meaningful health checks.</a:t>
            </a:r>
          </a:p>
          <a:p>
            <a:r>
              <a:t>FAILURE MODE: CPU is a poor scaling signal for queue-driven or latency-bound workloads.</a:t>
            </a:r>
          </a:p>
          <a:p>
            <a:r>
              <a:t>EVIDENCE: Scaling policy, metric math, warm-up, lifecycle state, target health and capacity event.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 compute and load distribution: operating flow.</a:t>
            </a:r>
          </a:p>
          <a:p>
            <a:r>
              <a:t>Measure demand</a:t>
            </a:r>
          </a:p>
          <a:p>
            <a:r>
              <a:t>Scale target</a:t>
            </a:r>
          </a:p>
          <a:p>
            <a:r>
              <a:t>Launch</a:t>
            </a:r>
          </a:p>
          <a:p>
            <a:r>
              <a:t>Warm and validate</a:t>
            </a:r>
          </a:p>
          <a:p>
            <a:r>
              <a:t>Register</a:t>
            </a:r>
          </a:p>
          <a:p>
            <a:r>
              <a:t>Rebalance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 compute and load distribution: design decision.</a:t>
            </a:r>
          </a:p>
          <a:p>
            <a:r>
              <a:t>SCENARIO: Traffic spikes arrive in ten minutes, but new instances need eight minutes to become healthy.</a:t>
            </a:r>
          </a:p>
          <a:p>
            <a:r>
              <a:t>DESIGN RESPONSE: Use target tracking where possible, warm-up periods, lifecycle hooks, multiple AZs and meaningful health checks.</a:t>
            </a:r>
          </a:p>
          <a:p>
            <a:r>
              <a:t>PRIMARY SERVICES: Auto Scaling · ALB · NLB · EC2 Fleet</a:t>
            </a:r>
          </a:p>
          <a:p>
            <a:r>
              <a:t>FAILURE MODE: CPU is a poor scaling signal for queue-driven or latency-bound workloads.</a:t>
            </a:r>
          </a:p>
          <a:p>
            <a:r>
              <a:t>PROOF: Scaling policy, metric math, warm-up, lifecycle state, target health and capacity event.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 compute and load distribution: failure diagnostic.</a:t>
            </a:r>
          </a:p>
          <a:p>
            <a:r>
              <a:t>RECOGNISE: Observable failure condition: CPU is a poor scaling signal for queue-driven or latency-bound workloads.</a:t>
            </a:r>
          </a:p>
          <a:p>
            <a:r>
              <a:t>CONTAIN: Pause promotion, preserve evidence and reduce impact without destroying diagnostic state.</a:t>
            </a:r>
          </a:p>
          <a:p>
            <a:r>
              <a:t>DIAGNOSE: Trace the workflow from Measure demand through Rebalance; compare intended configuration with runtime state.</a:t>
            </a:r>
          </a:p>
          <a:p>
            <a:r>
              <a:t>RECOVER: Restore the last known-good state, then prove recovery with Scaling policy, metric math, warm-up, lifecycle state, target health and capacity event.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 compute and load distribution: worked decision.</a:t>
            </a:r>
          </a:p>
          <a:p>
            <a:r>
              <a:t>CONSTRAINT: Traffic spikes arrive in ten minutes, but new instances need eight minutes to become healthy.</a:t>
            </a:r>
          </a:p>
          <a:p>
            <a:r>
              <a:t>DECISION: Use target tracking where possible, warm-up periods, lifecycle hooks, multiple AZs and meaningful health checks.</a:t>
            </a:r>
          </a:p>
          <a:p>
            <a:r>
              <a:t>WHY ALTERNATIVES LOSE: Reject options that do not change the stated failure boundary: CPU is a poor scaling signal for queue-driven or latency-bound workloads.</a:t>
            </a:r>
          </a:p>
          <a:p>
            <a:r>
              <a:t>ACCEPTANCE TEST: The decision is complete only when this proof exists: Scaling policy, metric math, warm-up, lifecycle state, target health and capacity event.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DNS and multi-Region traffic control.</a:t>
            </a:r>
          </a:p>
          <a:p>
            <a:r>
              <a:t>OUTCOME: Route users according to health, latency, geography and recovery objectives.</a:t>
            </a:r>
          </a:p>
          <a:p>
            <a:r>
              <a:t>ARCHITECTURE: Combine endpoint health with failover or latency policies; understand DNS caching and use anycast when convergence must be faster.</a:t>
            </a:r>
          </a:p>
          <a:p>
            <a:r>
              <a:t>FAILURE MODE: A low TTL cannot force clients or resolvers to refresh immediately.</a:t>
            </a:r>
          </a:p>
          <a:p>
            <a:r>
              <a:t>EVIDENCE: Routing policy, health-check state, TTL, endpoint weight and observed failover time.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DNS and multi-Region traffic control: operating flow.</a:t>
            </a:r>
          </a:p>
          <a:p>
            <a:r>
              <a:t>Probe endpoint</a:t>
            </a:r>
          </a:p>
          <a:p>
            <a:r>
              <a:t>Evaluate policy</a:t>
            </a:r>
          </a:p>
          <a:p>
            <a:r>
              <a:t>Return target</a:t>
            </a:r>
          </a:p>
          <a:p>
            <a:r>
              <a:t>Observe health</a:t>
            </a:r>
          </a:p>
          <a:p>
            <a:r>
              <a:t>Fail over</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DNS and multi-Region traffic control: design decision.</a:t>
            </a:r>
          </a:p>
          <a:p>
            <a:r>
              <a:t>SCENARIO: A global API needs regional failover within one minute with stable client endpoints.</a:t>
            </a:r>
          </a:p>
          <a:p>
            <a:r>
              <a:t>DESIGN RESPONSE: Combine endpoint health with failover or latency policies; understand DNS caching and use anycast when convergence must be faster.</a:t>
            </a:r>
          </a:p>
          <a:p>
            <a:r>
              <a:t>PRIMARY SERVICES: Route 53 · Global Accelerator · CloudFront</a:t>
            </a:r>
          </a:p>
          <a:p>
            <a:r>
              <a:t>FAILURE MODE: A low TTL cannot force clients or resolvers to refresh immediately.</a:t>
            </a:r>
          </a:p>
          <a:p>
            <a:r>
              <a:t>PROOF: Routing policy, health-check state, TTL, endpoint weight and observed failover time.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DNS and multi-Region traffic control: failure diagnostic.</a:t>
            </a:r>
          </a:p>
          <a:p>
            <a:r>
              <a:t>RECOGNISE: Observable failure condition: A low TTL cannot force clients or resolvers to refresh immediately.</a:t>
            </a:r>
          </a:p>
          <a:p>
            <a:r>
              <a:t>CONTAIN: Pause promotion, preserve evidence and reduce impact without destroying diagnostic state.</a:t>
            </a:r>
          </a:p>
          <a:p>
            <a:r>
              <a:t>DIAGNOSE: Trace the workflow from Probe endpoint through Fail over; compare intended configuration with runtime state.</a:t>
            </a:r>
          </a:p>
          <a:p>
            <a:r>
              <a:t>RECOVER: Restore the last known-good state, then prove recovery with Routing policy, health-check state, TTL, endpoint weight and observed failover time.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DNS and multi-Region traffic control: worked decision.</a:t>
            </a:r>
          </a:p>
          <a:p>
            <a:r>
              <a:t>CONSTRAINT: A global API needs regional failover within one minute with stable client endpoints.</a:t>
            </a:r>
          </a:p>
          <a:p>
            <a:r>
              <a:t>DECISION: Combine endpoint health with failover or latency policies; understand DNS caching and use anycast when convergence must be faster.</a:t>
            </a:r>
          </a:p>
          <a:p>
            <a:r>
              <a:t>WHY ALTERNATIVES LOSE: Reject options that do not change the stated failure boundary: A low TTL cannot force clients or resolvers to refresh immediately.</a:t>
            </a:r>
          </a:p>
          <a:p>
            <a:r>
              <a:t>ACCEPTANCE TEST: The decision is complete only when this proof exists: Routing policy, health-check state, TTL, endpoint weight and observed failover time.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Resilient data stores.</a:t>
            </a:r>
          </a:p>
          <a:p>
            <a:r>
              <a:t>OUTCOME: Select replication and failover mechanisms that meet consistency, RPO and RTO requirements.</a:t>
            </a:r>
          </a:p>
          <a:p>
            <a:r>
              <a:t>ARCHITECTURE: Distinguish read scaling from high availability, test failover, plan write ownership and monitor replication lag.</a:t>
            </a:r>
          </a:p>
          <a:p>
            <a:r>
              <a:t>FAILURE MODE: A read replica is not automatically a synchronous standby or a complete DR strategy.</a:t>
            </a:r>
          </a:p>
          <a:p>
            <a:r>
              <a:t>EVIDENCE: Topology, replication mode, lag metric, backup status, failover test and recovery evidence.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Resilient data stores: operating flow.</a:t>
            </a:r>
          </a:p>
          <a:p>
            <a:r>
              <a:t>Write</a:t>
            </a:r>
          </a:p>
          <a:p>
            <a:r>
              <a:t>Replicate</a:t>
            </a:r>
          </a:p>
          <a:p>
            <a:r>
              <a:t>Detect failure</a:t>
            </a:r>
          </a:p>
          <a:p>
            <a:r>
              <a:t>Promote or redirect</a:t>
            </a:r>
          </a:p>
          <a:p>
            <a:r>
              <a:t>Reconcile</a:t>
            </a:r>
          </a:p>
          <a:p>
            <a:r>
              <a:t>Verify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Resilient data stores: design decision.</a:t>
            </a:r>
          </a:p>
          <a:p>
            <a:r>
              <a:t>SCENARIO: A payment datastore needs near-zero data loss and a tested cross-Region recovery path.</a:t>
            </a:r>
          </a:p>
          <a:p>
            <a:r>
              <a:t>DESIGN RESPONSE: Distinguish read scaling from high availability, test failover, plan write ownership and monitor replication lag.</a:t>
            </a:r>
          </a:p>
          <a:p>
            <a:r>
              <a:t>PRIMARY SERVICES: RDS Multi-AZ · Aurora Global Database · DynamoDB Global Tables</a:t>
            </a:r>
          </a:p>
          <a:p>
            <a:r>
              <a:t>FAILURE MODE: A read replica is not automatically a synchronous standby or a complete DR strategy.</a:t>
            </a:r>
          </a:p>
          <a:p>
            <a:r>
              <a:t>PROOF: Topology, replication mode, lag metric, backup status, failover test and recovery evidence.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Resilient data stores: failure diagnostic.</a:t>
            </a:r>
          </a:p>
          <a:p>
            <a:r>
              <a:t>RECOGNISE: Observable failure condition: A read replica is not automatically a synchronous standby or a complete DR strategy.</a:t>
            </a:r>
          </a:p>
          <a:p>
            <a:r>
              <a:t>CONTAIN: Pause promotion, preserve evidence and reduce impact without destroying diagnostic state.</a:t>
            </a:r>
          </a:p>
          <a:p>
            <a:r>
              <a:t>DIAGNOSE: Trace the workflow from Write through Verify; compare intended configuration with runtime state.</a:t>
            </a:r>
          </a:p>
          <a:p>
            <a:r>
              <a:t>RECOVER: Restore the last known-good state, then prove recovery with Topology, replication mode, lag metric, backup status, failover test and recovery evidence.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Resilient data stores: worked decision.</a:t>
            </a:r>
          </a:p>
          <a:p>
            <a:r>
              <a:t>CONSTRAINT: A payment datastore needs near-zero data loss and a tested cross-Region recovery path.</a:t>
            </a:r>
          </a:p>
          <a:p>
            <a:r>
              <a:t>DECISION: Distinguish read scaling from high availability, test failover, plan write ownership and monitor replication lag.</a:t>
            </a:r>
          </a:p>
          <a:p>
            <a:r>
              <a:t>WHY ALTERNATIVES LOSE: Reject options that do not change the stated failure boundary: A read replica is not automatically a synchronous standby or a complete DR strategy.</a:t>
            </a:r>
          </a:p>
          <a:p>
            <a:r>
              <a:t>ACCEPTANCE TEST: The decision is complete only when this proof exists: Topology, replication mode, lag metric, backup status, failover test and recovery evidence.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Serverless resilience.</a:t>
            </a:r>
          </a:p>
          <a:p>
            <a:r>
              <a:t>OUTCOME: Control concurrency, retries, idempotency and failure destinations in event-driven workloads.</a:t>
            </a:r>
          </a:p>
          <a:p>
            <a:r>
              <a:t>ARCHITECTURE: Use queues for buffering, partial batch response, reserved concurrency, DLQs and idempotency keys.</a:t>
            </a:r>
          </a:p>
          <a:p>
            <a:r>
              <a:t>FAILURE MODE: Unbounded retries can multiply load and duplicate side effects during partial failure.</a:t>
            </a:r>
          </a:p>
          <a:p>
            <a:r>
              <a:t>EVIDENCE: Request ID, retry count, idempotency record, queue age, DLQ message and concurrency metric.</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Serverless resilience: operating flow.</a:t>
            </a:r>
          </a:p>
          <a:p>
            <a:r>
              <a:t>Accept event</a:t>
            </a:r>
          </a:p>
          <a:p>
            <a:r>
              <a:t>Validate idempotency</a:t>
            </a:r>
          </a:p>
          <a:p>
            <a:r>
              <a:t>Process</a:t>
            </a:r>
          </a:p>
          <a:p>
            <a:r>
              <a:t>Retry with backoff</a:t>
            </a:r>
          </a:p>
          <a:p>
            <a:r>
              <a:t>Quarantine failure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Serverless resilience: design decision.</a:t>
            </a:r>
          </a:p>
          <a:p>
            <a:r>
              <a:t>SCENARIO: A batch consumer occasionally times out after charging a card but before acknowledging the message.</a:t>
            </a:r>
          </a:p>
          <a:p>
            <a:r>
              <a:t>DESIGN RESPONSE: Use queues for buffering, partial batch response, reserved concurrency, DLQs and idempotency keys.</a:t>
            </a:r>
          </a:p>
          <a:p>
            <a:r>
              <a:t>PRIMARY SERVICES: Lambda · API Gateway · SQS · Step Functions</a:t>
            </a:r>
          </a:p>
          <a:p>
            <a:r>
              <a:t>FAILURE MODE: Unbounded retries can multiply load and duplicate side effects during partial failure.</a:t>
            </a:r>
          </a:p>
          <a:p>
            <a:r>
              <a:t>PROOF: Request ID, retry count, idempotency record, queue age, DLQ message and concurrency metric.</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Serverless resilience: failure diagnostic.</a:t>
            </a:r>
          </a:p>
          <a:p>
            <a:r>
              <a:t>RECOGNISE: Observable failure condition: Unbounded retries can multiply load and duplicate side effects during partial failure.</a:t>
            </a:r>
          </a:p>
          <a:p>
            <a:r>
              <a:t>CONTAIN: Pause promotion, preserve evidence and reduce impact without destroying diagnostic state.</a:t>
            </a:r>
          </a:p>
          <a:p>
            <a:r>
              <a:t>DIAGNOSE: Trace the workflow from Accept event through Quarantine failure; compare intended configuration with runtime state.</a:t>
            </a:r>
          </a:p>
          <a:p>
            <a:r>
              <a:t>RECOVER: Restore the last known-good state, then prove recovery with Request ID, retry count, idempotency record, queue age, DLQ message and concurrency metric.</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Serverless resilience: worked decision.</a:t>
            </a:r>
          </a:p>
          <a:p>
            <a:r>
              <a:t>CONSTRAINT: A batch consumer occasionally times out after charging a card but before acknowledging the message.</a:t>
            </a:r>
          </a:p>
          <a:p>
            <a:r>
              <a:t>DECISION: Use queues for buffering, partial batch response, reserved concurrency, DLQs and idempotency keys.</a:t>
            </a:r>
          </a:p>
          <a:p>
            <a:r>
              <a:t>WHY ALTERNATIVES LOSE: Reject options that do not change the stated failure boundary: Unbounded retries can multiply load and duplicate side effects during partial failure.</a:t>
            </a:r>
          </a:p>
          <a:p>
            <a:r>
              <a:t>ACCEPTANCE TEST: The decision is complete only when this proof exists: Request ID, retry count, idempotency record, queue age, DLQ message and concurrency metric.</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 workload resilience.</a:t>
            </a:r>
          </a:p>
          <a:p>
            <a:r>
              <a:t>OUTCOME: Keep container services available through node, task and deployment failures.</a:t>
            </a:r>
          </a:p>
          <a:p>
            <a:r>
              <a:t>ARCHITECTURE: Spread tasks, set disruption budgets, use readiness checks, pin image digests and scale both service and capacity.</a:t>
            </a:r>
          </a:p>
          <a:p>
            <a:r>
              <a:t>FAILURE MODE: Scaling tasks without underlying capacity leaves workloads pending.</a:t>
            </a:r>
          </a:p>
          <a:p>
            <a:r>
              <a:t>EVIDENCE: Task placement, readiness state, image digest, service events, capacity-provider metric and deployment circuit breaker.</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 workload resilience: operating flow.</a:t>
            </a:r>
          </a:p>
          <a:p>
            <a:r>
              <a:t>Pull signed image</a:t>
            </a:r>
          </a:p>
          <a:p>
            <a:r>
              <a:t>Start task</a:t>
            </a:r>
          </a:p>
          <a:p>
            <a:r>
              <a:t>Pass readiness</a:t>
            </a:r>
          </a:p>
          <a:p>
            <a:r>
              <a:t>Receive traffic</a:t>
            </a:r>
          </a:p>
          <a:p>
            <a:r>
              <a:t>Replace unhealthy task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 workload resilience: design decision.</a:t>
            </a:r>
          </a:p>
          <a:p>
            <a:r>
              <a:t>SCENARIO: An ECS service needs blue/green deployment and automatic rollback when error rate rises.</a:t>
            </a:r>
          </a:p>
          <a:p>
            <a:r>
              <a:t>DESIGN RESPONSE: Spread tasks, set disruption budgets, use readiness checks, pin image digests and scale both service and capacity.</a:t>
            </a:r>
          </a:p>
          <a:p>
            <a:r>
              <a:t>PRIMARY SERVICES: ECS · EKS · ECR · Application Auto Scaling</a:t>
            </a:r>
          </a:p>
          <a:p>
            <a:r>
              <a:t>FAILURE MODE: Scaling tasks without underlying capacity leaves workloads pending.</a:t>
            </a:r>
          </a:p>
          <a:p>
            <a:r>
              <a:t>PROOF: Task placement, readiness state, image digest, service events, capacity-provider metric and deployment circuit breaker.</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 workload resilience: failure diagnostic.</a:t>
            </a:r>
          </a:p>
          <a:p>
            <a:r>
              <a:t>RECOGNISE: Observable failure condition: Scaling tasks without underlying capacity leaves workloads pending.</a:t>
            </a:r>
          </a:p>
          <a:p>
            <a:r>
              <a:t>CONTAIN: Pause promotion, preserve evidence and reduce impact without destroying diagnostic state.</a:t>
            </a:r>
          </a:p>
          <a:p>
            <a:r>
              <a:t>DIAGNOSE: Trace the workflow from Pull signed image through Replace unhealthy task; compare intended configuration with runtime state.</a:t>
            </a:r>
          </a:p>
          <a:p>
            <a:r>
              <a:t>RECOVER: Restore the last known-good state, then prove recovery with Task placement, readiness state, image digest, service events, capacity-provider metric and deployment circuit breaker.</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 workload resilience: worked decision.</a:t>
            </a:r>
          </a:p>
          <a:p>
            <a:r>
              <a:t>CONSTRAINT: An ECS service needs blue/green deployment and automatic rollback when error rate rises.</a:t>
            </a:r>
          </a:p>
          <a:p>
            <a:r>
              <a:t>DECISION: Spread tasks, set disruption budgets, use readiness checks, pin image digests and scale both service and capacity.</a:t>
            </a:r>
          </a:p>
          <a:p>
            <a:r>
              <a:t>WHY ALTERNATIVES LOSE: Reject options that do not change the stated failure boundary: Scaling tasks without underlying capacity leaves workloads pending.</a:t>
            </a:r>
          </a:p>
          <a:p>
            <a:r>
              <a:t>ACCEPTANCE TEST: The decision is complete only when this proof exists: Task placement, readiness state, image digest, service events, capacity-provider metric and deployment circuit breaker.</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Disaster recovery and automated recovery.</a:t>
            </a:r>
          </a:p>
          <a:p>
            <a:r>
              <a:t>OUTCOME: Choose and test backup/restore, pilot-light, warm-standby or multi-site strategies against business objectives.</a:t>
            </a:r>
          </a:p>
          <a:p>
            <a:r>
              <a:t>ARCHITECTURE: Map each workload to RTO/RPO, automate backups and copies, document dependencies and conduct game days.</a:t>
            </a:r>
          </a:p>
          <a:p>
            <a:r>
              <a:t>FAILURE MODE: A backup job marked successful does not prove the application can be restored coherently.</a:t>
            </a:r>
          </a:p>
          <a:p>
            <a:r>
              <a:t>EVIDENCE: Recovery-point age, restore-test outcome, runbook duration, dependency validation and actual RTO/RPO.</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Disaster recovery and automated recovery: operating flow.</a:t>
            </a:r>
          </a:p>
          <a:p>
            <a:r>
              <a:t>Protect data</a:t>
            </a:r>
          </a:p>
          <a:p>
            <a:r>
              <a:t>Detect disaster</a:t>
            </a:r>
          </a:p>
          <a:p>
            <a:r>
              <a:t>Declare</a:t>
            </a:r>
          </a:p>
          <a:p>
            <a:r>
              <a:t>Restore or promote</a:t>
            </a:r>
          </a:p>
          <a:p>
            <a:r>
              <a:t>Redirect</a:t>
            </a:r>
          </a:p>
          <a:p>
            <a:r>
              <a:t>Validate business service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Disaster recovery and automated recovery: design decision.</a:t>
            </a:r>
          </a:p>
          <a:p>
            <a:r>
              <a:t>SCENARIO: A regional disruption requires the customer portal to recover within 60 minutes with at most 15 minutes of data loss.</a:t>
            </a:r>
          </a:p>
          <a:p>
            <a:r>
              <a:t>DESIGN RESPONSE: Map each workload to RTO/RPO, automate backups and copies, document dependencies and conduct game days.</a:t>
            </a:r>
          </a:p>
          <a:p>
            <a:r>
              <a:t>PRIMARY SERVICES: AWS Backup · Elastic Disaster Recovery · Route 53</a:t>
            </a:r>
          </a:p>
          <a:p>
            <a:r>
              <a:t>FAILURE MODE: A backup job marked successful does not prove the application can be restored coherently.</a:t>
            </a:r>
          </a:p>
          <a:p>
            <a:r>
              <a:t>PROOF: Recovery-point age, restore-test outcome, runbook duration, dependency validation and actual RTO/RPO.</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Disaster recovery and automated recovery: failure diagnostic.</a:t>
            </a:r>
          </a:p>
          <a:p>
            <a:r>
              <a:t>RECOGNISE: Observable failure condition: A backup job marked successful does not prove the application can be restored coherently.</a:t>
            </a:r>
          </a:p>
          <a:p>
            <a:r>
              <a:t>CONTAIN: Pause promotion, preserve evidence and reduce impact without destroying diagnostic state.</a:t>
            </a:r>
          </a:p>
          <a:p>
            <a:r>
              <a:t>DIAGNOSE: Trace the workflow from Protect data through Validate business service; compare intended configuration with runtime state.</a:t>
            </a:r>
          </a:p>
          <a:p>
            <a:r>
              <a:t>RECOVER: Restore the last known-good state, then prove recovery with Recovery-point age, restore-test outcome, runbook duration, dependency validation and actual RTO/RPO.</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Disaster recovery and automated recovery: worked decision.</a:t>
            </a:r>
          </a:p>
          <a:p>
            <a:r>
              <a:t>CONSTRAINT: A regional disruption requires the customer portal to recover within 60 minutes with at most 15 minutes of data loss.</a:t>
            </a:r>
          </a:p>
          <a:p>
            <a:r>
              <a:t>DECISION: Map each workload to RTO/RPO, automate backups and copies, document dependencies and conduct game days.</a:t>
            </a:r>
          </a:p>
          <a:p>
            <a:r>
              <a:t>WHY ALTERNATIVES LOSE: Reject options that do not change the stated failure boundary: A backup job marked successful does not prove the application can be restored coherently.</a:t>
            </a:r>
          </a:p>
          <a:p>
            <a:r>
              <a:t>ACCEPTANCE TEST: The decision is complete only when this proof exists: Recovery-point age, restore-test outcome, runbook duration, dependency validation and actual RTO/RPO.</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Availability requirements and failure modes: architecture map.</a:t>
            </a:r>
          </a:p>
          <a:p>
            <a:r>
              <a:t>TRIGGER / INPUT: Define impact</a:t>
            </a:r>
          </a:p>
          <a:p>
            <a:r>
              <a:t>CONTROL PLANE: Model component failure domains, remove single points of failure and test degraded modes before selecting services.</a:t>
            </a:r>
          </a:p>
          <a:p>
            <a:r>
              <a:t>AWS SERVICES: Multi-AZ · AWS Resilience Hub · Well-Architected Tool</a:t>
            </a:r>
          </a:p>
          <a:p>
            <a:r>
              <a:t>EVIDENCE BOUNDARY: Availability target, dependency map, failure-mode analysis, resilience recommendation and test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 compute and load distribution: architecture map.</a:t>
            </a:r>
          </a:p>
          <a:p>
            <a:r>
              <a:t>TRIGGER / INPUT: Measure demand</a:t>
            </a:r>
          </a:p>
          <a:p>
            <a:r>
              <a:t>CONTROL PLANE: Use target tracking where possible, warm-up periods, lifecycle hooks, multiple AZs and meaningful health checks.</a:t>
            </a:r>
          </a:p>
          <a:p>
            <a:r>
              <a:t>AWS SERVICES: Auto Scaling · ALB · NLB · EC2 Fleet</a:t>
            </a:r>
          </a:p>
          <a:p>
            <a:r>
              <a:t>EVIDENCE BOUNDARY: Scaling policy, metric math, warm-up, lifecycle state, target health and capacity event.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DNS and multi-Region traffic control: architecture map.</a:t>
            </a:r>
          </a:p>
          <a:p>
            <a:r>
              <a:t>TRIGGER / INPUT: Probe endpoint</a:t>
            </a:r>
          </a:p>
          <a:p>
            <a:r>
              <a:t>CONTROL PLANE: Combine endpoint health with failover or latency policies; understand DNS caching and use anycast when convergence must be faster.</a:t>
            </a:r>
          </a:p>
          <a:p>
            <a:r>
              <a:t>AWS SERVICES: Route 53 · Global Accelerator · CloudFront</a:t>
            </a:r>
          </a:p>
          <a:p>
            <a:r>
              <a:t>EVIDENCE BOUNDARY: Routing policy, health-check state, TTL, endpoint weight and observed failover time.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Resilient data stores: architecture map.</a:t>
            </a:r>
          </a:p>
          <a:p>
            <a:r>
              <a:t>TRIGGER / INPUT: Write</a:t>
            </a:r>
          </a:p>
          <a:p>
            <a:r>
              <a:t>CONTROL PLANE: Distinguish read scaling from high availability, test failover, plan write ownership and monitor replication lag.</a:t>
            </a:r>
          </a:p>
          <a:p>
            <a:r>
              <a:t>AWS SERVICES: RDS Multi-AZ · Aurora Global Database · DynamoDB Global Tables</a:t>
            </a:r>
          </a:p>
          <a:p>
            <a:r>
              <a:t>EVIDENCE BOUNDARY: Topology, replication mode, lag metric, backup status, failover test and recovery evidence.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Serverless resilience: architecture map.</a:t>
            </a:r>
          </a:p>
          <a:p>
            <a:r>
              <a:t>TRIGGER / INPUT: Accept event</a:t>
            </a:r>
          </a:p>
          <a:p>
            <a:r>
              <a:t>CONTROL PLANE: Use queues for buffering, partial batch response, reserved concurrency, DLQs and idempotency keys.</a:t>
            </a:r>
          </a:p>
          <a:p>
            <a:r>
              <a:t>AWS SERVICES: Lambda · API Gateway · SQS · Step Functions</a:t>
            </a:r>
          </a:p>
          <a:p>
            <a:r>
              <a:t>EVIDENCE BOUNDARY: Request ID, retry count, idempotency record, queue age, DLQ message and concurrency metric.</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 workload resilience: architecture map.</a:t>
            </a:r>
          </a:p>
          <a:p>
            <a:r>
              <a:t>TRIGGER / INPUT: Pull signed image</a:t>
            </a:r>
          </a:p>
          <a:p>
            <a:r>
              <a:t>CONTROL PLANE: Spread tasks, set disruption budgets, use readiness checks, pin image digests and scale both service and capacity.</a:t>
            </a:r>
          </a:p>
          <a:p>
            <a:r>
              <a:t>AWS SERVICES: ECS · EKS · ECR · Application Auto Scaling</a:t>
            </a:r>
          </a:p>
          <a:p>
            <a:r>
              <a:t>EVIDENCE BOUNDARY: Task placement, readiness state, image digest, service events, capacity-provider metric and deployment circuit breaker.</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Disaster recovery and automated recovery: architecture map.</a:t>
            </a:r>
          </a:p>
          <a:p>
            <a:r>
              <a:t>TRIGGER / INPUT: Protect data</a:t>
            </a:r>
          </a:p>
          <a:p>
            <a:r>
              <a:t>CONTROL PLANE: Map each workload to RTO/RPO, automate backups and copies, document dependencies and conduct game days.</a:t>
            </a:r>
          </a:p>
          <a:p>
            <a:r>
              <a:t>AWS SERVICES: AWS Backup · Elastic Disaster Recovery · Route 53</a:t>
            </a:r>
          </a:p>
          <a:p>
            <a:r>
              <a:t>EVIDENCE BOUNDARY: Recovery-point age, restore-test outcome, runbook duration, dependency validation and actual RTO/RPO.</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11 overview — Deploy a highly available multi-AZ Application Load Balancer fronting an Auto Scaling group and prove requests are served from both Availability Zones (LO3, K2, K4, A2).</a:t>
            </a:r>
          </a:p>
          <a:p>
            <a:r>
              <a:t>Concept-led briefing only. The full detailed procedure, commands, expected outputs, validation and cleanup live in the Learner Guide and the lab README (not on the slides).</a:t>
            </a:r>
          </a:p>
          <a:p>
            <a:r>
              <a:t>Reference architecture: course-generated diagram for Lab 11.</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12 overview — Attach a target-tracking scaling policy to an Auto Scaling group and validate automatic scale-out under generated load and scale-in when the load stops (LO3, K2, K4, A2).</a:t>
            </a:r>
          </a:p>
          <a:p>
            <a:r>
              <a:t>Concept-led briefing only. The full detailed procedure, commands, expected outputs, validation and cleanup live in the Learner Guide and the lab README (not on the slides).</a:t>
            </a:r>
          </a:p>
          <a:p>
            <a:r>
              <a:t>Reference architecture: course-generated diagram for Lab 12.</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13 overview — Compare the four AWS disaster-recovery strategies against RTO/RPO targets, select an appropriate pattern, and implement a pilot-light skeleton in a second Region (LO3, K2, K4, A2).</a:t>
            </a:r>
          </a:p>
          <a:p>
            <a:r>
              <a:t>Concept-led briefing only. The full detailed procedure, commands, expected outputs, validation and cleanup live in the Learner Guide and the lab README (not on the slides).</a:t>
            </a:r>
          </a:p>
          <a:p>
            <a:r>
              <a:t>Reference architecture: course-generated diagram for Lab 13.</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14 overview — Automate centralized backups with AWS Backup (plan + tag-based selection), test a restore, and add S3 versioning with cross-Region replication and RDS automated snapshots for defense in depth (LO3, K2, K4, A2).</a:t>
            </a:r>
          </a:p>
          <a:p>
            <a:r>
              <a:t>Concept-led briefing only. The full detailed procedure, commands, expected outputs, validation and cleanup live in the Learner Guide and the lab README (not on the slides).</a:t>
            </a:r>
          </a:p>
          <a:p>
            <a:r>
              <a:t>Reference architecture: course-generated diagram for Lab 14.</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15 overview — Prove the multi-AZ tier self-heals by terminating an instance and watching the Auto Scaling group replace it, then run an AWS FIS experiment and confirm the ALB routes around the impaired instances (LO3, K2, K4, A2).</a:t>
            </a:r>
          </a:p>
          <a:p>
            <a:r>
              <a:t>Concept-led briefing only. The full detailed procedure, commands, expected outputs, validation and cleanup live in the Learner Guide and the lab README (not on the slides).</a:t>
            </a:r>
          </a:p>
          <a:p>
            <a:r>
              <a:t>Reference architecture: course-generated diagram for Lab 15.</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Domain 03 — Resilient Cloud Solutions.</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Resilience and observability working together to keep services healthy</a:t>
            </a:r>
          </a:p>
          <a:p>
            <a:r>
              <a:t>Illustration created for this course with AI image generation (ImageGen).</a:t>
            </a:r>
          </a:p>
          <a:p/>
          <a:p>
            <a:r>
              <a:t>[Sources]</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concepts for Domain 04 — Monitoring and Logging.</a:t>
            </a:r>
          </a:p>
          <a:p>
            <a:r>
              <a:t>CloudWatch metrics: Namespaces, dimensions and custom metrics measure system and application health over time.</a:t>
            </a:r>
          </a:p>
          <a:p>
            <a:r>
              <a:t>CloudWatch Logs: Log groups, streams, subscription filters and metric filters turn raw logs into searchable, alertable signals.</a:t>
            </a:r>
          </a:p>
          <a:p>
            <a:r>
              <a:t>Dashboards: A single pane of glass correlates metrics, logs and alarms for fast troubleshooting.</a:t>
            </a:r>
          </a:p>
          <a:p>
            <a:r>
              <a:t>Alarms &amp; composite alarms: Thresholds and anomaly detection notify SNS or trigger auto-remediation before users are affected.</a:t>
            </a:r>
          </a:p>
          <a:p>
            <a:r>
              <a:t>Tracing &amp; insights: X-Ray traces distributed requests; CloudWatch Logs Insights and Container/Lambda Insights find the root cause.</a:t>
            </a:r>
          </a:p>
          <a:p>
            <a:r>
              <a:t>Aggregation at scale: Cross-account observability, the CloudWatch agent and OpenTelemetry centralise telemetry from many sources.</a:t>
            </a:r>
          </a:p>
          <a:p/>
          <a:p>
            <a:r>
              <a:t>[Sources]</a:t>
            </a:r>
          </a:p>
          <a:p>
            <a:r>
              <a:t>- AWS Certified DevOps Engineer – Professional (DOP-C02) Exam Guide (docs.aws.amazon.com/pdfs/aws-certification/latest/devops-engineer-professional-02).</a:t>
            </a:r>
          </a:p>
          <a:p>
            <a:r>
              <a:t>- AWS CloudWatch Documentation (docs.aws.amazon.com/AmazonCloudWatch).</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Alarm Thresholds — Healthy vs Incident. What the data shows: When p90 latency crosses the alarm threshold, CloudWatch fires and the automated response kicks in.</a:t>
            </a:r>
          </a:p>
          <a:p>
            <a:r>
              <a:t>Figures are illustrative teaching values to convey the relationship, not measured benchmarks.</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04 deep dive — Monitoring and Logging. Editable AWS-native diagram/table/chart.</a:t>
            </a:r>
          </a:p>
          <a:p/>
          <a:p>
            <a:r>
              <a:t>[Sources]</a:t>
            </a:r>
          </a:p>
          <a:p>
            <a:r>
              <a:t>- AWS Certified DevOps Engineer – Professional (DOP-C02) Exam Guide (docs.aws.amazon.com/pdfs/aws-certification/latest/devops-engineer-professional-02).</a:t>
            </a:r>
          </a:p>
          <a:p>
            <a:r>
              <a:t>- AWS CloudWatch Documentation (docs.aws.amazon.com/AmazonCloudWatch).</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04 deep dive — Monitoring and Logging. Editable AWS-native diagram/table/chart.</a:t>
            </a:r>
          </a:p>
          <a:p/>
          <a:p>
            <a:r>
              <a:t>[Sources]</a:t>
            </a:r>
          </a:p>
          <a:p>
            <a:r>
              <a:t>- AWS Certified DevOps Engineer – Professional (DOP-C02) Exam Guide (docs.aws.amazon.com/pdfs/aws-certification/latest/devops-engineer-professional-02).</a:t>
            </a:r>
          </a:p>
          <a:p>
            <a:r>
              <a:t>- AWS CloudWatch Documentation (docs.aws.amazon.com/AmazonCloudWatch).</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04 deep dive — Monitoring and Logging. Editable AWS-native diagram/table/chart.</a:t>
            </a:r>
          </a:p>
          <a:p/>
          <a:p>
            <a:r>
              <a:t>[Sources]</a:t>
            </a:r>
          </a:p>
          <a:p>
            <a:r>
              <a:t>- AWS Certified DevOps Engineer – Professional (DOP-C02) Exam Guide (docs.aws.amazon.com/pdfs/aws-certification/latest/devops-engineer-professional-02).</a:t>
            </a:r>
          </a:p>
          <a:p>
            <a:r>
              <a:t>- AWS CloudWatch Documentation (docs.aws.amazon.com/AmazonCloudWatch).</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04 deep dive — Monitoring and Logging. Editable AWS-native diagram/table/chart.</a:t>
            </a:r>
          </a:p>
          <a:p/>
          <a:p>
            <a:r>
              <a:t>[Sources]</a:t>
            </a:r>
          </a:p>
          <a:p>
            <a:r>
              <a:t>- AWS Certified DevOps Engineer – Professional (DOP-C02) Exam Guide (docs.aws.amazon.com/pdfs/aws-certification/latest/devops-engineer-professional-02).</a:t>
            </a:r>
          </a:p>
          <a:p>
            <a:r>
              <a:t>- AWS CloudWatch Documentation (docs.aws.amazon.com/AmazonCloudWatch).</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04 deep dive — Monitoring and Logging. Editable AWS-native diagram/table/chart.</a:t>
            </a:r>
          </a:p>
          <a:p/>
          <a:p>
            <a:r>
              <a:t>[Sources]</a:t>
            </a:r>
          </a:p>
          <a:p>
            <a:r>
              <a:t>- AWS Certified DevOps Engineer – Professional (DOP-C02) Exam Guide (docs.aws.amazon.com/pdfs/aws-certification/latest/devops-engineer-professional-02).</a:t>
            </a:r>
          </a:p>
          <a:p>
            <a:r>
              <a:t>- AWS CloudWatch Documentation (docs.aws.amazon.com/AmazonCloudWatch).</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pillars — metrics, logs, traces.</a:t>
            </a:r>
          </a:p>
          <a:p>
            <a:r>
              <a:t>Why it matters: Each pillar answers a different question — 'is it broken?', 'why?', and 'where?' — and you need all three to troubleshoot fast.</a:t>
            </a:r>
          </a:p>
          <a:p>
            <a:r>
              <a:t>Failure mode: Logging everything but graphing nothing leaves you searching text during an outage instead of seeing the problem at a glance.</a:t>
            </a:r>
          </a:p>
          <a:p>
            <a:r>
              <a:t>Trade-off: High-cardinality metrics and verbose logs cost money and can slow queries — sample and aggregate deliberately.</a:t>
            </a:r>
          </a:p>
          <a:p/>
          <a:p>
            <a:r>
              <a:t>[Sources]</a:t>
            </a:r>
          </a:p>
          <a:p>
            <a:r>
              <a:t>- AWS CloudWatch Documentation (docs.aws.amazon.com/AmazonCloudWatch).</a:t>
            </a:r>
          </a:p>
          <a:p>
            <a:r>
              <a:t>- AWS X-Ray Documentation (docs.aws.amazon.com/xray).</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CloudWatch metrics model — namespaces, dimensions, statistics.</a:t>
            </a:r>
          </a:p>
          <a:p>
            <a:r>
              <a:t>Why it matters: Understanding dimensions and percentiles is what separates 'average looks fine' from seeing the p99 pain real users feel.</a:t>
            </a:r>
          </a:p>
          <a:p>
            <a:r>
              <a:t>Failure mode: Alarming on Average hides tail latency — the average is healthy while your slowest 1% of users are timing out.</a:t>
            </a:r>
          </a:p>
          <a:p>
            <a:r>
              <a:t>Trade-off: Percentiles and high-resolution metrics cost more but reveal problems averages mask.</a:t>
            </a:r>
          </a:p>
          <a:p/>
          <a:p>
            <a:r>
              <a:t>[Sources]</a:t>
            </a:r>
          </a:p>
          <a:p>
            <a:r>
              <a:t>- AWS CloudWatch metrics Documentation (docs.aws.amazon.com/AmazonCloudWatch/latest/monitoring/working_with_metrics.html).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logs into signals.</a:t>
            </a:r>
          </a:p>
          <a:p>
            <a:r>
              <a:t>Why it matters: A metric filter converts unsearchable text into an alarmable metric, so logs drive automated response, not just post-hoc reading.</a:t>
            </a:r>
          </a:p>
          <a:p>
            <a:r>
              <a:t>Failure mode: Relying on humans to eyeball logs means problems are found only after users complain.</a:t>
            </a:r>
          </a:p>
          <a:p>
            <a:r>
              <a:t>Trade-off: Extracting many metrics from logs adds cost and complexity — extract the few that drive alarms and dashboards.</a:t>
            </a:r>
          </a:p>
          <a:p/>
          <a:p>
            <a:r>
              <a:t>[Sources]</a:t>
            </a:r>
          </a:p>
          <a:p>
            <a:r>
              <a:t>- AWS CloudWatch Logs Documentation (docs.aws.amazon.com/AmazonCloudWatch/latest/logs/WhatIsCloudWatchLogs.html).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Alarms, composite alarms and anomaly detection.</a:t>
            </a:r>
          </a:p>
          <a:p>
            <a:r>
              <a:t>Why it matters: Well-designed alarms notify on real, actionable conditions and feed the automated incident response in Domain 5.</a:t>
            </a:r>
          </a:p>
          <a:p>
            <a:r>
              <a:t>Failure mode: Too many noisy single-metric alarms cause alert fatigue; responders learn to ignore the pager.</a:t>
            </a:r>
          </a:p>
          <a:p>
            <a:r>
              <a:t>Trade-off: Anomaly detection reduces false alarms but needs a learning period and can miss slow, gradual regressions.</a:t>
            </a:r>
          </a:p>
          <a:p/>
          <a:p>
            <a:r>
              <a:t>[Sources]</a:t>
            </a:r>
          </a:p>
          <a:p>
            <a:r>
              <a:t>- AWS CloudWatch alarms Documentation (docs.aws.amazon.com/AmazonCloudWatch/latest/monitoring/AlarmThatSendsEmail.html).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Dashboards and the single pane of glass.</a:t>
            </a:r>
          </a:p>
          <a:p>
            <a:r>
              <a:t>Why it matters: During an incident a good dashboard turns minutes of hunting into seconds of seeing — it is a force multiplier for MTTR.</a:t>
            </a:r>
          </a:p>
          <a:p>
            <a:r>
              <a:t>Failure mode: A wall of 200 unlabelled graphs is as useless as none — no one can spot the anomaly under pressure.</a:t>
            </a:r>
          </a:p>
          <a:p>
            <a:r>
              <a:t>Trade-off: Curated dashboards need maintenance as the system changes — stale dashboards mislead.</a:t>
            </a:r>
          </a:p>
          <a:p/>
          <a:p>
            <a:r>
              <a:t>[Sources]</a:t>
            </a:r>
          </a:p>
          <a:p>
            <a:r>
              <a:t>- AWS CloudWatch dashboards Documentation (docs.aws.amazon.com/AmazonCloudWatch/latest/monitoring/CloudWatch_Dashboards.html).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tracing with X-Ray.</a:t>
            </a:r>
          </a:p>
          <a:p>
            <a:r>
              <a:t>Why it matters: In microservices, a symptom (slow checkout) and its cause (a slow third-party call three hops away) are far apart — tracing connects them.</a:t>
            </a:r>
          </a:p>
          <a:p>
            <a:r>
              <a:t>Failure mode: Without tracing, teams blame each other's services because no one can see the end-to-end request path.</a:t>
            </a:r>
          </a:p>
          <a:p>
            <a:r>
              <a:t>Trade-off: Full tracing is expensive at scale — sampling trades completeness for affordable, representative visibility.</a:t>
            </a:r>
          </a:p>
          <a:p/>
          <a:p>
            <a:r>
              <a:t>[Sources]</a:t>
            </a:r>
          </a:p>
          <a:p>
            <a:r>
              <a:t>- AWS X-Ray Documentation (docs.aws.amazon.com/xray/latest/devguide).</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Observability at scale — agents, OpenTelemetry, cross-account.</a:t>
            </a:r>
          </a:p>
          <a:p>
            <a:r>
              <a:t>Why it matters: A consistent collection standard across a large estate makes telemetry comparable and centrally queryable.</a:t>
            </a:r>
          </a:p>
          <a:p>
            <a:r>
              <a:t>Failure mode: Every team inventing its own metrics and log formats makes cross-service correlation impossible.</a:t>
            </a:r>
          </a:p>
          <a:p>
            <a:r>
              <a:t>Trade-off: Centralisation eases correlation but concentrates cost and access — govern the monitoring account carefully.</a:t>
            </a:r>
          </a:p>
          <a:p/>
          <a:p>
            <a:r>
              <a:t>[Sources]</a:t>
            </a:r>
          </a:p>
          <a:p>
            <a:r>
              <a:t>- AWS CloudWatch agent Documentation (docs.aws.amazon.com/AmazonCloudWatch/latest/monitoring/Install-CloudWatch-Agent.html).</a:t>
            </a:r>
          </a:p>
          <a:p>
            <a:r>
              <a:t>- AWS OpenTelemetry (ADOT) Documentation (docs.aws.amazon.com/otel).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golden signals and SLOs.</a:t>
            </a:r>
          </a:p>
          <a:p>
            <a:r>
              <a:t>Why it matters: Tying monitoring to SLOs focuses attention on what users actually experience and gives an objective 'are we healthy?' answer.</a:t>
            </a:r>
          </a:p>
          <a:p>
            <a:r>
              <a:t>Failure mode: Alerting on CPU while the SLO quietly burns means you page on non-issues and miss the user-facing failure.</a:t>
            </a:r>
          </a:p>
          <a:p>
            <a:r>
              <a:t>Trade-off: Strict SLOs drive reliability work but can slow feature delivery — the error budget is the negotiated balance.</a:t>
            </a:r>
          </a:p>
          <a:p/>
          <a:p>
            <a:r>
              <a:t>[Sources]</a:t>
            </a:r>
          </a:p>
          <a:p>
            <a:r>
              <a:t>- AWS Well-Architected Framework (docs.aws.amazon.com/wellarchitected).</a:t>
            </a:r>
          </a:p>
          <a:p>
            <a:r>
              <a:t>- DORA / Google Cloud, Accelerate State of DevOps (dora.dev).</a:t>
            </a:r>
          </a:p>
          <a:p>
            <a:r>
              <a:t>- AWS CloudWatch Documentation (docs.aws.amazon.com/AmazonCloudWatch).</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 CloudWatch Insight Tools — Pick the Right Lens.</a:t>
            </a:r>
          </a:p>
          <a:p/>
          <a:p>
            <a:r>
              <a:t>[Sources]</a:t>
            </a:r>
          </a:p>
          <a:p>
            <a:r>
              <a:t>- AWS CloudWatch Documentation (docs.aws.amazon.com/AmazonCloudWatch).</a:t>
            </a:r>
          </a:p>
          <a:p>
            <a:r>
              <a:t>- AWS X-Ray Documentation (docs.aws.amazon.com/xray).</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Average Hides the Tail — Latency Percentiles. What the data shows: The average looks healthy at 140ms while the p99 user waits nearly a second — always alarm on the percentile your users feel.</a:t>
            </a:r>
          </a:p>
          <a:p>
            <a:r>
              <a:t>Figures are illustrative teaching values to convey the relationship, not measured benchmarks.</a:t>
            </a:r>
          </a:p>
          <a:p/>
          <a:p>
            <a:r>
              <a:t>[Sources]</a:t>
            </a:r>
          </a:p>
          <a:p>
            <a:r>
              <a:t>- AWS CloudWatch metrics Documentation (docs.aws.amazon.com/AmazonCloudWatch/latest/monitoring/working_with_metrics.html).</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Monitoring Failure Modes &amp; Anti-Patterns.</a:t>
            </a:r>
          </a:p>
          <a:p>
            <a:r>
              <a:t>Alarm on average — Tail latency hidden → alarm on p90/p99.</a:t>
            </a:r>
          </a:p>
          <a:p>
            <a:r>
              <a:t>Alert fatigue — Noisy alarms ignored → composite alarms, SLO-based alerting.</a:t>
            </a:r>
          </a:p>
          <a:p>
            <a:r>
              <a:t>Logs but no metrics — Manual searching in incidents → metric filters + dashboards.</a:t>
            </a:r>
          </a:p>
          <a:p>
            <a:r>
              <a:t>No traces in microservices — Cross-team blame → adopt X-Ray/OTel.</a:t>
            </a:r>
          </a:p>
          <a:p>
            <a:r>
              <a:t>Vanity dashboards — 200 graphs, no signal → golden-signals layout.</a:t>
            </a:r>
          </a:p>
          <a:p>
            <a:r>
              <a:t>Unmonitored dependencies — Third-party outage invisible → synthetic canaries.</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Observability Patterns Worth Adopting.</a:t>
            </a:r>
          </a:p>
          <a:p>
            <a:r>
              <a:t>Golden-signals dashboards — Latency, traffic, errors, saturation per service.</a:t>
            </a:r>
          </a:p>
          <a:p>
            <a:r>
              <a:t>SLOs + error budgets — Objective health and a delivery/reliability balance.</a:t>
            </a:r>
          </a:p>
          <a:p>
            <a:r>
              <a:t>Structured logging — JSON logs with correlation IDs for Logs Insights.</a:t>
            </a:r>
          </a:p>
          <a:p>
            <a:r>
              <a:t>Synthetic canaries — Probe key journeys before real users hit failures.</a:t>
            </a:r>
          </a:p>
          <a:p>
            <a:r>
              <a:t>Metric filters → alarms — Turn log events into automated response.</a:t>
            </a:r>
          </a:p>
          <a:p>
            <a:r>
              <a:t>Centralised observability — Cross-account monitoring account.</a:t>
            </a:r>
          </a:p>
          <a:p/>
          <a:p>
            <a:r>
              <a:t>[Sources]</a:t>
            </a:r>
          </a:p>
          <a:p>
            <a:r>
              <a:t>- AWS Well-Architected Framework (docs.aws.amazon.com/wellarchitected).</a:t>
            </a:r>
          </a:p>
          <a:p>
            <a:r>
              <a:t>- DORA / Google Cloud, Accelerate State of DevOps (dora.dev).</a:t>
            </a:r>
          </a:p>
          <a:p>
            <a:r>
              <a:t>- AWS CloudWatch Synthetics Documentation (docs.aws.amazon.com/AmazonCloudWatch/latest/monitoring/CloudWatch_Synthetics_Canaries.html).</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Decision — What Should Page a Human?.</a:t>
            </a:r>
          </a:p>
          <a:p>
            <a:r>
              <a:t>Option A — Page immediately: SLO-burning, user-facing symptoms (error rate, latency breach). Actionable now — keep these few and trustworthy.</a:t>
            </a:r>
          </a:p>
          <a:p>
            <a:r>
              <a:t>Option B — Ticket / review later: Trends and capacity signals (rising saturation). Important but not urgent — dashboards and weekly review.</a:t>
            </a:r>
          </a:p>
          <a:p>
            <a:r>
              <a:t>Option C — Auto-remediate, don't page: Known, safe fixes (restart, scale, isolate). Let EventBridge + Lambda handle it and notify, not wake, the team.</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Dashboards show CPU and memory healthy, yet support reports slow checkouts.</a:t>
            </a:r>
          </a:p>
          <a:p>
            <a:r>
              <a:t>Resource metrics are averages and miss the user-facing symptom; the SLO is about request latency, not CPU.</a:t>
            </a:r>
          </a:p>
          <a:p>
            <a:r>
              <a:t>A p99 latency metric and a Logs Insights query on the checkout path would reveal the slow requests.</a:t>
            </a:r>
          </a:p>
          <a:p>
            <a:r>
              <a:t>An X-Ray service map would localise the slow downstream call.</a:t>
            </a:r>
          </a:p>
          <a:p>
            <a:r>
              <a:t>Decision: Re-orient alerting around the golden signals and the SLO (p99 latency, error rate), and add tracing so the next 'green but slow' is visible and localisable in seconds.</a:t>
            </a:r>
          </a:p>
          <a:p/>
          <a:p>
            <a:r>
              <a:t>[Sources]</a:t>
            </a:r>
          </a:p>
          <a:p>
            <a:r>
              <a:t>- AWS X-Ray Documentation (docs.aws.amazon.com/xray).</a:t>
            </a:r>
          </a:p>
          <a:p>
            <a:r>
              <a:t>- AWS CloudWatch Documentation (docs.aws.amazon.com/AmazonCloudWatch).</a:t>
            </a:r>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 single database blip fires 40 alarms across dependent services and the on-call mutes the channel.</a:t>
            </a:r>
          </a:p>
          <a:p>
            <a:r>
              <a:t>Many single-metric alarms describe the same root cause, creating noise and fatigue.</a:t>
            </a:r>
          </a:p>
          <a:p>
            <a:r>
              <a:t>A composite alarm can express 'DB unhealthy AND app errors rising' and suppress the downstream chatter.</a:t>
            </a:r>
          </a:p>
          <a:p>
            <a:r>
              <a:t>SLO-based alerting pages on user impact, not on every correlated resource wobble.</a:t>
            </a:r>
          </a:p>
          <a:p>
            <a:r>
              <a:t>Decision: Consolidate with composite alarms and alert on SLO burn, so one meaningful page fires instead of forty — restoring trust in the pager.</a:t>
            </a:r>
          </a:p>
          <a:p/>
          <a:p>
            <a:r>
              <a:t>[Sources]</a:t>
            </a:r>
          </a:p>
          <a:p>
            <a:r>
              <a:t>- AWS Composite alarms Documentation (docs.aws.amazon.com/AmazonCloudWatch/latest/monitoring/Create_Composite_Alarm.html).</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Analysis — From Log Line to Alarm.</a:t>
            </a:r>
          </a:p>
          <a:p>
            <a:r>
              <a:t>Raw log: 'ERROR checkout timeout' — Unstructured text — invisible to metrics and alarms as-is.</a:t>
            </a:r>
          </a:p>
          <a:p>
            <a:r>
              <a:t>Metric filter extracts AppErrorCount — A numeric metric now exists in a custom namespace.</a:t>
            </a:r>
          </a:p>
          <a:p>
            <a:r>
              <a:t>Alarm: Sum &gt; 5 in 1 minute — The metric becomes an actionable state change.</a:t>
            </a:r>
          </a:p>
          <a:p>
            <a:r>
              <a:t>Alarm → SNS/EventBridge — Notifies responders and can trigger auto-remediation (Domain 5).</a:t>
            </a:r>
          </a:p>
          <a:p>
            <a:r>
              <a:t>Takeaway: Observability is a pipeline: capture → extract → alarm → act. Each stage turns raw data into faster recovery.</a:t>
            </a:r>
          </a:p>
          <a:p/>
          <a:p>
            <a:r>
              <a:t>[Sources]</a:t>
            </a:r>
          </a:p>
          <a:p>
            <a:r>
              <a:t>- AWS CloudWatch Logs metric filters Documentation (docs.aws.amazon.com/AmazonCloudWatch/latest/logs/MonitoringLogData.html).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Metrics, logs and alarms.</a:t>
            </a:r>
          </a:p>
          <a:p>
            <a:r>
              <a:t>PURPOSE: Turn workload and deployment signals into actionable views, alarms and release decisions.</a:t>
            </a:r>
          </a:p>
          <a:p>
            <a:r>
              <a:t>FEATURE 1: Metrics are time-series values with dimensions; high-cardinality dimensions can increase cost and fragmentation.</a:t>
            </a:r>
          </a:p>
          <a:p>
            <a:r>
              <a:t>FEATURE 2: Logs supports structured ingestion, retention, subscriptions and Logs Insights queries.</a:t>
            </a:r>
          </a:p>
          <a:p>
            <a:r>
              <a:t>FEATURE 3: Metric math, anomaly detection and composite alarms reduce noisy single-signal decisions.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Metrics, logs and alarms: selection and controls.</a:t>
            </a:r>
          </a:p>
          <a:p>
            <a:r>
              <a:t>CHOOSE WHEN: Use metrics for numeric trends/alarms, logs for event detail and composite/SLO signals for user impact.</a:t>
            </a:r>
          </a:p>
          <a:p>
            <a:r>
              <a:t>DEVOPS ENGINEERING: Standardise dimensions, correlate release IDs, set retention, treat missing data deliberately and test alarm actions.</a:t>
            </a:r>
          </a:p>
          <a:p>
            <a:r>
              <a:t>FAILURE MODE: A low-level alarm without an owner, action or user-impact relationship creates noise rather than observability.</a:t>
            </a:r>
          </a:p>
          <a:p>
            <a:r>
              <a:t>EVIDENCE: Dashboard, query, alarm history, notification, release annotation and operator response.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Tracing and service health.</a:t>
            </a:r>
          </a:p>
          <a:p>
            <a:r>
              <a:t>PURPOSE: Correlate a user request across services and identify latency, faults, errors and dependency bottlenecks.</a:t>
            </a:r>
          </a:p>
          <a:p>
            <a:r>
              <a:t>FEATURE 1: Trace segments/subsegments represent service work and downstream calls.</a:t>
            </a:r>
          </a:p>
          <a:p>
            <a:r>
              <a:t>FEATURE 2: Sampling limits cost while preserving representative traces; annotations support indexed filtering.</a:t>
            </a:r>
          </a:p>
          <a:p>
            <a:r>
              <a:t>FEATURE 3: Application Signals adds service, operation and SLO-oriented telemetry for supported workloads.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Tracing and service health: selection and controls.</a:t>
            </a:r>
          </a:p>
          <a:p>
            <a:r>
              <a:t>CHOOSE WHEN: Use distributed tracing when logs alone cannot explain cross-service latency or failure propagation.</a:t>
            </a:r>
          </a:p>
          <a:p>
            <a:r>
              <a:t>DEVOPS ENGINEERING: Propagate trace context, avoid sensitive annotations, correlate trace/release IDs and define service-level objectives.</a:t>
            </a:r>
          </a:p>
          <a:p>
            <a:r>
              <a:t>FAILURE MODE: Unsampled rare failures or missing context propagation create misleading service maps.</a:t>
            </a:r>
          </a:p>
          <a:p>
            <a:r>
              <a:t>EVIDENCE: Trace ID, service map, fault/latency segment, correlated log, SLO burn and release identifier.</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Telemetry analytics.</a:t>
            </a:r>
          </a:p>
          <a:p>
            <a:r>
              <a:t>PURPOSE: Search, retain and visualise operational telemetry using tools matched to log, metric and dashboard workloads.</a:t>
            </a:r>
          </a:p>
          <a:p>
            <a:r>
              <a:t>FEATURE 1: OpenSearch indexes/searches documents and can visualise log/event data.</a:t>
            </a:r>
          </a:p>
          <a:p>
            <a:r>
              <a:t>FEATURE 2: Managed Prometheus provides PromQL-compatible metric ingestion/query for container ecosystems.</a:t>
            </a:r>
          </a:p>
          <a:p>
            <a:r>
              <a:t>FEATURE 3: Managed Grafana federates dashboards across approved data sources.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Telemetry analytics: selection and controls.</a:t>
            </a:r>
          </a:p>
          <a:p>
            <a:r>
              <a:t>CHOOSE WHEN: Use native CloudWatch first for AWS-integrated operations; add OpenSearch or Prometheus/Grafana when search/query or ecosystem requirements justify them.</a:t>
            </a:r>
          </a:p>
          <a:p>
            <a:r>
              <a:t>DEVOPS ENGINEERING: Control tenancy, encryption, retention, shard/cardinality growth and dashboard access through federation.</a:t>
            </a:r>
          </a:p>
          <a:p>
            <a:r>
              <a:t>FAILURE MODE: Unbounded log indexing or metric labels can create cost and performance failures.</a:t>
            </a:r>
          </a:p>
          <a:p>
            <a:r>
              <a:t>EVIDENCE: Index policy, ingestion lag, query latency, series count, dashboard ownership and access log.</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Streaming and data engineering signals.</a:t>
            </a:r>
          </a:p>
          <a:p>
            <a:r>
              <a:t>PURPOSE: Move high-volume operational events into durable streams, delivery destinations and queryable evidence stores.</a:t>
            </a:r>
          </a:p>
          <a:p>
            <a:r>
              <a:t>FEATURE 1: Kinesis Data Streams partitions records by key and exposes shard/consumer lag and retention controls.</a:t>
            </a:r>
          </a:p>
          <a:p>
            <a:r>
              <a:t>FEATURE 2: Firehose buffers, optionally transforms and delivers data to destinations such as S3/OpenSearch.</a:t>
            </a:r>
          </a:p>
          <a:p>
            <a:r>
              <a:t>FEATURE 3: Glue Catalog describes datasets; Athena queries data in S3 and benefits from partitioning and columnar formats.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 and data engineering signals: selection and controls.</a:t>
            </a:r>
          </a:p>
          <a:p>
            <a:r>
              <a:t>CHOOSE WHEN: Use Streams for custom low-latency consumers/replay, Firehose for managed delivery, and S3/Glue/Athena for economical historical analysis.</a:t>
            </a:r>
          </a:p>
          <a:p>
            <a:r>
              <a:t>DEVOPS ENGINEERING: Choose partition keys carefully, monitor iterator age, design replay/idempotency, encrypt records and control schema evolution.</a:t>
            </a:r>
          </a:p>
          <a:p>
            <a:r>
              <a:t>FAILURE MODE: A hot partition throttles one shard even when the stream has unused capacity elsewhere.</a:t>
            </a:r>
          </a:p>
          <a:p>
            <a:r>
              <a:t>EVIDENCE: Put-record result, shard distribution, iterator age, delivery error, catalog version, query and retention policy.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CloudWatch metrics, logs and alarm engineering.</a:t>
            </a:r>
          </a:p>
          <a:p>
            <a:r>
              <a:t>PURPOSE: Create actionable observability from service, application and business signals instead of accumulating unowned telemetry.</a:t>
            </a:r>
          </a:p>
          <a:p>
            <a:r>
              <a:t>SERVICE BOUNDARY: CloudWatch Metrics · Logs · alarms · Logs Insights</a:t>
            </a:r>
          </a:p>
          <a:p>
            <a:r>
              <a:t>PRIMARY DESIGN DECISION: Emit transaction success/failure and latency, annotate releases, alarm on error-rate/SLO burn and use a composite signal for rollback.</a:t>
            </a:r>
          </a:p>
          <a:p>
            <a:r>
              <a:t>FAILURE BOUNDARY: CPU is not a user outcome; unbounded tenant IDs as dimensions can create excessive custom time series.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CloudWatch metrics, logs and alarm engineering: how it works.</a:t>
            </a:r>
          </a:p>
          <a:p>
            <a:r>
              <a:t>MECHANIC 1: Metrics combine namespace, name, dimensions, timestamp and value; every new dimension combination creates a distinct time series with cost and cardinality implications.</a:t>
            </a:r>
          </a:p>
          <a:p>
            <a:r>
              <a:t>MECHANIC 2: Embedded Metric Format extracts metrics from structured logs, allowing a single event to retain detail and contribute numeric signals.</a:t>
            </a:r>
          </a:p>
          <a:p>
            <a:r>
              <a:t>MECHANIC 3: Log groups define retention and encryption; subscription filters stream matching events to supported destinations for central analysis.</a:t>
            </a:r>
          </a:p>
          <a:p>
            <a:r>
              <a:t>MECHANIC 4: Metric math, anomaly detection and composite alarms combine signals, while missing-data treatment changes whether absence is healthy, breaching or unknown.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CloudWatch metrics, logs and alarm engineering: operating flow.</a:t>
            </a:r>
          </a:p>
          <a:p>
            <a:r>
              <a:t>Emit structured telemetry</a:t>
            </a:r>
          </a:p>
          <a:p>
            <a:r>
              <a:t>Apply dimensions and retention</a:t>
            </a:r>
          </a:p>
          <a:p>
            <a:r>
              <a:t>Query and correlate release</a:t>
            </a:r>
          </a:p>
          <a:p>
            <a:r>
              <a:t>Evaluate SLO signal</a:t>
            </a:r>
          </a:p>
          <a:p>
            <a:r>
              <a:t>Notify owner or automate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CloudWatch metrics, logs and alarm engineering: configuration decisions.</a:t>
            </a:r>
          </a:p>
          <a:p>
            <a:r>
              <a:t>SIGNAL: Prefer request, error, duration and saturation indicators plus business outcomes over infrastructure-only dashboards.</a:t>
            </a:r>
          </a:p>
          <a:p>
            <a:r>
              <a:t>ALARM: Define owner, severity, action, evaluation window and recovery behavior; test alarm transitions deliberately.</a:t>
            </a:r>
          </a:p>
          <a:p>
            <a:r>
              <a:t>LOGS: Use structured fields and correlation IDs, redact secrets and set retention from operational/legal need.</a:t>
            </a:r>
          </a:p>
          <a:p>
            <a:r>
              <a:t>COST: Control custom metric cardinality, log volume, ingestion class and query scan range.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CloudWatch metrics, logs and alarm engineering: worked architecture decision.</a:t>
            </a:r>
          </a:p>
          <a:p>
            <a:r>
              <a:t>SCENARIO: A deployment increases checkout failures without raising CPU, so the existing fleet alarm remains green.</a:t>
            </a:r>
          </a:p>
          <a:p>
            <a:r>
              <a:t>DESIGN DECISION: Emit transaction success/failure and latency, annotate releases, alarm on error-rate/SLO burn and use a composite signal for rollback.</a:t>
            </a:r>
          </a:p>
          <a:p>
            <a:r>
              <a:t>FAILURE TO AVOID: CPU is not a user outcome; unbounded tenant IDs as dimensions can create excessive custom time series.</a:t>
            </a:r>
          </a:p>
          <a:p>
            <a:r>
              <a:t>ACCEPTANCE EVIDENCE: Metric schema, sample structured log, dashboard, query, alarm history, release annotation and operator action.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Distributed tracing with X-Ray and OpenTelemetry.</a:t>
            </a:r>
          </a:p>
          <a:p>
            <a:r>
              <a:t>PURPOSE: Follow requests across service boundaries and connect latency or faults to dependency, release and log evidence.</a:t>
            </a:r>
          </a:p>
          <a:p>
            <a:r>
              <a:t>SERVICE BOUNDARY: AWS X-Ray · ADOT · Application Signals · ServiceLens</a:t>
            </a:r>
          </a:p>
          <a:p>
            <a:r>
              <a:t>PRIMARY DESIGN DECISION: Propagate trace context, instrument SDK/dependency calls, retain message correlation and compare queue delay with processing duration.</a:t>
            </a:r>
          </a:p>
          <a:p>
            <a:r>
              <a:t>FAILURE BOUNDARY: A trace covering only the first Lambda misattributes queue time and hides downstream throttling.</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tracing with X-Ray and OpenTelemetry: how it works.</a:t>
            </a:r>
          </a:p>
          <a:p>
            <a:r>
              <a:t>MECHANIC 1: Trace context propagates a trace identifier and sampling decision; each service contributes spans or X-Ray segments/subsegments describing timed work.</a:t>
            </a:r>
          </a:p>
          <a:p>
            <a:r>
              <a:t>MECHANIC 2: Sampling reduces telemetry volume and must preserve enough rare or high-value failures for diagnosis; head and tail sampling have different visibility trade-offs.</a:t>
            </a:r>
          </a:p>
          <a:p>
            <a:r>
              <a:t>MECHANIC 3: Annotations are indexed fields for trace filtering, while metadata stores unindexed context; neither should contain secrets or regulated payloads.</a:t>
            </a:r>
          </a:p>
          <a:p>
            <a:r>
              <a:t>MECHANIC 4: AWS Distro for OpenTelemetry collects standard traces and metrics and can export to supported AWS or third-party backends.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tracing with X-Ray and OpenTelemetry: operating flow.</a:t>
            </a:r>
          </a:p>
          <a:p>
            <a:r>
              <a:t>Receive trace context</a:t>
            </a:r>
          </a:p>
          <a:p>
            <a:r>
              <a:t>Create server span</a:t>
            </a:r>
          </a:p>
          <a:p>
            <a:r>
              <a:t>Instrument dependency call</a:t>
            </a:r>
          </a:p>
          <a:p>
            <a:r>
              <a:t>Export sampled telemetry</a:t>
            </a:r>
          </a:p>
          <a:p>
            <a:r>
              <a:t>Correlate map, logs and release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tracing with X-Ray and OpenTelemetry: configuration decisions.</a:t>
            </a:r>
          </a:p>
          <a:p>
            <a:r>
              <a:t>PROPAGATION: Instrument every protocol boundary or explicitly bridge trace headers; one missing hop fragments the service map.</a:t>
            </a:r>
          </a:p>
          <a:p>
            <a:r>
              <a:t>SAMPLING: Set rules by service/path/value and monitor cost; preserve critical errors through appropriate sampling strategy.</a:t>
            </a:r>
          </a:p>
          <a:p>
            <a:r>
              <a:t>ASYNC WORK: Link producer and consumer context without pretending queued time is synchronous processing.</a:t>
            </a:r>
          </a:p>
          <a:p>
            <a:r>
              <a:t>PRIVACY: Record identifiers needed for correlation but exclude credentials, tokens and sensitive payloads.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tracing with X-Ray and OpenTelemetry: worked architecture decision.</a:t>
            </a:r>
          </a:p>
          <a:p>
            <a:r>
              <a:t>SCENARIO: A serverless request is fast at the API edge but intermittently slow after two asynchronous downstream steps.</a:t>
            </a:r>
          </a:p>
          <a:p>
            <a:r>
              <a:t>DESIGN DECISION: Propagate trace context, instrument SDK/dependency calls, retain message correlation and compare queue delay with processing duration.</a:t>
            </a:r>
          </a:p>
          <a:p>
            <a:r>
              <a:t>FAILURE TO AVOID: A trace covering only the first Lambda misattributes queue time and hides downstream throttling.</a:t>
            </a:r>
          </a:p>
          <a:p>
            <a:r>
              <a:t>ACCEPTANCE EVIDENCE: Trace ID, sampled spans, service map, fault/latency segment, correlated log/request ID and deployment version.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Kinesis, Firehose and queryable event lakes.</a:t>
            </a:r>
          </a:p>
          <a:p>
            <a:r>
              <a:t>PURPOSE: Ingest, replay, deliver and query high-volume operational events while controlling partition balance, lag and schema evolution.</a:t>
            </a:r>
          </a:p>
          <a:p>
            <a:r>
              <a:t>SERVICE BOUNDARY: Kinesis Data Streams · Firehose · Glue · Athena</a:t>
            </a:r>
          </a:p>
          <a:p>
            <a:r>
              <a:t>PRIMARY DESIGN DECISION: Redesign the partition key with controlled distribution, preserve customer queryability in record fields and scale consumers from measured lag.</a:t>
            </a:r>
          </a:p>
          <a:p>
            <a:r>
              <a:t>FAILURE BOUNDARY: Adding shards does not fix an unchanged hot key; retrying failed records without checkpoints can duplicate downstream work.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Kinesis, Firehose and queryable event lakes: how it works.</a:t>
            </a:r>
          </a:p>
          <a:p>
            <a:r>
              <a:t>MECHANIC 1: Data Streams assigns records to shards from the partition key; consumer lag and hot shards are therefore functions of key distribution and per-shard throughput.</a:t>
            </a:r>
          </a:p>
          <a:p>
            <a:r>
              <a:t>MECHANIC 2: Enhanced fan-out gives registered consumers dedicated read throughput, while shared polling consumers compete within shard limits.</a:t>
            </a:r>
          </a:p>
          <a:p>
            <a:r>
              <a:t>MECHANIC 3: Firehose buffers by size/time, can transform records and delivers to destinations with backup/error prefixes for failed data.</a:t>
            </a:r>
          </a:p>
          <a:p>
            <a:r>
              <a:t>MECHANIC 4: S3 partitioning, Glue catalog metadata and columnar formats such as Parquet reduce Athena scan volume and make historical evidence economical.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Kinesis, Firehose and queryable event lakes: operating flow.</a:t>
            </a:r>
          </a:p>
          <a:p>
            <a:r>
              <a:t>Choose partition key</a:t>
            </a:r>
          </a:p>
          <a:p>
            <a:r>
              <a:t>Write with retry and ordering</a:t>
            </a:r>
          </a:p>
          <a:p>
            <a:r>
              <a:t>Consume/checkpoint</a:t>
            </a:r>
          </a:p>
          <a:p>
            <a:r>
              <a:t>Deliver and catalog</a:t>
            </a:r>
          </a:p>
          <a:p>
            <a:r>
              <a:t>Query lag, errors and history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Kinesis, Firehose and queryable event lakes: configuration decisions.</a:t>
            </a:r>
          </a:p>
          <a:p>
            <a:r>
              <a:t>STREAMS: Choose when custom consumers, replay, ordering within a shard or low-latency processing are required.</a:t>
            </a:r>
          </a:p>
          <a:p>
            <a:r>
              <a:t>FIREHOSE: Choose for managed buffered delivery where application-controlled replay/consumer logic is not required.</a:t>
            </a:r>
          </a:p>
          <a:p>
            <a:r>
              <a:t>SCHEMA: Version records compatibly and quarantine malformed events instead of blocking an entire consumer shard.</a:t>
            </a:r>
          </a:p>
          <a:p>
            <a:r>
              <a:t>SECURITY: Encrypt in transit/at rest, scope producer/consumer roles and protect destination prefixes/catalog access.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Kinesis, Firehose and queryable event lakes: worked architecture decision.</a:t>
            </a:r>
          </a:p>
          <a:p>
            <a:r>
              <a:t>SCENARIO: One customer ID dominates the stream and causes high iterator age while other shards remain idle.</a:t>
            </a:r>
          </a:p>
          <a:p>
            <a:r>
              <a:t>DESIGN DECISION: Redesign the partition key with controlled distribution, preserve customer queryability in record fields and scale consumers from measured lag.</a:t>
            </a:r>
          </a:p>
          <a:p>
            <a:r>
              <a:t>FAILURE TO AVOID: Adding shards does not fix an unchanged hot key; retrying failed records without checkpoints can duplicate downstream work.</a:t>
            </a:r>
          </a:p>
          <a:p>
            <a:r>
              <a:t>ACCEPTANCE EVIDENCE: Put-record responses, per-shard throughput, iterator age, checkpoint, delivery errors, catalog version and Athena query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Metrics, dimensions and service objectives.</a:t>
            </a:r>
          </a:p>
          <a:p>
            <a:r>
              <a:t>OUTCOME: Measure user outcomes and resource behavior with metrics that support decisions.</a:t>
            </a:r>
          </a:p>
          <a:p>
            <a:r>
              <a:t>ARCHITECTURE: Define SLIs and thresholds, use dimensions carefully, aggregate intentionally and avoid high-cardinality custom metrics.</a:t>
            </a:r>
          </a:p>
          <a:p>
            <a:r>
              <a:t>FAILURE MODE: Averages can hide tail latency and a small population of severe failures.</a:t>
            </a:r>
          </a:p>
          <a:p>
            <a:r>
              <a:t>EVIDENCE: Metric namespace, dimensions, statistic, period, percentile, SLO and alarm history.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Metrics, dimensions and service objectives: operating flow.</a:t>
            </a:r>
          </a:p>
          <a:p>
            <a:r>
              <a:t>Instrument</a:t>
            </a:r>
          </a:p>
          <a:p>
            <a:r>
              <a:t>Publish</a:t>
            </a:r>
          </a:p>
          <a:p>
            <a:r>
              <a:t>Aggregate</a:t>
            </a:r>
          </a:p>
          <a:p>
            <a:r>
              <a:t>Compare to objective</a:t>
            </a:r>
          </a:p>
          <a:p>
            <a:r>
              <a:t>Alert or review</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Metrics, dimensions and service objectives: design decision.</a:t>
            </a:r>
          </a:p>
          <a:p>
            <a:r>
              <a:t>SCENARIO: An API meets average-latency targets but its slowest five percent of requests breach the user promise.</a:t>
            </a:r>
          </a:p>
          <a:p>
            <a:r>
              <a:t>DESIGN RESPONSE: Define SLIs and thresholds, use dimensions carefully, aggregate intentionally and avoid high-cardinality custom metrics.</a:t>
            </a:r>
          </a:p>
          <a:p>
            <a:r>
              <a:t>PRIMARY SERVICES: CloudWatch Metrics · Metric Math · Application Signals</a:t>
            </a:r>
          </a:p>
          <a:p>
            <a:r>
              <a:t>FAILURE MODE: Averages can hide tail latency and a small population of severe failures.</a:t>
            </a:r>
          </a:p>
          <a:p>
            <a:r>
              <a:t>PROOF: Metric namespace, dimensions, statistic, period, percentile, SLO and alarm history.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Metrics, dimensions and service objectives: failure diagnostic.</a:t>
            </a:r>
          </a:p>
          <a:p>
            <a:r>
              <a:t>RECOGNISE: Observable failure condition: Averages can hide tail latency and a small population of severe failures.</a:t>
            </a:r>
          </a:p>
          <a:p>
            <a:r>
              <a:t>CONTAIN: Pause promotion, preserve evidence and reduce impact without destroying diagnostic state.</a:t>
            </a:r>
          </a:p>
          <a:p>
            <a:r>
              <a:t>DIAGNOSE: Trace the workflow from Instrument through Alert or review; compare intended configuration with runtime state.</a:t>
            </a:r>
          </a:p>
          <a:p>
            <a:r>
              <a:t>RECOVER: Restore the last known-good state, then prove recovery with Metric namespace, dimensions, statistic, period, percentile, SLO and alarm history.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Metrics, dimensions and service objectives: worked decision.</a:t>
            </a:r>
          </a:p>
          <a:p>
            <a:r>
              <a:t>CONSTRAINT: An API meets average-latency targets but its slowest five percent of requests breach the user promise.</a:t>
            </a:r>
          </a:p>
          <a:p>
            <a:r>
              <a:t>DECISION: Define SLIs and thresholds, use dimensions carefully, aggregate intentionally and avoid high-cardinality custom metrics.</a:t>
            </a:r>
          </a:p>
          <a:p>
            <a:r>
              <a:t>WHY ALTERNATIVES LOSE: Reject options that do not change the stated failure boundary: Averages can hide tail latency and a small population of severe failures.</a:t>
            </a:r>
          </a:p>
          <a:p>
            <a:r>
              <a:t>ACCEPTANCE TEST: The decision is complete only when this proof exists: Metric namespace, dimensions, statistic, period, percentile, SLO and alarm history.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Centralized log architecture.</a:t>
            </a:r>
          </a:p>
          <a:p>
            <a:r>
              <a:t>OUTCOME: Collect searchable logs across accounts and Regions while meeting retention and access requirements.</a:t>
            </a:r>
          </a:p>
          <a:p>
            <a:r>
              <a:t>ARCHITECTURE: Standardize structure, encrypt log groups, centralize subscriptions, partition archives and prevent recursive delivery.</a:t>
            </a:r>
          </a:p>
          <a:p>
            <a:r>
              <a:t>FAILURE MODE: Centralization without account/Region context makes incident correlation harder.</a:t>
            </a:r>
          </a:p>
          <a:p>
            <a:r>
              <a:t>EVIDENCE: Log-group policy, subscription filter, destination policy, archive partition and retention setting.</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Centralized log architecture: operating flow.</a:t>
            </a:r>
          </a:p>
          <a:p>
            <a:r>
              <a:t>Emit structured log</a:t>
            </a:r>
          </a:p>
          <a:p>
            <a:r>
              <a:t>Collect</a:t>
            </a:r>
          </a:p>
          <a:p>
            <a:r>
              <a:t>Filter</a:t>
            </a:r>
          </a:p>
          <a:p>
            <a:r>
              <a:t>Stream</a:t>
            </a:r>
          </a:p>
          <a:p>
            <a:r>
              <a:t>Archive</a:t>
            </a:r>
          </a:p>
          <a:p>
            <a:r>
              <a:t>Query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Centralized log architecture: design decision.</a:t>
            </a:r>
          </a:p>
          <a:p>
            <a:r>
              <a:t>SCENARIO: Security operations needs a central account for application and audit logs from every workload account.</a:t>
            </a:r>
          </a:p>
          <a:p>
            <a:r>
              <a:t>DESIGN RESPONSE: Standardize structure, encrypt log groups, centralize subscriptions, partition archives and prevent recursive delivery.</a:t>
            </a:r>
          </a:p>
          <a:p>
            <a:r>
              <a:t>PRIMARY SERVICES: CloudWatch Logs · Kinesis Data Firehose · S3 · OpenSearch</a:t>
            </a:r>
          </a:p>
          <a:p>
            <a:r>
              <a:t>FAILURE MODE: Centralization without account/Region context makes incident correlation harder.</a:t>
            </a:r>
          </a:p>
          <a:p>
            <a:r>
              <a:t>PROOF: Log-group policy, subscription filter, destination policy, archive partition and retention setting.</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Centralized log architecture: failure diagnostic.</a:t>
            </a:r>
          </a:p>
          <a:p>
            <a:r>
              <a:t>RECOGNISE: Observable failure condition: Centralization without account/Region context makes incident correlation harder.</a:t>
            </a:r>
          </a:p>
          <a:p>
            <a:r>
              <a:t>CONTAIN: Pause promotion, preserve evidence and reduce impact without destroying diagnostic state.</a:t>
            </a:r>
          </a:p>
          <a:p>
            <a:r>
              <a:t>DIAGNOSE: Trace the workflow from Emit structured log through Query; compare intended configuration with runtime state.</a:t>
            </a:r>
          </a:p>
          <a:p>
            <a:r>
              <a:t>RECOVER: Restore the last known-good state, then prove recovery with Log-group policy, subscription filter, destination policy, archive partition and retention setting.</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Centralized log architecture: worked decision.</a:t>
            </a:r>
          </a:p>
          <a:p>
            <a:r>
              <a:t>CONSTRAINT: Security operations needs a central account for application and audit logs from every workload account.</a:t>
            </a:r>
          </a:p>
          <a:p>
            <a:r>
              <a:t>DECISION: Standardize structure, encrypt log groups, centralize subscriptions, partition archives and prevent recursive delivery.</a:t>
            </a:r>
          </a:p>
          <a:p>
            <a:r>
              <a:t>WHY ALTERNATIVES LOSE: Reject options that do not change the stated failure boundary: Centralization without account/Region context makes incident correlation harder.</a:t>
            </a:r>
          </a:p>
          <a:p>
            <a:r>
              <a:t>ACCEPTANCE TEST: The decision is complete only when this proof exists: Log-group policy, subscription filter, destination policy, archive partition and retention setting.</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and custom telemetry.</a:t>
            </a:r>
          </a:p>
          <a:p>
            <a:r>
              <a:t>OUTCOME: Capture operating-system, application and business signals not emitted by managed services.</a:t>
            </a:r>
          </a:p>
          <a:p>
            <a:r>
              <a:t>ARCHITECTURE: Deploy versioned agent configuration, use least privilege, buffer safely and validate time synchronization.</a:t>
            </a:r>
          </a:p>
          <a:p>
            <a:r>
              <a:t>FAILURE MODE: A broken agent rollout can remove visibility exactly when a change is being evaluated.</a:t>
            </a:r>
          </a:p>
          <a:p>
            <a:r>
              <a:t>EVIDENCE: Agent config version, collection status, dropped records, IAM policy and sample telemetry.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and custom telemetry: operating flow.</a:t>
            </a:r>
          </a:p>
          <a:p>
            <a:r>
              <a:t>Configure receiver</a:t>
            </a:r>
          </a:p>
          <a:p>
            <a:r>
              <a:t>Collect</a:t>
            </a:r>
          </a:p>
          <a:p>
            <a:r>
              <a:t>Enrich</a:t>
            </a:r>
          </a:p>
          <a:p>
            <a:r>
              <a:t>Batch</a:t>
            </a:r>
          </a:p>
          <a:p>
            <a:r>
              <a:t>Export</a:t>
            </a:r>
          </a:p>
          <a:p>
            <a:r>
              <a:t>Verify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and custom telemetry: design decision.</a:t>
            </a:r>
          </a:p>
          <a:p>
            <a:r>
              <a:t>SCENARIO: A hybrid fleet must publish memory utilization, application latency and deployment version consistently.</a:t>
            </a:r>
          </a:p>
          <a:p>
            <a:r>
              <a:t>DESIGN RESPONSE: Deploy versioned agent configuration, use least privilege, buffer safely and validate time synchronization.</a:t>
            </a:r>
          </a:p>
          <a:p>
            <a:r>
              <a:t>PRIMARY SERVICES: CloudWatch Agent · OpenTelemetry Collector · Embedded Metric Format</a:t>
            </a:r>
          </a:p>
          <a:p>
            <a:r>
              <a:t>FAILURE MODE: A broken agent rollout can remove visibility exactly when a change is being evaluated.</a:t>
            </a:r>
          </a:p>
          <a:p>
            <a:r>
              <a:t>PROOF: Agent config version, collection status, dropped records, IAM policy and sample telemetry.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and custom telemetry: failure diagnostic.</a:t>
            </a:r>
          </a:p>
          <a:p>
            <a:r>
              <a:t>RECOGNISE: Observable failure condition: A broken agent rollout can remove visibility exactly when a change is being evaluated.</a:t>
            </a:r>
          </a:p>
          <a:p>
            <a:r>
              <a:t>CONTAIN: Pause promotion, preserve evidence and reduce impact without destroying diagnostic state.</a:t>
            </a:r>
          </a:p>
          <a:p>
            <a:r>
              <a:t>DIAGNOSE: Trace the workflow from Configure receiver through Verify; compare intended configuration with runtime state.</a:t>
            </a:r>
          </a:p>
          <a:p>
            <a:r>
              <a:t>RECOVER: Restore the last known-good state, then prove recovery with Agent config version, collection status, dropped records, IAM policy and sample telemetry.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and custom telemetry: worked decision.</a:t>
            </a:r>
          </a:p>
          <a:p>
            <a:r>
              <a:t>CONSTRAINT: A hybrid fleet must publish memory utilization, application latency and deployment version consistently.</a:t>
            </a:r>
          </a:p>
          <a:p>
            <a:r>
              <a:t>DECISION: Deploy versioned agent configuration, use least privilege, buffer safely and validate time synchronization.</a:t>
            </a:r>
          </a:p>
          <a:p>
            <a:r>
              <a:t>WHY ALTERNATIVES LOSE: Reject options that do not change the stated failure boundary: A broken agent rollout can remove visibility exactly when a change is being evaluated.</a:t>
            </a:r>
          </a:p>
          <a:p>
            <a:r>
              <a:t>ACCEPTANCE TEST: The decision is complete only when this proof exists: Agent config version, collection status, dropped records, IAM policy and sample telemetry.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Alarms, anomaly detection and composite signals.</a:t>
            </a:r>
          </a:p>
          <a:p>
            <a:r>
              <a:t>OUTCOME: Trigger action only when evidence is meaningful enough to justify interruption or automation.</a:t>
            </a:r>
          </a:p>
          <a:p>
            <a:r>
              <a:t>ARCHITECTURE: Tune evaluation periods and missing-data behavior; combine symptoms to reduce noise and attach runbook context.</a:t>
            </a:r>
          </a:p>
          <a:p>
            <a:r>
              <a:t>FAILURE MODE: One noisy metric can cause alert fatigue or repeated automated recovery.</a:t>
            </a:r>
          </a:p>
          <a:p>
            <a:r>
              <a:t>EVIDENCE: Alarm configuration, state transition, contributing alarms, notification payload and operator action.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Alarms, anomaly detection and composite signals: operating flow.</a:t>
            </a:r>
          </a:p>
          <a:p>
            <a:r>
              <a:t>Evaluate datapoint</a:t>
            </a:r>
          </a:p>
          <a:p>
            <a:r>
              <a:t>Apply threshold</a:t>
            </a:r>
          </a:p>
          <a:p>
            <a:r>
              <a:t>Correlate</a:t>
            </a:r>
          </a:p>
          <a:p>
            <a:r>
              <a:t>Change state</a:t>
            </a:r>
          </a:p>
          <a:p>
            <a:r>
              <a:t>Notify or act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Alarms, anomaly detection and composite signals: design decision.</a:t>
            </a:r>
          </a:p>
          <a:p>
            <a:r>
              <a:t>SCENARIO: Operations wants a page only when latency is high and the error rate indicates customer impact.</a:t>
            </a:r>
          </a:p>
          <a:p>
            <a:r>
              <a:t>DESIGN RESPONSE: Tune evaluation periods and missing-data behavior; combine symptoms to reduce noise and attach runbook context.</a:t>
            </a:r>
          </a:p>
          <a:p>
            <a:r>
              <a:t>PRIMARY SERVICES: CloudWatch Alarms · Composite Alarms · SNS</a:t>
            </a:r>
          </a:p>
          <a:p>
            <a:r>
              <a:t>FAILURE MODE: One noisy metric can cause alert fatigue or repeated automated recovery.</a:t>
            </a:r>
          </a:p>
          <a:p>
            <a:r>
              <a:t>PROOF: Alarm configuration, state transition, contributing alarms, notification payload and operator action.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Alarms, anomaly detection and composite signals: failure diagnostic.</a:t>
            </a:r>
          </a:p>
          <a:p>
            <a:r>
              <a:t>RECOGNISE: Observable failure condition: One noisy metric can cause alert fatigue or repeated automated recovery.</a:t>
            </a:r>
          </a:p>
          <a:p>
            <a:r>
              <a:t>CONTAIN: Pause promotion, preserve evidence and reduce impact without destroying diagnostic state.</a:t>
            </a:r>
          </a:p>
          <a:p>
            <a:r>
              <a:t>DIAGNOSE: Trace the workflow from Evaluate datapoint through Notify or act; compare intended configuration with runtime state.</a:t>
            </a:r>
          </a:p>
          <a:p>
            <a:r>
              <a:t>RECOVER: Restore the last known-good state, then prove recovery with Alarm configuration, state transition, contributing alarms, notification payload and operator action.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Alarms, anomaly detection and composite signals: worked decision.</a:t>
            </a:r>
          </a:p>
          <a:p>
            <a:r>
              <a:t>CONSTRAINT: Operations wants a page only when latency is high and the error rate indicates customer impact.</a:t>
            </a:r>
          </a:p>
          <a:p>
            <a:r>
              <a:t>DECISION: Tune evaluation periods and missing-data behavior; combine symptoms to reduce noise and attach runbook context.</a:t>
            </a:r>
          </a:p>
          <a:p>
            <a:r>
              <a:t>WHY ALTERNATIVES LOSE: Reject options that do not change the stated failure boundary: One noisy metric can cause alert fatigue or repeated automated recovery.</a:t>
            </a:r>
          </a:p>
          <a:p>
            <a:r>
              <a:t>ACCEPTANCE TEST: The decision is complete only when this proof exists: Alarm configuration, state transition, contributing alarms, notification payload and operator action.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3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tracing and service maps.</a:t>
            </a:r>
          </a:p>
          <a:p>
            <a:r>
              <a:t>OUTCOME: Trace a request across services to locate latency, faults and dependency behavior.</a:t>
            </a:r>
          </a:p>
          <a:p>
            <a:r>
              <a:t>ARCHITECTURE: Propagate trace context, sample intentionally, protect sensitive attributes and correlate traces with logs and metrics.</a:t>
            </a:r>
          </a:p>
          <a:p>
            <a:r>
              <a:t>FAILURE MODE: Missing context propagation creates disconnected traces and incorrect service maps.</a:t>
            </a:r>
          </a:p>
          <a:p>
            <a:r>
              <a:t>EVIDENCE: Trace ID, segment/subsegment, annotation, sampling rule, fault edge and correlated log event.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tracing and service maps: operating flow.</a:t>
            </a:r>
          </a:p>
          <a:p>
            <a:r>
              <a:t>Receive trace context</a:t>
            </a:r>
          </a:p>
          <a:p>
            <a:r>
              <a:t>Create span</a:t>
            </a:r>
          </a:p>
          <a:p>
            <a:r>
              <a:t>Call dependency</a:t>
            </a:r>
          </a:p>
          <a:p>
            <a:r>
              <a:t>Propagate</a:t>
            </a:r>
          </a:p>
          <a:p>
            <a:r>
              <a:t>Export</a:t>
            </a:r>
          </a:p>
          <a:p>
            <a:r>
              <a:t>Analyze path</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tracing and service maps: design decision.</a:t>
            </a:r>
          </a:p>
          <a:p>
            <a:r>
              <a:t>SCENARIO: A request is slow only when it crosses an asynchronous worker and a third-party dependency.</a:t>
            </a:r>
          </a:p>
          <a:p>
            <a:r>
              <a:t>DESIGN RESPONSE: Propagate trace context, sample intentionally, protect sensitive attributes and correlate traces with logs and metrics.</a:t>
            </a:r>
          </a:p>
          <a:p>
            <a:r>
              <a:t>PRIMARY SERVICES: AWS X-Ray · ADOT · CloudWatch ServiceLens</a:t>
            </a:r>
          </a:p>
          <a:p>
            <a:r>
              <a:t>FAILURE MODE: Missing context propagation creates disconnected traces and incorrect service maps.</a:t>
            </a:r>
          </a:p>
          <a:p>
            <a:r>
              <a:t>PROOF: Trace ID, segment/subsegment, annotation, sampling rule, fault edge and correlated log event.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tracing and service maps: failure diagnostic.</a:t>
            </a:r>
          </a:p>
          <a:p>
            <a:r>
              <a:t>RECOGNISE: Observable failure condition: Missing context propagation creates disconnected traces and incorrect service maps.</a:t>
            </a:r>
          </a:p>
          <a:p>
            <a:r>
              <a:t>CONTAIN: Pause promotion, preserve evidence and reduce impact without destroying diagnostic state.</a:t>
            </a:r>
          </a:p>
          <a:p>
            <a:r>
              <a:t>DIAGNOSE: Trace the workflow from Receive trace context through Analyze path; compare intended configuration with runtime state.</a:t>
            </a:r>
          </a:p>
          <a:p>
            <a:r>
              <a:t>RECOVER: Restore the last known-good state, then prove recovery with Trace ID, segment/subsegment, annotation, sampling rule, fault edge and correlated log event.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tracing and service maps: worked decision.</a:t>
            </a:r>
          </a:p>
          <a:p>
            <a:r>
              <a:t>CONSTRAINT: A request is slow only when it crosses an asynchronous worker and a third-party dependency.</a:t>
            </a:r>
          </a:p>
          <a:p>
            <a:r>
              <a:t>DECISION: Propagate trace context, sample intentionally, protect sensitive attributes and correlate traces with logs and metrics.</a:t>
            </a:r>
          </a:p>
          <a:p>
            <a:r>
              <a:t>WHY ALTERNATIVES LOSE: Reject options that do not change the stated failure boundary: Missing context propagation creates disconnected traces and incorrect service maps.</a:t>
            </a:r>
          </a:p>
          <a:p>
            <a:r>
              <a:t>ACCEPTANCE TEST: The decision is complete only when this proof exists: Trace ID, segment/subsegment, annotation, sampling rule, fault edge and correlated log event.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 analysis and review.</a:t>
            </a:r>
          </a:p>
          <a:p>
            <a:r>
              <a:t>OUTCOME: Turn telemetry into repeatable system reviews and prioritized modifications.</a:t>
            </a:r>
          </a:p>
          <a:p>
            <a:r>
              <a:t>ARCHITECTURE: Build hypothesis-driven queries, compare deploy markers, keep dashboards audience-specific and record decisions.</a:t>
            </a:r>
          </a:p>
          <a:p>
            <a:r>
              <a:t>FAILURE MODE: A dashboard with many graphs but no decision threshold becomes decorative monitoring.</a:t>
            </a:r>
          </a:p>
          <a:p>
            <a:r>
              <a:t>EVIDENCE: Saved query, dashboard version, deployment annotation, review finding, owner and verified improvement.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 analysis and review: operating flow.</a:t>
            </a:r>
          </a:p>
          <a:p>
            <a:r>
              <a:t>Observe change</a:t>
            </a:r>
          </a:p>
          <a:p>
            <a:r>
              <a:t>Form hypothesis</a:t>
            </a:r>
          </a:p>
          <a:p>
            <a:r>
              <a:t>Query evidence</a:t>
            </a:r>
          </a:p>
          <a:p>
            <a:r>
              <a:t>Decide</a:t>
            </a:r>
          </a:p>
          <a:p>
            <a:r>
              <a:t>Modify</a:t>
            </a:r>
          </a:p>
          <a:p>
            <a:r>
              <a:t>Measure again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 analysis and review: design decision.</a:t>
            </a:r>
          </a:p>
          <a:p>
            <a:r>
              <a:t>SCENARIO: A weekly architecture review must explain rising throttles and recommend a measurable corrective action.</a:t>
            </a:r>
          </a:p>
          <a:p>
            <a:r>
              <a:t>DESIGN RESPONSE: Build hypothesis-driven queries, compare deploy markers, keep dashboards audience-specific and record decisions.</a:t>
            </a:r>
          </a:p>
          <a:p>
            <a:r>
              <a:t>PRIMARY SERVICES: Logs Insights · Dashboards · Contributor Insights · Metrics Streams</a:t>
            </a:r>
          </a:p>
          <a:p>
            <a:r>
              <a:t>FAILURE MODE: A dashboard with many graphs but no decision threshold becomes decorative monitoring.</a:t>
            </a:r>
          </a:p>
          <a:p>
            <a:r>
              <a:t>PROOF: Saved query, dashboard version, deployment annotation, review finding, owner and verified improvement.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 analysis and review: failure diagnostic.</a:t>
            </a:r>
          </a:p>
          <a:p>
            <a:r>
              <a:t>RECOGNISE: Observable failure condition: A dashboard with many graphs but no decision threshold becomes decorative monitoring.</a:t>
            </a:r>
          </a:p>
          <a:p>
            <a:r>
              <a:t>CONTAIN: Pause promotion, preserve evidence and reduce impact without destroying diagnostic state.</a:t>
            </a:r>
          </a:p>
          <a:p>
            <a:r>
              <a:t>DIAGNOSE: Trace the workflow from Observe change through Measure again; compare intended configuration with runtime state.</a:t>
            </a:r>
          </a:p>
          <a:p>
            <a:r>
              <a:t>RECOVER: Restore the last known-good state, then prove recovery with Saved query, dashboard version, deployment annotation, review finding, owner and verified improvement.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 analysis and review: worked decision.</a:t>
            </a:r>
          </a:p>
          <a:p>
            <a:r>
              <a:t>CONSTRAINT: A weekly architecture review must explain rising throttles and recommend a measurable corrective action.</a:t>
            </a:r>
          </a:p>
          <a:p>
            <a:r>
              <a:t>DECISION: Build hypothesis-driven queries, compare deploy markers, keep dashboards audience-specific and record decisions.</a:t>
            </a:r>
          </a:p>
          <a:p>
            <a:r>
              <a:t>WHY ALTERNATIVES LOSE: Reject options that do not change the stated failure boundary: A dashboard with many graphs but no decision threshold becomes decorative monitoring.</a:t>
            </a:r>
          </a:p>
          <a:p>
            <a:r>
              <a:t>ACCEPTANCE TEST: The decision is complete only when this proof exists: Saved query, dashboard version, deployment annotation, review finding, owner and verified improvement.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Metrics to service objectives: architecture map.</a:t>
            </a:r>
          </a:p>
          <a:p>
            <a:r>
              <a:t>TRIGGER / INPUT: Instrument</a:t>
            </a:r>
          </a:p>
          <a:p>
            <a:r>
              <a:t>CONTROL PLANE: Define SLIs and thresholds, use dimensions carefully, aggregate intentionally and avoid high-cardinality custom metrics.</a:t>
            </a:r>
          </a:p>
          <a:p>
            <a:r>
              <a:t>AWS SERVICES: CloudWatch Metrics · Metric Math · Application Signals</a:t>
            </a:r>
          </a:p>
          <a:p>
            <a:r>
              <a:t>EVIDENCE BOUNDARY: Metric namespace, dimensions, statistic, period, percentile, SLO and alarm history.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Centralized log architecture: architecture map.</a:t>
            </a:r>
          </a:p>
          <a:p>
            <a:r>
              <a:t>TRIGGER / INPUT: Emit structured log</a:t>
            </a:r>
          </a:p>
          <a:p>
            <a:r>
              <a:t>CONTROL PLANE: Standardize structure, encrypt log groups, centralize subscriptions, partition archives and prevent recursive delivery.</a:t>
            </a:r>
          </a:p>
          <a:p>
            <a:r>
              <a:t>AWS SERVICES: CloudWatch Logs · Kinesis Data Firehose · S3 · OpenSearch</a:t>
            </a:r>
          </a:p>
          <a:p>
            <a:r>
              <a:t>EVIDENCE BOUNDARY: Log-group policy, subscription filter, destination policy, archive partition and retention setting.</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and custom telemetry: architecture map.</a:t>
            </a:r>
          </a:p>
          <a:p>
            <a:r>
              <a:t>TRIGGER / INPUT: Configure receiver</a:t>
            </a:r>
          </a:p>
          <a:p>
            <a:r>
              <a:t>CONTROL PLANE: Deploy versioned agent configuration, use least privilege, buffer safely and validate time synchronization.</a:t>
            </a:r>
          </a:p>
          <a:p>
            <a:r>
              <a:t>AWS SERVICES: CloudWatch Agent · OpenTelemetry Collector · Embedded Metric Format</a:t>
            </a:r>
          </a:p>
          <a:p>
            <a:r>
              <a:t>EVIDENCE BOUNDARY: Agent config version, collection status, dropped records, IAM policy and sample telemetry.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Alarms, anomaly detection and composite signals: architecture map.</a:t>
            </a:r>
          </a:p>
          <a:p>
            <a:r>
              <a:t>TRIGGER / INPUT: Evaluate datapoint</a:t>
            </a:r>
          </a:p>
          <a:p>
            <a:r>
              <a:t>CONTROL PLANE: Tune evaluation periods and missing-data behavior; combine symptoms to reduce noise and attach runbook context.</a:t>
            </a:r>
          </a:p>
          <a:p>
            <a:r>
              <a:t>AWS SERVICES: CloudWatch Alarms · Composite Alarms · SNS</a:t>
            </a:r>
          </a:p>
          <a:p>
            <a:r>
              <a:t>EVIDENCE BOUNDARY: Alarm configuration, state transition, contributing alarms, notification payload and operator action.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tracing and service maps: architecture map.</a:t>
            </a:r>
          </a:p>
          <a:p>
            <a:r>
              <a:t>TRIGGER / INPUT: Receive trace context</a:t>
            </a:r>
          </a:p>
          <a:p>
            <a:r>
              <a:t>CONTROL PLANE: Propagate trace context, sample intentionally, protect sensitive attributes and correlate traces with logs and metrics.</a:t>
            </a:r>
          </a:p>
          <a:p>
            <a:r>
              <a:t>AWS SERVICES: AWS X-Ray · ADOT · CloudWatch ServiceLens</a:t>
            </a:r>
          </a:p>
          <a:p>
            <a:r>
              <a:t>EVIDENCE BOUNDARY: Trace ID, segment/subsegment, annotation, sampling rule, fault edge and correlated log event.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 analysis and review: architecture map.</a:t>
            </a:r>
          </a:p>
          <a:p>
            <a:r>
              <a:t>TRIGGER / INPUT: Observe change</a:t>
            </a:r>
          </a:p>
          <a:p>
            <a:r>
              <a:t>CONTROL PLANE: Build hypothesis-driven queries, compare deploy markers, keep dashboards audience-specific and record decisions.</a:t>
            </a:r>
          </a:p>
          <a:p>
            <a:r>
              <a:t>AWS SERVICES: Logs Insights · Dashboards · Contributor Insights · Metrics Streams</a:t>
            </a:r>
          </a:p>
          <a:p>
            <a:r>
              <a:t>EVIDENCE BOUNDARY: Saved query, dashboard version, deployment annotation, review finding, owner and verified improvement.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16 overview — Instrument an EC2 workload with memory/disk and application metrics, then visualise CPU, latency, errors and request count on a CloudWatch dashboard (LO4, K5, A6).</a:t>
            </a:r>
          </a:p>
          <a:p>
            <a:r>
              <a:t>Concept-led briefing only. The full detailed procedure, commands, expected outputs, validation and cleanup live in the Learner Guide and the lab README (not on the slides).</a:t>
            </a:r>
          </a:p>
          <a:p>
            <a:r>
              <a:t>Reference architecture: course-generated diagram for Lab 16.</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17 overview — Ship application and system logs into CloudWatch Logs with retention, then use Logs Insights queries to find the slowest and most error-prone requests (LO4, K5, A6).</a:t>
            </a:r>
          </a:p>
          <a:p>
            <a:r>
              <a:t>Concept-led briefing only. The full detailed procedure, commands, expected outputs, validation and cleanup live in the Learner Guide and the lab README (not on the slides).</a:t>
            </a:r>
          </a:p>
          <a:p>
            <a:r>
              <a:t>Reference architecture: course-generated diagram for Lab 17.</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18 overview — Create a metric filter that counts ERROR log lines, alarm on that metric and on high CPU, and notify an on-call engineer by email via SNS (LO4, K5, A6).</a:t>
            </a:r>
          </a:p>
          <a:p>
            <a:r>
              <a:t>Concept-led briefing only. The full detailed procedure, commands, expected outputs, validation and cleanup live in the Learner Guide and the lab README (not on the slides).</a:t>
            </a:r>
          </a:p>
          <a:p>
            <a:r>
              <a:t>Reference architecture: course-generated diagram for Lab 18.</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Domain 04 — Monitoring and Logging.</a:t>
            </a:r>
          </a:p>
          <a:p/>
          <a:p>
            <a:r>
              <a:t>[Sources]</a:t>
            </a:r>
          </a:p>
          <a:p>
            <a:r>
              <a:t>- AWS Certified DevOps Engineer – Professional (DOP-C02) Exam Guide (docs.aws.amazon.com/pdfs/aws-certification/latest/devops-engineer-professional-02).</a:t>
            </a:r>
          </a:p>
          <a:p>
            <a:r>
              <a:t>- AWS CloudWatch Documentation (docs.aws.amazon.com/AmazonCloudWatch).</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concepts for Domain 05 — Incident and Event Response.</a:t>
            </a:r>
          </a:p>
          <a:p>
            <a:r>
              <a:t>Event-driven operations: EventBridge routes events from AWS services and applications to targets that act automatically.</a:t>
            </a:r>
          </a:p>
          <a:p>
            <a:r>
              <a:t>Notify &amp; act: SNS notifies people; Lambda, Systems Manager Automation and Step Functions take the remediating action.</a:t>
            </a:r>
          </a:p>
          <a:p>
            <a:r>
              <a:t>Auto-remediation: AWS Config rules and EventBridge patterns detect drift and fix it — tag, isolate, restart or roll back.</a:t>
            </a:r>
          </a:p>
          <a:p>
            <a:r>
              <a:t>Runbooks &amp; playbooks: Systems Manager documents codify the response so incidents are handled consistently and fast.</a:t>
            </a:r>
          </a:p>
          <a:p>
            <a:r>
              <a:t>Deployment failure response: CloudWatch alarms roll back CodeDeploy; pipeline stages stop and alert on failure.</a:t>
            </a:r>
          </a:p>
          <a:p>
            <a:r>
              <a:t>Troubleshooting: Correlate metrics, logs, traces and CloudTrail events to find and fix system and application failures.</a:t>
            </a:r>
          </a:p>
          <a:p/>
          <a:p>
            <a:r>
              <a:t>[Sources]</a:t>
            </a:r>
          </a:p>
          <a:p>
            <a:r>
              <a:t>- AWS Certified DevOps Engineer – Professional (DOP-C02) Exam Guide (docs.aws.amazon.com/pdfs/aws-certification/latest/devops-engineer-professional-02).</a:t>
            </a:r>
          </a:p>
          <a:p>
            <a:r>
              <a:t>- AWS EventBridge Documentation (docs.aws.amazon.com/eventbridge).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Automation Cuts Mean Time To Recover. What the data shows: Event-driven automation collapses MTTR from over an hour to a few minutes across every phase.</a:t>
            </a:r>
          </a:p>
          <a:p>
            <a:r>
              <a:t>Figures are illustrative teaching values to convey the relationship, not measured benchmarks.</a:t>
            </a:r>
          </a:p>
        </p:txBody>
      </p:sp>
      <p:sp>
        <p:nvSpPr>
          <p:cNvPr id="4" name="Slide Number Placeholder 3"/>
          <p:cNvSpPr>
            <a:spLocks noGrp="1"/>
          </p:cNvSpPr>
          <p:nvPr>
            <p:ph type="sldNum" idx="5" sz="quarter"/>
          </p:nvPr>
        </p:nvSpPr>
        <p:spPr/>
      </p:sp>
    </p:spTree>
  </p:cSld>
  <p:clrMapOvr>
    <a:masterClrMapping/>
  </p:clrMapOvr>
</p:notes>
</file>

<file path=ppt/notesSlides/notesSlide4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05 deep dive — Incident and Event Response. Editable AWS-native diagram/table/chart.</a:t>
            </a:r>
          </a:p>
          <a:p/>
          <a:p>
            <a:r>
              <a:t>[Sources]</a:t>
            </a:r>
          </a:p>
          <a:p>
            <a:r>
              <a:t>- AWS Certified DevOps Engineer – Professional (DOP-C02) Exam Guide (docs.aws.amazon.com/pdfs/aws-certification/latest/devops-engineer-professional-02).</a:t>
            </a:r>
          </a:p>
          <a:p>
            <a:r>
              <a:t>- AWS EventBridge Documentation (docs.aws.amazon.com/eventbridge).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05 deep dive — Incident and Event Response. Editable AWS-native diagram/table/chart.</a:t>
            </a:r>
          </a:p>
          <a:p/>
          <a:p>
            <a:r>
              <a:t>[Sources]</a:t>
            </a:r>
          </a:p>
          <a:p>
            <a:r>
              <a:t>- AWS Certified DevOps Engineer – Professional (DOP-C02) Exam Guide (docs.aws.amazon.com/pdfs/aws-certification/latest/devops-engineer-professional-02).</a:t>
            </a:r>
          </a:p>
          <a:p>
            <a:r>
              <a:t>- AWS EventBridge Documentation (docs.aws.amazon.com/eventbridge).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05 deep dive — Incident and Event Response. Editable AWS-native diagram/table/chart.</a:t>
            </a:r>
          </a:p>
          <a:p/>
          <a:p>
            <a:r>
              <a:t>[Sources]</a:t>
            </a:r>
          </a:p>
          <a:p>
            <a:r>
              <a:t>- AWS Certified DevOps Engineer – Professional (DOP-C02) Exam Guide (docs.aws.amazon.com/pdfs/aws-certification/latest/devops-engineer-professional-02).</a:t>
            </a:r>
          </a:p>
          <a:p>
            <a:r>
              <a:t>- AWS EventBridge Documentation (docs.aws.amazon.com/eventbridge).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05 deep dive — Incident and Event Response. Editable AWS-native diagram/table/chart.</a:t>
            </a:r>
          </a:p>
          <a:p/>
          <a:p>
            <a:r>
              <a:t>[Sources]</a:t>
            </a:r>
          </a:p>
          <a:p>
            <a:r>
              <a:t>- AWS Certified DevOps Engineer – Professional (DOP-C02) Exam Guide (docs.aws.amazon.com/pdfs/aws-certification/latest/devops-engineer-professional-02).</a:t>
            </a:r>
          </a:p>
          <a:p>
            <a:r>
              <a:t>- AWS EventBridge Documentation (docs.aws.amazon.com/eventbridge).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05 deep dive — Incident and Event Response. Editable AWS-native diagram/table/chart.</a:t>
            </a:r>
          </a:p>
          <a:p/>
          <a:p>
            <a:r>
              <a:t>[Sources]</a:t>
            </a:r>
          </a:p>
          <a:p>
            <a:r>
              <a:t>- AWS Certified DevOps Engineer – Professional (DOP-C02) Exam Guide (docs.aws.amazon.com/pdfs/aws-certification/latest/devops-engineer-professional-02).</a:t>
            </a:r>
          </a:p>
          <a:p>
            <a:r>
              <a:t>- AWS EventBridge Documentation (docs.aws.amazon.com/eventbridge).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Event-driven operations with EventBridge.</a:t>
            </a:r>
          </a:p>
          <a:p>
            <a:r>
              <a:t>Why it matters: Events let operations react the instant something changes, instead of polling or waiting for a human to notice.</a:t>
            </a:r>
          </a:p>
          <a:p>
            <a:r>
              <a:t>Failure mode: Over-broad event patterns match far more than intended and trigger remediation on benign events.</a:t>
            </a:r>
          </a:p>
          <a:p>
            <a:r>
              <a:t>Trade-off: Fine-grained rules are precise but numerous to manage; broad rules are simple but risk false triggers.</a:t>
            </a:r>
          </a:p>
          <a:p/>
          <a:p>
            <a:r>
              <a:t>[Sources]</a:t>
            </a:r>
          </a:p>
          <a:p>
            <a:r>
              <a:t>- AWS EventBridge Documentation (docs.aws.amazon.com/eventbridge/latest/userguide).</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4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Notify people, trigger machines.</a:t>
            </a:r>
          </a:p>
          <a:p>
            <a:r>
              <a:t>Why it matters: Separating 'notify' from 'act' means the automated fix starts immediately while humans stay informed and can intervene.</a:t>
            </a:r>
          </a:p>
          <a:p>
            <a:r>
              <a:t>Failure mode: Notifying without automating leaves recovery gated on human reaction time at 3am.</a:t>
            </a:r>
          </a:p>
          <a:p>
            <a:r>
              <a:t>Trade-off: Automating actions demands tight IAM scoping and validation so a bad event can't trigger a harmful action.</a:t>
            </a:r>
          </a:p>
          <a:p/>
          <a:p>
            <a:r>
              <a:t>[Sources]</a:t>
            </a:r>
          </a:p>
          <a:p>
            <a:r>
              <a:t>- AWS SNS Documentation (docs.aws.amazon.com/sns).</a:t>
            </a:r>
          </a:p>
          <a:p>
            <a:r>
              <a:t>- AWS Systems Manager Automation Documentation (docs.aws.amazon.com/systems-manager/latest/userguide/systems-manager-automation.html).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4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Auto-remediation with Config and Automation.</a:t>
            </a:r>
          </a:p>
          <a:p>
            <a:r>
              <a:t>Why it matters: Continuous detection plus automated remediation keeps the environment compliant without waiting for a human review cycle.</a:t>
            </a:r>
          </a:p>
          <a:p>
            <a:r>
              <a:t>Failure mode: Auto-remediating without guardrails can fight a legitimate change or mask a deeper problem instead of fixing it.</a:t>
            </a:r>
          </a:p>
          <a:p>
            <a:r>
              <a:t>Trade-off: Immediate auto-fix is fast but can hide recurring root causes — track remediation frequency as a signal.</a:t>
            </a:r>
          </a:p>
          <a:p/>
          <a:p>
            <a:r>
              <a:t>[Sources]</a:t>
            </a:r>
          </a:p>
          <a:p>
            <a:r>
              <a:t>- AWS Config remediation Documentation (docs.aws.amazon.com/config/latest/developerguide/remediation.html).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4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Runbooks and playbooks.</a:t>
            </a:r>
          </a:p>
          <a:p>
            <a:r>
              <a:t>Why it matters: Runbooks turn hard-won incident knowledge into repeatable automation; playbooks coordinate the human response to the unknown.</a:t>
            </a:r>
          </a:p>
          <a:p>
            <a:r>
              <a:t>Failure mode: Tribal knowledge in one engineer's head fails the moment that person is on leave during an incident.</a:t>
            </a:r>
          </a:p>
          <a:p>
            <a:r>
              <a:t>Trade-off: Automated runbooks must be maintained as the system changes, or they confidently do the wrong thing.</a:t>
            </a:r>
          </a:p>
          <a:p/>
          <a:p>
            <a:r>
              <a:t>[Sources]</a:t>
            </a:r>
          </a:p>
          <a:p>
            <a:r>
              <a:t>- AWS Systems Manager runbooks Documentation (docs.aws.amazon.com/systems-manager/latest/userguide/automation-documents.html).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4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Deployment-failure response.</a:t>
            </a:r>
          </a:p>
          <a:p>
            <a:r>
              <a:t>Why it matters: Wiring release health into automated rollback keeps a bad deployment from becoming a prolonged outage.</a:t>
            </a:r>
          </a:p>
          <a:p>
            <a:r>
              <a:t>Failure mode: Deployments with no health signal or rollback path require a manual, stressful, error-prone recovery.</a:t>
            </a:r>
          </a:p>
          <a:p>
            <a:r>
              <a:t>Trade-off: Fast auto-rollback is safe but can oscillate if the health signal is noisy — tune alarm sensitivity.</a:t>
            </a:r>
          </a:p>
          <a:p/>
          <a:p>
            <a:r>
              <a:t>[Sources]</a:t>
            </a:r>
          </a:p>
          <a:p>
            <a:r>
              <a:t>- AWS CodeDeploy rollback Documentation (docs.aws.amazon.com/codedeploy/latest/userguide/deployments-rollback-and-redeploy.html).</a:t>
            </a:r>
          </a:p>
          <a:p>
            <a:r>
              <a:t>- AWS ECS circuit breaker Documentation (docs.aws.amazon.com/AmazonECS/latest/developerguide/deployment-circuit-breaker.html).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4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Troubleshooting methodically across signals.</a:t>
            </a:r>
          </a:p>
          <a:p>
            <a:r>
              <a:t>Why it matters: A disciplined, signal-driven method finds root cause faster than guessing and prevents fixing symptoms only.</a:t>
            </a:r>
          </a:p>
          <a:p>
            <a:r>
              <a:t>Failure mode: Restarting things at random during an incident can clear the symptom while leaving the cause to recur.</a:t>
            </a:r>
          </a:p>
          <a:p>
            <a:r>
              <a:t>Trade-off: Thorough diagnosis takes minutes you may feel you don't have — but mis-diagnosis costs more.</a:t>
            </a:r>
          </a:p>
          <a:p/>
          <a:p>
            <a:r>
              <a:t>[Sources]</a:t>
            </a:r>
          </a:p>
          <a:p>
            <a:r>
              <a:t>- AWS CloudTrail Documentation (docs.aws.amazon.com/awscloudtrail).</a:t>
            </a:r>
          </a:p>
          <a:p>
            <a:r>
              <a:t>- AWS CloudWatch Documentation (docs.aws.amazon.com/AmazonCloudWatch).</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4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Blameless post-incident review.</a:t>
            </a:r>
          </a:p>
          <a:p>
            <a:r>
              <a:t>Why it matters: Treating incidents as learning — not fault — turns each outage into durable resilience and better automation.</a:t>
            </a:r>
          </a:p>
          <a:p>
            <a:r>
              <a:t>Failure mode: Blaming individuals drives problems underground; people stop reporting near-misses and the system stops improving.</a:t>
            </a:r>
          </a:p>
          <a:p>
            <a:r>
              <a:t>Trade-off: Reviews cost time and candour — the payoff is compounding reliability over many incidents.</a:t>
            </a:r>
          </a:p>
          <a:p/>
          <a:p>
            <a:r>
              <a:t>[Sources]</a:t>
            </a:r>
          </a:p>
          <a:p>
            <a:r>
              <a:t>- DORA / Google Cloud, Accelerate State of DevOps (dora.dev).</a:t>
            </a:r>
          </a:p>
          <a:p>
            <a:r>
              <a:t>- AWS Well-Architected Framework (docs.aws.amazon.com/wellarchitected).</a:t>
            </a:r>
          </a:p>
          <a:p>
            <a:r>
              <a:t>- AWS Builders' Library Documentation (docs.aws.amazon.com/builders-library).</a:t>
            </a:r>
          </a:p>
        </p:txBody>
      </p:sp>
      <p:sp>
        <p:nvSpPr>
          <p:cNvPr id="4" name="Slide Number Placeholder 3"/>
          <p:cNvSpPr>
            <a:spLocks noGrp="1"/>
          </p:cNvSpPr>
          <p:nvPr>
            <p:ph type="sldNum" idx="5" sz="quarter"/>
          </p:nvPr>
        </p:nvSpPr>
        <p:spPr/>
      </p:sp>
    </p:spTree>
  </p:cSld>
  <p:clrMapOvr>
    <a:masterClrMapping/>
  </p:clrMapOvr>
</p:notes>
</file>

<file path=ppt/notesSlides/notesSlide4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Orchestrating complex responses with Step Functions.</a:t>
            </a:r>
          </a:p>
          <a:p>
            <a:r>
              <a:t>Why it matters: Some incidents need a workflow, not a single action — orchestration gives reliable, observable, multi-step recovery.</a:t>
            </a:r>
          </a:p>
          <a:p>
            <a:r>
              <a:t>Failure mode: A tangle of Lambdas invoking Lambdas becomes impossible to trace or safely modify.</a:t>
            </a:r>
          </a:p>
          <a:p>
            <a:r>
              <a:t>Trade-off: Orchestration adds a service to design and cost, justified when the response has real branching and steps.</a:t>
            </a:r>
          </a:p>
          <a:p/>
          <a:p>
            <a:r>
              <a:t>[Sources]</a:t>
            </a:r>
          </a:p>
          <a:p>
            <a:r>
              <a:t>- AWS Step Functions Documentation (docs.aws.amazon.com/step-functions).</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4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 Runbook vs Playbook — Know the Difference.</a:t>
            </a:r>
          </a:p>
          <a:p/>
          <a:p>
            <a:r>
              <a:t>[Sources]</a:t>
            </a:r>
          </a:p>
          <a:p>
            <a:r>
              <a:t>- AWS Systems Manager Documentation (docs.aws.amazon.com/systems-manager).</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4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Automation Cuts MTTR Across Every Phase. What the data shows: Event-driven automation collapses mean-time-to-recover from over an hour to a few minutes — most of the saving is in detection and remediation.</a:t>
            </a:r>
          </a:p>
          <a:p>
            <a:r>
              <a:t>Figures are illustrative teaching values to convey the relationship, not measured benchmarks.</a:t>
            </a:r>
          </a:p>
          <a:p/>
          <a:p>
            <a:r>
              <a:t>[Sources]</a:t>
            </a:r>
          </a:p>
          <a:p>
            <a:r>
              <a:t>- DORA / Google Cloud, Accelerate State of DevOps (dora.dev).</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4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Incident-Response Failure Modes &amp; Anti-Patterns.</a:t>
            </a:r>
          </a:p>
          <a:p>
            <a:r>
              <a:t>Over-broad event patterns — Remediation on benign events → precise patterns, test them.</a:t>
            </a:r>
          </a:p>
          <a:p>
            <a:r>
              <a:t>Notify-only, no automation — Recovery gated on human reaction → wire the fix.</a:t>
            </a:r>
          </a:p>
          <a:p>
            <a:r>
              <a:t>Unscoped remediation IAM — A bad event does damage → least-privilege action roles.</a:t>
            </a:r>
          </a:p>
          <a:p>
            <a:r>
              <a:t>Tribal knowledge — Fix lives in one head → codify runbooks.</a:t>
            </a:r>
          </a:p>
          <a:p>
            <a:r>
              <a:t>Random restarts — Symptom cleared, cause remains → signal-driven diagnosis.</a:t>
            </a:r>
          </a:p>
          <a:p>
            <a:r>
              <a:t>No post-incident learning — Same outage recurs → blameless review + action items.</a:t>
            </a:r>
          </a:p>
          <a:p/>
          <a:p>
            <a:r>
              <a:t>[Sources]</a:t>
            </a:r>
          </a:p>
          <a:p>
            <a:r>
              <a:t>- AWS Certified DevOps Engineer – Professional (DOP-C02) Exam Guide (docs.aws.amazon.com/pdfs/aws-certification/latest/devops-engineer-professional-02).</a:t>
            </a:r>
          </a:p>
          <a:p>
            <a:r>
              <a:t>- AWS EventBridge Documentation (docs.aws.amazon.com/eventbridge).</a:t>
            </a:r>
          </a:p>
        </p:txBody>
      </p:sp>
      <p:sp>
        <p:nvSpPr>
          <p:cNvPr id="4" name="Slide Number Placeholder 3"/>
          <p:cNvSpPr>
            <a:spLocks noGrp="1"/>
          </p:cNvSpPr>
          <p:nvPr>
            <p:ph type="sldNum" idx="5" sz="quarter"/>
          </p:nvPr>
        </p:nvSpPr>
        <p:spPr/>
      </p:sp>
    </p:spTree>
  </p:cSld>
  <p:clrMapOvr>
    <a:masterClrMapping/>
  </p:clrMapOvr>
</p:notes>
</file>

<file path=ppt/notesSlides/notesSlide4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Response Patterns Worth Adopting.</a:t>
            </a:r>
          </a:p>
          <a:p>
            <a:r>
              <a:t>Detect → route → notify+act — EventBridge fans out to people and automation.</a:t>
            </a:r>
          </a:p>
          <a:p>
            <a:r>
              <a:t>Alarm-based rollback — Release health auto-reverts bad deploys.</a:t>
            </a:r>
          </a:p>
          <a:p>
            <a:r>
              <a:t>Automated runbooks — SSM Automation for known fixes.</a:t>
            </a:r>
          </a:p>
          <a:p>
            <a:r>
              <a:t>Guarded auto-remediation — Config → remediation with approval for risky actions.</a:t>
            </a:r>
          </a:p>
          <a:p>
            <a:r>
              <a:t>Orchestrated recovery — Step Functions for multi-step responses.</a:t>
            </a:r>
          </a:p>
          <a:p>
            <a:r>
              <a:t>Blameless reviews — Every incident hardens the system.</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4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Decision — Automate the Fix or Page a Human?.</a:t>
            </a:r>
          </a:p>
          <a:p>
            <a:r>
              <a:t>Option A — Fully automate: Known cause, safe and reversible fix, frequent occurrence. Fastest recovery — needs tight IAM and validation.</a:t>
            </a:r>
          </a:p>
          <a:p>
            <a:r>
              <a:t>Option B — Automate with approval: Higher-risk action or ambiguous trigger. Step Functions pauses for a human yes/no before acting.</a:t>
            </a:r>
          </a:p>
          <a:p>
            <a:r>
              <a:t>Option C — Notify only: Novel or unclear incidents. Page the on-call with rich context; automation isn't safe until the pattern is understood.</a:t>
            </a:r>
          </a:p>
          <a:p/>
          <a:p>
            <a:r>
              <a:t>[Sources]</a:t>
            </a:r>
          </a:p>
          <a:p>
            <a:r>
              <a:t>- AWS Certified DevOps Engineer – Professional (DOP-C02) Exam Guide (docs.aws.amazon.com/pdfs/aws-certification/latest/devops-engineer-professional-02).</a:t>
            </a:r>
          </a:p>
          <a:p>
            <a:r>
              <a:t>- AWS Step Functions Documentation (docs.aws.amazon.com/step-functions).</a:t>
            </a:r>
          </a:p>
        </p:txBody>
      </p:sp>
      <p:sp>
        <p:nvSpPr>
          <p:cNvPr id="4" name="Slide Number Placeholder 3"/>
          <p:cNvSpPr>
            <a:spLocks noGrp="1"/>
          </p:cNvSpPr>
          <p:nvPr>
            <p:ph type="sldNum" idx="5" sz="quarter"/>
          </p:nvPr>
        </p:nvSpPr>
        <p:spPr/>
      </p:sp>
    </p:spTree>
  </p:cSld>
  <p:clrMapOvr>
    <a:masterClrMapping/>
  </p:clrMapOvr>
</p:notes>
</file>

<file path=ppt/notesSlides/notesSlide4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Someone changes a bucket to public. Data exposure risk is immediate; no engineer is awake.</a:t>
            </a:r>
          </a:p>
          <a:p>
            <a:r>
              <a:t>AWS Config's s3-bucket-public-read-prohibited rule detects the non-compliant state within minutes.</a:t>
            </a:r>
          </a:p>
          <a:p>
            <a:r>
              <a:t>An EventBridge rule on the Config compliance-change event can trigger an SSM Automation remediation.</a:t>
            </a:r>
          </a:p>
          <a:p>
            <a:r>
              <a:t>The remediation re-applies Block Public Access and SNS notifies the security channel.</a:t>
            </a:r>
          </a:p>
          <a:p>
            <a:r>
              <a:t>Decision: Wire Config → EventBridge → SSM Automation to auto-remediate and notify, so the exposure window is minutes and unattended — with the action logged for the morning review.</a:t>
            </a:r>
          </a:p>
          <a:p/>
          <a:p>
            <a:r>
              <a:t>[Sources]</a:t>
            </a:r>
          </a:p>
          <a:p>
            <a:r>
              <a:t>- AWS Config remediation Documentation (docs.aws.amazon.com/config/latest/developerguide/remediation.html).</a:t>
            </a:r>
          </a:p>
          <a:p>
            <a:r>
              <a:t>- AWS EventBridge Documentation (docs.aws.amazon.com/eventbridge).</a:t>
            </a:r>
          </a:p>
        </p:txBody>
      </p:sp>
      <p:sp>
        <p:nvSpPr>
          <p:cNvPr id="4" name="Slide Number Placeholder 3"/>
          <p:cNvSpPr>
            <a:spLocks noGrp="1"/>
          </p:cNvSpPr>
          <p:nvPr>
            <p:ph type="sldNum" idx="5" sz="quarter"/>
          </p:nvPr>
        </p:nvSpPr>
        <p:spPr/>
      </p:sp>
    </p:spTree>
  </p:cSld>
  <p:clrMapOvr>
    <a:masterClrMapping/>
  </p:clrMapOvr>
</p:notes>
</file>

<file path=ppt/notesSlides/notesSlide4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Minutes after a rollout, the error-rate alarm crosses threshold.</a:t>
            </a:r>
          </a:p>
          <a:p>
            <a:r>
              <a:t>The alarm can be an automatic rollback trigger for the CodeDeploy deployment, no human needed.</a:t>
            </a:r>
          </a:p>
          <a:p>
            <a:r>
              <a:t>EventBridge can also notify the team and open an incident record for context.</a:t>
            </a:r>
          </a:p>
          <a:p>
            <a:r>
              <a:t>A post-incident action is to move the service to canary so 5% catches this next time.</a:t>
            </a:r>
          </a:p>
          <a:p>
            <a:r>
              <a:t>Decision: Bind the error-rate alarm to CodeDeploy auto-rollback and notify in parallel; recovery becomes automatic and the follow-up hardens the pipeline.</a:t>
            </a:r>
          </a:p>
          <a:p/>
          <a:p>
            <a:r>
              <a:t>[Sources]</a:t>
            </a:r>
          </a:p>
          <a:p>
            <a:r>
              <a:t>- AWS CodeDeploy rollback Documentation (docs.aws.amazon.com/codedeploy/latest/userguide/deployments-rollback-and-redeploy.html).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4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Analysis — Anatomy of an Automated Response.</a:t>
            </a:r>
          </a:p>
          <a:p>
            <a:r>
              <a:t>Signal — CloudWatch alarm / Config finding / service event fires.</a:t>
            </a:r>
          </a:p>
          <a:p>
            <a:r>
              <a:t>Route — EventBridge rule matches the event pattern precisely.</a:t>
            </a:r>
          </a:p>
          <a:p>
            <a:r>
              <a:t>Notify — SNS informs responders with context — they watch, not scramble.</a:t>
            </a:r>
          </a:p>
          <a:p>
            <a:r>
              <a:t>Act &amp; verify — Lambda/SSM runbook remediates; a follow-up check confirms healthy state, else escalates.</a:t>
            </a:r>
          </a:p>
          <a:p>
            <a:r>
              <a:t>Takeaway: A good response is a small, testable pipeline — precise trigger, parallel notify-and-act, and a verification step that escalates if the fix didn't hold.</a:t>
            </a:r>
          </a:p>
          <a:p/>
          <a:p>
            <a:r>
              <a:t>[Sources]</a:t>
            </a:r>
          </a:p>
          <a:p>
            <a:r>
              <a:t>- AWS EventBridge Documentation (docs.aws.amazon.com/eventbridge).</a:t>
            </a:r>
          </a:p>
          <a:p>
            <a:r>
              <a:t>- AWS Systems Manager Automation Documentation (docs.aws.amazon.com/systems-manager/latest/userguide/systems-manager-automation.html).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4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Event-driven incident response.</a:t>
            </a:r>
          </a:p>
          <a:p>
            <a:r>
              <a:t>PURPOSE: Route precise operational state changes to people and automation with buffering and failure isolation.</a:t>
            </a:r>
          </a:p>
          <a:p>
            <a:r>
              <a:t>FEATURE 1: EventBridge filters structured events and supports archives/replay for event buses.</a:t>
            </a:r>
          </a:p>
          <a:p>
            <a:r>
              <a:t>FEATURE 2: SNS fans out notifications; SQS buffers consumer work and supports DLQs.</a:t>
            </a:r>
          </a:p>
          <a:p>
            <a:r>
              <a:t>FEATURE 3: Lambda performs short response actions under a scoped execution role.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Event-driven incident response: selection and controls.</a:t>
            </a:r>
          </a:p>
          <a:p>
            <a:r>
              <a:t>CHOOSE WHEN: Use EventBridge for content routing, SNS for fan-out and SQS when consumers need durable buffering/back-pressure.</a:t>
            </a:r>
          </a:p>
          <a:p>
            <a:r>
              <a:t>DEVOPS ENGINEERING: Match exact fields, make actions idempotent, add DLQs, cap retries and require approval for high-impact remediation.</a:t>
            </a:r>
          </a:p>
          <a:p>
            <a:r>
              <a:t>FAILURE MODE: A broad event pattern or overprivileged responder can automate the wrong containment action.</a:t>
            </a:r>
          </a:p>
          <a:p>
            <a:r>
              <a:t>EVIDENCE: Matched event, delivery attempts, DLQ depth, function request ID, changed resource and approval.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Operations and remediation.</a:t>
            </a:r>
          </a:p>
          <a:p>
            <a:r>
              <a:t>PURPOSE: Aggregate operational issues, attach context and run controlled investigation or remediation workflows.</a:t>
            </a:r>
          </a:p>
          <a:p>
            <a:r>
              <a:t>FEATURE 1: OpsItems connect an issue to resources, related events, runbooks and ownership.</a:t>
            </a:r>
          </a:p>
          <a:p>
            <a:r>
              <a:t>FEATURE 2: Automation executes auditable steps with branching, approvals and AWS API integrations.</a:t>
            </a:r>
          </a:p>
          <a:p>
            <a:r>
              <a:t>FEATURE 3: Explorer aggregates operational/compliance data across configured accounts and Regions.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Operations and remediation: selection and controls.</a:t>
            </a:r>
          </a:p>
          <a:p>
            <a:r>
              <a:t>CHOOSE WHEN: Use Automation for repeatable remediation and OpsCenter when issues need lifecycle, ownership and evidence.</a:t>
            </a:r>
          </a:p>
          <a:p>
            <a:r>
              <a:t>DEVOPS ENGINEERING: Start with read-only diagnosis, canary the change, bound targets/errors and preserve before/after state.</a:t>
            </a:r>
          </a:p>
          <a:p>
            <a:r>
              <a:t>FAILURE MODE: Automation that deletes diagnostic state before collection can make the incident unexplainable.</a:t>
            </a:r>
          </a:p>
          <a:p>
            <a:r>
              <a:t>EVIDENCE: OpsItem, execution steps, approver, target set, output, resource diff and post-check.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Audit and configuration diagnosis.</a:t>
            </a:r>
          </a:p>
          <a:p>
            <a:r>
              <a:t>PURPOSE: Separate who changed what from what configuration exists now and what desired state declares.</a:t>
            </a:r>
          </a:p>
          <a:p>
            <a:r>
              <a:t>FEATURE 1: CloudTrail records control-plane/API activity and identity context; data events require explicit configuration.</a:t>
            </a:r>
          </a:p>
          <a:p>
            <a:r>
              <a:t>FEATURE 2: Config records supported resource configuration/history and evaluates rules.</a:t>
            </a:r>
          </a:p>
          <a:p>
            <a:r>
              <a:t>FEATURE 3: CloudFormation drift compares supported actual properties with the stack template.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 and configuration diagnosis: selection and controls.</a:t>
            </a:r>
          </a:p>
          <a:p>
            <a:r>
              <a:t>CHOOSE WHEN: Use CloudTrail for actor/API evidence, Config for resource history/compliance and drift for IaC divergence.</a:t>
            </a:r>
          </a:p>
          <a:p>
            <a:r>
              <a:t>DEVOPS ENGINEERING: Centralise trails, protect logs, scope selectors deliberately, aggregate Config and investigate before remediation.</a:t>
            </a:r>
          </a:p>
          <a:p>
            <a:r>
              <a:t>FAILURE MODE: No event may mean the trail did not capture that event category—not that no change occurred.</a:t>
            </a:r>
          </a:p>
          <a:p>
            <a:r>
              <a:t>EVIDENCE: Event time/identity/request, configuration timeline, compliance evaluation, drift detail and remediation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Network troubleshooting.</a:t>
            </a:r>
          </a:p>
          <a:p>
            <a:r>
              <a:t>PURPOSE: Diagnose connectivity by distinguishing route, policy, name-resolution, load-balancer and application failures.</a:t>
            </a:r>
          </a:p>
          <a:p>
            <a:r>
              <a:t>FEATURE 1: Flow Logs show accepted/rejected network-flow metadata, not packet contents.</a:t>
            </a:r>
          </a:p>
          <a:p>
            <a:r>
              <a:t>FEATURE 2: Reachability Analyzer evaluates a modeled path through supported network configuration.</a:t>
            </a:r>
          </a:p>
          <a:p>
            <a:r>
              <a:t>FEATURE 3: Resolver query logs reveal DNS questions/responses from configured VPCs.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troubleshooting: selection and controls.</a:t>
            </a:r>
          </a:p>
          <a:p>
            <a:r>
              <a:t>CHOOSE WHEN: Use configuration path analysis first, then flow/DNS/load-balancer evidence to locate the failed layer.</a:t>
            </a:r>
          </a:p>
          <a:p>
            <a:r>
              <a:t>DEVOPS ENGINEERING: Check source/destination, DNS, route both ways, security groups, NACLs, endpoints, target health and application listener.</a:t>
            </a:r>
          </a:p>
          <a:p>
            <a:r>
              <a:t>FAILURE MODE: Treating every timeout as a security-group issue leads to random changes and larger blast radius.</a:t>
            </a:r>
          </a:p>
          <a:p>
            <a:r>
              <a:t>EVIDENCE: Path result, flow-log action, DNS response, route, target health, application log and corrected control.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SQS buffering, ordering and dead-letter handling.</a:t>
            </a:r>
          </a:p>
          <a:p>
            <a:r>
              <a:t>PURPOSE: Decouple producers from consumers while making delivery, visibility, idempotency and poison-message behavior explicit.</a:t>
            </a:r>
          </a:p>
          <a:p>
            <a:r>
              <a:t>SERVICE BOUNDARY: SQS Standard · FIFO · dead-letter queues</a:t>
            </a:r>
          </a:p>
          <a:p>
            <a:r>
              <a:t>PRIMARY DESIGN DECISION: Make the charge operation idempotent, extend visibility while healthy, cap retry attempts and isolate permanent failures in a DLQ.</a:t>
            </a:r>
          </a:p>
          <a:p>
            <a:r>
              <a:t>FAILURE BOUNDARY: Increasing visibility indefinitely hides stuck work; relying only on FIFO deduplication does not protect downstream side effects forever.</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SQS buffering, ordering and dead-letter handling: how it works.</a:t>
            </a:r>
          </a:p>
          <a:p>
            <a:r>
              <a:t>MECHANIC 1: Standard queues scale broadly with at-least-once delivery and best-effort ordering; consumers must tolerate duplicate and reordered messages.</a:t>
            </a:r>
          </a:p>
          <a:p>
            <a:r>
              <a:t>MECHANIC 2: FIFO queues preserve order within a message group and deduplicate within the supported window, but throughput and group design still matter.</a:t>
            </a:r>
          </a:p>
          <a:p>
            <a:r>
              <a:t>MECHANIC 3: Visibility timeout hides a received message while processing; it must exceed normal work or be extended through a heartbeat.</a:t>
            </a:r>
          </a:p>
          <a:p>
            <a:r>
              <a:t>MECHANIC 4: Long polling reduces empty receives, while redrive policies move repeatedly failing messages to a DLQ for inspection and controlled replay.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SQS buffering, ordering and dead-letter handling: operating flow.</a:t>
            </a:r>
          </a:p>
          <a:p>
            <a:r>
              <a:t>Send durable message</a:t>
            </a:r>
          </a:p>
          <a:p>
            <a:r>
              <a:t>Long-poll receive</a:t>
            </a:r>
          </a:p>
          <a:p>
            <a:r>
              <a:t>Acquire visibility lease</a:t>
            </a:r>
          </a:p>
          <a:p>
            <a:r>
              <a:t>Process idempotently</a:t>
            </a:r>
          </a:p>
          <a:p>
            <a:r>
              <a:t>Delete or redrive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SQS buffering, ordering and dead-letter handling: configuration decisions.</a:t>
            </a:r>
          </a:p>
          <a:p>
            <a:r>
              <a:t>QUEUE TYPE: Choose FIFO only when ordered groups/deduplication are real requirements; Standard remains the default for independent work.</a:t>
            </a:r>
          </a:p>
          <a:p>
            <a:r>
              <a:t>BATCHING: Batch send/receive/delete for efficiency, but handle per-entry success and failure independently.</a:t>
            </a:r>
          </a:p>
          <a:p>
            <a:r>
              <a:t>DLQ: Set max receives from real retry behavior and monitor age/depth; a DLQ is an investigation queue, not a disposal bin.</a:t>
            </a:r>
          </a:p>
          <a:p>
            <a:r>
              <a:t>SECURITY: Use queue policies for producer access, KMS where required and VPC endpoints for controlled private API paths.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SQS buffering, ordering and dead-letter handling: worked architecture decision.</a:t>
            </a:r>
          </a:p>
          <a:p>
            <a:r>
              <a:t>SCENARIO: A worker occasionally exceeds the visibility timeout, causing two instances to charge the same order.</a:t>
            </a:r>
          </a:p>
          <a:p>
            <a:r>
              <a:t>DESIGN DECISION: Make the charge operation idempotent, extend visibility while healthy, cap retry attempts and isolate permanent failures in a DLQ.</a:t>
            </a:r>
          </a:p>
          <a:p>
            <a:r>
              <a:t>FAILURE TO AVOID: Increasing visibility indefinitely hides stuck work; relying only on FIFO deduplication does not protect downstream side effects forever.</a:t>
            </a:r>
          </a:p>
          <a:p>
            <a:r>
              <a:t>ACCEPTANCE EVIDENCE: Message ID/group, receive count, processing heartbeat, idempotency record, deletion result, DLQ age and redrive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SNS, EventBridge and API event contracts.</a:t>
            </a:r>
          </a:p>
          <a:p>
            <a:r>
              <a:t>PURPOSE: Select fan-out, event routing or synchronous API integration from contract, delivery and consumer-isolation requirements.</a:t>
            </a:r>
          </a:p>
          <a:p>
            <a:r>
              <a:t>SERVICE BOUNDARY: SNS · EventBridge · API Gateway · Lambda</a:t>
            </a:r>
          </a:p>
          <a:p>
            <a:r>
              <a:t>PRIMARY DESIGN DECISION: Publish a versioned domain event to EventBridge, filter to per-consumer queues and let each consumer own retry/DLQ behavior.</a:t>
            </a:r>
          </a:p>
          <a:p>
            <a:r>
              <a:t>FAILURE BOUNDARY: Direct synchronous calls couple availability and release schedules; a broad event pattern can invoke the wrong automation.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SNS, EventBridge and API event contracts: how it works.</a:t>
            </a:r>
          </a:p>
          <a:p>
            <a:r>
              <a:t>MECHANIC 1: SNS publishes one message to multiple subscriptions and supports filtering, retries and protocol-specific delivery behavior.</a:t>
            </a:r>
          </a:p>
          <a:p>
            <a:r>
              <a:t>MECHANIC 2: EventBridge routes structured events by content across buses, supports schemas, archives/replay and SaaS or cross-account integration patterns.</a:t>
            </a:r>
          </a:p>
          <a:p>
            <a:r>
              <a:t>MECHANIC 3: API Gateway exposes REST, HTTP or WebSocket APIs with stages, integrations, authorization, throttling, logging and deployment controls.</a:t>
            </a:r>
          </a:p>
          <a:p>
            <a:r>
              <a:t>MECHANIC 4: Lambda proxy integrations pass a defined event envelope; non-proxy mappings can transform and validate requests before reaching the backend.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SNS, EventBridge and API event contracts: operating flow.</a:t>
            </a:r>
          </a:p>
          <a:p>
            <a:r>
              <a:t>Define versioned contract</a:t>
            </a:r>
          </a:p>
          <a:p>
            <a:r>
              <a:t>Authenticate producer</a:t>
            </a:r>
          </a:p>
          <a:p>
            <a:r>
              <a:t>Filter or validate</a:t>
            </a:r>
          </a:p>
          <a:p>
            <a:r>
              <a:t>Deliver to isolated consumer</a:t>
            </a:r>
          </a:p>
          <a:p>
            <a:r>
              <a:t>Handle failure and observe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SNS, EventBridge and API event contracts: configuration decisions.</a:t>
            </a:r>
          </a:p>
          <a:p>
            <a:r>
              <a:t>SNS: Choose for push-based fan-out where subscribers receive the same publication through supported protocols.</a:t>
            </a:r>
          </a:p>
          <a:p>
            <a:r>
              <a:t>EVENTBRIDGE: Choose for content-based routing, account decoupling, event discovery and replayable operational events.</a:t>
            </a:r>
          </a:p>
          <a:p>
            <a:r>
              <a:t>API GATEWAY: Choose for managed synchronous HTTP/WebSocket entry with authorization, quotas and request/response controls.</a:t>
            </a:r>
          </a:p>
          <a:p>
            <a:r>
              <a:t>BUFFER: Place SQS between routing and slow consumers when back-pressure and independent retry are required.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SNS, EventBridge and API event contracts: worked architecture decision.</a:t>
            </a:r>
          </a:p>
          <a:p>
            <a:r>
              <a:t>SCENARIO: An order event must reach billing, analytics and notification teams without the producer knowing their endpoints or failure state.</a:t>
            </a:r>
          </a:p>
          <a:p>
            <a:r>
              <a:t>DESIGN DECISION: Publish a versioned domain event to EventBridge, filter to per-consumer queues and let each consumer own retry/DLQ behavior.</a:t>
            </a:r>
          </a:p>
          <a:p>
            <a:r>
              <a:t>FAILURE TO AVOID: Direct synchronous calls couple availability and release schedules; a broad event pattern can invoke the wrong automation.</a:t>
            </a:r>
          </a:p>
          <a:p>
            <a:r>
              <a:t>ACCEPTANCE EVIDENCE: Schema/version, producer identity, matched rule, delivery attempts, consumer queue depth, DLQ record and correlation ID.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Event-driven operations.</a:t>
            </a:r>
          </a:p>
          <a:p>
            <a:r>
              <a:t>OUTCOME: Route operational events to the right automated or human response with explicit contracts.</a:t>
            </a:r>
          </a:p>
          <a:p>
            <a:r>
              <a:t>ARCHITECTURE: Use precise event patterns, schemas, input transformation, retries, DLQs and archive/replay where required.</a:t>
            </a:r>
          </a:p>
          <a:p>
            <a:r>
              <a:t>FAILURE MODE: An overly broad rule can invoke expensive or destructive automation for unrelated events.</a:t>
            </a:r>
          </a:p>
          <a:p>
            <a:r>
              <a:t>EVIDENCE: Event pattern, matched sample, target role, retry policy, DLQ and replay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Event-driven operations: operating flow.</a:t>
            </a:r>
          </a:p>
          <a:p>
            <a:r>
              <a:t>Source event</a:t>
            </a:r>
          </a:p>
          <a:p>
            <a:r>
              <a:t>Match pattern</a:t>
            </a:r>
          </a:p>
          <a:p>
            <a:r>
              <a:t>Transform</a:t>
            </a:r>
          </a:p>
          <a:p>
            <a:r>
              <a:t>Invoke target</a:t>
            </a:r>
          </a:p>
          <a:p>
            <a:r>
              <a:t>Retry or quarantine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Event-driven operations: design decision.</a:t>
            </a:r>
          </a:p>
          <a:p>
            <a:r>
              <a:t>SCENARIO: Only failed production deployments should create an incident and trigger rollback diagnostics.</a:t>
            </a:r>
          </a:p>
          <a:p>
            <a:r>
              <a:t>DESIGN RESPONSE: Use precise event patterns, schemas, input transformation, retries, DLQs and archive/replay where required.</a:t>
            </a:r>
          </a:p>
          <a:p>
            <a:r>
              <a:t>PRIMARY SERVICES: EventBridge · Pipes · Scheduler · Lambda</a:t>
            </a:r>
          </a:p>
          <a:p>
            <a:r>
              <a:t>FAILURE MODE: An overly broad rule can invoke expensive or destructive automation for unrelated events.</a:t>
            </a:r>
          </a:p>
          <a:p>
            <a:r>
              <a:t>PROOF: Event pattern, matched sample, target role, retry policy, DLQ and replay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Event-driven operations: failure diagnostic.</a:t>
            </a:r>
          </a:p>
          <a:p>
            <a:r>
              <a:t>RECOGNISE: Observable failure condition: An overly broad rule can invoke expensive or destructive automation for unrelated events.</a:t>
            </a:r>
          </a:p>
          <a:p>
            <a:r>
              <a:t>CONTAIN: Pause promotion, preserve evidence and reduce impact without destroying diagnostic state.</a:t>
            </a:r>
          </a:p>
          <a:p>
            <a:r>
              <a:t>DIAGNOSE: Trace the workflow from Source event through Retry or quarantine; compare intended configuration with runtime state.</a:t>
            </a:r>
          </a:p>
          <a:p>
            <a:r>
              <a:t>RECOVER: Restore the last known-good state, then prove recovery with Event pattern, matched sample, target role, retry policy, DLQ and replay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Event-driven operations: worked decision.</a:t>
            </a:r>
          </a:p>
          <a:p>
            <a:r>
              <a:t>CONSTRAINT: Only failed production deployments should create an incident and trigger rollback diagnostics.</a:t>
            </a:r>
          </a:p>
          <a:p>
            <a:r>
              <a:t>DECISION: Use precise event patterns, schemas, input transformation, retries, DLQs and archive/replay where required.</a:t>
            </a:r>
          </a:p>
          <a:p>
            <a:r>
              <a:t>WHY ALTERNATIVES LOSE: Reject options that do not change the stated failure boundary: An overly broad rule can invoke expensive or destructive automation for unrelated events.</a:t>
            </a:r>
          </a:p>
          <a:p>
            <a:r>
              <a:t>ACCEPTANCE TEST: The decision is complete only when this proof exists: Event pattern, matched sample, target role, retry policy, DLQ and replay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and audit event correlation.</a:t>
            </a:r>
          </a:p>
          <a:p>
            <a:r>
              <a:t>OUTCOME: Distinguish provider events, configuration changes and workload symptoms during an incident.</a:t>
            </a:r>
          </a:p>
          <a:p>
            <a:r>
              <a:t>ARCHITECTURE: Correlate Health events with API history and resource telemetry using account, Region, resource and time.</a:t>
            </a:r>
          </a:p>
          <a:p>
            <a:r>
              <a:t>FAILURE MODE: Treating every symptom as an application defect delays response to service or control-plane events.</a:t>
            </a:r>
          </a:p>
          <a:p>
            <a:r>
              <a:t>EVIDENCE: Health event ARN, CloudTrail event ID, affected entities, timeline and correlated alarm.</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and audit event correlation: operating flow.</a:t>
            </a:r>
          </a:p>
          <a:p>
            <a:r>
              <a:t>Detect symptom</a:t>
            </a:r>
          </a:p>
          <a:p>
            <a:r>
              <a:t>Check Health</a:t>
            </a:r>
          </a:p>
          <a:p>
            <a:r>
              <a:t>Query API history</a:t>
            </a:r>
          </a:p>
          <a:p>
            <a:r>
              <a:t>Correlate resource</a:t>
            </a:r>
          </a:p>
          <a:p>
            <a:r>
              <a:t>Choose response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and audit event correlation: design decision.</a:t>
            </a:r>
          </a:p>
          <a:p>
            <a:r>
              <a:t>SCENARIO: Instances fail in one Region after a maintenance event while a deployment occurred minutes earlier.</a:t>
            </a:r>
          </a:p>
          <a:p>
            <a:r>
              <a:t>DESIGN RESPONSE: Correlate Health events with API history and resource telemetry using account, Region, resource and time.</a:t>
            </a:r>
          </a:p>
          <a:p>
            <a:r>
              <a:t>PRIMARY SERVICES: AWS Health · CloudTrail · EventBridge</a:t>
            </a:r>
          </a:p>
          <a:p>
            <a:r>
              <a:t>FAILURE MODE: Treating every symptom as an application defect delays response to service or control-plane events.</a:t>
            </a:r>
          </a:p>
          <a:p>
            <a:r>
              <a:t>PROOF: Health event ARN, CloudTrail event ID, affected entities, timeline and correlated alarm.</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and audit event correlation: failure diagnostic.</a:t>
            </a:r>
          </a:p>
          <a:p>
            <a:r>
              <a:t>RECOGNISE: Observable failure condition: Treating every symptom as an application defect delays response to service or control-plane events.</a:t>
            </a:r>
          </a:p>
          <a:p>
            <a:r>
              <a:t>CONTAIN: Pause promotion, preserve evidence and reduce impact without destroying diagnostic state.</a:t>
            </a:r>
          </a:p>
          <a:p>
            <a:r>
              <a:t>DIAGNOSE: Trace the workflow from Detect symptom through Choose response; compare intended configuration with runtime state.</a:t>
            </a:r>
          </a:p>
          <a:p>
            <a:r>
              <a:t>RECOVER: Restore the last known-good state, then prove recovery with Health event ARN, CloudTrail event ID, affected entities, timeline and correlated alarm.</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and audit event correlation: worked decision.</a:t>
            </a:r>
          </a:p>
          <a:p>
            <a:r>
              <a:t>CONSTRAINT: Instances fail in one Region after a maintenance event while a deployment occurred minutes earlier.</a:t>
            </a:r>
          </a:p>
          <a:p>
            <a:r>
              <a:t>DECISION: Correlate Health events with API history and resource telemetry using account, Region, resource and time.</a:t>
            </a:r>
          </a:p>
          <a:p>
            <a:r>
              <a:t>WHY ALTERNATIVES LOSE: Reject options that do not change the stated failure boundary: Treating every symptom as an application defect delays response to service or control-plane events.</a:t>
            </a:r>
          </a:p>
          <a:p>
            <a:r>
              <a:t>ACCEPTANCE TEST: The decision is complete only when this proof exists: Health event ARN, CloudTrail event ID, affected entities, timeline and correlated alarm.</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Queues, dead-letter queues and redrive.</a:t>
            </a:r>
          </a:p>
          <a:p>
            <a:r>
              <a:t>OUTCOME: Contain poison messages, preserve evidence and restore flow without replaying successful work.</a:t>
            </a:r>
          </a:p>
          <a:p>
            <a:r>
              <a:t>ARCHITECTURE: Set max receives from retry cost, alarm on age and DLQ depth, inspect safely and redrive in controlled batches.</a:t>
            </a:r>
          </a:p>
          <a:p>
            <a:r>
              <a:t>FAILURE MODE: Redriving an uncorrected poison message recreates the incident.</a:t>
            </a:r>
          </a:p>
          <a:p>
            <a:r>
              <a:t>EVIDENCE: Message ID, receive count, failure reason, DLQ age, fix version and redrive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Queues, dead-letter queues and redrive: operating flow.</a:t>
            </a:r>
          </a:p>
          <a:p>
            <a:r>
              <a:t>Consume</a:t>
            </a:r>
          </a:p>
          <a:p>
            <a:r>
              <a:t>Fail</a:t>
            </a:r>
          </a:p>
          <a:p>
            <a:r>
              <a:t>Retry</a:t>
            </a:r>
          </a:p>
          <a:p>
            <a:r>
              <a:t>Move to DLQ</a:t>
            </a:r>
          </a:p>
          <a:p>
            <a:r>
              <a:t>Diagnose</a:t>
            </a:r>
          </a:p>
          <a:p>
            <a:r>
              <a:t>Redrive after fix</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Queues, dead-letter queues and redrive: design decision.</a:t>
            </a:r>
          </a:p>
          <a:p>
            <a:r>
              <a:t>SCENARIO: A malformed event blocks a consumer while valid orders accumulate behind it.</a:t>
            </a:r>
          </a:p>
          <a:p>
            <a:r>
              <a:t>DESIGN RESPONSE: Set max receives from retry cost, alarm on age and DLQ depth, inspect safely and redrive in controlled batches.</a:t>
            </a:r>
          </a:p>
          <a:p>
            <a:r>
              <a:t>PRIMARY SERVICES: SQS · SNS · Lambda</a:t>
            </a:r>
          </a:p>
          <a:p>
            <a:r>
              <a:t>FAILURE MODE: Redriving an uncorrected poison message recreates the incident.</a:t>
            </a:r>
          </a:p>
          <a:p>
            <a:r>
              <a:t>PROOF: Message ID, receive count, failure reason, DLQ age, fix version and redrive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Queues, dead-letter queues and redrive: failure diagnostic.</a:t>
            </a:r>
          </a:p>
          <a:p>
            <a:r>
              <a:t>RECOGNISE: Observable failure condition: Redriving an uncorrected poison message recreates the incident.</a:t>
            </a:r>
          </a:p>
          <a:p>
            <a:r>
              <a:t>CONTAIN: Pause promotion, preserve evidence and reduce impact without destroying diagnostic state.</a:t>
            </a:r>
          </a:p>
          <a:p>
            <a:r>
              <a:t>DIAGNOSE: Trace the workflow from Consume through Redrive after fix; compare intended configuration with runtime state.</a:t>
            </a:r>
          </a:p>
          <a:p>
            <a:r>
              <a:t>RECOVER: Restore the last known-good state, then prove recovery with Message ID, receive count, failure reason, DLQ age, fix version and redrive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Queues, dead-letter queues and redrive: worked decision.</a:t>
            </a:r>
          </a:p>
          <a:p>
            <a:r>
              <a:t>CONSTRAINT: A malformed event blocks a consumer while valid orders accumulate behind it.</a:t>
            </a:r>
          </a:p>
          <a:p>
            <a:r>
              <a:t>DECISION: Set max receives from retry cost, alarm on age and DLQ depth, inspect safely and redrive in controlled batches.</a:t>
            </a:r>
          </a:p>
          <a:p>
            <a:r>
              <a:t>WHY ALTERNATIVES LOSE: Reject options that do not change the stated failure boundary: Redriving an uncorrected poison message recreates the incident.</a:t>
            </a:r>
          </a:p>
          <a:p>
            <a:r>
              <a:t>ACCEPTANCE TEST: The decision is complete only when this proof exists: Message ID, receive count, failure reason, DLQ age, fix version and redrive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remediation.</a:t>
            </a:r>
          </a:p>
          <a:p>
            <a:r>
              <a:t>OUTCOME: Correct known, bounded failure modes quickly while preserving safety and auditability.</a:t>
            </a:r>
          </a:p>
          <a:p>
            <a:r>
              <a:t>ARCHITECTURE: Validate preconditions, scope targets, use approvals for high-risk steps, enforce rate controls and verify postconditions.</a:t>
            </a:r>
          </a:p>
          <a:p>
            <a:r>
              <a:t>FAILURE MODE: Automation that acts on uncertain diagnosis can deepen an outage.</a:t>
            </a:r>
          </a:p>
          <a:p>
            <a:r>
              <a:t>EVIDENCE: Trigger evidence, automation execution, approvals, step output, rollback and postcondition check.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remediation: operating flow.</a:t>
            </a:r>
          </a:p>
          <a:p>
            <a:r>
              <a:t>Detect known condition</a:t>
            </a:r>
          </a:p>
          <a:p>
            <a:r>
              <a:t>Validate</a:t>
            </a:r>
          </a:p>
          <a:p>
            <a:r>
              <a:t>Approve if required</a:t>
            </a:r>
          </a:p>
          <a:p>
            <a:r>
              <a:t>Remediate canary</a:t>
            </a:r>
          </a:p>
          <a:p>
            <a:r>
              <a:t>Expand</a:t>
            </a:r>
          </a:p>
          <a:p>
            <a:r>
              <a:t>Verify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remediation: design decision.</a:t>
            </a:r>
          </a:p>
          <a:p>
            <a:r>
              <a:t>SCENARIO: A public security group rule must be removed automatically without touching approved exceptions.</a:t>
            </a:r>
          </a:p>
          <a:p>
            <a:r>
              <a:t>DESIGN RESPONSE: Validate preconditions, scope targets, use approvals for high-risk steps, enforce rate controls and verify postconditions.</a:t>
            </a:r>
          </a:p>
          <a:p>
            <a:r>
              <a:t>PRIMARY SERVICES: Systems Manager Automation · Config · Lambda</a:t>
            </a:r>
          </a:p>
          <a:p>
            <a:r>
              <a:t>FAILURE MODE: Automation that acts on uncertain diagnosis can deepen an outage.</a:t>
            </a:r>
          </a:p>
          <a:p>
            <a:r>
              <a:t>PROOF: Trigger evidence, automation execution, approvals, step output, rollback and postcondition check.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remediation: failure diagnostic.</a:t>
            </a:r>
          </a:p>
          <a:p>
            <a:r>
              <a:t>RECOGNISE: Observable failure condition: Automation that acts on uncertain diagnosis can deepen an outage.</a:t>
            </a:r>
          </a:p>
          <a:p>
            <a:r>
              <a:t>CONTAIN: Pause promotion, preserve evidence and reduce impact without destroying diagnostic state.</a:t>
            </a:r>
          </a:p>
          <a:p>
            <a:r>
              <a:t>DIAGNOSE: Trace the workflow from Detect known condition through Verify; compare intended configuration with runtime state.</a:t>
            </a:r>
          </a:p>
          <a:p>
            <a:r>
              <a:t>RECOVER: Restore the last known-good state, then prove recovery with Trigger evidence, automation execution, approvals, step output, rollback and postcondition check.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remediation: worked decision.</a:t>
            </a:r>
          </a:p>
          <a:p>
            <a:r>
              <a:t>CONSTRAINT: A public security group rule must be removed automatically without touching approved exceptions.</a:t>
            </a:r>
          </a:p>
          <a:p>
            <a:r>
              <a:t>DECISION: Validate preconditions, scope targets, use approvals for high-risk steps, enforce rate controls and verify postconditions.</a:t>
            </a:r>
          </a:p>
          <a:p>
            <a:r>
              <a:t>WHY ALTERNATIVES LOSE: Reject options that do not change the stated failure boundary: Automation that acts on uncertain diagnosis can deepen an outage.</a:t>
            </a:r>
          </a:p>
          <a:p>
            <a:r>
              <a:t>ACCEPTANCE TEST: The decision is complete only when this proof exists: Trigger evidence, automation execution, approvals, step output, rollback and postcondition check.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Incident coordination and runbooks.</a:t>
            </a:r>
          </a:p>
          <a:p>
            <a:r>
              <a:t>OUTCOME: Create a shared timeline, ownership model and executable response path during incidents.</a:t>
            </a:r>
          </a:p>
          <a:p>
            <a:r>
              <a:t>ARCHITECTURE: Define severity, response plans, contacts, escalation, runbooks and post-incident actions before failure.</a:t>
            </a:r>
          </a:p>
          <a:p>
            <a:r>
              <a:t>FAILURE MODE: A technically correct fix can still fail when ownership and communication are unclear.</a:t>
            </a:r>
          </a:p>
          <a:p>
            <a:r>
              <a:t>EVIDENCE: Incident record, responder engagement, timeline, runbook execution, decision log and action items.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Incident coordination and runbooks: operating flow.</a:t>
            </a:r>
          </a:p>
          <a:p>
            <a:r>
              <a:t>Declare</a:t>
            </a:r>
          </a:p>
          <a:p>
            <a:r>
              <a:t>Engage owners</a:t>
            </a:r>
          </a:p>
          <a:p>
            <a:r>
              <a:t>Stabilize</a:t>
            </a:r>
          </a:p>
          <a:p>
            <a:r>
              <a:t>Diagnose</a:t>
            </a:r>
          </a:p>
          <a:p>
            <a:r>
              <a:t>Recover</a:t>
            </a:r>
          </a:p>
          <a:p>
            <a:r>
              <a:t>Learn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Incident coordination and runbooks: design decision.</a:t>
            </a:r>
          </a:p>
          <a:p>
            <a:r>
              <a:t>SCENARIO: A critical API outage requires application, platform, security and business responders to coordinate.</a:t>
            </a:r>
          </a:p>
          <a:p>
            <a:r>
              <a:t>DESIGN RESPONSE: Define severity, response plans, contacts, escalation, runbooks and post-incident actions before failure.</a:t>
            </a:r>
          </a:p>
          <a:p>
            <a:r>
              <a:t>PRIMARY SERVICES: Incident Manager · OpsCenter · Chatbot</a:t>
            </a:r>
          </a:p>
          <a:p>
            <a:r>
              <a:t>FAILURE MODE: A technically correct fix can still fail when ownership and communication are unclear.</a:t>
            </a:r>
          </a:p>
          <a:p>
            <a:r>
              <a:t>PROOF: Incident record, responder engagement, timeline, runbook execution, decision log and action items.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Incident coordination and runbooks: failure diagnostic.</a:t>
            </a:r>
          </a:p>
          <a:p>
            <a:r>
              <a:t>RECOGNISE: Observable failure condition: A technically correct fix can still fail when ownership and communication are unclear.</a:t>
            </a:r>
          </a:p>
          <a:p>
            <a:r>
              <a:t>CONTAIN: Pause promotion, preserve evidence and reduce impact without destroying diagnostic state.</a:t>
            </a:r>
          </a:p>
          <a:p>
            <a:r>
              <a:t>DIAGNOSE: Trace the workflow from Declare through Learn; compare intended configuration with runtime state.</a:t>
            </a:r>
          </a:p>
          <a:p>
            <a:r>
              <a:t>RECOVER: Restore the last known-good state, then prove recovery with Incident record, responder engagement, timeline, runbook execution, decision log and action items.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Incident coordination and runbooks: worked decision.</a:t>
            </a:r>
          </a:p>
          <a:p>
            <a:r>
              <a:t>CONSTRAINT: A critical API outage requires application, platform, security and business responders to coordinate.</a:t>
            </a:r>
          </a:p>
          <a:p>
            <a:r>
              <a:t>DECISION: Define severity, response plans, contacts, escalation, runbooks and post-incident actions before failure.</a:t>
            </a:r>
          </a:p>
          <a:p>
            <a:r>
              <a:t>WHY ALTERNATIVES LOSE: Reject options that do not change the stated failure boundary: A technically correct fix can still fail when ownership and communication are unclear.</a:t>
            </a:r>
          </a:p>
          <a:p>
            <a:r>
              <a:t>ACCEPTANCE TEST: The decision is complete only when this proof exists: Incident record, responder engagement, timeline, runbook execution, decision log and action items.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Structured troubleshooting.</a:t>
            </a:r>
          </a:p>
          <a:p>
            <a:r>
              <a:t>OUTCOME: Reduce mean time to recovery through hypothesis-driven diagnosis and controlled changes.</a:t>
            </a:r>
          </a:p>
          <a:p>
            <a:r>
              <a:t>ARCHITECTURE: Start from user impact, check recent changes, narrow by dependency, compare healthy baselines and change one variable at a time.</a:t>
            </a:r>
          </a:p>
          <a:p>
            <a:r>
              <a:t>FAILURE MODE: Random changes destroy evidence and create new failure modes.</a:t>
            </a:r>
          </a:p>
          <a:p>
            <a:r>
              <a:t>EVIDENCE: Impact statement, timeline, hypotheses, evidence, change record, recovery metric and root cause.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Structured troubleshooting: operating flow.</a:t>
            </a:r>
          </a:p>
          <a:p>
            <a:r>
              <a:t>Define impact</a:t>
            </a:r>
          </a:p>
          <a:p>
            <a:r>
              <a:t>Build timeline</a:t>
            </a:r>
          </a:p>
          <a:p>
            <a:r>
              <a:t>Rank hypotheses</a:t>
            </a:r>
          </a:p>
          <a:p>
            <a:r>
              <a:t>Test safely</a:t>
            </a:r>
          </a:p>
          <a:p>
            <a:r>
              <a:t>Recover</a:t>
            </a:r>
          </a:p>
          <a:p>
            <a:r>
              <a:t>Validate and document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Structured troubleshooting: design decision.</a:t>
            </a:r>
          </a:p>
          <a:p>
            <a:r>
              <a:t>SCENARIO: Latency rises after a deployment, but only for requests using one downstream dependency.</a:t>
            </a:r>
          </a:p>
          <a:p>
            <a:r>
              <a:t>DESIGN RESPONSE: Start from user impact, check recent changes, narrow by dependency, compare healthy baselines and change one variable at a time.</a:t>
            </a:r>
          </a:p>
          <a:p>
            <a:r>
              <a:t>PRIMARY SERVICES: CloudWatch · X-Ray · CloudTrail · Systems Manager</a:t>
            </a:r>
          </a:p>
          <a:p>
            <a:r>
              <a:t>FAILURE MODE: Random changes destroy evidence and create new failure modes.</a:t>
            </a:r>
          </a:p>
          <a:p>
            <a:r>
              <a:t>PROOF: Impact statement, timeline, hypotheses, evidence, change record, recovery metric and root cause.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Structured troubleshooting: failure diagnostic.</a:t>
            </a:r>
          </a:p>
          <a:p>
            <a:r>
              <a:t>RECOGNISE: Observable failure condition: Random changes destroy evidence and create new failure modes.</a:t>
            </a:r>
          </a:p>
          <a:p>
            <a:r>
              <a:t>CONTAIN: Pause promotion, preserve evidence and reduce impact without destroying diagnostic state.</a:t>
            </a:r>
          </a:p>
          <a:p>
            <a:r>
              <a:t>DIAGNOSE: Trace the workflow from Define impact through Validate and document; compare intended configuration with runtime state.</a:t>
            </a:r>
          </a:p>
          <a:p>
            <a:r>
              <a:t>RECOVER: Restore the last known-good state, then prove recovery with Impact statement, timeline, hypotheses, evidence, change record, recovery metric and root cause.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Structured troubleshooting: worked decision.</a:t>
            </a:r>
          </a:p>
          <a:p>
            <a:r>
              <a:t>CONSTRAINT: Latency rises after a deployment, but only for requests using one downstream dependency.</a:t>
            </a:r>
          </a:p>
          <a:p>
            <a:r>
              <a:t>DECISION: Start from user impact, check recent changes, narrow by dependency, compare healthy baselines and change one variable at a time.</a:t>
            </a:r>
          </a:p>
          <a:p>
            <a:r>
              <a:t>WHY ALTERNATIVES LOSE: Reject options that do not change the stated failure boundary: Random changes destroy evidence and create new failure modes.</a:t>
            </a:r>
          </a:p>
          <a:p>
            <a:r>
              <a:t>ACCEPTANCE TEST: The decision is complete only when this proof exists: Impact statement, timeline, hypotheses, evidence, change record, recovery metric and root cause.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Event-driven operations: architecture map.</a:t>
            </a:r>
          </a:p>
          <a:p>
            <a:r>
              <a:t>TRIGGER / INPUT: Source event</a:t>
            </a:r>
          </a:p>
          <a:p>
            <a:r>
              <a:t>CONTROL PLANE: Use precise event patterns, schemas, input transformation, retries, DLQs and archive/replay where required.</a:t>
            </a:r>
          </a:p>
          <a:p>
            <a:r>
              <a:t>AWS SERVICES: EventBridge · Pipes · Scheduler · Lambda</a:t>
            </a:r>
          </a:p>
          <a:p>
            <a:r>
              <a:t>EVIDENCE BOUNDARY: Event pattern, matched sample, target role, retry policy, DLQ and replay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and audit event correlation: architecture map.</a:t>
            </a:r>
          </a:p>
          <a:p>
            <a:r>
              <a:t>TRIGGER / INPUT: Detect symptom</a:t>
            </a:r>
          </a:p>
          <a:p>
            <a:r>
              <a:t>CONTROL PLANE: Correlate Health events with API history and resource telemetry using account, Region, resource and time.</a:t>
            </a:r>
          </a:p>
          <a:p>
            <a:r>
              <a:t>AWS SERVICES: AWS Health · CloudTrail · EventBridge</a:t>
            </a:r>
          </a:p>
          <a:p>
            <a:r>
              <a:t>EVIDENCE BOUNDARY: Health event ARN, CloudTrail event ID, affected entities, timeline and correlated alarm.</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Queues, dead-letter queues and redrive: architecture map.</a:t>
            </a:r>
          </a:p>
          <a:p>
            <a:r>
              <a:t>TRIGGER / INPUT: Consume</a:t>
            </a:r>
          </a:p>
          <a:p>
            <a:r>
              <a:t>CONTROL PLANE: Set max receives from retry cost, alarm on age and DLQ depth, inspect safely and redrive in controlled batches.</a:t>
            </a:r>
          </a:p>
          <a:p>
            <a:r>
              <a:t>AWS SERVICES: SQS · SNS · Lambda</a:t>
            </a:r>
          </a:p>
          <a:p>
            <a:r>
              <a:t>EVIDENCE BOUNDARY: Message ID, receive count, failure reason, DLQ age, fix version and redrive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remediation: architecture map.</a:t>
            </a:r>
          </a:p>
          <a:p>
            <a:r>
              <a:t>TRIGGER / INPUT: Detect known condition</a:t>
            </a:r>
          </a:p>
          <a:p>
            <a:r>
              <a:t>CONTROL PLANE: Validate preconditions, scope targets, use approvals for high-risk steps, enforce rate controls and verify postconditions.</a:t>
            </a:r>
          </a:p>
          <a:p>
            <a:r>
              <a:t>AWS SERVICES: Systems Manager Automation · Config · Lambda</a:t>
            </a:r>
          </a:p>
          <a:p>
            <a:r>
              <a:t>EVIDENCE BOUNDARY: Trigger evidence, automation execution, approvals, step output, rollback and postcondition check.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Incident coordination and runbooks: architecture map.</a:t>
            </a:r>
          </a:p>
          <a:p>
            <a:r>
              <a:t>TRIGGER / INPUT: Declare</a:t>
            </a:r>
          </a:p>
          <a:p>
            <a:r>
              <a:t>CONTROL PLANE: Define severity, response plans, contacts, escalation, runbooks and post-incident actions before failure.</a:t>
            </a:r>
          </a:p>
          <a:p>
            <a:r>
              <a:t>AWS SERVICES: Incident Manager · OpsCenter · Chatbot</a:t>
            </a:r>
          </a:p>
          <a:p>
            <a:r>
              <a:t>EVIDENCE BOUNDARY: Incident record, responder engagement, timeline, runbook execution, decision log and action items.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Structured troubleshooting: architecture map.</a:t>
            </a:r>
          </a:p>
          <a:p>
            <a:r>
              <a:t>TRIGGER / INPUT: Define impact</a:t>
            </a:r>
          </a:p>
          <a:p>
            <a:r>
              <a:t>CONTROL PLANE: Start from user impact, check recent changes, narrow by dependency, compare healthy baselines and change one variable at a time.</a:t>
            </a:r>
          </a:p>
          <a:p>
            <a:r>
              <a:t>AWS SERVICES: CloudWatch · X-Ray · CloudTrail · Systems Manager</a:t>
            </a:r>
          </a:p>
          <a:p>
            <a:r>
              <a:t>EVIDENCE BOUNDARY: Impact statement, timeline, hypotheses, evidence, change record, recovery metric and root cause.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4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19 overview — Build an EventBridge rule that matches incident signals and fans them out to notify and log targets (LO5, K7, A5).</a:t>
            </a:r>
          </a:p>
          <a:p>
            <a:r>
              <a:t>Concept-led briefing only. The full detailed procedure, commands, expected outputs, validation and cleanup live in the Learner Guide and the lab README (not on the slides).</a:t>
            </a:r>
          </a:p>
          <a:p>
            <a:r>
              <a:t>Reference architecture: course-generated diagram for Lab 19.</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20 overview — Wire an EventBridge target to a least-privilege Lambda that triggers an SSM Automation runbook so an unhealthy resource self-heals (LO5, K7, A5).</a:t>
            </a:r>
          </a:p>
          <a:p>
            <a:r>
              <a:t>Concept-led briefing only. The full detailed procedure, commands, expected outputs, validation and cleanup live in the Learner Guide and the lab README (not on the slides).</a:t>
            </a:r>
          </a:p>
          <a:p>
            <a:r>
              <a:t>Reference architecture: course-generated diagram for Lab 20.</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Domain 05 — Incident and Event Response.</a:t>
            </a:r>
          </a:p>
          <a:p/>
          <a:p>
            <a:r>
              <a:t>[Sources]</a:t>
            </a:r>
          </a:p>
          <a:p>
            <a:r>
              <a:t>- AWS Certified DevOps Engineer – Professional (DOP-C02) Exam Guide (docs.aws.amazon.com/pdfs/aws-certification/latest/devops-engineer-professional-02).</a:t>
            </a:r>
          </a:p>
          <a:p>
            <a:r>
              <a:t>- AWS EventBridge Documentation (docs.aws.amazon.com/eventbridge).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compliance as continuous, automated guardrails</a:t>
            </a:r>
          </a:p>
          <a:p>
            <a:r>
              <a:t>Illustration created for this course with AI image generation (ImageGen).</a:t>
            </a:r>
          </a:p>
          <a:p/>
          <a:p>
            <a:r>
              <a:t>[Sources]</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concepts for Domain 06 — Security and Compliance.</a:t>
            </a:r>
          </a:p>
          <a:p>
            <a:r>
              <a:t>Identity &amp; access management: IAM users, roles, policies and permission boundaries enforce least privilege; roles beat long-lived keys.</a:t>
            </a:r>
          </a:p>
          <a:p>
            <a:r>
              <a:t>IAM at scale: Organizations SCPs, IAM Identity Center and federation manage access across many accounts.</a:t>
            </a:r>
          </a:p>
          <a:p>
            <a:r>
              <a:t>Data protection: KMS encryption, Secrets Manager, S3 Block Public Access and TLS protect data at rest and in transit.</a:t>
            </a:r>
          </a:p>
          <a:p>
            <a:r>
              <a:t>Detective controls: CloudTrail, AWS Config, GuardDuty and Security Hub record, assess and score the account's posture.</a:t>
            </a:r>
          </a:p>
          <a:p>
            <a:r>
              <a:t>Automated compliance: Config rules and conformance packs continuously check resources against a technical blueprint.</a:t>
            </a:r>
          </a:p>
          <a:p>
            <a:r>
              <a:t>Governance blueprint: A landing zone plus guardrails give a documented, auditable security and compliance baseline.</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06 deep dive — Security and Compliance. Editable AWS-native diagram/table/chart.</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06 deep dive — Security and Compliance. Editable AWS-native diagram/table/chart.</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06 deep dive — Security and Compliance. Editable AWS-native diagram/table/chart.</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06 deep dive — Security and Compliance. Editable AWS-native diagram/table/chart.</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06 deep dive — Security and Compliance. Editable AWS-native diagram/table/chart.</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06 deep dive — Security and Compliance. Editable AWS-native diagram/table/chart.</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and access — least privilege by design.</a:t>
            </a:r>
          </a:p>
          <a:p>
            <a:r>
              <a:t>Why it matters: Least privilege limits the blast radius of any compromised credential or mistaken policy to exactly what was needed.</a:t>
            </a:r>
          </a:p>
          <a:p>
            <a:r>
              <a:t>Failure mode: A wildcard 'Action: *' policy or shared long-lived keys turn one leaked secret into full account compromise.</a:t>
            </a:r>
          </a:p>
          <a:p>
            <a:r>
              <a:t>Trade-off: Tight policies take more effort to author and maintain — Access Analyzer and policy generation reduce that cost.</a:t>
            </a:r>
          </a:p>
          <a:p/>
          <a:p>
            <a:r>
              <a:t>[Sources]</a:t>
            </a:r>
          </a:p>
          <a:p>
            <a:r>
              <a:t>- AWS IAM Documentation (docs.aws.amazon.com/IAM/latest/UserGuide).</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5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at scale — Identity Center, federation, SCPs.</a:t>
            </a:r>
          </a:p>
          <a:p>
            <a:r>
              <a:t>Why it matters: Central identity plus org guardrails make access consistent, auditable and revocable across a whole organisation.</a:t>
            </a:r>
          </a:p>
          <a:p>
            <a:r>
              <a:t>Failure mode: Per-account IAM users multiply credentials to rotate and audit and inevitably drift out of least privilege.</a:t>
            </a:r>
          </a:p>
          <a:p>
            <a:r>
              <a:t>Trade-off: Central control needs governance so it doesn't become a bottleneck for teams needing new access.</a:t>
            </a:r>
          </a:p>
          <a:p/>
          <a:p>
            <a:r>
              <a:t>[Sources]</a:t>
            </a:r>
          </a:p>
          <a:p>
            <a:r>
              <a:t>- AWS IAM Identity Center Documentation (docs.aws.amazon.com/singlesignon).</a:t>
            </a:r>
          </a:p>
          <a:p>
            <a:r>
              <a:t>- AWS Organizations SCPs Documentation (docs.aws.amazon.com/organizations/latest/userguide/orgs_manage_policies_scps.html).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protection — encryption and secrets.</a:t>
            </a:r>
          </a:p>
          <a:p>
            <a:r>
              <a:t>Why it matters: Encrypting everywhere and centralising key and secret governance protect data even if another control fails.</a:t>
            </a:r>
          </a:p>
          <a:p>
            <a:r>
              <a:t>Failure mode: An unencrypted volume or a public bucket exposes data regardless of how strong the network perimeter is.</a:t>
            </a:r>
          </a:p>
          <a:p>
            <a:r>
              <a:t>Trade-off: Customer-managed keys give control and auditability but add key-management responsibility and cost.</a:t>
            </a:r>
          </a:p>
          <a:p/>
          <a:p>
            <a:r>
              <a:t>[Sources]</a:t>
            </a:r>
          </a:p>
          <a:p>
            <a:r>
              <a:t>- AWS KMS Documentation (docs.aws.amazon.com/kms).</a:t>
            </a:r>
          </a:p>
          <a:p>
            <a:r>
              <a:t>- AWS Secrets Manager Documentation (docs.aws.amazon.com/secretsmanager).</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Detective controls — the audit trail.</a:t>
            </a:r>
          </a:p>
          <a:p>
            <a:r>
              <a:t>Why it matters: Detective controls provide the evidence for incident forensics, audits and continuous compliance scoring.</a:t>
            </a:r>
          </a:p>
          <a:p>
            <a:r>
              <a:t>Failure mode: No CloudTrail (or a trail without log-file validation) means an incident can't be reconstructed and audits fail.</a:t>
            </a:r>
          </a:p>
          <a:p>
            <a:r>
              <a:t>Trade-off: Full logging and threat detection cost money and generate findings to triage — tune and prioritise by severity.</a:t>
            </a:r>
          </a:p>
          <a:p/>
          <a:p>
            <a:r>
              <a:t>[Sources]</a:t>
            </a:r>
          </a:p>
          <a:p>
            <a:r>
              <a:t>- AWS CloudTrail Documentation (docs.aws.amazon.com/awscloudtrail).</a:t>
            </a:r>
          </a:p>
          <a:p>
            <a:r>
              <a:t>- AWS GuardDuty Documentation (docs.aws.amazon.com/guardduty).</a:t>
            </a:r>
          </a:p>
          <a:p>
            <a:r>
              <a:t>- AWS Security Hub Documentation (docs.aws.amazon.com/securityhub).</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compliance — Config rules and conformance packs.</a:t>
            </a:r>
          </a:p>
          <a:p>
            <a:r>
              <a:t>Why it matters: Continuous, codified compliance replaces point-in-time audits with always-on assurance and evidence.</a:t>
            </a:r>
          </a:p>
          <a:p>
            <a:r>
              <a:t>Failure mode: Manual quarterly audits miss the days-to-weeks a resource sits non-compliant between checks.</a:t>
            </a:r>
          </a:p>
          <a:p>
            <a:r>
              <a:t>Trade-off: Strict conformance packs improve posture but can generate noise — phase in rules and remediations.</a:t>
            </a:r>
          </a:p>
          <a:p/>
          <a:p>
            <a:r>
              <a:t>[Sources]</a:t>
            </a:r>
          </a:p>
          <a:p>
            <a:r>
              <a:t>- AWS Config conformance packs Documentation (docs.aws.amazon.com/config/latest/developerguide/conformance-packs.html).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Preventive controls and defence in depth.</a:t>
            </a:r>
          </a:p>
          <a:p>
            <a:r>
              <a:t>Why it matters: Defence in depth ensures that when one layer fails — and layers do fail — others still protect the data.</a:t>
            </a:r>
          </a:p>
          <a:p>
            <a:r>
              <a:t>Failure mode: Relying on a single perimeter (a firewall) fails completely the moment that one control is bypassed.</a:t>
            </a:r>
          </a:p>
          <a:p>
            <a:r>
              <a:t>Trade-off: More layers add complexity and can impede legitimate traffic — design them to be observable and testable.</a:t>
            </a:r>
          </a:p>
          <a:p/>
          <a:p>
            <a:r>
              <a:t>[Sources]</a:t>
            </a:r>
          </a:p>
          <a:p>
            <a:r>
              <a:t>- AWS Well-Architected Framework (docs.aws.amazon.com/wellarchitected).</a:t>
            </a:r>
          </a:p>
          <a:p>
            <a:r>
              <a:t>- AWS WAF Documentation (docs.aws.amazon.com/waf).</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blueprint — landing zone and guardrails.</a:t>
            </a:r>
          </a:p>
          <a:p>
            <a:r>
              <a:t>Why it matters: A governance blueprint makes 'secure and compliant' the default state of every account, not a per-project effort.</a:t>
            </a:r>
          </a:p>
          <a:p>
            <a:r>
              <a:t>Failure mode: Ad-hoc, per-project security guarantees nothing is consistent and every audit re-discovers the same gaps.</a:t>
            </a:r>
          </a:p>
          <a:p>
            <a:r>
              <a:t>Trade-off: A central blueprint needs a platform team and change process — the payoff is org-wide, provable compliance.</a:t>
            </a:r>
          </a:p>
          <a:p/>
          <a:p>
            <a:r>
              <a:t>[Sources]</a:t>
            </a:r>
          </a:p>
          <a:p>
            <a:r>
              <a:t>- AWS Control Tower Documentation (docs.aws.amazon.com/controltower).</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Securing the pipeline itself (DevSecOps).</a:t>
            </a:r>
          </a:p>
          <a:p>
            <a:r>
              <a:t>Why it matters: The pipeline has powerful credentials and touches production — a compromised pipeline is a compromised environment.</a:t>
            </a:r>
          </a:p>
          <a:p>
            <a:r>
              <a:t>Failure mode: A pipeline role with broad permissions and secrets in the repo is a direct path from a code leak to full compromise.</a:t>
            </a:r>
          </a:p>
          <a:p>
            <a:r>
              <a:t>Trade-off: Security gates add build time — order them fast-to-slow and fail fast to keep the pipeline usable.</a:t>
            </a:r>
          </a:p>
          <a:p/>
          <a:p>
            <a:r>
              <a:t>[Sources]</a:t>
            </a:r>
          </a:p>
          <a:p>
            <a:r>
              <a:t>- AWS Well-Architected Framework (docs.aws.amazon.com/wellarchitected).</a:t>
            </a:r>
          </a:p>
          <a:p>
            <a:r>
              <a:t>- AWS Certified DevOps Engineer – Professional (DOP-C02) Exam Guide (docs.aws.amazon.com/pdfs/aws-certification/latest/devops-engineer-professional-02).</a:t>
            </a:r>
          </a:p>
          <a:p>
            <a:r>
              <a:t>- AWS CodeGuru Documentation (docs.aws.amazon.com/codeguru).</a:t>
            </a:r>
          </a:p>
        </p:txBody>
      </p:sp>
      <p:sp>
        <p:nvSpPr>
          <p:cNvPr id="4" name="Slide Number Placeholder 3"/>
          <p:cNvSpPr>
            <a:spLocks noGrp="1"/>
          </p:cNvSpPr>
          <p:nvPr>
            <p:ph type="sldNum" idx="5" sz="quarter"/>
          </p:nvPr>
        </p:nvSpPr>
        <p:spPr/>
      </p:sp>
    </p:spTree>
  </p:cSld>
  <p:clrMapOvr>
    <a:masterClrMapping/>
  </p:clrMapOvr>
</p:notes>
</file>

<file path=ppt/notesSlides/notesSlide5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 IAM — Users vs Roles vs Federation.</a:t>
            </a:r>
          </a:p>
          <a:p/>
          <a:p>
            <a:r>
              <a:t>[Sources]</a:t>
            </a:r>
          </a:p>
          <a:p>
            <a:r>
              <a:t>- AWS IAM Documentation (docs.aws.amazon.com/IAM/latest/UserGuide).</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Time-to-Detect a Public Bucket — Manual vs Continuous. What the data shows: Continuous Config evaluation shrinks the exposure window from months to minutes — the difference between a finding and a breach.</a:t>
            </a:r>
          </a:p>
          <a:p>
            <a:r>
              <a:t>Figures are illustrative teaching values to convey the relationship, not measured benchmarks.</a:t>
            </a:r>
          </a:p>
          <a:p/>
          <a:p>
            <a:r>
              <a:t>[Sources]</a:t>
            </a:r>
          </a:p>
          <a:p>
            <a:r>
              <a:t>- AWS Config Documentation (docs.aws.amazon.com/config).</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Failure Modes &amp; Anti-Patterns.</a:t>
            </a:r>
          </a:p>
          <a:p>
            <a:r>
              <a:t>Wildcard IAM policies — One leaked key = full access → least privilege + Access Analyzer.</a:t>
            </a:r>
          </a:p>
          <a:p>
            <a:r>
              <a:t>Long-lived access keys — Hard to rotate/audit → roles and federation.</a:t>
            </a:r>
          </a:p>
          <a:p>
            <a:r>
              <a:t>Public S3 / open SGs — Accidental exposure → Block Public Access, Config rules.</a:t>
            </a:r>
          </a:p>
          <a:p>
            <a:r>
              <a:t>No CloudTrail / validation — Incidents unauditable → org trail + log-file validation.</a:t>
            </a:r>
          </a:p>
          <a:p>
            <a:r>
              <a:t>Secrets in code — Leak on repo access → Secrets Manager/SSM.</a:t>
            </a:r>
          </a:p>
          <a:p>
            <a:r>
              <a:t>Over-privileged pipeline — Code leak → prod compromise → scope deploy roles.</a:t>
            </a:r>
          </a:p>
          <a:p/>
          <a:p>
            <a:r>
              <a:t>[Sources]</a:t>
            </a:r>
          </a:p>
          <a:p>
            <a:r>
              <a:t>- AWS Certified DevOps Engineer – Professional (DOP-C02) Exam Guide (docs.aws.amazon.com/pdfs/aws-certification/latest/devops-engineer-professional-02).</a:t>
            </a:r>
          </a:p>
          <a:p>
            <a:r>
              <a:t>- AWS IAM Documentation (docs.aws.amazon.com/IAM/latest/UserGuide).</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5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Patterns Worth Adopting.</a:t>
            </a:r>
          </a:p>
          <a:p>
            <a:r>
              <a:t>Least privilege everywhere — Roles, boundaries, scoped policies, no wildcards.</a:t>
            </a:r>
          </a:p>
          <a:p>
            <a:r>
              <a:t>Encrypt at rest and in transit — KMS + TLS by default on every store.</a:t>
            </a:r>
          </a:p>
          <a:p>
            <a:r>
              <a:t>Continuous compliance — Config rules + conformance packs, auto-remediate.</a:t>
            </a:r>
          </a:p>
          <a:p>
            <a:r>
              <a:t>Central logging account — Immutable CloudTrail + Security Hub aggregation.</a:t>
            </a:r>
          </a:p>
          <a:p>
            <a:r>
              <a:t>Guardrails by SCP — Prevent whole action classes org-wide.</a:t>
            </a:r>
          </a:p>
          <a:p>
            <a:r>
              <a:t>DevSecOps — Scan code, deps and IaC in the pipeline.</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Decision — Where Do Compliance Controls Live?.</a:t>
            </a:r>
          </a:p>
          <a:p>
            <a:r>
              <a:t>Option A — Preventive (SCP / policy): Stop the action from ever happening org-wide. Strongest — but blunt; can block legitimate edge cases.</a:t>
            </a:r>
          </a:p>
          <a:p>
            <a:r>
              <a:t>Option B — Detective (Config / GuardDuty): Allow, but continuously detect and score. Flexible and auditable — leaves a (short) exposure window.</a:t>
            </a:r>
          </a:p>
          <a:p>
            <a:r>
              <a:t>Option C — Automated remediation: Detect then auto-fix (Config → SSM). Closes the window fast — needs careful scoping and logging.</a:t>
            </a:r>
          </a:p>
          <a:p/>
          <a:p>
            <a:r>
              <a:t>[Sources]</a:t>
            </a:r>
          </a:p>
          <a:p>
            <a:r>
              <a:t>- AWS Certified DevOps Engineer – Professional (DOP-C02) Exam Guide (docs.aws.amazon.com/pdfs/aws-certification/latest/devops-engineer-professional-02).</a:t>
            </a:r>
          </a:p>
          <a:p>
            <a:r>
              <a:t>- AWS Config Documentation (docs.aws.amazon.com/config).</a:t>
            </a:r>
          </a:p>
        </p:txBody>
      </p:sp>
      <p:sp>
        <p:nvSpPr>
          <p:cNvPr id="4" name="Slide Number Placeholder 3"/>
          <p:cNvSpPr>
            <a:spLocks noGrp="1"/>
          </p:cNvSpPr>
          <p:nvPr>
            <p:ph type="sldNum" idx="5" sz="quarter"/>
          </p:nvPr>
        </p:nvSpPr>
        <p:spPr/>
      </p:sp>
    </p:spTree>
  </p:cSld>
  <p:clrMapOvr>
    <a:masterClrMapping/>
  </p:clrMapOvr>
</p:notes>
</file>

<file path=ppt/notesSlides/notesSlide5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An auditor asks you to prove that all volumes are encrypted and no bucket is public, historically and now.</a:t>
            </a:r>
          </a:p>
          <a:p>
            <a:r>
              <a:t>Point-in-time console screenshots don't prove continuous compliance over the audit period.</a:t>
            </a:r>
          </a:p>
          <a:p>
            <a:r>
              <a:t>AWS Config records configuration history and rule-compliance over time — that history is the evidence.</a:t>
            </a:r>
          </a:p>
          <a:p>
            <a:r>
              <a:t>CloudTrail with log-file validation proves the audit record itself wasn't tampered with.</a:t>
            </a:r>
          </a:p>
          <a:p>
            <a:r>
              <a:t>Decision: Present Config compliance history and conformance-pack results as continuous evidence, backed by a validated CloudTrail — turning audit from a scramble into a query.</a:t>
            </a:r>
          </a:p>
          <a:p/>
          <a:p>
            <a:r>
              <a:t>[Sources]</a:t>
            </a:r>
          </a:p>
          <a:p>
            <a:r>
              <a:t>- AWS Config Documentation (docs.aws.amazon.com/config).</a:t>
            </a:r>
          </a:p>
          <a:p>
            <a:r>
              <a:t>- AWS CloudTrail Documentation (docs.aws.amazon.com/awscloudtrail).</a:t>
            </a:r>
          </a:p>
        </p:txBody>
      </p:sp>
      <p:sp>
        <p:nvSpPr>
          <p:cNvPr id="4" name="Slide Number Placeholder 3"/>
          <p:cNvSpPr>
            <a:spLocks noGrp="1"/>
          </p:cNvSpPr>
          <p:nvPr>
            <p:ph type="sldNum" idx="5" sz="quarter"/>
          </p:nvPr>
        </p:nvSpPr>
        <p:spPr/>
      </p:sp>
    </p:spTree>
  </p:cSld>
  <p:clrMapOvr>
    <a:masterClrMapping/>
  </p:clrMapOvr>
</p:notes>
</file>

<file path=ppt/notesSlides/notesSlide5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 service fails with AccessDenied writing to a new S3 prefix. The quick fix is to grant s3:* on all buckets.</a:t>
            </a:r>
          </a:p>
          <a:p>
            <a:r>
              <a:t>A wildcard grant fixes the error but massively widens blast radius if the role is ever compromised.</a:t>
            </a:r>
          </a:p>
          <a:p>
            <a:r>
              <a:t>IAM Access Analyzer can generate a policy scoped to exactly the actions and resources the app used.</a:t>
            </a:r>
          </a:p>
          <a:p>
            <a:r>
              <a:t>The correct grant is s3:PutObject on that specific bucket/prefix, nothing more.</a:t>
            </a:r>
          </a:p>
          <a:p>
            <a:r>
              <a:t>Decision: Grant the single scoped permission the app actually needs (not a wildcard), using Access Analyzer to right-size the policy — keeping least privilege intact under time pressure.</a:t>
            </a:r>
          </a:p>
          <a:p/>
          <a:p>
            <a:r>
              <a:t>[Sources]</a:t>
            </a:r>
          </a:p>
          <a:p>
            <a:r>
              <a:t>- AWS IAM Access Analyzer Documentation (docs.aws.amazon.com/IAM/latest/UserGuide/what-is-access-analyzer.html).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Analysis — Building a Compliance Blueprint.</a:t>
            </a:r>
          </a:p>
          <a:p>
            <a:r>
              <a:t>Requirement: encrypt all data at rest — Config rule encrypted-volumes + S3 default encryption; KMS keys with scoped policies.</a:t>
            </a:r>
          </a:p>
          <a:p>
            <a:r>
              <a:t>Requirement: no public data — S3 Block Public Access org-wide + s3-bucket-public-read-prohibited rule.</a:t>
            </a:r>
          </a:p>
          <a:p>
            <a:r>
              <a:t>Requirement: full audit trail — Org CloudTrail to an encrypted, access-controlled logging account with validation.</a:t>
            </a:r>
          </a:p>
          <a:p>
            <a:r>
              <a:t>Requirement: least-privilege identity — Roles + Identity Center + permission boundaries + Access Analyzer reviews.</a:t>
            </a:r>
          </a:p>
          <a:p>
            <a:r>
              <a:t>Takeaway: A compliance blueprint maps each written requirement to a concrete, testable AWS control — so 'we are compliant' is something you can prove, continuously.</a:t>
            </a:r>
          </a:p>
          <a:p/>
          <a:p>
            <a:r>
              <a:t>[Sources]</a:t>
            </a:r>
          </a:p>
          <a:p>
            <a:r>
              <a:t>- AWS Well-Architected Framework (docs.aws.amazon.com/wellarchitected).</a:t>
            </a:r>
          </a:p>
          <a:p>
            <a:r>
              <a:t>- AWS Config Documentation (docs.aws.amazon.com/config).</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Identity and temporary access.</a:t>
            </a:r>
          </a:p>
          <a:p>
            <a:r>
              <a:t>PURPOSE: Grant human and workload access through least privilege, federation and short-lived sessions.</a:t>
            </a:r>
          </a:p>
          <a:p>
            <a:r>
              <a:t>FEATURE 1: Identity policies, resource policies, permission boundaries and SCPs intersect to determine effective access.</a:t>
            </a:r>
          </a:p>
          <a:p>
            <a:r>
              <a:t>FEATURE 2: STS issues temporary credentials for roles and federation.</a:t>
            </a:r>
          </a:p>
          <a:p>
            <a:r>
              <a:t>FEATURE 3: IAM Identity Center assigns workforce access across accounts/applications using permission sets.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and temporary access: selection and controls.</a:t>
            </a:r>
          </a:p>
          <a:p>
            <a:r>
              <a:t>CHOOSE WHEN: Use roles and federation for humans/workloads; use resource policies for cross-principal resource access where supported.</a:t>
            </a:r>
          </a:p>
          <a:p>
            <a:r>
              <a:t>DEVOPS ENGINEERING: Constrain trust policies, require context such as ExternalId/tags where appropriate, analyse access and remove unused permission.</a:t>
            </a:r>
          </a:p>
          <a:p>
            <a:r>
              <a:t>FAILURE MODE: An Allow can still be blocked by an explicit deny, permission boundary, session policy or SCP.</a:t>
            </a:r>
          </a:p>
          <a:p>
            <a:r>
              <a:t>EVIDENCE: Principal/session, evaluated policy layers, Access Analyzer finding, CloudTrail event and last-accessed data.</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Encryption and secrets.</a:t>
            </a:r>
          </a:p>
          <a:p>
            <a:r>
              <a:t>PURPOSE: Protect data and credentials through governed keys, rotation and workload-time retrieval.</a:t>
            </a:r>
          </a:p>
          <a:p>
            <a:r>
              <a:t>FEATURE 1: KMS keys enforce cryptographic permissions through key and IAM policies and emit CloudTrail evidence.</a:t>
            </a:r>
          </a:p>
          <a:p>
            <a:r>
              <a:t>FEATURE 2: Secrets Manager stores/rotates secrets and versions; Parameter Store manages hierarchical parameters and SecureString values.</a:t>
            </a:r>
          </a:p>
          <a:p>
            <a:r>
              <a:t>FEATURE 3: ACM provisions and renews supported public/private certificates for integrated services.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Encryption and secrets: selection and controls.</a:t>
            </a:r>
          </a:p>
          <a:p>
            <a:r>
              <a:t>CHOOSE WHEN: Use Secrets Manager for rotating credentials, Parameter Store for configuration/parameters and KMS for control of encryption keys.</a:t>
            </a:r>
          </a:p>
          <a:p>
            <a:r>
              <a:t>DEVOPS ENGINEERING: Use envelope encryption, scope decrypt by key/context, retrieve at runtime, rotate and never log secret values.</a:t>
            </a:r>
          </a:p>
          <a:p>
            <a:r>
              <a:t>FAILURE MODE: Encrypting data does not help if broad principals can decrypt it or plaintext is copied into pipeline logs.</a:t>
            </a:r>
          </a:p>
          <a:p>
            <a:r>
              <a:t>EVIDENCE: Key policy/grant, encryption context, rotation/version stage, access event and failed-decrypt alert.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Preventive governance.</a:t>
            </a:r>
          </a:p>
          <a:p>
            <a:r>
              <a:t>PURPOSE: Set permission ceilings and mandatory account controls while leaving workload teams clear deployment paths.</a:t>
            </a:r>
          </a:p>
          <a:p>
            <a:r>
              <a:t>FEATURE 1: SCPs limit available permissions but do not grant permissions.</a:t>
            </a:r>
          </a:p>
          <a:p>
            <a:r>
              <a:t>FEATURE 2: Control Tower preventive/proactive/detective controls apply managed governance patterns.</a:t>
            </a:r>
          </a:p>
          <a:p>
            <a:r>
              <a:t>FEATURE 3: Config rules evaluate resource configuration and can trigger scoped remediation.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Preventive governance: selection and controls.</a:t>
            </a:r>
          </a:p>
          <a:p>
            <a:r>
              <a:t>CHOOSE WHEN: Use preventive controls for actions that must never occur and detective controls where context or exception handling is required.</a:t>
            </a:r>
          </a:p>
          <a:p>
            <a:r>
              <a:t>DEVOPS ENGINEERING: Test in a canary OU, protect break-glass paths, document exemptions and monitor policy/control drift.</a:t>
            </a:r>
          </a:p>
          <a:p>
            <a:r>
              <a:t>FAILURE MODE: A deny deployed at the root without testing can block security and recovery operations across all accounts.</a:t>
            </a:r>
          </a:p>
          <a:p>
            <a:r>
              <a:t>EVIDENCE: Policy version, target hierarchy, simulation/test, exception, Config evaluation and remediation result.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foundations: Threat detection and edge protection.</a:t>
            </a:r>
          </a:p>
          <a:p>
            <a:r>
              <a:t>PURPOSE: Detect suspicious activity, vulnerabilities and sensitive-data exposure, then apply consistent edge/network protections.</a:t>
            </a:r>
          </a:p>
          <a:p>
            <a:r>
              <a:t>FEATURE 1: GuardDuty analyses AWS data sources for threats; Inspector scans supported compute/container functions for vulnerabilities.</a:t>
            </a:r>
          </a:p>
          <a:p>
            <a:r>
              <a:t>FEATURE 2: Macie discovers sensitive data in S3; Security Hub normalises/aggregates findings and workflow status.</a:t>
            </a:r>
          </a:p>
          <a:p>
            <a:r>
              <a:t>FEATURE 3: WAF filters Layer 7 requests, Shield mitigates DDoS, and Firewall Manager applies policies across accounts.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 detection and edge protection: selection and controls.</a:t>
            </a:r>
          </a:p>
          <a:p>
            <a:r>
              <a:t>CHOOSE WHEN: Select the control from threat surface: identity/network behaviour, vulnerable software, sensitive data, application requests or organization-wide policy.</a:t>
            </a:r>
          </a:p>
          <a:p>
            <a:r>
              <a:t>DEVOPS ENGINEERING: Delegate administration, tune findings/rules, enrich ownership, automate only well-understood containment and preserve evidence.</a:t>
            </a:r>
          </a:p>
          <a:p>
            <a:r>
              <a:t>FAILURE MODE: Enabling every managed rule in block mode without observation can create a security-induced outage.</a:t>
            </a:r>
          </a:p>
          <a:p>
            <a:r>
              <a:t>EVIDENCE: Finding ID/severity, affected resource, rule sample, workflow status, owner, containment and closure evidence.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IAM, STS and Cognito authorization boundaries.</a:t>
            </a:r>
          </a:p>
          <a:p>
            <a:r>
              <a:t>PURPOSE: Separate workforce, workload and customer identity while reasoning through every policy layer that shapes effective permission.</a:t>
            </a:r>
          </a:p>
          <a:p>
            <a:r>
              <a:t>SERVICE BOUNDARY: IAM · STS · IAM Identity Center · Cognito</a:t>
            </a:r>
          </a:p>
          <a:p>
            <a:r>
              <a:t>PRIMARY DESIGN DECISION: Create a customer role with narrow S3 permissions, a vendor principal in the trust policy and a unique ExternalId condition; log every assumed session.</a:t>
            </a:r>
          </a:p>
          <a:p>
            <a:r>
              <a:t>FAILURE BOUNDARY: Granting the vendor identity directly across resources is hard to revoke and audit; a trust policy alone grants no S3 action.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IAM, STS and Cognito authorization boundaries: how it works.</a:t>
            </a:r>
          </a:p>
          <a:p>
            <a:r>
              <a:t>MECHANIC 1: IAM evaluation combines identity and resource policies, with explicit denies, permission boundaries, session policies and SCPs limiting the final result.</a:t>
            </a:r>
          </a:p>
          <a:p>
            <a:r>
              <a:t>MECHANIC 2: A role trust policy controls who may assume the role; the role permission policy controls what the resulting session may do.</a:t>
            </a:r>
          </a:p>
          <a:p>
            <a:r>
              <a:t>MECHANIC 3: STS sessions are temporary and can carry session tags for attribute-based access; ExternalId helps mitigate confused-deputy risk in third-party access.</a:t>
            </a:r>
          </a:p>
          <a:p>
            <a:r>
              <a:t>MECHANIC 4: Cognito user pools authenticate application users, while identity pools exchange supported identities for scoped AWS credentials.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IAM, STS and Cognito authorization boundaries: operating flow.</a:t>
            </a:r>
          </a:p>
          <a:p>
            <a:r>
              <a:t>Authenticate identity</a:t>
            </a:r>
          </a:p>
          <a:p>
            <a:r>
              <a:t>Evaluate trust</a:t>
            </a:r>
          </a:p>
          <a:p>
            <a:r>
              <a:t>Issue temporary session</a:t>
            </a:r>
          </a:p>
          <a:p>
            <a:r>
              <a:t>Evaluate effective policies</a:t>
            </a:r>
          </a:p>
          <a:p>
            <a:r>
              <a:t>Record and review access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IAM, STS and Cognito authorization boundaries: configuration decisions.</a:t>
            </a:r>
          </a:p>
          <a:p>
            <a:r>
              <a:t>WORKFORCE: Use IAM Identity Center and account permission sets for centrally managed employee access.</a:t>
            </a:r>
          </a:p>
          <a:p>
            <a:r>
              <a:t>WORKLOAD: Attach roles to compute and restrict trust to the intended service, account and conditions.</a:t>
            </a:r>
          </a:p>
          <a:p>
            <a:r>
              <a:t>CUSTOMER: Use user pools for application authentication and identity pools only when clients need scoped AWS credentials.</a:t>
            </a:r>
          </a:p>
          <a:p>
            <a:r>
              <a:t>ANALYSIS: Use policy simulation, Access Analyzer and last-accessed data to validate and reduce permissions.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IAM, STS and Cognito authorization boundaries: worked architecture decision.</a:t>
            </a:r>
          </a:p>
          <a:p>
            <a:r>
              <a:t>SCENARIO: A SaaS vendor needs read access to one customer prefix without receiving reusable customer credentials.</a:t>
            </a:r>
          </a:p>
          <a:p>
            <a:r>
              <a:t>DESIGN DECISION: Create a customer role with narrow S3 permissions, a vendor principal in the trust policy and a unique ExternalId condition; log every assumed session.</a:t>
            </a:r>
          </a:p>
          <a:p>
            <a:r>
              <a:t>FAILURE TO AVOID: Granting the vendor identity directly across resources is hard to revoke and audit; a trust policy alone grants no S3 action.</a:t>
            </a:r>
          </a:p>
          <a:p>
            <a:r>
              <a:t>ACCEPTANCE EVIDENCE: Trust policy, permission policy, ExternalId control, session ARN/tags, Access Analyzer result and CloudTrail AssumeRole event.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deep dive: KMS, secrets and application-edge protection.</a:t>
            </a:r>
          </a:p>
          <a:p>
            <a:r>
              <a:t>PURPOSE: Protect data, credentials and public application paths with controls whose permissions, rotation and failure behavior are observable.</a:t>
            </a:r>
          </a:p>
          <a:p>
            <a:r>
              <a:t>SERVICE BOUNDARY: KMS · Secrets Manager · ACM · WAF · Shield</a:t>
            </a:r>
          </a:p>
          <a:p>
            <a:r>
              <a:t>PRIMARY DESIGN DECISION: Use staged secret rotation with connection refresh, encrypt under a scoped key, deploy WAF in count mode first and promote the validated rule to block.</a:t>
            </a:r>
          </a:p>
          <a:p>
            <a:r>
              <a:t>FAILURE BOUNDARY: A key policy that excludes recovery administrators can lock out data; immediate blocking can create a security-induced outage.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KMS, secrets and application-edge protection: how it works.</a:t>
            </a:r>
          </a:p>
          <a:p>
            <a:r>
              <a:t>MECHANIC 1: KMS performs cryptographic operations under key and IAM policies; envelope encryption keeps large data operations outside KMS while protecting data keys.</a:t>
            </a:r>
          </a:p>
          <a:p>
            <a:r>
              <a:t>MECHANIC 2: Encryption context can bind decrypt permission to non-secret request attributes and is recorded with supported audit events.</a:t>
            </a:r>
          </a:p>
          <a:p>
            <a:r>
              <a:t>MECHANIC 3: Secrets Manager stores versioned secret values with staging labels and can automate rotation; applications should cache retrieval and handle rotation overlap.</a:t>
            </a:r>
          </a:p>
          <a:p>
            <a:r>
              <a:t>MECHANIC 4: ACM manages supported certificates, WAF evaluates Layer 7 rules and Shield provides DDoS protections; Firewall Manager applies policies across governed accounts.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KMS, secrets and application-edge protection: operating flow.</a:t>
            </a:r>
          </a:p>
          <a:p>
            <a:r>
              <a:t>Classify data and threat</a:t>
            </a:r>
          </a:p>
          <a:p>
            <a:r>
              <a:t>Select key/secret ownership</a:t>
            </a:r>
          </a:p>
          <a:p>
            <a:r>
              <a:t>Authorize runtime retrieval</a:t>
            </a:r>
          </a:p>
          <a:p>
            <a:r>
              <a:t>Inspect edge request</a:t>
            </a:r>
          </a:p>
          <a:p>
            <a:r>
              <a:t>Rotate, alert and retain evidence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KMS, secrets and application-edge protection: configuration decisions.</a:t>
            </a:r>
          </a:p>
          <a:p>
            <a:r>
              <a:t>KEY OWNERSHIP: Choose AWS-owned, AWS-managed or customer-managed keys from policy, separation, rotation and cross-account requirements.</a:t>
            </a:r>
          </a:p>
          <a:p>
            <a:r>
              <a:t>GRANTS: Use grants for delegated service use where appropriate and retire them with the consuming resource lifecycle.</a:t>
            </a:r>
          </a:p>
          <a:p>
            <a:r>
              <a:t>ROTATION: Support overlapping credential versions and test both rotation and emergency revocation paths.</a:t>
            </a:r>
          </a:p>
          <a:p>
            <a:r>
              <a:t>WAF ROLLOUT: Observe managed rules in count mode, inspect sampled requests and introduce blocking with exception ownership.</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KMS, secrets and application-edge protection: worked architecture decision.</a:t>
            </a:r>
          </a:p>
          <a:p>
            <a:r>
              <a:t>SCENARIO: A public API must rotate its database secret without downtime and block a new malicious request pattern safely.</a:t>
            </a:r>
          </a:p>
          <a:p>
            <a:r>
              <a:t>DESIGN DECISION: Use staged secret rotation with connection refresh, encrypt under a scoped key, deploy WAF in count mode first and promote the validated rule to block.</a:t>
            </a:r>
          </a:p>
          <a:p>
            <a:r>
              <a:t>FAILURE TO AVOID: A key policy that excludes recovery administrators can lock out data; immediate blocking can create a security-induced outage.</a:t>
            </a:r>
          </a:p>
          <a:p>
            <a:r>
              <a:t>ACCEPTANCE EVIDENCE: Key policy/grant, encryption-context event, secret version stages, rotation result, WAF samples, blocked-rate metric and exception record.</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at scale.</a:t>
            </a:r>
          </a:p>
          <a:p>
            <a:r>
              <a:t>OUTCOME: Provide workforce and workload access through federation, short-lived credentials and least privilege.</a:t>
            </a:r>
          </a:p>
          <a:p>
            <a:r>
              <a:t>ARCHITECTURE: Use permission sets, roles, session controls and access analysis; avoid long-lived IAM user keys.</a:t>
            </a:r>
          </a:p>
          <a:p>
            <a:r>
              <a:t>FAILURE MODE: Broad shared roles erase accountability and expand blast radius.</a:t>
            </a:r>
          </a:p>
          <a:p>
            <a:r>
              <a:t>EVIDENCE: Identity source, permission-set version, role session, access finding and CloudTrail principal.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at scale: operating flow.</a:t>
            </a:r>
          </a:p>
          <a:p>
            <a:r>
              <a:t>Authenticate</a:t>
            </a:r>
          </a:p>
          <a:p>
            <a:r>
              <a:t>Assign permission set</a:t>
            </a:r>
          </a:p>
          <a:p>
            <a:r>
              <a:t>Assume role</a:t>
            </a:r>
          </a:p>
          <a:p>
            <a:r>
              <a:t>Authorize</a:t>
            </a:r>
          </a:p>
          <a:p>
            <a:r>
              <a:t>Record session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at scale: design decision.</a:t>
            </a:r>
          </a:p>
          <a:p>
            <a:r>
              <a:t>SCENARIO: Engineers need auditable access to development and production accounts with different privileges.</a:t>
            </a:r>
          </a:p>
          <a:p>
            <a:r>
              <a:t>DESIGN RESPONSE: Use permission sets, roles, session controls and access analysis; avoid long-lived IAM user keys.</a:t>
            </a:r>
          </a:p>
          <a:p>
            <a:r>
              <a:t>PRIMARY SERVICES: IAM Identity Center · IAM · STS</a:t>
            </a:r>
          </a:p>
          <a:p>
            <a:r>
              <a:t>FAILURE MODE: Broad shared roles erase accountability and expand blast radius.</a:t>
            </a:r>
          </a:p>
          <a:p>
            <a:r>
              <a:t>PROOF: Identity source, permission-set version, role session, access finding and CloudTrail principal.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at scale: failure diagnostic.</a:t>
            </a:r>
          </a:p>
          <a:p>
            <a:r>
              <a:t>RECOGNISE: Observable failure condition: Broad shared roles erase accountability and expand blast radius.</a:t>
            </a:r>
          </a:p>
          <a:p>
            <a:r>
              <a:t>CONTAIN: Pause promotion, preserve evidence and reduce impact without destroying diagnostic state.</a:t>
            </a:r>
          </a:p>
          <a:p>
            <a:r>
              <a:t>DIAGNOSE: Trace the workflow from Authenticate through Record session; compare intended configuration with runtime state.</a:t>
            </a:r>
          </a:p>
          <a:p>
            <a:r>
              <a:t>RECOVER: Restore the last known-good state, then prove recovery with Identity source, permission-set version, role session, access finding and CloudTrail principal.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at scale: worked decision.</a:t>
            </a:r>
          </a:p>
          <a:p>
            <a:r>
              <a:t>CONSTRAINT: Engineers need auditable access to development and production accounts with different privileges.</a:t>
            </a:r>
          </a:p>
          <a:p>
            <a:r>
              <a:t>DECISION: Use permission sets, roles, session controls and access analysis; avoid long-lived IAM user keys.</a:t>
            </a:r>
          </a:p>
          <a:p>
            <a:r>
              <a:t>WHY ALTERNATIVES LOSE: Reject options that do not change the stated failure boundary: Broad shared roles erase accountability and expand blast radius.</a:t>
            </a:r>
          </a:p>
          <a:p>
            <a:r>
              <a:t>ACCEPTANCE TEST: The decision is complete only when this proof exists: Identity source, permission-set version, role session, access finding and CloudTrail principal.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and preventive guardrails.</a:t>
            </a:r>
          </a:p>
          <a:p>
            <a:r>
              <a:t>OUTCOME: Set organization-wide permission boundaries while preserving account autonomy inside approved limits.</a:t>
            </a:r>
          </a:p>
          <a:p>
            <a:r>
              <a:t>ARCHITECTURE: Design OU structure from governance needs, test SCP impact, use deny guardrails carefully and keep break-glass access.</a:t>
            </a:r>
          </a:p>
          <a:p>
            <a:r>
              <a:t>FAILURE MODE: An SCP does not grant permission; it limits what identity and resource policies may allow.</a:t>
            </a:r>
          </a:p>
          <a:p>
            <a:r>
              <a:t>EVIDENCE: OU hierarchy, SCP version, policy simulator result, exception and affected-account inventory.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and preventive guardrails: operating flow.</a:t>
            </a:r>
          </a:p>
          <a:p>
            <a:r>
              <a:t>Classify account</a:t>
            </a:r>
          </a:p>
          <a:p>
            <a:r>
              <a:t>Attach baseline</a:t>
            </a:r>
          </a:p>
          <a:p>
            <a:r>
              <a:t>Evaluate effective permission</a:t>
            </a:r>
          </a:p>
          <a:p>
            <a:r>
              <a:t>Test workload</a:t>
            </a:r>
          </a:p>
          <a:p>
            <a:r>
              <a:t>Monitor exceptions</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and preventive guardrails: design decision.</a:t>
            </a:r>
          </a:p>
          <a:p>
            <a:r>
              <a:t>SCENARIO: Production accounts must never disable CloudTrail or create unencrypted storage.</a:t>
            </a:r>
          </a:p>
          <a:p>
            <a:r>
              <a:t>DESIGN RESPONSE: Design OU structure from governance needs, test SCP impact, use deny guardrails carefully and keep break-glass access.</a:t>
            </a:r>
          </a:p>
          <a:p>
            <a:r>
              <a:t>PRIMARY SERVICES: Organizations · SCPs · Control Tower</a:t>
            </a:r>
          </a:p>
          <a:p>
            <a:r>
              <a:t>FAILURE MODE: An SCP does not grant permission; it limits what identity and resource policies may allow.</a:t>
            </a:r>
          </a:p>
          <a:p>
            <a:r>
              <a:t>PROOF: OU hierarchy, SCP version, policy simulator result, exception and affected-account inventory.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and preventive guardrails: failure diagnostic.</a:t>
            </a:r>
          </a:p>
          <a:p>
            <a:r>
              <a:t>RECOGNISE: Observable failure condition: An SCP does not grant permission; it limits what identity and resource policies may allow.</a:t>
            </a:r>
          </a:p>
          <a:p>
            <a:r>
              <a:t>CONTAIN: Pause promotion, preserve evidence and reduce impact without destroying diagnostic state.</a:t>
            </a:r>
          </a:p>
          <a:p>
            <a:r>
              <a:t>DIAGNOSE: Trace the workflow from Classify account through Monitor exceptions; compare intended configuration with runtime state.</a:t>
            </a:r>
          </a:p>
          <a:p>
            <a:r>
              <a:t>RECOVER: Restore the last known-good state, then prove recovery with OU hierarchy, SCP version, policy simulator result, exception and affected-account inventory.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and preventive guardrails: worked decision.</a:t>
            </a:r>
          </a:p>
          <a:p>
            <a:r>
              <a:t>CONSTRAINT: Production accounts must never disable CloudTrail or create unencrypted storage.</a:t>
            </a:r>
          </a:p>
          <a:p>
            <a:r>
              <a:t>DECISION: Design OU structure from governance needs, test SCP impact, use deny guardrails carefully and keep break-glass access.</a:t>
            </a:r>
          </a:p>
          <a:p>
            <a:r>
              <a:t>WHY ALTERNATIVES LOSE: Reject options that do not change the stated failure boundary: An SCP does not grant permission; it limits what identity and resource policies may allow.</a:t>
            </a:r>
          </a:p>
          <a:p>
            <a:r>
              <a:t>ACCEPTANCE TEST: The decision is complete only when this proof exists: OU hierarchy, SCP version, policy simulator result, exception and affected-account inventory.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Secrets, keys and data protection.</a:t>
            </a:r>
          </a:p>
          <a:p>
            <a:r>
              <a:t>OUTCOME: Protect data and credentials through encryption, controlled key use and automated rotation.</a:t>
            </a:r>
          </a:p>
          <a:p>
            <a:r>
              <a:t>ARCHITECTURE: Separate key administration from use, scope resource policies, rotate secrets safely and plan multi-Region recovery.</a:t>
            </a:r>
          </a:p>
          <a:p>
            <a:r>
              <a:t>FAILURE MODE: Encrypting with a key that the recovery account cannot use makes backups operationally unavailable.</a:t>
            </a:r>
          </a:p>
          <a:p>
            <a:r>
              <a:t>EVIDENCE: Key policy, grant, encryption context, secret version stages, rotation result and access trail.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Secrets, keys and data protection: operating flow.</a:t>
            </a:r>
          </a:p>
          <a:p>
            <a:r>
              <a:t>Generate or store secret</a:t>
            </a:r>
          </a:p>
          <a:p>
            <a:r>
              <a:t>Authorize workload</a:t>
            </a:r>
          </a:p>
          <a:p>
            <a:r>
              <a:t>Encrypt</a:t>
            </a:r>
          </a:p>
          <a:p>
            <a:r>
              <a:t>Use</a:t>
            </a:r>
          </a:p>
          <a:p>
            <a:r>
              <a:t>Rotate</a:t>
            </a:r>
          </a:p>
          <a:p>
            <a:r>
              <a:t>Audit</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Secrets, keys and data protection: design decision.</a:t>
            </a:r>
          </a:p>
          <a:p>
            <a:r>
              <a:t>SCENARIO: A database credential must rotate without downtime and remain recoverable in the DR Region.</a:t>
            </a:r>
          </a:p>
          <a:p>
            <a:r>
              <a:t>DESIGN RESPONSE: Separate key administration from use, scope resource policies, rotate secrets safely and plan multi-Region recovery.</a:t>
            </a:r>
          </a:p>
          <a:p>
            <a:r>
              <a:t>PRIMARY SERVICES: KMS · Secrets Manager · Parameter Store · ACM</a:t>
            </a:r>
          </a:p>
          <a:p>
            <a:r>
              <a:t>FAILURE MODE: Encrypting with a key that the recovery account cannot use makes backups operationally unavailable.</a:t>
            </a:r>
          </a:p>
          <a:p>
            <a:r>
              <a:t>PROOF: Key policy, grant, encryption context, secret version stages, rotation result and access trail.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Secrets, keys and data protection: failure diagnostic.</a:t>
            </a:r>
          </a:p>
          <a:p>
            <a:r>
              <a:t>RECOGNISE: Observable failure condition: Encrypting with a key that the recovery account cannot use makes backups operationally unavailable.</a:t>
            </a:r>
          </a:p>
          <a:p>
            <a:r>
              <a:t>CONTAIN: Pause promotion, preserve evidence and reduce impact without destroying diagnostic state.</a:t>
            </a:r>
          </a:p>
          <a:p>
            <a:r>
              <a:t>DIAGNOSE: Trace the workflow from Generate or store secret through Audit; compare intended configuration with runtime state.</a:t>
            </a:r>
          </a:p>
          <a:p>
            <a:r>
              <a:t>RECOVER: Restore the last known-good state, then prove recovery with Key policy, grant, encryption context, secret version stages, rotation result and access trail.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Secrets, keys and data protection: worked decision.</a:t>
            </a:r>
          </a:p>
          <a:p>
            <a:r>
              <a:t>CONSTRAINT: A database credential must rotate without downtime and remain recoverable in the DR Region.</a:t>
            </a:r>
          </a:p>
          <a:p>
            <a:r>
              <a:t>DECISION: Separate key administration from use, scope resource policies, rotate secrets safely and plan multi-Region recovery.</a:t>
            </a:r>
          </a:p>
          <a:p>
            <a:r>
              <a:t>WHY ALTERNATIVES LOSE: Reject options that do not change the stated failure boundary: Encrypting with a key that the recovery account cannot use makes backups operationally unavailable.</a:t>
            </a:r>
          </a:p>
          <a:p>
            <a:r>
              <a:t>ACCEPTANCE TEST: The decision is complete only when this proof exists: Key policy, grant, encryption context, secret version stages, rotation result and access trail.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 rules and conformance.</a:t>
            </a:r>
          </a:p>
          <a:p>
            <a:r>
              <a:t>OUTCOME: Continuously evaluate resource configuration against explicit controls and remediate safely.</a:t>
            </a:r>
          </a:p>
          <a:p>
            <a:r>
              <a:t>ARCHITECTURE: Use managed/custom rules, aggregators, evidence retention and remediation with exception tagging.</a:t>
            </a:r>
          </a:p>
          <a:p>
            <a:r>
              <a:t>FAILURE MODE: A compliant snapshot is not proof that the resource stayed compliant between evaluations.</a:t>
            </a:r>
          </a:p>
          <a:p>
            <a:r>
              <a:t>EVIDENCE: Configuration timeline, rule evaluation, conformance score, exception, remediation execution and recheck.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 rules and conformance: operating flow.</a:t>
            </a:r>
          </a:p>
          <a:p>
            <a:r>
              <a:t>Record configuration</a:t>
            </a:r>
          </a:p>
          <a:p>
            <a:r>
              <a:t>Evaluate rule</a:t>
            </a:r>
          </a:p>
          <a:p>
            <a:r>
              <a:t>Aggregate</a:t>
            </a:r>
          </a:p>
          <a:p>
            <a:r>
              <a:t>Notify</a:t>
            </a:r>
          </a:p>
          <a:p>
            <a:r>
              <a:t>Remediate</a:t>
            </a:r>
          </a:p>
          <a:p>
            <a:r>
              <a:t>Re-evaluate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 rules and conformance: design decision.</a:t>
            </a:r>
          </a:p>
          <a:p>
            <a:r>
              <a:t>SCENARIO: Auditors require evidence that all production buckets remained encrypted and blocked public access.</a:t>
            </a:r>
          </a:p>
          <a:p>
            <a:r>
              <a:t>DESIGN RESPONSE: Use managed/custom rules, aggregators, evidence retention and remediation with exception tagging.</a:t>
            </a:r>
          </a:p>
          <a:p>
            <a:r>
              <a:t>PRIMARY SERVICES: AWS Config · Conformance Packs · Systems Manager</a:t>
            </a:r>
          </a:p>
          <a:p>
            <a:r>
              <a:t>FAILURE MODE: A compliant snapshot is not proof that the resource stayed compliant between evaluations.</a:t>
            </a:r>
          </a:p>
          <a:p>
            <a:r>
              <a:t>PROOF: Configuration timeline, rule evaluation, conformance score, exception, remediation execution and recheck.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 rules and conformance: failure diagnostic.</a:t>
            </a:r>
          </a:p>
          <a:p>
            <a:r>
              <a:t>RECOGNISE: Observable failure condition: A compliant snapshot is not proof that the resource stayed compliant between evaluations.</a:t>
            </a:r>
          </a:p>
          <a:p>
            <a:r>
              <a:t>CONTAIN: Pause promotion, preserve evidence and reduce impact without destroying diagnostic state.</a:t>
            </a:r>
          </a:p>
          <a:p>
            <a:r>
              <a:t>DIAGNOSE: Trace the workflow from Record configuration through Re-evaluate; compare intended configuration with runtime state.</a:t>
            </a:r>
          </a:p>
          <a:p>
            <a:r>
              <a:t>RECOVER: Restore the last known-good state, then prove recovery with Configuration timeline, rule evaluation, conformance score, exception, remediation execution and recheck.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 rules and conformance: worked decision.</a:t>
            </a:r>
          </a:p>
          <a:p>
            <a:r>
              <a:t>CONSTRAINT: Auditors require evidence that all production buckets remained encrypted and blocked public access.</a:t>
            </a:r>
          </a:p>
          <a:p>
            <a:r>
              <a:t>DECISION: Use managed/custom rules, aggregators, evidence retention and remediation with exception tagging.</a:t>
            </a:r>
          </a:p>
          <a:p>
            <a:r>
              <a:t>WHY ALTERNATIVES LOSE: Reject options that do not change the stated failure boundary: A compliant snapshot is not proof that the resource stayed compliant between evaluations.</a:t>
            </a:r>
          </a:p>
          <a:p>
            <a:r>
              <a:t>ACCEPTANCE TEST: The decision is complete only when this proof exists: Configuration timeline, rule evaluation, conformance score, exception, remediation execution and recheck.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 detection and investigation.</a:t>
            </a:r>
          </a:p>
          <a:p>
            <a:r>
              <a:t>OUTCOME: Combine findings, vulnerability context and behavior graphs to prioritize credible threats.</a:t>
            </a:r>
          </a:p>
          <a:p>
            <a:r>
              <a:t>ARCHITECTURE: Delegate administration, centralize findings, normalize severity, enrich with ownership and automate only well-understood responses.</a:t>
            </a:r>
          </a:p>
          <a:p>
            <a:r>
              <a:t>FAILURE MODE: A high volume of unowned findings becomes an unworkable compliance queue.</a:t>
            </a:r>
          </a:p>
          <a:p>
            <a:r>
              <a:t>EVIDENCE: Finding ID, affected resource, severity, vulnerability, graph evidence, workflow status and response.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 detection and investigation: operating flow.</a:t>
            </a:r>
          </a:p>
          <a:p>
            <a:r>
              <a:t>Detect</a:t>
            </a:r>
          </a:p>
          <a:p>
            <a:r>
              <a:t>Normalize</a:t>
            </a:r>
          </a:p>
          <a:p>
            <a:r>
              <a:t>Enrich</a:t>
            </a:r>
          </a:p>
          <a:p>
            <a:r>
              <a:t>Prioritize</a:t>
            </a:r>
          </a:p>
          <a:p>
            <a:r>
              <a:t>Investigate</a:t>
            </a:r>
          </a:p>
          <a:p>
            <a:r>
              <a:t>Contain</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 detection and investigation: design decision.</a:t>
            </a:r>
          </a:p>
          <a:p>
            <a:r>
              <a:t>SCENARIO: An exposed instance shows anomalous network activity and a critical package vulnerability.</a:t>
            </a:r>
          </a:p>
          <a:p>
            <a:r>
              <a:t>DESIGN RESPONSE: Delegate administration, centralize findings, normalize severity, enrich with ownership and automate only well-understood responses.</a:t>
            </a:r>
          </a:p>
          <a:p>
            <a:r>
              <a:t>PRIMARY SERVICES: GuardDuty · Security Hub · Detective · Inspector</a:t>
            </a:r>
          </a:p>
          <a:p>
            <a:r>
              <a:t>FAILURE MODE: A high volume of unowned findings becomes an unworkable compliance queue.</a:t>
            </a:r>
          </a:p>
          <a:p>
            <a:r>
              <a:t>PROOF: Finding ID, affected resource, severity, vulnerability, graph evidence, workflow status and response.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 detection and investigation: failure diagnostic.</a:t>
            </a:r>
          </a:p>
          <a:p>
            <a:r>
              <a:t>RECOGNISE: Observable failure condition: A high volume of unowned findings becomes an unworkable compliance queue.</a:t>
            </a:r>
          </a:p>
          <a:p>
            <a:r>
              <a:t>CONTAIN: Pause promotion, preserve evidence and reduce impact without destroying diagnostic state.</a:t>
            </a:r>
          </a:p>
          <a:p>
            <a:r>
              <a:t>DIAGNOSE: Trace the workflow from Detect through Contain; compare intended configuration with runtime state.</a:t>
            </a:r>
          </a:p>
          <a:p>
            <a:r>
              <a:t>RECOVER: Restore the last known-good state, then prove recovery with Finding ID, affected resource, severity, vulnerability, graph evidence, workflow status and response.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 detection and investigation: worked decision.</a:t>
            </a:r>
          </a:p>
          <a:p>
            <a:r>
              <a:t>CONSTRAINT: An exposed instance shows anomalous network activity and a critical package vulnerability.</a:t>
            </a:r>
          </a:p>
          <a:p>
            <a:r>
              <a:t>DECISION: Delegate administration, centralize findings, normalize severity, enrich with ownership and automate only well-understood responses.</a:t>
            </a:r>
          </a:p>
          <a:p>
            <a:r>
              <a:t>WHY ALTERNATIVES LOSE: Reject options that do not change the stated failure boundary: A high volume of unowned findings becomes an unworkable compliance queue.</a:t>
            </a:r>
          </a:p>
          <a:p>
            <a:r>
              <a:t>ACCEPTANCE TEST: The decision is complete only when this proof exists: Finding ID, affected resource, severity, vulnerability, graph evidence, workflow status and response.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and network protection.</a:t>
            </a:r>
          </a:p>
          <a:p>
            <a:r>
              <a:t>OUTCOME: Apply consistent layered protection to public endpoints and network paths.</a:t>
            </a:r>
          </a:p>
          <a:p>
            <a:r>
              <a:t>ARCHITECTURE: Use managed rules in count mode first, central policies, rate limits, logging and exception workflows.</a:t>
            </a:r>
          </a:p>
          <a:p>
            <a:r>
              <a:t>FAILURE MODE: Blocking without observing false positives can turn a security control into an outage.</a:t>
            </a:r>
          </a:p>
          <a:p>
            <a:r>
              <a:t>EVIDENCE: Policy version, sampled request, rule action, log destination, exception and rollout scope.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and network protection: operating flow.</a:t>
            </a:r>
          </a:p>
          <a:p>
            <a:r>
              <a:t>Observe traffic</a:t>
            </a:r>
          </a:p>
          <a:p>
            <a:r>
              <a:t>Evaluate rule</a:t>
            </a:r>
          </a:p>
          <a:p>
            <a:r>
              <a:t>Count</a:t>
            </a:r>
          </a:p>
          <a:p>
            <a:r>
              <a:t>Tune exception</a:t>
            </a:r>
          </a:p>
          <a:p>
            <a:r>
              <a:t>Block</a:t>
            </a:r>
          </a:p>
          <a:p>
            <a:r>
              <a:t>Monitor</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and network protection: design decision.</a:t>
            </a:r>
          </a:p>
          <a:p>
            <a:r>
              <a:t>SCENARIO: A company must deploy baseline WAF controls to every internet-facing application across accounts.</a:t>
            </a:r>
          </a:p>
          <a:p>
            <a:r>
              <a:t>DESIGN RESPONSE: Use managed rules in count mode first, central policies, rate limits, logging and exception workflows.</a:t>
            </a:r>
          </a:p>
          <a:p>
            <a:r>
              <a:t>PRIMARY SERVICES: WAF · Firewall Manager · Shield · Network Firewall</a:t>
            </a:r>
          </a:p>
          <a:p>
            <a:r>
              <a:t>FAILURE MODE: Blocking without observing false positives can turn a security control into an outage.</a:t>
            </a:r>
          </a:p>
          <a:p>
            <a:r>
              <a:t>PROOF: Policy version, sampled request, rule action, log destination, exception and rollout scope.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and network protection: failure diagnostic.</a:t>
            </a:r>
          </a:p>
          <a:p>
            <a:r>
              <a:t>RECOGNISE: Observable failure condition: Blocking without observing false positives can turn a security control into an outage.</a:t>
            </a:r>
          </a:p>
          <a:p>
            <a:r>
              <a:t>CONTAIN: Pause promotion, preserve evidence and reduce impact without destroying diagnostic state.</a:t>
            </a:r>
          </a:p>
          <a:p>
            <a:r>
              <a:t>DIAGNOSE: Trace the workflow from Observe traffic through Monitor; compare intended configuration with runtime state.</a:t>
            </a:r>
          </a:p>
          <a:p>
            <a:r>
              <a:t>RECOVER: Restore the last known-good state, then prove recovery with Policy version, sampled request, rule action, log destination, exception and rollout scope.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and network protection: worked decision.</a:t>
            </a:r>
          </a:p>
          <a:p>
            <a:r>
              <a:t>CONSTRAINT: A company must deploy baseline WAF controls to every internet-facing application across accounts.</a:t>
            </a:r>
          </a:p>
          <a:p>
            <a:r>
              <a:t>DECISION: Use managed rules in count mode first, central policies, rate limits, logging and exception workflows.</a:t>
            </a:r>
          </a:p>
          <a:p>
            <a:r>
              <a:t>WHY ALTERNATIVES LOSE: Reject options that do not change the stated failure boundary: Blocking without observing false positives can turn a security control into an outage.</a:t>
            </a:r>
          </a:p>
          <a:p>
            <a:r>
              <a:t>ACCEPTANCE TEST: The decision is complete only when this proof exists: Policy version, sampled request, rule action, log destination, exception and rollout scope.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blueprint and audit evidence.</a:t>
            </a:r>
          </a:p>
          <a:p>
            <a:r>
              <a:t>OUTCOME: Translate risk and compliance obligations into components, controls, ownership and evidence flows.</a:t>
            </a:r>
          </a:p>
          <a:p>
            <a:r>
              <a:t>ARCHITECTURE: Document trust boundaries, data classification, preventive/detective controls, logging, retention and incident responsibilities.</a:t>
            </a:r>
          </a:p>
          <a:p>
            <a:r>
              <a:t>FAILURE MODE: A service list without data flows, control intent and ownership is not an actionable blueprint.</a:t>
            </a:r>
          </a:p>
          <a:p>
            <a:r>
              <a:t>EVIDENCE: Architecture diagram, control matrix, evidence source, owner, retention rule, exception and review cadence.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blueprint and audit evidence: operating flow.</a:t>
            </a:r>
          </a:p>
          <a:p>
            <a:r>
              <a:t>Classify data</a:t>
            </a:r>
          </a:p>
          <a:p>
            <a:r>
              <a:t>Map trust boundaries</a:t>
            </a:r>
          </a:p>
          <a:p>
            <a:r>
              <a:t>Select controls</a:t>
            </a:r>
          </a:p>
          <a:p>
            <a:r>
              <a:t>Assign owners</a:t>
            </a:r>
          </a:p>
          <a:p>
            <a:r>
              <a:t>Collect evidence</a:t>
            </a:r>
          </a:p>
          <a:p>
            <a:r>
              <a:t>Review</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blueprint and audit evidence: design decision.</a:t>
            </a:r>
          </a:p>
          <a:p>
            <a:r>
              <a:t>SCENARIO: A regulated workload needs a technical blueprint that developers, security and auditors can all execute.</a:t>
            </a:r>
          </a:p>
          <a:p>
            <a:r>
              <a:t>DESIGN RESPONSE: Document trust boundaries, data classification, preventive/detective controls, logging, retention and incident responsibilities.</a:t>
            </a:r>
          </a:p>
          <a:p>
            <a:r>
              <a:t>PRIMARY SERVICES: Security Hub · Audit Manager · Artifact · Tagging</a:t>
            </a:r>
          </a:p>
          <a:p>
            <a:r>
              <a:t>FAILURE MODE: A service list without data flows, control intent and ownership is not an actionable blueprint.</a:t>
            </a:r>
          </a:p>
          <a:p>
            <a:r>
              <a:t>PROOF: Architecture diagram, control matrix, evidence source, owner, retention rule, exception and review cadence.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blueprint and audit evidence: failure diagnostic.</a:t>
            </a:r>
          </a:p>
          <a:p>
            <a:r>
              <a:t>RECOGNISE: Observable failure condition: A service list without data flows, control intent and ownership is not an actionable blueprint.</a:t>
            </a:r>
          </a:p>
          <a:p>
            <a:r>
              <a:t>CONTAIN: Pause promotion, preserve evidence and reduce impact without destroying diagnostic state.</a:t>
            </a:r>
          </a:p>
          <a:p>
            <a:r>
              <a:t>DIAGNOSE: Trace the workflow from Classify data through Review; compare intended configuration with runtime state.</a:t>
            </a:r>
          </a:p>
          <a:p>
            <a:r>
              <a:t>RECOVER: Restore the last known-good state, then prove recovery with Architecture diagram, control matrix, evidence source, owner, retention rule, exception and review cadence.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blueprint and audit evidence: worked decision.</a:t>
            </a:r>
          </a:p>
          <a:p>
            <a:r>
              <a:t>CONSTRAINT: A regulated workload needs a technical blueprint that developers, security and auditors can all execute.</a:t>
            </a:r>
          </a:p>
          <a:p>
            <a:r>
              <a:t>DECISION: Document trust boundaries, data classification, preventive/detective controls, logging, retention and incident responsibilities.</a:t>
            </a:r>
          </a:p>
          <a:p>
            <a:r>
              <a:t>WHY ALTERNATIVES LOSE: Reject options that do not change the stated failure boundary: A service list without data flows, control intent and ownership is not an actionable blueprint.</a:t>
            </a:r>
          </a:p>
          <a:p>
            <a:r>
              <a:t>ACCEPTANCE TEST: The decision is complete only when this proof exists: Architecture diagram, control matrix, evidence source, owner, retention rule, exception and review cadence.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at scale: architecture map.</a:t>
            </a:r>
          </a:p>
          <a:p>
            <a:r>
              <a:t>TRIGGER / INPUT: Authenticate</a:t>
            </a:r>
          </a:p>
          <a:p>
            <a:r>
              <a:t>CONTROL PLANE: Use permission sets, roles, session controls and access analysis; avoid long-lived IAM user keys.</a:t>
            </a:r>
          </a:p>
          <a:p>
            <a:r>
              <a:t>AWS SERVICES: IAM Identity Center · IAM · STS</a:t>
            </a:r>
          </a:p>
          <a:p>
            <a:r>
              <a:t>EVIDENCE BOUNDARY: Identity source, permission-set version, role session, access finding and CloudTrail principal.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and preventive guardrails: architecture map.</a:t>
            </a:r>
          </a:p>
          <a:p>
            <a:r>
              <a:t>TRIGGER / INPUT: Classify account</a:t>
            </a:r>
          </a:p>
          <a:p>
            <a:r>
              <a:t>CONTROL PLANE: Design OU structure from governance needs, test SCP impact, use deny guardrails carefully and keep break-glass access.</a:t>
            </a:r>
          </a:p>
          <a:p>
            <a:r>
              <a:t>AWS SERVICES: Organizations · SCPs · Control Tower</a:t>
            </a:r>
          </a:p>
          <a:p>
            <a:r>
              <a:t>EVIDENCE BOUNDARY: OU hierarchy, SCP version, policy simulator result, exception and affected-account inventory.</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Secrets, keys and data protection: architecture map.</a:t>
            </a:r>
          </a:p>
          <a:p>
            <a:r>
              <a:t>TRIGGER / INPUT: Generate or store secret</a:t>
            </a:r>
          </a:p>
          <a:p>
            <a:r>
              <a:t>CONTROL PLANE: Separate key administration from use, scope resource policies, rotate secrets safely and plan multi-Region recovery.</a:t>
            </a:r>
          </a:p>
          <a:p>
            <a:r>
              <a:t>AWS SERVICES: KMS · Secrets Manager · Parameter Store · ACM</a:t>
            </a:r>
          </a:p>
          <a:p>
            <a:r>
              <a:t>EVIDENCE BOUNDARY: Key policy, grant, encryption context, secret version stages, rotation result and access trail.</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 rules and conformance: architecture map.</a:t>
            </a:r>
          </a:p>
          <a:p>
            <a:r>
              <a:t>TRIGGER / INPUT: Record configuration</a:t>
            </a:r>
          </a:p>
          <a:p>
            <a:r>
              <a:t>CONTROL PLANE: Use managed/custom rules, aggregators, evidence retention and remediation with exception tagging.</a:t>
            </a:r>
          </a:p>
          <a:p>
            <a:r>
              <a:t>AWS SERVICES: AWS Config · Conformance Packs · Systems Manager</a:t>
            </a:r>
          </a:p>
          <a:p>
            <a:r>
              <a:t>EVIDENCE BOUNDARY: Configuration timeline, rule evaluation, conformance score, exception, remediation execution and recheck.</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 detection and investigation: architecture map.</a:t>
            </a:r>
          </a:p>
          <a:p>
            <a:r>
              <a:t>TRIGGER / INPUT: Detect</a:t>
            </a:r>
          </a:p>
          <a:p>
            <a:r>
              <a:t>CONTROL PLANE: Delegate administration, centralize findings, normalize severity, enrich with ownership and automate only well-understood responses.</a:t>
            </a:r>
          </a:p>
          <a:p>
            <a:r>
              <a:t>AWS SERVICES: GuardDuty · Security Hub · Detective · Inspector</a:t>
            </a:r>
          </a:p>
          <a:p>
            <a:r>
              <a:t>EVIDENCE BOUNDARY: Finding ID, affected resource, severity, vulnerability, graph evidence, workflow status and response.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and network protection: architecture map.</a:t>
            </a:r>
          </a:p>
          <a:p>
            <a:r>
              <a:t>TRIGGER / INPUT: Observe traffic</a:t>
            </a:r>
          </a:p>
          <a:p>
            <a:r>
              <a:t>CONTROL PLANE: Use managed rules in count mode first, central policies, rate limits, logging and exception workflows.</a:t>
            </a:r>
          </a:p>
          <a:p>
            <a:r>
              <a:t>AWS SERVICES: WAF · Firewall Manager · Shield · Network Firewall</a:t>
            </a:r>
          </a:p>
          <a:p>
            <a:r>
              <a:t>EVIDENCE BOUNDARY: Policy version, sampled request, rule action, log destination, exception and rollout scope.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blueprint and audit evidence: architecture map.</a:t>
            </a:r>
          </a:p>
          <a:p>
            <a:r>
              <a:t>TRIGGER / INPUT: Classify data</a:t>
            </a:r>
          </a:p>
          <a:p>
            <a:r>
              <a:t>CONTROL PLANE: Document trust boundaries, data classification, preventive/detective controls, logging, retention and incident responsibilities.</a:t>
            </a:r>
          </a:p>
          <a:p>
            <a:r>
              <a:t>AWS SERVICES: Security Hub · Audit Manager · Artifact · Tagging</a:t>
            </a:r>
          </a:p>
          <a:p>
            <a:r>
              <a:t>EVIDENCE BOUNDARY: Architecture diagram, control matrix, evidence source, owner, retention rule, exception and review cadence.</a:t>
            </a:r>
          </a:p>
          <a:p/>
          <a:p>
            <a:r>
              <a:t>[Sources]</a:t>
            </a:r>
          </a:p>
          <a:p>
            <a:r>
              <a:t>- AWS Certified DevOps Engineer – Professional (DOP-C02) Exam Guide (docs.aws.amazon.com/pdfs/aws-certification/latest/devops-engineer-professional-02).</a:t>
            </a:r>
          </a:p>
          <a:p>
            <a:r>
              <a:t>- TertiaryCourses AWS DevOps certification course repository, v10 (591 slides)</a:t>
            </a:r>
          </a:p>
        </p:txBody>
      </p:sp>
      <p:sp>
        <p:nvSpPr>
          <p:cNvPr id="4" name="Slide Number Placeholder 3"/>
          <p:cNvSpPr>
            <a:spLocks noGrp="1"/>
          </p:cNvSpPr>
          <p:nvPr>
            <p:ph type="sldNum" idx="5" sz="quarter"/>
          </p:nvPr>
        </p:nvSpPr>
        <p:spPr/>
      </p:sp>
    </p:spTree>
  </p:cSld>
  <p:clrMapOvr>
    <a:masterClrMapping/>
  </p:clrMapOvr>
</p:notes>
</file>

<file path=ppt/notesSlides/notesSlide5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21 overview — Write a scoped IAM policy, cap it with a permission boundary, and prove least privilege with IAM Access Analyzer.</a:t>
            </a:r>
          </a:p>
          <a:p>
            <a:r>
              <a:t>Concept-led briefing only. The full detailed procedure, commands, expected outputs, validation and cleanup live in the Learner Guide and the lab README (not on the slides).</a:t>
            </a:r>
          </a:p>
          <a:p>
            <a:r>
              <a:t>Reference architecture: course-generated diagram for Lab 21.</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22 overview — Create a customer-managed KMS key with a key policy, store a secret with rotation, and enforce encryption on S3.</a:t>
            </a:r>
          </a:p>
          <a:p>
            <a:r>
              <a:t>Concept-led briefing only. The full detailed procedure, commands, expected outputs, validation and cleanup live in the Learner Guide and the lab README (not on the slides).</a:t>
            </a:r>
          </a:p>
          <a:p>
            <a:r>
              <a:t>Reference architecture: course-generated diagram for Lab 22.</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23 overview — Stand up a multi-Region CloudTrail with log-file validation and query it to export audit evidence.</a:t>
            </a:r>
          </a:p>
          <a:p>
            <a:r>
              <a:t>Concept-led briefing only. The full detailed procedure, commands, expected outputs, validation and cleanup live in the Learner Guide and the lab README (not on the slides).</a:t>
            </a:r>
          </a:p>
          <a:p>
            <a:r>
              <a:t>Reference architecture: course-generated diagram for Lab 23.</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24 overview — Enable AWS Config managed rules and Security Hub standards, inject a violation and remediate to COMPLIANT.</a:t>
            </a:r>
          </a:p>
          <a:p>
            <a:r>
              <a:t>Concept-led briefing only. The full detailed procedure, commands, expected outputs, validation and cleanup live in the Learner Guide and the lab README (not on the slides).</a:t>
            </a:r>
          </a:p>
          <a:p>
            <a:r>
              <a:t>Reference architecture: course-generated diagram for Lab 24.</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25 overview — Synthesise Labs 1–24 into one secured, resilient, observable delivery system with a blueprint, an operational review and an evidence pack.</a:t>
            </a:r>
          </a:p>
          <a:p>
            <a:r>
              <a:t>Concept-led briefing only. The full detailed procedure, commands, expected outputs, validation and cleanup live in the Learner Guide and the lab README (not on the slides).</a:t>
            </a:r>
          </a:p>
          <a:p>
            <a:r>
              <a:t>Reference architecture: course-generated diagram for Lab 25.</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Domain 06 — Security and Compliance.</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Sample Application, End to End. Domains 1–6 map onto one delivery-to-operations loop: build it (1), codify it (2), make it resilient (3), watch it (4), respond (5) and secure it (6).</a:t>
            </a:r>
          </a:p>
          <a:p>
            <a:r>
              <a:t>Editable reference architecture drawn as native PowerPoint shapes.</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25 labs form one delivery-to-operations system — five connected labs per day building the same sample application end to end.</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 developer merges a change that passes tests but degrades checkout latency once at production scale.</a:t>
            </a:r>
          </a:p>
          <a:p>
            <a:r>
              <a:t>Domain 1: the pipeline built and promoted an immutable artifact with a canary stage.</a:t>
            </a:r>
          </a:p>
          <a:p>
            <a:r>
              <a:t>Domain 3/4: canary p99 latency breaches the SLO; the CloudWatch alarm fires within minutes.</a:t>
            </a:r>
          </a:p>
          <a:p>
            <a:r>
              <a:t>Domain 5: the alarm triggers CodeDeploy auto-rollback and notifies the on-call via EventBridge/SNS.</a:t>
            </a:r>
          </a:p>
          <a:p>
            <a:r>
              <a:t>Domain 6: CloudTrail records exactly who changed what, feeding the blameless review.</a:t>
            </a:r>
          </a:p>
          <a:p>
            <a:r>
              <a:t>Domain 2: the durable fix is encoded in the template/config and re-applied, not hand-patched.</a:t>
            </a:r>
          </a:p>
          <a:p>
            <a:r>
              <a:t>Decision: No 2am heroics: the system detects, rolls back and records the event automatically. The follow-up hardens the canary threshold and adds a regression test.</a:t>
            </a:r>
          </a:p>
          <a:p/>
          <a:p>
            <a:r>
              <a:t>[Sources]</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5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Business Requirement to Six-Domain Design.</a:t>
            </a:r>
          </a:p>
          <a:p>
            <a:r>
              <a:t>'Ship weekly without downtime' — Domain 1 CI/CD + blue/green; Domain 3 multi-AZ so releases don't drop traffic.</a:t>
            </a:r>
          </a:p>
          <a:p>
            <a:r>
              <a:t>'Recover an AZ loss in minutes' — Domain 3 Multi-AZ ASG + RDS failover; Domain 4 alarms to confirm health.</a:t>
            </a:r>
          </a:p>
          <a:p>
            <a:r>
              <a:t>'Know within a minute when it breaks' — Domain 4 golden-signal alarms; Domain 5 event-driven notify + remediate.</a:t>
            </a:r>
          </a:p>
          <a:p>
            <a:r>
              <a:t>'Prove we are compliant' — Domain 6 Config + CloudTrail; Domain 2 guardrails as code in every account.</a:t>
            </a:r>
          </a:p>
          <a:p>
            <a:r>
              <a:t>Takeaway: Real requirements cut across domains — a competent DevOps engineer composes controls from all six into one coherent design.</a:t>
            </a:r>
          </a:p>
          <a:p/>
          <a:p>
            <a:r>
              <a:t>[Sources]</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5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 Build It Yourself or Use a Managed Service?.</a:t>
            </a:r>
          </a:p>
          <a:p>
            <a:r>
              <a:t>Option A — Managed service: Default choice. Less undifferentiated heavy lifting (e.g. RDS vs self-run DB) — at higher unit cost and less control.</a:t>
            </a:r>
          </a:p>
          <a:p>
            <a:r>
              <a:t>Option B — Self-managed on EC2: Only when you need control the managed option can't give (custom kernel, licensing). More ops burden and patching you own.</a:t>
            </a:r>
          </a:p>
          <a:p>
            <a:r>
              <a:t>Option C — Serverless-first: For spiky, event-driven work. Pay-per-use and minimal ops — within the service's limits and cold-start profile.</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attendance (TRAQOM / SSG). Mandatory AM, PM and Assessment attendance for WSQ-funded courses.</a:t>
            </a:r>
          </a:p>
          <a:p>
            <a:r>
              <a:t>The trainer displays the live QR from the SSG portal; the on-slide QR is an illustrative placeholder.</a:t>
            </a:r>
          </a:p>
          <a:p>
            <a:r>
              <a:t>A minimum of 75% attendance is required for assessment and funding.</a:t>
            </a:r>
          </a:p>
          <a:p/>
          <a:p>
            <a:r>
              <a:t>[Sources]</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3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20.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2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2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2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2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4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220.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21.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2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23.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24.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22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243.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244.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1.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9.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0.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1.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3.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4.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5.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6.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8.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9.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0.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1.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3.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4.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5.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6.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8.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9.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0.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1.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3.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4.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5.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6.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8.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9.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0.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1.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3.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4.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5.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6.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8.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9.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0.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1.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3.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4.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5.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326.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32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328.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329.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330.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1.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3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3.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5.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6.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notesSlide" Target="../notesSlides/notesSlide334.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8.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9.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0.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1.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3.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4.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5.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6.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8.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notesSlide" Target="../notesSlides/notesSlide349.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0.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1.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3.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4.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5.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6.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8.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9.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0.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1.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3.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4.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5.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6.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8.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9.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0.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1.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3.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4.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5.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6.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8.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9.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0.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1.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3.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4.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5.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6.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8.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9.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0.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1.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3.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4.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5.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6.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8.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9.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0.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1.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3.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4.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5.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6.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8.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9.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0.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1.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3.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4.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415.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416.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41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8.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9.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1.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 Id="rId3" Type="http://schemas.openxmlformats.org/officeDocument/2006/relationships/notesSlide" Target="../notesSlides/notesSlide420.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3.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4.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5.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6.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8.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9.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0.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1.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3.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4.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 Id="rId3" Type="http://schemas.openxmlformats.org/officeDocument/2006/relationships/notesSlide" Target="../notesSlides/notesSlide435.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6.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8.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9.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0.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1.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2.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3.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4.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5.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6.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8.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9.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0.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1.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2.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3.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4.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5.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6.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8.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9.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0.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1.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2.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3.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4.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5.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6.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8.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9.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0.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1.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2.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3.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4.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5.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6.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8.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9.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0.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1.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2.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3.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4.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5.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6.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8.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9.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0.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1.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2.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3.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4.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5.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496.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49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8.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99.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0.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1.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2.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3.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4.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5.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6.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8.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9.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0.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1.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2.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3.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4.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5.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 Id="rId3" Type="http://schemas.openxmlformats.org/officeDocument/2006/relationships/notesSlide" Target="../notesSlides/notesSlide516.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8.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9.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0.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1.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2.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3.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4.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5.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6.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8.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9.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0.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1.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2.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3.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4.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5.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6.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8.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9.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0.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1.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2.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3.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4.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5.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6.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7.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8.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9.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0.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1.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2.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3.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4.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5.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6.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7.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8.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9.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0.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1.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2.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3.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4.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5.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6.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7.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8.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9.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0.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1.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2.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3.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4.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5.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6.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7.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8.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9.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0.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1.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2.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583.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584.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585.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586.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587.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8.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9.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0.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1.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2.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3.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4.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0" y="0"/>
            <a:ext cx="5330952" cy="6858000"/>
          </a:xfrm>
          <a:prstGeom prst="rect">
            <a:avLst/>
          </a:prstGeom>
          <a:solidFill>
            <a:srgbClr val="0B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vops-aws-cover-hero.png"/>
          <p:cNvPicPr>
            <a:picLocks noChangeAspect="1"/>
          </p:cNvPicPr>
          <p:nvPr/>
        </p:nvPicPr>
        <p:blipFill>
          <a:blip r:embed="rId2"/>
          <a:stretch>
            <a:fillRect/>
          </a:stretch>
        </p:blipFill>
        <p:spPr>
          <a:xfrm>
            <a:off x="6858000" y="1600200"/>
            <a:ext cx="5330952" cy="3000255"/>
          </a:xfrm>
          <a:prstGeom prst="rect">
            <a:avLst/>
          </a:prstGeom>
        </p:spPr>
      </p:pic>
      <p:sp>
        <p:nvSpPr>
          <p:cNvPr id="5" name="Rectangle 4"/>
          <p:cNvSpPr/>
          <p:nvPr/>
        </p:nvSpPr>
        <p:spPr>
          <a:xfrm>
            <a:off x="0" y="0"/>
            <a:ext cx="6949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tiary-infotech-logo.png"/>
          <p:cNvPicPr>
            <a:picLocks noChangeAspect="1"/>
          </p:cNvPicPr>
          <p:nvPr/>
        </p:nvPicPr>
        <p:blipFill>
          <a:blip r:embed="rId3"/>
          <a:stretch>
            <a:fillRect/>
          </a:stretch>
        </p:blipFill>
        <p:spPr>
          <a:xfrm>
            <a:off x="777240" y="640080"/>
            <a:ext cx="914400" cy="914400"/>
          </a:xfrm>
          <a:prstGeom prst="rect">
            <a:avLst/>
          </a:prstGeom>
        </p:spPr>
      </p:pic>
      <p:sp>
        <p:nvSpPr>
          <p:cNvPr id="9" name="Rounded Rectangle 8"/>
          <p:cNvSpPr/>
          <p:nvPr/>
        </p:nvSpPr>
        <p:spPr>
          <a:xfrm>
            <a:off x="10104120" y="457200"/>
            <a:ext cx="1691640" cy="102412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104120" y="457200"/>
            <a:ext cx="169164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04120" y="658368"/>
            <a:ext cx="1691640" cy="411480"/>
          </a:xfrm>
          <a:prstGeom prst="rect">
            <a:avLst/>
          </a:prstGeom>
          <a:noFill/>
        </p:spPr>
        <p:txBody>
          <a:bodyPr wrap="square" anchor="t">
            <a:spAutoFit/>
          </a:bodyPr>
          <a:lstStyle/>
          <a:p>
            <a:pPr algn="ctr">
              <a:spcAft>
                <a:spcPts val="400"/>
              </a:spcAft>
            </a:pPr>
            <a:r>
              <a:rPr sz="1900" b="1">
                <a:solidFill>
                  <a:srgbClr val="FFFFFF"/>
                </a:solidFill>
                <a:latin typeface="Arial"/>
              </a:rPr>
              <a:t>DOP-C02</a:t>
            </a:r>
          </a:p>
        </p:txBody>
      </p:sp>
      <p:sp>
        <p:nvSpPr>
          <p:cNvPr id="12" name="Rectangle 11"/>
          <p:cNvSpPr/>
          <p:nvPr/>
        </p:nvSpPr>
        <p:spPr>
          <a:xfrm>
            <a:off x="10565892" y="1078992"/>
            <a:ext cx="768096" cy="952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04120" y="1133856"/>
            <a:ext cx="1691640" cy="292608"/>
          </a:xfrm>
          <a:prstGeom prst="rect">
            <a:avLst/>
          </a:prstGeom>
          <a:noFill/>
        </p:spPr>
        <p:txBody>
          <a:bodyPr wrap="square" anchor="t">
            <a:spAutoFit/>
          </a:bodyPr>
          <a:lstStyle/>
          <a:p>
            <a:pPr algn="ctr">
              <a:spcAft>
                <a:spcPts val="400"/>
              </a:spcAft>
            </a:pPr>
            <a:r>
              <a:rPr sz="950" b="1">
                <a:solidFill>
                  <a:srgbClr val="FFFFFF"/>
                </a:solidFill>
                <a:latin typeface="Arial"/>
              </a:rPr>
              <a:t>DEVOPS ENGINEER</a:t>
            </a:r>
          </a:p>
        </p:txBody>
      </p:sp>
      <p:sp>
        <p:nvSpPr>
          <p:cNvPr id="14" name="TextBox 13"/>
          <p:cNvSpPr txBox="1"/>
          <p:nvPr/>
        </p:nvSpPr>
        <p:spPr>
          <a:xfrm>
            <a:off x="822960" y="1965960"/>
            <a:ext cx="5852160" cy="548640"/>
          </a:xfrm>
          <a:prstGeom prst="rect">
            <a:avLst/>
          </a:prstGeom>
          <a:noFill/>
        </p:spPr>
        <p:txBody>
          <a:bodyPr wrap="square" anchor="t">
            <a:spAutoFit/>
          </a:bodyPr>
          <a:lstStyle/>
          <a:p>
            <a:pPr algn="l">
              <a:spcAft>
                <a:spcPts val="400"/>
              </a:spcAft>
            </a:pPr>
            <a:r>
              <a:rPr sz="1500" b="1">
                <a:solidFill>
                  <a:srgbClr val="1F6FEB"/>
                </a:solidFill>
                <a:latin typeface="Arial"/>
              </a:rPr>
              <a:t>COURSE SLIDES  ·  WSQ</a:t>
            </a:r>
          </a:p>
        </p:txBody>
      </p:sp>
      <p:sp>
        <p:nvSpPr>
          <p:cNvPr id="15" name="TextBox 14"/>
          <p:cNvSpPr txBox="1"/>
          <p:nvPr/>
        </p:nvSpPr>
        <p:spPr>
          <a:xfrm>
            <a:off x="822960" y="2423160"/>
            <a:ext cx="5943600" cy="1828800"/>
          </a:xfrm>
          <a:prstGeom prst="rect">
            <a:avLst/>
          </a:prstGeom>
          <a:noFill/>
        </p:spPr>
        <p:txBody>
          <a:bodyPr wrap="square" anchor="t">
            <a:spAutoFit/>
          </a:bodyPr>
          <a:lstStyle/>
          <a:p>
            <a:pPr algn="l">
              <a:spcAft>
                <a:spcPts val="400"/>
              </a:spcAft>
            </a:pPr>
            <a:r>
              <a:rPr sz="4000" b="1">
                <a:solidFill>
                  <a:srgbClr val="161B26"/>
                </a:solidFill>
                <a:latin typeface="Arial"/>
              </a:rPr>
              <a:t>DevOps Engineering on AWS</a:t>
            </a:r>
          </a:p>
        </p:txBody>
      </p:sp>
      <p:sp>
        <p:nvSpPr>
          <p:cNvPr id="16" name="Rectangle 1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206240"/>
            <a:ext cx="5852160" cy="1097280"/>
          </a:xfrm>
          <a:prstGeom prst="rect">
            <a:avLst/>
          </a:prstGeom>
          <a:noFill/>
        </p:spPr>
        <p:txBody>
          <a:bodyPr wrap="square" anchor="t">
            <a:spAutoFit/>
          </a:bodyPr>
          <a:lstStyle/>
          <a:p>
            <a:pPr algn="l">
              <a:spcAft>
                <a:spcPts val="500"/>
              </a:spcAft>
            </a:pPr>
            <a:r>
              <a:rPr sz="1500" b="0">
                <a:solidFill>
                  <a:srgbClr val="5B6372"/>
                </a:solidFill>
                <a:latin typeface="Arial"/>
              </a:rPr>
              <a:t>WSQ Course Code: TGS-2023040474</a:t>
            </a:r>
          </a:p>
          <a:p>
            <a:pPr algn="l">
              <a:spcAft>
                <a:spcPts val="500"/>
              </a:spcAft>
            </a:pPr>
            <a:r>
              <a:rPr sz="1300" b="0">
                <a:solidFill>
                  <a:srgbClr val="5B6372"/>
                </a:solidFill>
                <a:latin typeface="Arial"/>
              </a:rPr>
              <a:t>Conducted by Tertiary Infotech Academy Pte Ltd</a:t>
            </a:r>
          </a:p>
          <a:p>
            <a:pPr algn="l">
              <a:spcAft>
                <a:spcPts val="500"/>
              </a:spcAft>
            </a:pPr>
            <a:r>
              <a:rPr sz="1300" b="0">
                <a:solidFill>
                  <a:srgbClr val="5B6372"/>
                </a:solidFill>
                <a:latin typeface="Arial"/>
              </a:rPr>
              <a:t>UEN: 201200696W</a:t>
            </a:r>
          </a:p>
        </p:txBody>
      </p:sp>
      <p:sp>
        <p:nvSpPr>
          <p:cNvPr id="18" name="TextBox 17"/>
          <p:cNvSpPr txBox="1"/>
          <p:nvPr/>
        </p:nvSpPr>
        <p:spPr>
          <a:xfrm>
            <a:off x="822960" y="5806440"/>
            <a:ext cx="5852160" cy="365760"/>
          </a:xfrm>
          <a:prstGeom prst="rect">
            <a:avLst/>
          </a:prstGeom>
          <a:noFill/>
        </p:spPr>
        <p:txBody>
          <a:bodyPr wrap="square" anchor="t">
            <a:spAutoFit/>
          </a:bodyPr>
          <a:lstStyle/>
          <a:p>
            <a:pPr algn="l">
              <a:spcAft>
                <a:spcPts val="400"/>
              </a:spcAft>
            </a:pPr>
            <a:r>
              <a:rPr sz="1200" b="1">
                <a:solidFill>
                  <a:srgbClr val="5B6372"/>
                </a:solidFill>
                <a:latin typeface="Arial"/>
              </a:rPr>
              <a:t>Version v14  ·  23 August 2026</a:t>
            </a:r>
          </a:p>
        </p:txBody>
      </p:sp>
      <p:sp>
        <p:nvSpPr>
          <p:cNvPr id="19" name="TextBox 18"/>
          <p:cNvSpPr txBox="1"/>
          <p:nvPr/>
        </p:nvSpPr>
        <p:spPr>
          <a:xfrm>
            <a:off x="822960" y="6144768"/>
            <a:ext cx="5943600" cy="310896"/>
          </a:xfrm>
          <a:prstGeom prst="rect">
            <a:avLst/>
          </a:prstGeom>
          <a:noFill/>
        </p:spPr>
        <p:txBody>
          <a:bodyPr wrap="square" anchor="t">
            <a:spAutoFit/>
          </a:bodyPr>
          <a:lstStyle/>
          <a:p>
            <a:pPr algn="l">
              <a:spcAft>
                <a:spcPts val="400"/>
              </a:spcAft>
            </a:pPr>
            <a:r>
              <a:rPr sz="900" b="0">
                <a:solidFill>
                  <a:srgbClr val="5B6372"/>
                </a:solidFill>
                <a:latin typeface="Arial"/>
              </a:rPr>
              <a:t>© 2026 Tertiary Infotech Academy Pte Ltd. All rights reserved.  ·  www.tertiarycourses.com.sg</a:t>
            </a:r>
          </a:p>
        </p:txBody>
      </p:sp>
    </p:spTree>
  </p:cSld>
  <p:clrMapOvr>
    <a:masterClrMapping/>
  </p:clrMapOvr>
  <p:transition xmlns:p14="http://schemas.microsoft.com/office/powerpoint/2010/main" p14:dur="380">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xmlns:p14="http://schemas.microsoft.com/office/powerpoint/2010/main" p14:dur="380">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6720840" cy="365760"/>
          </a:xfrm>
          <a:prstGeom prst="rect">
            <a:avLst/>
          </a:prstGeom>
          <a:noFill/>
        </p:spPr>
        <p:txBody>
          <a:bodyPr wrap="square" anchor="t">
            <a:spAutoFit/>
          </a:bodyPr>
          <a:lstStyle/>
          <a:p>
            <a:pPr algn="l">
              <a:spcAft>
                <a:spcPts val="400"/>
              </a:spcAft>
            </a:pPr>
            <a:r>
              <a:rPr sz="1350" b="1">
                <a:solidFill>
                  <a:srgbClr val="161B26"/>
                </a:solidFill>
                <a:latin typeface="Arial"/>
              </a:rPr>
              <a:t>Take the SSG digital attendance at three points on every funded day:</a:t>
            </a:r>
          </a:p>
        </p:txBody>
      </p:sp>
      <p:sp>
        <p:nvSpPr>
          <p:cNvPr id="8" name="Rectangle 7"/>
          <p:cNvSpPr/>
          <p:nvPr/>
        </p:nvSpPr>
        <p:spPr>
          <a:xfrm>
            <a:off x="777240" y="2194560"/>
            <a:ext cx="205740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94560"/>
            <a:ext cx="205740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395728"/>
            <a:ext cx="2057400" cy="457200"/>
          </a:xfrm>
          <a:prstGeom prst="rect">
            <a:avLst/>
          </a:prstGeom>
          <a:noFill/>
        </p:spPr>
        <p:txBody>
          <a:bodyPr wrap="square" anchor="t">
            <a:spAutoFit/>
          </a:bodyPr>
          <a:lstStyle/>
          <a:p>
            <a:pPr algn="ctr">
              <a:spcAft>
                <a:spcPts val="400"/>
              </a:spcAft>
            </a:pPr>
            <a:r>
              <a:rPr sz="1800" b="1">
                <a:solidFill>
                  <a:srgbClr val="1F6FEB"/>
                </a:solidFill>
                <a:latin typeface="Arial"/>
              </a:rPr>
              <a:t>AM</a:t>
            </a:r>
          </a:p>
        </p:txBody>
      </p:sp>
      <p:sp>
        <p:nvSpPr>
          <p:cNvPr id="11" name="TextBox 10"/>
          <p:cNvSpPr txBox="1"/>
          <p:nvPr/>
        </p:nvSpPr>
        <p:spPr>
          <a:xfrm>
            <a:off x="905256" y="2852928"/>
            <a:ext cx="1801368" cy="457200"/>
          </a:xfrm>
          <a:prstGeom prst="rect">
            <a:avLst/>
          </a:prstGeom>
          <a:noFill/>
        </p:spPr>
        <p:txBody>
          <a:bodyPr wrap="square" anchor="t">
            <a:spAutoFit/>
          </a:bodyPr>
          <a:lstStyle/>
          <a:p>
            <a:pPr algn="ctr">
              <a:spcAft>
                <a:spcPts val="400"/>
              </a:spcAft>
            </a:pPr>
            <a:r>
              <a:rPr sz="1050" b="0">
                <a:solidFill>
                  <a:srgbClr val="5B6372"/>
                </a:solidFill>
                <a:latin typeface="Arial"/>
              </a:rPr>
              <a:t>Start of the morning session</a:t>
            </a:r>
          </a:p>
        </p:txBody>
      </p:sp>
      <p:sp>
        <p:nvSpPr>
          <p:cNvPr id="12" name="Rectangle 11"/>
          <p:cNvSpPr/>
          <p:nvPr/>
        </p:nvSpPr>
        <p:spPr>
          <a:xfrm>
            <a:off x="3108960" y="2194560"/>
            <a:ext cx="205740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08960" y="2194560"/>
            <a:ext cx="205740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2395728"/>
            <a:ext cx="2057400" cy="457200"/>
          </a:xfrm>
          <a:prstGeom prst="rect">
            <a:avLst/>
          </a:prstGeom>
          <a:noFill/>
        </p:spPr>
        <p:txBody>
          <a:bodyPr wrap="square" anchor="t">
            <a:spAutoFit/>
          </a:bodyPr>
          <a:lstStyle/>
          <a:p>
            <a:pPr algn="ctr">
              <a:spcAft>
                <a:spcPts val="400"/>
              </a:spcAft>
            </a:pPr>
            <a:r>
              <a:rPr sz="1800" b="1">
                <a:solidFill>
                  <a:srgbClr val="10B981"/>
                </a:solidFill>
                <a:latin typeface="Arial"/>
              </a:rPr>
              <a:t>PM</a:t>
            </a:r>
          </a:p>
        </p:txBody>
      </p:sp>
      <p:sp>
        <p:nvSpPr>
          <p:cNvPr id="15" name="TextBox 14"/>
          <p:cNvSpPr txBox="1"/>
          <p:nvPr/>
        </p:nvSpPr>
        <p:spPr>
          <a:xfrm>
            <a:off x="3236976" y="2852928"/>
            <a:ext cx="1801368" cy="457200"/>
          </a:xfrm>
          <a:prstGeom prst="rect">
            <a:avLst/>
          </a:prstGeom>
          <a:noFill/>
        </p:spPr>
        <p:txBody>
          <a:bodyPr wrap="square" anchor="t">
            <a:spAutoFit/>
          </a:bodyPr>
          <a:lstStyle/>
          <a:p>
            <a:pPr algn="ctr">
              <a:spcAft>
                <a:spcPts val="400"/>
              </a:spcAft>
            </a:pPr>
            <a:r>
              <a:rPr sz="1050" b="0">
                <a:solidFill>
                  <a:srgbClr val="5B6372"/>
                </a:solidFill>
                <a:latin typeface="Arial"/>
              </a:rPr>
              <a:t>Start of the afternoon session</a:t>
            </a:r>
          </a:p>
        </p:txBody>
      </p:sp>
      <p:sp>
        <p:nvSpPr>
          <p:cNvPr id="16" name="Rectangle 15"/>
          <p:cNvSpPr/>
          <p:nvPr/>
        </p:nvSpPr>
        <p:spPr>
          <a:xfrm>
            <a:off x="5440680" y="2194560"/>
            <a:ext cx="205740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40680" y="2194560"/>
            <a:ext cx="205740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40680" y="2395728"/>
            <a:ext cx="2057400" cy="457200"/>
          </a:xfrm>
          <a:prstGeom prst="rect">
            <a:avLst/>
          </a:prstGeom>
          <a:noFill/>
        </p:spPr>
        <p:txBody>
          <a:bodyPr wrap="square" anchor="t">
            <a:spAutoFit/>
          </a:bodyPr>
          <a:lstStyle/>
          <a:p>
            <a:pPr algn="ctr">
              <a:spcAft>
                <a:spcPts val="400"/>
              </a:spcAft>
            </a:pPr>
            <a:r>
              <a:rPr sz="1800" b="1">
                <a:solidFill>
                  <a:srgbClr val="7C3AED"/>
                </a:solidFill>
                <a:latin typeface="Arial"/>
              </a:rPr>
              <a:t>ASSESSMENT</a:t>
            </a:r>
          </a:p>
        </p:txBody>
      </p:sp>
      <p:sp>
        <p:nvSpPr>
          <p:cNvPr id="19" name="TextBox 18"/>
          <p:cNvSpPr txBox="1"/>
          <p:nvPr/>
        </p:nvSpPr>
        <p:spPr>
          <a:xfrm>
            <a:off x="5568696" y="2852928"/>
            <a:ext cx="1801368" cy="457200"/>
          </a:xfrm>
          <a:prstGeom prst="rect">
            <a:avLst/>
          </a:prstGeom>
          <a:noFill/>
        </p:spPr>
        <p:txBody>
          <a:bodyPr wrap="square" anchor="t">
            <a:spAutoFit/>
          </a:bodyPr>
          <a:lstStyle/>
          <a:p>
            <a:pPr algn="ctr">
              <a:spcAft>
                <a:spcPts val="400"/>
              </a:spcAft>
            </a:pPr>
            <a:r>
              <a:rPr sz="1050" b="0">
                <a:solidFill>
                  <a:srgbClr val="5B6372"/>
                </a:solidFill>
                <a:latin typeface="Arial"/>
              </a:rPr>
              <a:t>Before the Day 5 assessment</a:t>
            </a:r>
          </a:p>
        </p:txBody>
      </p:sp>
      <p:sp>
        <p:nvSpPr>
          <p:cNvPr id="20" name="Rectangle 19"/>
          <p:cNvSpPr/>
          <p:nvPr/>
        </p:nvSpPr>
        <p:spPr>
          <a:xfrm>
            <a:off x="777240" y="3566160"/>
            <a:ext cx="6720840" cy="548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1832" y="363931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3639312"/>
            <a:ext cx="402336" cy="402336"/>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23" name="TextBox 22"/>
          <p:cNvSpPr txBox="1"/>
          <p:nvPr/>
        </p:nvSpPr>
        <p:spPr>
          <a:xfrm>
            <a:off x="1600200" y="3566160"/>
            <a:ext cx="5715000" cy="548640"/>
          </a:xfrm>
          <a:prstGeom prst="rect">
            <a:avLst/>
          </a:prstGeom>
          <a:noFill/>
        </p:spPr>
        <p:txBody>
          <a:bodyPr wrap="square" anchor="ctr">
            <a:spAutoFit/>
          </a:bodyPr>
          <a:lstStyle/>
          <a:p>
            <a:pPr algn="l">
              <a:spcAft>
                <a:spcPts val="400"/>
              </a:spcAft>
            </a:pPr>
            <a:r>
              <a:rPr sz="1200" b="0">
                <a:solidFill>
                  <a:srgbClr val="161B26"/>
                </a:solidFill>
                <a:latin typeface="Arial"/>
              </a:rPr>
              <a:t>The trainer/administrator displays the SSG digital-attendance QR code from the portal.</a:t>
            </a:r>
          </a:p>
        </p:txBody>
      </p:sp>
      <p:sp>
        <p:nvSpPr>
          <p:cNvPr id="24" name="Rectangle 23"/>
          <p:cNvSpPr/>
          <p:nvPr/>
        </p:nvSpPr>
        <p:spPr>
          <a:xfrm>
            <a:off x="777240" y="4224528"/>
            <a:ext cx="6720840" cy="548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1832" y="4297680"/>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4297680"/>
            <a:ext cx="402336" cy="402336"/>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7" name="TextBox 26"/>
          <p:cNvSpPr txBox="1"/>
          <p:nvPr/>
        </p:nvSpPr>
        <p:spPr>
          <a:xfrm>
            <a:off x="1600200" y="4224528"/>
            <a:ext cx="5715000" cy="548640"/>
          </a:xfrm>
          <a:prstGeom prst="rect">
            <a:avLst/>
          </a:prstGeom>
          <a:noFill/>
        </p:spPr>
        <p:txBody>
          <a:bodyPr wrap="square" anchor="ctr">
            <a:spAutoFit/>
          </a:bodyPr>
          <a:lstStyle/>
          <a:p>
            <a:pPr algn="l">
              <a:spcAft>
                <a:spcPts val="400"/>
              </a:spcAft>
            </a:pPr>
            <a:r>
              <a:rPr sz="1200" b="0">
                <a:solidFill>
                  <a:srgbClr val="161B26"/>
                </a:solidFill>
                <a:latin typeface="Arial"/>
              </a:rPr>
              <a:t>Scan the QR code with your mobile phone camera and submit your attendance.</a:t>
            </a:r>
          </a:p>
        </p:txBody>
      </p:sp>
      <p:sp>
        <p:nvSpPr>
          <p:cNvPr id="28" name="Rectangle 27"/>
          <p:cNvSpPr/>
          <p:nvPr/>
        </p:nvSpPr>
        <p:spPr>
          <a:xfrm>
            <a:off x="777240" y="4882896"/>
            <a:ext cx="6720840" cy="548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41832" y="4956048"/>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4956048"/>
            <a:ext cx="402336" cy="402336"/>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1" name="TextBox 30"/>
          <p:cNvSpPr txBox="1"/>
          <p:nvPr/>
        </p:nvSpPr>
        <p:spPr>
          <a:xfrm>
            <a:off x="1600200" y="4882896"/>
            <a:ext cx="5715000" cy="548640"/>
          </a:xfrm>
          <a:prstGeom prst="rect">
            <a:avLst/>
          </a:prstGeom>
          <a:noFill/>
        </p:spPr>
        <p:txBody>
          <a:bodyPr wrap="square" anchor="ctr">
            <a:spAutoFit/>
          </a:bodyPr>
          <a:lstStyle/>
          <a:p>
            <a:pPr algn="l">
              <a:spcAft>
                <a:spcPts val="400"/>
              </a:spcAft>
            </a:pPr>
            <a:r>
              <a:rPr sz="1200" b="0">
                <a:solidFill>
                  <a:srgbClr val="161B26"/>
                </a:solidFill>
                <a:latin typeface="Arial"/>
              </a:rPr>
              <a:t>It is mandatory for AM, PM and the Assessment sessions on WSQ-funded courses.</a:t>
            </a:r>
          </a:p>
        </p:txBody>
      </p:sp>
      <p:sp>
        <p:nvSpPr>
          <p:cNvPr id="32" name="Rectangle 31"/>
          <p:cNvSpPr/>
          <p:nvPr/>
        </p:nvSpPr>
        <p:spPr>
          <a:xfrm>
            <a:off x="7818120" y="1737360"/>
            <a:ext cx="3566160" cy="3703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18120" y="1737360"/>
            <a:ext cx="35661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18120" y="1938528"/>
            <a:ext cx="3566160" cy="365760"/>
          </a:xfrm>
          <a:prstGeom prst="rect">
            <a:avLst/>
          </a:prstGeom>
          <a:noFill/>
        </p:spPr>
        <p:txBody>
          <a:bodyPr wrap="square" anchor="t">
            <a:spAutoFit/>
          </a:bodyPr>
          <a:lstStyle/>
          <a:p>
            <a:pPr algn="ctr">
              <a:spcAft>
                <a:spcPts val="400"/>
              </a:spcAft>
            </a:pPr>
            <a:r>
              <a:rPr sz="1100" b="1">
                <a:solidFill>
                  <a:srgbClr val="10B981"/>
                </a:solidFill>
                <a:latin typeface="Arial"/>
              </a:rPr>
              <a:t>SCAN TO SUBMIT ATTENDANCE</a:t>
            </a:r>
          </a:p>
        </p:txBody>
      </p:sp>
      <p:sp>
        <p:nvSpPr>
          <p:cNvPr id="35" name="Rectangle 34"/>
          <p:cNvSpPr/>
          <p:nvPr/>
        </p:nvSpPr>
        <p:spPr>
          <a:xfrm>
            <a:off x="8435340" y="2377440"/>
            <a:ext cx="2331720"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262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53262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57250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8398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39546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0694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842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53262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66978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0694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4410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08126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21842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35558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49274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80694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1842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80694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21842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53262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66978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80694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94410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08126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21842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35558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49274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80694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21842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80694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21842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53262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66978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80694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94410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008126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21842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35558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49274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57250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70966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84682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98398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12114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25830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39546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857250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39546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857250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884682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98398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912114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39546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857250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84682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98398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912114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39546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857250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884682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98398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12114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39546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57250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39546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857250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70966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84682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898398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12114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25830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939546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66978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80694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94410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008126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021842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035558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049274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966978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049274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966978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994410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008126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021842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49274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966978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94410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008126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021842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049274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966978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994410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008126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021842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049274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966978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049274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966978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980694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94410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08126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21842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1035558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049274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857250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870966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884682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898398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912114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925830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939546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857250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939546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57250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84682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898398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912114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939546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857250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884682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898398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912114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939546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857250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884682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898398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912114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939546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857250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939546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57250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870966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884682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898398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912114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925830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939546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8001000" y="4846320"/>
            <a:ext cx="3200400" cy="548640"/>
          </a:xfrm>
          <a:prstGeom prst="rect">
            <a:avLst/>
          </a:prstGeom>
          <a:noFill/>
        </p:spPr>
        <p:txBody>
          <a:bodyPr wrap="square" anchor="t">
            <a:spAutoFit/>
          </a:bodyPr>
          <a:lstStyle/>
          <a:p>
            <a:pPr algn="ctr">
              <a:spcAft>
                <a:spcPts val="400"/>
              </a:spcAft>
            </a:pPr>
            <a:r>
              <a:rPr sz="1050" b="0">
                <a:solidFill>
                  <a:srgbClr val="5B6372"/>
                </a:solidFill>
                <a:latin typeface="Arial"/>
              </a:rPr>
              <a:t>SSG digital-attendance QR — displayed live from the portal by the trainer</a:t>
            </a:r>
          </a:p>
        </p:txBody>
      </p:sp>
      <p:sp>
        <p:nvSpPr>
          <p:cNvPr id="175" name="Rectangle 174"/>
          <p:cNvSpPr/>
          <p:nvPr/>
        </p:nvSpPr>
        <p:spPr>
          <a:xfrm>
            <a:off x="777240" y="5623560"/>
            <a:ext cx="10607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1005840" y="5623560"/>
            <a:ext cx="10149840" cy="566928"/>
          </a:xfrm>
          <a:prstGeom prst="rect">
            <a:avLst/>
          </a:prstGeom>
          <a:noFill/>
        </p:spPr>
        <p:txBody>
          <a:bodyPr wrap="square" anchor="ctr">
            <a:spAutoFit/>
          </a:bodyPr>
          <a:lstStyle/>
          <a:p>
            <a:pPr algn="l">
              <a:spcAft>
                <a:spcPts val="400"/>
              </a:spcAft>
            </a:pPr>
            <a:r>
              <a:rPr sz="1250" b="1">
                <a:solidFill>
                  <a:srgbClr val="FFFFFF"/>
                </a:solidFill>
                <a:latin typeface="Arial"/>
              </a:rPr>
              <a:t>Minimum 75% attendance on the SSG Digital Attendance record is required to be eligible for assessment and funding.</a:t>
            </a:r>
          </a:p>
        </p:txBody>
      </p:sp>
      <p:sp>
        <p:nvSpPr>
          <p:cNvPr id="177" name="TextBox 17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78" name="TextBox 17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9" name="TextBox 17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xmlns:p14="http://schemas.microsoft.com/office/powerpoint/2010/main" p14:dur="380">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EC711E"/>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0E9EC9"/>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xmlns:p14="http://schemas.microsoft.com/office/powerpoint/2010/main" p14:dur="380">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QUALIFICATIONS</a:t>
            </a:r>
          </a:p>
          <a:p>
            <a:pPr algn="l">
              <a:spcAft>
                <a:spcPts val="300"/>
              </a:spcAft>
            </a:pPr>
            <a:r>
              <a:rPr sz="1300" b="0">
                <a:solidFill>
                  <a:srgbClr val="161B26"/>
                </a:solidFill>
                <a:latin typeface="Arial"/>
              </a:rPr>
              <a:t>PhD; ACTA/DACE-certified adult educator.</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EXPERTISE</a:t>
            </a:r>
          </a:p>
          <a:p>
            <a:pPr algn="l">
              <a:spcAft>
                <a:spcPts val="300"/>
              </a:spcAft>
            </a:pPr>
            <a:r>
              <a:rPr sz="1300" b="0">
                <a:solidFill>
                  <a:srgbClr val="161B26"/>
                </a:solidFill>
                <a:latin typeface="Arial"/>
              </a:rPr>
              <a:t>AWS cloud architecture, DevOps, CI/CD automation, Infrastructure as Code and cloud security.</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300" b="0">
                <a:solidFill>
                  <a:srgbClr val="161B26"/>
                </a:solidFill>
                <a:latin typeface="Arial"/>
              </a:rPr>
              <a:t>WSQ courses on AWS, DevOps engineering, cloud and software engineering.</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EC711E"/>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xmlns:p14="http://schemas.microsoft.com/office/powerpoint/2010/main" p14:dur="380">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AWS, DevOps or automation (if any).</a:t>
            </a:r>
          </a:p>
          <a:p>
            <a:pPr>
              <a:spcAft>
                <a:spcPts val="1000"/>
              </a:spcAft>
            </a:pPr>
            <a:r>
              <a:rPr sz="2000" b="0">
                <a:solidFill>
                  <a:srgbClr val="161B26"/>
                </a:solidFill>
                <a:latin typeface="Arial"/>
              </a:rPr>
              <a:t>•  What you want to automate or improve on AWS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xmlns:p14="http://schemas.microsoft.com/office/powerpoint/2010/main" p14:dur="380">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74520"/>
            <a:ext cx="3973068" cy="1164336"/>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74520"/>
            <a:ext cx="3973068" cy="1164336"/>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04616"/>
            <a:ext cx="3973068" cy="1164336"/>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04616"/>
            <a:ext cx="3973068" cy="1164336"/>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34712"/>
            <a:ext cx="3973068" cy="1164336"/>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34712"/>
            <a:ext cx="3973068" cy="1164336"/>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xmlns:p14="http://schemas.microsoft.com/office/powerpoint/2010/main" p14:dur="380">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6309360"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309360" cy="457200"/>
          </a:xfrm>
          <a:prstGeom prst="rect">
            <a:avLst/>
          </a:prstGeom>
          <a:solidFill>
            <a:srgbClr val="0B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84248"/>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84248"/>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84248"/>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83080" y="1938528"/>
            <a:ext cx="5120640"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0240" y="1920240"/>
            <a:ext cx="4937760" cy="274320"/>
          </a:xfrm>
          <a:prstGeom prst="rect">
            <a:avLst/>
          </a:prstGeom>
          <a:noFill/>
        </p:spPr>
        <p:txBody>
          <a:bodyPr wrap="square" anchor="ctr">
            <a:spAutoFit/>
          </a:bodyPr>
          <a:lstStyle/>
          <a:p>
            <a:pPr algn="l">
              <a:spcAft>
                <a:spcPts val="400"/>
              </a:spcAft>
            </a:pPr>
            <a:r>
              <a:rPr sz="1200" b="0">
                <a:solidFill>
                  <a:srgbClr val="5B6372"/>
                </a:solidFill>
                <a:latin typeface="Arial"/>
              </a:rPr>
              <a:t>🔒  lms-tms.tertiaryinfotech.com</a:t>
            </a:r>
          </a:p>
        </p:txBody>
      </p:sp>
      <p:sp>
        <p:nvSpPr>
          <p:cNvPr id="14" name="Rectangle 13"/>
          <p:cNvSpPr/>
          <p:nvPr/>
        </p:nvSpPr>
        <p:spPr>
          <a:xfrm>
            <a:off x="1051560" y="2514600"/>
            <a:ext cx="5760720" cy="731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2578608"/>
            <a:ext cx="5394960" cy="640080"/>
          </a:xfrm>
          <a:prstGeom prst="rect">
            <a:avLst/>
          </a:prstGeom>
          <a:noFill/>
        </p:spPr>
        <p:txBody>
          <a:bodyPr wrap="square" anchor="ctr">
            <a:spAutoFit/>
          </a:bodyPr>
          <a:lstStyle/>
          <a:p>
            <a:pPr algn="l">
              <a:spcAft>
                <a:spcPts val="200"/>
              </a:spcAft>
            </a:pPr>
            <a:r>
              <a:rPr sz="1400" b="1">
                <a:solidFill>
                  <a:srgbClr val="161B26"/>
                </a:solidFill>
                <a:latin typeface="Arial"/>
              </a:rPr>
              <a:t>DevOps Engineering on AWS</a:t>
            </a:r>
          </a:p>
          <a:p>
            <a:pPr algn="l">
              <a:spcAft>
                <a:spcPts val="200"/>
              </a:spcAft>
            </a:pPr>
            <a:r>
              <a:rPr sz="1100" b="0">
                <a:solidFill>
                  <a:srgbClr val="5B6372"/>
                </a:solidFill>
                <a:latin typeface="Arial"/>
              </a:rPr>
              <a:t>My Courses ›  Course Material</a:t>
            </a:r>
          </a:p>
        </p:txBody>
      </p:sp>
      <p:sp>
        <p:nvSpPr>
          <p:cNvPr id="16" name="Rounded Rectangle 15"/>
          <p:cNvSpPr/>
          <p:nvPr/>
        </p:nvSpPr>
        <p:spPr>
          <a:xfrm>
            <a:off x="1051560" y="3429000"/>
            <a:ext cx="5760720" cy="530352"/>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3429000"/>
            <a:ext cx="5394960" cy="530352"/>
          </a:xfrm>
          <a:prstGeom prst="rect">
            <a:avLst/>
          </a:prstGeom>
          <a:noFill/>
        </p:spPr>
        <p:txBody>
          <a:bodyPr wrap="square" anchor="ctr">
            <a:spAutoFit/>
          </a:bodyPr>
          <a:lstStyle/>
          <a:p>
            <a:pPr algn="l">
              <a:spcAft>
                <a:spcPts val="400"/>
              </a:spcAft>
            </a:pPr>
            <a:r>
              <a:rPr sz="1300" b="1">
                <a:solidFill>
                  <a:srgbClr val="1F6FEB"/>
                </a:solidFill>
                <a:latin typeface="Arial"/>
              </a:rPr>
              <a:t>⬇  Trainer Slides (PDF)</a:t>
            </a:r>
          </a:p>
        </p:txBody>
      </p:sp>
      <p:sp>
        <p:nvSpPr>
          <p:cNvPr id="18" name="Rounded Rectangle 17"/>
          <p:cNvSpPr/>
          <p:nvPr/>
        </p:nvSpPr>
        <p:spPr>
          <a:xfrm>
            <a:off x="1051560" y="4087368"/>
            <a:ext cx="5760720" cy="530352"/>
          </a:xfrm>
          <a:prstGeom prst="round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4087368"/>
            <a:ext cx="5394960" cy="530352"/>
          </a:xfrm>
          <a:prstGeom prst="rect">
            <a:avLst/>
          </a:prstGeom>
          <a:noFill/>
        </p:spPr>
        <p:txBody>
          <a:bodyPr wrap="square" anchor="ctr">
            <a:spAutoFit/>
          </a:bodyPr>
          <a:lstStyle/>
          <a:p>
            <a:pPr algn="l">
              <a:spcAft>
                <a:spcPts val="400"/>
              </a:spcAft>
            </a:pPr>
            <a:r>
              <a:rPr sz="1300" b="1">
                <a:solidFill>
                  <a:srgbClr val="10B981"/>
                </a:solidFill>
                <a:latin typeface="Arial"/>
              </a:rPr>
              <a:t>⬇  Learner Guide (PDF)</a:t>
            </a:r>
          </a:p>
        </p:txBody>
      </p:sp>
      <p:sp>
        <p:nvSpPr>
          <p:cNvPr id="20" name="Rounded Rectangle 19"/>
          <p:cNvSpPr/>
          <p:nvPr/>
        </p:nvSpPr>
        <p:spPr>
          <a:xfrm>
            <a:off x="1051560" y="4745736"/>
            <a:ext cx="5760720" cy="530352"/>
          </a:xfrm>
          <a:prstGeom prst="round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4745736"/>
            <a:ext cx="5394960" cy="530352"/>
          </a:xfrm>
          <a:prstGeom prst="rect">
            <a:avLst/>
          </a:prstGeom>
          <a:noFill/>
        </p:spPr>
        <p:txBody>
          <a:bodyPr wrap="square" anchor="ctr">
            <a:spAutoFit/>
          </a:bodyPr>
          <a:lstStyle/>
          <a:p>
            <a:pPr algn="l">
              <a:spcAft>
                <a:spcPts val="400"/>
              </a:spcAft>
            </a:pPr>
            <a:r>
              <a:rPr sz="1300" b="1">
                <a:solidFill>
                  <a:srgbClr val="7C3AED"/>
                </a:solidFill>
                <a:latin typeface="Arial"/>
              </a:rPr>
              <a:t>⬇  Lesson Plan (PDF)</a:t>
            </a:r>
          </a:p>
        </p:txBody>
      </p:sp>
      <p:sp>
        <p:nvSpPr>
          <p:cNvPr id="22" name="Rectangle 21"/>
          <p:cNvSpPr/>
          <p:nvPr/>
        </p:nvSpPr>
        <p:spPr>
          <a:xfrm>
            <a:off x="7360920" y="1828800"/>
            <a:ext cx="4069080" cy="8343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60920" y="1828800"/>
            <a:ext cx="91440" cy="8343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562088" y="1989963"/>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62088" y="1989963"/>
            <a:ext cx="512064" cy="512064"/>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26" name="TextBox 25"/>
          <p:cNvSpPr txBox="1"/>
          <p:nvPr/>
        </p:nvSpPr>
        <p:spPr>
          <a:xfrm>
            <a:off x="8229600" y="1828800"/>
            <a:ext cx="3063240" cy="834390"/>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50" b="0">
                <a:solidFill>
                  <a:srgbClr val="5B6372"/>
                </a:solidFill>
                <a:latin typeface="Arial"/>
              </a:rPr>
              <a:t>Log in to lms-tms.tertiaryinfotech.com with your enrolled account.</a:t>
            </a:r>
          </a:p>
        </p:txBody>
      </p:sp>
      <p:sp>
        <p:nvSpPr>
          <p:cNvPr id="27" name="Rectangle 26"/>
          <p:cNvSpPr/>
          <p:nvPr/>
        </p:nvSpPr>
        <p:spPr>
          <a:xfrm>
            <a:off x="7360920" y="2937510"/>
            <a:ext cx="4069080" cy="8343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60920" y="2937510"/>
            <a:ext cx="91440" cy="8343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62088" y="3098673"/>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62088" y="3098673"/>
            <a:ext cx="512064" cy="512064"/>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31" name="TextBox 30"/>
          <p:cNvSpPr txBox="1"/>
          <p:nvPr/>
        </p:nvSpPr>
        <p:spPr>
          <a:xfrm>
            <a:off x="8229600" y="2937510"/>
            <a:ext cx="3063240" cy="834390"/>
          </a:xfrm>
          <a:prstGeom prst="rect">
            <a:avLst/>
          </a:prstGeom>
          <a:noFill/>
        </p:spPr>
        <p:txBody>
          <a:bodyPr wrap="square" anchor="ctr">
            <a:spAutoFit/>
          </a:bodyPr>
          <a:lstStyle/>
          <a:p>
            <a:pPr algn="l">
              <a:spcAft>
                <a:spcPts val="200"/>
              </a:spcAft>
            </a:pPr>
            <a:r>
              <a:rPr sz="1400" b="1">
                <a:solidFill>
                  <a:srgbClr val="161B26"/>
                </a:solidFill>
                <a:latin typeface="Arial"/>
              </a:rPr>
              <a:t>Open your course</a:t>
            </a:r>
          </a:p>
          <a:p>
            <a:pPr algn="l">
              <a:spcAft>
                <a:spcPts val="200"/>
              </a:spcAft>
            </a:pPr>
            <a:r>
              <a:rPr sz="1150" b="0">
                <a:solidFill>
                  <a:srgbClr val="5B6372"/>
                </a:solidFill>
                <a:latin typeface="Arial"/>
              </a:rPr>
              <a:t>Go to My Courses and select DevOps Engineering on AWS.</a:t>
            </a:r>
          </a:p>
        </p:txBody>
      </p:sp>
      <p:sp>
        <p:nvSpPr>
          <p:cNvPr id="32" name="Rectangle 31"/>
          <p:cNvSpPr/>
          <p:nvPr/>
        </p:nvSpPr>
        <p:spPr>
          <a:xfrm>
            <a:off x="7360920" y="4046220"/>
            <a:ext cx="4069080" cy="8343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60920" y="4046220"/>
            <a:ext cx="91440" cy="8343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562088" y="4207383"/>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62088" y="4207383"/>
            <a:ext cx="512064" cy="512064"/>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36" name="TextBox 35"/>
          <p:cNvSpPr txBox="1"/>
          <p:nvPr/>
        </p:nvSpPr>
        <p:spPr>
          <a:xfrm>
            <a:off x="8229600" y="4046220"/>
            <a:ext cx="3063240" cy="834390"/>
          </a:xfrm>
          <a:prstGeom prst="rect">
            <a:avLst/>
          </a:prstGeom>
          <a:noFill/>
        </p:spPr>
        <p:txBody>
          <a:bodyPr wrap="square" anchor="ctr">
            <a:spAutoFit/>
          </a:bodyPr>
          <a:lstStyle/>
          <a:p>
            <a:pPr algn="l">
              <a:spcAft>
                <a:spcPts val="200"/>
              </a:spcAft>
            </a:pPr>
            <a:r>
              <a:rPr sz="1400" b="1">
                <a:solidFill>
                  <a:srgbClr val="161B26"/>
                </a:solidFill>
                <a:latin typeface="Arial"/>
              </a:rPr>
              <a:t>Course Material</a:t>
            </a:r>
          </a:p>
          <a:p>
            <a:pPr algn="l">
              <a:spcAft>
                <a:spcPts val="200"/>
              </a:spcAft>
            </a:pPr>
            <a:r>
              <a:rPr sz="1150" b="0">
                <a:solidFill>
                  <a:srgbClr val="5B6372"/>
                </a:solidFill>
                <a:latin typeface="Arial"/>
              </a:rPr>
              <a:t>Open the Course Material tab for this course.</a:t>
            </a:r>
          </a:p>
        </p:txBody>
      </p:sp>
      <p:sp>
        <p:nvSpPr>
          <p:cNvPr id="37" name="Rectangle 36"/>
          <p:cNvSpPr/>
          <p:nvPr/>
        </p:nvSpPr>
        <p:spPr>
          <a:xfrm>
            <a:off x="7360920" y="5154930"/>
            <a:ext cx="4069080" cy="8343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60920" y="5154930"/>
            <a:ext cx="91440" cy="8343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62088" y="5316093"/>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62088" y="5316093"/>
            <a:ext cx="512064" cy="512064"/>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41" name="TextBox 40"/>
          <p:cNvSpPr txBox="1"/>
          <p:nvPr/>
        </p:nvSpPr>
        <p:spPr>
          <a:xfrm>
            <a:off x="8229600" y="5154930"/>
            <a:ext cx="3063240" cy="834390"/>
          </a:xfrm>
          <a:prstGeom prst="rect">
            <a:avLst/>
          </a:prstGeom>
          <a:noFill/>
        </p:spPr>
        <p:txBody>
          <a:bodyPr wrap="square" anchor="ctr">
            <a:spAutoFit/>
          </a:bodyPr>
          <a:lstStyle/>
          <a:p>
            <a:pPr algn="l">
              <a:spcAft>
                <a:spcPts val="200"/>
              </a:spcAft>
            </a:pPr>
            <a:r>
              <a:rPr sz="1400" b="1">
                <a:solidFill>
                  <a:srgbClr val="161B26"/>
                </a:solidFill>
                <a:latin typeface="Arial"/>
              </a:rPr>
              <a:t>Download</a:t>
            </a:r>
          </a:p>
          <a:p>
            <a:pPr algn="l">
              <a:spcAft>
                <a:spcPts val="200"/>
              </a:spcAft>
            </a:pPr>
            <a:r>
              <a:rPr sz="1150" b="0">
                <a:solidFill>
                  <a:srgbClr val="5B6372"/>
                </a:solidFill>
                <a:latin typeface="Arial"/>
              </a:rPr>
              <a:t>Download the Trainer Slides, Learner Guide and Lesson Plan for the open-book assessment.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xmlns:p14="http://schemas.microsoft.com/office/powerpoint/2010/main" p14:dur="380">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CRITERIA FOR FUNDING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Funding &amp; Eligibility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Minimum 75% attendance on the SSG Digital Attendance record.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the assessment and be assessed as ‘Competent’.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Open book</a:t>
            </a:r>
          </a:p>
          <a:p>
            <a:pPr algn="l">
              <a:spcAft>
                <a:spcPts val="300"/>
              </a:spcAft>
            </a:pPr>
            <a:r>
              <a:rPr sz="1300" b="0">
                <a:solidFill>
                  <a:srgbClr val="5B6372"/>
                </a:solidFill>
                <a:latin typeface="Arial"/>
              </a:rPr>
              <a:t>The slides and Learner Guide may be used during the assessment.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Course portal</a:t>
            </a:r>
          </a:p>
          <a:p>
            <a:pPr algn="l">
              <a:spcAft>
                <a:spcPts val="300"/>
              </a:spcAft>
            </a:pPr>
            <a:r>
              <a:rPr sz="1300" b="0">
                <a:solidFill>
                  <a:srgbClr val="5B6372"/>
                </a:solidFill>
                <a:latin typeface="Arial"/>
              </a:rPr>
              <a:t>All materials, attendance and assessment are on 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xmlns:p14="http://schemas.microsoft.com/office/powerpoint/2010/main" p14:dur="380">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 · 40 HOURS (37 INSTRUCTIONAL + 3 ASSESSMENT)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Lesson Plan — 5 Days · 5 Hands-On Labs per Day (25 Labs)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Day 1</a:t>
            </a:r>
          </a:p>
          <a:p>
            <a:pPr algn="l">
              <a:spcAft>
                <a:spcPts val="300"/>
              </a:spcAft>
            </a:pPr>
            <a:r>
              <a:rPr sz="1200" b="0">
                <a:solidFill>
                  <a:srgbClr val="5B6372"/>
                </a:solidFill>
                <a:latin typeface="Arial"/>
              </a:rPr>
              <a:t>Foundations &amp; SDLC Automation (Labs 1–5)</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Day 2</a:t>
            </a:r>
          </a:p>
          <a:p>
            <a:pPr algn="l">
              <a:spcAft>
                <a:spcPts val="300"/>
              </a:spcAft>
            </a:pPr>
            <a:r>
              <a:rPr sz="1200" b="0">
                <a:solidFill>
                  <a:srgbClr val="5B6372"/>
                </a:solidFill>
                <a:latin typeface="Arial"/>
              </a:rPr>
              <a:t>Configuration Management &amp; IaC (Labs 6–10)</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Day 3</a:t>
            </a:r>
          </a:p>
          <a:p>
            <a:pPr algn="l">
              <a:spcAft>
                <a:spcPts val="300"/>
              </a:spcAft>
            </a:pPr>
            <a:r>
              <a:rPr sz="1200" b="0">
                <a:solidFill>
                  <a:srgbClr val="5B6372"/>
                </a:solidFill>
                <a:latin typeface="Arial"/>
              </a:rPr>
              <a:t>Resilient Cloud Solutions (Labs 11–15)</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Day 4</a:t>
            </a:r>
          </a:p>
          <a:p>
            <a:pPr algn="l">
              <a:spcAft>
                <a:spcPts val="300"/>
              </a:spcAft>
            </a:pPr>
            <a:r>
              <a:rPr sz="1200" b="0">
                <a:solidFill>
                  <a:srgbClr val="5B6372"/>
                </a:solidFill>
                <a:latin typeface="Arial"/>
              </a:rPr>
              <a:t>Monitoring, Logging &amp; Incident Response (Labs 16–20)</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Day 5</a:t>
            </a:r>
          </a:p>
          <a:p>
            <a:pPr algn="l">
              <a:spcAft>
                <a:spcPts val="300"/>
              </a:spcAft>
            </a:pPr>
            <a:r>
              <a:rPr sz="1200" b="0">
                <a:solidFill>
                  <a:srgbClr val="5B6372"/>
                </a:solidFill>
                <a:latin typeface="Arial"/>
              </a:rPr>
              <a:t>Security, Compliance &amp; Capstone (Labs 21–25) + Final Assessment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Daily timing</a:t>
            </a:r>
          </a:p>
          <a:p>
            <a:pPr algn="l">
              <a:spcAft>
                <a:spcPts val="300"/>
              </a:spcAft>
            </a:pPr>
            <a:r>
              <a:rPr sz="1200" b="0">
                <a:solidFill>
                  <a:srgbClr val="5B6372"/>
                </a:solidFill>
                <a:latin typeface="Arial"/>
              </a:rPr>
              <a:t>9:30 am – 6:00 pm · 30-minute lunch · tea breaks within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xmlns:p14="http://schemas.microsoft.com/office/powerpoint/2010/main" p14:dur="380">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LO1</a:t>
            </a:r>
          </a:p>
          <a:p>
            <a:pPr algn="l">
              <a:spcAft>
                <a:spcPts val="300"/>
              </a:spcAft>
            </a:pPr>
            <a:r>
              <a:rPr sz="1200" b="0">
                <a:solidFill>
                  <a:srgbClr val="5B6372"/>
                </a:solidFill>
                <a:latin typeface="Arial"/>
              </a:rPr>
              <a:t>Develop an AWS CI/CD pipeline proof of concept.</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LO2</a:t>
            </a:r>
          </a:p>
          <a:p>
            <a:pPr algn="l">
              <a:spcAft>
                <a:spcPts val="300"/>
              </a:spcAft>
            </a:pPr>
            <a:r>
              <a:rPr sz="1200" b="0">
                <a:solidFill>
                  <a:srgbClr val="5B6372"/>
                </a:solidFill>
                <a:latin typeface="Arial"/>
              </a:rPr>
              <a:t>Identify the technical and practical requirements in an AWS cloud infrastructure setup.</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LO3</a:t>
            </a:r>
          </a:p>
          <a:p>
            <a:pPr algn="l">
              <a:spcAft>
                <a:spcPts val="300"/>
              </a:spcAft>
            </a:pPr>
            <a:r>
              <a:rPr sz="1200" b="0">
                <a:solidFill>
                  <a:srgbClr val="5B6372"/>
                </a:solidFill>
                <a:latin typeface="Arial"/>
              </a:rPr>
              <a:t>Develop a resilient cloud solution based on AWS cloud components.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LO4</a:t>
            </a:r>
          </a:p>
          <a:p>
            <a:pPr algn="l">
              <a:spcAft>
                <a:spcPts val="300"/>
              </a:spcAft>
            </a:pPr>
            <a:r>
              <a:rPr sz="1200" b="0">
                <a:solidFill>
                  <a:srgbClr val="5B6372"/>
                </a:solidFill>
                <a:latin typeface="Arial"/>
              </a:rPr>
              <a:t>Implement regular AWS monitoring and perform necessary troubleshooting.</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LO5</a:t>
            </a:r>
          </a:p>
          <a:p>
            <a:pPr algn="l">
              <a:spcAft>
                <a:spcPts val="300"/>
              </a:spcAft>
            </a:pPr>
            <a:r>
              <a:rPr sz="1200" b="0">
                <a:solidFill>
                  <a:srgbClr val="5B6372"/>
                </a:solidFill>
                <a:latin typeface="Arial"/>
              </a:rPr>
              <a:t>Demonstrate solutions to incidents and business problems on the AWS cloud.</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LO6</a:t>
            </a:r>
          </a:p>
          <a:p>
            <a:pPr algn="l">
              <a:spcAft>
                <a:spcPts val="300"/>
              </a:spcAft>
            </a:pPr>
            <a:r>
              <a:rPr sz="1200" b="0">
                <a:solidFill>
                  <a:srgbClr val="5B6372"/>
                </a:solidFill>
                <a:latin typeface="Arial"/>
              </a:rPr>
              <a:t>Prepare a technical blueprint to address security and compliance.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xmlns:p14="http://schemas.microsoft.com/office/powerpoint/2010/main" p14:dur="380">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TSC MAPPING · K1–K7 · A1–A6 · LO1–LO6</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Skills Framework Alignment (ICT-DES-4006-1.1)</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466478"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4283598" cy="502920"/>
          </a:xfrm>
          <a:prstGeom prst="rect">
            <a:avLst/>
          </a:prstGeom>
          <a:noFill/>
        </p:spPr>
        <p:txBody>
          <a:bodyPr wrap="square" anchor="ctr">
            <a:spAutoFit/>
          </a:bodyPr>
          <a:lstStyle/>
          <a:p>
            <a:pPr algn="l">
              <a:spcAft>
                <a:spcPts val="400"/>
              </a:spcAft>
            </a:pPr>
            <a:r>
              <a:rPr sz="1400" b="1">
                <a:solidFill>
                  <a:srgbClr val="FFFFFF"/>
                </a:solidFill>
                <a:latin typeface="Arial"/>
              </a:rPr>
              <a:t>Domain</a:t>
            </a:r>
          </a:p>
        </p:txBody>
      </p:sp>
      <p:sp>
        <p:nvSpPr>
          <p:cNvPr id="9" name="Rectangle 8"/>
          <p:cNvSpPr/>
          <p:nvPr/>
        </p:nvSpPr>
        <p:spPr>
          <a:xfrm>
            <a:off x="5243718" y="1783080"/>
            <a:ext cx="1701515"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53446" y="1783080"/>
            <a:ext cx="1518635" cy="502920"/>
          </a:xfrm>
          <a:prstGeom prst="rect">
            <a:avLst/>
          </a:prstGeom>
          <a:noFill/>
        </p:spPr>
        <p:txBody>
          <a:bodyPr wrap="square" anchor="ctr">
            <a:spAutoFit/>
          </a:bodyPr>
          <a:lstStyle/>
          <a:p>
            <a:pPr algn="ctr">
              <a:spcAft>
                <a:spcPts val="400"/>
              </a:spcAft>
            </a:pPr>
            <a:r>
              <a:rPr sz="1400" b="1">
                <a:solidFill>
                  <a:srgbClr val="FFFFFF"/>
                </a:solidFill>
                <a:latin typeface="Arial"/>
              </a:rPr>
              <a:t>Learning Outcome</a:t>
            </a:r>
          </a:p>
        </p:txBody>
      </p:sp>
      <p:sp>
        <p:nvSpPr>
          <p:cNvPr id="11" name="Rectangle 10"/>
          <p:cNvSpPr/>
          <p:nvPr/>
        </p:nvSpPr>
        <p:spPr>
          <a:xfrm>
            <a:off x="6945233" y="1783080"/>
            <a:ext cx="223323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54961" y="1783080"/>
            <a:ext cx="2050359" cy="502920"/>
          </a:xfrm>
          <a:prstGeom prst="rect">
            <a:avLst/>
          </a:prstGeom>
          <a:noFill/>
        </p:spPr>
        <p:txBody>
          <a:bodyPr wrap="square" anchor="ctr">
            <a:spAutoFit/>
          </a:bodyPr>
          <a:lstStyle/>
          <a:p>
            <a:pPr algn="ctr">
              <a:spcAft>
                <a:spcPts val="400"/>
              </a:spcAft>
            </a:pPr>
            <a:r>
              <a:rPr sz="1400" b="1">
                <a:solidFill>
                  <a:srgbClr val="FFFFFF"/>
                </a:solidFill>
                <a:latin typeface="Arial"/>
              </a:rPr>
              <a:t>Knowledge</a:t>
            </a:r>
          </a:p>
        </p:txBody>
      </p:sp>
      <p:sp>
        <p:nvSpPr>
          <p:cNvPr id="13" name="Rectangle 12"/>
          <p:cNvSpPr/>
          <p:nvPr/>
        </p:nvSpPr>
        <p:spPr>
          <a:xfrm>
            <a:off x="9178472" y="1783080"/>
            <a:ext cx="223323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8200" y="1783080"/>
            <a:ext cx="2050359" cy="502920"/>
          </a:xfrm>
          <a:prstGeom prst="rect">
            <a:avLst/>
          </a:prstGeom>
          <a:noFill/>
        </p:spPr>
        <p:txBody>
          <a:bodyPr wrap="square" anchor="ctr">
            <a:spAutoFit/>
          </a:bodyPr>
          <a:lstStyle/>
          <a:p>
            <a:pPr algn="ctr">
              <a:spcAft>
                <a:spcPts val="400"/>
              </a:spcAft>
            </a:pPr>
            <a:r>
              <a:rPr sz="1400" b="1">
                <a:solidFill>
                  <a:srgbClr val="FFFFFF"/>
                </a:solidFill>
                <a:latin typeface="Arial"/>
              </a:rPr>
              <a:t>Ability</a:t>
            </a:r>
          </a:p>
        </p:txBody>
      </p:sp>
      <p:sp>
        <p:nvSpPr>
          <p:cNvPr id="15" name="Rectangle 14"/>
          <p:cNvSpPr/>
          <p:nvPr/>
        </p:nvSpPr>
        <p:spPr>
          <a:xfrm>
            <a:off x="777240" y="2286000"/>
            <a:ext cx="4466478"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86000"/>
            <a:ext cx="4283598" cy="685800"/>
          </a:xfrm>
          <a:prstGeom prst="rect">
            <a:avLst/>
          </a:prstGeom>
          <a:noFill/>
        </p:spPr>
        <p:txBody>
          <a:bodyPr wrap="square" anchor="ctr">
            <a:spAutoFit/>
          </a:bodyPr>
          <a:lstStyle/>
          <a:p>
            <a:pPr algn="l">
              <a:spcAft>
                <a:spcPts val="400"/>
              </a:spcAft>
            </a:pPr>
            <a:r>
              <a:rPr sz="1250" b="1">
                <a:solidFill>
                  <a:srgbClr val="161B26"/>
                </a:solidFill>
                <a:latin typeface="Arial"/>
              </a:rPr>
              <a:t>01 SDLC Automation</a:t>
            </a:r>
          </a:p>
        </p:txBody>
      </p:sp>
      <p:sp>
        <p:nvSpPr>
          <p:cNvPr id="17" name="Rectangle 16"/>
          <p:cNvSpPr/>
          <p:nvPr/>
        </p:nvSpPr>
        <p:spPr>
          <a:xfrm>
            <a:off x="5243718" y="2286000"/>
            <a:ext cx="1701515"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53446" y="2286000"/>
            <a:ext cx="1518635" cy="685800"/>
          </a:xfrm>
          <a:prstGeom prst="rect">
            <a:avLst/>
          </a:prstGeom>
          <a:noFill/>
        </p:spPr>
        <p:txBody>
          <a:bodyPr wrap="square" anchor="ctr">
            <a:spAutoFit/>
          </a:bodyPr>
          <a:lstStyle/>
          <a:p>
            <a:pPr algn="ctr">
              <a:spcAft>
                <a:spcPts val="400"/>
              </a:spcAft>
            </a:pPr>
            <a:r>
              <a:rPr sz="1250" b="0">
                <a:solidFill>
                  <a:srgbClr val="5B6372"/>
                </a:solidFill>
                <a:latin typeface="Arial"/>
              </a:rPr>
              <a:t>LO1</a:t>
            </a:r>
          </a:p>
        </p:txBody>
      </p:sp>
      <p:sp>
        <p:nvSpPr>
          <p:cNvPr id="19" name="Rectangle 18"/>
          <p:cNvSpPr/>
          <p:nvPr/>
        </p:nvSpPr>
        <p:spPr>
          <a:xfrm>
            <a:off x="6945233" y="2286000"/>
            <a:ext cx="2233239"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54961" y="22860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K1</a:t>
            </a:r>
          </a:p>
        </p:txBody>
      </p:sp>
      <p:sp>
        <p:nvSpPr>
          <p:cNvPr id="21" name="Rectangle 20"/>
          <p:cNvSpPr/>
          <p:nvPr/>
        </p:nvSpPr>
        <p:spPr>
          <a:xfrm>
            <a:off x="9178472" y="2286000"/>
            <a:ext cx="2233239"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8200" y="22860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A1</a:t>
            </a:r>
          </a:p>
        </p:txBody>
      </p:sp>
      <p:sp>
        <p:nvSpPr>
          <p:cNvPr id="23" name="Rectangle 22"/>
          <p:cNvSpPr/>
          <p:nvPr/>
        </p:nvSpPr>
        <p:spPr>
          <a:xfrm>
            <a:off x="777240" y="2971800"/>
            <a:ext cx="4466478"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2971800"/>
            <a:ext cx="4283598" cy="685800"/>
          </a:xfrm>
          <a:prstGeom prst="rect">
            <a:avLst/>
          </a:prstGeom>
          <a:noFill/>
        </p:spPr>
        <p:txBody>
          <a:bodyPr wrap="square" anchor="ctr">
            <a:spAutoFit/>
          </a:bodyPr>
          <a:lstStyle/>
          <a:p>
            <a:pPr algn="l">
              <a:spcAft>
                <a:spcPts val="400"/>
              </a:spcAft>
            </a:pPr>
            <a:r>
              <a:rPr sz="1250" b="1">
                <a:solidFill>
                  <a:srgbClr val="161B26"/>
                </a:solidFill>
                <a:latin typeface="Arial"/>
              </a:rPr>
              <a:t>02 Configuration Management and IaC</a:t>
            </a:r>
          </a:p>
        </p:txBody>
      </p:sp>
      <p:sp>
        <p:nvSpPr>
          <p:cNvPr id="25" name="Rectangle 24"/>
          <p:cNvSpPr/>
          <p:nvPr/>
        </p:nvSpPr>
        <p:spPr>
          <a:xfrm>
            <a:off x="5243718" y="2971800"/>
            <a:ext cx="1701515"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53446" y="2971800"/>
            <a:ext cx="1518635" cy="685800"/>
          </a:xfrm>
          <a:prstGeom prst="rect">
            <a:avLst/>
          </a:prstGeom>
          <a:noFill/>
        </p:spPr>
        <p:txBody>
          <a:bodyPr wrap="square" anchor="ctr">
            <a:spAutoFit/>
          </a:bodyPr>
          <a:lstStyle/>
          <a:p>
            <a:pPr algn="ctr">
              <a:spcAft>
                <a:spcPts val="400"/>
              </a:spcAft>
            </a:pPr>
            <a:r>
              <a:rPr sz="1250" b="0">
                <a:solidFill>
                  <a:srgbClr val="5B6372"/>
                </a:solidFill>
                <a:latin typeface="Arial"/>
              </a:rPr>
              <a:t>LO2</a:t>
            </a:r>
          </a:p>
        </p:txBody>
      </p:sp>
      <p:sp>
        <p:nvSpPr>
          <p:cNvPr id="27" name="Rectangle 26"/>
          <p:cNvSpPr/>
          <p:nvPr/>
        </p:nvSpPr>
        <p:spPr>
          <a:xfrm>
            <a:off x="6945233" y="2971800"/>
            <a:ext cx="2233239"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54961" y="29718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K3</a:t>
            </a:r>
          </a:p>
        </p:txBody>
      </p:sp>
      <p:sp>
        <p:nvSpPr>
          <p:cNvPr id="29" name="Rectangle 28"/>
          <p:cNvSpPr/>
          <p:nvPr/>
        </p:nvSpPr>
        <p:spPr>
          <a:xfrm>
            <a:off x="9178472" y="2971800"/>
            <a:ext cx="2233239"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88200" y="29718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A3</a:t>
            </a:r>
          </a:p>
        </p:txBody>
      </p:sp>
      <p:sp>
        <p:nvSpPr>
          <p:cNvPr id="31" name="Rectangle 30"/>
          <p:cNvSpPr/>
          <p:nvPr/>
        </p:nvSpPr>
        <p:spPr>
          <a:xfrm>
            <a:off x="777240" y="3657600"/>
            <a:ext cx="4466478"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657600"/>
            <a:ext cx="4283598" cy="685800"/>
          </a:xfrm>
          <a:prstGeom prst="rect">
            <a:avLst/>
          </a:prstGeom>
          <a:noFill/>
        </p:spPr>
        <p:txBody>
          <a:bodyPr wrap="square" anchor="ctr">
            <a:spAutoFit/>
          </a:bodyPr>
          <a:lstStyle/>
          <a:p>
            <a:pPr algn="l">
              <a:spcAft>
                <a:spcPts val="400"/>
              </a:spcAft>
            </a:pPr>
            <a:r>
              <a:rPr sz="1250" b="1">
                <a:solidFill>
                  <a:srgbClr val="161B26"/>
                </a:solidFill>
                <a:latin typeface="Arial"/>
              </a:rPr>
              <a:t>03 Resilient Cloud Solutions</a:t>
            </a:r>
          </a:p>
        </p:txBody>
      </p:sp>
      <p:sp>
        <p:nvSpPr>
          <p:cNvPr id="33" name="Rectangle 32"/>
          <p:cNvSpPr/>
          <p:nvPr/>
        </p:nvSpPr>
        <p:spPr>
          <a:xfrm>
            <a:off x="5243718" y="3657600"/>
            <a:ext cx="1701515"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53446" y="3657600"/>
            <a:ext cx="1518635" cy="685800"/>
          </a:xfrm>
          <a:prstGeom prst="rect">
            <a:avLst/>
          </a:prstGeom>
          <a:noFill/>
        </p:spPr>
        <p:txBody>
          <a:bodyPr wrap="square" anchor="ctr">
            <a:spAutoFit/>
          </a:bodyPr>
          <a:lstStyle/>
          <a:p>
            <a:pPr algn="ctr">
              <a:spcAft>
                <a:spcPts val="400"/>
              </a:spcAft>
            </a:pPr>
            <a:r>
              <a:rPr sz="1250" b="0">
                <a:solidFill>
                  <a:srgbClr val="5B6372"/>
                </a:solidFill>
                <a:latin typeface="Arial"/>
              </a:rPr>
              <a:t>LO3</a:t>
            </a:r>
          </a:p>
        </p:txBody>
      </p:sp>
      <p:sp>
        <p:nvSpPr>
          <p:cNvPr id="35" name="Rectangle 34"/>
          <p:cNvSpPr/>
          <p:nvPr/>
        </p:nvSpPr>
        <p:spPr>
          <a:xfrm>
            <a:off x="6945233" y="3657600"/>
            <a:ext cx="2233239"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54961" y="36576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K2, K4</a:t>
            </a:r>
          </a:p>
        </p:txBody>
      </p:sp>
      <p:sp>
        <p:nvSpPr>
          <p:cNvPr id="37" name="Rectangle 36"/>
          <p:cNvSpPr/>
          <p:nvPr/>
        </p:nvSpPr>
        <p:spPr>
          <a:xfrm>
            <a:off x="9178472" y="3657600"/>
            <a:ext cx="2233239"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88200" y="36576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A2</a:t>
            </a:r>
          </a:p>
        </p:txBody>
      </p:sp>
      <p:sp>
        <p:nvSpPr>
          <p:cNvPr id="39" name="Rectangle 38"/>
          <p:cNvSpPr/>
          <p:nvPr/>
        </p:nvSpPr>
        <p:spPr>
          <a:xfrm>
            <a:off x="777240" y="4343400"/>
            <a:ext cx="4466478"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343400"/>
            <a:ext cx="4283598" cy="685800"/>
          </a:xfrm>
          <a:prstGeom prst="rect">
            <a:avLst/>
          </a:prstGeom>
          <a:noFill/>
        </p:spPr>
        <p:txBody>
          <a:bodyPr wrap="square" anchor="ctr">
            <a:spAutoFit/>
          </a:bodyPr>
          <a:lstStyle/>
          <a:p>
            <a:pPr algn="l">
              <a:spcAft>
                <a:spcPts val="400"/>
              </a:spcAft>
            </a:pPr>
            <a:r>
              <a:rPr sz="1250" b="1">
                <a:solidFill>
                  <a:srgbClr val="161B26"/>
                </a:solidFill>
                <a:latin typeface="Arial"/>
              </a:rPr>
              <a:t>04 Monitoring and Logging</a:t>
            </a:r>
          </a:p>
        </p:txBody>
      </p:sp>
      <p:sp>
        <p:nvSpPr>
          <p:cNvPr id="41" name="Rectangle 40"/>
          <p:cNvSpPr/>
          <p:nvPr/>
        </p:nvSpPr>
        <p:spPr>
          <a:xfrm>
            <a:off x="5243718" y="4343400"/>
            <a:ext cx="1701515"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53446" y="4343400"/>
            <a:ext cx="1518635" cy="685800"/>
          </a:xfrm>
          <a:prstGeom prst="rect">
            <a:avLst/>
          </a:prstGeom>
          <a:noFill/>
        </p:spPr>
        <p:txBody>
          <a:bodyPr wrap="square" anchor="ctr">
            <a:spAutoFit/>
          </a:bodyPr>
          <a:lstStyle/>
          <a:p>
            <a:pPr algn="ctr">
              <a:spcAft>
                <a:spcPts val="400"/>
              </a:spcAft>
            </a:pPr>
            <a:r>
              <a:rPr sz="1250" b="0">
                <a:solidFill>
                  <a:srgbClr val="5B6372"/>
                </a:solidFill>
                <a:latin typeface="Arial"/>
              </a:rPr>
              <a:t>LO4</a:t>
            </a:r>
          </a:p>
        </p:txBody>
      </p:sp>
      <p:sp>
        <p:nvSpPr>
          <p:cNvPr id="43" name="Rectangle 42"/>
          <p:cNvSpPr/>
          <p:nvPr/>
        </p:nvSpPr>
        <p:spPr>
          <a:xfrm>
            <a:off x="6945233" y="4343400"/>
            <a:ext cx="2233239"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54961" y="43434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K5</a:t>
            </a:r>
          </a:p>
        </p:txBody>
      </p:sp>
      <p:sp>
        <p:nvSpPr>
          <p:cNvPr id="45" name="Rectangle 44"/>
          <p:cNvSpPr/>
          <p:nvPr/>
        </p:nvSpPr>
        <p:spPr>
          <a:xfrm>
            <a:off x="9178472" y="4343400"/>
            <a:ext cx="2233239"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88200" y="43434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A6</a:t>
            </a:r>
          </a:p>
        </p:txBody>
      </p:sp>
      <p:sp>
        <p:nvSpPr>
          <p:cNvPr id="47" name="Rectangle 46"/>
          <p:cNvSpPr/>
          <p:nvPr/>
        </p:nvSpPr>
        <p:spPr>
          <a:xfrm>
            <a:off x="777240" y="5029200"/>
            <a:ext cx="4466478"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5029200"/>
            <a:ext cx="4283598" cy="685800"/>
          </a:xfrm>
          <a:prstGeom prst="rect">
            <a:avLst/>
          </a:prstGeom>
          <a:noFill/>
        </p:spPr>
        <p:txBody>
          <a:bodyPr wrap="square" anchor="ctr">
            <a:spAutoFit/>
          </a:bodyPr>
          <a:lstStyle/>
          <a:p>
            <a:pPr algn="l">
              <a:spcAft>
                <a:spcPts val="400"/>
              </a:spcAft>
            </a:pPr>
            <a:r>
              <a:rPr sz="1250" b="1">
                <a:solidFill>
                  <a:srgbClr val="161B26"/>
                </a:solidFill>
                <a:latin typeface="Arial"/>
              </a:rPr>
              <a:t>05 Incident and Event Response</a:t>
            </a:r>
          </a:p>
        </p:txBody>
      </p:sp>
      <p:sp>
        <p:nvSpPr>
          <p:cNvPr id="49" name="Rectangle 48"/>
          <p:cNvSpPr/>
          <p:nvPr/>
        </p:nvSpPr>
        <p:spPr>
          <a:xfrm>
            <a:off x="5243718" y="5029200"/>
            <a:ext cx="1701515"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53446" y="5029200"/>
            <a:ext cx="1518635" cy="685800"/>
          </a:xfrm>
          <a:prstGeom prst="rect">
            <a:avLst/>
          </a:prstGeom>
          <a:noFill/>
        </p:spPr>
        <p:txBody>
          <a:bodyPr wrap="square" anchor="ctr">
            <a:spAutoFit/>
          </a:bodyPr>
          <a:lstStyle/>
          <a:p>
            <a:pPr algn="ctr">
              <a:spcAft>
                <a:spcPts val="400"/>
              </a:spcAft>
            </a:pPr>
            <a:r>
              <a:rPr sz="1250" b="0">
                <a:solidFill>
                  <a:srgbClr val="5B6372"/>
                </a:solidFill>
                <a:latin typeface="Arial"/>
              </a:rPr>
              <a:t>LO5</a:t>
            </a:r>
          </a:p>
        </p:txBody>
      </p:sp>
      <p:sp>
        <p:nvSpPr>
          <p:cNvPr id="51" name="Rectangle 50"/>
          <p:cNvSpPr/>
          <p:nvPr/>
        </p:nvSpPr>
        <p:spPr>
          <a:xfrm>
            <a:off x="6945233" y="5029200"/>
            <a:ext cx="2233239"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054961" y="50292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K7</a:t>
            </a:r>
          </a:p>
        </p:txBody>
      </p:sp>
      <p:sp>
        <p:nvSpPr>
          <p:cNvPr id="53" name="Rectangle 52"/>
          <p:cNvSpPr/>
          <p:nvPr/>
        </p:nvSpPr>
        <p:spPr>
          <a:xfrm>
            <a:off x="9178472" y="5029200"/>
            <a:ext cx="2233239"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88200" y="50292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A5</a:t>
            </a:r>
          </a:p>
        </p:txBody>
      </p:sp>
      <p:sp>
        <p:nvSpPr>
          <p:cNvPr id="55" name="Rectangle 54"/>
          <p:cNvSpPr/>
          <p:nvPr/>
        </p:nvSpPr>
        <p:spPr>
          <a:xfrm>
            <a:off x="777240" y="5715000"/>
            <a:ext cx="4466478"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715000"/>
            <a:ext cx="4283598" cy="685800"/>
          </a:xfrm>
          <a:prstGeom prst="rect">
            <a:avLst/>
          </a:prstGeom>
          <a:noFill/>
        </p:spPr>
        <p:txBody>
          <a:bodyPr wrap="square" anchor="ctr">
            <a:spAutoFit/>
          </a:bodyPr>
          <a:lstStyle/>
          <a:p>
            <a:pPr algn="l">
              <a:spcAft>
                <a:spcPts val="400"/>
              </a:spcAft>
            </a:pPr>
            <a:r>
              <a:rPr sz="1250" b="1">
                <a:solidFill>
                  <a:srgbClr val="161B26"/>
                </a:solidFill>
                <a:latin typeface="Arial"/>
              </a:rPr>
              <a:t>06 Security and Compliance</a:t>
            </a:r>
          </a:p>
        </p:txBody>
      </p:sp>
      <p:sp>
        <p:nvSpPr>
          <p:cNvPr id="57" name="Rectangle 56"/>
          <p:cNvSpPr/>
          <p:nvPr/>
        </p:nvSpPr>
        <p:spPr>
          <a:xfrm>
            <a:off x="5243718" y="5715000"/>
            <a:ext cx="1701515"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53446" y="5715000"/>
            <a:ext cx="1518635" cy="685800"/>
          </a:xfrm>
          <a:prstGeom prst="rect">
            <a:avLst/>
          </a:prstGeom>
          <a:noFill/>
        </p:spPr>
        <p:txBody>
          <a:bodyPr wrap="square" anchor="ctr">
            <a:spAutoFit/>
          </a:bodyPr>
          <a:lstStyle/>
          <a:p>
            <a:pPr algn="ctr">
              <a:spcAft>
                <a:spcPts val="400"/>
              </a:spcAft>
            </a:pPr>
            <a:r>
              <a:rPr sz="1250" b="0">
                <a:solidFill>
                  <a:srgbClr val="5B6372"/>
                </a:solidFill>
                <a:latin typeface="Arial"/>
              </a:rPr>
              <a:t>LO6</a:t>
            </a:r>
          </a:p>
        </p:txBody>
      </p:sp>
      <p:sp>
        <p:nvSpPr>
          <p:cNvPr id="59" name="Rectangle 58"/>
          <p:cNvSpPr/>
          <p:nvPr/>
        </p:nvSpPr>
        <p:spPr>
          <a:xfrm>
            <a:off x="6945233" y="5715000"/>
            <a:ext cx="2233239"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054961" y="57150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K6</a:t>
            </a:r>
          </a:p>
        </p:txBody>
      </p:sp>
      <p:sp>
        <p:nvSpPr>
          <p:cNvPr id="61" name="Rectangle 60"/>
          <p:cNvSpPr/>
          <p:nvPr/>
        </p:nvSpPr>
        <p:spPr>
          <a:xfrm>
            <a:off x="9178472" y="5715000"/>
            <a:ext cx="2233239"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88200" y="57150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A4</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xmlns:p14="http://schemas.microsoft.com/office/powerpoint/2010/main" p14:dur="380">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THE ASSESSMENT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Place phones and other materials under the table or on the floor unless the assessment is open book.</a:t>
            </a:r>
          </a:p>
          <a:p>
            <a:pPr>
              <a:spcAft>
                <a:spcPts val="1000"/>
              </a:spcAft>
            </a:pPr>
            <a:r>
              <a:rPr sz="2000" b="0">
                <a:solidFill>
                  <a:srgbClr val="161B26"/>
                </a:solidFill>
                <a:latin typeface="Arial"/>
              </a:rPr>
              <a:t>•  No photos or recording of assessment scripts.</a:t>
            </a:r>
          </a:p>
          <a:p>
            <a:pPr>
              <a:spcAft>
                <a:spcPts val="1000"/>
              </a:spcAft>
            </a:pPr>
            <a:r>
              <a:rPr sz="2000" b="0">
                <a:solidFill>
                  <a:srgbClr val="161B26"/>
                </a:solidFill>
                <a:latin typeface="Arial"/>
              </a:rPr>
              <a:t>•  No discussion during the assessment.</a:t>
            </a:r>
          </a:p>
          <a:p>
            <a:pPr>
              <a:spcAft>
                <a:spcPts val="1000"/>
              </a:spcAft>
            </a:pPr>
            <a:r>
              <a:rPr sz="2000" b="0">
                <a:solidFill>
                  <a:srgbClr val="161B26"/>
                </a:solidFill>
                <a:latin typeface="Arial"/>
              </a:rPr>
              <a:t>•  Use a black/blue pen for hard-copy assessments.</a:t>
            </a:r>
          </a:p>
          <a:p>
            <a:pPr>
              <a:spcAft>
                <a:spcPts val="1000"/>
              </a:spcAft>
            </a:pPr>
            <a:r>
              <a:rPr sz="2000" b="0">
                <a:solidFill>
                  <a:srgbClr val="161B26"/>
                </a:solidFill>
                <a:latin typeface="Arial"/>
              </a:rPr>
              <a:t>•  No liquid paper / correction tape.</a:t>
            </a:r>
          </a:p>
          <a:p>
            <a:pPr>
              <a:spcAft>
                <a:spcPts val="1000"/>
              </a:spcAft>
            </a:pPr>
            <a:r>
              <a:rPr sz="2000" b="0">
                <a:solidFill>
                  <a:srgbClr val="161B26"/>
                </a:solidFill>
                <a:latin typeface="Arial"/>
              </a:rPr>
              <a:t>•  Scripts are collected when time is 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xmlns:p14="http://schemas.microsoft.com/office/powerpoint/2010/main" p14:dur="380">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(WA) — Short-Answer Questions (SAQ), 1 hour, open book.</a:t>
            </a:r>
          </a:p>
          <a:p>
            <a:pPr>
              <a:spcAft>
                <a:spcPts val="1000"/>
              </a:spcAft>
            </a:pPr>
            <a:r>
              <a:rPr sz="2000" b="0">
                <a:solidFill>
                  <a:srgbClr val="161B26"/>
                </a:solidFill>
                <a:latin typeface="Arial"/>
              </a:rPr>
              <a:t>•  Practical Performance (PP) — hands-on AWS DevOps tasks, 2 hours, open book.</a:t>
            </a:r>
          </a:p>
          <a:p>
            <a:pPr>
              <a:spcAft>
                <a:spcPts val="1000"/>
              </a:spcAft>
            </a:pPr>
            <a:r>
              <a:rPr sz="2000" b="0">
                <a:solidFill>
                  <a:srgbClr val="161B26"/>
                </a:solidFill>
                <a:latin typeface="Arial"/>
              </a:rPr>
              <a:t>•  Format: Open Book — course slides, Learner Guide and approved materials only.</a:t>
            </a:r>
          </a:p>
          <a:p>
            <a:pPr>
              <a:spcAft>
                <a:spcPts val="1000"/>
              </a:spcAft>
            </a:pPr>
            <a:r>
              <a:rPr sz="2000" b="0">
                <a:solidFill>
                  <a:srgbClr val="161B26"/>
                </a:solidFill>
                <a:latin typeface="Arial"/>
              </a:rPr>
              <a:t>•  Conducted on Day 5 after the training content (3 assessment hours in total — WA 1 hour + PP 2 hours).</a:t>
            </a:r>
          </a:p>
          <a:p>
            <a:pPr>
              <a:spcAft>
                <a:spcPts val="1000"/>
              </a:spcAft>
            </a:pPr>
            <a:r>
              <a:rPr sz="2000" b="0">
                <a:solidFill>
                  <a:srgbClr val="161B26"/>
                </a:solidFill>
                <a:latin typeface="Arial"/>
              </a:rPr>
              <a:t>•  A minimum of 75% attendance is required to be eligible for assessment and funding.</a:t>
            </a:r>
          </a:p>
          <a:p>
            <a:pPr>
              <a:spcAft>
                <a:spcPts val="1000"/>
              </a:spcAft>
            </a:pPr>
            <a:r>
              <a:rPr sz="2000" b="0">
                <a:solidFill>
                  <a:srgbClr val="161B26"/>
                </a:solidFill>
                <a:latin typeface="Arial"/>
              </a:rPr>
              <a:t>•  An appeal process is available if required.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xmlns:p14="http://schemas.microsoft.com/office/powerpoint/2010/main" p14:dur="380">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xmlns:p14="http://schemas.microsoft.com/office/powerpoint/2010/main" p14:dur="380">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DevOps Engineering on AWS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xmlns:p14="http://schemas.microsoft.com/office/powerpoint/2010/main" p14:dur="380">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MINDSET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What is DevOps?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Culture + practice</a:t>
            </a:r>
          </a:p>
          <a:p>
            <a:pPr algn="l">
              <a:spcAft>
                <a:spcPts val="300"/>
              </a:spcAft>
            </a:pPr>
            <a:r>
              <a:rPr sz="1300" b="0">
                <a:solidFill>
                  <a:srgbClr val="5B6372"/>
                </a:solidFill>
                <a:latin typeface="Arial"/>
              </a:rPr>
              <a:t>DevOps unites development and operations to deliver value faster and more reliably.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Automate everything</a:t>
            </a:r>
          </a:p>
          <a:p>
            <a:pPr algn="l">
              <a:spcAft>
                <a:spcPts val="300"/>
              </a:spcAft>
            </a:pPr>
            <a:r>
              <a:rPr sz="1300" b="0">
                <a:solidFill>
                  <a:srgbClr val="5B6372"/>
                </a:solidFill>
                <a:latin typeface="Arial"/>
              </a:rPr>
              <a:t>Build, test, deploy and infrastructure become code — repeatable and reviewable.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Fast, safe feedback</a:t>
            </a:r>
          </a:p>
          <a:p>
            <a:pPr algn="l">
              <a:spcAft>
                <a:spcPts val="300"/>
              </a:spcAft>
            </a:pPr>
            <a:r>
              <a:rPr sz="1300" b="0">
                <a:solidFill>
                  <a:srgbClr val="5B6372"/>
                </a:solidFill>
                <a:latin typeface="Arial"/>
              </a:rPr>
              <a:t>Small, frequent changes with monitoring make failures cheap and recoverable.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Shared ownership</a:t>
            </a:r>
          </a:p>
          <a:p>
            <a:pPr algn="l">
              <a:spcAft>
                <a:spcPts val="300"/>
              </a:spcAft>
            </a:pPr>
            <a:r>
              <a:rPr sz="1300" b="0">
                <a:solidFill>
                  <a:srgbClr val="5B6372"/>
                </a:solidFill>
                <a:latin typeface="Arial"/>
              </a:rPr>
              <a:t>Teams own their service end to end — you build it, you run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xmlns:p14="http://schemas.microsoft.com/office/powerpoint/2010/main" p14:dur="380">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CULTURE FRAMEWORK</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CALMS Model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700" b="1">
                <a:solidFill>
                  <a:srgbClr val="161B26"/>
                </a:solidFill>
                <a:latin typeface="Arial"/>
              </a:rPr>
              <a:t>Culture</a:t>
            </a:r>
          </a:p>
          <a:p>
            <a:pPr algn="l">
              <a:spcAft>
                <a:spcPts val="300"/>
              </a:spcAft>
            </a:pPr>
            <a:r>
              <a:rPr sz="1300" b="0">
                <a:solidFill>
                  <a:srgbClr val="5B6372"/>
                </a:solidFill>
                <a:latin typeface="Arial"/>
              </a:rPr>
              <a:t>Collaboration and shared responsibility across dev and ops.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700" b="1">
                <a:solidFill>
                  <a:srgbClr val="161B26"/>
                </a:solidFill>
                <a:latin typeface="Arial"/>
              </a:rPr>
              <a:t>Automation</a:t>
            </a:r>
          </a:p>
          <a:p>
            <a:pPr algn="l">
              <a:spcAft>
                <a:spcPts val="300"/>
              </a:spcAft>
            </a:pPr>
            <a:r>
              <a:rPr sz="1300" b="0">
                <a:solidFill>
                  <a:srgbClr val="5B6372"/>
                </a:solidFill>
                <a:latin typeface="Arial"/>
              </a:rPr>
              <a:t>Remove manual, error-prone steps from the delivery pipeline.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700" b="1">
                <a:solidFill>
                  <a:srgbClr val="161B26"/>
                </a:solidFill>
                <a:latin typeface="Arial"/>
              </a:rPr>
              <a:t>Lean</a:t>
            </a:r>
          </a:p>
          <a:p>
            <a:pPr algn="l">
              <a:spcAft>
                <a:spcPts val="300"/>
              </a:spcAft>
            </a:pPr>
            <a:r>
              <a:rPr sz="1300" b="0">
                <a:solidFill>
                  <a:srgbClr val="5B6372"/>
                </a:solidFill>
                <a:latin typeface="Arial"/>
              </a:rPr>
              <a:t>Small batches, fast flow, eliminate waste.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700" b="1">
                <a:solidFill>
                  <a:srgbClr val="161B26"/>
                </a:solidFill>
                <a:latin typeface="Arial"/>
              </a:rPr>
              <a:t>Measurement</a:t>
            </a:r>
          </a:p>
          <a:p>
            <a:pPr algn="l">
              <a:spcAft>
                <a:spcPts val="300"/>
              </a:spcAft>
            </a:pPr>
            <a:r>
              <a:rPr sz="1300" b="0">
                <a:solidFill>
                  <a:srgbClr val="5B6372"/>
                </a:solidFill>
                <a:latin typeface="Arial"/>
              </a:rPr>
              <a:t>Metrics and feedback drive continuous improvement.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700" b="1">
                <a:solidFill>
                  <a:srgbClr val="161B26"/>
                </a:solidFill>
                <a:latin typeface="Arial"/>
              </a:rPr>
              <a:t>Sharing</a:t>
            </a:r>
          </a:p>
          <a:p>
            <a:pPr algn="l">
              <a:spcAft>
                <a:spcPts val="300"/>
              </a:spcAft>
            </a:pPr>
            <a:r>
              <a:rPr sz="1300" b="0">
                <a:solidFill>
                  <a:srgbClr val="5B6372"/>
                </a:solidFill>
                <a:latin typeface="Arial"/>
              </a:rPr>
              <a:t>Transparency, blameless learning and reusable patterns.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xmlns:p14="http://schemas.microsoft.com/office/powerpoint/2010/main" p14:dur="380">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 CONTINUOUS LOOP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DevOps Lifecycle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25272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870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870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960120" cy="1325880"/>
          </a:xfrm>
          <a:prstGeom prst="rect">
            <a:avLst/>
          </a:prstGeom>
          <a:noFill/>
        </p:spPr>
        <p:txBody>
          <a:bodyPr wrap="square" anchor="t">
            <a:spAutoFit/>
          </a:bodyPr>
          <a:lstStyle/>
          <a:p>
            <a:pPr algn="ctr">
              <a:spcAft>
                <a:spcPts val="400"/>
              </a:spcAft>
            </a:pPr>
            <a:r>
              <a:rPr sz="1300" b="0">
                <a:solidFill>
                  <a:srgbClr val="161B26"/>
                </a:solidFill>
                <a:latin typeface="Arial"/>
              </a:rPr>
              <a:t>Plan
backlog, design</a:t>
            </a:r>
          </a:p>
        </p:txBody>
      </p:sp>
      <p:sp>
        <p:nvSpPr>
          <p:cNvPr id="12" name="TextBox 11"/>
          <p:cNvSpPr txBox="1"/>
          <p:nvPr/>
        </p:nvSpPr>
        <p:spPr>
          <a:xfrm>
            <a:off x="199339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340864"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40864" y="2331720"/>
            <a:ext cx="125272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5923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23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487168" y="3749040"/>
            <a:ext cx="960120" cy="1325880"/>
          </a:xfrm>
          <a:prstGeom prst="rect">
            <a:avLst/>
          </a:prstGeom>
          <a:noFill/>
        </p:spPr>
        <p:txBody>
          <a:bodyPr wrap="square" anchor="t">
            <a:spAutoFit/>
          </a:bodyPr>
          <a:lstStyle/>
          <a:p>
            <a:pPr algn="ctr">
              <a:spcAft>
                <a:spcPts val="400"/>
              </a:spcAft>
            </a:pPr>
            <a:r>
              <a:rPr sz="1300" b="0">
                <a:solidFill>
                  <a:srgbClr val="161B26"/>
                </a:solidFill>
                <a:latin typeface="Arial"/>
              </a:rPr>
              <a:t>Code
version control</a:t>
            </a:r>
          </a:p>
        </p:txBody>
      </p:sp>
      <p:sp>
        <p:nvSpPr>
          <p:cNvPr id="18" name="TextBox 17"/>
          <p:cNvSpPr txBox="1"/>
          <p:nvPr/>
        </p:nvSpPr>
        <p:spPr>
          <a:xfrm>
            <a:off x="355701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3904488"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04488" y="2331720"/>
            <a:ext cx="125272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15594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5594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050792" y="3749040"/>
            <a:ext cx="960120" cy="1325880"/>
          </a:xfrm>
          <a:prstGeom prst="rect">
            <a:avLst/>
          </a:prstGeom>
          <a:noFill/>
        </p:spPr>
        <p:txBody>
          <a:bodyPr wrap="square" anchor="t">
            <a:spAutoFit/>
          </a:bodyPr>
          <a:lstStyle/>
          <a:p>
            <a:pPr algn="ctr">
              <a:spcAft>
                <a:spcPts val="400"/>
              </a:spcAft>
            </a:pPr>
            <a:r>
              <a:rPr sz="1300" b="0">
                <a:solidFill>
                  <a:srgbClr val="161B26"/>
                </a:solidFill>
                <a:latin typeface="Arial"/>
              </a:rPr>
              <a:t>Build
compile + package</a:t>
            </a:r>
          </a:p>
        </p:txBody>
      </p:sp>
      <p:sp>
        <p:nvSpPr>
          <p:cNvPr id="24" name="TextBox 23"/>
          <p:cNvSpPr txBox="1"/>
          <p:nvPr/>
        </p:nvSpPr>
        <p:spPr>
          <a:xfrm>
            <a:off x="512064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5468112"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68112" y="2331720"/>
            <a:ext cx="125272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71957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5614416" y="3749040"/>
            <a:ext cx="960120" cy="1325880"/>
          </a:xfrm>
          <a:prstGeom prst="rect">
            <a:avLst/>
          </a:prstGeom>
          <a:noFill/>
        </p:spPr>
        <p:txBody>
          <a:bodyPr wrap="square" anchor="t">
            <a:spAutoFit/>
          </a:bodyPr>
          <a:lstStyle/>
          <a:p>
            <a:pPr algn="ctr">
              <a:spcAft>
                <a:spcPts val="400"/>
              </a:spcAft>
            </a:pPr>
            <a:r>
              <a:rPr sz="1300" b="0">
                <a:solidFill>
                  <a:srgbClr val="161B26"/>
                </a:solidFill>
                <a:latin typeface="Arial"/>
              </a:rPr>
              <a:t>Test
automated checks</a:t>
            </a:r>
          </a:p>
        </p:txBody>
      </p:sp>
      <p:sp>
        <p:nvSpPr>
          <p:cNvPr id="30" name="TextBox 29"/>
          <p:cNvSpPr txBox="1"/>
          <p:nvPr/>
        </p:nvSpPr>
        <p:spPr>
          <a:xfrm>
            <a:off x="668426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7031736"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31736" y="2331720"/>
            <a:ext cx="125272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8319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8319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7178040" y="3749040"/>
            <a:ext cx="960120" cy="1325880"/>
          </a:xfrm>
          <a:prstGeom prst="rect">
            <a:avLst/>
          </a:prstGeom>
          <a:noFill/>
        </p:spPr>
        <p:txBody>
          <a:bodyPr wrap="square" anchor="t">
            <a:spAutoFit/>
          </a:bodyPr>
          <a:lstStyle/>
          <a:p>
            <a:pPr algn="ctr">
              <a:spcAft>
                <a:spcPts val="400"/>
              </a:spcAft>
            </a:pPr>
            <a:r>
              <a:rPr sz="1300" b="0">
                <a:solidFill>
                  <a:srgbClr val="161B26"/>
                </a:solidFill>
                <a:latin typeface="Arial"/>
              </a:rPr>
              <a:t>Release
artifacts + approve</a:t>
            </a:r>
          </a:p>
        </p:txBody>
      </p:sp>
      <p:sp>
        <p:nvSpPr>
          <p:cNvPr id="36" name="TextBox 35"/>
          <p:cNvSpPr txBox="1"/>
          <p:nvPr/>
        </p:nvSpPr>
        <p:spPr>
          <a:xfrm>
            <a:off x="824788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7" name="Rectangle 36"/>
          <p:cNvSpPr/>
          <p:nvPr/>
        </p:nvSpPr>
        <p:spPr>
          <a:xfrm>
            <a:off x="8595360"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595360" y="2331720"/>
            <a:ext cx="125272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84682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4682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8741664" y="3749040"/>
            <a:ext cx="960120" cy="1325880"/>
          </a:xfrm>
          <a:prstGeom prst="rect">
            <a:avLst/>
          </a:prstGeom>
          <a:noFill/>
        </p:spPr>
        <p:txBody>
          <a:bodyPr wrap="square" anchor="t">
            <a:spAutoFit/>
          </a:bodyPr>
          <a:lstStyle/>
          <a:p>
            <a:pPr algn="ctr">
              <a:spcAft>
                <a:spcPts val="400"/>
              </a:spcAft>
            </a:pPr>
            <a:r>
              <a:rPr sz="1300" b="0">
                <a:solidFill>
                  <a:srgbClr val="161B26"/>
                </a:solidFill>
                <a:latin typeface="Arial"/>
              </a:rPr>
              <a:t>Deploy
to environments</a:t>
            </a:r>
          </a:p>
        </p:txBody>
      </p:sp>
      <p:sp>
        <p:nvSpPr>
          <p:cNvPr id="42" name="TextBox 41"/>
          <p:cNvSpPr txBox="1"/>
          <p:nvPr/>
        </p:nvSpPr>
        <p:spPr>
          <a:xfrm>
            <a:off x="981151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43" name="Rectangle 42"/>
          <p:cNvSpPr/>
          <p:nvPr/>
        </p:nvSpPr>
        <p:spPr>
          <a:xfrm>
            <a:off x="10158984"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158984" y="2331720"/>
            <a:ext cx="125272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41044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1044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7</a:t>
            </a:r>
          </a:p>
        </p:txBody>
      </p:sp>
      <p:sp>
        <p:nvSpPr>
          <p:cNvPr id="47" name="TextBox 46"/>
          <p:cNvSpPr txBox="1"/>
          <p:nvPr/>
        </p:nvSpPr>
        <p:spPr>
          <a:xfrm>
            <a:off x="10305288" y="3749040"/>
            <a:ext cx="960120" cy="1325880"/>
          </a:xfrm>
          <a:prstGeom prst="rect">
            <a:avLst/>
          </a:prstGeom>
          <a:noFill/>
        </p:spPr>
        <p:txBody>
          <a:bodyPr wrap="square" anchor="t">
            <a:spAutoFit/>
          </a:bodyPr>
          <a:lstStyle/>
          <a:p>
            <a:pPr algn="ctr">
              <a:spcAft>
                <a:spcPts val="400"/>
              </a:spcAft>
            </a:pPr>
            <a:r>
              <a:rPr sz="1300" b="0">
                <a:solidFill>
                  <a:srgbClr val="161B26"/>
                </a:solidFill>
                <a:latin typeface="Arial"/>
              </a:rPr>
              <a:t>Operate &amp; Monitor
feedback loop</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xmlns:p14="http://schemas.microsoft.com/office/powerpoint/2010/main" p14:dur="380">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OUTCOMES THAT MATTER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Measuring DevOps — The DORA Metrics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Deployment frequency</a:t>
            </a:r>
          </a:p>
          <a:p>
            <a:pPr algn="l">
              <a:spcAft>
                <a:spcPts val="300"/>
              </a:spcAft>
            </a:pPr>
            <a:r>
              <a:rPr sz="1300" b="0">
                <a:solidFill>
                  <a:srgbClr val="5B6372"/>
                </a:solidFill>
                <a:latin typeface="Arial"/>
              </a:rPr>
              <a:t>How often you ship to production — elite teams deploy on demand.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Lead time for changes</a:t>
            </a:r>
          </a:p>
          <a:p>
            <a:pPr algn="l">
              <a:spcAft>
                <a:spcPts val="300"/>
              </a:spcAft>
            </a:pPr>
            <a:r>
              <a:rPr sz="1300" b="0">
                <a:solidFill>
                  <a:srgbClr val="5B6372"/>
                </a:solidFill>
                <a:latin typeface="Arial"/>
              </a:rPr>
              <a:t>Commit → production time — minutes/hours, not weeks.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Change failure rate</a:t>
            </a:r>
          </a:p>
          <a:p>
            <a:pPr algn="l">
              <a:spcAft>
                <a:spcPts val="300"/>
              </a:spcAft>
            </a:pPr>
            <a:r>
              <a:rPr sz="1300" b="0">
                <a:solidFill>
                  <a:srgbClr val="5B6372"/>
                </a:solidFill>
                <a:latin typeface="Arial"/>
              </a:rPr>
              <a:t>% of deployments causing a failure — lower is healthier.</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Mean time to recover</a:t>
            </a:r>
          </a:p>
          <a:p>
            <a:pPr algn="l">
              <a:spcAft>
                <a:spcPts val="300"/>
              </a:spcAft>
            </a:pPr>
            <a:r>
              <a:rPr sz="1300" b="0">
                <a:solidFill>
                  <a:srgbClr val="5B6372"/>
                </a:solidFill>
                <a:latin typeface="Arial"/>
              </a:rPr>
              <a:t>How fast you restore service after an incident — minimise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xmlns:p14="http://schemas.microsoft.com/office/powerpoint/2010/main" p14:dur="380">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END-TO-END DELIVERY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AWS DevOps Toolchain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Source
CodeCommit / GitHub</a:t>
            </a:r>
          </a:p>
        </p:txBody>
      </p:sp>
      <p:sp>
        <p:nvSpPr>
          <p:cNvPr id="10" name="Rounded Rectangle 9"/>
          <p:cNvSpPr/>
          <p:nvPr/>
        </p:nvSpPr>
        <p:spPr>
          <a:xfrm>
            <a:off x="3520440" y="196596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0440" y="196596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Build &amp; Test
CodeBuild</a:t>
            </a:r>
          </a:p>
        </p:txBody>
      </p:sp>
      <p:sp>
        <p:nvSpPr>
          <p:cNvPr id="13" name="Rounded Rectangle 12"/>
          <p:cNvSpPr/>
          <p:nvPr/>
        </p:nvSpPr>
        <p:spPr>
          <a:xfrm>
            <a:off x="6263640" y="1965960"/>
            <a:ext cx="237744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965960"/>
            <a:ext cx="237744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Artifacts
S3 / CodeArtifact</a:t>
            </a:r>
          </a:p>
        </p:txBody>
      </p:sp>
      <p:sp>
        <p:nvSpPr>
          <p:cNvPr id="16" name="Rounded Rectangle 15"/>
          <p:cNvSpPr/>
          <p:nvPr/>
        </p:nvSpPr>
        <p:spPr>
          <a:xfrm>
            <a:off x="9006840" y="1965960"/>
            <a:ext cx="237744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06840" y="1965960"/>
            <a:ext cx="237744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2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Deploy
CodeDeploy</a:t>
            </a:r>
          </a:p>
        </p:txBody>
      </p:sp>
      <p:sp>
        <p:nvSpPr>
          <p:cNvPr id="19" name="Rounded Rectangle 18"/>
          <p:cNvSpPr/>
          <p:nvPr/>
        </p:nvSpPr>
        <p:spPr>
          <a:xfrm>
            <a:off x="777240" y="3657600"/>
            <a:ext cx="2377440" cy="1051560"/>
          </a:xfrm>
          <a:prstGeom prst="roundRect">
            <a:avLst/>
          </a:prstGeom>
          <a:solidFill>
            <a:srgbClr val="F5F8FC"/>
          </a:solidFill>
          <a:ln w="15875">
            <a:solidFill>
              <a:srgbClr val="EC71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57600"/>
            <a:ext cx="2377440" cy="8229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Infra as Code
CloudFormation</a:t>
            </a:r>
          </a:p>
        </p:txBody>
      </p:sp>
      <p:sp>
        <p:nvSpPr>
          <p:cNvPr id="22" name="Rounded Rectangle 21"/>
          <p:cNvSpPr/>
          <p:nvPr/>
        </p:nvSpPr>
        <p:spPr>
          <a:xfrm>
            <a:off x="9006840" y="3657600"/>
            <a:ext cx="237744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40" y="3657600"/>
            <a:ext cx="237744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Run
EC2 / ECS / Lambda</a:t>
            </a:r>
          </a:p>
        </p:txBody>
      </p:sp>
      <p:sp>
        <p:nvSpPr>
          <p:cNvPr id="25" name="Rounded Rectangle 24"/>
          <p:cNvSpPr/>
          <p:nvPr/>
        </p:nvSpPr>
        <p:spPr>
          <a:xfrm>
            <a:off x="6263640" y="3657600"/>
            <a:ext cx="2377440" cy="1051560"/>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3657600"/>
            <a:ext cx="237744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Monitor
CloudWatch</a:t>
            </a:r>
          </a:p>
        </p:txBody>
      </p:sp>
      <p:sp>
        <p:nvSpPr>
          <p:cNvPr id="28" name="Rounded Rectangle 27"/>
          <p:cNvSpPr/>
          <p:nvPr/>
        </p:nvSpPr>
        <p:spPr>
          <a:xfrm>
            <a:off x="3520440" y="3657600"/>
            <a:ext cx="2377440" cy="1051560"/>
          </a:xfrm>
          <a:prstGeom prst="roundRect">
            <a:avLst/>
          </a:prstGeom>
          <a:solidFill>
            <a:srgbClr val="F5F8FC"/>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520440" y="3657600"/>
            <a:ext cx="2377440" cy="822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118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Secure &amp; Audit
IAM / Config / CloudTrail</a:t>
            </a:r>
          </a:p>
        </p:txBody>
      </p:sp>
      <p:cxnSp>
        <p:nvCxnSpPr>
          <p:cNvPr id="31" name="Connector 30"/>
          <p:cNvCxnSpPr/>
          <p:nvPr/>
        </p:nvCxnSpPr>
        <p:spPr>
          <a:xfrm>
            <a:off x="31546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8978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410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9659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1955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8641080" y="418338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897880" y="418338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1F6FEB"/>
                </a:solidFill>
                <a:latin typeface="Arial"/>
              </a:rPr>
              <a:t>▶  </a:t>
            </a:r>
            <a:r>
              <a:rPr sz="1300" b="0">
                <a:solidFill>
                  <a:srgbClr val="161B26"/>
                </a:solidFill>
                <a:latin typeface="Arial"/>
              </a:rPr>
              <a:t>CodePipeline orchestrates the top row; IaC, monitoring and security wrap the whole lifecycle.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xmlns:p14="http://schemas.microsoft.com/office/powerpoint/2010/main" p14:dur="380">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SIX PILLARS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Well-Architected Framework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Operational Excellence</a:t>
            </a:r>
          </a:p>
          <a:p>
            <a:pPr algn="l">
              <a:spcAft>
                <a:spcPts val="300"/>
              </a:spcAft>
            </a:pPr>
            <a:r>
              <a:rPr sz="1150" b="0">
                <a:solidFill>
                  <a:srgbClr val="5B6372"/>
                </a:solidFill>
                <a:latin typeface="Arial"/>
              </a:rPr>
              <a:t>Run and monitor systems; improve processes continuously.</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Security</a:t>
            </a:r>
          </a:p>
          <a:p>
            <a:pPr algn="l">
              <a:spcAft>
                <a:spcPts val="300"/>
              </a:spcAft>
            </a:pPr>
            <a:r>
              <a:rPr sz="1150" b="0">
                <a:solidFill>
                  <a:srgbClr val="5B6372"/>
                </a:solidFill>
                <a:latin typeface="Arial"/>
              </a:rPr>
              <a:t>Protect data, systems and assets with least-privilege and audit.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Reliability</a:t>
            </a:r>
          </a:p>
          <a:p>
            <a:pPr algn="l">
              <a:spcAft>
                <a:spcPts val="300"/>
              </a:spcAft>
            </a:pPr>
            <a:r>
              <a:rPr sz="1150" b="0">
                <a:solidFill>
                  <a:srgbClr val="5B6372"/>
                </a:solidFill>
                <a:latin typeface="Arial"/>
              </a:rPr>
              <a:t>Recover from failure automatically; meet availability targets.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Performance Efficiency</a:t>
            </a:r>
          </a:p>
          <a:p>
            <a:pPr algn="l">
              <a:spcAft>
                <a:spcPts val="300"/>
              </a:spcAft>
            </a:pPr>
            <a:r>
              <a:rPr sz="1150" b="0">
                <a:solidFill>
                  <a:srgbClr val="5B6372"/>
                </a:solidFill>
                <a:latin typeface="Arial"/>
              </a:rPr>
              <a:t>Use resources efficiently as demand and technology change.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Cost Optimisation</a:t>
            </a:r>
          </a:p>
          <a:p>
            <a:pPr algn="l">
              <a:spcAft>
                <a:spcPts val="300"/>
              </a:spcAft>
            </a:pPr>
            <a:r>
              <a:rPr sz="1150" b="0">
                <a:solidFill>
                  <a:srgbClr val="5B6372"/>
                </a:solidFill>
                <a:latin typeface="Arial"/>
              </a:rPr>
              <a:t>Deliver business value at the lowest price point.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Sustainability</a:t>
            </a:r>
          </a:p>
          <a:p>
            <a:pPr algn="l">
              <a:spcAft>
                <a:spcPts val="300"/>
              </a:spcAft>
            </a:pPr>
            <a:r>
              <a:rPr sz="1150" b="0">
                <a:solidFill>
                  <a:srgbClr val="5B6372"/>
                </a:solidFill>
                <a:latin typeface="Arial"/>
              </a:rPr>
              <a:t>Minimise the environmental impact of running workloads.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xmlns:p14="http://schemas.microsoft.com/office/powerpoint/2010/main" p14:dur="380">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THE COURSE IS WEIGHTED</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Exam / Skills Domain Weightings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SDLC Automation (22%) and the two 17% domains — IaC and Security &amp; Compliance — carry the most weight; plan revision time accordingly.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xmlns:p14="http://schemas.microsoft.com/office/powerpoint/2010/main" p14:dur="380">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SECURES WHAT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Shared Responsibility Model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AWS responsibility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Your responsibility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AWS — security OF the cloud</a:t>
            </a:r>
          </a:p>
          <a:p>
            <a:pPr>
              <a:spcAft>
                <a:spcPts val="1000"/>
              </a:spcAft>
            </a:pPr>
            <a:r>
              <a:rPr sz="1300" b="0">
                <a:solidFill>
                  <a:srgbClr val="5B6372"/>
                </a:solidFill>
                <a:latin typeface="Arial"/>
              </a:rPr>
              <a:t>–  Physical data centres &amp; hardware</a:t>
            </a:r>
          </a:p>
          <a:p>
            <a:pPr>
              <a:spcAft>
                <a:spcPts val="1000"/>
              </a:spcAft>
            </a:pPr>
            <a:r>
              <a:rPr sz="1300" b="0">
                <a:solidFill>
                  <a:srgbClr val="5B6372"/>
                </a:solidFill>
                <a:latin typeface="Arial"/>
              </a:rPr>
              <a:t>–  Global network &amp; virtualisation layer</a:t>
            </a:r>
          </a:p>
          <a:p>
            <a:pPr>
              <a:spcAft>
                <a:spcPts val="1000"/>
              </a:spcAft>
            </a:pPr>
            <a:r>
              <a:rPr sz="1300" b="0">
                <a:solidFill>
                  <a:srgbClr val="5B6372"/>
                </a:solidFill>
                <a:latin typeface="Arial"/>
              </a:rPr>
              <a:t>–  Managed-service infrastructure</a:t>
            </a:r>
          </a:p>
          <a:p>
            <a:pPr>
              <a:spcAft>
                <a:spcPts val="1000"/>
              </a:spcAft>
            </a:pPr>
            <a:r>
              <a:rPr sz="1300" b="0">
                <a:solidFill>
                  <a:srgbClr val="5B6372"/>
                </a:solidFill>
                <a:latin typeface="Arial"/>
              </a:rPr>
              <a:t>–  Availability Zones and Regions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You — security IN the cloud</a:t>
            </a:r>
          </a:p>
          <a:p>
            <a:pPr>
              <a:spcAft>
                <a:spcPts val="1000"/>
              </a:spcAft>
            </a:pPr>
            <a:r>
              <a:rPr sz="1300" b="0">
                <a:solidFill>
                  <a:srgbClr val="5B6372"/>
                </a:solidFill>
                <a:latin typeface="Arial"/>
              </a:rPr>
              <a:t>–  IAM, identities and permissions</a:t>
            </a:r>
          </a:p>
          <a:p>
            <a:pPr>
              <a:spcAft>
                <a:spcPts val="1000"/>
              </a:spcAft>
            </a:pPr>
            <a:r>
              <a:rPr sz="1300" b="0">
                <a:solidFill>
                  <a:srgbClr val="5B6372"/>
                </a:solidFill>
                <a:latin typeface="Arial"/>
              </a:rPr>
              <a:t>–  OS, network &amp; firewall configuration</a:t>
            </a:r>
          </a:p>
          <a:p>
            <a:pPr>
              <a:spcAft>
                <a:spcPts val="1000"/>
              </a:spcAft>
            </a:pPr>
            <a:r>
              <a:rPr sz="1300" b="0">
                <a:solidFill>
                  <a:srgbClr val="5B6372"/>
                </a:solidFill>
                <a:latin typeface="Arial"/>
              </a:rPr>
              <a:t>–  Application code &amp; data encryption</a:t>
            </a:r>
          </a:p>
          <a:p>
            <a:pPr>
              <a:spcAft>
                <a:spcPts val="1000"/>
              </a:spcAft>
            </a:pPr>
            <a:r>
              <a:rPr sz="1300" b="0">
                <a:solidFill>
                  <a:srgbClr val="5B6372"/>
                </a:solidFill>
                <a:latin typeface="Arial"/>
              </a:rPr>
              <a:t>–  Patching guest OS and dependencies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xmlns:p14="http://schemas.microsoft.com/office/powerpoint/2010/main" p14:dur="380">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SERVICES YOU'LL USE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Core AWS Building Blocks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Compute</a:t>
            </a:r>
          </a:p>
          <a:p>
            <a:pPr algn="l">
              <a:spcAft>
                <a:spcPts val="300"/>
              </a:spcAft>
            </a:pPr>
            <a:r>
              <a:rPr sz="1150" b="0">
                <a:solidFill>
                  <a:srgbClr val="5B6372"/>
                </a:solidFill>
                <a:latin typeface="Arial"/>
              </a:rPr>
              <a:t>EC2, ECS/EKS, Lambda, Auto Scaling.</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Networking</a:t>
            </a:r>
          </a:p>
          <a:p>
            <a:pPr algn="l">
              <a:spcAft>
                <a:spcPts val="300"/>
              </a:spcAft>
            </a:pPr>
            <a:r>
              <a:rPr sz="1150" b="0">
                <a:solidFill>
                  <a:srgbClr val="5B6372"/>
                </a:solidFill>
                <a:latin typeface="Arial"/>
              </a:rPr>
              <a:t>VPC, subnets, security groups, ELB, Route 53.</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Storage &amp; data</a:t>
            </a:r>
          </a:p>
          <a:p>
            <a:pPr algn="l">
              <a:spcAft>
                <a:spcPts val="300"/>
              </a:spcAft>
            </a:pPr>
            <a:r>
              <a:rPr sz="1150" b="0">
                <a:solidFill>
                  <a:srgbClr val="5B6372"/>
                </a:solidFill>
                <a:latin typeface="Arial"/>
              </a:rPr>
              <a:t>S3, EBS, RDS, DynamoDB.</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Identity &amp; security</a:t>
            </a:r>
          </a:p>
          <a:p>
            <a:pPr algn="l">
              <a:spcAft>
                <a:spcPts val="300"/>
              </a:spcAft>
            </a:pPr>
            <a:r>
              <a:rPr sz="1150" b="0">
                <a:solidFill>
                  <a:srgbClr val="5B6372"/>
                </a:solidFill>
                <a:latin typeface="Arial"/>
              </a:rPr>
              <a:t>IAM, KMS, Secrets Manager, Config.</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Developer tools</a:t>
            </a:r>
          </a:p>
          <a:p>
            <a:pPr algn="l">
              <a:spcAft>
                <a:spcPts val="300"/>
              </a:spcAft>
            </a:pPr>
            <a:r>
              <a:rPr sz="1150" b="0">
                <a:solidFill>
                  <a:srgbClr val="5B6372"/>
                </a:solidFill>
                <a:latin typeface="Arial"/>
              </a:rPr>
              <a:t>CodePipeline, CodeBuild, CodeDeploy, CloudFormation.</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Observability</a:t>
            </a:r>
          </a:p>
          <a:p>
            <a:pPr algn="l">
              <a:spcAft>
                <a:spcPts val="300"/>
              </a:spcAft>
            </a:pPr>
            <a:r>
              <a:rPr sz="1150" b="0">
                <a:solidFill>
                  <a:srgbClr val="5B6372"/>
                </a:solidFill>
                <a:latin typeface="Arial"/>
              </a:rPr>
              <a:t>CloudWatch, X-Ray, CloudTrail, EventBridge.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xmlns:p14="http://schemas.microsoft.com/office/powerpoint/2010/main" p14:dur="380">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BUSINESS CASE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Why CI/CD — Release Frequency &amp; Lead Time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Automating the pipeline turns a few risky monthly releases into many small, low-risk ones that recover in hours, not days.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xmlns:p14="http://schemas.microsoft.com/office/powerpoint/2010/main" p14:dur="380">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Build, test, deploy — automatically and safely.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six AWS DevOps domains follow the delivery lifecycle: automate the SDLC, codify infrastructure, make it resilient, observe it, respond to events, and secure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xmlns:p14="http://schemas.microsoft.com/office/powerpoint/2010/main" p14:dur="380">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MEASURING DEVOPS OUTCOMES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DORA Metrics — The Delivery/Stability Balance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Move faster</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Stay stable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Throughput</a:t>
            </a:r>
          </a:p>
          <a:p>
            <a:pPr>
              <a:spcAft>
                <a:spcPts val="1000"/>
              </a:spcAft>
            </a:pPr>
            <a:r>
              <a:rPr sz="1300" b="0">
                <a:solidFill>
                  <a:srgbClr val="5B6372"/>
                </a:solidFill>
                <a:latin typeface="Arial"/>
              </a:rPr>
              <a:t>–  Deployment frequency — how often you ship</a:t>
            </a:r>
          </a:p>
          <a:p>
            <a:pPr>
              <a:spcAft>
                <a:spcPts val="1000"/>
              </a:spcAft>
            </a:pPr>
            <a:r>
              <a:rPr sz="1300" b="0">
                <a:solidFill>
                  <a:srgbClr val="5B6372"/>
                </a:solidFill>
                <a:latin typeface="Arial"/>
              </a:rPr>
              <a:t>–  Lead time for changes — commit to production</a:t>
            </a:r>
          </a:p>
          <a:p>
            <a:pPr>
              <a:spcAft>
                <a:spcPts val="1000"/>
              </a:spcAft>
            </a:pPr>
            <a:r>
              <a:rPr sz="1300" b="0">
                <a:solidFill>
                  <a:srgbClr val="5B6372"/>
                </a:solidFill>
                <a:latin typeface="Arial"/>
              </a:rPr>
              <a:t>–  Elite: on-demand deploys, &lt;1 day lead time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Stability</a:t>
            </a:r>
          </a:p>
          <a:p>
            <a:pPr>
              <a:spcAft>
                <a:spcPts val="1000"/>
              </a:spcAft>
            </a:pPr>
            <a:r>
              <a:rPr sz="1300" b="0">
                <a:solidFill>
                  <a:srgbClr val="5B6372"/>
                </a:solidFill>
                <a:latin typeface="Arial"/>
              </a:rPr>
              <a:t>–  Change failure rate — % of deploys that hurt</a:t>
            </a:r>
          </a:p>
          <a:p>
            <a:pPr>
              <a:spcAft>
                <a:spcPts val="1000"/>
              </a:spcAft>
            </a:pPr>
            <a:r>
              <a:rPr sz="1300" b="0">
                <a:solidFill>
                  <a:srgbClr val="5B6372"/>
                </a:solidFill>
                <a:latin typeface="Arial"/>
              </a:rPr>
              <a:t>–  Time to restore service — MTTR after failure</a:t>
            </a:r>
          </a:p>
          <a:p>
            <a:pPr>
              <a:spcAft>
                <a:spcPts val="1000"/>
              </a:spcAft>
            </a:pPr>
            <a:r>
              <a:rPr sz="1300" b="0">
                <a:solidFill>
                  <a:srgbClr val="5B6372"/>
                </a:solidFill>
                <a:latin typeface="Arial"/>
              </a:rPr>
              <a:t>–  Elite: &lt;15% CFR, restore in &lt;1 hour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xmlns:p14="http://schemas.microsoft.com/office/powerpoint/2010/main" p14:dur="380">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TEAMS BRANCH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Version Control Strategy — Trunk-Based vs Long-Lived Branches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Trunk-based</a:t>
            </a:r>
          </a:p>
          <a:p>
            <a:pPr algn="l">
              <a:spcAft>
                <a:spcPts val="300"/>
              </a:spcAft>
            </a:pPr>
            <a:r>
              <a:rPr sz="1200" b="0">
                <a:solidFill>
                  <a:srgbClr val="5B6372"/>
                </a:solidFill>
                <a:latin typeface="Arial"/>
              </a:rPr>
              <a:t>Short-lived branches merged to trunk daily — keeps integration continuous.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Feature flags</a:t>
            </a:r>
          </a:p>
          <a:p>
            <a:pPr algn="l">
              <a:spcAft>
                <a:spcPts val="300"/>
              </a:spcAft>
            </a:pPr>
            <a:r>
              <a:rPr sz="1200" b="0">
                <a:solidFill>
                  <a:srgbClr val="5B6372"/>
                </a:solidFill>
                <a:latin typeface="Arial"/>
              </a:rPr>
              <a:t>Ship unfinished work dark; decouple deploy from release.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Gitflow (heavier)</a:t>
            </a:r>
          </a:p>
          <a:p>
            <a:pPr algn="l">
              <a:spcAft>
                <a:spcPts val="300"/>
              </a:spcAft>
            </a:pPr>
            <a:r>
              <a:rPr sz="1200" b="0">
                <a:solidFill>
                  <a:srgbClr val="5B6372"/>
                </a:solidFill>
                <a:latin typeface="Arial"/>
              </a:rPr>
              <a:t>Release/develop branches — more ceremony, slower integration.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Branch protection</a:t>
            </a:r>
          </a:p>
          <a:p>
            <a:pPr algn="l">
              <a:spcAft>
                <a:spcPts val="300"/>
              </a:spcAft>
            </a:pPr>
            <a:r>
              <a:rPr sz="1200" b="0">
                <a:solidFill>
                  <a:srgbClr val="5B6372"/>
                </a:solidFill>
                <a:latin typeface="Arial"/>
              </a:rPr>
              <a:t>Required reviews and green checks before merge, enforced in GitHub.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xmlns:p14="http://schemas.microsoft.com/office/powerpoint/2010/main" p14:dur="380">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ONE ARTIFACT, MANY ENVIRONMENTS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Promotion Across Environments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Build once
immutable artifact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Deploy to Dev
smoke tests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Deploy to Staging
production-like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Approve
(if gated)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Deploy to Prod
progressive rollout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xmlns:p14="http://schemas.microsoft.com/office/powerpoint/2010/main" p14:dur="380">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 INTEGRATION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GitHub via AWS CodeConnections — The Modern Source Path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Managed connection</a:t>
            </a:r>
          </a:p>
          <a:p>
            <a:pPr algn="l">
              <a:spcAft>
                <a:spcPts val="300"/>
              </a:spcAft>
            </a:pPr>
            <a:r>
              <a:rPr sz="1200" b="0">
                <a:solidFill>
                  <a:srgbClr val="5B6372"/>
                </a:solidFill>
                <a:latin typeface="Arial"/>
              </a:rPr>
              <a:t>Connect GitHub/GitHub Enterprise/Bitbucket/GitLab without long-lived Git credentials.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Webhook triggers</a:t>
            </a:r>
          </a:p>
          <a:p>
            <a:pPr algn="l">
              <a:spcAft>
                <a:spcPts val="300"/>
              </a:spcAft>
            </a:pPr>
            <a:r>
              <a:rPr sz="1200" b="0">
                <a:solidFill>
                  <a:srgbClr val="5B6372"/>
                </a:solidFill>
                <a:latin typeface="Arial"/>
              </a:rPr>
              <a:t>A push starts the pipeline instantly — no polling latency.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Keep your workflow</a:t>
            </a:r>
          </a:p>
          <a:p>
            <a:pPr algn="l">
              <a:spcAft>
                <a:spcPts val="300"/>
              </a:spcAft>
            </a:pPr>
            <a:r>
              <a:rPr sz="1200" b="0">
                <a:solidFill>
                  <a:srgbClr val="5B6372"/>
                </a:solidFill>
                <a:latin typeface="Arial"/>
              </a:rPr>
              <a:t>Existing pull requests, reviews and branch protection still apply.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CodeCommit optional</a:t>
            </a:r>
          </a:p>
          <a:p>
            <a:pPr algn="l">
              <a:spcAft>
                <a:spcPts val="300"/>
              </a:spcAft>
            </a:pPr>
            <a:r>
              <a:rPr sz="1200" b="0">
                <a:solidFill>
                  <a:srgbClr val="5B6372"/>
                </a:solidFill>
                <a:latin typeface="Arial"/>
              </a:rPr>
              <a:t>AWS-native Git remains available, but is not required for new 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xmlns:p14="http://schemas.microsoft.com/office/powerpoint/2010/main" p14:dur="380">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 CLOUD-NATIVE MINDSET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Immutable Infrastructure — Cattle, Not Pets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Replace, don't patch</a:t>
            </a:r>
          </a:p>
          <a:p>
            <a:pPr algn="l">
              <a:spcAft>
                <a:spcPts val="300"/>
              </a:spcAft>
            </a:pPr>
            <a:r>
              <a:rPr sz="1200" b="0">
                <a:solidFill>
                  <a:srgbClr val="5B6372"/>
                </a:solidFill>
                <a:latin typeface="Arial"/>
              </a:rPr>
              <a:t>Deploy a new, tested image instead of mutating running servers.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No configuration drift</a:t>
            </a:r>
          </a:p>
          <a:p>
            <a:pPr algn="l">
              <a:spcAft>
                <a:spcPts val="300"/>
              </a:spcAft>
            </a:pPr>
            <a:r>
              <a:rPr sz="1200" b="0">
                <a:solidFill>
                  <a:srgbClr val="5B6372"/>
                </a:solidFill>
                <a:latin typeface="Arial"/>
              </a:rPr>
              <a:t>Every instance is built the same way from the same artifact.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Fast, safe rollback</a:t>
            </a:r>
          </a:p>
          <a:p>
            <a:pPr algn="l">
              <a:spcAft>
                <a:spcPts val="300"/>
              </a:spcAft>
            </a:pPr>
            <a:r>
              <a:rPr sz="1200" b="0">
                <a:solidFill>
                  <a:srgbClr val="5B6372"/>
                </a:solidFill>
                <a:latin typeface="Arial"/>
              </a:rPr>
              <a:t>Roll back by launching the previous known-good image.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Bake with a pipeline</a:t>
            </a:r>
          </a:p>
          <a:p>
            <a:pPr algn="l">
              <a:spcAft>
                <a:spcPts val="300"/>
              </a:spcAft>
            </a:pPr>
            <a:r>
              <a:rPr sz="1200" b="0">
                <a:solidFill>
                  <a:srgbClr val="5B6372"/>
                </a:solidFill>
                <a:latin typeface="Arial"/>
              </a:rPr>
              <a:t>EC2 Image Builder / golden AMIs produce reproducible images.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xmlns:p14="http://schemas.microsoft.com/office/powerpoint/2010/main" p14:dur="380">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DEVOPS MEETS FINOPS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Cost Awareness in DevOps — Build It 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Right-size &amp; auto-scale</a:t>
            </a:r>
          </a:p>
          <a:p>
            <a:pPr algn="l">
              <a:spcAft>
                <a:spcPts val="300"/>
              </a:spcAft>
            </a:pPr>
            <a:r>
              <a:rPr sz="1200" b="0">
                <a:solidFill>
                  <a:srgbClr val="5B6372"/>
                </a:solidFill>
                <a:latin typeface="Arial"/>
              </a:rPr>
              <a:t>Match capacity to demand; scale to zero where you can.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Tag everything</a:t>
            </a:r>
          </a:p>
          <a:p>
            <a:pPr algn="l">
              <a:spcAft>
                <a:spcPts val="300"/>
              </a:spcAft>
            </a:pPr>
            <a:r>
              <a:rPr sz="1200" b="0">
                <a:solidFill>
                  <a:srgbClr val="5B6372"/>
                </a:solidFill>
                <a:latin typeface="Arial"/>
              </a:rPr>
              <a:t>Cost allocation tags make spend visible per team/service.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Clean up as code</a:t>
            </a:r>
          </a:p>
          <a:p>
            <a:pPr algn="l">
              <a:spcAft>
                <a:spcPts val="300"/>
              </a:spcAft>
            </a:pPr>
            <a:r>
              <a:rPr sz="1200" b="0">
                <a:solidFill>
                  <a:srgbClr val="5B6372"/>
                </a:solidFill>
                <a:latin typeface="Arial"/>
              </a:rPr>
              <a:t>Tear-down steps in every lab/pipeline stop orphaned resources.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Budgets &amp; alarms</a:t>
            </a:r>
          </a:p>
          <a:p>
            <a:pPr algn="l">
              <a:spcAft>
                <a:spcPts val="300"/>
              </a:spcAft>
            </a:pPr>
            <a:r>
              <a:rPr sz="1200" b="0">
                <a:solidFill>
                  <a:srgbClr val="5B6372"/>
                </a:solidFill>
                <a:latin typeface="Arial"/>
              </a:rPr>
              <a:t>AWS Budgets alert before spend surprises the finance team.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xmlns:p14="http://schemas.microsoft.com/office/powerpoint/2010/main" p14:dur="380">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SECURITY IS EVERYONE'S JOB</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DevSecOps — Shift Security Left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Scan in the pipeline</a:t>
            </a:r>
          </a:p>
          <a:p>
            <a:pPr algn="l">
              <a:spcAft>
                <a:spcPts val="300"/>
              </a:spcAft>
            </a:pPr>
            <a:r>
              <a:rPr sz="1200" b="0">
                <a:solidFill>
                  <a:srgbClr val="5B6372"/>
                </a:solidFill>
                <a:latin typeface="Arial"/>
              </a:rPr>
              <a:t>SAST/SCA on code and dependencies; scan IaC templates.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Least-privilege pipelines</a:t>
            </a:r>
          </a:p>
          <a:p>
            <a:pPr algn="l">
              <a:spcAft>
                <a:spcPts val="300"/>
              </a:spcAft>
            </a:pPr>
            <a:r>
              <a:rPr sz="1200" b="0">
                <a:solidFill>
                  <a:srgbClr val="5B6372"/>
                </a:solidFill>
                <a:latin typeface="Arial"/>
              </a:rPr>
              <a:t>Scope build and deploy roles; no secrets in source.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Policy as code</a:t>
            </a:r>
          </a:p>
          <a:p>
            <a:pPr algn="l">
              <a:spcAft>
                <a:spcPts val="300"/>
              </a:spcAft>
            </a:pPr>
            <a:r>
              <a:rPr sz="1200" b="0">
                <a:solidFill>
                  <a:srgbClr val="5B6372"/>
                </a:solidFill>
                <a:latin typeface="Arial"/>
              </a:rPr>
              <a:t>Guardrails as SCPs and Config rules, versioned like code.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Continuous compliance</a:t>
            </a:r>
          </a:p>
          <a:p>
            <a:pPr algn="l">
              <a:spcAft>
                <a:spcPts val="300"/>
              </a:spcAft>
            </a:pPr>
            <a:r>
              <a:rPr sz="1200" b="0">
                <a:solidFill>
                  <a:srgbClr val="5B6372"/>
                </a:solidFill>
                <a:latin typeface="Arial"/>
              </a:rPr>
              <a:t>Detect and remediate drift automatically, always-on.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xmlns:p14="http://schemas.microsoft.com/office/powerpoint/2010/main" p14:dur="380">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MATCH THE RUNTIME TO THE WORKLOAD</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Choosing Compute — EC2 vs ECS/EKS vs Lambda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944014" cy="502920"/>
          </a:xfrm>
          <a:prstGeom prst="rect">
            <a:avLst/>
          </a:prstGeom>
          <a:noFill/>
        </p:spPr>
        <p:txBody>
          <a:bodyPr wrap="square" anchor="ctr">
            <a:spAutoFit/>
          </a:bodyPr>
          <a:lstStyle/>
          <a:p>
            <a:pPr algn="l">
              <a:spcAft>
                <a:spcPts val="400"/>
              </a:spcAft>
            </a:pPr>
            <a:r>
              <a:rPr sz="1400" b="1">
                <a:solidFill>
                  <a:srgbClr val="FFFFFF"/>
                </a:solidFill>
                <a:latin typeface="Arial"/>
              </a:rPr>
              <a:t>Option</a:t>
            </a:r>
          </a:p>
        </p:txBody>
      </p:sp>
      <p:sp>
        <p:nvSpPr>
          <p:cNvPr id="9" name="Rectangle 8"/>
          <p:cNvSpPr/>
          <p:nvPr/>
        </p:nvSpPr>
        <p:spPr>
          <a:xfrm>
            <a:off x="2904134" y="1783080"/>
            <a:ext cx="361572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3862" y="1783080"/>
            <a:ext cx="3432840" cy="502920"/>
          </a:xfrm>
          <a:prstGeom prst="rect">
            <a:avLst/>
          </a:prstGeom>
          <a:noFill/>
        </p:spPr>
        <p:txBody>
          <a:bodyPr wrap="square" anchor="ctr">
            <a:spAutoFit/>
          </a:bodyPr>
          <a:lstStyle/>
          <a:p>
            <a:pPr algn="ctr">
              <a:spcAft>
                <a:spcPts val="400"/>
              </a:spcAft>
            </a:pPr>
            <a:r>
              <a:rPr sz="1400" b="1">
                <a:solidFill>
                  <a:srgbClr val="FFFFFF"/>
                </a:solidFill>
                <a:latin typeface="Arial"/>
              </a:rPr>
              <a:t>Best for</a:t>
            </a:r>
          </a:p>
        </p:txBody>
      </p:sp>
      <p:sp>
        <p:nvSpPr>
          <p:cNvPr id="11" name="Rectangle 10"/>
          <p:cNvSpPr/>
          <p:nvPr/>
        </p:nvSpPr>
        <p:spPr>
          <a:xfrm>
            <a:off x="6519854" y="178308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582" y="1783080"/>
            <a:ext cx="2369393" cy="502920"/>
          </a:xfrm>
          <a:prstGeom prst="rect">
            <a:avLst/>
          </a:prstGeom>
          <a:noFill/>
        </p:spPr>
        <p:txBody>
          <a:bodyPr wrap="square" anchor="ctr">
            <a:spAutoFit/>
          </a:bodyPr>
          <a:lstStyle/>
          <a:p>
            <a:pPr algn="ctr">
              <a:spcAft>
                <a:spcPts val="400"/>
              </a:spcAft>
            </a:pPr>
            <a:r>
              <a:rPr sz="1400" b="1">
                <a:solidFill>
                  <a:srgbClr val="FFFFFF"/>
                </a:solidFill>
                <a:latin typeface="Arial"/>
              </a:rPr>
              <a:t>Ops overhead</a:t>
            </a:r>
          </a:p>
        </p:txBody>
      </p:sp>
      <p:sp>
        <p:nvSpPr>
          <p:cNvPr id="13" name="Rectangle 12"/>
          <p:cNvSpPr/>
          <p:nvPr/>
        </p:nvSpPr>
        <p:spPr>
          <a:xfrm>
            <a:off x="9072127" y="1783080"/>
            <a:ext cx="233958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1855" y="1783080"/>
            <a:ext cx="2156703" cy="502920"/>
          </a:xfrm>
          <a:prstGeom prst="rect">
            <a:avLst/>
          </a:prstGeom>
          <a:noFill/>
        </p:spPr>
        <p:txBody>
          <a:bodyPr wrap="square" anchor="ctr">
            <a:spAutoFit/>
          </a:bodyPr>
          <a:lstStyle/>
          <a:p>
            <a:pPr algn="ctr">
              <a:spcAft>
                <a:spcPts val="400"/>
              </a:spcAft>
            </a:pPr>
            <a:r>
              <a:rPr sz="1400" b="1">
                <a:solidFill>
                  <a:srgbClr val="FFFFFF"/>
                </a:solidFill>
                <a:latin typeface="Arial"/>
              </a:rPr>
              <a:t>Scaling</a:t>
            </a:r>
          </a:p>
        </p:txBody>
      </p:sp>
      <p:sp>
        <p:nvSpPr>
          <p:cNvPr id="15" name="Rectangle 14"/>
          <p:cNvSpPr/>
          <p:nvPr/>
        </p:nvSpPr>
        <p:spPr>
          <a:xfrm>
            <a:off x="777240" y="2286000"/>
            <a:ext cx="212689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8600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EC2 + ASG</a:t>
            </a:r>
          </a:p>
        </p:txBody>
      </p:sp>
      <p:sp>
        <p:nvSpPr>
          <p:cNvPr id="17" name="Rectangle 16"/>
          <p:cNvSpPr/>
          <p:nvPr/>
        </p:nvSpPr>
        <p:spPr>
          <a:xfrm>
            <a:off x="2904134" y="228600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3862" y="228600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Lift-and-shift, full OS control</a:t>
            </a:r>
          </a:p>
        </p:txBody>
      </p:sp>
      <p:sp>
        <p:nvSpPr>
          <p:cNvPr id="19" name="Rectangle 18"/>
          <p:cNvSpPr/>
          <p:nvPr/>
        </p:nvSpPr>
        <p:spPr>
          <a:xfrm>
            <a:off x="6519854" y="228600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582" y="228600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Higher (patching, AMIs)</a:t>
            </a:r>
          </a:p>
        </p:txBody>
      </p:sp>
      <p:sp>
        <p:nvSpPr>
          <p:cNvPr id="21" name="Rectangle 20"/>
          <p:cNvSpPr/>
          <p:nvPr/>
        </p:nvSpPr>
        <p:spPr>
          <a:xfrm>
            <a:off x="9072127"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1855" y="228600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Instances via ASG</a:t>
            </a:r>
          </a:p>
        </p:txBody>
      </p:sp>
      <p:sp>
        <p:nvSpPr>
          <p:cNvPr id="23" name="Rectangle 22"/>
          <p:cNvSpPr/>
          <p:nvPr/>
        </p:nvSpPr>
        <p:spPr>
          <a:xfrm>
            <a:off x="777240" y="3108960"/>
            <a:ext cx="212689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0896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ECS / Fargate</a:t>
            </a:r>
          </a:p>
        </p:txBody>
      </p:sp>
      <p:sp>
        <p:nvSpPr>
          <p:cNvPr id="25" name="Rectangle 24"/>
          <p:cNvSpPr/>
          <p:nvPr/>
        </p:nvSpPr>
        <p:spPr>
          <a:xfrm>
            <a:off x="2904134" y="310896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3862" y="310896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Containerised services</a:t>
            </a:r>
          </a:p>
        </p:txBody>
      </p:sp>
      <p:sp>
        <p:nvSpPr>
          <p:cNvPr id="27" name="Rectangle 26"/>
          <p:cNvSpPr/>
          <p:nvPr/>
        </p:nvSpPr>
        <p:spPr>
          <a:xfrm>
            <a:off x="6519854" y="310896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9582" y="310896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Medium (Fargate = serverless)</a:t>
            </a:r>
          </a:p>
        </p:txBody>
      </p:sp>
      <p:sp>
        <p:nvSpPr>
          <p:cNvPr id="29" name="Rectangle 28"/>
          <p:cNvSpPr/>
          <p:nvPr/>
        </p:nvSpPr>
        <p:spPr>
          <a:xfrm>
            <a:off x="9072127"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1855" y="310896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Tasks/services</a:t>
            </a:r>
          </a:p>
        </p:txBody>
      </p:sp>
      <p:sp>
        <p:nvSpPr>
          <p:cNvPr id="31" name="Rectangle 30"/>
          <p:cNvSpPr/>
          <p:nvPr/>
        </p:nvSpPr>
        <p:spPr>
          <a:xfrm>
            <a:off x="777240" y="3931920"/>
            <a:ext cx="212689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93192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EKS</a:t>
            </a:r>
          </a:p>
        </p:txBody>
      </p:sp>
      <p:sp>
        <p:nvSpPr>
          <p:cNvPr id="33" name="Rectangle 32"/>
          <p:cNvSpPr/>
          <p:nvPr/>
        </p:nvSpPr>
        <p:spPr>
          <a:xfrm>
            <a:off x="2904134" y="393192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393192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Kubernetes-standard workloads</a:t>
            </a:r>
          </a:p>
        </p:txBody>
      </p:sp>
      <p:sp>
        <p:nvSpPr>
          <p:cNvPr id="35" name="Rectangle 34"/>
          <p:cNvSpPr/>
          <p:nvPr/>
        </p:nvSpPr>
        <p:spPr>
          <a:xfrm>
            <a:off x="6519854" y="393192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582" y="393192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Higher (cluster ops)</a:t>
            </a:r>
          </a:p>
        </p:txBody>
      </p:sp>
      <p:sp>
        <p:nvSpPr>
          <p:cNvPr id="37" name="Rectangle 36"/>
          <p:cNvSpPr/>
          <p:nvPr/>
        </p:nvSpPr>
        <p:spPr>
          <a:xfrm>
            <a:off x="9072127"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1855" y="393192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Pods via HPA</a:t>
            </a:r>
          </a:p>
        </p:txBody>
      </p:sp>
      <p:sp>
        <p:nvSpPr>
          <p:cNvPr id="39" name="Rectangle 38"/>
          <p:cNvSpPr/>
          <p:nvPr/>
        </p:nvSpPr>
        <p:spPr>
          <a:xfrm>
            <a:off x="777240" y="4754880"/>
            <a:ext cx="212689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75488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Lambda</a:t>
            </a:r>
          </a:p>
        </p:txBody>
      </p:sp>
      <p:sp>
        <p:nvSpPr>
          <p:cNvPr id="41" name="Rectangle 40"/>
          <p:cNvSpPr/>
          <p:nvPr/>
        </p:nvSpPr>
        <p:spPr>
          <a:xfrm>
            <a:off x="2904134" y="475488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13862" y="475488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Event-driven, spiky, short tasks</a:t>
            </a:r>
          </a:p>
        </p:txBody>
      </p:sp>
      <p:sp>
        <p:nvSpPr>
          <p:cNvPr id="43" name="Rectangle 42"/>
          <p:cNvSpPr/>
          <p:nvPr/>
        </p:nvSpPr>
        <p:spPr>
          <a:xfrm>
            <a:off x="6519854" y="475488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29582" y="475488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Lowest</a:t>
            </a:r>
          </a:p>
        </p:txBody>
      </p:sp>
      <p:sp>
        <p:nvSpPr>
          <p:cNvPr id="45" name="Rectangle 44"/>
          <p:cNvSpPr/>
          <p:nvPr/>
        </p:nvSpPr>
        <p:spPr>
          <a:xfrm>
            <a:off x="9072127"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81855" y="475488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Automatic per request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xmlns:p14="http://schemas.microsoft.com/office/powerpoint/2010/main" p14:dur="380">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SDLC Automation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Exam weighting 22%  ·  CI/CD pipelines · automated testing · artifacts · deployment strategies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xmlns:p14="http://schemas.microsoft.com/office/powerpoint/2010/main" p14:dur="380">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DELIVERY AUTOMATION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SDLC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29037" y="1819655"/>
            <a:ext cx="6933620" cy="39502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evops-delivery-automation.png"/>
          <p:cNvPicPr>
            <a:picLocks noChangeAspect="1"/>
          </p:cNvPicPr>
          <p:nvPr/>
        </p:nvPicPr>
        <p:blipFill>
          <a:blip r:embed="rId2"/>
          <a:stretch>
            <a:fillRect/>
          </a:stretch>
        </p:blipFill>
        <p:spPr>
          <a:xfrm>
            <a:off x="2683901" y="1874519"/>
            <a:ext cx="6823892" cy="3840480"/>
          </a:xfrm>
          <a:prstGeom prst="rect">
            <a:avLst/>
          </a:prstGeom>
        </p:spPr>
      </p:pic>
      <p:sp>
        <p:nvSpPr>
          <p:cNvPr id="9" name="Rectangle 8"/>
          <p:cNvSpPr/>
          <p:nvPr/>
        </p:nvSpPr>
        <p:spPr>
          <a:xfrm>
            <a:off x="777240" y="5852159"/>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852159"/>
            <a:ext cx="91440" cy="640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52159"/>
            <a:ext cx="10241280" cy="640080"/>
          </a:xfrm>
          <a:prstGeom prst="rect">
            <a:avLst/>
          </a:prstGeom>
          <a:noFill/>
        </p:spPr>
        <p:txBody>
          <a:bodyPr wrap="square" anchor="ctr">
            <a:spAutoFit/>
          </a:bodyPr>
          <a:lstStyle/>
          <a:p>
            <a:pPr algn="l">
              <a:spcAft>
                <a:spcPts val="400"/>
              </a:spcAft>
            </a:pPr>
            <a:r>
              <a:rPr sz="1300" b="1">
                <a:solidFill>
                  <a:srgbClr val="1F6FEB"/>
                </a:solidFill>
                <a:latin typeface="Arial"/>
              </a:rPr>
              <a:t>▶  </a:t>
            </a:r>
            <a:r>
              <a:rPr sz="1350" b="0">
                <a:solidFill>
                  <a:srgbClr val="161B26"/>
                </a:solidFill>
                <a:latin typeface="Arial"/>
              </a:rPr>
              <a:t>Automating the software-delivery lifecycle on AWS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xmlns:p14="http://schemas.microsoft.com/office/powerpoint/2010/main" p14:dur="380">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01 · WEIGHTING 22%</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Key Concepts — SDLC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Continuous Integration</a:t>
            </a:r>
          </a:p>
          <a:p>
            <a:pPr algn="l">
              <a:spcAft>
                <a:spcPts val="300"/>
              </a:spcAft>
            </a:pPr>
            <a:r>
              <a:rPr sz="1150" b="0">
                <a:solidFill>
                  <a:srgbClr val="5B6372"/>
                </a:solidFill>
                <a:latin typeface="Arial"/>
              </a:rPr>
              <a:t>Developers push often; CodeBuild runs the build and tests on every commit so bugs are found early, not at release.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Continuous Delivery / Deployment</a:t>
            </a:r>
          </a:p>
          <a:p>
            <a:pPr algn="l">
              <a:spcAft>
                <a:spcPts val="300"/>
              </a:spcAft>
            </a:pPr>
            <a:r>
              <a:rPr sz="1150" b="0">
                <a:solidFill>
                  <a:srgbClr val="5B6372"/>
                </a:solidFill>
                <a:latin typeface="Arial"/>
              </a:rPr>
              <a:t>Every green build is releasable; CodePipeline and CodeDeploy move it through dev → test → prod with approvals.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The AWS developer tools</a:t>
            </a:r>
          </a:p>
          <a:p>
            <a:pPr algn="l">
              <a:spcAft>
                <a:spcPts val="300"/>
              </a:spcAft>
            </a:pPr>
            <a:r>
              <a:rPr sz="1150" b="0">
                <a:solidFill>
                  <a:srgbClr val="5B6372"/>
                </a:solidFill>
                <a:latin typeface="Arial"/>
              </a:rPr>
              <a:t>CodeCommit / CodeBuild / CodeDeploy / CodePipeline / CodeArtifact / CodeGuru compose the managed CI/CD toolchain.</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buildspec &amp; appspec</a:t>
            </a:r>
          </a:p>
          <a:p>
            <a:pPr algn="l">
              <a:spcAft>
                <a:spcPts val="300"/>
              </a:spcAft>
            </a:pPr>
            <a:r>
              <a:rPr sz="1150" b="0">
                <a:solidFill>
                  <a:srgbClr val="5B6372"/>
                </a:solidFill>
                <a:latin typeface="Arial"/>
              </a:rPr>
              <a:t>buildspec.yml tells CodeBuild what to build and test; appspec.yml tells CodeDeploy what and how to deploy.</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Deployment strategies</a:t>
            </a:r>
          </a:p>
          <a:p>
            <a:pPr algn="l">
              <a:spcAft>
                <a:spcPts val="300"/>
              </a:spcAft>
            </a:pPr>
            <a:r>
              <a:rPr sz="1150" b="0">
                <a:solidFill>
                  <a:srgbClr val="5B6372"/>
                </a:solidFill>
                <a:latin typeface="Arial"/>
              </a:rPr>
              <a:t>In-place, rolling, blue/green and canary trade release speed against blast radius and rollback safety.</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Artifacts</a:t>
            </a:r>
          </a:p>
          <a:p>
            <a:pPr algn="l">
              <a:spcAft>
                <a:spcPts val="300"/>
              </a:spcAft>
            </a:pPr>
            <a:r>
              <a:rPr sz="1150" b="0">
                <a:solidFill>
                  <a:srgbClr val="5B6372"/>
                </a:solidFill>
                <a:latin typeface="Arial"/>
              </a:rPr>
              <a:t>Build outputs are versioned in S3 / CodeArtifact so any release is reproducible and traceable.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xmlns:p14="http://schemas.microsoft.com/office/powerpoint/2010/main" p14:dur="380">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MANAGED CI/CD TOOLCHAIN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AWS Developer Tools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CodeCommit</a:t>
            </a:r>
          </a:p>
          <a:p>
            <a:pPr algn="l">
              <a:spcAft>
                <a:spcPts val="300"/>
              </a:spcAft>
            </a:pPr>
            <a:r>
              <a:rPr sz="1150" b="0">
                <a:solidFill>
                  <a:srgbClr val="5B6372"/>
                </a:solidFill>
                <a:latin typeface="Arial"/>
              </a:rPr>
              <a:t>Managed, private Git repositories (or bring GitHub).</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CodeBuild</a:t>
            </a:r>
          </a:p>
          <a:p>
            <a:pPr algn="l">
              <a:spcAft>
                <a:spcPts val="300"/>
              </a:spcAft>
            </a:pPr>
            <a:r>
              <a:rPr sz="1150" b="0">
                <a:solidFill>
                  <a:srgbClr val="5B6372"/>
                </a:solidFill>
                <a:latin typeface="Arial"/>
              </a:rPr>
              <a:t>Fully managed build &amp; test service driven by buildspec.yml.</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CodeDeploy</a:t>
            </a:r>
          </a:p>
          <a:p>
            <a:pPr algn="l">
              <a:spcAft>
                <a:spcPts val="300"/>
              </a:spcAft>
            </a:pPr>
            <a:r>
              <a:rPr sz="1150" b="0">
                <a:solidFill>
                  <a:srgbClr val="5B6372"/>
                </a:solidFill>
                <a:latin typeface="Arial"/>
              </a:rPr>
              <a:t>Automated deployment to EC2, on-prem, ECS and Lambda.</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CodePipeline</a:t>
            </a:r>
          </a:p>
          <a:p>
            <a:pPr algn="l">
              <a:spcAft>
                <a:spcPts val="300"/>
              </a:spcAft>
            </a:pPr>
            <a:r>
              <a:rPr sz="1150" b="0">
                <a:solidFill>
                  <a:srgbClr val="5B6372"/>
                </a:solidFill>
                <a:latin typeface="Arial"/>
              </a:rPr>
              <a:t>Orchestrates Source → Build → Deploy with approvals.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CodeArtifact</a:t>
            </a:r>
          </a:p>
          <a:p>
            <a:pPr algn="l">
              <a:spcAft>
                <a:spcPts val="300"/>
              </a:spcAft>
            </a:pPr>
            <a:r>
              <a:rPr sz="1150" b="0">
                <a:solidFill>
                  <a:srgbClr val="5B6372"/>
                </a:solidFill>
                <a:latin typeface="Arial"/>
              </a:rPr>
              <a:t>Secure artifact &amp; package repository.</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CodeGuru</a:t>
            </a:r>
          </a:p>
          <a:p>
            <a:pPr algn="l">
              <a:spcAft>
                <a:spcPts val="300"/>
              </a:spcAft>
            </a:pPr>
            <a:r>
              <a:rPr sz="1150" b="0">
                <a:solidFill>
                  <a:srgbClr val="5B6372"/>
                </a:solidFill>
                <a:latin typeface="Arial"/>
              </a:rPr>
              <a:t>ML-powered code reviews and profiler.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xmlns:p14="http://schemas.microsoft.com/office/powerpoint/2010/main" p14:dur="380">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KNOW THE DIFFERENCE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CI vs CD vs Continuous Deployment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Integrate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Deliver / Deploy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Continuous Integration</a:t>
            </a:r>
          </a:p>
          <a:p>
            <a:pPr>
              <a:spcAft>
                <a:spcPts val="1000"/>
              </a:spcAft>
            </a:pPr>
            <a:r>
              <a:rPr sz="1300" b="0">
                <a:solidFill>
                  <a:srgbClr val="5B6372"/>
                </a:solidFill>
                <a:latin typeface="Arial"/>
              </a:rPr>
              <a:t>–  Merge &amp; test every commit automatically</a:t>
            </a:r>
          </a:p>
          <a:p>
            <a:pPr>
              <a:spcAft>
                <a:spcPts val="1000"/>
              </a:spcAft>
            </a:pPr>
            <a:r>
              <a:rPr sz="1300" b="0">
                <a:solidFill>
                  <a:srgbClr val="5B6372"/>
                </a:solidFill>
                <a:latin typeface="Arial"/>
              </a:rPr>
              <a:t>–  CodeBuild runs unit tests on push</a:t>
            </a:r>
          </a:p>
          <a:p>
            <a:pPr>
              <a:spcAft>
                <a:spcPts val="1000"/>
              </a:spcAft>
            </a:pPr>
            <a:r>
              <a:rPr sz="1300" b="0">
                <a:solidFill>
                  <a:srgbClr val="5B6372"/>
                </a:solidFill>
                <a:latin typeface="Arial"/>
              </a:rPr>
              <a:t>–  Fast feedback, fewer merge conflicts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Continuous Delivery / Deployment</a:t>
            </a:r>
          </a:p>
          <a:p>
            <a:pPr>
              <a:spcAft>
                <a:spcPts val="1000"/>
              </a:spcAft>
            </a:pPr>
            <a:r>
              <a:rPr sz="1300" b="0">
                <a:solidFill>
                  <a:srgbClr val="5B6372"/>
                </a:solidFill>
                <a:latin typeface="Arial"/>
              </a:rPr>
              <a:t>–  Every green build is releasable</a:t>
            </a:r>
          </a:p>
          <a:p>
            <a:pPr>
              <a:spcAft>
                <a:spcPts val="1000"/>
              </a:spcAft>
            </a:pPr>
            <a:r>
              <a:rPr sz="1300" b="0">
                <a:solidFill>
                  <a:srgbClr val="5B6372"/>
                </a:solidFill>
                <a:latin typeface="Arial"/>
              </a:rPr>
              <a:t>–  Delivery = one approval to promote to prod</a:t>
            </a:r>
          </a:p>
          <a:p>
            <a:pPr>
              <a:spcAft>
                <a:spcPts val="1000"/>
              </a:spcAft>
            </a:pPr>
            <a:r>
              <a:rPr sz="1300" b="0">
                <a:solidFill>
                  <a:srgbClr val="5B6372"/>
                </a:solidFill>
                <a:latin typeface="Arial"/>
              </a:rPr>
              <a:t>–  Deployment = fully automatic to prod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xmlns:p14="http://schemas.microsoft.com/office/powerpoint/2010/main" p14:dur="380">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01 · CODEPIPELINE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CI/CD Pipeline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828800" cy="1051560"/>
          </a:xfrm>
          <a:prstGeom prst="roundRect">
            <a:avLst/>
          </a:prstGeom>
          <a:solidFill>
            <a:srgbClr val="F5F8FC"/>
          </a:solidFill>
          <a:ln w="15875">
            <a:solidFill>
              <a:srgbClr val="5B63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828800" cy="822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Developer
commit</a:t>
            </a:r>
          </a:p>
        </p:txBody>
      </p:sp>
      <p:sp>
        <p:nvSpPr>
          <p:cNvPr id="10" name="Rounded Rectangle 9"/>
          <p:cNvSpPr/>
          <p:nvPr/>
        </p:nvSpPr>
        <p:spPr>
          <a:xfrm>
            <a:off x="2971800" y="1965960"/>
            <a:ext cx="182880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71800" y="1965960"/>
            <a:ext cx="182880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Source
CodeCommit / GitHub</a:t>
            </a:r>
          </a:p>
        </p:txBody>
      </p:sp>
      <p:sp>
        <p:nvSpPr>
          <p:cNvPr id="13" name="Rounded Rectangle 12"/>
          <p:cNvSpPr/>
          <p:nvPr/>
        </p:nvSpPr>
        <p:spPr>
          <a:xfrm>
            <a:off x="5166360" y="1965960"/>
            <a:ext cx="182880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66360" y="1965960"/>
            <a:ext cx="182880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80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Build &amp; Test
CodeBuild (buildspec)</a:t>
            </a:r>
          </a:p>
        </p:txBody>
      </p:sp>
      <p:sp>
        <p:nvSpPr>
          <p:cNvPr id="16" name="Rounded Rectangle 15"/>
          <p:cNvSpPr/>
          <p:nvPr/>
        </p:nvSpPr>
        <p:spPr>
          <a:xfrm>
            <a:off x="7360920" y="1965960"/>
            <a:ext cx="1828800" cy="1051560"/>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60920" y="1965960"/>
            <a:ext cx="182880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Manual Approval</a:t>
            </a:r>
          </a:p>
        </p:txBody>
      </p:sp>
      <p:sp>
        <p:nvSpPr>
          <p:cNvPr id="19" name="Rounded Rectangle 18"/>
          <p:cNvSpPr/>
          <p:nvPr/>
        </p:nvSpPr>
        <p:spPr>
          <a:xfrm>
            <a:off x="9555480" y="1965960"/>
            <a:ext cx="182880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555480" y="1965960"/>
            <a:ext cx="18288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4692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Deploy
CodeDeploy (appspec)</a:t>
            </a:r>
          </a:p>
        </p:txBody>
      </p:sp>
      <p:sp>
        <p:nvSpPr>
          <p:cNvPr id="22" name="Rounded Rectangle 21"/>
          <p:cNvSpPr/>
          <p:nvPr/>
        </p:nvSpPr>
        <p:spPr>
          <a:xfrm>
            <a:off x="5166360" y="3657600"/>
            <a:ext cx="182880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66360" y="3657600"/>
            <a:ext cx="182880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57800" y="376732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Artifacts
S3</a:t>
            </a:r>
          </a:p>
        </p:txBody>
      </p:sp>
      <p:sp>
        <p:nvSpPr>
          <p:cNvPr id="25" name="Rounded Rectangle 24"/>
          <p:cNvSpPr/>
          <p:nvPr/>
        </p:nvSpPr>
        <p:spPr>
          <a:xfrm>
            <a:off x="9555480" y="3657600"/>
            <a:ext cx="182880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55480" y="3657600"/>
            <a:ext cx="18288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46920" y="376732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Targets
EC2 / ECS / Lambda</a:t>
            </a:r>
          </a:p>
        </p:txBody>
      </p:sp>
      <p:cxnSp>
        <p:nvCxnSpPr>
          <p:cNvPr id="28" name="Connector 27"/>
          <p:cNvCxnSpPr/>
          <p:nvPr/>
        </p:nvCxnSpPr>
        <p:spPr>
          <a:xfrm>
            <a:off x="260604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80060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99516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18972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0807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46988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1F6FEB"/>
                </a:solidFill>
                <a:latin typeface="Arial"/>
              </a:rPr>
              <a:t>▶  </a:t>
            </a:r>
            <a:r>
              <a:rPr sz="1300" b="0">
                <a:solidFill>
                  <a:srgbClr val="161B26"/>
                </a:solidFill>
                <a:latin typeface="Arial"/>
              </a:rPr>
              <a:t>A commit flows Source → Build → Approve → Deploy; a failed test stops the pipeline before production.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xmlns:p14="http://schemas.microsoft.com/office/powerpoint/2010/main" p14:dur="380">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A RELEASE PATTERN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Deployment Strategies Compared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914204"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731324" cy="502920"/>
          </a:xfrm>
          <a:prstGeom prst="rect">
            <a:avLst/>
          </a:prstGeom>
          <a:noFill/>
        </p:spPr>
        <p:txBody>
          <a:bodyPr wrap="square" anchor="ctr">
            <a:spAutoFit/>
          </a:bodyPr>
          <a:lstStyle/>
          <a:p>
            <a:pPr algn="l">
              <a:spcAft>
                <a:spcPts val="400"/>
              </a:spcAft>
            </a:pPr>
            <a:r>
              <a:rPr sz="1400" b="1">
                <a:solidFill>
                  <a:srgbClr val="FFFFFF"/>
                </a:solidFill>
                <a:latin typeface="Arial"/>
              </a:rPr>
              <a:t>Strategy</a:t>
            </a:r>
          </a:p>
        </p:txBody>
      </p:sp>
      <p:sp>
        <p:nvSpPr>
          <p:cNvPr id="9" name="Rectangle 8"/>
          <p:cNvSpPr/>
          <p:nvPr/>
        </p:nvSpPr>
        <p:spPr>
          <a:xfrm>
            <a:off x="2691444" y="1783080"/>
            <a:ext cx="361572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01172" y="1783080"/>
            <a:ext cx="3432840" cy="502920"/>
          </a:xfrm>
          <a:prstGeom prst="rect">
            <a:avLst/>
          </a:prstGeom>
          <a:noFill/>
        </p:spPr>
        <p:txBody>
          <a:bodyPr wrap="square" anchor="ctr">
            <a:spAutoFit/>
          </a:bodyPr>
          <a:lstStyle/>
          <a:p>
            <a:pPr algn="ctr">
              <a:spcAft>
                <a:spcPts val="400"/>
              </a:spcAft>
            </a:pPr>
            <a:r>
              <a:rPr sz="1400" b="1">
                <a:solidFill>
                  <a:srgbClr val="FFFFFF"/>
                </a:solidFill>
                <a:latin typeface="Arial"/>
              </a:rPr>
              <a:t>How it works</a:t>
            </a:r>
          </a:p>
        </p:txBody>
      </p:sp>
      <p:sp>
        <p:nvSpPr>
          <p:cNvPr id="11" name="Rectangle 10"/>
          <p:cNvSpPr/>
          <p:nvPr/>
        </p:nvSpPr>
        <p:spPr>
          <a:xfrm>
            <a:off x="6307164" y="178308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6892" y="1783080"/>
            <a:ext cx="2369393" cy="502920"/>
          </a:xfrm>
          <a:prstGeom prst="rect">
            <a:avLst/>
          </a:prstGeom>
          <a:noFill/>
        </p:spPr>
        <p:txBody>
          <a:bodyPr wrap="square" anchor="ctr">
            <a:spAutoFit/>
          </a:bodyPr>
          <a:lstStyle/>
          <a:p>
            <a:pPr algn="ctr">
              <a:spcAft>
                <a:spcPts val="400"/>
              </a:spcAft>
            </a:pPr>
            <a:r>
              <a:rPr sz="1400" b="1">
                <a:solidFill>
                  <a:srgbClr val="FFFFFF"/>
                </a:solidFill>
                <a:latin typeface="Arial"/>
              </a:rPr>
              <a:t>Rollback</a:t>
            </a:r>
          </a:p>
        </p:txBody>
      </p:sp>
      <p:sp>
        <p:nvSpPr>
          <p:cNvPr id="13" name="Rectangle 12"/>
          <p:cNvSpPr/>
          <p:nvPr/>
        </p:nvSpPr>
        <p:spPr>
          <a:xfrm>
            <a:off x="8859437" y="178308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9165" y="1783080"/>
            <a:ext cx="2369393" cy="502920"/>
          </a:xfrm>
          <a:prstGeom prst="rect">
            <a:avLst/>
          </a:prstGeom>
          <a:noFill/>
        </p:spPr>
        <p:txBody>
          <a:bodyPr wrap="square" anchor="ctr">
            <a:spAutoFit/>
          </a:bodyPr>
          <a:lstStyle/>
          <a:p>
            <a:pPr algn="ctr">
              <a:spcAft>
                <a:spcPts val="400"/>
              </a:spcAft>
            </a:pPr>
            <a:r>
              <a:rPr sz="1400" b="1">
                <a:solidFill>
                  <a:srgbClr val="FFFFFF"/>
                </a:solidFill>
                <a:latin typeface="Arial"/>
              </a:rPr>
              <a:t>Best for</a:t>
            </a:r>
          </a:p>
        </p:txBody>
      </p:sp>
      <p:sp>
        <p:nvSpPr>
          <p:cNvPr id="15" name="Rectangle 14"/>
          <p:cNvSpPr/>
          <p:nvPr/>
        </p:nvSpPr>
        <p:spPr>
          <a:xfrm>
            <a:off x="777240" y="2286000"/>
            <a:ext cx="191420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86000"/>
            <a:ext cx="1731324" cy="822960"/>
          </a:xfrm>
          <a:prstGeom prst="rect">
            <a:avLst/>
          </a:prstGeom>
          <a:noFill/>
        </p:spPr>
        <p:txBody>
          <a:bodyPr wrap="square" anchor="ctr">
            <a:spAutoFit/>
          </a:bodyPr>
          <a:lstStyle/>
          <a:p>
            <a:pPr algn="l">
              <a:spcAft>
                <a:spcPts val="400"/>
              </a:spcAft>
            </a:pPr>
            <a:r>
              <a:rPr sz="1250" b="1">
                <a:solidFill>
                  <a:srgbClr val="161B26"/>
                </a:solidFill>
                <a:latin typeface="Arial"/>
              </a:rPr>
              <a:t>In-place</a:t>
            </a:r>
          </a:p>
        </p:txBody>
      </p:sp>
      <p:sp>
        <p:nvSpPr>
          <p:cNvPr id="17" name="Rectangle 16"/>
          <p:cNvSpPr/>
          <p:nvPr/>
        </p:nvSpPr>
        <p:spPr>
          <a:xfrm>
            <a:off x="2691444" y="228600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01172" y="228600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Update the same instances</a:t>
            </a:r>
          </a:p>
        </p:txBody>
      </p:sp>
      <p:sp>
        <p:nvSpPr>
          <p:cNvPr id="19" name="Rectangle 18"/>
          <p:cNvSpPr/>
          <p:nvPr/>
        </p:nvSpPr>
        <p:spPr>
          <a:xfrm>
            <a:off x="6307164" y="228600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6892" y="228600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Redeploy previous</a:t>
            </a:r>
          </a:p>
        </p:txBody>
      </p:sp>
      <p:sp>
        <p:nvSpPr>
          <p:cNvPr id="21" name="Rectangle 20"/>
          <p:cNvSpPr/>
          <p:nvPr/>
        </p:nvSpPr>
        <p:spPr>
          <a:xfrm>
            <a:off x="8859437" y="228600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9165" y="228600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Dev / simple apps</a:t>
            </a:r>
          </a:p>
        </p:txBody>
      </p:sp>
      <p:sp>
        <p:nvSpPr>
          <p:cNvPr id="23" name="Rectangle 22"/>
          <p:cNvSpPr/>
          <p:nvPr/>
        </p:nvSpPr>
        <p:spPr>
          <a:xfrm>
            <a:off x="777240" y="3108960"/>
            <a:ext cx="191420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08960"/>
            <a:ext cx="1731324" cy="822960"/>
          </a:xfrm>
          <a:prstGeom prst="rect">
            <a:avLst/>
          </a:prstGeom>
          <a:noFill/>
        </p:spPr>
        <p:txBody>
          <a:bodyPr wrap="square" anchor="ctr">
            <a:spAutoFit/>
          </a:bodyPr>
          <a:lstStyle/>
          <a:p>
            <a:pPr algn="l">
              <a:spcAft>
                <a:spcPts val="400"/>
              </a:spcAft>
            </a:pPr>
            <a:r>
              <a:rPr sz="1250" b="1">
                <a:solidFill>
                  <a:srgbClr val="161B26"/>
                </a:solidFill>
                <a:latin typeface="Arial"/>
              </a:rPr>
              <a:t>Rolling</a:t>
            </a:r>
          </a:p>
        </p:txBody>
      </p:sp>
      <p:sp>
        <p:nvSpPr>
          <p:cNvPr id="25" name="Rectangle 24"/>
          <p:cNvSpPr/>
          <p:nvPr/>
        </p:nvSpPr>
        <p:spPr>
          <a:xfrm>
            <a:off x="2691444" y="310896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01172" y="310896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Update in batches</a:t>
            </a:r>
          </a:p>
        </p:txBody>
      </p:sp>
      <p:sp>
        <p:nvSpPr>
          <p:cNvPr id="27" name="Rectangle 26"/>
          <p:cNvSpPr/>
          <p:nvPr/>
        </p:nvSpPr>
        <p:spPr>
          <a:xfrm>
            <a:off x="6307164" y="310896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6892" y="310896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Batch by batch</a:t>
            </a:r>
          </a:p>
        </p:txBody>
      </p:sp>
      <p:sp>
        <p:nvSpPr>
          <p:cNvPr id="29" name="Rectangle 28"/>
          <p:cNvSpPr/>
          <p:nvPr/>
        </p:nvSpPr>
        <p:spPr>
          <a:xfrm>
            <a:off x="8859437" y="310896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9165" y="310896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Steady, low-risk updates</a:t>
            </a:r>
          </a:p>
        </p:txBody>
      </p:sp>
      <p:sp>
        <p:nvSpPr>
          <p:cNvPr id="31" name="Rectangle 30"/>
          <p:cNvSpPr/>
          <p:nvPr/>
        </p:nvSpPr>
        <p:spPr>
          <a:xfrm>
            <a:off x="777240" y="3931920"/>
            <a:ext cx="191420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931920"/>
            <a:ext cx="1731324" cy="822960"/>
          </a:xfrm>
          <a:prstGeom prst="rect">
            <a:avLst/>
          </a:prstGeom>
          <a:noFill/>
        </p:spPr>
        <p:txBody>
          <a:bodyPr wrap="square" anchor="ctr">
            <a:spAutoFit/>
          </a:bodyPr>
          <a:lstStyle/>
          <a:p>
            <a:pPr algn="l">
              <a:spcAft>
                <a:spcPts val="400"/>
              </a:spcAft>
            </a:pPr>
            <a:r>
              <a:rPr sz="1250" b="1">
                <a:solidFill>
                  <a:srgbClr val="161B26"/>
                </a:solidFill>
                <a:latin typeface="Arial"/>
              </a:rPr>
              <a:t>Blue/Green</a:t>
            </a:r>
          </a:p>
        </p:txBody>
      </p:sp>
      <p:sp>
        <p:nvSpPr>
          <p:cNvPr id="33" name="Rectangle 32"/>
          <p:cNvSpPr/>
          <p:nvPr/>
        </p:nvSpPr>
        <p:spPr>
          <a:xfrm>
            <a:off x="2691444" y="393192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01172" y="393192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Shift traffic to a new fleet</a:t>
            </a:r>
          </a:p>
        </p:txBody>
      </p:sp>
      <p:sp>
        <p:nvSpPr>
          <p:cNvPr id="35" name="Rectangle 34"/>
          <p:cNvSpPr/>
          <p:nvPr/>
        </p:nvSpPr>
        <p:spPr>
          <a:xfrm>
            <a:off x="6307164" y="393192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16892" y="393192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Instant switch-back</a:t>
            </a:r>
          </a:p>
        </p:txBody>
      </p:sp>
      <p:sp>
        <p:nvSpPr>
          <p:cNvPr id="37" name="Rectangle 36"/>
          <p:cNvSpPr/>
          <p:nvPr/>
        </p:nvSpPr>
        <p:spPr>
          <a:xfrm>
            <a:off x="8859437" y="393192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9165" y="393192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Zero-downtime prod</a:t>
            </a:r>
          </a:p>
        </p:txBody>
      </p:sp>
      <p:sp>
        <p:nvSpPr>
          <p:cNvPr id="39" name="Rectangle 38"/>
          <p:cNvSpPr/>
          <p:nvPr/>
        </p:nvSpPr>
        <p:spPr>
          <a:xfrm>
            <a:off x="777240" y="4754880"/>
            <a:ext cx="191420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754880"/>
            <a:ext cx="1731324" cy="822960"/>
          </a:xfrm>
          <a:prstGeom prst="rect">
            <a:avLst/>
          </a:prstGeom>
          <a:noFill/>
        </p:spPr>
        <p:txBody>
          <a:bodyPr wrap="square" anchor="ctr">
            <a:spAutoFit/>
          </a:bodyPr>
          <a:lstStyle/>
          <a:p>
            <a:pPr algn="l">
              <a:spcAft>
                <a:spcPts val="400"/>
              </a:spcAft>
            </a:pPr>
            <a:r>
              <a:rPr sz="1250" b="1">
                <a:solidFill>
                  <a:srgbClr val="161B26"/>
                </a:solidFill>
                <a:latin typeface="Arial"/>
              </a:rPr>
              <a:t>Canary</a:t>
            </a:r>
          </a:p>
        </p:txBody>
      </p:sp>
      <p:sp>
        <p:nvSpPr>
          <p:cNvPr id="41" name="Rectangle 40"/>
          <p:cNvSpPr/>
          <p:nvPr/>
        </p:nvSpPr>
        <p:spPr>
          <a:xfrm>
            <a:off x="2691444" y="475488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01172" y="475488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Shift a small % first</a:t>
            </a:r>
          </a:p>
        </p:txBody>
      </p:sp>
      <p:sp>
        <p:nvSpPr>
          <p:cNvPr id="43" name="Rectangle 42"/>
          <p:cNvSpPr/>
          <p:nvPr/>
        </p:nvSpPr>
        <p:spPr>
          <a:xfrm>
            <a:off x="6307164" y="475488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16892" y="475488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Stop &amp; revert</a:t>
            </a:r>
          </a:p>
        </p:txBody>
      </p:sp>
      <p:sp>
        <p:nvSpPr>
          <p:cNvPr id="45" name="Rectangle 44"/>
          <p:cNvSpPr/>
          <p:nvPr/>
        </p:nvSpPr>
        <p:spPr>
          <a:xfrm>
            <a:off x="8859437" y="475488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9165" y="475488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High-risk changes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xmlns:p14="http://schemas.microsoft.com/office/powerpoint/2010/main" p14:dur="380">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TRADE-OFFS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Deployment Strategy — Blast Radius vs Rollback Speed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Blue/green and canary minimise how many users a bad release can affect and let you roll back fastest.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xmlns:p14="http://schemas.microsoft.com/office/powerpoint/2010/main" p14:dur="380">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SHIFT LEFT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Automated Testing in the Pipeline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Unit tests</a:t>
            </a:r>
          </a:p>
          <a:p>
            <a:pPr algn="l">
              <a:spcAft>
                <a:spcPts val="300"/>
              </a:spcAft>
            </a:pPr>
            <a:r>
              <a:rPr sz="1200" b="0">
                <a:solidFill>
                  <a:srgbClr val="5B6372"/>
                </a:solidFill>
                <a:latin typeface="Arial"/>
              </a:rPr>
              <a:t>Run in CodeBuild on every commit — fail fast, block the merge.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Integration tests</a:t>
            </a:r>
          </a:p>
          <a:p>
            <a:pPr algn="l">
              <a:spcAft>
                <a:spcPts val="300"/>
              </a:spcAft>
            </a:pPr>
            <a:r>
              <a:rPr sz="1200" b="0">
                <a:solidFill>
                  <a:srgbClr val="5B6372"/>
                </a:solidFill>
                <a:latin typeface="Arial"/>
              </a:rPr>
              <a:t>Verify services work together before promotion to staging.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Security scans</a:t>
            </a:r>
          </a:p>
          <a:p>
            <a:pPr algn="l">
              <a:spcAft>
                <a:spcPts val="300"/>
              </a:spcAft>
            </a:pPr>
            <a:r>
              <a:rPr sz="1200" b="0">
                <a:solidFill>
                  <a:srgbClr val="5B6372"/>
                </a:solidFill>
                <a:latin typeface="Arial"/>
              </a:rPr>
              <a:t>SAST/SCA on code and dependencies inside the build phase.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Quality gates</a:t>
            </a:r>
          </a:p>
          <a:p>
            <a:pPr algn="l">
              <a:spcAft>
                <a:spcPts val="300"/>
              </a:spcAft>
            </a:pPr>
            <a:r>
              <a:rPr sz="1200" b="0">
                <a:solidFill>
                  <a:srgbClr val="5B6372"/>
                </a:solidFill>
                <a:latin typeface="Arial"/>
              </a:rPr>
              <a:t>CodeGuru / linters and coverage thresholds gate the release.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xmlns:p14="http://schemas.microsoft.com/office/powerpoint/2010/main" p14:dur="380">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CODEBUILD KNOWS WHAT TO DO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Anatomy of buildspec.yml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version / env</a:t>
            </a:r>
          </a:p>
          <a:p>
            <a:pPr algn="l">
              <a:spcAft>
                <a:spcPts val="300"/>
              </a:spcAft>
            </a:pPr>
            <a:r>
              <a:rPr sz="1100" b="0">
                <a:solidFill>
                  <a:srgbClr val="5B6372"/>
                </a:solidFill>
                <a:latin typeface="Arial"/>
              </a:rPr>
              <a:t>Declare the buildspec version and environment variables / secrets.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phases: install</a:t>
            </a:r>
          </a:p>
          <a:p>
            <a:pPr algn="l">
              <a:spcAft>
                <a:spcPts val="300"/>
              </a:spcAft>
            </a:pPr>
            <a:r>
              <a:rPr sz="1100" b="0">
                <a:solidFill>
                  <a:srgbClr val="5B6372"/>
                </a:solidFill>
                <a:latin typeface="Arial"/>
              </a:rPr>
              <a:t>Set up the runtime and install dependencies.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phases: pre_build</a:t>
            </a:r>
          </a:p>
          <a:p>
            <a:pPr algn="l">
              <a:spcAft>
                <a:spcPts val="300"/>
              </a:spcAft>
            </a:pPr>
            <a:r>
              <a:rPr sz="1100" b="0">
                <a:solidFill>
                  <a:srgbClr val="5B6372"/>
                </a:solidFill>
                <a:latin typeface="Arial"/>
              </a:rPr>
              <a:t>Log in to registries, run linters.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phases: build</a:t>
            </a:r>
          </a:p>
          <a:p>
            <a:pPr algn="l">
              <a:spcAft>
                <a:spcPts val="300"/>
              </a:spcAft>
            </a:pPr>
            <a:r>
              <a:rPr sz="1100" b="0">
                <a:solidFill>
                  <a:srgbClr val="5B6372"/>
                </a:solidFill>
                <a:latin typeface="Arial"/>
              </a:rPr>
              <a:t>Compile, run unit tests, package the app.</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phases: post_build</a:t>
            </a:r>
          </a:p>
          <a:p>
            <a:pPr algn="l">
              <a:spcAft>
                <a:spcPts val="300"/>
              </a:spcAft>
            </a:pPr>
            <a:r>
              <a:rPr sz="1100" b="0">
                <a:solidFill>
                  <a:srgbClr val="5B6372"/>
                </a:solidFill>
                <a:latin typeface="Arial"/>
              </a:rPr>
              <a:t>Push images, generate reports.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artifacts</a:t>
            </a:r>
          </a:p>
          <a:p>
            <a:pPr algn="l">
              <a:spcAft>
                <a:spcPts val="300"/>
              </a:spcAft>
            </a:pPr>
            <a:r>
              <a:rPr sz="1100" b="0">
                <a:solidFill>
                  <a:srgbClr val="5B6372"/>
                </a:solidFill>
                <a:latin typeface="Arial"/>
              </a:rPr>
              <a:t>Declare the versioned output CodePipeline carries forward.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xmlns:p14="http://schemas.microsoft.com/office/powerpoint/2010/main" p14:dur="380">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Continuous Integration — mechanics, not just merging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Every commit to the mainline triggers an automated build and test run, so integration problems surface within minutes of the change that caused them.</a:t>
            </a:r>
          </a:p>
          <a:p>
            <a:pPr>
              <a:spcAft>
                <a:spcPts val="800"/>
              </a:spcAft>
            </a:pPr>
            <a:r>
              <a:rPr sz="1350" b="0">
                <a:solidFill>
                  <a:srgbClr val="161B26"/>
                </a:solidFill>
                <a:latin typeface="Arial"/>
              </a:rPr>
              <a:t>•  CodeBuild runs the build in an ephemeral, reproducible container defined by buildspec.yml — the same steps run for every developer.</a:t>
            </a:r>
          </a:p>
          <a:p>
            <a:pPr>
              <a:spcAft>
                <a:spcPts val="800"/>
              </a:spcAft>
            </a:pPr>
            <a:r>
              <a:rPr sz="1350" b="0">
                <a:solidFill>
                  <a:srgbClr val="161B26"/>
                </a:solidFill>
                <a:latin typeface="Arial"/>
              </a:rPr>
              <a:t>•  A red build blocks the merge; the team's working agreement is that a broken mainline is fixed before any new work continues.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Small, frequent integrations keep the merge delta tiny, so defects are cheap to locate and revert — the opposite of a painful 'big-bang' integration before release.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Long-lived feature branches that integrate weekly recreate the very merge-hell CI exists to prevent; the build stays green only because nothing is really being integrated.</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Faster feedback needs fast builds — split slow suites into parallel CodeBuild batches or later pipeline stages so the commit-stage stays under ~10 minutes.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xmlns:p14="http://schemas.microsoft.com/office/powerpoint/2010/main" p14:dur="380">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Continuous Delivery vs Continuous Deployment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Continuous Delivery keeps every green build in a releasable state; a human approval action gates the final promotion to production.</a:t>
            </a:r>
          </a:p>
          <a:p>
            <a:pPr>
              <a:spcAft>
                <a:spcPts val="800"/>
              </a:spcAft>
            </a:pPr>
            <a:r>
              <a:rPr sz="1350" b="0">
                <a:solidFill>
                  <a:srgbClr val="161B26"/>
                </a:solidFill>
                <a:latin typeface="Arial"/>
              </a:rPr>
              <a:t>•  Continuous Deployment removes that gate — every change that passes the pipeline goes to production automatically.</a:t>
            </a:r>
          </a:p>
          <a:p>
            <a:pPr>
              <a:spcAft>
                <a:spcPts val="800"/>
              </a:spcAft>
            </a:pPr>
            <a:r>
              <a:rPr sz="1350" b="0">
                <a:solidFill>
                  <a:srgbClr val="161B26"/>
                </a:solidFill>
                <a:latin typeface="Arial"/>
              </a:rPr>
              <a:t>•  Both rely on the same pipeline; the only difference is whether a person presses the button.</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Delivery gives regulated or high-blast-radius teams a control point; Deployment gives high-trust teams maximum flow once automated tests and progressive rollout make failures cheap.</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Adopting Continuous Deployment before you have strong automated tests and fast rollback turns the pipeline into an automated way to ship bugs to customers.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An approval gate adds safety but also queueing delay and 'rubber-stamp' risk — reserve manual approval for genuinely irreversible or compliance-driven steps.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xmlns:p14="http://schemas.microsoft.com/office/powerpoint/2010/main" p14:dur="380">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Source control as the pipeline trigger — GitHub via CodeConnections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The modern AWS path connects a GitHub (or GitHub Enterprise / Bitbucket / GitLab) repository through AWS CodeConnections, so a push starts the pipeline over a managed, OAuth/app-based connection.</a:t>
            </a:r>
          </a:p>
          <a:p>
            <a:pPr>
              <a:spcAft>
                <a:spcPts val="800"/>
              </a:spcAft>
            </a:pPr>
            <a:r>
              <a:rPr sz="1350" b="0">
                <a:solidFill>
                  <a:srgbClr val="161B26"/>
                </a:solidFill>
                <a:latin typeface="Arial"/>
              </a:rPr>
              <a:t>•  CodeCommit remains an AWS-native Git option, but new work standardises on external Git providers via CodeConnections.</a:t>
            </a:r>
          </a:p>
          <a:p>
            <a:pPr>
              <a:spcAft>
                <a:spcPts val="800"/>
              </a:spcAft>
            </a:pPr>
            <a:r>
              <a:rPr sz="1350" b="0">
                <a:solidFill>
                  <a:srgbClr val="161B26"/>
                </a:solidFill>
                <a:latin typeface="Arial"/>
              </a:rPr>
              <a:t>•  The Source stage stores the commit as an artifact in an encrypted S3 bucket that later stages consume.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CodeConnections removes long-lived Git credentials from the pipeline and lets teams keep their existing GitHub workflow, reviews and branch protection.</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Polling a repository instead of using the connection's webhook adds minutes of latency and can miss rapid successive commits.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Managed connections centralise trust in one integration — scope its permissions and monitor CodeConnections access as part of your security posture.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xmlns:p14="http://schemas.microsoft.com/office/powerpoint/2010/main" p14:dur="380">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buildspec.yml — teaching CodeBuild your build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buildspec.yml declares phases (install, pre_build, build, post_build), the runtime versions, environment variables and the artifacts to export.</a:t>
            </a:r>
          </a:p>
          <a:p>
            <a:pPr>
              <a:spcAft>
                <a:spcPts val="800"/>
              </a:spcAft>
            </a:pPr>
            <a:r>
              <a:rPr sz="1350" b="0">
                <a:solidFill>
                  <a:srgbClr val="161B26"/>
                </a:solidFill>
                <a:latin typeface="Arial"/>
              </a:rPr>
              <a:t>•  Secrets are pulled at build time from Secrets Manager or SSM Parameter Store, never hard-coded in the file.</a:t>
            </a:r>
          </a:p>
          <a:p>
            <a:pPr>
              <a:spcAft>
                <a:spcPts val="800"/>
              </a:spcAft>
            </a:pPr>
            <a:r>
              <a:rPr sz="1350" b="0">
                <a:solidFill>
                  <a:srgbClr val="161B26"/>
                </a:solidFill>
                <a:latin typeface="Arial"/>
              </a:rPr>
              <a:t>•  The build produces a single versioned artifact that every downstream stage reuses — build once, deploy many times.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declarative build spec makes the build reproducible and reviewable in code review, and identical across every developer and the pipeline.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Baking credentials or environment-specific values into buildspec.yml couples the artifact to one environment and leaks secrets into logs.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Rich caching (dependencies, layers) speeds builds but can hide dependency drift — pin versions and periodically build clean.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xmlns:p14="http://schemas.microsoft.com/office/powerpoint/2010/main" p14:dur="380">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appspec + deployment lifecycle hooks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appspec.yml tells CodeDeploy what to copy and which lifecycle-hook scripts to run (BeforeInstall, AfterInstall, ApplicationStart, ValidateService).</a:t>
            </a:r>
          </a:p>
          <a:p>
            <a:pPr>
              <a:spcAft>
                <a:spcPts val="800"/>
              </a:spcAft>
            </a:pPr>
            <a:r>
              <a:rPr sz="1350" b="0">
                <a:solidFill>
                  <a:srgbClr val="161B26"/>
                </a:solidFill>
                <a:latin typeface="Arial"/>
              </a:rPr>
              <a:t>•  The ValidateService hook is where a health check decides whether the new version is actually serving traffic.</a:t>
            </a:r>
          </a:p>
          <a:p>
            <a:pPr>
              <a:spcAft>
                <a:spcPts val="800"/>
              </a:spcAft>
            </a:pPr>
            <a:r>
              <a:rPr sz="1350" b="0">
                <a:solidFill>
                  <a:srgbClr val="161B26"/>
                </a:solidFill>
                <a:latin typeface="Arial"/>
              </a:rPr>
              <a:t>•  For blue/green, CodeDeploy shifts traffic between target groups instead of updating files in place.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Lifecycle hooks turn 'copy files' into a safe, verifiable release with an explicit go/no-go check before the deployment is declared successful.</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ValidateService hook that always exits 0 defeats automated rollback — a broken release is reported as healthy.</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Longer validation windows catch more problems but slow each deployment and hold the fleet in a mixed-version state.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xmlns:p14="http://schemas.microsoft.com/office/powerpoint/2010/main" p14:dur="380">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Artifacts, versioning and traceability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Build outputs are versioned in S3 and packages in CodeArtifact, each tied to the source commit that produced it.</a:t>
            </a:r>
          </a:p>
          <a:p>
            <a:pPr>
              <a:spcAft>
                <a:spcPts val="800"/>
              </a:spcAft>
            </a:pPr>
            <a:r>
              <a:rPr sz="1350" b="0">
                <a:solidFill>
                  <a:srgbClr val="161B26"/>
                </a:solidFill>
                <a:latin typeface="Arial"/>
              </a:rPr>
              <a:t>•  Any production release can be traced back to an exact commit, build log and test result.</a:t>
            </a:r>
          </a:p>
          <a:p>
            <a:pPr>
              <a:spcAft>
                <a:spcPts val="800"/>
              </a:spcAft>
            </a:pPr>
            <a:r>
              <a:rPr sz="1350" b="0">
                <a:solidFill>
                  <a:srgbClr val="161B26"/>
                </a:solidFill>
                <a:latin typeface="Arial"/>
              </a:rPr>
              <a:t>•  Rollback becomes 'redeploy the previous known-good artifact', not 'rebuild and hope'.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Immutable, versioned artifacts make releases reproducible and auditable — essential for incident forensics and compliance evidence.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Rebuilding from source on rollback can pull newer dependencies and reintroduce or mask the very fault you are rolling back from.</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Retaining every artifact aids traceability but grows storage cost — apply S3 lifecycle rules to age out old, unreferenced builds.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xmlns:p14="http://schemas.microsoft.com/office/powerpoint/2010/main" p14:dur="380">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Automated testing and quality gates in the pipeline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Unit tests run in the commit stage; integration, security (SAST/SCA) and performance checks run in later stages before promotion.</a:t>
            </a:r>
          </a:p>
          <a:p>
            <a:pPr>
              <a:spcAft>
                <a:spcPts val="800"/>
              </a:spcAft>
            </a:pPr>
            <a:r>
              <a:rPr sz="1350" b="0">
                <a:solidFill>
                  <a:srgbClr val="161B26"/>
                </a:solidFill>
                <a:latin typeface="Arial"/>
              </a:rPr>
              <a:t>•  Quality gates — coverage thresholds, CodeGuru findings, linters — can fail the build automatically.</a:t>
            </a:r>
          </a:p>
          <a:p>
            <a:pPr>
              <a:spcAft>
                <a:spcPts val="800"/>
              </a:spcAft>
            </a:pPr>
            <a:r>
              <a:rPr sz="1350" b="0">
                <a:solidFill>
                  <a:srgbClr val="161B26"/>
                </a:solidFill>
                <a:latin typeface="Arial"/>
              </a:rPr>
              <a:t>•  Test data and environments are provisioned as code so tests are repeatable.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Shifting testing left catches defects when they are cheapest to fix and keeps the mainline releasable at all times.</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Flaky tests train the team to ignore red builds; a pipeline everyone overrides provides no protection at all.</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More gates raise confidence but lengthen lead time — order them fast-to-slow and fail fast on the cheapest checks.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xmlns:p14="http://schemas.microsoft.com/office/powerpoint/2010/main" p14:dur="380">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Choosing a deployment strategy by blast radius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In-place is simplest but updates live instances and risks downtime; rolling limits impact to a batch at a time.</a:t>
            </a:r>
          </a:p>
          <a:p>
            <a:pPr>
              <a:spcAft>
                <a:spcPts val="800"/>
              </a:spcAft>
            </a:pPr>
            <a:r>
              <a:rPr sz="1350" b="0">
                <a:solidFill>
                  <a:srgbClr val="161B26"/>
                </a:solidFill>
                <a:latin typeface="Arial"/>
              </a:rPr>
              <a:t>•  Blue/green stands up a parallel fleet and switches traffic — instant rollback by switching back.</a:t>
            </a:r>
          </a:p>
          <a:p>
            <a:pPr>
              <a:spcAft>
                <a:spcPts val="800"/>
              </a:spcAft>
            </a:pPr>
            <a:r>
              <a:rPr sz="1350" b="0">
                <a:solidFill>
                  <a:srgbClr val="161B26"/>
                </a:solidFill>
                <a:latin typeface="Arial"/>
              </a:rPr>
              <a:t>•  Canary shifts a small percentage first, watches metrics, then completes or aborts the rollout.</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Matching the strategy to the change's risk lets you trade release speed against how many users a bad release can touch.</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Blue/green without draining connections or warming caches can still cause a visible blip at cut-over.</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Blue/green needs roughly double capacity during the shift; canary needs good metrics and automated alarms to be safe.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xmlns:p14="http://schemas.microsoft.com/office/powerpoint/2010/main" p14:dur="380">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Pipeline structure — stages, actions and promotion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 pipeline is stages (Source → Build → Test → Deploy-to-Staging → Approve → Deploy-to-Prod), each containing actions that can run in parallel.</a:t>
            </a:r>
          </a:p>
          <a:p>
            <a:pPr>
              <a:spcAft>
                <a:spcPts val="800"/>
              </a:spcAft>
            </a:pPr>
            <a:r>
              <a:rPr sz="1350" b="0">
                <a:solidFill>
                  <a:srgbClr val="161B26"/>
                </a:solidFill>
                <a:latin typeface="Arial"/>
              </a:rPr>
              <a:t>•  The same immutable artifact is promoted across environments; only configuration changes between them.</a:t>
            </a:r>
          </a:p>
          <a:p>
            <a:pPr>
              <a:spcAft>
                <a:spcPts val="800"/>
              </a:spcAft>
            </a:pPr>
            <a:r>
              <a:rPr sz="1350" b="0">
                <a:solidFill>
                  <a:srgbClr val="161B26"/>
                </a:solidFill>
                <a:latin typeface="Arial"/>
              </a:rPr>
              <a:t>•  Cross-account deployment uses assumed roles so the production account trusts the pipeline without sharing credentials.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Modelling promotion explicitly gives a single, auditable path to production and prevents 'works in staging, different build in prod' drift.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Rebuilding per environment breaks the guarantee that what you tested is what you shipped.</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More environments raise confidence but add cost and lead time — keep pre-prod as production-like as budget allows.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xmlns:p14="http://schemas.microsoft.com/office/powerpoint/2010/main" p14:dur="380">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THE SOURCE PATH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CI/CD Toolchain — AWS-native vs external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33958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156703" cy="502920"/>
          </a:xfrm>
          <a:prstGeom prst="rect">
            <a:avLst/>
          </a:prstGeom>
          <a:noFill/>
        </p:spPr>
        <p:txBody>
          <a:bodyPr wrap="square" anchor="ctr">
            <a:spAutoFit/>
          </a:bodyPr>
          <a:lstStyle/>
          <a:p>
            <a:pPr algn="l">
              <a:spcAft>
                <a:spcPts val="400"/>
              </a:spcAft>
            </a:pPr>
            <a:r>
              <a:rPr sz="1400" b="1">
                <a:solidFill>
                  <a:srgbClr val="FFFFFF"/>
                </a:solidFill>
                <a:latin typeface="Arial"/>
              </a:rPr>
              <a:t>Concern</a:t>
            </a:r>
          </a:p>
        </p:txBody>
      </p:sp>
      <p:sp>
        <p:nvSpPr>
          <p:cNvPr id="9" name="Rectangle 8"/>
          <p:cNvSpPr/>
          <p:nvPr/>
        </p:nvSpPr>
        <p:spPr>
          <a:xfrm>
            <a:off x="3116823" y="1783080"/>
            <a:ext cx="4253788"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6551" y="1783080"/>
            <a:ext cx="4070908" cy="502920"/>
          </a:xfrm>
          <a:prstGeom prst="rect">
            <a:avLst/>
          </a:prstGeom>
          <a:noFill/>
        </p:spPr>
        <p:txBody>
          <a:bodyPr wrap="square" anchor="ctr">
            <a:spAutoFit/>
          </a:bodyPr>
          <a:lstStyle/>
          <a:p>
            <a:pPr algn="ctr">
              <a:spcAft>
                <a:spcPts val="400"/>
              </a:spcAft>
            </a:pPr>
            <a:r>
              <a:rPr sz="1400" b="1">
                <a:solidFill>
                  <a:srgbClr val="FFFFFF"/>
                </a:solidFill>
                <a:latin typeface="Arial"/>
              </a:rPr>
              <a:t>GitHub via CodeConnections</a:t>
            </a:r>
          </a:p>
        </p:txBody>
      </p:sp>
      <p:sp>
        <p:nvSpPr>
          <p:cNvPr id="11" name="Rectangle 10"/>
          <p:cNvSpPr/>
          <p:nvPr/>
        </p:nvSpPr>
        <p:spPr>
          <a:xfrm>
            <a:off x="7370611" y="178308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0339" y="1783080"/>
            <a:ext cx="3858219" cy="502920"/>
          </a:xfrm>
          <a:prstGeom prst="rect">
            <a:avLst/>
          </a:prstGeom>
          <a:noFill/>
        </p:spPr>
        <p:txBody>
          <a:bodyPr wrap="square" anchor="ctr">
            <a:spAutoFit/>
          </a:bodyPr>
          <a:lstStyle/>
          <a:p>
            <a:pPr algn="ctr">
              <a:spcAft>
                <a:spcPts val="400"/>
              </a:spcAft>
            </a:pPr>
            <a:r>
              <a:rPr sz="1400" b="1">
                <a:solidFill>
                  <a:srgbClr val="FFFFFF"/>
                </a:solidFill>
                <a:latin typeface="Arial"/>
              </a:rPr>
              <a:t>AWS CodeCommit</a:t>
            </a:r>
          </a:p>
        </p:txBody>
      </p:sp>
      <p:sp>
        <p:nvSpPr>
          <p:cNvPr id="13" name="Rectangle 12"/>
          <p:cNvSpPr/>
          <p:nvPr/>
        </p:nvSpPr>
        <p:spPr>
          <a:xfrm>
            <a:off x="777240"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Where new work goes</a:t>
            </a:r>
          </a:p>
        </p:txBody>
      </p:sp>
      <p:sp>
        <p:nvSpPr>
          <p:cNvPr id="15" name="Rectangle 14"/>
          <p:cNvSpPr/>
          <p:nvPr/>
        </p:nvSpPr>
        <p:spPr>
          <a:xfrm>
            <a:off x="3116823" y="228600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26551" y="228600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Primary, modern path</a:t>
            </a:r>
          </a:p>
        </p:txBody>
      </p:sp>
      <p:sp>
        <p:nvSpPr>
          <p:cNvPr id="17" name="Rectangle 16"/>
          <p:cNvSpPr/>
          <p:nvPr/>
        </p:nvSpPr>
        <p:spPr>
          <a:xfrm>
            <a:off x="7370611" y="2286000"/>
            <a:ext cx="404109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0339" y="2286000"/>
            <a:ext cx="3858219" cy="822960"/>
          </a:xfrm>
          <a:prstGeom prst="rect">
            <a:avLst/>
          </a:prstGeom>
          <a:noFill/>
        </p:spPr>
        <p:txBody>
          <a:bodyPr wrap="square" anchor="ctr">
            <a:spAutoFit/>
          </a:bodyPr>
          <a:lstStyle/>
          <a:p>
            <a:pPr algn="ctr">
              <a:spcAft>
                <a:spcPts val="400"/>
              </a:spcAft>
            </a:pPr>
            <a:r>
              <a:rPr sz="1250" b="0">
                <a:solidFill>
                  <a:srgbClr val="5B6372"/>
                </a:solidFill>
                <a:latin typeface="Arial"/>
              </a:rPr>
              <a:t>AWS-native option; not required</a:t>
            </a:r>
          </a:p>
        </p:txBody>
      </p:sp>
      <p:sp>
        <p:nvSpPr>
          <p:cNvPr id="19" name="Rectangle 18"/>
          <p:cNvSpPr/>
          <p:nvPr/>
        </p:nvSpPr>
        <p:spPr>
          <a:xfrm>
            <a:off x="777240"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Credentials</a:t>
            </a:r>
          </a:p>
        </p:txBody>
      </p:sp>
      <p:sp>
        <p:nvSpPr>
          <p:cNvPr id="21" name="Rectangle 20"/>
          <p:cNvSpPr/>
          <p:nvPr/>
        </p:nvSpPr>
        <p:spPr>
          <a:xfrm>
            <a:off x="3116823" y="310896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6551" y="310896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Managed connection (no static keys)</a:t>
            </a:r>
          </a:p>
        </p:txBody>
      </p:sp>
      <p:sp>
        <p:nvSpPr>
          <p:cNvPr id="23" name="Rectangle 22"/>
          <p:cNvSpPr/>
          <p:nvPr/>
        </p:nvSpPr>
        <p:spPr>
          <a:xfrm>
            <a:off x="7370611" y="3108960"/>
            <a:ext cx="404109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0339" y="3108960"/>
            <a:ext cx="3858219" cy="822960"/>
          </a:xfrm>
          <a:prstGeom prst="rect">
            <a:avLst/>
          </a:prstGeom>
          <a:noFill/>
        </p:spPr>
        <p:txBody>
          <a:bodyPr wrap="square" anchor="ctr">
            <a:spAutoFit/>
          </a:bodyPr>
          <a:lstStyle/>
          <a:p>
            <a:pPr algn="ctr">
              <a:spcAft>
                <a:spcPts val="400"/>
              </a:spcAft>
            </a:pPr>
            <a:r>
              <a:rPr sz="1250" b="0">
                <a:solidFill>
                  <a:srgbClr val="5B6372"/>
                </a:solidFill>
                <a:latin typeface="Arial"/>
              </a:rPr>
              <a:t>IAM / Git credentials</a:t>
            </a:r>
          </a:p>
        </p:txBody>
      </p:sp>
      <p:sp>
        <p:nvSpPr>
          <p:cNvPr id="25" name="Rectangle 24"/>
          <p:cNvSpPr/>
          <p:nvPr/>
        </p:nvSpPr>
        <p:spPr>
          <a:xfrm>
            <a:off x="777240"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Team workflow</a:t>
            </a:r>
          </a:p>
        </p:txBody>
      </p:sp>
      <p:sp>
        <p:nvSpPr>
          <p:cNvPr id="27" name="Rectangle 26"/>
          <p:cNvSpPr/>
          <p:nvPr/>
        </p:nvSpPr>
        <p:spPr>
          <a:xfrm>
            <a:off x="3116823" y="393192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26551" y="393192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Existing GitHub PRs &amp; branch rules</a:t>
            </a:r>
          </a:p>
        </p:txBody>
      </p:sp>
      <p:sp>
        <p:nvSpPr>
          <p:cNvPr id="29" name="Rectangle 28"/>
          <p:cNvSpPr/>
          <p:nvPr/>
        </p:nvSpPr>
        <p:spPr>
          <a:xfrm>
            <a:off x="7370611" y="3931920"/>
            <a:ext cx="404109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0339" y="3931920"/>
            <a:ext cx="3858219" cy="822960"/>
          </a:xfrm>
          <a:prstGeom prst="rect">
            <a:avLst/>
          </a:prstGeom>
          <a:noFill/>
        </p:spPr>
        <p:txBody>
          <a:bodyPr wrap="square" anchor="ctr">
            <a:spAutoFit/>
          </a:bodyPr>
          <a:lstStyle/>
          <a:p>
            <a:pPr algn="ctr">
              <a:spcAft>
                <a:spcPts val="400"/>
              </a:spcAft>
            </a:pPr>
            <a:r>
              <a:rPr sz="1250" b="0">
                <a:solidFill>
                  <a:srgbClr val="5B6372"/>
                </a:solidFill>
                <a:latin typeface="Arial"/>
              </a:rPr>
              <a:t>Native Git, AWS console/IAM</a:t>
            </a:r>
          </a:p>
        </p:txBody>
      </p:sp>
      <p:sp>
        <p:nvSpPr>
          <p:cNvPr id="31" name="Rectangle 30"/>
          <p:cNvSpPr/>
          <p:nvPr/>
        </p:nvSpPr>
        <p:spPr>
          <a:xfrm>
            <a:off x="777240"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75488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Trigger</a:t>
            </a:r>
          </a:p>
        </p:txBody>
      </p:sp>
      <p:sp>
        <p:nvSpPr>
          <p:cNvPr id="33" name="Rectangle 32"/>
          <p:cNvSpPr/>
          <p:nvPr/>
        </p:nvSpPr>
        <p:spPr>
          <a:xfrm>
            <a:off x="3116823" y="475488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26551" y="475488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Connection webhook</a:t>
            </a:r>
          </a:p>
        </p:txBody>
      </p:sp>
      <p:sp>
        <p:nvSpPr>
          <p:cNvPr id="35" name="Rectangle 34"/>
          <p:cNvSpPr/>
          <p:nvPr/>
        </p:nvSpPr>
        <p:spPr>
          <a:xfrm>
            <a:off x="7370611" y="4754880"/>
            <a:ext cx="404109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0339" y="4754880"/>
            <a:ext cx="3858219" cy="822960"/>
          </a:xfrm>
          <a:prstGeom prst="rect">
            <a:avLst/>
          </a:prstGeom>
          <a:noFill/>
        </p:spPr>
        <p:txBody>
          <a:bodyPr wrap="square" anchor="ctr">
            <a:spAutoFit/>
          </a:bodyPr>
          <a:lstStyle/>
          <a:p>
            <a:pPr algn="ctr">
              <a:spcAft>
                <a:spcPts val="400"/>
              </a:spcAft>
            </a:pPr>
            <a:r>
              <a:rPr sz="1250" b="0">
                <a:solidFill>
                  <a:srgbClr val="5B6372"/>
                </a:solidFill>
                <a:latin typeface="Arial"/>
              </a:rPr>
              <a:t>CloudWatch Events / EventBridge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xmlns:p14="http://schemas.microsoft.com/office/powerpoint/2010/main" p14:dur="380">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OPTIMISE THE BOTTLENECK</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Pipeline Lead Time by Stage — Where the Minutes Go</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Manual approval dominates lead time here — automate the checks it waits on so approval is a formality, not a bottleneck.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xmlns:p14="http://schemas.microsoft.com/office/powerpoint/2010/main" p14:dur="380">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BREAKS PIPELINES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CI/CD Failure Modes &amp; Anti-Patterns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Snowflake build agents</a:t>
            </a:r>
          </a:p>
          <a:p>
            <a:pPr algn="l">
              <a:spcAft>
                <a:spcPts val="300"/>
              </a:spcAft>
            </a:pPr>
            <a:r>
              <a:rPr sz="1100" b="0">
                <a:solidFill>
                  <a:srgbClr val="5B6372"/>
                </a:solidFill>
                <a:latin typeface="Arial"/>
              </a:rPr>
              <a:t>Builds pass locally, fail in CodeBuild → pin runtime-versions and build in clean containers.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Secrets in source/logs</a:t>
            </a:r>
          </a:p>
          <a:p>
            <a:pPr algn="l">
              <a:spcAft>
                <a:spcPts val="300"/>
              </a:spcAft>
            </a:pPr>
            <a:r>
              <a:rPr sz="1100" b="0">
                <a:solidFill>
                  <a:srgbClr val="5B6372"/>
                </a:solidFill>
                <a:latin typeface="Arial"/>
              </a:rPr>
              <a:t>Keys committed or echoed → pull from Secrets Manager/SSM at build time; mask in logs.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Flaky tests ignored</a:t>
            </a:r>
          </a:p>
          <a:p>
            <a:pPr algn="l">
              <a:spcAft>
                <a:spcPts val="300"/>
              </a:spcAft>
            </a:pPr>
            <a:r>
              <a:rPr sz="1100" b="0">
                <a:solidFill>
                  <a:srgbClr val="5B6372"/>
                </a:solidFill>
                <a:latin typeface="Arial"/>
              </a:rPr>
              <a:t>Red builds routinely overridden → quarantine and fix flaky tests; a gate you bypass is no gate.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Rebuild on promotion</a:t>
            </a:r>
          </a:p>
          <a:p>
            <a:pPr algn="l">
              <a:spcAft>
                <a:spcPts val="300"/>
              </a:spcAft>
            </a:pPr>
            <a:r>
              <a:rPr sz="1100" b="0">
                <a:solidFill>
                  <a:srgbClr val="5B6372"/>
                </a:solidFill>
                <a:latin typeface="Arial"/>
              </a:rPr>
              <a:t>Different artifact per environment → build once, promote the same artifact.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No automated rollback</a:t>
            </a:r>
          </a:p>
          <a:p>
            <a:pPr algn="l">
              <a:spcAft>
                <a:spcPts val="300"/>
              </a:spcAft>
            </a:pPr>
            <a:r>
              <a:rPr sz="1100" b="0">
                <a:solidFill>
                  <a:srgbClr val="5B6372"/>
                </a:solidFill>
                <a:latin typeface="Arial"/>
              </a:rPr>
              <a:t>Bad deploy needs a human at 2am → alarm-based rollback on CodeDeploy.</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Polling instead of webhooks</a:t>
            </a:r>
          </a:p>
          <a:p>
            <a:pPr algn="l">
              <a:spcAft>
                <a:spcPts val="300"/>
              </a:spcAft>
            </a:pPr>
            <a:r>
              <a:rPr sz="1100" b="0">
                <a:solidFill>
                  <a:srgbClr val="5B6372"/>
                </a:solidFill>
                <a:latin typeface="Arial"/>
              </a:rPr>
              <a:t>Slow, missed triggers → use the CodeConnections webhook.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xmlns:p14="http://schemas.microsoft.com/office/powerpoint/2010/main" p14:dur="380">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PROVEN PRACTICES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Delivery Patterns Worth Adopting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Trunk-based development</a:t>
            </a:r>
          </a:p>
          <a:p>
            <a:pPr algn="l">
              <a:spcAft>
                <a:spcPts val="300"/>
              </a:spcAft>
            </a:pPr>
            <a:r>
              <a:rPr sz="1100" b="0">
                <a:solidFill>
                  <a:srgbClr val="5B6372"/>
                </a:solidFill>
                <a:latin typeface="Arial"/>
              </a:rPr>
              <a:t>Short-lived branches merged to trunk daily keep integration continuous.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Build once, deploy many</a:t>
            </a:r>
          </a:p>
          <a:p>
            <a:pPr algn="l">
              <a:spcAft>
                <a:spcPts val="300"/>
              </a:spcAft>
            </a:pPr>
            <a:r>
              <a:rPr sz="1100" b="0">
                <a:solidFill>
                  <a:srgbClr val="5B6372"/>
                </a:solidFill>
                <a:latin typeface="Arial"/>
              </a:rPr>
              <a:t>One immutable artifact promoted across environments.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Progressive delivery</a:t>
            </a:r>
          </a:p>
          <a:p>
            <a:pPr algn="l">
              <a:spcAft>
                <a:spcPts val="300"/>
              </a:spcAft>
            </a:pPr>
            <a:r>
              <a:rPr sz="1100" b="0">
                <a:solidFill>
                  <a:srgbClr val="5B6372"/>
                </a:solidFill>
                <a:latin typeface="Arial"/>
              </a:rPr>
              <a:t>Canary/blue-green with automated metric analysis before full rollout.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Pipeline as code</a:t>
            </a:r>
          </a:p>
          <a:p>
            <a:pPr algn="l">
              <a:spcAft>
                <a:spcPts val="300"/>
              </a:spcAft>
            </a:pPr>
            <a:r>
              <a:rPr sz="1100" b="0">
                <a:solidFill>
                  <a:srgbClr val="5B6372"/>
                </a:solidFill>
                <a:latin typeface="Arial"/>
              </a:rPr>
              <a:t>Define the pipeline in CloudFormation/CDK so it is versioned and reviewable.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Fail fast</a:t>
            </a:r>
          </a:p>
          <a:p>
            <a:pPr algn="l">
              <a:spcAft>
                <a:spcPts val="300"/>
              </a:spcAft>
            </a:pPr>
            <a:r>
              <a:rPr sz="1100" b="0">
                <a:solidFill>
                  <a:srgbClr val="5B6372"/>
                </a:solidFill>
                <a:latin typeface="Arial"/>
              </a:rPr>
              <a:t>Cheapest, fastest checks first; stop the line on first failure.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Immutable infrastructure</a:t>
            </a:r>
          </a:p>
          <a:p>
            <a:pPr algn="l">
              <a:spcAft>
                <a:spcPts val="300"/>
              </a:spcAft>
            </a:pPr>
            <a:r>
              <a:rPr sz="1100" b="0">
                <a:solidFill>
                  <a:srgbClr val="5B6372"/>
                </a:solidFill>
                <a:latin typeface="Arial"/>
              </a:rPr>
              <a:t>Replace, don't patch, running servers.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xmlns:p14="http://schemas.microsoft.com/office/powerpoint/2010/main" p14:dur="380">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CONTINUOUS DELIVERY vs DEPLOYMENT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Architecture Decision — Approval Gate or Not?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574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A</a:t>
            </a:r>
          </a:p>
        </p:txBody>
      </p:sp>
      <p:sp>
        <p:nvSpPr>
          <p:cNvPr id="11" name="TextBox 10"/>
          <p:cNvSpPr txBox="1"/>
          <p:nvPr/>
        </p:nvSpPr>
        <p:spPr>
          <a:xfrm>
            <a:off x="1645920" y="2084831"/>
            <a:ext cx="2286000" cy="640080"/>
          </a:xfrm>
          <a:prstGeom prst="rect">
            <a:avLst/>
          </a:prstGeom>
          <a:noFill/>
        </p:spPr>
        <p:txBody>
          <a:bodyPr wrap="square" anchor="ctr">
            <a:spAutoFit/>
          </a:bodyPr>
          <a:lstStyle/>
          <a:p>
            <a:pPr algn="l">
              <a:spcAft>
                <a:spcPts val="400"/>
              </a:spcAft>
            </a:pPr>
            <a:r>
              <a:rPr sz="1450" b="1">
                <a:solidFill>
                  <a:srgbClr val="1F6FEB"/>
                </a:solidFill>
                <a:latin typeface="Arial"/>
              </a:rPr>
              <a:t>Manual approval before prod</a:t>
            </a:r>
          </a:p>
        </p:txBody>
      </p:sp>
      <p:sp>
        <p:nvSpPr>
          <p:cNvPr id="12" name="TextBox 11"/>
          <p:cNvSpPr txBox="1"/>
          <p:nvPr/>
        </p:nvSpPr>
        <p:spPr>
          <a:xfrm>
            <a:off x="103327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Regulated change, irreversible action, or immature test suite. Adds a control point and audit record — at the cost of queueing delay.</a:t>
            </a:r>
          </a:p>
        </p:txBody>
      </p:sp>
      <p:sp>
        <p:nvSpPr>
          <p:cNvPr id="13" name="Rectangle 12"/>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2803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7" name="TextBox 16"/>
          <p:cNvSpPr txBox="1"/>
          <p:nvPr/>
        </p:nvSpPr>
        <p:spPr>
          <a:xfrm>
            <a:off x="544068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Automated to prod</a:t>
            </a:r>
          </a:p>
        </p:txBody>
      </p:sp>
      <p:sp>
        <p:nvSpPr>
          <p:cNvPr id="18" name="TextBox 17"/>
          <p:cNvSpPr txBox="1"/>
          <p:nvPr/>
        </p:nvSpPr>
        <p:spPr>
          <a:xfrm>
            <a:off x="482803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High test coverage, fast rollback and progressive rollout in place. Maximises flow — requires strong alarms and canary analysis.</a:t>
            </a:r>
          </a:p>
        </p:txBody>
      </p:sp>
      <p:sp>
        <p:nvSpPr>
          <p:cNvPr id="19" name="Rectangle 18"/>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2279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C</a:t>
            </a:r>
          </a:p>
        </p:txBody>
      </p:sp>
      <p:sp>
        <p:nvSpPr>
          <p:cNvPr id="23" name="TextBox 22"/>
          <p:cNvSpPr txBox="1"/>
          <p:nvPr/>
        </p:nvSpPr>
        <p:spPr>
          <a:xfrm>
            <a:off x="923544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Hybrid</a:t>
            </a:r>
          </a:p>
        </p:txBody>
      </p:sp>
      <p:sp>
        <p:nvSpPr>
          <p:cNvPr id="24" name="TextBox 23"/>
          <p:cNvSpPr txBox="1"/>
          <p:nvPr/>
        </p:nvSpPr>
        <p:spPr>
          <a:xfrm>
            <a:off x="862279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Auto-deploy low-risk services; gate high-blast-radius or data-migration changes. The common enterprise middle ground.</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xmlns:p14="http://schemas.microsoft.com/office/powerpoint/2010/main" p14:dur="380">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REASONING THROUGH THE RESPONSE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A bad release reaches production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 deployment passes all pipeline stages, but error rates climb 3 minutes after it reaches production.</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1F6FEB"/>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The build and unit tests were green, so the fault is environment- or scale-specific — exactly what canary analysis is designed to catch.</a:t>
            </a:r>
          </a:p>
          <a:p>
            <a:pPr>
              <a:spcAft>
                <a:spcPts val="700"/>
              </a:spcAft>
            </a:pPr>
            <a:r>
              <a:rPr sz="1300" b="0">
                <a:solidFill>
                  <a:srgbClr val="161B26"/>
                </a:solidFill>
                <a:latin typeface="Arial"/>
              </a:rPr>
              <a:t>•  Because releases use immutable, versioned artifacts, the last known-good build is one redeploy away.</a:t>
            </a:r>
          </a:p>
          <a:p>
            <a:pPr>
              <a:spcAft>
                <a:spcPts val="700"/>
              </a:spcAft>
            </a:pPr>
            <a:r>
              <a:rPr sz="1300" b="0">
                <a:solidFill>
                  <a:srgbClr val="161B26"/>
                </a:solidFill>
                <a:latin typeface="Arial"/>
              </a:rPr>
              <a:t>•  A CloudWatch alarm on error rate can trigger CodeDeploy's automatic rollback without waiting for a human.</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Wire an error-rate alarm to CodeDeploy auto-rollback and move this service to a canary configuration so the next bad change is caught at 5% of traffic, not 100%.</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xmlns:p14="http://schemas.microsoft.com/office/powerpoint/2010/main" p14:dur="380">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OPTIMISING FEEDBACK TIME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Builds are too slow, developers merge less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The commit-stage build takes 25 minutes; developers batch changes to avoid the wait, so integrations get large and risky.</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1F6FEB"/>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Slow feedback is pushing the team back towards big-bang integration — the DORA lead-time and batch-size signals both degrade.</a:t>
            </a:r>
          </a:p>
          <a:p>
            <a:pPr>
              <a:spcAft>
                <a:spcPts val="700"/>
              </a:spcAft>
            </a:pPr>
            <a:r>
              <a:rPr sz="1300" b="0">
                <a:solidFill>
                  <a:srgbClr val="161B26"/>
                </a:solidFill>
                <a:latin typeface="Arial"/>
              </a:rPr>
              <a:t>•  Test suites can be split and run in parallel CodeBuild projects; dependency caching removes repeated downloads.</a:t>
            </a:r>
          </a:p>
          <a:p>
            <a:pPr>
              <a:spcAft>
                <a:spcPts val="700"/>
              </a:spcAft>
            </a:pPr>
            <a:r>
              <a:rPr sz="1300" b="0">
                <a:solidFill>
                  <a:srgbClr val="161B26"/>
                </a:solidFill>
                <a:latin typeface="Arial"/>
              </a:rPr>
              <a:t>•  Slow end-to-end tests can move to a later stage so the commit stage stays fast.</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Target a sub-10-minute commit stage: parallelise tests, cache dependencies, and defer slow suites downstream so small, frequent merges become painless again.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xmlns:p14="http://schemas.microsoft.com/office/powerpoint/2010/main" p14:dur="380">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PRACTICE TO NUMBERS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Worked Analysis — Sizing the Impact of CI/CD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1028" y="178308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78308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Before: 2 releases/month, 14-day lead time</a:t>
            </a:r>
          </a:p>
        </p:txBody>
      </p:sp>
      <p:sp>
        <p:nvSpPr>
          <p:cNvPr id="11" name="TextBox 10"/>
          <p:cNvSpPr txBox="1"/>
          <p:nvPr/>
        </p:nvSpPr>
        <p:spPr>
          <a:xfrm>
            <a:off x="5213908" y="178308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Large batches; each release bundles ~150 changes, so failures are hard to isolate.</a:t>
            </a:r>
          </a:p>
        </p:txBody>
      </p:sp>
      <p:sp>
        <p:nvSpPr>
          <p:cNvPr id="12" name="Rectangle 11"/>
          <p:cNvSpPr/>
          <p:nvPr/>
        </p:nvSpPr>
        <p:spPr>
          <a:xfrm>
            <a:off x="777240" y="254889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89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31028" y="254889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54889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After: 40 releases/month, ~1-day lead time</a:t>
            </a:r>
          </a:p>
        </p:txBody>
      </p:sp>
      <p:sp>
        <p:nvSpPr>
          <p:cNvPr id="16" name="TextBox 15"/>
          <p:cNvSpPr txBox="1"/>
          <p:nvPr/>
        </p:nvSpPr>
        <p:spPr>
          <a:xfrm>
            <a:off x="5213908" y="254889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Small batches; each release is ~7 changes, so a regression is trivially bisected.</a:t>
            </a:r>
          </a:p>
        </p:txBody>
      </p:sp>
      <p:sp>
        <p:nvSpPr>
          <p:cNvPr id="17" name="Rectangle 16"/>
          <p:cNvSpPr/>
          <p:nvPr/>
        </p:nvSpPr>
        <p:spPr>
          <a:xfrm>
            <a:off x="777240" y="331470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470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31028" y="331470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31470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Change-failure rate 30% → 10%</a:t>
            </a:r>
          </a:p>
        </p:txBody>
      </p:sp>
      <p:sp>
        <p:nvSpPr>
          <p:cNvPr id="21" name="TextBox 20"/>
          <p:cNvSpPr txBox="1"/>
          <p:nvPr/>
        </p:nvSpPr>
        <p:spPr>
          <a:xfrm>
            <a:off x="5213908" y="331470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Automated gates catch defects pre-prod; progressive rollout limits blast radius.</a:t>
            </a:r>
          </a:p>
        </p:txBody>
      </p:sp>
      <p:sp>
        <p:nvSpPr>
          <p:cNvPr id="22" name="Rectangle 21"/>
          <p:cNvSpPr/>
          <p:nvPr/>
        </p:nvSpPr>
        <p:spPr>
          <a:xfrm>
            <a:off x="777240" y="408051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051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1028" y="408051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08051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MTTR 8h → 1h</a:t>
            </a:r>
          </a:p>
        </p:txBody>
      </p:sp>
      <p:sp>
        <p:nvSpPr>
          <p:cNvPr id="26" name="TextBox 25"/>
          <p:cNvSpPr txBox="1"/>
          <p:nvPr/>
        </p:nvSpPr>
        <p:spPr>
          <a:xfrm>
            <a:off x="5213908" y="408051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Versioned artifacts + alarm-based rollback make recovery a redeploy, not a rebuild.</a:t>
            </a:r>
          </a:p>
        </p:txBody>
      </p:sp>
      <p:sp>
        <p:nvSpPr>
          <p:cNvPr id="27" name="Rectangle 26"/>
          <p:cNvSpPr/>
          <p:nvPr/>
        </p:nvSpPr>
        <p:spPr>
          <a:xfrm>
            <a:off x="777240" y="5010912"/>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10912"/>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10235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TAKEAWAY</a:t>
            </a:r>
          </a:p>
        </p:txBody>
      </p:sp>
      <p:sp>
        <p:nvSpPr>
          <p:cNvPr id="30" name="TextBox 29"/>
          <p:cNvSpPr txBox="1"/>
          <p:nvPr/>
        </p:nvSpPr>
        <p:spPr>
          <a:xfrm>
            <a:off x="1033272" y="5394960"/>
            <a:ext cx="10085832" cy="457200"/>
          </a:xfrm>
          <a:prstGeom prst="rect">
            <a:avLst/>
          </a:prstGeom>
          <a:noFill/>
        </p:spPr>
        <p:txBody>
          <a:bodyPr wrap="square" anchor="t">
            <a:spAutoFit/>
          </a:bodyPr>
          <a:lstStyle/>
          <a:p>
            <a:pPr algn="l">
              <a:spcAft>
                <a:spcPts val="400"/>
              </a:spcAft>
            </a:pPr>
            <a:r>
              <a:rPr sz="1300" b="1">
                <a:solidFill>
                  <a:srgbClr val="161B26"/>
                </a:solidFill>
                <a:latin typeface="Arial"/>
              </a:rPr>
              <a:t>The gain is not just speed — smaller batches make every DORA metric move together: deploy more often, recover faster, fail less.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xmlns:p14="http://schemas.microsoft.com/office/powerpoint/2010/main" p14:dur="380">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GITHUB/CODECONNECTIONS · CODEARTIFACT · ECR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Source and package governance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Control how source, dependencies and container images enter the delivery system.</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Repository events and protected branches trigger delivery without long-lived credentials.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CodeArtifact domains and repositories proxy, version and retain language packages.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ECR stores immutable image digests, supports lifecycle rules and exposes scan findings.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xmlns:p14="http://schemas.microsoft.com/office/powerpoint/2010/main" p14:dur="380">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Source and package governance: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source connections for event-driven repository access, CodeArtifact for governed packages, and ECR for OCI images.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Pin versions/digests, enforce review, generate an SBOM where required and promote the same artifact between environments.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Mutable tags, unpinned dependencies or broad repository tokens break provenance and repeatability.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Commit SHA, approval, package version, image digest, scan result and promotion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xmlns:p14="http://schemas.microsoft.com/office/powerpoint/2010/main" p14:dur="380">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CODEPIPELINE · CODEBUILD · S3</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Build and pipeline orchestration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Turn a source revision into tested, signed and traceable release artifacts.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CodePipeline sequences source, build, test, approval and deploy actions with stage transitions.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CodeBuild uses ephemeral environments, buildspec phases, reports, caches and exported variables.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Versioned/encrypted S3 artifact stores preserve hand-offs between pipeline actions.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xmlns:p14="http://schemas.microsoft.com/office/powerpoint/2010/main" p14:dur="380">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Build and pipeline orchestration: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CodePipeline for managed orchestration and CodeBuild when a reproducible build/test environment is needed.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Fail fast on test/security gates, isolate service roles, encrypt artifacts and make rollback reference an immutable build.</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green pipeline that does not retain test evidence or artifact identity cannot prove what was deployed.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Pipeline execution ID, build logs, test report, artifact checksum, approval and deployment ID.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xmlns:p14="http://schemas.microsoft.com/office/powerpoint/2010/main" p14:dur="380">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CODEDEPLOY · ELASTIC BEANSTALK · ECS · LAMBDA</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Deployment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Release applications with a strategy matched to compute model, capacity and user-impact tolerance.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CodeDeploy coordinates in-place or blue/green deployments and lifecycle hooks.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Elastic Beanstalk manages application environments, versions, health and platform updates.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ECS services and Lambda aliases support rolling, blue/green or weighted traffic strategies.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xmlns:p14="http://schemas.microsoft.com/office/powerpoint/2010/main" p14:dur="380">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Deployment services: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Choose the target-native mechanism, then select all-at-once, rolling, linear, canary or blue/green from the recovery objective.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Define health checks, minimum healthy capacity, alarms, hook timeouts and automatic rollback before promotion.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Traffic shifting without representative health signals can promote a release that is technically alive but unusable.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Deployment configuration, target health, alarm state, hook logs, traffic weights and rollback event.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xmlns:p14="http://schemas.microsoft.com/office/powerpoint/2010/main" p14:dur="380">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LAMBDA · SAM · ECR · ECS/FARGATE · EKS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Serverless and container delivery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Package and operate event-driven functions or container workloads with consistent release evidence.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Lambda versions and aliases give immutable function revisions and weighted routing.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SAM expands serverless resources and deployment preferences through CloudFormation.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ECS/Fargate reduces host management; EKS provides Kubernetes APIs with greater operational responsibility.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xmlns:p14="http://schemas.microsoft.com/office/powerpoint/2010/main" p14:dur="380">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Serverless and container delivery: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Prefer Lambda for short event-driven execution, ECS/Fargate for managed container orchestration, and EKS when Kubernetes compatibility is a real requirement.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Scan images, pin digests, externalise configuration, constrain task/function roles and test startup, readiness and rollback.</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Selecting EKS only for portability can add control-plane, add-on and upgrade burden without business value.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Function version/image digest, task definition, policy diff, deployment state, health metrics and rollback proof.</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xmlns:p14="http://schemas.microsoft.com/office/powerpoint/2010/main" p14:dur="380">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AWS DEVELOPER SERVICES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Developer deep dive: AWS CLI and SDK execution model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Automate AWS API calls without embedding permanent credentials or hiding retry, pagination and regional behavior.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AWS CLI v2 · AWS SDKs · STS · IAM Identity Center</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Use named SSO profiles locally and a CodeBuild service role in CI; resolve account/Region at runtime and log request IDs without logging credentials.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An implicit default profile can deploy to the wrong account, while unbounded retries can duplicate non-idempotent changes.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xmlns:p14="http://schemas.microsoft.com/office/powerpoint/2010/main" p14:dur="380">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CLI and SDK execution model: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The credential provider chain searches explicit configuration, environment, shared profiles, container or instance roles; production code should normally end at a workload role.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A client is Region-specific and signs each request with SigV4; the Region therefore affects endpoint, resource availability and the authorization scope.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SDK paginators, waiters and retry modes handle common distributed-system behavior, but applications must still set timeouts and make mutating operations idempotent.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CloudTrail records supported API activity, allowing a command, assumed-role session and resulting resource change to be correlated.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xmlns:p14="http://schemas.microsoft.com/office/powerpoint/2010/main" p14:dur="380">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CONTROL AND DATA FLOW</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CLI and SDK execution model: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Resolve profile or role</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Obtain temporary session</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Create regional client</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Call and paginate</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Record result and request ID</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xmlns:p14="http://schemas.microsoft.com/office/powerpoint/2010/main" p14:dur="380">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CHOOSE DELIBERATELY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AWS CLI and SDK execution model: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AUTHENTICATION</a:t>
            </a:r>
          </a:p>
          <a:p>
            <a:pPr algn="l">
              <a:spcAft>
                <a:spcPts val="300"/>
              </a:spcAft>
            </a:pPr>
            <a:r>
              <a:rPr sz="1050" b="0">
                <a:solidFill>
                  <a:srgbClr val="5B6372"/>
                </a:solidFill>
                <a:latin typeface="Arial"/>
              </a:rPr>
              <a:t>Use IAM Identity Center for workforce access and role credentials for workloads; reserve static keys for exceptional legacy cases.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RETRIES</a:t>
            </a:r>
          </a:p>
          <a:p>
            <a:pPr algn="l">
              <a:spcAft>
                <a:spcPts val="300"/>
              </a:spcAft>
            </a:pPr>
            <a:r>
              <a:rPr sz="1050" b="0">
                <a:solidFill>
                  <a:srgbClr val="5B6372"/>
                </a:solidFill>
                <a:latin typeface="Arial"/>
              </a:rPr>
              <a:t>Use standard or adaptive retry behavior with bounded attempts, jitter and service-specific handling for throttling.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PAGINATION</a:t>
            </a:r>
          </a:p>
          <a:p>
            <a:pPr algn="l">
              <a:spcAft>
                <a:spcPts val="300"/>
              </a:spcAft>
            </a:pPr>
            <a:r>
              <a:rPr sz="1050" b="0">
                <a:solidFill>
                  <a:srgbClr val="5B6372"/>
                </a:solidFill>
                <a:latin typeface="Arial"/>
              </a:rPr>
              <a:t>Consume every page or deliberately cap results; a first-page-only inventory creates false compliance evidence.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IDEMPOTENCY</a:t>
            </a:r>
          </a:p>
          <a:p>
            <a:pPr algn="l">
              <a:spcAft>
                <a:spcPts val="300"/>
              </a:spcAft>
            </a:pPr>
            <a:r>
              <a:rPr sz="1050" b="0">
                <a:solidFill>
                  <a:srgbClr val="5B6372"/>
                </a:solidFill>
                <a:latin typeface="Arial"/>
              </a:rPr>
              <a:t>Supply client tokens where supported and design repeatable state checks before retrying a write.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xmlns:p14="http://schemas.microsoft.com/office/powerpoint/2010/main" p14:dur="380">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AWS CLI and SDK execution model: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deployment utility must work from a developer laptop and CodeBuild while producing the same account and Region evidence.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Use named SSO profiles locally and a CodeBuild service role in CI; resolve account/Region at runtime and log request IDs without logging credentials.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An implicit default profile can deploy to the wrong account, while unbounded retries can duplicate non-idempotent changes.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Caller identity, selected Region, assumed-role ARN, API request ID, retry count and final resource state.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xmlns:p14="http://schemas.microsoft.com/office/powerpoint/2010/main" p14:dur="380">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AWS DEVELOPER SERVICES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Developer deep dive: Package and image governance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Create a trusted supply chain for language packages and container images, then promote immutable versions across environments.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CodeArtifact · ECR · KMS · Inspector</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Build once in the tooling account, scan the digest, grant scoped cross-account pull access and promote the same digest through environment manifests.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Mutable tags can silently replace the reviewed artifact; aggressive lifecycle rules can remove the rollback image.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xmlns:p14="http://schemas.microsoft.com/office/powerpoint/2010/main" p14:dur="380">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Package and image governance: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CodeArtifact domains group repositories and can deduplicate package assets; upstream repositories proxy internal or public sources through a controlled path.</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Authentication tokens are temporary and should be requested at build time, never committed to package-manager configuration.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ECR stores OCI images by tag and digest; deployment references should use immutable tags or, preferably, the resolved digest.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Lifecycle policies control retention, while enhanced scanning can surface operating-system and language-package vulnerabilities through Inspector.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xmlns:p14="http://schemas.microsoft.com/office/powerpoint/2010/main" p14:dur="380">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CONTROL AND DATA FLOW</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Package and image governance: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Resolve approved dependency</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Build and test</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Publish version or image</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Scan and sign evidence</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Promote immutable digest</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xmlns:p14="http://schemas.microsoft.com/office/powerpoint/2010/main" p14:dur="380">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CHOOSE DELIBERATELY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Package and image governance: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REPOSITORY POLICY</a:t>
            </a:r>
          </a:p>
          <a:p>
            <a:pPr algn="l">
              <a:spcAft>
                <a:spcPts val="300"/>
              </a:spcAft>
            </a:pPr>
            <a:r>
              <a:rPr sz="1050" b="0">
                <a:solidFill>
                  <a:srgbClr val="5B6372"/>
                </a:solidFill>
                <a:latin typeface="Arial"/>
              </a:rPr>
              <a:t>Separate publisher and consumer permissions; restrict cross-account pulls with repository and identity policies.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VERSIONING</a:t>
            </a:r>
          </a:p>
          <a:p>
            <a:pPr algn="l">
              <a:spcAft>
                <a:spcPts val="300"/>
              </a:spcAft>
            </a:pPr>
            <a:r>
              <a:rPr sz="1050" b="0">
                <a:solidFill>
                  <a:srgbClr val="5B6372"/>
                </a:solidFill>
                <a:latin typeface="Arial"/>
              </a:rPr>
              <a:t>Reject overwrites where supported and give every release a unique package version or image digest.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SCANNING</a:t>
            </a:r>
          </a:p>
          <a:p>
            <a:pPr algn="l">
              <a:spcAft>
                <a:spcPts val="300"/>
              </a:spcAft>
            </a:pPr>
            <a:r>
              <a:rPr sz="1050" b="0">
                <a:solidFill>
                  <a:srgbClr val="5B6372"/>
                </a:solidFill>
                <a:latin typeface="Arial"/>
              </a:rPr>
              <a:t>Define severity thresholds and exception ownership; a scan with no release decision is only telemetry.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RETENTION</a:t>
            </a:r>
          </a:p>
          <a:p>
            <a:pPr algn="l">
              <a:spcAft>
                <a:spcPts val="300"/>
              </a:spcAft>
            </a:pPr>
            <a:r>
              <a:rPr sz="1050" b="0">
                <a:solidFill>
                  <a:srgbClr val="5B6372"/>
                </a:solidFill>
                <a:latin typeface="Arial"/>
              </a:rPr>
              <a:t>Keep releases required for rollback and audit while expiring untagged or superseded artifacts safely.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xmlns:p14="http://schemas.microsoft.com/office/powerpoint/2010/main" p14:dur="380">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Package and image governance: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Twenty accounts must deploy the identical reviewed container without rebuilding or granting broad registry access.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Build once in the tooling account, scan the digest, grant scoped cross-account pull access and promote the same digest through environment manifests.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Mutable tags can silently replace the reviewed artifact; aggressive lifecycle rules can remove the rollback image.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Package version, repository policy, image digest, scan finding disposition, promotion record and successful cross-account pull.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xmlns:p14="http://schemas.microsoft.com/office/powerpoint/2010/main" p14:dur="380">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Developer deep dive: CodeBuild build environments and quality gates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Turn source into reproducible artifacts while making tests, security checks and provenance part of the pipeline decision.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CodeBuild · buildspec · report groups · S3 cache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Pin the runtime image, run deterministic installs, publish JUnit/coverage reports and create a manifest containing commit SHA and artifact checksum.</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A shell command followed by another successful command can hide a failed test unless exit handling is explicit.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xmlns:p14="http://schemas.microsoft.com/office/powerpoint/2010/main" p14:dur="380">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MECHANICS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CodeBuild build environments and quality gates: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A buildspec separates install, pre_build, build and post_build phases; finally blocks can preserve diagnostics even after a phase fails.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Managed images simplify patching, while custom images provide tool control and must themselves be versioned and scanned.</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Privileged mode is mainly required for Docker daemon workflows and materially increases build-container authority.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Report groups retain test or coverage results; artifacts and exported variables pass controlled outputs to later pipeline actions.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xmlns:p14="http://schemas.microsoft.com/office/powerpoint/2010/main" p14:dur="380">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CONTROL AND DATA FLOW</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CodeBuild build environments and quality gates: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Provision ephemeral environment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Install pinned tools</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Test and scan</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Package immutable output</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Publish reports and artifact</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xmlns:p14="http://schemas.microsoft.com/office/powerpoint/2010/main" p14:dur="380">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CodeBuild build environments and quality gates: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COMPUTE</a:t>
            </a:r>
          </a:p>
          <a:p>
            <a:pPr algn="l">
              <a:spcAft>
                <a:spcPts val="300"/>
              </a:spcAft>
            </a:pPr>
            <a:r>
              <a:rPr sz="1050" b="0">
                <a:solidFill>
                  <a:srgbClr val="5B6372"/>
                </a:solidFill>
                <a:latin typeface="Arial"/>
              </a:rPr>
              <a:t>Select architecture, size and timeout from measured build demand; avoid oversized always-on assumptions.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NETWORK</a:t>
            </a:r>
          </a:p>
          <a:p>
            <a:pPr algn="l">
              <a:spcAft>
                <a:spcPts val="300"/>
              </a:spcAft>
            </a:pPr>
            <a:r>
              <a:rPr sz="1050" b="0">
                <a:solidFill>
                  <a:srgbClr val="5B6372"/>
                </a:solidFill>
                <a:latin typeface="Arial"/>
              </a:rPr>
              <a:t>Use VPC attachment only when private dependencies require it, and provide routes/endpoints for every required service.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CACHE</a:t>
            </a:r>
          </a:p>
          <a:p>
            <a:pPr algn="l">
              <a:spcAft>
                <a:spcPts val="300"/>
              </a:spcAft>
            </a:pPr>
            <a:r>
              <a:rPr sz="1050" b="0">
                <a:solidFill>
                  <a:srgbClr val="5B6372"/>
                </a:solidFill>
                <a:latin typeface="Arial"/>
              </a:rPr>
              <a:t>Cache dependencies for speed, but key the cache so stale libraries cannot bypass lock-file changes.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SECRETS</a:t>
            </a:r>
          </a:p>
          <a:p>
            <a:pPr algn="l">
              <a:spcAft>
                <a:spcPts val="300"/>
              </a:spcAft>
            </a:pPr>
            <a:r>
              <a:rPr sz="1050" b="0">
                <a:solidFill>
                  <a:srgbClr val="5B6372"/>
                </a:solidFill>
                <a:latin typeface="Arial"/>
              </a:rPr>
              <a:t>Retrieve secrets at runtime from managed stores and mask output; never place secret values in buildspec source.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xmlns:p14="http://schemas.microsoft.com/office/powerpoint/2010/main" p14:dur="380">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1900" b="1">
                <a:solidFill>
                  <a:srgbClr val="161B26"/>
                </a:solidFill>
                <a:latin typeface="Arial"/>
              </a:rPr>
              <a:t>CodeBuild build environments and quality gates: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Python service must stop promotion if tests fail, coverage drops below policy, or the artifact cannot be traced to its source revision.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Pin the runtime image, run deterministic installs, publish JUnit/coverage reports and create a manifest containing commit SHA and artifact checksum.</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A shell command followed by another successful command can hide a failed test unless exit handling is explicit.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Build ARN, source version, image identifier, test report, coverage threshold, checksum and phase logs.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xmlns:p14="http://schemas.microsoft.com/office/powerpoint/2010/main" p14:dur="380">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Developer deep dive: CodePipeline orchestration and approvals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Coordinate source, validation, approval and deployment stages while preserving artifact identity and execution context.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CodePipeline · CodeConnections · CodeBuild · Lambda actions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Keep build resources in a tooling account, promote an immutable artifact, assume per-environment roles and require an approval owned outside the developer role.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Rebuilding for production changes the artifact under review; parallel executions can race against shared CloudFormation state.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xmlns:p14="http://schemas.microsoft.com/office/powerpoint/2010/main" p14:dur="380">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CodePipeline orchestration and approvals: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A pipeline execution moves named artifacts between actions through an encrypted artifact store; each action receives declared inputs and emits declared outputs.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Execution modes determine how concurrent revisions behave: superseding, queueing or running in parallel must match the deployment target's safety model.</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Manual approvals pause execution and should present change, test, risk and rollback evidence rather than a context-free button.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Variables and namespaces pass small metadata values; release artifacts belong in governed stores, not pipeline variables.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xmlns:p14="http://schemas.microsoft.com/office/powerpoint/2010/main" p14:dur="380">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CONTROL AND DATA FLOW</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CodePipeline orchestration and approvals: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Receive trusted source event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Build immutable revision</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Run parallel gates</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Approve with context</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Deploy and observe</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xmlns:p14="http://schemas.microsoft.com/office/powerpoint/2010/main" p14:dur="380">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CodePipeline orchestration and approvals: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TRIGGER</a:t>
            </a:r>
          </a:p>
          <a:p>
            <a:pPr algn="l">
              <a:spcAft>
                <a:spcPts val="300"/>
              </a:spcAft>
            </a:pPr>
            <a:r>
              <a:rPr sz="1050" b="0">
                <a:solidFill>
                  <a:srgbClr val="5B6372"/>
                </a:solidFill>
                <a:latin typeface="Arial"/>
              </a:rPr>
              <a:t>Filter repository events so pull requests validate while only accepted branches or tags reach deployment.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CONCURRENCY</a:t>
            </a:r>
          </a:p>
          <a:p>
            <a:pPr algn="l">
              <a:spcAft>
                <a:spcPts val="300"/>
              </a:spcAft>
            </a:pPr>
            <a:r>
              <a:rPr sz="1050" b="0">
                <a:solidFill>
                  <a:srgbClr val="5B6372"/>
                </a:solidFill>
                <a:latin typeface="Arial"/>
              </a:rPr>
              <a:t>Use queued execution for shared environments and parallel execution only when targets and state are isolated.</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CROSS-ACCOUNT</a:t>
            </a:r>
          </a:p>
          <a:p>
            <a:pPr algn="l">
              <a:spcAft>
                <a:spcPts val="300"/>
              </a:spcAft>
            </a:pPr>
            <a:r>
              <a:rPr sz="1050" b="0">
                <a:solidFill>
                  <a:srgbClr val="5B6372"/>
                </a:solidFill>
                <a:latin typeface="Arial"/>
              </a:rPr>
              <a:t>Assume narrow deployment roles and use KMS/artifact policies that explicitly permit the required account path.</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a:t>
            </a:r>
          </a:p>
          <a:p>
            <a:pPr algn="l">
              <a:spcAft>
                <a:spcPts val="300"/>
              </a:spcAft>
            </a:pPr>
            <a:r>
              <a:rPr sz="1050" b="0">
                <a:solidFill>
                  <a:srgbClr val="5B6372"/>
                </a:solidFill>
                <a:latin typeface="Arial"/>
              </a:rPr>
              <a:t>Stop stage transitions, retain the failed execution and automate rollback from the last-known-good artifact.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xmlns:p14="http://schemas.microsoft.com/office/powerpoint/2010/main" p14:dur="380">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CodePipeline orchestration and approvals: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multi-account pipeline must deploy the same revision to test and production, with separation of duties at production approval.</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Keep build resources in a tooling account, promote an immutable artifact, assume per-environment roles and require an approval owned outside the developer role.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Rebuilding for production changes the artifact under review; parallel executions can race against shared CloudFormation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Pipeline execution ID, artifact digest, gate reports, approval identity/comment, assumed role and deployment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xmlns:p14="http://schemas.microsoft.com/office/powerpoint/2010/main" p14:dur="380">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Developer deep dive: CodeDeploy lifecycle, traffic shifting and rollback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Select lifecycle hooks and deployment configurations that expose failures before they reach the full user population.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CodeDeploy · EC2/On-Premises · ECS · Lambda</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Deploy an immutable version behind an alias, shift a small weight, bind a transaction-error alarm and retain the previous alias target for rollback.</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Infrastructure health alone may stay green while business transactions fail; an alarm that evaluates too slowly misses the canary window.</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xmlns:p14="http://schemas.microsoft.com/office/powerpoint/2010/main" p14:dur="380">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MECHANICS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CodeDeploy lifecycle, traffic shifting and rollback: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EC2/on-premises deployments use an AppSpec file to map files and lifecycle scripts; scripts must be idempotent because replacement or retry can rerun them.</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ECS blue/green deployments create a replacement task set and move listener traffic after validation through CodeDeploy-controlled hooks.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Lambda deployments shift an alias between immutable versions using canary or linear increments and optional validation hooks.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Automatic rollback can react to deployment failure, stop requests or CloudWatch alarms, but only if alarms represent real release health.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xmlns:p14="http://schemas.microsoft.com/office/powerpoint/2010/main" p14:dur="380">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CONTROL AND DATA FLOW</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CodeDeploy lifecycle, traffic shifting and rollback: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Create revision</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Provision replacement</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Run pre-traffic validation</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Shift traffic</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Observe or roll back</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xmlns:p14="http://schemas.microsoft.com/office/powerpoint/2010/main" p14:dur="380">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CodeDeploy lifecycle, traffic shifting and rollback: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IN-PLACE</a:t>
            </a:r>
          </a:p>
          <a:p>
            <a:pPr algn="l">
              <a:spcAft>
                <a:spcPts val="300"/>
              </a:spcAft>
            </a:pPr>
            <a:r>
              <a:rPr sz="1050" b="0">
                <a:solidFill>
                  <a:srgbClr val="5B6372"/>
                </a:solidFill>
                <a:latin typeface="Arial"/>
              </a:rPr>
              <a:t>Lower capacity cost but shares the original environment and normally has a slower recovery path.</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BLUE/GREEN</a:t>
            </a:r>
          </a:p>
          <a:p>
            <a:pPr algn="l">
              <a:spcAft>
                <a:spcPts val="300"/>
              </a:spcAft>
            </a:pPr>
            <a:r>
              <a:rPr sz="1050" b="0">
                <a:solidFill>
                  <a:srgbClr val="5B6372"/>
                </a:solidFill>
                <a:latin typeface="Arial"/>
              </a:rPr>
              <a:t>Keeps old capacity for rapid rollback but requires duplicate capacity and compatible data changes.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CANARY/LINEAR</a:t>
            </a:r>
          </a:p>
          <a:p>
            <a:pPr algn="l">
              <a:spcAft>
                <a:spcPts val="300"/>
              </a:spcAft>
            </a:pPr>
            <a:r>
              <a:rPr sz="1050" b="0">
                <a:solidFill>
                  <a:srgbClr val="5B6372"/>
                </a:solidFill>
                <a:latin typeface="Arial"/>
              </a:rPr>
              <a:t>Limits early exposure and needs statistically useful traffic plus alarms that react within the interval.</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HOOKS</a:t>
            </a:r>
          </a:p>
          <a:p>
            <a:pPr algn="l">
              <a:spcAft>
                <a:spcPts val="300"/>
              </a:spcAft>
            </a:pPr>
            <a:r>
              <a:rPr sz="1050" b="0">
                <a:solidFill>
                  <a:srgbClr val="5B6372"/>
                </a:solidFill>
                <a:latin typeface="Arial"/>
              </a:rPr>
              <a:t>Use hooks for deterministic validation, not long-running hidden configuration management.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xmlns:p14="http://schemas.microsoft.com/office/powerpoint/2010/main" p14:dur="380">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1900" b="1">
                <a:solidFill>
                  <a:srgbClr val="161B26"/>
                </a:solidFill>
                <a:latin typeface="Arial"/>
              </a:rPr>
              <a:t>CodeDeploy lifecycle, traffic shifting and rollback: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payment API needs a small production canary and automatic restoration of the prior version when transaction errors rise.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Deploy an immutable version behind an alias, shift a small weight, bind a transaction-error alarm and retain the previous alias target for rollback.</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Infrastructure health alone may stay green while business transactions fail; an alarm that evaluates too slowly misses the canary window.</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Revision/version, hook output, target health, traffic weights, alarm history, rollback event and post-rollback transaction check.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xmlns:p14="http://schemas.microsoft.com/office/powerpoint/2010/main" p14:dur="380">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Developer deep dive: Elastic Beanstalk managed application platforms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Operate web applications through managed platform versions, environment configuration and deployment policies without losing architectural control.</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Elastic Beanstalk · Auto Scaling · ELB · RDS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Use a supported platform branch, separate the database lifecycle, choose immutable or rolling-with-batch deployment and test managed updates in a clone.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Embedding a production database in the environment couples data lifecycle to application replacement; platform hooks can drift when undocumented.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xmlns:p14="http://schemas.microsoft.com/office/powerpoint/2010/main" p14:dur="380">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MECHANICS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Elastic Beanstalk managed application platforms: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An application contains versions and environments; an environment creates resources such as instances, an Auto Scaling group and a load balancer from configuration options.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Platform branches and versions define operating system, runtime, proxy and supported lifecycle; managed platform updates reduce but do not remove upgrade testing.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Saved configurations and environment properties support repeatability, while `.ebextensions` and platform hooks apply controlled customisation.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Application health combines resource and request signals; enhanced health exposes instance and deployment-level status.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xmlns:p14="http://schemas.microsoft.com/office/powerpoint/2010/main" p14:dur="380">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CONTROL AND DATA FLOW</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Elastic Beanstalk managed application platforms: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Package application version</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Validate configuration</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Create replacement capacity</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Deploy by policy</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Read health and retain rollback</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xmlns:p14="http://schemas.microsoft.com/office/powerpoint/2010/main" p14:dur="380">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Elastic Beanstalk managed application platforms: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ALL AT ONCE</a:t>
            </a:r>
          </a:p>
          <a:p>
            <a:pPr algn="l">
              <a:spcAft>
                <a:spcPts val="300"/>
              </a:spcAft>
            </a:pPr>
            <a:r>
              <a:rPr sz="1050" b="0">
                <a:solidFill>
                  <a:srgbClr val="5B6372"/>
                </a:solidFill>
                <a:latin typeface="Arial"/>
              </a:rPr>
              <a:t>Fast and cheap, but introduces downtime or full-fleet risk.</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ROLLING</a:t>
            </a:r>
          </a:p>
          <a:p>
            <a:pPr algn="l">
              <a:spcAft>
                <a:spcPts val="300"/>
              </a:spcAft>
            </a:pPr>
            <a:r>
              <a:rPr sz="1050" b="0">
                <a:solidFill>
                  <a:srgbClr val="5B6372"/>
                </a:solidFill>
                <a:latin typeface="Arial"/>
              </a:rPr>
              <a:t>Updates batches while reducing available capacity during the deployment.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ROLLING WITH BATCH</a:t>
            </a:r>
          </a:p>
          <a:p>
            <a:pPr algn="l">
              <a:spcAft>
                <a:spcPts val="300"/>
              </a:spcAft>
            </a:pPr>
            <a:r>
              <a:rPr sz="1050" b="0">
                <a:solidFill>
                  <a:srgbClr val="5B6372"/>
                </a:solidFill>
                <a:latin typeface="Arial"/>
              </a:rPr>
              <a:t>Adds temporary capacity to preserve service level at higher short-term cost.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IMMUTABLE</a:t>
            </a:r>
          </a:p>
          <a:p>
            <a:pPr algn="l">
              <a:spcAft>
                <a:spcPts val="300"/>
              </a:spcAft>
            </a:pPr>
            <a:r>
              <a:rPr sz="1050" b="0">
                <a:solidFill>
                  <a:srgbClr val="5B6372"/>
                </a:solidFill>
                <a:latin typeface="Arial"/>
              </a:rPr>
              <a:t>Launches a fresh group for strong isolation and quick environment-level recovery.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xmlns:p14="http://schemas.microsoft.com/office/powerpoint/2010/main" p14:dur="380">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1900" b="1">
                <a:solidFill>
                  <a:srgbClr val="161B26"/>
                </a:solidFill>
                <a:latin typeface="Arial"/>
              </a:rPr>
              <a:t>Elastic Beanstalk managed application platforms: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legacy web service needs managed runtime patching but cannot accept reduced capacity during release.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Use a supported platform branch, separate the database lifecycle, choose immutable or rolling-with-batch deployment and test managed updates in a clone.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Embedding a production database in the environment couples data lifecycle to application replacement; platform hooks can drift when undocumented.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Application version, configuration template, platform version, enhanced-health events, deployment policy and rollback environment.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xmlns:p14="http://schemas.microsoft.com/office/powerpoint/2010/main" p14:dur="380">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SDLC AUTOMATION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Continuous delivery operating model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Turn every accepted change into a repeatable, observable release candidate.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Separate source, build, test, approval and deploy concerns; promote immutable artifacts rather than rebuilding per environment.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Hidden manual steps create configuration variance and weak rollback evidence.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Commit SHA, test report, artifact digest, approval identity and deployment outcome form the release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xmlns:p14="http://schemas.microsoft.com/office/powerpoint/2010/main" p14:dur="380">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Continuous delivery operating model: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Commit</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Build once</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Test and scan</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Approve</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Promote</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Observe</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xmlns:p14="http://schemas.microsoft.com/office/powerpoint/2010/main" p14:dur="380">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Continuous delivery operating model: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1F6FE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regulated team needs fast releases without allowing developers to deploy directly to production.</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Separate source, build, test, approval and deploy concerns; promote immutable artifacts rather than rebuilding per environment.</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GitHub · CodePipeline · CodeBuild · CodeDeploy</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Hidden manual steps create configuration variance and weak rollback evidence.</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Commit SHA, test report, artifact digest, approval identity and deployment outcome form the release record.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xmlns:p14="http://schemas.microsoft.com/office/powerpoint/2010/main" p14:dur="380">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Continuous delivery operating model: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Hidden manual steps create configuration variance and weak rollback evidence.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Commit through Observe;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Commit SHA, test report, artifact digest, approval identity and deployment outcome form the release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xmlns:p14="http://schemas.microsoft.com/office/powerpoint/2010/main" p14:dur="380">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Continuous delivery operating model: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regulated team needs fast releases without allowing developers to deploy directly to production.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Separate source, build, test, approval and deploy concerns; promote immutable artifacts rather than rebuilding per environment.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Hidden manual steps create configuration variance and weak rollback evidence.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Commit SHA, test report, artifact digest, approval identity and deployment outcome form the release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xmlns:p14="http://schemas.microsoft.com/office/powerpoint/2010/main" p14:dur="380">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SDLC AUTOMATION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Pipeline triggers and source governance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Start the right pipeline from an authenticated source event while protecting mainline quality.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Use pull-request checks, protected branches, signed connections and event filters; avoid broad polling and shared credentials.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trigger that accepts unreviewed branches can promote untrusted code.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Repository event, branch rule, connection ARN, trigger filter and execution correlation ID.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xmlns:p14="http://schemas.microsoft.com/office/powerpoint/2010/main" p14:dur="380">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Pipeline triggers and source governance: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Pull request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Policy checks</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Merge event</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Trigger filter</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Pipeline execution</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xmlns:p14="http://schemas.microsoft.com/office/powerpoint/2010/main" p14:dur="380">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Pipeline triggers and source governance: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1F6FE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Feature branches must run tests, but only reviewed merges to main may enter the release pipeline.</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Use pull-request checks, protected branches, signed connections and event filters; avoid broad polling and shared credentials.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GitHub · EventBridge · CodeConnections</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 trigger that accepts unreviewed branches can promote untrusted code.</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Repository event, branch rule, connection ARN, trigger filter and execution correlation ID.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xmlns:p14="http://schemas.microsoft.com/office/powerpoint/2010/main" p14:dur="380">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Pipeline triggers and source governance: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 trigger that accepts unreviewed branches can promote untrusted code.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Pull request through Pipeline execution;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Repository event, branch rule, connection ARN, trigger filter and execution correlation ID.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xmlns:p14="http://schemas.microsoft.com/office/powerpoint/2010/main" p14:dur="380">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Pipeline triggers and source governance: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Feature branches must run tests, but only reviewed merges to main may enter the release pipeline.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Use pull-request checks, protected branches, signed connections and event filters; avoid broad polling and shared credentials.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 trigger that accepts unreviewed branches can promote untrusted code.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Repository event, branch rule, connection ARN, trigger filter and execution correlation ID.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xmlns:p14="http://schemas.microsoft.com/office/powerpoint/2010/main" p14:dur="380">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SDLC AUTOMATION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CodeBuild and automated quality gates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Make build success mean more than compilation by enforcing test, security and quality thresholds.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Pin runtime images and dependencies, isolate privileged builds, publish reports, and fail on explicit exit codes.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green build with ignored test failures is a false control.</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buildspec version, resolved image digest, report group, coverage result and exported variables.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xmlns:p14="http://schemas.microsoft.com/office/powerpoint/2010/main" p14:dur="380">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CodeBuild and automated quality gates: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Install</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Compile</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Unit test</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Security scan</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Package</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Publish report</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xmlns:p14="http://schemas.microsoft.com/office/powerpoint/2010/main" p14:dur="380">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CodeBuild and automated quality gates: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1F6FE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Python service must fail the pipeline below 85% coverage or when a high-severity dependency finding appears.</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Pin runtime images and dependencies, isolate privileged builds, publish reports, and fail on explicit exit codes.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CodeBuild · CodeGuru · test reports · coverage</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 green build with ignored test failures is a false control.</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buildspec version, resolved image digest, report group, coverage result and exported variables.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xmlns:p14="http://schemas.microsoft.com/office/powerpoint/2010/main" p14:dur="380">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CodeBuild and automated quality gates: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 green build with ignored test failures is a false control.</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Install through Publish report;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buildspec version, resolved image digest, report group, coverage result and exported variables.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xmlns:p14="http://schemas.microsoft.com/office/powerpoint/2010/main" p14:dur="380">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CodeBuild and automated quality gates: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Python service must fail the pipeline below 85% coverage or when a high-severity dependency finding appears.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Pin runtime images and dependencies, isolate privileged builds, publish reports, and fail on explicit exit codes.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 green build with ignored test failures is a false control.</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buildspec version, resolved image digest, report group, coverage result and exported variables.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xmlns:p14="http://schemas.microsoft.com/office/powerpoint/2010/main" p14:dur="380">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SDLC AUTOMATION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Artifact integrity and lifecycle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Create traceable, encrypted and retention-managed artifacts for every deployment target.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Version packages immutably, scan images, sign or checksum outputs, encrypt repositories and expire superseded artifacts deliberately.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Mutable tags such as latest can deploy different bytes under the same release label.</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Package version, digest, scan status, KMS key, repository policy and retention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xmlns:p14="http://schemas.microsoft.com/office/powerpoint/2010/main" p14:dur="380">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Artifact integrity and lifecycle: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Build artifact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Hash and scan</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Store</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Authorize</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Promote by digest</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xmlns:p14="http://schemas.microsoft.com/office/powerpoint/2010/main" p14:dur="380">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Artifact integrity and lifecycle: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1F6FE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Teams share a container image across accounts and Regions while auditors require proof of exactly what ran.</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Version packages immutably, scan images, sign or checksum outputs, encrypt repositories and expire superseded artifacts deliberately.</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CodeArtifact · ECR · S3 · KMS · Image Builder</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Mutable tags such as latest can deploy different bytes under the same release label.</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Package version, digest, scan status, KMS key, repository policy and retention action.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xmlns:p14="http://schemas.microsoft.com/office/powerpoint/2010/main" p14:dur="380">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Artifact integrity and lifecycle: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Mutable tags such as latest can deploy different bytes under the same release label.</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Build artifact through Promote by digest;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Package version, digest, scan status, KMS key, repository policy and retention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xmlns:p14="http://schemas.microsoft.com/office/powerpoint/2010/main" p14:dur="380">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Artifact integrity and lifecycle: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Teams share a container image across accounts and Regions while auditors require proof of exactly what ran.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Version packages immutably, scan images, sign or checksum outputs, encrypt repositories and expire superseded artifacts deliberately.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Mutable tags such as latest can deploy different bytes under the same release label.</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Package version, digest, scan status, KMS key, repository policy and retention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xmlns:p14="http://schemas.microsoft.com/office/powerpoint/2010/main" p14:dur="380">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SDLC AUTOMATION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CodeDeploy lifecycle and rollback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Deploy safely to fleets with lifecycle hooks, health checks and a deterministic rollback path.</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Match AppSpec hooks to deployment topology; use load-balancer health and alarms to halt or roll back unhealthy revisions.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successful file copy does not prove the application is healthy.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Revision ID, lifecycle-hook log, deployment configuration, alarm state and rollback deployment ID.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xmlns:p14="http://schemas.microsoft.com/office/powerpoint/2010/main" p14:dur="380">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CodeDeploy lifecycle and rollback: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Provision target</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Before Install</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Install</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Validate Service</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Shift traffic</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Rollback if alarmed</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xmlns:p14="http://schemas.microsoft.com/office/powerpoint/2010/main" p14:dur="380">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CodeDeploy lifecycle and rollback: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1F6FE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An in-place EC2 deployment leaves half the fleet serving incompatible API versions.</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Match AppSpec hooks to deployment topology; use load-balancer health and alarms to halt or roll back unhealthy revisions.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CodeDeploy · EC2 · Auto Scaling · ALB</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 successful file copy does not prove the application is healthy.</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Revision ID, lifecycle-hook log, deployment configuration, alarm state and rollback deployment ID.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xmlns:p14="http://schemas.microsoft.com/office/powerpoint/2010/main" p14:dur="380">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CodeDeploy lifecycle and rollback: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 successful file copy does not prove the application is healthy.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Provision target through Rollback if alarmed;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Revision ID, lifecycle-hook log, deployment configuration, alarm state and rollback deployment ID.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xmlns:p14="http://schemas.microsoft.com/office/powerpoint/2010/main" p14:dur="380">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CodeDeploy lifecycle and rollback: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An in-place EC2 deployment leaves half the fleet serving incompatible API versions.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Match AppSpec hooks to deployment topology; use load-balancer health and alarms to halt or roll back unhealthy revisions.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 successful file copy does not prove the application is healthy.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Revision ID, lifecycle-hook log, deployment configuration, alarm state and rollback deployment ID.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xmlns:p14="http://schemas.microsoft.com/office/powerpoint/2010/main" p14:dur="380">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SDLC AUTOMATION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Container and serverless deployment strategies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Select canary, linear or all-at-once traffic shifting based on blast radius and recovery needs.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Pair weighted traffic with pre/post hooks, alarms and versioned task definitions or Lambda aliases.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Traffic shifts without representative health signals can amplify failure gradually but silently.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Task-definition revision or Lambda version, traffic weights, hook results, alarms and rollback state.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xmlns:p14="http://schemas.microsoft.com/office/powerpoint/2010/main" p14:dur="380">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PROCESS MODEL</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Container and serverless deployment strategies: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Publish version</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Pre-traffic test</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Shift fraction</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Observe</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Complete or roll back</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xmlns:p14="http://schemas.microsoft.com/office/powerpoint/2010/main" p14:dur="380">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SCENARIO</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Container and serverless deployment strategies: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1F6FE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customer API requires zero-downtime releases and automatic rollback within five minutes.</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Pair weighted traffic with pre/post hooks, alarms and versioned task definitions or Lambda aliases.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ECS · Lambda · CodeDeploy · SAM</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Traffic shifts without representative health signals can amplify failure gradually but silently.</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Task-definition revision or Lambda version, traffic weights, hook results, alarms and rollback state.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xmlns:p14="http://schemas.microsoft.com/office/powerpoint/2010/main" p14:dur="380">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OPERATIONS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Container and serverless deployment strategies: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Traffic shifts without representative health signals can amplify failure gradually but silently.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Publish version through Complete or roll back;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Task-definition revision or Lambda version, traffic weights, hook results, alarms and rollback state.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xmlns:p14="http://schemas.microsoft.com/office/powerpoint/2010/main" p14:dur="380">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APPLIED SCENARIO</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Container and serverless deployment strategies: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customer API requires zero-downtime releases and automatic rollback within five minutes.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Pair weighted traffic with pre/post hooks, alarms and versioned task definitions or Lambda aliases.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Traffic shifts without representative health signals can amplify failure gradually but silently.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Task-definition revision or Lambda version, traffic weights, hook results, alarms and rollback state.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xmlns:p14="http://schemas.microsoft.com/office/powerpoint/2010/main" p14:dur="380">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SDLC AUTOMATION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Multi-account and multi-Region delivery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Promote one release across governed accounts and Regions without duplicating build logic.</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Use cross-account roles, Region-specific artifact stores and keys, ordered waves, approval boundaries and central evidence.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Missing KMS or trust-policy permissions often appear only at the first cross-account action.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Role assumption, regional artifact copy, StackSet operation, wave status and approval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xmlns:p14="http://schemas.microsoft.com/office/powerpoint/2010/main" p14:dur="380">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Multi-account and multi-Region delivery: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Build centrally</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Replicate artifact</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Assume deploy role</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Deploy wave</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Verify Region</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Continue</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xmlns:p14="http://schemas.microsoft.com/office/powerpoint/2010/main" p14:dur="380">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Multi-account and multi-Region delivery: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1F6FE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platform team releases to development, staging and two production Regions from one governed pipeline.</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Use cross-account roles, Region-specific artifact stores and keys, ordered waves, approval boundaries and central evidence.</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CodePipeline · CloudFormation StackSets · KMS · IAM</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Missing KMS or trust-policy permissions often appear only at the first cross-account action.</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Role assumption, regional artifact copy, StackSet operation, wave status and approval record.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xmlns:p14="http://schemas.microsoft.com/office/powerpoint/2010/main" p14:dur="380">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Multi-account and multi-Region delivery: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Missing KMS or trust-policy permissions often appear only at the first cross-account action.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Build centrally through Continue;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Role assumption, regional artifact copy, StackSet operation, wave status and approval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xmlns:p14="http://schemas.microsoft.com/office/powerpoint/2010/main" p14:dur="380">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Multi-account and multi-Region delivery: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platform team releases to development, staging and two production Regions from one governed pipeline.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Use cross-account roles, Region-specific artifact stores and keys, ordered waves, approval boundaries and central evidence.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Missing KMS or trust-policy permissions often appear only at the first cross-account action.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Role assumption, regional artifact copy, StackSet operation, wave status and approval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xmlns:p14="http://schemas.microsoft.com/office/powerpoint/2010/main" p14:dur="380">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Continuous delivery operating model: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Commit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Separate source, build, test, approval and deploy concerns; promote immutable artifacts rather than rebuilding per environment.</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GitHub · CodePipeline · CodeBuild · CodeDeploy</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Commit SHA, test report, artifact digest, approval identity and deployment outcome form the release record.</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xmlns:p14="http://schemas.microsoft.com/office/powerpoint/2010/main" p14:dur="380">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Pipeline triggers and source governance: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Pull request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Use pull-request checks, protected branches, signed connections and event filters; avoid broad polling and shared credentials.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GitHub · EventBridge · CodeConnections</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Repository event, branch rule, connection ARN, trigger filter and execution correlation ID.</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xmlns:p14="http://schemas.microsoft.com/office/powerpoint/2010/main" p14:dur="380">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CodeBuild and automated quality gates: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Install</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Pin runtime images and dependencies, isolate privileged builds, publish reports, and fail on explicit exit codes.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CodeBuild · CodeGuru · test reports · coverage</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buildspec version, resolved image digest, report group, coverage result and exported variables.</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xmlns:p14="http://schemas.microsoft.com/office/powerpoint/2010/main" p14:dur="380">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Artifact integrity and lifecycle: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Build artifact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Version packages immutably, scan images, sign or checksum outputs, encrypt repositories and expire superseded artifacts deliberately.</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CodeArtifact · ECR · S3 · KMS · Image Builder</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Package version, digest, scan status, KMS key, repository policy and retention action.</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xmlns:p14="http://schemas.microsoft.com/office/powerpoint/2010/main" p14:dur="380">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CodeDeploy lifecycle and rollback: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Provision target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Match AppSpec hooks to deployment topology; use load-balancer health and alarms to halt or roll back unhealthy revisions.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CodeDeploy · EC2 · Auto Scaling · ALB</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Revision ID, lifecycle-hook log, deployment configuration, alarm state and rollback deployment ID.</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xmlns:p14="http://schemas.microsoft.com/office/powerpoint/2010/main" p14:dur="380">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BOUNDARIES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Container and serverless deployment strategies: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Publish version</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Pair weighted traffic with pre/post hooks, alarms and versioned task definitions or Lambda aliases.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ECS · Lambda · CodeDeploy · SAM</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Task-definition revision or Lambda version, traffic weights, hook results, alarms and rollback state.</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xmlns:p14="http://schemas.microsoft.com/office/powerpoint/2010/main" p14:dur="380">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Multi-account and multi-Region delivery: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Build centrally</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Use cross-account roles, Region-specific artifact stores and keys, ordered waves, approval boundaries and central evidence.</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CodePipeline · CloudFormation StackSets · KMS · IAM</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Role assumption, regional artifact copy, StackSet operation, wave status and approval record.</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F6FE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xmlns:p14="http://schemas.microsoft.com/office/powerpoint/2010/main" p14:dur="380">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 · DAY 1 · LO1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Set Up a Safe AWS &amp; Git Working Environment and Verify Identity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1 · LO1 · K1, A1</a:t>
            </a:r>
          </a:p>
        </p:txBody>
      </p:sp>
      <p:sp>
        <p:nvSpPr>
          <p:cNvPr id="10" name="TextBox 9"/>
          <p:cNvSpPr txBox="1"/>
          <p:nvPr/>
        </p:nvSpPr>
        <p:spPr>
          <a:xfrm>
            <a:off x="777240" y="2286000"/>
            <a:ext cx="5486400" cy="1339215"/>
          </a:xfrm>
          <a:prstGeom prst="rect">
            <a:avLst/>
          </a:prstGeom>
          <a:noFill/>
        </p:spPr>
        <p:txBody>
          <a:bodyPr wrap="square" anchor="t">
            <a:spAutoFit/>
          </a:bodyPr>
          <a:lstStyle/>
          <a:p>
            <a:pPr algn="l">
              <a:spcAft>
                <a:spcPts val="400"/>
              </a:spcAft>
            </a:pPr>
            <a:r>
              <a:rPr sz="1350" b="0">
                <a:solidFill>
                  <a:srgbClr val="161B26"/>
                </a:solidFill>
                <a:latin typeface="Arial"/>
              </a:rPr>
              <a:t>Before automating anything you need a workspace you can trust.</a:t>
            </a:r>
          </a:p>
        </p:txBody>
      </p:sp>
      <p:sp>
        <p:nvSpPr>
          <p:cNvPr id="11" name="Rectangle 10"/>
          <p:cNvSpPr/>
          <p:nvPr/>
        </p:nvSpPr>
        <p:spPr>
          <a:xfrm>
            <a:off x="777240" y="3734943"/>
            <a:ext cx="5486400" cy="13776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734943"/>
            <a:ext cx="91440" cy="13776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862959"/>
            <a:ext cx="5120640" cy="274320"/>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60120" y="4137279"/>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 named, MFA-aware, least-privilege 'devops' CLI profile plus a Git repo with a secrets-safe.gitignore, verified with an AWS caller-identity check and a clean secret scan.</a:t>
            </a:r>
          </a:p>
        </p:txBody>
      </p:sp>
      <p:sp>
        <p:nvSpPr>
          <p:cNvPr id="15" name="TextBox 14"/>
          <p:cNvSpPr txBox="1"/>
          <p:nvPr/>
        </p:nvSpPr>
        <p:spPr>
          <a:xfrm>
            <a:off x="960120" y="4811268"/>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IAM, AWS CLI v2, IAM Identity Center, CloudShell, Git</a:t>
            </a:r>
          </a:p>
        </p:txBody>
      </p:sp>
      <p:sp>
        <p:nvSpPr>
          <p:cNvPr id="16" name="Rectangle 15"/>
          <p:cNvSpPr/>
          <p:nvPr/>
        </p:nvSpPr>
        <p:spPr>
          <a:xfrm>
            <a:off x="777240" y="5222367"/>
            <a:ext cx="5486400" cy="1105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222367"/>
            <a:ext cx="91440" cy="11052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350383"/>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624703"/>
            <a:ext cx="5166360" cy="520065"/>
          </a:xfrm>
          <a:prstGeom prst="rect">
            <a:avLst/>
          </a:prstGeom>
          <a:noFill/>
        </p:spPr>
        <p:txBody>
          <a:bodyPr wrap="square" anchor="t">
            <a:spAutoFit/>
          </a:bodyPr>
          <a:lstStyle/>
          <a:p>
            <a:pPr algn="l">
              <a:spcAft>
                <a:spcPts val="300"/>
              </a:spcAft>
            </a:pPr>
            <a:r>
              <a:rPr sz="1050" b="0">
                <a:solidFill>
                  <a:srgbClr val="5B6372"/>
                </a:solidFill>
                <a:latin typeface="Arial"/>
              </a:rPr>
              <a:t>Outcome:  Stand up a least-privilege AWS CLI/Git workspace and confirm your identity.</a:t>
            </a:r>
          </a:p>
          <a:p>
            <a:pPr algn="l">
              <a:spcAft>
                <a:spcPts val="300"/>
              </a:spcAft>
            </a:pPr>
            <a:r>
              <a:rPr sz="1050" b="0">
                <a:solidFill>
                  <a:srgbClr val="5B6372"/>
                </a:solidFill>
                <a:latin typeface="Arial"/>
              </a:rPr>
              <a:t>Evidence:  Screenshot of showing your own Account and ARN.</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1-safe-env-identity.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xmlns:p14="http://schemas.microsoft.com/office/powerpoint/2010/main" p14:dur="380">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2 · DAY 1 · LO1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Establish a Source-Control Workflow and Branching for the Sample App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1 · LO1 · K1, A1</a:t>
            </a:r>
          </a:p>
        </p:txBody>
      </p:sp>
      <p:sp>
        <p:nvSpPr>
          <p:cNvPr id="10" name="TextBox 9"/>
          <p:cNvSpPr txBox="1"/>
          <p:nvPr/>
        </p:nvSpPr>
        <p:spPr>
          <a:xfrm>
            <a:off x="777240" y="2286000"/>
            <a:ext cx="5486400" cy="992505"/>
          </a:xfrm>
          <a:prstGeom prst="rect">
            <a:avLst/>
          </a:prstGeom>
          <a:noFill/>
        </p:spPr>
        <p:txBody>
          <a:bodyPr wrap="square" anchor="t">
            <a:spAutoFit/>
          </a:bodyPr>
          <a:lstStyle/>
          <a:p>
            <a:pPr algn="l">
              <a:spcAft>
                <a:spcPts val="400"/>
              </a:spcAft>
            </a:pPr>
            <a:r>
              <a:rPr sz="1350" b="0">
                <a:solidFill>
                  <a:srgbClr val="161B26"/>
                </a:solidFill>
                <a:latin typeface="Arial"/>
              </a:rPr>
              <a:t>Good delivery starts with disciplined source control.</a:t>
            </a:r>
          </a:p>
        </p:txBody>
      </p:sp>
      <p:sp>
        <p:nvSpPr>
          <p:cNvPr id="11" name="Rectangle 10"/>
          <p:cNvSpPr/>
          <p:nvPr/>
        </p:nvSpPr>
        <p:spPr>
          <a:xfrm>
            <a:off x="777240" y="3388233"/>
            <a:ext cx="5486400" cy="15510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88233"/>
            <a:ext cx="91440" cy="155105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16249"/>
            <a:ext cx="5120640" cy="274320"/>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60120" y="3790569"/>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 protected trunk-based GitHub repo with an open/merged PR, plus an AVAILABLE AWS CodeConnections connection to GitHub ready to drive CodeBuild and CodePipeline.</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GitHub, AWS CodeConnections, Git, AWS CodePipeline (source stage)</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Adopt a trunk-based Git workflow and connect the repository to AWS with CodeConnections.</a:t>
            </a:r>
          </a:p>
          <a:p>
            <a:pPr algn="l">
              <a:spcAft>
                <a:spcPts val="300"/>
              </a:spcAft>
            </a:pPr>
            <a:r>
              <a:rPr sz="1050" b="0">
                <a:solidFill>
                  <a:srgbClr val="5B6372"/>
                </a:solidFill>
                <a:latin typeface="Arial"/>
              </a:rPr>
              <a:t>Evidence:  The GitHub PR page for feature/bump-version showing the diff and an approving review.</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2-source-workflow-branching.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xmlns:p14="http://schemas.microsoft.com/office/powerpoint/2010/main" p14:dur="380">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3 · DAY 1 · LO1 · HANDS-ON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Run Automated Tests on Every Commit with AWS CodeBuild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1 · LO1 · K1, A1</a:t>
            </a:r>
          </a:p>
        </p:txBody>
      </p:sp>
      <p:sp>
        <p:nvSpPr>
          <p:cNvPr id="10" name="TextBox 9"/>
          <p:cNvSpPr txBox="1"/>
          <p:nvPr/>
        </p:nvSpPr>
        <p:spPr>
          <a:xfrm>
            <a:off x="777240" y="2286000"/>
            <a:ext cx="5486400" cy="1372235"/>
          </a:xfrm>
          <a:prstGeom prst="rect">
            <a:avLst/>
          </a:prstGeom>
          <a:noFill/>
        </p:spPr>
        <p:txBody>
          <a:bodyPr wrap="square" anchor="t">
            <a:spAutoFit/>
          </a:bodyPr>
          <a:lstStyle/>
          <a:p>
            <a:pPr algn="l">
              <a:spcAft>
                <a:spcPts val="400"/>
              </a:spcAft>
            </a:pPr>
            <a:r>
              <a:rPr sz="1350" b="0">
                <a:solidFill>
                  <a:srgbClr val="161B26"/>
                </a:solidFill>
                <a:latin typeface="Arial"/>
              </a:rPr>
              <a:t>Automated tests are the gate that keeps broken code out of production.</a:t>
            </a:r>
          </a:p>
        </p:txBody>
      </p:sp>
      <p:sp>
        <p:nvSpPr>
          <p:cNvPr id="11" name="Rectangle 10"/>
          <p:cNvSpPr/>
          <p:nvPr/>
        </p:nvSpPr>
        <p:spPr>
          <a:xfrm>
            <a:off x="777240" y="3767963"/>
            <a:ext cx="5486400" cy="11713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767963"/>
            <a:ext cx="91440" cy="117132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895979"/>
            <a:ext cx="5120640" cy="274320"/>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60120" y="4170299"/>
            <a:ext cx="5166360" cy="412750"/>
          </a:xfrm>
          <a:prstGeom prst="rect">
            <a:avLst/>
          </a:prstGeom>
          <a:noFill/>
        </p:spPr>
        <p:txBody>
          <a:bodyPr wrap="square" anchor="t">
            <a:spAutoFit/>
          </a:bodyPr>
          <a:lstStyle/>
          <a:p>
            <a:pPr algn="l">
              <a:spcAft>
                <a:spcPts val="400"/>
              </a:spcAft>
            </a:pPr>
            <a:r>
              <a:rPr sz="1250" b="1">
                <a:solidFill>
                  <a:srgbClr val="161B26"/>
                </a:solidFill>
                <a:latin typeface="Arial"/>
              </a:rPr>
              <a:t>A CodeBuild project that runs the linter and, streams phase logs to CloudWatch, and fails loudly when a test is broken.</a:t>
            </a:r>
          </a:p>
        </p:txBody>
      </p:sp>
      <p:sp>
        <p:nvSpPr>
          <p:cNvPr id="15" name="TextBox 14"/>
          <p:cNvSpPr txBox="1"/>
          <p:nvPr/>
        </p:nvSpPr>
        <p:spPr>
          <a:xfrm>
            <a:off x="960120" y="4637913"/>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CodeBuild, Amazon S3, AWS IAM, Amazon CloudWatch Logs</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Author a buildspec and a CodeBuild project that automatically lints and tests the app.</a:t>
            </a:r>
          </a:p>
          <a:p>
            <a:pPr algn="l">
              <a:spcAft>
                <a:spcPts val="300"/>
              </a:spcAft>
            </a:pPr>
            <a:r>
              <a:rPr sz="1050" b="0">
                <a:solidFill>
                  <a:srgbClr val="5B6372"/>
                </a:solidFill>
                <a:latin typeface="Arial"/>
              </a:rPr>
              <a:t>Evidence:  The CodeBuild build page showing buildStatus SUCCEEDED with INSTALL/PRE_BUILD/BUILD green.</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3-codebuild-automated-tests.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xmlns:p14="http://schemas.microsoft.com/office/powerpoint/2010/main" p14:dur="380">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4 · DAY 1 · LO1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Produce and Store Versioned Build Artifacts with a Buildspec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1 · LO1 · K1, A1</a:t>
            </a:r>
          </a:p>
        </p:txBody>
      </p:sp>
      <p:sp>
        <p:nvSpPr>
          <p:cNvPr id="10" name="TextBox 9"/>
          <p:cNvSpPr txBox="1"/>
          <p:nvPr/>
        </p:nvSpPr>
        <p:spPr>
          <a:xfrm>
            <a:off x="777240" y="2286000"/>
            <a:ext cx="5486400" cy="1339215"/>
          </a:xfrm>
          <a:prstGeom prst="rect">
            <a:avLst/>
          </a:prstGeom>
          <a:noFill/>
        </p:spPr>
        <p:txBody>
          <a:bodyPr wrap="square" anchor="t">
            <a:spAutoFit/>
          </a:bodyPr>
          <a:lstStyle/>
          <a:p>
            <a:pPr algn="l">
              <a:spcAft>
                <a:spcPts val="400"/>
              </a:spcAft>
            </a:pPr>
            <a:r>
              <a:rPr sz="1350" b="0">
                <a:solidFill>
                  <a:srgbClr val="161B26"/>
                </a:solidFill>
                <a:latin typeface="Arial"/>
              </a:rPr>
              <a:t>A pipeline is only trustworthy if you can identify and reproduce exactly what it built.</a:t>
            </a:r>
          </a:p>
        </p:txBody>
      </p:sp>
      <p:sp>
        <p:nvSpPr>
          <p:cNvPr id="11" name="Rectangle 10"/>
          <p:cNvSpPr/>
          <p:nvPr/>
        </p:nvSpPr>
        <p:spPr>
          <a:xfrm>
            <a:off x="777240" y="3734943"/>
            <a:ext cx="5486400" cy="13776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734943"/>
            <a:ext cx="91440" cy="13776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862959"/>
            <a:ext cx="5120640" cy="274320"/>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60120" y="4137279"/>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An encrypted, version-enabled S3 artifact bucket holding immutable, commit/semver-named build artifacts that you can list, retrieve and reproduce.</a:t>
            </a:r>
          </a:p>
        </p:txBody>
      </p:sp>
      <p:sp>
        <p:nvSpPr>
          <p:cNvPr id="15" name="TextBox 14"/>
          <p:cNvSpPr txBox="1"/>
          <p:nvPr/>
        </p:nvSpPr>
        <p:spPr>
          <a:xfrm>
            <a:off x="960120" y="4811268"/>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CodeBuild, Amazon S3, AWS CodeArtifact, AWS IAM</a:t>
            </a:r>
          </a:p>
        </p:txBody>
      </p:sp>
      <p:sp>
        <p:nvSpPr>
          <p:cNvPr id="16" name="Rectangle 15"/>
          <p:cNvSpPr/>
          <p:nvPr/>
        </p:nvSpPr>
        <p:spPr>
          <a:xfrm>
            <a:off x="777240" y="5222367"/>
            <a:ext cx="5486400" cy="1105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222367"/>
            <a:ext cx="91440" cy="11052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350383"/>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624703"/>
            <a:ext cx="5166360" cy="520065"/>
          </a:xfrm>
          <a:prstGeom prst="rect">
            <a:avLst/>
          </a:prstGeom>
          <a:noFill/>
        </p:spPr>
        <p:txBody>
          <a:bodyPr wrap="square" anchor="t">
            <a:spAutoFit/>
          </a:bodyPr>
          <a:lstStyle/>
          <a:p>
            <a:pPr algn="l">
              <a:spcAft>
                <a:spcPts val="300"/>
              </a:spcAft>
            </a:pPr>
            <a:r>
              <a:rPr sz="1050" b="0">
                <a:solidFill>
                  <a:srgbClr val="5B6372"/>
                </a:solidFill>
                <a:latin typeface="Arial"/>
              </a:rPr>
              <a:t>Outcome:  Extend the buildspec to package versioned artifacts and store them in an encrypted, versioned bucket.</a:t>
            </a:r>
          </a:p>
          <a:p>
            <a:pPr algn="l">
              <a:spcAft>
                <a:spcPts val="300"/>
              </a:spcAft>
            </a:pPr>
            <a:r>
              <a:rPr sz="1050" b="0">
                <a:solidFill>
                  <a:srgbClr val="5B6372"/>
                </a:solidFill>
                <a:latin typeface="Arial"/>
              </a:rPr>
              <a:t>Evidence:  output showing Status: Enabled.</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4-versioned-artifacts-buildspec.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xmlns:p14="http://schemas.microsoft.com/office/powerpoint/2010/main" p14:dur="380">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5 · DAY 1 · LO1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Assemble a CodePipeline with Manual Approval and a Deployment Strategy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1 · LO1 · K1, A1</a:t>
            </a:r>
          </a:p>
        </p:txBody>
      </p:sp>
      <p:sp>
        <p:nvSpPr>
          <p:cNvPr id="10" name="TextBox 9"/>
          <p:cNvSpPr txBox="1"/>
          <p:nvPr/>
        </p:nvSpPr>
        <p:spPr>
          <a:xfrm>
            <a:off x="777240" y="2286000"/>
            <a:ext cx="5486400" cy="992505"/>
          </a:xfrm>
          <a:prstGeom prst="rect">
            <a:avLst/>
          </a:prstGeom>
          <a:noFill/>
        </p:spPr>
        <p:txBody>
          <a:bodyPr wrap="square" anchor="t">
            <a:spAutoFit/>
          </a:bodyPr>
          <a:lstStyle/>
          <a:p>
            <a:pPr algn="l">
              <a:spcAft>
                <a:spcPts val="400"/>
              </a:spcAft>
            </a:pPr>
            <a:r>
              <a:rPr sz="1350" b="0">
                <a:solidFill>
                  <a:srgbClr val="161B26"/>
                </a:solidFill>
                <a:latin typeface="Arial"/>
              </a:rPr>
              <a:t>Now you connect everything into one governed release path.</a:t>
            </a:r>
          </a:p>
        </p:txBody>
      </p:sp>
      <p:sp>
        <p:nvSpPr>
          <p:cNvPr id="11" name="Rectangle 10"/>
          <p:cNvSpPr/>
          <p:nvPr/>
        </p:nvSpPr>
        <p:spPr>
          <a:xfrm>
            <a:off x="777240" y="3388233"/>
            <a:ext cx="5486400" cy="15510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88233"/>
            <a:ext cx="91440" cy="155105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16249"/>
            <a:ext cx="5120640" cy="274320"/>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60120" y="3790569"/>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 four-stage CodePipeline (Source -&gt; Build -&gt; Approve -&gt; Deploy) with a manual approval gate, a chosen deployment strategy and alarm-based automatic rollback.</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CodePipeline, CodeBuild, CodeDeploy, CodeConnections, Amazon S3 + 2 more</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Wire an end-to-end pipeline with a manual approval gate, a deployment strategy and auto-rollback.</a:t>
            </a:r>
          </a:p>
          <a:p>
            <a:pPr algn="l">
              <a:spcAft>
                <a:spcPts val="300"/>
              </a:spcAft>
            </a:pPr>
            <a:r>
              <a:rPr sz="1050" b="0">
                <a:solidFill>
                  <a:srgbClr val="5B6372"/>
                </a:solidFill>
                <a:latin typeface="Arial"/>
              </a:rPr>
              <a:t>Evidence:  The CodePipeline view showing Source, Build, Approve and Deploy, paused at the Approve gate.</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5-codepipeline-approval-deploy.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xmlns:p14="http://schemas.microsoft.com/office/powerpoint/2010/main" p14:dur="380">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Recap — SDLC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1</a:t>
            </a:r>
          </a:p>
          <a:p>
            <a:pPr algn="l">
              <a:spcAft>
                <a:spcPts val="300"/>
              </a:spcAft>
            </a:pPr>
            <a:r>
              <a:rPr sz="950" b="0">
                <a:solidFill>
                  <a:srgbClr val="5B6372"/>
                </a:solidFill>
                <a:latin typeface="Arial"/>
              </a:rPr>
              <a:t>Stand up a least-privilege AWS CLI/Git workspace and confirm your identity.</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2</a:t>
            </a:r>
          </a:p>
          <a:p>
            <a:pPr algn="l">
              <a:spcAft>
                <a:spcPts val="300"/>
              </a:spcAft>
            </a:pPr>
            <a:r>
              <a:rPr sz="950" b="0">
                <a:solidFill>
                  <a:srgbClr val="5B6372"/>
                </a:solidFill>
                <a:latin typeface="Arial"/>
              </a:rPr>
              <a:t>Adopt a trunk-based Git workflow and connect the repository to AWS with CodeConnections.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3</a:t>
            </a:r>
          </a:p>
          <a:p>
            <a:pPr algn="l">
              <a:spcAft>
                <a:spcPts val="300"/>
              </a:spcAft>
            </a:pPr>
            <a:r>
              <a:rPr sz="950" b="0">
                <a:solidFill>
                  <a:srgbClr val="5B6372"/>
                </a:solidFill>
                <a:latin typeface="Arial"/>
              </a:rPr>
              <a:t>Author a buildspec and a CodeBuild project that automatically lints and tests the app.</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4</a:t>
            </a:r>
          </a:p>
          <a:p>
            <a:pPr algn="l">
              <a:spcAft>
                <a:spcPts val="300"/>
              </a:spcAft>
            </a:pPr>
            <a:r>
              <a:rPr sz="950" b="0">
                <a:solidFill>
                  <a:srgbClr val="5B6372"/>
                </a:solidFill>
                <a:latin typeface="Arial"/>
              </a:rPr>
              <a:t>Extend the buildspec to package versioned artifacts and store them in an encrypted, versioned bucket.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5</a:t>
            </a:r>
          </a:p>
          <a:p>
            <a:pPr algn="l">
              <a:spcAft>
                <a:spcPts val="300"/>
              </a:spcAft>
            </a:pPr>
            <a:r>
              <a:rPr sz="950" b="0">
                <a:solidFill>
                  <a:srgbClr val="5B6372"/>
                </a:solidFill>
                <a:latin typeface="Arial"/>
              </a:rPr>
              <a:t>Wire an end-to-end pipeline with a manual approval gate, a deployment strategy and auto-rollback.</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Key principle</a:t>
            </a:r>
          </a:p>
          <a:p>
            <a:pPr algn="l">
              <a:spcAft>
                <a:spcPts val="300"/>
              </a:spcAft>
            </a:pPr>
            <a:r>
              <a:rPr sz="950" b="0">
                <a:solidFill>
                  <a:srgbClr val="5B6372"/>
                </a:solidFill>
                <a:latin typeface="Arial"/>
              </a:rPr>
              <a:t>Developers push often; CodeBuild runs the build and tests on every commit so bugs are found early, not at release.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xmlns:p14="http://schemas.microsoft.com/office/powerpoint/2010/main" p14:dur="380">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Configuration Management and IaC</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Exam weighting 17%  ·  Infrastructure as Code · reusable templates · multi-account &amp; multi-Region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xmlns:p14="http://schemas.microsoft.com/office/powerpoint/2010/main" p14:dur="380">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02 · WEIGHTING 17%</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Key Concepts — Configuration Management and IaC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Infrastructure as Code</a:t>
            </a:r>
          </a:p>
          <a:p>
            <a:pPr algn="l">
              <a:spcAft>
                <a:spcPts val="300"/>
              </a:spcAft>
            </a:pPr>
            <a:r>
              <a:rPr sz="1150" b="0">
                <a:solidFill>
                  <a:srgbClr val="5B6372"/>
                </a:solidFill>
                <a:latin typeface="Arial"/>
              </a:rPr>
              <a:t>Declare infrastructure in version-controlled templates so environments are repeatable, reviewable and disposable.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CloudFormation</a:t>
            </a:r>
          </a:p>
          <a:p>
            <a:pPr algn="l">
              <a:spcAft>
                <a:spcPts val="300"/>
              </a:spcAft>
            </a:pPr>
            <a:r>
              <a:rPr sz="1150" b="0">
                <a:solidFill>
                  <a:srgbClr val="5B6372"/>
                </a:solidFill>
                <a:latin typeface="Arial"/>
              </a:rPr>
              <a:t>Declarative JSON/YAML stacks with parameters, mappings, outputs, change sets, drift detection and automatic rollback.</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Reusable components</a:t>
            </a:r>
          </a:p>
          <a:p>
            <a:pPr algn="l">
              <a:spcAft>
                <a:spcPts val="300"/>
              </a:spcAft>
            </a:pPr>
            <a:r>
              <a:rPr sz="1150" b="0">
                <a:solidFill>
                  <a:srgbClr val="5B6372"/>
                </a:solidFill>
                <a:latin typeface="Arial"/>
              </a:rPr>
              <a:t>Nested stacks and modules parameterise a pattern once and reuse it across teams and Regions.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CDK vs CloudFormation vs Terraform</a:t>
            </a:r>
          </a:p>
          <a:p>
            <a:pPr algn="l">
              <a:spcAft>
                <a:spcPts val="300"/>
              </a:spcAft>
            </a:pPr>
            <a:r>
              <a:rPr sz="1150" b="0">
                <a:solidFill>
                  <a:srgbClr val="5B6372"/>
                </a:solidFill>
                <a:latin typeface="Arial"/>
              </a:rPr>
              <a:t>CDK generates CloudFormation from real code; Terraform is multi-cloud — all describe desired state.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Configuration management</a:t>
            </a:r>
          </a:p>
          <a:p>
            <a:pPr algn="l">
              <a:spcAft>
                <a:spcPts val="300"/>
              </a:spcAft>
            </a:pPr>
            <a:r>
              <a:rPr sz="1150" b="0">
                <a:solidFill>
                  <a:srgbClr val="5B6372"/>
                </a:solidFill>
                <a:latin typeface="Arial"/>
              </a:rPr>
              <a:t>Systems Manager (State Manager, Automation, Parameter Store) keeps running instances in their desired configuration.</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Multi-account &amp; multi-Region</a:t>
            </a:r>
          </a:p>
          <a:p>
            <a:pPr algn="l">
              <a:spcAft>
                <a:spcPts val="300"/>
              </a:spcAft>
            </a:pPr>
            <a:r>
              <a:rPr sz="1150" b="0">
                <a:solidFill>
                  <a:srgbClr val="5B6372"/>
                </a:solidFill>
                <a:latin typeface="Arial"/>
              </a:rPr>
              <a:t>Organizations, StackSets and Control Tower create, onboard and secure accounts at scale.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xmlns:p14="http://schemas.microsoft.com/office/powerpoint/2010/main" p14:dur="380">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DECLARE DESIRED STATE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IaC Options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944014" cy="502920"/>
          </a:xfrm>
          <a:prstGeom prst="rect">
            <a:avLst/>
          </a:prstGeom>
          <a:noFill/>
        </p:spPr>
        <p:txBody>
          <a:bodyPr wrap="square" anchor="ctr">
            <a:spAutoFit/>
          </a:bodyPr>
          <a:lstStyle/>
          <a:p>
            <a:pPr algn="l">
              <a:spcAft>
                <a:spcPts val="400"/>
              </a:spcAft>
            </a:pPr>
            <a:r>
              <a:rPr sz="1400" b="1">
                <a:solidFill>
                  <a:srgbClr val="FFFFFF"/>
                </a:solidFill>
                <a:latin typeface="Arial"/>
              </a:rPr>
              <a:t>Tool</a:t>
            </a:r>
          </a:p>
        </p:txBody>
      </p:sp>
      <p:sp>
        <p:nvSpPr>
          <p:cNvPr id="9" name="Rectangle 8"/>
          <p:cNvSpPr/>
          <p:nvPr/>
        </p:nvSpPr>
        <p:spPr>
          <a:xfrm>
            <a:off x="2904134" y="1783080"/>
            <a:ext cx="2552273"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3862" y="1783080"/>
            <a:ext cx="2369393" cy="502920"/>
          </a:xfrm>
          <a:prstGeom prst="rect">
            <a:avLst/>
          </a:prstGeom>
          <a:noFill/>
        </p:spPr>
        <p:txBody>
          <a:bodyPr wrap="square" anchor="ctr">
            <a:spAutoFit/>
          </a:bodyPr>
          <a:lstStyle/>
          <a:p>
            <a:pPr algn="ctr">
              <a:spcAft>
                <a:spcPts val="400"/>
              </a:spcAft>
            </a:pPr>
            <a:r>
              <a:rPr sz="1400" b="1">
                <a:solidFill>
                  <a:srgbClr val="FFFFFF"/>
                </a:solidFill>
                <a:latin typeface="Arial"/>
              </a:rPr>
              <a:t>Language</a:t>
            </a:r>
          </a:p>
        </p:txBody>
      </p:sp>
      <p:sp>
        <p:nvSpPr>
          <p:cNvPr id="11" name="Rectangle 10"/>
          <p:cNvSpPr/>
          <p:nvPr/>
        </p:nvSpPr>
        <p:spPr>
          <a:xfrm>
            <a:off x="5456407" y="1783080"/>
            <a:ext cx="2977652"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66135" y="1783080"/>
            <a:ext cx="2794772" cy="502920"/>
          </a:xfrm>
          <a:prstGeom prst="rect">
            <a:avLst/>
          </a:prstGeom>
          <a:noFill/>
        </p:spPr>
        <p:txBody>
          <a:bodyPr wrap="square" anchor="ctr">
            <a:spAutoFit/>
          </a:bodyPr>
          <a:lstStyle/>
          <a:p>
            <a:pPr algn="ctr">
              <a:spcAft>
                <a:spcPts val="400"/>
              </a:spcAft>
            </a:pPr>
            <a:r>
              <a:rPr sz="1400" b="1">
                <a:solidFill>
                  <a:srgbClr val="FFFFFF"/>
                </a:solidFill>
                <a:latin typeface="Arial"/>
              </a:rPr>
              <a:t>Scope</a:t>
            </a:r>
          </a:p>
        </p:txBody>
      </p:sp>
      <p:sp>
        <p:nvSpPr>
          <p:cNvPr id="13" name="Rectangle 12"/>
          <p:cNvSpPr/>
          <p:nvPr/>
        </p:nvSpPr>
        <p:spPr>
          <a:xfrm>
            <a:off x="8434059" y="1783080"/>
            <a:ext cx="2977652"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3787" y="1783080"/>
            <a:ext cx="2794772" cy="502920"/>
          </a:xfrm>
          <a:prstGeom prst="rect">
            <a:avLst/>
          </a:prstGeom>
          <a:noFill/>
        </p:spPr>
        <p:txBody>
          <a:bodyPr wrap="square" anchor="ctr">
            <a:spAutoFit/>
          </a:bodyPr>
          <a:lstStyle/>
          <a:p>
            <a:pPr algn="ctr">
              <a:spcAft>
                <a:spcPts val="400"/>
              </a:spcAft>
            </a:pPr>
            <a:r>
              <a:rPr sz="1400" b="1">
                <a:solidFill>
                  <a:srgbClr val="FFFFFF"/>
                </a:solidFill>
                <a:latin typeface="Arial"/>
              </a:rPr>
              <a:t>When to use</a:t>
            </a:r>
          </a:p>
        </p:txBody>
      </p:sp>
      <p:sp>
        <p:nvSpPr>
          <p:cNvPr id="15" name="Rectangle 14"/>
          <p:cNvSpPr/>
          <p:nvPr/>
        </p:nvSpPr>
        <p:spPr>
          <a:xfrm>
            <a:off x="777240" y="2286000"/>
            <a:ext cx="212689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8600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CloudFormation</a:t>
            </a:r>
          </a:p>
        </p:txBody>
      </p:sp>
      <p:sp>
        <p:nvSpPr>
          <p:cNvPr id="17" name="Rectangle 16"/>
          <p:cNvSpPr/>
          <p:nvPr/>
        </p:nvSpPr>
        <p:spPr>
          <a:xfrm>
            <a:off x="2904134" y="228600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3862" y="228600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YAML / JSON</a:t>
            </a:r>
          </a:p>
        </p:txBody>
      </p:sp>
      <p:sp>
        <p:nvSpPr>
          <p:cNvPr id="19" name="Rectangle 18"/>
          <p:cNvSpPr/>
          <p:nvPr/>
        </p:nvSpPr>
        <p:spPr>
          <a:xfrm>
            <a:off x="5456407" y="228600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6135" y="228600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AWS-native declarative</a:t>
            </a:r>
          </a:p>
        </p:txBody>
      </p:sp>
      <p:sp>
        <p:nvSpPr>
          <p:cNvPr id="21" name="Rectangle 20"/>
          <p:cNvSpPr/>
          <p:nvPr/>
        </p:nvSpPr>
        <p:spPr>
          <a:xfrm>
            <a:off x="8434059" y="228600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43787" y="228600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Standard AWS IaC, StackSets</a:t>
            </a:r>
          </a:p>
        </p:txBody>
      </p:sp>
      <p:sp>
        <p:nvSpPr>
          <p:cNvPr id="23" name="Rectangle 22"/>
          <p:cNvSpPr/>
          <p:nvPr/>
        </p:nvSpPr>
        <p:spPr>
          <a:xfrm>
            <a:off x="777240" y="3108960"/>
            <a:ext cx="212689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0896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AWS CDK</a:t>
            </a:r>
          </a:p>
        </p:txBody>
      </p:sp>
      <p:sp>
        <p:nvSpPr>
          <p:cNvPr id="25" name="Rectangle 24"/>
          <p:cNvSpPr/>
          <p:nvPr/>
        </p:nvSpPr>
        <p:spPr>
          <a:xfrm>
            <a:off x="2904134" y="310896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3862" y="310896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Python / TS / Java</a:t>
            </a:r>
          </a:p>
        </p:txBody>
      </p:sp>
      <p:sp>
        <p:nvSpPr>
          <p:cNvPr id="27" name="Rectangle 26"/>
          <p:cNvSpPr/>
          <p:nvPr/>
        </p:nvSpPr>
        <p:spPr>
          <a:xfrm>
            <a:off x="5456407" y="3108960"/>
            <a:ext cx="297765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66135" y="310896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Code → CloudFormation</a:t>
            </a:r>
          </a:p>
        </p:txBody>
      </p:sp>
      <p:sp>
        <p:nvSpPr>
          <p:cNvPr id="29" name="Rectangle 28"/>
          <p:cNvSpPr/>
          <p:nvPr/>
        </p:nvSpPr>
        <p:spPr>
          <a:xfrm>
            <a:off x="8434059" y="3108960"/>
            <a:ext cx="297765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43787" y="310896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Reusable, testable constructs</a:t>
            </a:r>
          </a:p>
        </p:txBody>
      </p:sp>
      <p:sp>
        <p:nvSpPr>
          <p:cNvPr id="31" name="Rectangle 30"/>
          <p:cNvSpPr/>
          <p:nvPr/>
        </p:nvSpPr>
        <p:spPr>
          <a:xfrm>
            <a:off x="777240" y="3931920"/>
            <a:ext cx="212689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93192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Terraform</a:t>
            </a:r>
          </a:p>
        </p:txBody>
      </p:sp>
      <p:sp>
        <p:nvSpPr>
          <p:cNvPr id="33" name="Rectangle 32"/>
          <p:cNvSpPr/>
          <p:nvPr/>
        </p:nvSpPr>
        <p:spPr>
          <a:xfrm>
            <a:off x="2904134" y="393192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393192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HCL</a:t>
            </a:r>
          </a:p>
        </p:txBody>
      </p:sp>
      <p:sp>
        <p:nvSpPr>
          <p:cNvPr id="35" name="Rectangle 34"/>
          <p:cNvSpPr/>
          <p:nvPr/>
        </p:nvSpPr>
        <p:spPr>
          <a:xfrm>
            <a:off x="5456407" y="393192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66135" y="393192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Multi-cloud</a:t>
            </a:r>
          </a:p>
        </p:txBody>
      </p:sp>
      <p:sp>
        <p:nvSpPr>
          <p:cNvPr id="37" name="Rectangle 36"/>
          <p:cNvSpPr/>
          <p:nvPr/>
        </p:nvSpPr>
        <p:spPr>
          <a:xfrm>
            <a:off x="8434059" y="393192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43787" y="393192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Mixed-cloud estates</a:t>
            </a:r>
          </a:p>
        </p:txBody>
      </p:sp>
      <p:sp>
        <p:nvSpPr>
          <p:cNvPr id="39" name="Rectangle 38"/>
          <p:cNvSpPr/>
          <p:nvPr/>
        </p:nvSpPr>
        <p:spPr>
          <a:xfrm>
            <a:off x="777240" y="4754880"/>
            <a:ext cx="212689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75488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SAM</a:t>
            </a:r>
          </a:p>
        </p:txBody>
      </p:sp>
      <p:sp>
        <p:nvSpPr>
          <p:cNvPr id="41" name="Rectangle 40"/>
          <p:cNvSpPr/>
          <p:nvPr/>
        </p:nvSpPr>
        <p:spPr>
          <a:xfrm>
            <a:off x="2904134" y="475488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13862" y="475488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YAML</a:t>
            </a:r>
          </a:p>
        </p:txBody>
      </p:sp>
      <p:sp>
        <p:nvSpPr>
          <p:cNvPr id="43" name="Rectangle 42"/>
          <p:cNvSpPr/>
          <p:nvPr/>
        </p:nvSpPr>
        <p:spPr>
          <a:xfrm>
            <a:off x="5456407" y="4754880"/>
            <a:ext cx="297765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566135" y="475488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Serverless-focused</a:t>
            </a:r>
          </a:p>
        </p:txBody>
      </p:sp>
      <p:sp>
        <p:nvSpPr>
          <p:cNvPr id="45" name="Rectangle 44"/>
          <p:cNvSpPr/>
          <p:nvPr/>
        </p:nvSpPr>
        <p:spPr>
          <a:xfrm>
            <a:off x="8434059" y="4754880"/>
            <a:ext cx="297765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43787" y="475488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Lambda / API / event apps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xmlns:p14="http://schemas.microsoft.com/office/powerpoint/2010/main" p14:dur="380">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02 · INFRASTRUCTURE AS CODE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CloudFormation — Reusable Stacks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237744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37744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Template
network.yaml / app.yaml</a:t>
            </a:r>
          </a:p>
        </p:txBody>
      </p:sp>
      <p:sp>
        <p:nvSpPr>
          <p:cNvPr id="10" name="Rounded Rectangle 9"/>
          <p:cNvSpPr/>
          <p:nvPr/>
        </p:nvSpPr>
        <p:spPr>
          <a:xfrm>
            <a:off x="777240" y="3657600"/>
            <a:ext cx="2377440" cy="1051560"/>
          </a:xfrm>
          <a:prstGeom prst="roundRect">
            <a:avLst/>
          </a:prstGeom>
          <a:solidFill>
            <a:srgbClr val="F5F8FC"/>
          </a:solidFill>
          <a:ln w="15875">
            <a:solidFill>
              <a:srgbClr val="5B63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657600"/>
            <a:ext cx="2377440" cy="822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Parameters
per environment</a:t>
            </a:r>
          </a:p>
        </p:txBody>
      </p:sp>
      <p:sp>
        <p:nvSpPr>
          <p:cNvPr id="13" name="Rounded Rectangle 12"/>
          <p:cNvSpPr/>
          <p:nvPr/>
        </p:nvSpPr>
        <p:spPr>
          <a:xfrm>
            <a:off x="3520440" y="1965960"/>
            <a:ext cx="2377440" cy="1051560"/>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237744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Change Set
preview diff</a:t>
            </a:r>
          </a:p>
        </p:txBody>
      </p:sp>
      <p:sp>
        <p:nvSpPr>
          <p:cNvPr id="16" name="Rounded Rectangle 15"/>
          <p:cNvSpPr/>
          <p:nvPr/>
        </p:nvSpPr>
        <p:spPr>
          <a:xfrm>
            <a:off x="6263640" y="1965960"/>
            <a:ext cx="237744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965960"/>
            <a:ext cx="237744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Stack
managed resources</a:t>
            </a:r>
          </a:p>
        </p:txBody>
      </p:sp>
      <p:sp>
        <p:nvSpPr>
          <p:cNvPr id="19" name="Rounded Rectangle 18"/>
          <p:cNvSpPr/>
          <p:nvPr/>
        </p:nvSpPr>
        <p:spPr>
          <a:xfrm>
            <a:off x="9006840" y="196596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196596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VPC / Subnets</a:t>
            </a:r>
          </a:p>
        </p:txBody>
      </p:sp>
      <p:sp>
        <p:nvSpPr>
          <p:cNvPr id="22" name="Rounded Rectangle 21"/>
          <p:cNvSpPr/>
          <p:nvPr/>
        </p:nvSpPr>
        <p:spPr>
          <a:xfrm>
            <a:off x="9006840" y="3657600"/>
            <a:ext cx="237744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40" y="3657600"/>
            <a:ext cx="237744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EC2 / App</a:t>
            </a:r>
          </a:p>
        </p:txBody>
      </p:sp>
      <p:sp>
        <p:nvSpPr>
          <p:cNvPr id="25" name="Rounded Rectangle 24"/>
          <p:cNvSpPr/>
          <p:nvPr/>
        </p:nvSpPr>
        <p:spPr>
          <a:xfrm>
            <a:off x="6263640" y="3657600"/>
            <a:ext cx="2377440" cy="1051560"/>
          </a:xfrm>
          <a:prstGeom prst="roundRect">
            <a:avLst/>
          </a:prstGeom>
          <a:solidFill>
            <a:srgbClr val="F5F8FC"/>
          </a:solidFill>
          <a:ln w="15875">
            <a:solidFill>
              <a:srgbClr val="EC71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3657600"/>
            <a:ext cx="2377440" cy="8229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Drift Detection</a:t>
            </a:r>
          </a:p>
        </p:txBody>
      </p:sp>
      <p:cxnSp>
        <p:nvCxnSpPr>
          <p:cNvPr id="28" name="Connector 27"/>
          <p:cNvCxnSpPr/>
          <p:nvPr/>
        </p:nvCxnSpPr>
        <p:spPr>
          <a:xfrm>
            <a:off x="31546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15468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8978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410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64108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4523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7C3AED"/>
                </a:solidFill>
                <a:latin typeface="Arial"/>
              </a:rPr>
              <a:t>▶  </a:t>
            </a:r>
            <a:r>
              <a:rPr sz="1300" b="0">
                <a:solidFill>
                  <a:srgbClr val="161B26"/>
                </a:solidFill>
                <a:latin typeface="Arial"/>
              </a:rPr>
              <a:t>One parameterised template deploys identical dev, test and prod environments; change sets preview, drift detection audits.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xmlns:p14="http://schemas.microsoft.com/office/powerpoint/2010/main" p14:dur="380">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MULTI-ACCOUNT / MULTI-REGION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Configuration Management &amp; Governance at Scale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Nested stacks / modules</a:t>
            </a:r>
          </a:p>
          <a:p>
            <a:pPr algn="l">
              <a:spcAft>
                <a:spcPts val="300"/>
              </a:spcAft>
            </a:pPr>
            <a:r>
              <a:rPr sz="1200" b="0">
                <a:solidFill>
                  <a:srgbClr val="5B6372"/>
                </a:solidFill>
                <a:latin typeface="Arial"/>
              </a:rPr>
              <a:t>Package a pattern once and reuse it across teams.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Systems Manager</a:t>
            </a:r>
          </a:p>
          <a:p>
            <a:pPr algn="l">
              <a:spcAft>
                <a:spcPts val="300"/>
              </a:spcAft>
            </a:pPr>
            <a:r>
              <a:rPr sz="1200" b="0">
                <a:solidFill>
                  <a:srgbClr val="5B6372"/>
                </a:solidFill>
                <a:latin typeface="Arial"/>
              </a:rPr>
              <a:t>State Manager, Automation and Parameter Store keep instances in desired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StackSets</a:t>
            </a:r>
          </a:p>
          <a:p>
            <a:pPr algn="l">
              <a:spcAft>
                <a:spcPts val="300"/>
              </a:spcAft>
            </a:pPr>
            <a:r>
              <a:rPr sz="1200" b="0">
                <a:solidFill>
                  <a:srgbClr val="5B6372"/>
                </a:solidFill>
                <a:latin typeface="Arial"/>
              </a:rPr>
              <a:t>Deploy the same stack across many accounts and Regions.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Organizations &amp; Control Tower</a:t>
            </a:r>
          </a:p>
          <a:p>
            <a:pPr algn="l">
              <a:spcAft>
                <a:spcPts val="300"/>
              </a:spcAft>
            </a:pPr>
            <a:r>
              <a:rPr sz="1200" b="0">
                <a:solidFill>
                  <a:srgbClr val="5B6372"/>
                </a:solidFill>
                <a:latin typeface="Arial"/>
              </a:rPr>
              <a:t>Create, onboard and secure accounts with a landing zone.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xmlns:p14="http://schemas.microsoft.com/office/powerpoint/2010/main" p14:dur="380">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TEMPLATE STRUCTURE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Anatomy of a CloudFormation Template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Parameters</a:t>
            </a:r>
          </a:p>
          <a:p>
            <a:pPr algn="l">
              <a:spcAft>
                <a:spcPts val="300"/>
              </a:spcAft>
            </a:pPr>
            <a:r>
              <a:rPr sz="1150" b="0">
                <a:solidFill>
                  <a:srgbClr val="5B6372"/>
                </a:solidFill>
                <a:latin typeface="Arial"/>
              </a:rPr>
              <a:t>Inputs that make the template reusable across environments.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Mappings</a:t>
            </a:r>
          </a:p>
          <a:p>
            <a:pPr algn="l">
              <a:spcAft>
                <a:spcPts val="300"/>
              </a:spcAft>
            </a:pPr>
            <a:r>
              <a:rPr sz="1150" b="0">
                <a:solidFill>
                  <a:srgbClr val="5B6372"/>
                </a:solidFill>
                <a:latin typeface="Arial"/>
              </a:rPr>
              <a:t>Static lookup tables (e.g. AMI by Region).</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Conditions</a:t>
            </a:r>
          </a:p>
          <a:p>
            <a:pPr algn="l">
              <a:spcAft>
                <a:spcPts val="300"/>
              </a:spcAft>
            </a:pPr>
            <a:r>
              <a:rPr sz="1150" b="0">
                <a:solidFill>
                  <a:srgbClr val="5B6372"/>
                </a:solidFill>
                <a:latin typeface="Arial"/>
              </a:rPr>
              <a:t>Create resources only when a condition is met.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Resources</a:t>
            </a:r>
          </a:p>
          <a:p>
            <a:pPr algn="l">
              <a:spcAft>
                <a:spcPts val="300"/>
              </a:spcAft>
            </a:pPr>
            <a:r>
              <a:rPr sz="1150" b="0">
                <a:solidFill>
                  <a:srgbClr val="5B6372"/>
                </a:solidFill>
                <a:latin typeface="Arial"/>
              </a:rPr>
              <a:t>The AWS resources to provision (the only required section).</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Outputs</a:t>
            </a:r>
          </a:p>
          <a:p>
            <a:pPr algn="l">
              <a:spcAft>
                <a:spcPts val="300"/>
              </a:spcAft>
            </a:pPr>
            <a:r>
              <a:rPr sz="1150" b="0">
                <a:solidFill>
                  <a:srgbClr val="5B6372"/>
                </a:solidFill>
                <a:latin typeface="Arial"/>
              </a:rPr>
              <a:t>Values to export and import into other stacks.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Metadata</a:t>
            </a:r>
          </a:p>
          <a:p>
            <a:pPr algn="l">
              <a:spcAft>
                <a:spcPts val="300"/>
              </a:spcAft>
            </a:pPr>
            <a:r>
              <a:rPr sz="1150" b="0">
                <a:solidFill>
                  <a:srgbClr val="5B6372"/>
                </a:solidFill>
                <a:latin typeface="Arial"/>
              </a:rPr>
              <a:t>Extra structured information about the template.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xmlns:p14="http://schemas.microsoft.com/office/powerpoint/2010/main" p14:dur="380">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SAFE CHANGE MANAGEMENT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Stack Lifecycle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Author
template</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Validate
&amp; lint</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Create Set /
Change Set</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Execute
provision</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Detect Drift
audit</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Update or
Delete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xmlns:p14="http://schemas.microsoft.com/office/powerpoint/2010/main" p14:dur="380">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CONFIG &amp; SECRETS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Parameter Store vs Secrets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69393" cy="502920"/>
          </a:xfrm>
          <a:prstGeom prst="rect">
            <a:avLst/>
          </a:prstGeom>
          <a:noFill/>
        </p:spPr>
        <p:txBody>
          <a:bodyPr wrap="square" anchor="ctr">
            <a:spAutoFit/>
          </a:bodyPr>
          <a:lstStyle/>
          <a:p>
            <a:pPr algn="l">
              <a:spcAft>
                <a:spcPts val="400"/>
              </a:spcAft>
            </a:pPr>
            <a:r>
              <a:rPr sz="1400" b="1">
                <a:solidFill>
                  <a:srgbClr val="FFFFFF"/>
                </a:solidFill>
                <a:latin typeface="Arial"/>
              </a:rPr>
              <a:t>Store</a:t>
            </a:r>
          </a:p>
        </p:txBody>
      </p:sp>
      <p:sp>
        <p:nvSpPr>
          <p:cNvPr id="9" name="Rectangle 8"/>
          <p:cNvSpPr/>
          <p:nvPr/>
        </p:nvSpPr>
        <p:spPr>
          <a:xfrm>
            <a:off x="3329513" y="1783080"/>
            <a:ext cx="4253788"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4070908" cy="502920"/>
          </a:xfrm>
          <a:prstGeom prst="rect">
            <a:avLst/>
          </a:prstGeom>
          <a:noFill/>
        </p:spPr>
        <p:txBody>
          <a:bodyPr wrap="square" anchor="ctr">
            <a:spAutoFit/>
          </a:bodyPr>
          <a:lstStyle/>
          <a:p>
            <a:pPr algn="ctr">
              <a:spcAft>
                <a:spcPts val="400"/>
              </a:spcAft>
            </a:pPr>
            <a:r>
              <a:rPr sz="1400" b="1">
                <a:solidFill>
                  <a:srgbClr val="FFFFFF"/>
                </a:solidFill>
                <a:latin typeface="Arial"/>
              </a:rPr>
              <a:t>Best for</a:t>
            </a:r>
          </a:p>
        </p:txBody>
      </p:sp>
      <p:sp>
        <p:nvSpPr>
          <p:cNvPr id="11" name="Rectangle 10"/>
          <p:cNvSpPr/>
          <p:nvPr/>
        </p:nvSpPr>
        <p:spPr>
          <a:xfrm>
            <a:off x="7583301" y="1783080"/>
            <a:ext cx="1914204"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3029" y="1783080"/>
            <a:ext cx="1731324" cy="502920"/>
          </a:xfrm>
          <a:prstGeom prst="rect">
            <a:avLst/>
          </a:prstGeom>
          <a:noFill/>
        </p:spPr>
        <p:txBody>
          <a:bodyPr wrap="square" anchor="ctr">
            <a:spAutoFit/>
          </a:bodyPr>
          <a:lstStyle/>
          <a:p>
            <a:pPr algn="ctr">
              <a:spcAft>
                <a:spcPts val="400"/>
              </a:spcAft>
            </a:pPr>
            <a:r>
              <a:rPr sz="1400" b="1">
                <a:solidFill>
                  <a:srgbClr val="FFFFFF"/>
                </a:solidFill>
                <a:latin typeface="Arial"/>
              </a:rPr>
              <a:t>Rotation</a:t>
            </a:r>
          </a:p>
        </p:txBody>
      </p:sp>
      <p:sp>
        <p:nvSpPr>
          <p:cNvPr id="13" name="Rectangle 12"/>
          <p:cNvSpPr/>
          <p:nvPr/>
        </p:nvSpPr>
        <p:spPr>
          <a:xfrm>
            <a:off x="9497505" y="1783080"/>
            <a:ext cx="1914204"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7233" y="1783080"/>
            <a:ext cx="1731324" cy="502920"/>
          </a:xfrm>
          <a:prstGeom prst="rect">
            <a:avLst/>
          </a:prstGeom>
          <a:noFill/>
        </p:spPr>
        <p:txBody>
          <a:bodyPr wrap="square" anchor="ctr">
            <a:spAutoFit/>
          </a:bodyPr>
          <a:lstStyle/>
          <a:p>
            <a:pPr algn="ctr">
              <a:spcAft>
                <a:spcPts val="400"/>
              </a:spcAft>
            </a:pPr>
            <a:r>
              <a:rPr sz="1400" b="1">
                <a:solidFill>
                  <a:srgbClr val="FFFFFF"/>
                </a:solidFill>
                <a:latin typeface="Arial"/>
              </a:rPr>
              <a:t>Cost</a:t>
            </a:r>
          </a:p>
        </p:txBody>
      </p:sp>
      <p:sp>
        <p:nvSpPr>
          <p:cNvPr id="15" name="Rectangle 14"/>
          <p:cNvSpPr/>
          <p:nvPr/>
        </p:nvSpPr>
        <p:spPr>
          <a:xfrm>
            <a:off x="777240" y="228600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8600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SSM Parameter Store</a:t>
            </a:r>
          </a:p>
        </p:txBody>
      </p:sp>
      <p:sp>
        <p:nvSpPr>
          <p:cNvPr id="17" name="Rectangle 16"/>
          <p:cNvSpPr/>
          <p:nvPr/>
        </p:nvSpPr>
        <p:spPr>
          <a:xfrm>
            <a:off x="3329513" y="228600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39241" y="228600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Config values &amp; non-secret parameters</a:t>
            </a:r>
          </a:p>
        </p:txBody>
      </p:sp>
      <p:sp>
        <p:nvSpPr>
          <p:cNvPr id="19" name="Rectangle 18"/>
          <p:cNvSpPr/>
          <p:nvPr/>
        </p:nvSpPr>
        <p:spPr>
          <a:xfrm>
            <a:off x="7583301" y="2286000"/>
            <a:ext cx="191420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93029" y="2286000"/>
            <a:ext cx="1731324" cy="822960"/>
          </a:xfrm>
          <a:prstGeom prst="rect">
            <a:avLst/>
          </a:prstGeom>
          <a:noFill/>
        </p:spPr>
        <p:txBody>
          <a:bodyPr wrap="square" anchor="ctr">
            <a:spAutoFit/>
          </a:bodyPr>
          <a:lstStyle/>
          <a:p>
            <a:pPr algn="ctr">
              <a:spcAft>
                <a:spcPts val="400"/>
              </a:spcAft>
            </a:pPr>
            <a:r>
              <a:rPr sz="1250" b="0">
                <a:solidFill>
                  <a:srgbClr val="5B6372"/>
                </a:solidFill>
                <a:latin typeface="Arial"/>
              </a:rPr>
              <a:t>Manual</a:t>
            </a:r>
          </a:p>
        </p:txBody>
      </p:sp>
      <p:sp>
        <p:nvSpPr>
          <p:cNvPr id="21" name="Rectangle 20"/>
          <p:cNvSpPr/>
          <p:nvPr/>
        </p:nvSpPr>
        <p:spPr>
          <a:xfrm>
            <a:off x="9497505" y="2286000"/>
            <a:ext cx="191420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7233" y="2286000"/>
            <a:ext cx="1731324" cy="822960"/>
          </a:xfrm>
          <a:prstGeom prst="rect">
            <a:avLst/>
          </a:prstGeom>
          <a:noFill/>
        </p:spPr>
        <p:txBody>
          <a:bodyPr wrap="square" anchor="ctr">
            <a:spAutoFit/>
          </a:bodyPr>
          <a:lstStyle/>
          <a:p>
            <a:pPr algn="ctr">
              <a:spcAft>
                <a:spcPts val="400"/>
              </a:spcAft>
            </a:pPr>
            <a:r>
              <a:rPr sz="1250" b="0">
                <a:solidFill>
                  <a:srgbClr val="5B6372"/>
                </a:solidFill>
                <a:latin typeface="Arial"/>
              </a:rPr>
              <a:t>Free (standard)</a:t>
            </a:r>
          </a:p>
        </p:txBody>
      </p:sp>
      <p:sp>
        <p:nvSpPr>
          <p:cNvPr id="23" name="Rectangle 22"/>
          <p:cNvSpPr/>
          <p:nvPr/>
        </p:nvSpPr>
        <p:spPr>
          <a:xfrm>
            <a:off x="777240" y="310896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0896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Secrets Manager</a:t>
            </a:r>
          </a:p>
        </p:txBody>
      </p:sp>
      <p:sp>
        <p:nvSpPr>
          <p:cNvPr id="25" name="Rectangle 24"/>
          <p:cNvSpPr/>
          <p:nvPr/>
        </p:nvSpPr>
        <p:spPr>
          <a:xfrm>
            <a:off x="3329513" y="310896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39241" y="310896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Passwords, API keys, DB credentials</a:t>
            </a:r>
          </a:p>
        </p:txBody>
      </p:sp>
      <p:sp>
        <p:nvSpPr>
          <p:cNvPr id="27" name="Rectangle 26"/>
          <p:cNvSpPr/>
          <p:nvPr/>
        </p:nvSpPr>
        <p:spPr>
          <a:xfrm>
            <a:off x="7583301" y="3108960"/>
            <a:ext cx="191420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3029" y="3108960"/>
            <a:ext cx="1731324" cy="822960"/>
          </a:xfrm>
          <a:prstGeom prst="rect">
            <a:avLst/>
          </a:prstGeom>
          <a:noFill/>
        </p:spPr>
        <p:txBody>
          <a:bodyPr wrap="square" anchor="ctr">
            <a:spAutoFit/>
          </a:bodyPr>
          <a:lstStyle/>
          <a:p>
            <a:pPr algn="ctr">
              <a:spcAft>
                <a:spcPts val="400"/>
              </a:spcAft>
            </a:pPr>
            <a:r>
              <a:rPr sz="1250" b="0">
                <a:solidFill>
                  <a:srgbClr val="5B6372"/>
                </a:solidFill>
                <a:latin typeface="Arial"/>
              </a:rPr>
              <a:t>Automatic</a:t>
            </a:r>
          </a:p>
        </p:txBody>
      </p:sp>
      <p:sp>
        <p:nvSpPr>
          <p:cNvPr id="29" name="Rectangle 28"/>
          <p:cNvSpPr/>
          <p:nvPr/>
        </p:nvSpPr>
        <p:spPr>
          <a:xfrm>
            <a:off x="9497505" y="3108960"/>
            <a:ext cx="191420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7233" y="3108960"/>
            <a:ext cx="1731324" cy="822960"/>
          </a:xfrm>
          <a:prstGeom prst="rect">
            <a:avLst/>
          </a:prstGeom>
          <a:noFill/>
        </p:spPr>
        <p:txBody>
          <a:bodyPr wrap="square" anchor="ctr">
            <a:spAutoFit/>
          </a:bodyPr>
          <a:lstStyle/>
          <a:p>
            <a:pPr algn="ctr">
              <a:spcAft>
                <a:spcPts val="400"/>
              </a:spcAft>
            </a:pPr>
            <a:r>
              <a:rPr sz="1250" b="0">
                <a:solidFill>
                  <a:srgbClr val="5B6372"/>
                </a:solidFill>
                <a:latin typeface="Arial"/>
              </a:rPr>
              <a:t>Per-secret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xmlns:p14="http://schemas.microsoft.com/office/powerpoint/2010/main" p14:dur="380">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Infrastructure as Code — declarative desired state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You describe the target state of infrastructure in version-controlled templates; the service computes and applies the difference.</a:t>
            </a:r>
          </a:p>
          <a:p>
            <a:pPr>
              <a:spcAft>
                <a:spcPts val="800"/>
              </a:spcAft>
            </a:pPr>
            <a:r>
              <a:rPr sz="1350" b="0">
                <a:solidFill>
                  <a:srgbClr val="161B26"/>
                </a:solidFill>
                <a:latin typeface="Arial"/>
              </a:rPr>
              <a:t>•  The same template deploys identical dev, test and prod environments — parameters, not copy-paste, capture the differences.</a:t>
            </a:r>
          </a:p>
          <a:p>
            <a:pPr>
              <a:spcAft>
                <a:spcPts val="800"/>
              </a:spcAft>
            </a:pPr>
            <a:r>
              <a:rPr sz="1350" b="0">
                <a:solidFill>
                  <a:srgbClr val="161B26"/>
                </a:solidFill>
                <a:latin typeface="Arial"/>
              </a:rPr>
              <a:t>•  Infrastructure changes go through code review and the pipeline, just like application code.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Repeatable, reviewable, disposable environments eliminate configuration drift and the 'it works on that server' class of failure.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Mixing manual console changes with IaC creates drift the template no longer describes — the next deploy can revert or clash with them.</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Declarative IaC is safe and auditable but less flexible than imperative scripts — use change sets and modules to regain expressiveness.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xmlns:p14="http://schemas.microsoft.com/office/powerpoint/2010/main" p14:dur="380">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CloudFormation stacks, change sets and rollback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 stack is a unit of resources created, updated and deleted together from one template.</a:t>
            </a:r>
          </a:p>
          <a:p>
            <a:pPr>
              <a:spcAft>
                <a:spcPts val="800"/>
              </a:spcAft>
            </a:pPr>
            <a:r>
              <a:rPr sz="1350" b="0">
                <a:solidFill>
                  <a:srgbClr val="161B26"/>
                </a:solidFill>
                <a:latin typeface="Arial"/>
              </a:rPr>
              <a:t>•  A change set previews exactly what an update will add, modify or replace before you execute it.</a:t>
            </a:r>
          </a:p>
          <a:p>
            <a:pPr>
              <a:spcAft>
                <a:spcPts val="800"/>
              </a:spcAft>
            </a:pPr>
            <a:r>
              <a:rPr sz="1350" b="0">
                <a:solidFill>
                  <a:srgbClr val="161B26"/>
                </a:solidFill>
                <a:latin typeface="Arial"/>
              </a:rPr>
              <a:t>•  On failure, CloudFormation automatically rolls the stack back to its last known-good state.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Preview-then-apply plus automatic rollback make infrastructure changes as safe and reversible as a code deployment.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resource that must be replaced (not updated in place) can cause downtime or data loss if you don't read the change set's Replacement column.</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Automatic rollback protects you but can mask the real error — always read the stack Events for the first failing resource.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xmlns:p14="http://schemas.microsoft.com/office/powerpoint/2010/main" p14:dur="380">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Template anatomy — parameters, mappings, conditions, outputs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Parameters make a template reusable across environments; Mappings hold static lookups such as AMI-by-Region.</a:t>
            </a:r>
          </a:p>
          <a:p>
            <a:pPr>
              <a:spcAft>
                <a:spcPts val="800"/>
              </a:spcAft>
            </a:pPr>
            <a:r>
              <a:rPr sz="1350" b="0">
                <a:solidFill>
                  <a:srgbClr val="161B26"/>
                </a:solidFill>
                <a:latin typeface="Arial"/>
              </a:rPr>
              <a:t>•  Conditions create resources only when appropriate (e.g. a NAT gateway only in prod); Outputs export values for other stacks.</a:t>
            </a:r>
          </a:p>
          <a:p>
            <a:pPr>
              <a:spcAft>
                <a:spcPts val="800"/>
              </a:spcAft>
            </a:pPr>
            <a:r>
              <a:rPr sz="1350" b="0">
                <a:solidFill>
                  <a:srgbClr val="161B26"/>
                </a:solidFill>
                <a:latin typeface="Arial"/>
              </a:rPr>
              <a:t>•  Only the Resources section is mandatory — everything else exists to make templates reusable and composable.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well-structured template is a reusable product, not a one-off script — one artifact serves many teams and Regions.</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Hard-coded AMI IDs, account numbers or Region strings make a template that only works in the account it was written in.</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Heavy parameterisation increases flexibility but reduces readability — prefer sensible defaults and SSM public parameters.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xmlns:p14="http://schemas.microsoft.com/office/powerpoint/2010/main" p14:dur="380">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Reuse — nested stacks, modules and StackSets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Nested stacks and CloudFormation modules package a pattern once and reuse it across many stacks.</a:t>
            </a:r>
          </a:p>
          <a:p>
            <a:pPr>
              <a:spcAft>
                <a:spcPts val="800"/>
              </a:spcAft>
            </a:pPr>
            <a:r>
              <a:rPr sz="1350" b="0">
                <a:solidFill>
                  <a:srgbClr val="161B26"/>
                </a:solidFill>
                <a:latin typeface="Arial"/>
              </a:rPr>
              <a:t>•  StackSets deploy the same stack across many accounts and Regions from a single operation.</a:t>
            </a:r>
          </a:p>
          <a:p>
            <a:pPr>
              <a:spcAft>
                <a:spcPts val="800"/>
              </a:spcAft>
            </a:pPr>
            <a:r>
              <a:rPr sz="1350" b="0">
                <a:solidFill>
                  <a:srgbClr val="161B26"/>
                </a:solidFill>
                <a:latin typeface="Arial"/>
              </a:rPr>
              <a:t>•  Cross-stack references and exports let a network stack publish IDs that app stacks import.</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Reuse turns a proven design into an organisational standard, so every team gets the same secure, compliant baseline.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Over-nesting creates tightly coupled stacks where one change forces wide, slow updates and hard-to-debug failures.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Central StackSets enforce consistency but need governance so account teams aren't blocked waiting on the platform team.</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xmlns:p14="http://schemas.microsoft.com/office/powerpoint/2010/main" p14:dur="380">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CDK, SAM and Terraform — when to reach for each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The AWS CDK lets you express infrastructure in a general-purpose language and synthesises CloudFormation.</a:t>
            </a:r>
          </a:p>
          <a:p>
            <a:pPr>
              <a:spcAft>
                <a:spcPts val="800"/>
              </a:spcAft>
            </a:pPr>
            <a:r>
              <a:rPr sz="1350" b="0">
                <a:solidFill>
                  <a:srgbClr val="161B26"/>
                </a:solidFill>
                <a:latin typeface="Arial"/>
              </a:rPr>
              <a:t>•  AWS SAM is a CloudFormation extension optimised for serverless apps.</a:t>
            </a:r>
          </a:p>
          <a:p>
            <a:pPr>
              <a:spcAft>
                <a:spcPts val="800"/>
              </a:spcAft>
            </a:pPr>
            <a:r>
              <a:rPr sz="1350" b="0">
                <a:solidFill>
                  <a:srgbClr val="161B26"/>
                </a:solidFill>
                <a:latin typeface="Arial"/>
              </a:rPr>
              <a:t>•  Terraform describes desired state in HCL across many clouds and providers.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Choosing the right tool matches the team's skills and estate — real code for testable constructs, SAM for serverless, Terraform for multi-cloud.</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Adopting CDK without CloudFormation literacy hides what is really deployed and makes drift and failures harder to reason about.</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Higher-level abstractions boost productivity but add a layer to debug when the generated template misbehaves.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xmlns:p14="http://schemas.microsoft.com/office/powerpoint/2010/main" p14:dur="380">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Configuration management with Systems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State Manager keeps instances in a defined configuration; Automation documents run repeatable operational runbooks.</a:t>
            </a:r>
          </a:p>
          <a:p>
            <a:pPr>
              <a:spcAft>
                <a:spcPts val="800"/>
              </a:spcAft>
            </a:pPr>
            <a:r>
              <a:rPr sz="1350" b="0">
                <a:solidFill>
                  <a:srgbClr val="161B26"/>
                </a:solidFill>
                <a:latin typeface="Arial"/>
              </a:rPr>
              <a:t>•  Parameter Store holds configuration and (with Secrets Manager) secrets, versioned and access-controlled.</a:t>
            </a:r>
          </a:p>
          <a:p>
            <a:pPr>
              <a:spcAft>
                <a:spcPts val="800"/>
              </a:spcAft>
            </a:pPr>
            <a:r>
              <a:rPr sz="1350" b="0">
                <a:solidFill>
                  <a:srgbClr val="161B26"/>
                </a:solidFill>
                <a:latin typeface="Arial"/>
              </a:rPr>
              <a:t>•  Patch Manager and Inventory keep fleets patched and auditable without SSH access.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Config management closes the gap between 'provisioned' and 'correctly configured and maintained over time'.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Treating servers as pets you SSH into and hand-tune reintroduces drift that no template can track.</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Agent-based management adds an agent to run and secure, but removes bastion hosts and standing SSH access.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xmlns:p14="http://schemas.microsoft.com/office/powerpoint/2010/main" p14:dur="380">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Drift detection and remediation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Drift detection compares live resources against the template and reports what changed out-of-band.</a:t>
            </a:r>
          </a:p>
          <a:p>
            <a:pPr>
              <a:spcAft>
                <a:spcPts val="800"/>
              </a:spcAft>
            </a:pPr>
            <a:r>
              <a:rPr sz="1350" b="0">
                <a:solidFill>
                  <a:srgbClr val="161B26"/>
                </a:solidFill>
                <a:latin typeface="Arial"/>
              </a:rPr>
              <a:t>•  Config rules can watch for the same drift continuously and trigger remediation.</a:t>
            </a:r>
          </a:p>
          <a:p>
            <a:pPr>
              <a:spcAft>
                <a:spcPts val="800"/>
              </a:spcAft>
            </a:pPr>
            <a:r>
              <a:rPr sz="1350" b="0">
                <a:solidFill>
                  <a:srgbClr val="161B26"/>
                </a:solidFill>
                <a:latin typeface="Arial"/>
              </a:rPr>
              <a:t>•  The fix is to update the template to match intent or revert the resource to the template.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Detecting drift early prevents the slow divergence that eventually makes a stack un-updatable.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Ignoring drift until an urgent change is needed means your 'safe' update now collides with undocumented manual edits.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Strict no-drift policies improve auditability but can slow emergency fixes — provide a documented break-glass path.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xmlns:p14="http://schemas.microsoft.com/office/powerpoint/2010/main" p14:dur="380">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Multi-account governance — Organizations, Control Tower, SCPs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AWS Organizations groups accounts; Service Control Policies set the maximum permissions any account can grant.</a:t>
            </a:r>
          </a:p>
          <a:p>
            <a:pPr>
              <a:spcAft>
                <a:spcPts val="800"/>
              </a:spcAft>
            </a:pPr>
            <a:r>
              <a:rPr sz="1350" b="0">
                <a:solidFill>
                  <a:srgbClr val="161B26"/>
                </a:solidFill>
                <a:latin typeface="Arial"/>
              </a:rPr>
              <a:t>•  Control Tower stands up a landing zone with guardrails, a shared logging account and account factory.</a:t>
            </a:r>
          </a:p>
          <a:p>
            <a:pPr>
              <a:spcAft>
                <a:spcPts val="800"/>
              </a:spcAft>
            </a:pPr>
            <a:r>
              <a:rPr sz="1350" b="0">
                <a:solidFill>
                  <a:srgbClr val="161B26"/>
                </a:solidFill>
                <a:latin typeface="Arial"/>
              </a:rPr>
              <a:t>•  New accounts are vended pre-configured to the security and network baseline.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Account-level isolation plus org-wide guardrails give strong blast-radius control and a consistent, auditable baseline.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single shared account for everything makes least-privilege impossible and one mistake blast-radius huge.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More accounts improve isolation but add networking and operational overhead — automate account vending to keep it manageable.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xmlns:p14="http://schemas.microsoft.com/office/powerpoint/2010/main" p14:dur="380">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Secrets &amp; configuration — Parameter Store vs Secrets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Parameter Store holds configuration values (and SecureString secrets) with a generous free tier.</a:t>
            </a:r>
          </a:p>
          <a:p>
            <a:pPr>
              <a:spcAft>
                <a:spcPts val="800"/>
              </a:spcAft>
            </a:pPr>
            <a:r>
              <a:rPr sz="1350" b="0">
                <a:solidFill>
                  <a:srgbClr val="161B26"/>
                </a:solidFill>
                <a:latin typeface="Arial"/>
              </a:rPr>
              <a:t>•  Secrets Manager adds built-in, scheduled rotation and tight integration with RDS and other services.</a:t>
            </a:r>
          </a:p>
          <a:p>
            <a:pPr>
              <a:spcAft>
                <a:spcPts val="800"/>
              </a:spcAft>
            </a:pPr>
            <a:r>
              <a:rPr sz="1350" b="0">
                <a:solidFill>
                  <a:srgbClr val="161B26"/>
                </a:solidFill>
                <a:latin typeface="Arial"/>
              </a:rPr>
              <a:t>•  Both keep sensitive values out of templates, code and logs, retrieved at deploy/run time by IAM-scoped principals.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Externalising configuration and secrets lets one immutable artifact run safely in every environment.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Baking a database password into a template or AMI leaks it into every copy and every log line.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Automatic rotation is safest but must be tested — a rotation that apps don't reload can cause outages.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xmlns:p14="http://schemas.microsoft.com/office/powerpoint/2010/main" p14:dur="380">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AVOIDING SURPRISE DOWNTIME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Change Set Replacement — Read Before You Execute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582082" cy="502920"/>
          </a:xfrm>
          <a:prstGeom prst="rect">
            <a:avLst/>
          </a:prstGeom>
          <a:noFill/>
        </p:spPr>
        <p:txBody>
          <a:bodyPr wrap="square" anchor="ctr">
            <a:spAutoFit/>
          </a:bodyPr>
          <a:lstStyle/>
          <a:p>
            <a:pPr algn="l">
              <a:spcAft>
                <a:spcPts val="400"/>
              </a:spcAft>
            </a:pPr>
            <a:r>
              <a:rPr sz="1400" b="1">
                <a:solidFill>
                  <a:srgbClr val="FFFFFF"/>
                </a:solidFill>
                <a:latin typeface="Arial"/>
              </a:rPr>
              <a:t>Change type</a:t>
            </a:r>
          </a:p>
        </p:txBody>
      </p:sp>
      <p:sp>
        <p:nvSpPr>
          <p:cNvPr id="9" name="Rectangle 8"/>
          <p:cNvSpPr/>
          <p:nvPr/>
        </p:nvSpPr>
        <p:spPr>
          <a:xfrm>
            <a:off x="3542202" y="1783080"/>
            <a:ext cx="4253788"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783080"/>
            <a:ext cx="4070908" cy="502920"/>
          </a:xfrm>
          <a:prstGeom prst="rect">
            <a:avLst/>
          </a:prstGeom>
          <a:noFill/>
        </p:spPr>
        <p:txBody>
          <a:bodyPr wrap="square" anchor="ctr">
            <a:spAutoFit/>
          </a:bodyPr>
          <a:lstStyle/>
          <a:p>
            <a:pPr algn="ctr">
              <a:spcAft>
                <a:spcPts val="400"/>
              </a:spcAft>
            </a:pPr>
            <a:r>
              <a:rPr sz="1400" b="1">
                <a:solidFill>
                  <a:srgbClr val="FFFFFF"/>
                </a:solidFill>
                <a:latin typeface="Arial"/>
              </a:rPr>
              <a:t>CloudFormation action</a:t>
            </a:r>
          </a:p>
        </p:txBody>
      </p:sp>
      <p:sp>
        <p:nvSpPr>
          <p:cNvPr id="11" name="Rectangle 10"/>
          <p:cNvSpPr/>
          <p:nvPr/>
        </p:nvSpPr>
        <p:spPr>
          <a:xfrm>
            <a:off x="7795990" y="1783080"/>
            <a:ext cx="3615720"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5718" y="1783080"/>
            <a:ext cx="3432840" cy="502920"/>
          </a:xfrm>
          <a:prstGeom prst="rect">
            <a:avLst/>
          </a:prstGeom>
          <a:noFill/>
        </p:spPr>
        <p:txBody>
          <a:bodyPr wrap="square" anchor="ctr">
            <a:spAutoFit/>
          </a:bodyPr>
          <a:lstStyle/>
          <a:p>
            <a:pPr algn="ctr">
              <a:spcAft>
                <a:spcPts val="400"/>
              </a:spcAft>
            </a:pPr>
            <a:r>
              <a:rPr sz="1400" b="1">
                <a:solidFill>
                  <a:srgbClr val="FFFFFF"/>
                </a:solidFill>
                <a:latin typeface="Arial"/>
              </a:rPr>
              <a:t>Operational risk</a:t>
            </a:r>
          </a:p>
        </p:txBody>
      </p:sp>
      <p:sp>
        <p:nvSpPr>
          <p:cNvPr id="13" name="Rectangle 12"/>
          <p:cNvSpPr/>
          <p:nvPr/>
        </p:nvSpPr>
        <p:spPr>
          <a:xfrm>
            <a:off x="777240" y="2286000"/>
            <a:ext cx="276496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Update in place</a:t>
            </a:r>
          </a:p>
        </p:txBody>
      </p:sp>
      <p:sp>
        <p:nvSpPr>
          <p:cNvPr id="15" name="Rectangle 14"/>
          <p:cNvSpPr/>
          <p:nvPr/>
        </p:nvSpPr>
        <p:spPr>
          <a:xfrm>
            <a:off x="3542202" y="228600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28600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Modify the existing resource</a:t>
            </a:r>
          </a:p>
        </p:txBody>
      </p:sp>
      <p:sp>
        <p:nvSpPr>
          <p:cNvPr id="17" name="Rectangle 16"/>
          <p:cNvSpPr/>
          <p:nvPr/>
        </p:nvSpPr>
        <p:spPr>
          <a:xfrm>
            <a:off x="7795990" y="228600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5718" y="228600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Low — no replacement</a:t>
            </a:r>
          </a:p>
        </p:txBody>
      </p:sp>
      <p:sp>
        <p:nvSpPr>
          <p:cNvPr id="19" name="Rectangle 18"/>
          <p:cNvSpPr/>
          <p:nvPr/>
        </p:nvSpPr>
        <p:spPr>
          <a:xfrm>
            <a:off x="777240" y="3108960"/>
            <a:ext cx="276496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Replacement</a:t>
            </a:r>
          </a:p>
        </p:txBody>
      </p:sp>
      <p:sp>
        <p:nvSpPr>
          <p:cNvPr id="21" name="Rectangle 20"/>
          <p:cNvSpPr/>
          <p:nvPr/>
        </p:nvSpPr>
        <p:spPr>
          <a:xfrm>
            <a:off x="3542202" y="310896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310896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Create new, delete old</a:t>
            </a:r>
          </a:p>
        </p:txBody>
      </p:sp>
      <p:sp>
        <p:nvSpPr>
          <p:cNvPr id="23" name="Rectangle 22"/>
          <p:cNvSpPr/>
          <p:nvPr/>
        </p:nvSpPr>
        <p:spPr>
          <a:xfrm>
            <a:off x="7795990" y="310896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5718" y="310896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High — new ID, possible data loss</a:t>
            </a:r>
          </a:p>
        </p:txBody>
      </p:sp>
      <p:sp>
        <p:nvSpPr>
          <p:cNvPr id="25" name="Rectangle 24"/>
          <p:cNvSpPr/>
          <p:nvPr/>
        </p:nvSpPr>
        <p:spPr>
          <a:xfrm>
            <a:off x="777240" y="3931920"/>
            <a:ext cx="276496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Add / remove</a:t>
            </a:r>
          </a:p>
        </p:txBody>
      </p:sp>
      <p:sp>
        <p:nvSpPr>
          <p:cNvPr id="27" name="Rectangle 26"/>
          <p:cNvSpPr/>
          <p:nvPr/>
        </p:nvSpPr>
        <p:spPr>
          <a:xfrm>
            <a:off x="3542202" y="393192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93192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Create or delete a resource</a:t>
            </a:r>
          </a:p>
        </p:txBody>
      </p:sp>
      <p:sp>
        <p:nvSpPr>
          <p:cNvPr id="29" name="Rectangle 28"/>
          <p:cNvSpPr/>
          <p:nvPr/>
        </p:nvSpPr>
        <p:spPr>
          <a:xfrm>
            <a:off x="7795990" y="393192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5718" y="393192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Medium — check dependencies</a:t>
            </a:r>
          </a:p>
        </p:txBody>
      </p:sp>
      <p:sp>
        <p:nvSpPr>
          <p:cNvPr id="31" name="Rectangle 30"/>
          <p:cNvSpPr/>
          <p:nvPr/>
        </p:nvSpPr>
        <p:spPr>
          <a:xfrm>
            <a:off x="777240" y="4754880"/>
            <a:ext cx="276496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75488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No interruption</a:t>
            </a:r>
          </a:p>
        </p:txBody>
      </p:sp>
      <p:sp>
        <p:nvSpPr>
          <p:cNvPr id="33" name="Rectangle 32"/>
          <p:cNvSpPr/>
          <p:nvPr/>
        </p:nvSpPr>
        <p:spPr>
          <a:xfrm>
            <a:off x="3542202" y="475488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475488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Property change, resource kept</a:t>
            </a:r>
          </a:p>
        </p:txBody>
      </p:sp>
      <p:sp>
        <p:nvSpPr>
          <p:cNvPr id="35" name="Rectangle 34"/>
          <p:cNvSpPr/>
          <p:nvPr/>
        </p:nvSpPr>
        <p:spPr>
          <a:xfrm>
            <a:off x="7795990" y="475488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05718" y="475488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Low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xmlns:p14="http://schemas.microsoft.com/office/powerpoint/2010/main" p14:dur="380">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REPEATABILITY PAYS OFF</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Environment Provisioning — Manual vs IaC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7C3AED"/>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IaC collapses environment build time and errors and — most importantly — makes every environment identical, so tests actually predict production.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xmlns:p14="http://schemas.microsoft.com/office/powerpoint/2010/main" p14:dur="380">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WHERE IaC GOES WRONG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IaC Failure Modes &amp; Anti-Patterns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Out-of-band console edits</a:t>
            </a:r>
          </a:p>
          <a:p>
            <a:pPr algn="l">
              <a:spcAft>
                <a:spcPts val="300"/>
              </a:spcAft>
            </a:pPr>
            <a:r>
              <a:rPr sz="1100" b="0">
                <a:solidFill>
                  <a:srgbClr val="5B6372"/>
                </a:solidFill>
                <a:latin typeface="Arial"/>
              </a:rPr>
              <a:t>Drift the template can't see → detect drift; make console read-only in prod.</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Hard-coded IDs/Regions</a:t>
            </a:r>
          </a:p>
          <a:p>
            <a:pPr algn="l">
              <a:spcAft>
                <a:spcPts val="300"/>
              </a:spcAft>
            </a:pPr>
            <a:r>
              <a:rPr sz="1100" b="0">
                <a:solidFill>
                  <a:srgbClr val="5B6372"/>
                </a:solidFill>
                <a:latin typeface="Arial"/>
              </a:rPr>
              <a:t>Template only works in one account → parameters + SSM public parameters.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Giant monolith stack</a:t>
            </a:r>
          </a:p>
          <a:p>
            <a:pPr algn="l">
              <a:spcAft>
                <a:spcPts val="300"/>
              </a:spcAft>
            </a:pPr>
            <a:r>
              <a:rPr sz="1100" b="0">
                <a:solidFill>
                  <a:srgbClr val="5B6372"/>
                </a:solidFill>
                <a:latin typeface="Arial"/>
              </a:rPr>
              <a:t>Slow, risky updates → split by lifecycle and blast radius.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No change-set review</a:t>
            </a:r>
          </a:p>
          <a:p>
            <a:pPr algn="l">
              <a:spcAft>
                <a:spcPts val="300"/>
              </a:spcAft>
            </a:pPr>
            <a:r>
              <a:rPr sz="1100" b="0">
                <a:solidFill>
                  <a:srgbClr val="5B6372"/>
                </a:solidFill>
                <a:latin typeface="Arial"/>
              </a:rPr>
              <a:t>Surprise replacements → always preview before execute.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Secrets in templates</a:t>
            </a:r>
          </a:p>
          <a:p>
            <a:pPr algn="l">
              <a:spcAft>
                <a:spcPts val="300"/>
              </a:spcAft>
            </a:pPr>
            <a:r>
              <a:rPr sz="1100" b="0">
                <a:solidFill>
                  <a:srgbClr val="5B6372"/>
                </a:solidFill>
                <a:latin typeface="Arial"/>
              </a:rPr>
              <a:t>Leaked credentials → Secrets Manager / SSM SecureString.</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Copy-paste per environment</a:t>
            </a:r>
          </a:p>
          <a:p>
            <a:pPr algn="l">
              <a:spcAft>
                <a:spcPts val="300"/>
              </a:spcAft>
            </a:pPr>
            <a:r>
              <a:rPr sz="1100" b="0">
                <a:solidFill>
                  <a:srgbClr val="5B6372"/>
                </a:solidFill>
                <a:latin typeface="Arial"/>
              </a:rPr>
              <a:t>Divergent envs → one template, many parameter sets.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xmlns:p14="http://schemas.microsoft.com/office/powerpoint/2010/main" p14:dur="380">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PROVEN PRACTICES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IaC Patterns Worth Adopting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Layered stacks</a:t>
            </a:r>
          </a:p>
          <a:p>
            <a:pPr algn="l">
              <a:spcAft>
                <a:spcPts val="300"/>
              </a:spcAft>
            </a:pPr>
            <a:r>
              <a:rPr sz="1100" b="0">
                <a:solidFill>
                  <a:srgbClr val="5B6372"/>
                </a:solidFill>
                <a:latin typeface="Arial"/>
              </a:rPr>
              <a:t>Separate network, platform and app stacks by change rate.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Landing zone</a:t>
            </a:r>
          </a:p>
          <a:p>
            <a:pPr algn="l">
              <a:spcAft>
                <a:spcPts val="300"/>
              </a:spcAft>
            </a:pPr>
            <a:r>
              <a:rPr sz="1100" b="0">
                <a:solidFill>
                  <a:srgbClr val="5B6372"/>
                </a:solidFill>
                <a:latin typeface="Arial"/>
              </a:rPr>
              <a:t>Control Tower baseline + guardrails for every account.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Immutable AMIs</a:t>
            </a:r>
          </a:p>
          <a:p>
            <a:pPr algn="l">
              <a:spcAft>
                <a:spcPts val="300"/>
              </a:spcAft>
            </a:pPr>
            <a:r>
              <a:rPr sz="1100" b="0">
                <a:solidFill>
                  <a:srgbClr val="5B6372"/>
                </a:solidFill>
                <a:latin typeface="Arial"/>
              </a:rPr>
              <a:t>Bake with a pipeline (e.g. EC2 Image Builder); replace, don't patch.</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Public SSM parameters</a:t>
            </a:r>
          </a:p>
          <a:p>
            <a:pPr algn="l">
              <a:spcAft>
                <a:spcPts val="300"/>
              </a:spcAft>
            </a:pPr>
            <a:r>
              <a:rPr sz="1100" b="0">
                <a:solidFill>
                  <a:srgbClr val="5B6372"/>
                </a:solidFill>
                <a:latin typeface="Arial"/>
              </a:rPr>
              <a:t>Reference latest AMIs without hard-coding IDs.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Policy as code</a:t>
            </a:r>
          </a:p>
          <a:p>
            <a:pPr algn="l">
              <a:spcAft>
                <a:spcPts val="300"/>
              </a:spcAft>
            </a:pPr>
            <a:r>
              <a:rPr sz="1100" b="0">
                <a:solidFill>
                  <a:srgbClr val="5B6372"/>
                </a:solidFill>
                <a:latin typeface="Arial"/>
              </a:rPr>
              <a:t>Guardrails via SCPs and Config rules, versioned like IaC.</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Pipeline-deployed stacks</a:t>
            </a:r>
          </a:p>
          <a:p>
            <a:pPr algn="l">
              <a:spcAft>
                <a:spcPts val="300"/>
              </a:spcAft>
            </a:pPr>
            <a:r>
              <a:rPr sz="1100" b="0">
                <a:solidFill>
                  <a:srgbClr val="5B6372"/>
                </a:solidFill>
                <a:latin typeface="Arial"/>
              </a:rPr>
              <a:t>No manual stack updates in production.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xmlns:p14="http://schemas.microsoft.com/office/powerpoint/2010/main" p14:dur="380">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STACK DECOMPOSITION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Architecture Decision — One Big Stack or Many?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A</a:t>
            </a:r>
          </a:p>
        </p:txBody>
      </p:sp>
      <p:sp>
        <p:nvSpPr>
          <p:cNvPr id="11" name="TextBox 10"/>
          <p:cNvSpPr txBox="1"/>
          <p:nvPr/>
        </p:nvSpPr>
        <p:spPr>
          <a:xfrm>
            <a:off x="164592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Single stack</a:t>
            </a:r>
          </a:p>
        </p:txBody>
      </p:sp>
      <p:sp>
        <p:nvSpPr>
          <p:cNvPr id="12" name="TextBox 11"/>
          <p:cNvSpPr txBox="1"/>
          <p:nvPr/>
        </p:nvSpPr>
        <p:spPr>
          <a:xfrm>
            <a:off x="103327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Small app, one team, one lifecycle. Simple to reason about — but every change risks the whole system and updates get slow as it grows.</a:t>
            </a:r>
          </a:p>
        </p:txBody>
      </p:sp>
      <p:sp>
        <p:nvSpPr>
          <p:cNvPr id="13" name="Rectangle 12"/>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2803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7" name="TextBox 16"/>
          <p:cNvSpPr txBox="1"/>
          <p:nvPr/>
        </p:nvSpPr>
        <p:spPr>
          <a:xfrm>
            <a:off x="544068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Layered stacks</a:t>
            </a:r>
          </a:p>
        </p:txBody>
      </p:sp>
      <p:sp>
        <p:nvSpPr>
          <p:cNvPr id="18" name="TextBox 17"/>
          <p:cNvSpPr txBox="1"/>
          <p:nvPr/>
        </p:nvSpPr>
        <p:spPr>
          <a:xfrm>
            <a:off x="482803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Separate network / platform / app by change rate and owner. Smaller blast radius and faster updates — needs disciplined exports/imports.</a:t>
            </a:r>
          </a:p>
        </p:txBody>
      </p:sp>
      <p:sp>
        <p:nvSpPr>
          <p:cNvPr id="19" name="Rectangle 18"/>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2279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C</a:t>
            </a:r>
          </a:p>
        </p:txBody>
      </p:sp>
      <p:sp>
        <p:nvSpPr>
          <p:cNvPr id="23" name="TextBox 22"/>
          <p:cNvSpPr txBox="1"/>
          <p:nvPr/>
        </p:nvSpPr>
        <p:spPr>
          <a:xfrm>
            <a:off x="923544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StackSets across accounts</a:t>
            </a:r>
          </a:p>
        </p:txBody>
      </p:sp>
      <p:sp>
        <p:nvSpPr>
          <p:cNvPr id="24" name="TextBox 23"/>
          <p:cNvSpPr txBox="1"/>
          <p:nvPr/>
        </p:nvSpPr>
        <p:spPr>
          <a:xfrm>
            <a:off x="862279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Same baseline in many accounts/Regions. Enforces consistency at scale — requires central governance and account-team coordination.</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xmlns:p14="http://schemas.microsoft.com/office/powerpoint/2010/main" p14:dur="380">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COST OF DRIFT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A 'quick' console fix breaks the next deploy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An engineer widens a security group in the console during an incident. Two weeks later, a routine stack update fails or silently reverts the fix.</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7C3AED"/>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The live resource no longer matches the template, so CloudFormation's view of desired state is wrong.</a:t>
            </a:r>
          </a:p>
          <a:p>
            <a:pPr>
              <a:spcAft>
                <a:spcPts val="700"/>
              </a:spcAft>
            </a:pPr>
            <a:r>
              <a:rPr sz="1300" b="0">
                <a:solidFill>
                  <a:srgbClr val="161B26"/>
                </a:solidFill>
                <a:latin typeface="Arial"/>
              </a:rPr>
              <a:t>•  Drift detection would have flagged this the same day; Config rules could have alarmed on the open port immediately.</a:t>
            </a:r>
          </a:p>
          <a:p>
            <a:pPr>
              <a:spcAft>
                <a:spcPts val="700"/>
              </a:spcAft>
            </a:pPr>
            <a:r>
              <a:rPr sz="1300" b="0">
                <a:solidFill>
                  <a:srgbClr val="161B26"/>
                </a:solidFill>
                <a:latin typeface="Arial"/>
              </a:rPr>
              <a:t>•  The durable fix is to encode the change in the template and re-apply, not to keep patching by hand.</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Run drift detection on a schedule, alarm on security-group drift via Config, and require that emergency console changes are back-ported into the template within the incident's follow-up.</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xmlns:p14="http://schemas.microsoft.com/office/powerpoint/2010/main" p14:dur="380">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SCALING GOVERNANCE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Standing up a compliant new account fast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 new business unit needs an AWS account that already meets the company's security, logging and network standards on day one.</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7C3AED"/>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Hand-building the account is slow and error-prone and guarantees it drifts from the standard.</a:t>
            </a:r>
          </a:p>
          <a:p>
            <a:pPr>
              <a:spcAft>
                <a:spcPts val="700"/>
              </a:spcAft>
            </a:pPr>
            <a:r>
              <a:rPr sz="1300" b="0">
                <a:solidFill>
                  <a:srgbClr val="161B26"/>
                </a:solidFill>
                <a:latin typeface="Arial"/>
              </a:rPr>
              <a:t>•  Control Tower's account factory vends accounts pre-wired to guardrails and centralised logging.</a:t>
            </a:r>
          </a:p>
          <a:p>
            <a:pPr>
              <a:spcAft>
                <a:spcPts val="700"/>
              </a:spcAft>
            </a:pPr>
            <a:r>
              <a:rPr sz="1300" b="0">
                <a:solidFill>
                  <a:srgbClr val="161B26"/>
                </a:solidFill>
                <a:latin typeface="Arial"/>
              </a:rPr>
              <a:t>•  StackSets push the standard network and security stacks into the new account automatically.</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Vend the account through Control Tower and apply the baseline via StackSets, so 'compliant by default' is the path of least resistance rather than a later audit finding.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xmlns:p14="http://schemas.microsoft.com/office/powerpoint/2010/main" p14:dur="380">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ONE ARTIFACT, MANY ENVIRONMENTS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Worked Analysis — Parameterising One Template for Three Environments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73152" cy="76581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1028" y="178308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78308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Instance size by env</a:t>
            </a:r>
          </a:p>
        </p:txBody>
      </p:sp>
      <p:sp>
        <p:nvSpPr>
          <p:cNvPr id="11" name="TextBox 10"/>
          <p:cNvSpPr txBox="1"/>
          <p:nvPr/>
        </p:nvSpPr>
        <p:spPr>
          <a:xfrm>
            <a:off x="5213908" y="178308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dev t3.micro, staging t3.small, prod m5.large — a single InstanceType parameter.</a:t>
            </a:r>
          </a:p>
        </p:txBody>
      </p:sp>
      <p:sp>
        <p:nvSpPr>
          <p:cNvPr id="12" name="Rectangle 11"/>
          <p:cNvSpPr/>
          <p:nvPr/>
        </p:nvSpPr>
        <p:spPr>
          <a:xfrm>
            <a:off x="777240" y="254889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890"/>
            <a:ext cx="73152" cy="76581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31028" y="254889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54889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High availability by env</a:t>
            </a:r>
          </a:p>
        </p:txBody>
      </p:sp>
      <p:sp>
        <p:nvSpPr>
          <p:cNvPr id="16" name="TextBox 15"/>
          <p:cNvSpPr txBox="1"/>
          <p:nvPr/>
        </p:nvSpPr>
        <p:spPr>
          <a:xfrm>
            <a:off x="5213908" y="254889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A Condition creates the Multi-AZ standby and NAT redundancy only when EnvName = prod.</a:t>
            </a:r>
          </a:p>
        </p:txBody>
      </p:sp>
      <p:sp>
        <p:nvSpPr>
          <p:cNvPr id="17" name="Rectangle 16"/>
          <p:cNvSpPr/>
          <p:nvPr/>
        </p:nvSpPr>
        <p:spPr>
          <a:xfrm>
            <a:off x="777240" y="331470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4700"/>
            <a:ext cx="73152" cy="76581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31028" y="331470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31470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AMI without hard-coding</a:t>
            </a:r>
          </a:p>
        </p:txBody>
      </p:sp>
      <p:sp>
        <p:nvSpPr>
          <p:cNvPr id="21" name="TextBox 20"/>
          <p:cNvSpPr txBox="1"/>
          <p:nvPr/>
        </p:nvSpPr>
        <p:spPr>
          <a:xfrm>
            <a:off x="5213908" y="331470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An SSM public parameter resolves the latest patched Amazon Linux AMI at deploy time.</a:t>
            </a:r>
          </a:p>
        </p:txBody>
      </p:sp>
      <p:sp>
        <p:nvSpPr>
          <p:cNvPr id="22" name="Rectangle 21"/>
          <p:cNvSpPr/>
          <p:nvPr/>
        </p:nvSpPr>
        <p:spPr>
          <a:xfrm>
            <a:off x="777240" y="408051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0510"/>
            <a:ext cx="73152" cy="76581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1028" y="408051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08051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Secrets by env</a:t>
            </a:r>
          </a:p>
        </p:txBody>
      </p:sp>
      <p:sp>
        <p:nvSpPr>
          <p:cNvPr id="26" name="TextBox 25"/>
          <p:cNvSpPr txBox="1"/>
          <p:nvPr/>
        </p:nvSpPr>
        <p:spPr>
          <a:xfrm>
            <a:off x="5213908" y="408051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Each environment references its own Secrets Manager secret; none appear in the template.</a:t>
            </a:r>
          </a:p>
        </p:txBody>
      </p:sp>
      <p:sp>
        <p:nvSpPr>
          <p:cNvPr id="27" name="Rectangle 26"/>
          <p:cNvSpPr/>
          <p:nvPr/>
        </p:nvSpPr>
        <p:spPr>
          <a:xfrm>
            <a:off x="777240" y="5010912"/>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10912"/>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10235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TAKEAWAY</a:t>
            </a:r>
          </a:p>
        </p:txBody>
      </p:sp>
      <p:sp>
        <p:nvSpPr>
          <p:cNvPr id="30" name="TextBox 29"/>
          <p:cNvSpPr txBox="1"/>
          <p:nvPr/>
        </p:nvSpPr>
        <p:spPr>
          <a:xfrm>
            <a:off x="1033272" y="5394960"/>
            <a:ext cx="10085832" cy="457200"/>
          </a:xfrm>
          <a:prstGeom prst="rect">
            <a:avLst/>
          </a:prstGeom>
          <a:noFill/>
        </p:spPr>
        <p:txBody>
          <a:bodyPr wrap="square" anchor="t">
            <a:spAutoFit/>
          </a:bodyPr>
          <a:lstStyle/>
          <a:p>
            <a:pPr algn="l">
              <a:spcAft>
                <a:spcPts val="400"/>
              </a:spcAft>
            </a:pPr>
            <a:r>
              <a:rPr sz="1300" b="1">
                <a:solidFill>
                  <a:srgbClr val="161B26"/>
                </a:solidFill>
                <a:latin typeface="Arial"/>
              </a:rPr>
              <a:t>The differences between environments become a short parameter file — the template itself is identical, so staging genuinely predicts production.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xmlns:p14="http://schemas.microsoft.com/office/powerpoint/2010/main" p14:dur="380">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CLOUDFORMATION · CDK · SAM</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Infrastructure as code engines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Model infrastructure as reviewable desired state and apply it through controlled change sets.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CloudFormation manages dependency order, rollback, drift detection, stack policies and change sets.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CDK synthesises familiar programming constructs into CloudFormation templates.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SAM adds serverless shorthand while retaining CloudFormation deployment semantics.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xmlns:p14="http://schemas.microsoft.com/office/powerpoint/2010/main" p14:dur="380">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Infrastructure as code engines: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CloudFormation as the deployment contract; choose CDK for reusable programmatic constructs and SAM for serverless-focused applications.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Lint, synthesize, test, create a change set, review replacement impact, deploy and detect drift.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Generated IaC does not remove the need to review IAM expansion, data replacement and destructive removal policies.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Template digest, test output, change set, approval, stack event, drift status and rollback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xmlns:p14="http://schemas.microsoft.com/office/powerpoint/2010/main" p14:dur="380">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ORGANIZATIONS · STACKSETS · CONTROL TOWER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Multi-account provisioning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Apply repeatable baselines across accounts and Regions while separating governance from workload delivery.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Organizations groups accounts in OUs and applies policies at hierarchical boundaries.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StackSets deploys CloudFormation stacks across target accounts/Regions with concurrency and failure controls.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Control Tower adds landing-zone guardrails, account vending and drift visibility.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xmlns:p14="http://schemas.microsoft.com/office/powerpoint/2010/main" p14:dur="380">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Multi-account provisioning: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StackSets for repeatable resources and Control Tower when managed landing-zone governance and account lifecycle are needed.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Pilot in one OU, bound concurrency/failure tolerance, preserve delegated administration and verify every target instance.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broad organization rollout can multiply one template or policy defect across the estate.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OU target list, stack-instance status, failed-account list, policy version and drift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xmlns:p14="http://schemas.microsoft.com/office/powerpoint/2010/main" p14:dur="380">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SYSTEMS MANAGER · STATE MANAGER · PATCH MANAGER · PARAMETER STORE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Fleet configuration and patching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Operate heterogeneous compute without inbound administrative ports or manual host-by-host changes.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Managed nodes use the SSM Agent and an instance/hybrid activation identity.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State Manager enforces associations; Patch Manager evaluates baselines and compliance.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Automation runbooks compose AWS API actions, commands, approvals, branching and rollback.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xmlns:p14="http://schemas.microsoft.com/office/powerpoint/2010/main" p14:dur="380">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Fleet configuration and patching: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State Manager for desired configuration, Patch Manager for patch compliance and Automation for multi-step operational workflows.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Target by tags/resource groups, use MaxConcurrency/MaxErrors, canary first and keep parameters out of scripts.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command that targets all instances at once can turn routine remediation into a fleet-wide outage.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Target query, association/runbook version, command output, compliance state, error threshold and rollback.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xmlns:p14="http://schemas.microsoft.com/office/powerpoint/2010/main" p14:dur="380">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EVENTBRIDGE · STEP FUNCTIONS · LAMBDA · SQS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Workflow and event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Decouple operational events from durable, observable automation workflows.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EventBridge rules and event buses route matched events between producers and targets.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Step Functions models state, retries, catches, parallelism, waits and human approval.</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SQS buffers work and provides visibility timeouts, redrive and dead-letter queues.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xmlns:p14="http://schemas.microsoft.com/office/powerpoint/2010/main" p14:dur="380">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Workflow and event automation: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EventBridge for routing, Step Functions for stateful orchestration and SQS when buffering/back-pressure are required.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Design idempotent tasks, bounded retries with jitter/backoff, explicit timeouts and dead-letter handling.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Unlimited retry or non-idempotent recovery can amplify failure and duplicate side effects.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Event ID, rule match, execution history, retry count, DLQ depth and final state.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xmlns:p14="http://schemas.microsoft.com/office/powerpoint/2010/main" p14:dur="380">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Developer deep dive: CloudFormation template and stack lifecycle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Represent infrastructure as desired state, preview resource impact and preserve data through controlled lifecycle policies.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CloudFormation · change sets · drift detection · hooks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Generate a change set, inspect replacement flags, snapshot or migrate data explicitly, apply retention policies and rehearse the recovery path.</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Treating every stack update as in-place can delete or orphan stateful resources; drift can make the preview incomplete.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xmlns:p14="http://schemas.microsoft.com/office/powerpoint/2010/main" p14:dur="380">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CloudFormation template and stack lifecycle: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Parameters provide deployment-time values, mappings hold known lookup data and conditions control resource inclusion without duplicating templates.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References and `Fn::GetAtt` build dependency edges; explicit `DependsOn` is reserved for dependencies CloudFormation cannot infer.</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Update and replacement behavior is resource-property specific, so a change set must be read for replacement, deletion and import consequences.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DeletionPolicy and UpdateReplacePolicy govern retained data; stack policies and hooks protect or validate sensitive changes.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xmlns:p14="http://schemas.microsoft.com/office/powerpoint/2010/main" p14:dur="380">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CONTROL AND DATA FLOW</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CloudFormation template and stack lifecycle: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Lint and test template</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Create change set</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Review IAM and replacement</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Execute monitored update</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Detect drift and retain events</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xmlns:p14="http://schemas.microsoft.com/office/powerpoint/2010/main" p14:dur="380">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CloudFormation template and stack lifecycle: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NESTED STACKS</a:t>
            </a:r>
          </a:p>
          <a:p>
            <a:pPr algn="l">
              <a:spcAft>
                <a:spcPts val="300"/>
              </a:spcAft>
            </a:pPr>
            <a:r>
              <a:rPr sz="1050" b="0">
                <a:solidFill>
                  <a:srgbClr val="5B6372"/>
                </a:solidFill>
                <a:latin typeface="Arial"/>
              </a:rPr>
              <a:t>Compose separately owned templates but manage update order and exported dependencies deliberately.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MODULES</a:t>
            </a:r>
          </a:p>
          <a:p>
            <a:pPr algn="l">
              <a:spcAft>
                <a:spcPts val="300"/>
              </a:spcAft>
            </a:pPr>
            <a:r>
              <a:rPr sz="1050" b="0">
                <a:solidFill>
                  <a:srgbClr val="5B6372"/>
                </a:solidFill>
                <a:latin typeface="Arial"/>
              </a:rPr>
              <a:t>Package reusable resource patterns while retaining native CloudFormation semantics.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IMPORTS</a:t>
            </a:r>
          </a:p>
          <a:p>
            <a:pPr algn="l">
              <a:spcAft>
                <a:spcPts val="300"/>
              </a:spcAft>
            </a:pPr>
            <a:r>
              <a:rPr sz="1050" b="0">
                <a:solidFill>
                  <a:srgbClr val="5B6372"/>
                </a:solidFill>
                <a:latin typeface="Arial"/>
              </a:rPr>
              <a:t>Bring existing resources under management only after identifiers and property compatibility are verified.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ROLLBACK</a:t>
            </a:r>
          </a:p>
          <a:p>
            <a:pPr algn="l">
              <a:spcAft>
                <a:spcPts val="300"/>
              </a:spcAft>
            </a:pPr>
            <a:r>
              <a:rPr sz="1050" b="0">
                <a:solidFill>
                  <a:srgbClr val="5B6372"/>
                </a:solidFill>
                <a:latin typeface="Arial"/>
              </a:rPr>
              <a:t>Use stack events and continue-update-rollback carefully; never delete diagnostic evidence first.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xmlns:p14="http://schemas.microsoft.com/office/powerpoint/2010/main" p14:dur="380">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CloudFormation template and stack lifecycle: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database encryption change may replace a resource holding production data and must be proven safe before execution.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Generate a change set, inspect replacement flags, snapshot or migrate data explicitly, apply retention policies and rehearse the recovery path.</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Treating every stack update as in-place can delete or orphan stateful resources; drift can make the preview incomplete.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Template digest, validation output, change set, policy review, stack events, retained snapshot and drift status.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xmlns:p14="http://schemas.microsoft.com/office/powerpoint/2010/main" p14:dur="380">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Developer deep dive: AWS CDK and SAM synthesis boundaries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Use higher-level authoring tools without skipping review of the CloudFormation contract they generate.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AWS CDK · constructs · SAM · CloudFormation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Add policy assertions, narrow grants, parameterise environment behavior and require retention in production before publishing the construct version.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High-level constructs can hide resources, IAM expansion and destructive defaults; a successful synth is not a security review.</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xmlns:p14="http://schemas.microsoft.com/office/powerpoint/2010/main" p14:dur="380">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CDK and SAM synthesis boundaries: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CDK constructs range from low-level resource mappings to opinionated patterns; all synthesize into CloudFormation resources and IAM statements.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Context values, feature flags and asset hashes affect synthesis, so toolchain versions and context files must be controlled.</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CDK bootstrap resources support asset publishing and deployment roles; modern bootstrap trust must be scoped to intended accounts.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SAM transforms concise serverless resources into CloudFormation and can attach deployment preferences, API events and policies.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xmlns:p14="http://schemas.microsoft.com/office/powerpoint/2010/main" p14:dur="380">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CONTROL AND DATA FLOW</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AWS CDK and SAM synthesis boundaries: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Define construct or SAM resource</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Run unit assertions</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Synthesise template</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Review IAM/change set</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Deploy and detect drift</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xmlns:p14="http://schemas.microsoft.com/office/powerpoint/2010/main" p14:dur="380">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AWS CDK and SAM synthesis boundaries: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L1/L2/L3</a:t>
            </a:r>
          </a:p>
          <a:p>
            <a:pPr algn="l">
              <a:spcAft>
                <a:spcPts val="300"/>
              </a:spcAft>
            </a:pPr>
            <a:r>
              <a:rPr sz="1050" b="0">
                <a:solidFill>
                  <a:srgbClr val="5B6372"/>
                </a:solidFill>
                <a:latin typeface="Arial"/>
              </a:rPr>
              <a:t>Choose low-level control, intent-based resource abstractions or complete patterns according to ownership and audit needs.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ASSETS</a:t>
            </a:r>
          </a:p>
          <a:p>
            <a:pPr algn="l">
              <a:spcAft>
                <a:spcPts val="300"/>
              </a:spcAft>
            </a:pPr>
            <a:r>
              <a:rPr sz="1050" b="0">
                <a:solidFill>
                  <a:srgbClr val="5B6372"/>
                </a:solidFill>
                <a:latin typeface="Arial"/>
              </a:rPr>
              <a:t>Pin dependencies and publish deterministic assets; do not let a local path silently change production content.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POLICY GENERATION</a:t>
            </a:r>
          </a:p>
          <a:p>
            <a:pPr algn="l">
              <a:spcAft>
                <a:spcPts val="300"/>
              </a:spcAft>
            </a:pPr>
            <a:r>
              <a:rPr sz="1050" b="0">
                <a:solidFill>
                  <a:srgbClr val="5B6372"/>
                </a:solidFill>
                <a:latin typeface="Arial"/>
              </a:rPr>
              <a:t>Inspect generated IAM permissions and replace broad convenience grants with resource/action constraints.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REMOVAL</a:t>
            </a:r>
          </a:p>
          <a:p>
            <a:pPr algn="l">
              <a:spcAft>
                <a:spcPts val="300"/>
              </a:spcAft>
            </a:pPr>
            <a:r>
              <a:rPr sz="1050" b="0">
                <a:solidFill>
                  <a:srgbClr val="5B6372"/>
                </a:solidFill>
                <a:latin typeface="Arial"/>
              </a:rPr>
              <a:t>Set retention or destruction behavior explicitly for every stateful resource and environment.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xmlns:p14="http://schemas.microsoft.com/office/powerpoint/2010/main" p14:dur="380">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AWS CDK and SAM synthesis boundaries: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reusable construct speeds delivery but currently creates wildcard permissions and destroys a bucket when a test stack is removed.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Add policy assertions, narrow grants, parameterise environment behavior and require retention in production before publishing the construct version.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High-level constructs can hide resources, IAM expansion and destructive defaults; a successful synth is not a security review.</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Toolchain lock, synth output, assertion tests, IAM diff, asset digest, change set and stack state.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xmlns:p14="http://schemas.microsoft.com/office/powerpoint/2010/main" p14:dur="380">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Developer deep dive: Runtime configuration and safe feature release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Separate deployable code from environment configuration and change high-risk values through validation and progressive rollout.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AppConfig · Parameter Store · Secrets Manager · Lambda extensions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Store the flag in AppConfig, validate its schema, deploy gradually, bind a latency alarm and use the local agent for cached retrieval.</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Reading a parameter on every request can create throttling and latency; logging resolved values can expose secrets.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xmlns:p14="http://schemas.microsoft.com/office/powerpoint/2010/main" p14:dur="380">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Runtime configuration and safe feature release: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Parameter Store supports hierarchical values, versions and SecureString encryption; it is suited to configuration that does not require managed rotation.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Secrets Manager manages secret versions and staging labels and can coordinate rotation through a Lambda function.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AppConfig profiles can source hosted or external configuration, validate content and deploy through linear, canary or exponential strategies.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The AppConfig agent or Lambda extension caches configuration locally, reducing API calls and providing controlled retrieval behavior.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xmlns:p14="http://schemas.microsoft.com/office/powerpoint/2010/main" p14:dur="380">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CONTROL AND DATA FLOW</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Runtime configuration and safe feature release: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Author versioned configuration</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Validate schema or policy</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Deploy to small segment</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Watch alarms</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Bake or roll back</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xmlns:p14="http://schemas.microsoft.com/office/powerpoint/2010/main" p14:dur="380">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Runtime configuration and safe feature release: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PARAMETER</a:t>
            </a:r>
          </a:p>
          <a:p>
            <a:pPr algn="l">
              <a:spcAft>
                <a:spcPts val="300"/>
              </a:spcAft>
            </a:pPr>
            <a:r>
              <a:rPr sz="1050" b="0">
                <a:solidFill>
                  <a:srgbClr val="5B6372"/>
                </a:solidFill>
                <a:latin typeface="Arial"/>
              </a:rPr>
              <a:t>Use for non-secret or encrypted configuration with hierarchy and straightforward versioning.</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SECRET</a:t>
            </a:r>
          </a:p>
          <a:p>
            <a:pPr algn="l">
              <a:spcAft>
                <a:spcPts val="300"/>
              </a:spcAft>
            </a:pPr>
            <a:r>
              <a:rPr sz="1050" b="0">
                <a:solidFill>
                  <a:srgbClr val="5B6372"/>
                </a:solidFill>
                <a:latin typeface="Arial"/>
              </a:rPr>
              <a:t>Use when credential rotation, secret staging and secret-specific access are required.</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APPCONFIG</a:t>
            </a:r>
          </a:p>
          <a:p>
            <a:pPr algn="l">
              <a:spcAft>
                <a:spcPts val="300"/>
              </a:spcAft>
            </a:pPr>
            <a:r>
              <a:rPr sz="1050" b="0">
                <a:solidFill>
                  <a:srgbClr val="5B6372"/>
                </a:solidFill>
                <a:latin typeface="Arial"/>
              </a:rPr>
              <a:t>Use when validation, progressive rollout and automatic rollback are required independently of code deployment.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CACHING</a:t>
            </a:r>
          </a:p>
          <a:p>
            <a:pPr algn="l">
              <a:spcAft>
                <a:spcPts val="300"/>
              </a:spcAft>
            </a:pPr>
            <a:r>
              <a:rPr sz="1050" b="0">
                <a:solidFill>
                  <a:srgbClr val="5B6372"/>
                </a:solidFill>
                <a:latin typeface="Arial"/>
              </a:rPr>
              <a:t>Define refresh and stale-value behavior so a temporary control-plane issue does not overload or stop the application.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xmlns:p14="http://schemas.microsoft.com/office/powerpoint/2010/main" p14:dur="380">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Runtime configuration and safe feature release: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feature flag can increase database load and must be reversed automatically if latency crosses the release threshold.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Store the flag in AppConfig, validate its schema, deploy gradually, bind a latency alarm and use the local agent for cached retrieval.</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Reading a parameter on every request can create throttling and latency; logging resolved values can expose secrets.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Configuration version, validator result, deployment strategy, retrieval version, alarm state and rollback event.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xmlns:p14="http://schemas.microsoft.com/office/powerpoint/2010/main" p14:dur="380">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Developer deep dive: Step Functions orchestration semantics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Model stateful workflows with explicit data flow, timeout, retry and compensation behavior instead of hiding orchestration in code.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Step Functions Standard · Express · service integrations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Persist an idempotency key, retry only transient errors, catch business rejection separately and compensate completed steps before terminal failure.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A catch-all retry can repeat permanent errors or duplicate side effects; missing timeouts leave executions indefinitely open.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xmlns:p14="http://schemas.microsoft.com/office/powerpoint/2010/main" p14:dur="380">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Step Functions orchestration semantics: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InputPath, Parameters, ResultSelector, ResultPath and OutputPath shape JSON between states; uncontrolled payload growth can breach limits and obscure contracts.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Retry policies match error names and apply interval, backoff and maximum attempts; Catch transitions to recovery or terminal states.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Standard workflows provide durable, exactly-once workflow execution semantics for long-running auditable flows; Express targets high-rate short workflows with different delivery semantics.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Optimized service integrations can call AWS APIs, run jobs or wait for callback task tokens without custom polling Lambda functions.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xmlns:p14="http://schemas.microsoft.com/office/powerpoint/2010/main" p14:dur="380">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CONTROL AND DATA FLOW</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Step Functions orchestration semantics: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Validate input contract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Invoke integrated task</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Retry transient failure</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Catch and compensate</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Publish terminal evidence</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xmlns:p14="http://schemas.microsoft.com/office/powerpoint/2010/main" p14:dur="380">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Step Functions orchestration semantics: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STANDARD</a:t>
            </a:r>
          </a:p>
          <a:p>
            <a:pPr algn="l">
              <a:spcAft>
                <a:spcPts val="300"/>
              </a:spcAft>
            </a:pPr>
            <a:r>
              <a:rPr sz="1050" b="0">
                <a:solidFill>
                  <a:srgbClr val="5B6372"/>
                </a:solidFill>
                <a:latin typeface="Arial"/>
              </a:rPr>
              <a:t>Choose for durable history, long waits, human approval or non-idempotent workflow coordination.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EXPRESS</a:t>
            </a:r>
          </a:p>
          <a:p>
            <a:pPr algn="l">
              <a:spcAft>
                <a:spcPts val="300"/>
              </a:spcAft>
            </a:pPr>
            <a:r>
              <a:rPr sz="1050" b="0">
                <a:solidFill>
                  <a:srgbClr val="5B6372"/>
                </a:solidFill>
                <a:latin typeface="Arial"/>
              </a:rPr>
              <a:t>Choose for high-volume, short, idempotent processing with logging configured for required evidence.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MAP</a:t>
            </a:r>
          </a:p>
          <a:p>
            <a:pPr algn="l">
              <a:spcAft>
                <a:spcPts val="300"/>
              </a:spcAft>
            </a:pPr>
            <a:r>
              <a:rPr sz="1050" b="0">
                <a:solidFill>
                  <a:srgbClr val="5B6372"/>
                </a:solidFill>
                <a:latin typeface="Arial"/>
              </a:rPr>
              <a:t>Use inline or distributed map based on item count, concurrency, payload source and isolation requirements.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CALLBACK</a:t>
            </a:r>
          </a:p>
          <a:p>
            <a:pPr algn="l">
              <a:spcAft>
                <a:spcPts val="300"/>
              </a:spcAft>
            </a:pPr>
            <a:r>
              <a:rPr sz="1050" b="0">
                <a:solidFill>
                  <a:srgbClr val="5B6372"/>
                </a:solidFill>
                <a:latin typeface="Arial"/>
              </a:rPr>
              <a:t>Use task tokens for external approval or asynchronous work and set a heartbeat/timeout to avoid stuck executions.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xmlns:p14="http://schemas.microsoft.com/office/powerpoint/2010/main" p14:dur="380">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Step Functions orchestration semantics: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An order workflow calls an unreliable partner and must not charge twice when a response is lost.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Persist an idempotency key, retry only transient errors, catch business rejection separately and compensate completed steps before terminal failure.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A catch-all retry can repeat permanent errors or duplicate side effects; missing timeouts leave executions indefinitely open.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Execution ARN, input version, state transitions, retry count, idempotency record, compensation result and terminal status.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xmlns:p14="http://schemas.microsoft.com/office/powerpoint/2010/main" p14:dur="380">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CONFIGURATION MANAGEMENT AND IAC</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CloudFormation lifecycle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Treat infrastructure changes as reviewed, previewable and recoverable releases.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Validate templates, create change sets, inspect replacements, execute with a service role and capture stack events.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Unexpected replacement of a stateful resource can turn a routine change into data loss.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Template digest, parameters, change-set diff, execution role and stack event timeline.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xmlns:p14="http://schemas.microsoft.com/office/powerpoint/2010/main" p14:dur="380">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CloudFormation lifecycle: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Author</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Lint</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Preview change set</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Approve</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Execute</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Observe events</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xmlns:p14="http://schemas.microsoft.com/office/powerpoint/2010/main" p14:dur="380">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CloudFormation lifecycle: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7C3AED"/>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database parameter update may replace a resource; the team needs proof before execution.</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Validate templates, create change sets, inspect replacements, execute with a service role and capture stack events.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CloudFormation · Change Sets · CloudTrail</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Unexpected replacement of a stateful resource can turn a routine change into data loss.</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Template digest, parameters, change-set diff, execution role and stack event timeline.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xmlns:p14="http://schemas.microsoft.com/office/powerpoint/2010/main" p14:dur="380">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CloudFormation lifecycle: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Unexpected replacement of a stateful resource can turn a routine change into data loss.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Author through Observe events;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Template digest, parameters, change-set diff, execution role and stack event timeline.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xmlns:p14="http://schemas.microsoft.com/office/powerpoint/2010/main" p14:dur="380">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CloudFormation lifecycle: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database parameter update may replace a resource; the team needs proof before execution.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Validate templates, create change sets, inspect replacements, execute with a service role and capture stack events.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Unexpected replacement of a stateful resource can turn a routine change into data loss.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Template digest, parameters, change-set diff, execution role and stack event timeline.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xmlns:p14="http://schemas.microsoft.com/office/powerpoint/2010/main" p14:dur="380">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CONFIGURATION MANAGEMENT AND IAC</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Reusable infrastructure components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Create governed building blocks that teams can reuse without copying templates.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Define stable interfaces, semantic versions, ownership, safe defaults and deprecation paths for components.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Copy-and-edit templates fork controls and make security fixes inconsistent.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Component version, input contract, output contract, policy checks and consuming stacks.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xmlns:p14="http://schemas.microsoft.com/office/powerpoint/2010/main" p14:dur="380">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Reusable infrastructure components: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Define interface</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Implement component</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Test</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Publish version</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Consume</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Deprecate safely</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xmlns:p14="http://schemas.microsoft.com/office/powerpoint/2010/main" p14:dur="380">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Reusable infrastructure components: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7C3AED"/>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Twenty application teams need the same encrypted logging bucket with centrally managed controls.</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Define stable interfaces, semantic versions, ownership, safe defaults and deprecation paths for components.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Nested stacks · Modules · CDK constructs · Service Catalog</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Copy-and-edit templates fork controls and make security fixes inconsistent.</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Component version, input contract, output contract, policy checks and consuming stacks.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xmlns:p14="http://schemas.microsoft.com/office/powerpoint/2010/main" p14:dur="380">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Reusable infrastructure components: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Copy-and-edit templates fork controls and make security fixes inconsistent.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Define interface through Deprecate safely;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Component version, input contract, output contract, policy checks and consuming stacks.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xmlns:p14="http://schemas.microsoft.com/office/powerpoint/2010/main" p14:dur="380">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Reusable infrastructure components: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Twenty application teams need the same encrypted logging bucket with centrally managed controls.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Define stable interfaces, semantic versions, ownership, safe defaults and deprecation paths for components.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Copy-and-edit templates fork controls and make security fixes inconsistent.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Component version, input contract, output contract, policy checks and consuming stacks.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xmlns:p14="http://schemas.microsoft.com/office/powerpoint/2010/main" p14:dur="380">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CONFIGURATION MANAGEMENT AND IAC</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Parameters, mappings and dynamic references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Separate environment configuration and secrets from reusable infrastructure code.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Use parameters for deployment choices, mappings for curated constants and dynamic references for secret values.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Embedding secrets in templates, outputs or pipeline logs creates durable exposure.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Parameter type, allowed values, secret ARN/version, access policy and redacted execution logs.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xmlns:p14="http://schemas.microsoft.com/office/powerpoint/2010/main" p14:dur="380">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PROCESS MODEL</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Parameters, mappings and dynamic references: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Declare input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Validate</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Resolve secure value</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Deploy</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Rotate independently</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xmlns:p14="http://schemas.microsoft.com/office/powerpoint/2010/main" p14:dur="380">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SCENARIO</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Parameters, mappings and dynamic references: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7C3AED"/>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One template serves three environments while database credentials rotate every 30 days.</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Use parameters for deployment choices, mappings for curated constants and dynamic references for secret values.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CloudFormation · Parameter Store · Secrets Manager</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Embedding secrets in templates, outputs or pipeline logs creates durable exposure.</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Parameter type, allowed values, secret ARN/version, access policy and redacted execution logs.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xmlns:p14="http://schemas.microsoft.com/office/powerpoint/2010/main" p14:dur="380">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OPERATIONS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Parameters, mappings and dynamic references: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Embedding secrets in templates, outputs or pipeline logs creates durable exposure.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Declare input through Rotate independently;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Parameter type, allowed values, secret ARN/version, access policy and redacted execution logs.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ransition xmlns:p14="http://schemas.microsoft.com/office/powerpoint/2010/main" p14:dur="380">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APPLIED SCENARIO</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Parameters, mappings and dynamic references: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One template serves three environments while database credentials rotate every 30 days.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Use parameters for deployment choices, mappings for curated constants and dynamic references for secret values.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Embedding secrets in templates, outputs or pipeline logs creates durable exposure.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Parameter type, allowed values, secret ARN/version, access policy and redacted execution logs.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transition xmlns:p14="http://schemas.microsoft.com/office/powerpoint/2010/main" p14:dur="380">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CONFIGURATION MANAGEMENT AND IAC</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Drift, change control and rollback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Detect unmanaged changes and return resources to an approved state without masking the cause.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Schedule drift detection, triage intent, import legitimate changes into code or remediate unauthorized variance.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Blindly reapplying a stack can overwrite an emergency repair before it is understood.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Drift result, actor from CloudTrail, approved exception, change set and post-remediation state.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transition xmlns:p14="http://schemas.microsoft.com/office/powerpoint/2010/main" p14:dur="380">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Drift, change control and rollback: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Detect drift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Identify actor</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Classify intent</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Update code or remediate</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Recheck</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transition xmlns:p14="http://schemas.microsoft.com/office/powerpoint/2010/main" p14:dur="380">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Drift, change control and rollback: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7C3AED"/>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An operator changes a security group during an incident and forgets to restore it.</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Schedule drift detection, triage intent, import legitimate changes into code or remediate unauthorized variance.</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CloudFormation Drift · Config · Change Sets</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Blindly reapplying a stack can overwrite an emergency repair before it is understood.</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Drift result, actor from CloudTrail, approved exception, change set and post-remediation state.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transition xmlns:p14="http://schemas.microsoft.com/office/powerpoint/2010/main" p14:dur="380">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Drift, change control and rollback: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Blindly reapplying a stack can overwrite an emergency repair before it is understood.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Detect drift through Recheck;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Drift result, actor from CloudTrail, approved exception, change set and post-remediation state.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transition xmlns:p14="http://schemas.microsoft.com/office/powerpoint/2010/main" p14:dur="380">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Drift, change control and rollback: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An operator changes a security group during an incident and forgets to restore it.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Schedule drift detection, triage intent, import legitimate changes into code or remediate unauthorized variance.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Blindly reapplying a stack can overwrite an emergency repair before it is understood.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Drift result, actor from CloudTrail, approved exception, change set and post-remediation state.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transition xmlns:p14="http://schemas.microsoft.com/office/powerpoint/2010/main" p14:dur="380">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CONFIGURATION MANAGEMENT AND IAC</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StackSets and account vending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Deploy mandatory baselines consistently as accounts and Regions are created.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Use organizational units, delegated administration, automatic deployment and controlled failure tolerance.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An aggressive concurrent rollout can spread a faulty baseline across the organization.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OU target, permission model, operation preferences, per-account status and drift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transition xmlns:p14="http://schemas.microsoft.com/office/powerpoint/2010/main" p14:dur="380">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StackSets and account vending: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Create account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Place in OU</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Apply baseline Stack Set</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Verify guardrails</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Hand over</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transition xmlns:p14="http://schemas.microsoft.com/office/powerpoint/2010/main" p14:dur="380">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StackSets and account vending: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7C3AED"/>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new production account must receive logging, security roles and Config before application access.</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Use organizational units, delegated administration, automatic deployment and controlled failure tolerance.</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Organizations · StackSets · Control Tower · Account Factory</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An aggressive concurrent rollout can spread a faulty baseline across the organization.</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OU target, permission model, operation preferences, per-account status and drift result.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transition xmlns:p14="http://schemas.microsoft.com/office/powerpoint/2010/main" p14:dur="380">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StackSets and account vending: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An aggressive concurrent rollout can spread a faulty baseline across the organization.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Create account through Hand over;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OU target, permission model, operation preferences, per-account status and drift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transition xmlns:p14="http://schemas.microsoft.com/office/powerpoint/2010/main" p14:dur="380">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StackSets and account vending: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new production account must receive logging, security roles and Config before application access.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Use organizational units, delegated administration, automatic deployment and controlled failure tolerance.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An aggressive concurrent rollout can spread a faulty baseline across the organization.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OU target, permission model, operation preferences, per-account status and drift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transition xmlns:p14="http://schemas.microsoft.com/office/powerpoint/2010/main" p14:dur="380">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CONFIGURATION MANAGEMENT AND IAC</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Systems Manager fleet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Operate hybrid and EC2 fleets without inbound administrative ports or unmanaged scripts.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Use tags, documents, maintenance windows, rate controls, concurrency limits and command output encryption.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fleet-wide command without error thresholds can create a synchronized outage.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Target query, document version, invocation output, compliance result and exception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transition xmlns:p14="http://schemas.microsoft.com/office/powerpoint/2010/main" p14:dur="380">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Systems Manager fleet automation: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Select by tag</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Run canary</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Check output</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Expand concurrency</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Record compliance</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transition xmlns:p14="http://schemas.microsoft.com/office/powerpoint/2010/main" p14:dur="380">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Systems Manager fleet automation: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7C3AED"/>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monthly patch cycle must update hundreds of instances while limiting simultaneous disruption.</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Use tags, documents, maintenance windows, rate controls, concurrency limits and command output encryption.</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Systems Manager · Run Command · Automation · Patch Manager</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 fleet-wide command without error thresholds can create a synchronized outage.</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Target query, document version, invocation output, compliance result and exception record.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transition xmlns:p14="http://schemas.microsoft.com/office/powerpoint/2010/main" p14:dur="380">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Systems Manager fleet automation: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 fleet-wide command without error thresholds can create a synchronized outage.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Select by tag through Record compliance;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Target query, document version, invocation output, compliance result and exception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transition xmlns:p14="http://schemas.microsoft.com/office/powerpoint/2010/main" p14:dur="380">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Systems Manager fleet automation: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monthly patch cycle must update hundreds of instances while limiting simultaneous disruption.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Use tags, documents, maintenance windows, rate controls, concurrency limits and command output encryption.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 fleet-wide command without error thresholds can create a synchronized outage.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Target query, document version, invocation output, compliance result and exception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transition xmlns:p14="http://schemas.microsoft.com/office/powerpoint/2010/main" p14:dur="380">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CONFIGURATION MANAGEMENT AND IAC</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CDK, SAM and workflow orchestration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Choose the right abstraction while preserving reviewable infrastructure output and safe runtime change.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Synthesize templates, test constructs, separate build-time from runtime configuration, and orchestrate retries explicitly.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High-level abstractions can hide IAM expansion or replacement behavior unless synthesized output is reviewed.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Synthesized template, assertions, state-machine history, configuration version and deployment strategy.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transition xmlns:p14="http://schemas.microsoft.com/office/powerpoint/2010/main" p14:dur="380">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CDK, SAM and workflow orchestration: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Model</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Synthesize</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Test policy</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Deploy</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Release config</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Observe execution</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transition xmlns:p14="http://schemas.microsoft.com/office/powerpoint/2010/main" p14:dur="380">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CDK, SAM and workflow orchestration: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7C3AED"/>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serverless workflow needs bounded retries and a feature flag that can be rolled back independently.</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Synthesize templates, test constructs, separate build-time from runtime configuration, and orchestrate retries explicitly.</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CDK · SAM · Step Functions · AppConfig</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High-level abstractions can hide IAM expansion or replacement behavior unless synthesized output is reviewed.</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Synthesized template, assertions, state-machine history, configuration version and deployment strategy.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transition xmlns:p14="http://schemas.microsoft.com/office/powerpoint/2010/main" p14:dur="380">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CDK, SAM and workflow orchestration: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High-level abstractions can hide IAM expansion or replacement behavior unless synthesized output is reviewed.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Model through Observe execution;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Synthesized template, assertions, state-machine history, configuration version and deployment strategy.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transition xmlns:p14="http://schemas.microsoft.com/office/powerpoint/2010/main" p14:dur="380">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CDK, SAM and workflow orchestration: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serverless workflow needs bounded retries and a feature flag that can be rolled back independently.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Synthesize templates, test constructs, separate build-time from runtime configuration, and orchestrate retries explicitly.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High-level abstractions can hide IAM expansion or replacement behavior unless synthesized output is reviewed.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Synthesized template, assertions, state-machine history, configuration version and deployment strategy.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transition xmlns:p14="http://schemas.microsoft.com/office/powerpoint/2010/main" p14:dur="380">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CloudFormation lifecycle: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Author</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Validate templates, create change sets, inspect replacements, execute with a service role and capture stack events.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CloudFormation · Change Sets · CloudTrail</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Template digest, parameters, change-set diff, execution role and stack event timeline.</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transition xmlns:p14="http://schemas.microsoft.com/office/powerpoint/2010/main" p14:dur="380">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Reusable infrastructure components: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Define interface</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Define stable interfaces, semantic versions, ownership, safe defaults and deprecation paths for components.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Nested stacks · Modules · CDK constructs · Service Catalog</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Component version, input contract, output contract, policy checks and consuming stacks.</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transition xmlns:p14="http://schemas.microsoft.com/office/powerpoint/2010/main" p14:dur="380">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BOUNDARIES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Parameters, mappings and dynamic references: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Declare input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Use parameters for deployment choices, mappings for curated constants and dynamic references for secret values.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CloudFormation · Parameter Store · Secrets Manager</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Parameter type, allowed values, secret ARN/version, access policy and redacted execution logs.</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transition xmlns:p14="http://schemas.microsoft.com/office/powerpoint/2010/main" p14:dur="380">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Drift, change control and rollback: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Detect drift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Schedule drift detection, triage intent, import legitimate changes into code or remediate unauthorized variance.</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CloudFormation Drift · Config · Change Sets</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Drift result, actor from CloudTrail, approved exception, change set and post-remediation state.</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transition xmlns:p14="http://schemas.microsoft.com/office/powerpoint/2010/main" p14:dur="380">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StackSets and account vending: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Create account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Use organizational units, delegated administration, automatic deployment and controlled failure tolerance.</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Organizations · StackSets · Control Tower · Account Factory</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OU target, permission model, operation preferences, per-account status and drift result.</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transition xmlns:p14="http://schemas.microsoft.com/office/powerpoint/2010/main" p14:dur="380">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Systems Manager fleet automation: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Select by tag</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Use tags, documents, maintenance windows, rate controls, concurrency limits and command output encryption.</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Systems Manager · Run Command · Automation · Patch Manager</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Target query, document version, invocation output, compliance result and exception record.</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transition xmlns:p14="http://schemas.microsoft.com/office/powerpoint/2010/main" p14:dur="380">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2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CDK, SAM and workflow orchestration: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Model</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Synthesize templates, test constructs, separate build-time from runtime configuration, and orchestrate retries explicitly.</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CDK · SAM · Step Functions · AppConfig</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Synthesized template, assertions, state-machine history, configuration version and deployment strategy.</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7C3AED"/>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transition xmlns:p14="http://schemas.microsoft.com/office/powerpoint/2010/main" p14:dur="380">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6 · DAY 2 · LO2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Deploy a Reusable VPC Network Baseline with CloudFormation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2 · LO2 · K3, A3</a:t>
            </a:r>
          </a:p>
        </p:txBody>
      </p:sp>
      <p:sp>
        <p:nvSpPr>
          <p:cNvPr id="10" name="TextBox 9"/>
          <p:cNvSpPr txBox="1"/>
          <p:nvPr/>
        </p:nvSpPr>
        <p:spPr>
          <a:xfrm>
            <a:off x="777240" y="2286000"/>
            <a:ext cx="5486400" cy="1215390"/>
          </a:xfrm>
          <a:prstGeom prst="rect">
            <a:avLst/>
          </a:prstGeom>
          <a:noFill/>
        </p:spPr>
        <p:txBody>
          <a:bodyPr wrap="square" anchor="t">
            <a:spAutoFit/>
          </a:bodyPr>
          <a:lstStyle/>
          <a:p>
            <a:pPr algn="l">
              <a:spcAft>
                <a:spcPts val="400"/>
              </a:spcAft>
            </a:pPr>
            <a:r>
              <a:rPr sz="1350" b="0">
                <a:solidFill>
                  <a:srgbClr val="161B26"/>
                </a:solidFill>
                <a:latin typeface="Arial"/>
              </a:rPr>
              <a:t>Your team keeps building VPCs by hand and no two look alike.</a:t>
            </a:r>
          </a:p>
        </p:txBody>
      </p:sp>
      <p:sp>
        <p:nvSpPr>
          <p:cNvPr id="11" name="Rectangle 10"/>
          <p:cNvSpPr/>
          <p:nvPr/>
        </p:nvSpPr>
        <p:spPr>
          <a:xfrm>
            <a:off x="777240" y="3611118"/>
            <a:ext cx="5486400" cy="13281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118"/>
            <a:ext cx="91440" cy="13281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39134"/>
            <a:ext cx="5120640" cy="274320"/>
          </a:xfrm>
          <a:prstGeom prst="rect">
            <a:avLst/>
          </a:prstGeom>
          <a:noFill/>
        </p:spPr>
        <p:txBody>
          <a:bodyPr wrap="square" anchor="t">
            <a:spAutoFit/>
          </a:bodyPr>
          <a:lstStyle/>
          <a:p>
            <a:pPr algn="l">
              <a:spcAft>
                <a:spcPts val="400"/>
              </a:spcAft>
            </a:pPr>
            <a:r>
              <a:rPr sz="1200" b="1">
                <a:solidFill>
                  <a:srgbClr val="7C3AED"/>
                </a:solidFill>
                <a:latin typeface="Arial"/>
              </a:rPr>
              <a:t>YOU'LL BUILD</a:t>
            </a:r>
          </a:p>
        </p:txBody>
      </p:sp>
      <p:sp>
        <p:nvSpPr>
          <p:cNvPr id="14" name="TextBox 13"/>
          <p:cNvSpPr txBox="1"/>
          <p:nvPr/>
        </p:nvSpPr>
        <p:spPr>
          <a:xfrm>
            <a:off x="960120" y="4013454"/>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 version-controlled network.yaml that deploys a 2-AZ VPC (2 public + 2 private subnets, IGW, route tables) and publishes VpcId, subnet IDs and the VPC CIDR as reusable cross-stack Exports.</a:t>
            </a:r>
          </a:p>
        </p:txBody>
      </p:sp>
      <p:sp>
        <p:nvSpPr>
          <p:cNvPr id="15" name="TextBox 14"/>
          <p:cNvSpPr txBox="1"/>
          <p:nvPr/>
        </p:nvSpPr>
        <p:spPr>
          <a:xfrm>
            <a:off x="960120" y="4637913"/>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CloudFormation, Amazon VPC, Amazon EC2</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Author, validate and deploy a reusable VPC network baseline with CloudFormation and publish cross-stack exports (LO2, K3, A3).</a:t>
            </a:r>
          </a:p>
          <a:p>
            <a:pPr algn="l">
              <a:spcAft>
                <a:spcPts val="300"/>
              </a:spcAft>
            </a:pPr>
            <a:r>
              <a:rPr sz="1050" b="0">
                <a:solidFill>
                  <a:srgbClr val="5B6372"/>
                </a:solidFill>
                <a:latin typeface="Arial"/>
              </a:rPr>
              <a:t>Evidence:  describe-stacks output showing net-dev at CREATE_COMPLETE with the Outputs tab populated.</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6-cloudformation-network-baseline.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transition xmlns:p14="http://schemas.microsoft.com/office/powerpoint/2010/main" p14:dur="380">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7 · DAY 2 · LO2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Deploy a Parameterized Application Stack that Imports Network Exports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2 · LO2 · K3, A3</a:t>
            </a:r>
          </a:p>
        </p:txBody>
      </p:sp>
      <p:sp>
        <p:nvSpPr>
          <p:cNvPr id="10" name="TextBox 9"/>
          <p:cNvSpPr txBox="1"/>
          <p:nvPr/>
        </p:nvSpPr>
        <p:spPr>
          <a:xfrm>
            <a:off x="777240" y="2286000"/>
            <a:ext cx="5486400" cy="1025525"/>
          </a:xfrm>
          <a:prstGeom prst="rect">
            <a:avLst/>
          </a:prstGeom>
          <a:noFill/>
        </p:spPr>
        <p:txBody>
          <a:bodyPr wrap="square" anchor="t">
            <a:spAutoFit/>
          </a:bodyPr>
          <a:lstStyle/>
          <a:p>
            <a:pPr algn="l">
              <a:spcAft>
                <a:spcPts val="400"/>
              </a:spcAft>
            </a:pPr>
            <a:r>
              <a:rPr sz="1350" b="0">
                <a:solidFill>
                  <a:srgbClr val="161B26"/>
                </a:solidFill>
                <a:latin typeface="Arial"/>
              </a:rPr>
              <a:t>With the network baseline from Lab 6 in place, you now deploy the application tier on top of it — without copy-pasting a single subnet or VPC ID.</a:t>
            </a:r>
          </a:p>
        </p:txBody>
      </p:sp>
      <p:sp>
        <p:nvSpPr>
          <p:cNvPr id="11" name="Rectangle 10"/>
          <p:cNvSpPr/>
          <p:nvPr/>
        </p:nvSpPr>
        <p:spPr>
          <a:xfrm>
            <a:off x="777240" y="3421253"/>
            <a:ext cx="5486400" cy="13446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21253"/>
            <a:ext cx="91440" cy="13446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49269"/>
            <a:ext cx="5120640" cy="274320"/>
          </a:xfrm>
          <a:prstGeom prst="rect">
            <a:avLst/>
          </a:prstGeom>
          <a:noFill/>
        </p:spPr>
        <p:txBody>
          <a:bodyPr wrap="square" anchor="t">
            <a:spAutoFit/>
          </a:bodyPr>
          <a:lstStyle/>
          <a:p>
            <a:pPr algn="l">
              <a:spcAft>
                <a:spcPts val="400"/>
              </a:spcAft>
            </a:pPr>
            <a:r>
              <a:rPr sz="1200" b="1">
                <a:solidFill>
                  <a:srgbClr val="7C3AED"/>
                </a:solidFill>
                <a:latin typeface="Arial"/>
              </a:rPr>
              <a:t>YOU'LL BUILD</a:t>
            </a:r>
          </a:p>
        </p:txBody>
      </p:sp>
      <p:sp>
        <p:nvSpPr>
          <p:cNvPr id="14" name="TextBox 13"/>
          <p:cNvSpPr txBox="1"/>
          <p:nvPr/>
        </p:nvSpPr>
        <p:spPr>
          <a:xfrm>
            <a:off x="960120" y="3823589"/>
            <a:ext cx="5166360" cy="412750"/>
          </a:xfrm>
          <a:prstGeom prst="rect">
            <a:avLst/>
          </a:prstGeom>
          <a:noFill/>
        </p:spPr>
        <p:txBody>
          <a:bodyPr wrap="square" anchor="t">
            <a:spAutoFit/>
          </a:bodyPr>
          <a:lstStyle/>
          <a:p>
            <a:pPr algn="l">
              <a:spcAft>
                <a:spcPts val="400"/>
              </a:spcAft>
            </a:pPr>
            <a:r>
              <a:rPr sz="1250" b="1">
                <a:solidFill>
                  <a:srgbClr val="161B26"/>
                </a:solidFill>
                <a:latin typeface="Arial"/>
              </a:rPr>
              <a:t>A parameterized app.yaml that imports the network exports, resolves the latest AMI via SSM.</a:t>
            </a:r>
          </a:p>
        </p:txBody>
      </p:sp>
      <p:sp>
        <p:nvSpPr>
          <p:cNvPr id="15" name="TextBox 14"/>
          <p:cNvSpPr txBox="1"/>
          <p:nvPr/>
        </p:nvSpPr>
        <p:spPr>
          <a:xfrm>
            <a:off x="960120" y="4291203"/>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CloudFormation, Amazon EC2, AWS Systems Manager (SSM public parameters)</a:t>
            </a:r>
          </a:p>
        </p:txBody>
      </p:sp>
      <p:sp>
        <p:nvSpPr>
          <p:cNvPr id="16" name="Rectangle 15"/>
          <p:cNvSpPr/>
          <p:nvPr/>
        </p:nvSpPr>
        <p:spPr>
          <a:xfrm>
            <a:off x="777240" y="4875657"/>
            <a:ext cx="5486400" cy="14519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75657"/>
            <a:ext cx="91440" cy="145199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003673"/>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277993"/>
            <a:ext cx="5166360" cy="866775"/>
          </a:xfrm>
          <a:prstGeom prst="rect">
            <a:avLst/>
          </a:prstGeom>
          <a:noFill/>
        </p:spPr>
        <p:txBody>
          <a:bodyPr wrap="square" anchor="t">
            <a:spAutoFit/>
          </a:bodyPr>
          <a:lstStyle/>
          <a:p>
            <a:pPr algn="l">
              <a:spcAft>
                <a:spcPts val="300"/>
              </a:spcAft>
            </a:pPr>
            <a:r>
              <a:rPr sz="1050" b="0">
                <a:solidFill>
                  <a:srgbClr val="5B6372"/>
                </a:solidFill>
                <a:latin typeface="Arial"/>
              </a:rPr>
              <a:t>Outcome:  Deploy a parameterized application stack that consumes cross-stack exports and reuse it for dev and test via parameter files (LO2, K3, A3).</a:t>
            </a:r>
          </a:p>
          <a:p>
            <a:pPr algn="l">
              <a:spcAft>
                <a:spcPts val="300"/>
              </a:spcAft>
            </a:pPr>
            <a:r>
              <a:rPr sz="1050" b="0">
                <a:solidFill>
                  <a:srgbClr val="5B6372"/>
                </a:solidFill>
                <a:latin typeface="Arial"/>
              </a:rPr>
              <a:t>Evidence:  describe-stacks output showing app-dev and app-test both at a *_COMPLETE status.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7-parameterized-app-stack.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transition xmlns:p14="http://schemas.microsoft.com/office/powerpoint/2010/main" p14:dur="380">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8 · DAY 2 · LO2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Preview Changes with Change Sets and Detect &amp; Reconcile Drift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2 · LO2 · K3, A3</a:t>
            </a:r>
          </a:p>
        </p:txBody>
      </p:sp>
      <p:sp>
        <p:nvSpPr>
          <p:cNvPr id="10" name="TextBox 9"/>
          <p:cNvSpPr txBox="1"/>
          <p:nvPr/>
        </p:nvSpPr>
        <p:spPr>
          <a:xfrm>
            <a:off x="777240" y="2286000"/>
            <a:ext cx="5486400" cy="1215390"/>
          </a:xfrm>
          <a:prstGeom prst="rect">
            <a:avLst/>
          </a:prstGeom>
          <a:noFill/>
        </p:spPr>
        <p:txBody>
          <a:bodyPr wrap="square" anchor="t">
            <a:spAutoFit/>
          </a:bodyPr>
          <a:lstStyle/>
          <a:p>
            <a:pPr algn="l">
              <a:spcAft>
                <a:spcPts val="400"/>
              </a:spcAft>
            </a:pPr>
            <a:r>
              <a:rPr sz="1350" b="0">
                <a:solidFill>
                  <a:srgbClr val="161B26"/>
                </a:solidFill>
                <a:latin typeface="Arial"/>
              </a:rPr>
              <a:t>Production changes are risky when you cannot see them coming, and infrastructure silently drifts when people click in the console.</a:t>
            </a:r>
          </a:p>
        </p:txBody>
      </p:sp>
      <p:sp>
        <p:nvSpPr>
          <p:cNvPr id="11" name="Rectangle 10"/>
          <p:cNvSpPr/>
          <p:nvPr/>
        </p:nvSpPr>
        <p:spPr>
          <a:xfrm>
            <a:off x="777240" y="3611118"/>
            <a:ext cx="5486400" cy="13281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118"/>
            <a:ext cx="91440" cy="13281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39134"/>
            <a:ext cx="5120640" cy="274320"/>
          </a:xfrm>
          <a:prstGeom prst="rect">
            <a:avLst/>
          </a:prstGeom>
          <a:noFill/>
        </p:spPr>
        <p:txBody>
          <a:bodyPr wrap="square" anchor="t">
            <a:spAutoFit/>
          </a:bodyPr>
          <a:lstStyle/>
          <a:p>
            <a:pPr algn="l">
              <a:spcAft>
                <a:spcPts val="400"/>
              </a:spcAft>
            </a:pPr>
            <a:r>
              <a:rPr sz="1200" b="1">
                <a:solidFill>
                  <a:srgbClr val="7C3AED"/>
                </a:solidFill>
                <a:latin typeface="Arial"/>
              </a:rPr>
              <a:t>YOU'LL BUILD</a:t>
            </a:r>
          </a:p>
        </p:txBody>
      </p:sp>
      <p:sp>
        <p:nvSpPr>
          <p:cNvPr id="14" name="TextBox 13"/>
          <p:cNvSpPr txBox="1"/>
          <p:nvPr/>
        </p:nvSpPr>
        <p:spPr>
          <a:xfrm>
            <a:off x="960120" y="4013454"/>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 repeatable workflow: create-change-set.sh renders a reviewable preview of a stack change, and drift-check.sh detects and reports out-of-band drift so you can reconcile infrastructure back to code.</a:t>
            </a:r>
          </a:p>
        </p:txBody>
      </p:sp>
      <p:sp>
        <p:nvSpPr>
          <p:cNvPr id="15" name="TextBox 14"/>
          <p:cNvSpPr txBox="1"/>
          <p:nvPr/>
        </p:nvSpPr>
        <p:spPr>
          <a:xfrm>
            <a:off x="960120" y="4637913"/>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CloudFormation</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Preview a stack modification safely with a change set before executing, then detect out-of-band drift and reconcile it (LO2, K3, A3).</a:t>
            </a:r>
          </a:p>
          <a:p>
            <a:pPr algn="l">
              <a:spcAft>
                <a:spcPts val="300"/>
              </a:spcAft>
            </a:pPr>
            <a:r>
              <a:rPr sz="1050" b="0">
                <a:solidFill>
                  <a:srgbClr val="5B6372"/>
                </a:solidFill>
                <a:latin typeface="Arial"/>
              </a:rPr>
              <a:t>Evidence:  describe-change-set output showing the previewed changes with Replacement=False (no destructive changes).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8-changesets-drift-detection.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transition xmlns:p14="http://schemas.microsoft.com/office/powerpoint/2010/main" p14:dur="380">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9 · DAY 2 · LO2 · HANDS-ON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Externalize Configuration with SSM Parameter Store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2 · LO2 · K3, A3</a:t>
            </a:r>
          </a:p>
        </p:txBody>
      </p:sp>
      <p:sp>
        <p:nvSpPr>
          <p:cNvPr id="10" name="TextBox 9"/>
          <p:cNvSpPr txBox="1"/>
          <p:nvPr/>
        </p:nvSpPr>
        <p:spPr>
          <a:xfrm>
            <a:off x="777240" y="2286000"/>
            <a:ext cx="5486400" cy="1017270"/>
          </a:xfrm>
          <a:prstGeom prst="rect">
            <a:avLst/>
          </a:prstGeom>
          <a:noFill/>
        </p:spPr>
        <p:txBody>
          <a:bodyPr wrap="square" anchor="t">
            <a:spAutoFit/>
          </a:bodyPr>
          <a:lstStyle/>
          <a:p>
            <a:pPr algn="l">
              <a:spcAft>
                <a:spcPts val="400"/>
              </a:spcAft>
            </a:pPr>
            <a:r>
              <a:rPr sz="1350" b="0">
                <a:solidFill>
                  <a:srgbClr val="161B26"/>
                </a:solidFill>
                <a:latin typeface="Arial"/>
              </a:rPr>
              <a:t>Hard-coding configuration and credentials into code and templates is a recipe for leaks and rebuilds.</a:t>
            </a:r>
          </a:p>
        </p:txBody>
      </p:sp>
      <p:sp>
        <p:nvSpPr>
          <p:cNvPr id="11" name="Rectangle 10"/>
          <p:cNvSpPr/>
          <p:nvPr/>
        </p:nvSpPr>
        <p:spPr>
          <a:xfrm>
            <a:off x="777240" y="3412998"/>
            <a:ext cx="5486400" cy="1526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12998"/>
            <a:ext cx="91440" cy="15262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41014"/>
            <a:ext cx="5120640" cy="274320"/>
          </a:xfrm>
          <a:prstGeom prst="rect">
            <a:avLst/>
          </a:prstGeom>
          <a:noFill/>
        </p:spPr>
        <p:txBody>
          <a:bodyPr wrap="square" anchor="t">
            <a:spAutoFit/>
          </a:bodyPr>
          <a:lstStyle/>
          <a:p>
            <a:pPr algn="l">
              <a:spcAft>
                <a:spcPts val="400"/>
              </a:spcAft>
            </a:pPr>
            <a:r>
              <a:rPr sz="1200" b="1">
                <a:solidFill>
                  <a:srgbClr val="7C3AED"/>
                </a:solidFill>
                <a:latin typeface="Arial"/>
              </a:rPr>
              <a:t>YOU'LL BUILD</a:t>
            </a:r>
          </a:p>
        </p:txBody>
      </p:sp>
      <p:sp>
        <p:nvSpPr>
          <p:cNvPr id="14" name="TextBox 13"/>
          <p:cNvSpPr txBox="1"/>
          <p:nvPr/>
        </p:nvSpPr>
        <p:spPr>
          <a:xfrm>
            <a:off x="960120" y="3815334"/>
            <a:ext cx="5166360" cy="594360"/>
          </a:xfrm>
          <a:prstGeom prst="rect">
            <a:avLst/>
          </a:prstGeom>
          <a:noFill/>
        </p:spPr>
        <p:txBody>
          <a:bodyPr wrap="square" anchor="t">
            <a:spAutoFit/>
          </a:bodyPr>
          <a:lstStyle/>
          <a:p>
            <a:pPr algn="l">
              <a:spcAft>
                <a:spcPts val="400"/>
              </a:spcAft>
            </a:pPr>
            <a:r>
              <a:rPr sz="1200" b="1">
                <a:solidFill>
                  <a:srgbClr val="161B26"/>
                </a:solidFill>
                <a:latin typeface="Arial"/>
              </a:rPr>
              <a:t>A /devops/app/* parameter hierarchy in SSM (String, StringList and KMS-encrypted SecureString) plus an app-config-reader.sh that pulls the whole configuration at runtime with decryption.</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Systems Manager (Parameter Store, State Manager, Automation), AWS KMS, AWS CloudFormation</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Externalize application configuration into SSM Parameter Store (String and SecureString), read it at runtime, and compare Parameter Store.</a:t>
            </a:r>
          </a:p>
          <a:p>
            <a:pPr algn="l">
              <a:spcAft>
                <a:spcPts val="300"/>
              </a:spcAft>
            </a:pPr>
            <a:r>
              <a:rPr sz="1050" b="0">
                <a:solidFill>
                  <a:srgbClr val="5B6372"/>
                </a:solidFill>
                <a:latin typeface="Arial"/>
              </a:rPr>
              <a:t>Evidence:  get-parameters-by-path output showing the /devops/app hierarchy with String, StringList and SecureString types.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9-ssm-parameter-store-config.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transition xmlns:p14="http://schemas.microsoft.com/office/powerpoint/2010/main" p14:dur="380">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10 · DAY 2 · LO2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Multi-Account, Multi-Region Guardrails with CloudFormation StackSets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2 · LO2 · K3, A3</a:t>
            </a:r>
          </a:p>
        </p:txBody>
      </p:sp>
      <p:sp>
        <p:nvSpPr>
          <p:cNvPr id="10" name="TextBox 9"/>
          <p:cNvSpPr txBox="1"/>
          <p:nvPr/>
        </p:nvSpPr>
        <p:spPr>
          <a:xfrm>
            <a:off x="777240" y="2286000"/>
            <a:ext cx="5486400" cy="992505"/>
          </a:xfrm>
          <a:prstGeom prst="rect">
            <a:avLst/>
          </a:prstGeom>
          <a:noFill/>
        </p:spPr>
        <p:txBody>
          <a:bodyPr wrap="square" anchor="t">
            <a:spAutoFit/>
          </a:bodyPr>
          <a:lstStyle/>
          <a:p>
            <a:pPr algn="l">
              <a:spcAft>
                <a:spcPts val="400"/>
              </a:spcAft>
            </a:pPr>
            <a:r>
              <a:rPr sz="1350" b="0">
                <a:solidFill>
                  <a:srgbClr val="161B26"/>
                </a:solidFill>
                <a:latin typeface="Arial"/>
              </a:rPr>
              <a:t>Scaling infrastructure to many accounts by hand does not work.</a:t>
            </a:r>
          </a:p>
        </p:txBody>
      </p:sp>
      <p:sp>
        <p:nvSpPr>
          <p:cNvPr id="11" name="Rectangle 10"/>
          <p:cNvSpPr/>
          <p:nvPr/>
        </p:nvSpPr>
        <p:spPr>
          <a:xfrm>
            <a:off x="777240" y="3388233"/>
            <a:ext cx="5486400" cy="15510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88233"/>
            <a:ext cx="91440" cy="155105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16249"/>
            <a:ext cx="5120640" cy="274320"/>
          </a:xfrm>
          <a:prstGeom prst="rect">
            <a:avLst/>
          </a:prstGeom>
          <a:noFill/>
        </p:spPr>
        <p:txBody>
          <a:bodyPr wrap="square" anchor="t">
            <a:spAutoFit/>
          </a:bodyPr>
          <a:lstStyle/>
          <a:p>
            <a:pPr algn="l">
              <a:spcAft>
                <a:spcPts val="400"/>
              </a:spcAft>
            </a:pPr>
            <a:r>
              <a:rPr sz="1200" b="1">
                <a:solidFill>
                  <a:srgbClr val="7C3AED"/>
                </a:solidFill>
                <a:latin typeface="Arial"/>
              </a:rPr>
              <a:t>YOU'LL BUILD</a:t>
            </a:r>
          </a:p>
        </p:txBody>
      </p:sp>
      <p:sp>
        <p:nvSpPr>
          <p:cNvPr id="14" name="TextBox 13"/>
          <p:cNvSpPr txBox="1"/>
          <p:nvPr/>
        </p:nvSpPr>
        <p:spPr>
          <a:xfrm>
            <a:off x="960120" y="3790569"/>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 StackSet (service-managed) that fans a guardrail stack out to an OU across two Regions in one operation, plus an example SCP that enforces the same guardrail preventively.</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CloudFormation StackSets, AWS Organizations, AWS Control Tower (concept)</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Design and deploy a multi-account, multi-Region guardrail using CloudFormation StackSets.</a:t>
            </a:r>
          </a:p>
          <a:p>
            <a:pPr algn="l">
              <a:spcAft>
                <a:spcPts val="300"/>
              </a:spcAft>
            </a:pPr>
            <a:r>
              <a:rPr sz="1050" b="0">
                <a:solidFill>
                  <a:srgbClr val="5B6372"/>
                </a:solidFill>
                <a:latin typeface="Arial"/>
              </a:rPr>
              <a:t>Evidence:  list-stack-instances output showing the guardrail CURRENT in each account across both Regions.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0-multiaccount-region-stacksets.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transition xmlns:p14="http://schemas.microsoft.com/office/powerpoint/2010/main" p14:dur="380">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RECAP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Recap — Configuration Management and IaC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6</a:t>
            </a:r>
          </a:p>
          <a:p>
            <a:pPr algn="l">
              <a:spcAft>
                <a:spcPts val="300"/>
              </a:spcAft>
            </a:pPr>
            <a:r>
              <a:rPr sz="950" b="0">
                <a:solidFill>
                  <a:srgbClr val="5B6372"/>
                </a:solidFill>
                <a:latin typeface="Arial"/>
              </a:rPr>
              <a:t>Author, validate and deploy a reusable VPC network baseline with CloudFormation and publish cross-stack exports (LO2, K3, A3).</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7</a:t>
            </a:r>
          </a:p>
          <a:p>
            <a:pPr algn="l">
              <a:spcAft>
                <a:spcPts val="300"/>
              </a:spcAft>
            </a:pPr>
            <a:r>
              <a:rPr sz="950" b="0">
                <a:solidFill>
                  <a:srgbClr val="5B6372"/>
                </a:solidFill>
                <a:latin typeface="Arial"/>
              </a:rPr>
              <a:t>Deploy a parameterized application stack that consumes cross-stack exports.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8</a:t>
            </a:r>
          </a:p>
          <a:p>
            <a:pPr algn="l">
              <a:spcAft>
                <a:spcPts val="300"/>
              </a:spcAft>
            </a:pPr>
            <a:r>
              <a:rPr sz="950" b="0">
                <a:solidFill>
                  <a:srgbClr val="5B6372"/>
                </a:solidFill>
                <a:latin typeface="Arial"/>
              </a:rPr>
              <a:t>Preview a stack modification safely with a change set before executing, then detect out-of-band drift.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9</a:t>
            </a:r>
          </a:p>
          <a:p>
            <a:pPr algn="l">
              <a:spcAft>
                <a:spcPts val="300"/>
              </a:spcAft>
            </a:pPr>
            <a:r>
              <a:rPr sz="950" b="0">
                <a:solidFill>
                  <a:srgbClr val="5B6372"/>
                </a:solidFill>
                <a:latin typeface="Arial"/>
              </a:rPr>
              <a:t>Externalize application configuration into SSM Parameter Store (String and SecureString), read it at runtime, and compare Parameter Store.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10</a:t>
            </a:r>
          </a:p>
          <a:p>
            <a:pPr algn="l">
              <a:spcAft>
                <a:spcPts val="300"/>
              </a:spcAft>
            </a:pPr>
            <a:r>
              <a:rPr sz="950" b="0">
                <a:solidFill>
                  <a:srgbClr val="5B6372"/>
                </a:solidFill>
                <a:latin typeface="Arial"/>
              </a:rPr>
              <a:t>Design and deploy a multi-account, multi-Region guardrail using CloudFormation StackSets.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Key principle</a:t>
            </a:r>
          </a:p>
          <a:p>
            <a:pPr algn="l">
              <a:spcAft>
                <a:spcPts val="300"/>
              </a:spcAft>
            </a:pPr>
            <a:r>
              <a:rPr sz="950" b="0">
                <a:solidFill>
                  <a:srgbClr val="5B6372"/>
                </a:solidFill>
                <a:latin typeface="Arial"/>
              </a:rPr>
              <a:t>Declare infrastructure in version-controlled templates so environments are repeatable, reviewable and disposable.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transition xmlns:p14="http://schemas.microsoft.com/office/powerpoint/2010/main" p14:dur="380">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Resilient Cloud Solutions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Exam weighting 15%  ·  High availability · scalability · automated recovery (RTO/RPO)</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transition xmlns:p14="http://schemas.microsoft.com/office/powerpoint/2010/main" p14:dur="380">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WEIGHTING 15%</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Key Concepts — Resilient Cloud Solutions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High availability</a:t>
            </a:r>
          </a:p>
          <a:p>
            <a:pPr algn="l">
              <a:spcAft>
                <a:spcPts val="300"/>
              </a:spcAft>
            </a:pPr>
            <a:r>
              <a:rPr sz="1150" b="0">
                <a:solidFill>
                  <a:srgbClr val="5B6372"/>
                </a:solidFill>
                <a:latin typeface="Arial"/>
              </a:rPr>
              <a:t>Spread compute across multiple Availability Zones behind an Elastic Load Balancer so one AZ failure is survivable.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Elasticity &amp; Auto Scaling</a:t>
            </a:r>
          </a:p>
          <a:p>
            <a:pPr algn="l">
              <a:spcAft>
                <a:spcPts val="300"/>
              </a:spcAft>
            </a:pPr>
            <a:r>
              <a:rPr sz="1150" b="0">
                <a:solidFill>
                  <a:srgbClr val="5B6372"/>
                </a:solidFill>
                <a:latin typeface="Arial"/>
              </a:rPr>
              <a:t>Auto Scaling groups add and remove capacity on demand using target-tracking and step scaling policies.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Decoupling</a:t>
            </a:r>
          </a:p>
          <a:p>
            <a:pPr algn="l">
              <a:spcAft>
                <a:spcPts val="300"/>
              </a:spcAft>
            </a:pPr>
            <a:r>
              <a:rPr sz="1150" b="0">
                <a:solidFill>
                  <a:srgbClr val="5B6372"/>
                </a:solidFill>
                <a:latin typeface="Arial"/>
              </a:rPr>
              <a:t>SQS, SNS and EventBridge decouple producers from consumers so components fail and scale independently.</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RTO &amp; RPO</a:t>
            </a:r>
          </a:p>
          <a:p>
            <a:pPr algn="l">
              <a:spcAft>
                <a:spcPts val="300"/>
              </a:spcAft>
            </a:pPr>
            <a:r>
              <a:rPr sz="1150" b="0">
                <a:solidFill>
                  <a:srgbClr val="5B6372"/>
                </a:solidFill>
                <a:latin typeface="Arial"/>
              </a:rPr>
              <a:t>Recovery Time / Point Objectives drive the DR pattern: backup &amp; restore, pilot light, warm standby or multi-site active/active.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Data durability</a:t>
            </a:r>
          </a:p>
          <a:p>
            <a:pPr algn="l">
              <a:spcAft>
                <a:spcPts val="300"/>
              </a:spcAft>
            </a:pPr>
            <a:r>
              <a:rPr sz="1150" b="0">
                <a:solidFill>
                  <a:srgbClr val="5B6372"/>
                </a:solidFill>
                <a:latin typeface="Arial"/>
              </a:rPr>
              <a:t>Multi-AZ RDS, DynamoDB global tables, S3 cross-Region replication and automated snapshots protect state.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Automated recovery</a:t>
            </a:r>
          </a:p>
          <a:p>
            <a:pPr algn="l">
              <a:spcAft>
                <a:spcPts val="300"/>
              </a:spcAft>
            </a:pPr>
            <a:r>
              <a:rPr sz="1150" b="0">
                <a:solidFill>
                  <a:srgbClr val="5B6372"/>
                </a:solidFill>
                <a:latin typeface="Arial"/>
              </a:rPr>
              <a:t>EC2 auto-recovery, ASG health checks and Route 53 health-check failover restore service without human action.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transition xmlns:p14="http://schemas.microsoft.com/office/powerpoint/2010/main" p14:dur="380">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RESILIENCE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Highly Available, Auto-Scaling Architecture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828800" cy="1051560"/>
          </a:xfrm>
          <a:prstGeom prst="roundRect">
            <a:avLst/>
          </a:prstGeom>
          <a:solidFill>
            <a:srgbClr val="F5F8FC"/>
          </a:solidFill>
          <a:ln w="15875">
            <a:solidFill>
              <a:srgbClr val="5B63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828800" cy="822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Users</a:t>
            </a:r>
          </a:p>
        </p:txBody>
      </p:sp>
      <p:sp>
        <p:nvSpPr>
          <p:cNvPr id="10" name="Rounded Rectangle 9"/>
          <p:cNvSpPr/>
          <p:nvPr/>
        </p:nvSpPr>
        <p:spPr>
          <a:xfrm>
            <a:off x="2971800" y="1965960"/>
            <a:ext cx="182880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71800" y="1965960"/>
            <a:ext cx="182880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Route 53
DNS + health checks</a:t>
            </a:r>
          </a:p>
        </p:txBody>
      </p:sp>
      <p:sp>
        <p:nvSpPr>
          <p:cNvPr id="13" name="Rounded Rectangle 12"/>
          <p:cNvSpPr/>
          <p:nvPr/>
        </p:nvSpPr>
        <p:spPr>
          <a:xfrm>
            <a:off x="5166360" y="1965960"/>
            <a:ext cx="182880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66360" y="1965960"/>
            <a:ext cx="182880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80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Application
Load Balancer</a:t>
            </a:r>
          </a:p>
        </p:txBody>
      </p:sp>
      <p:sp>
        <p:nvSpPr>
          <p:cNvPr id="16" name="Rounded Rectangle 15"/>
          <p:cNvSpPr/>
          <p:nvPr/>
        </p:nvSpPr>
        <p:spPr>
          <a:xfrm>
            <a:off x="7360920" y="1965960"/>
            <a:ext cx="182880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60920" y="1965960"/>
            <a:ext cx="18288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AZ-A
EC2 (ASG)</a:t>
            </a:r>
          </a:p>
        </p:txBody>
      </p:sp>
      <p:sp>
        <p:nvSpPr>
          <p:cNvPr id="19" name="Rounded Rectangle 18"/>
          <p:cNvSpPr/>
          <p:nvPr/>
        </p:nvSpPr>
        <p:spPr>
          <a:xfrm>
            <a:off x="7360920" y="3657600"/>
            <a:ext cx="182880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0920" y="3657600"/>
            <a:ext cx="18288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52360" y="376732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AZ-B
EC2 (ASG)</a:t>
            </a:r>
          </a:p>
        </p:txBody>
      </p:sp>
      <p:sp>
        <p:nvSpPr>
          <p:cNvPr id="22" name="Rounded Rectangle 21"/>
          <p:cNvSpPr/>
          <p:nvPr/>
        </p:nvSpPr>
        <p:spPr>
          <a:xfrm>
            <a:off x="9555480" y="1965960"/>
            <a:ext cx="182880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55480" y="1965960"/>
            <a:ext cx="182880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4692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Multi-AZ RDS</a:t>
            </a:r>
          </a:p>
        </p:txBody>
      </p:sp>
      <p:cxnSp>
        <p:nvCxnSpPr>
          <p:cNvPr id="25" name="Connector 24"/>
          <p:cNvCxnSpPr/>
          <p:nvPr/>
        </p:nvCxnSpPr>
        <p:spPr>
          <a:xfrm>
            <a:off x="260604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80060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99516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99516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18972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918972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10B981"/>
                </a:solidFill>
                <a:latin typeface="Arial"/>
              </a:rPr>
              <a:t>▶  </a:t>
            </a:r>
            <a:r>
              <a:rPr sz="1300" b="0">
                <a:solidFill>
                  <a:srgbClr val="161B26"/>
                </a:solidFill>
                <a:latin typeface="Arial"/>
              </a:rPr>
              <a:t>Traffic spreads across two AZs behind the ALB; the Auto Scaling group self-heals and Multi-AZ RDS protects data.</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transition xmlns:p14="http://schemas.microsoft.com/office/powerpoint/2010/main" p14:dur="380">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MEETING RTO / RPO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Disaster Recovery Strategies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61572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3432840" cy="502920"/>
          </a:xfrm>
          <a:prstGeom prst="rect">
            <a:avLst/>
          </a:prstGeom>
          <a:noFill/>
        </p:spPr>
        <p:txBody>
          <a:bodyPr wrap="square" anchor="ctr">
            <a:spAutoFit/>
          </a:bodyPr>
          <a:lstStyle/>
          <a:p>
            <a:pPr algn="l">
              <a:spcAft>
                <a:spcPts val="400"/>
              </a:spcAft>
            </a:pPr>
            <a:r>
              <a:rPr sz="1400" b="1">
                <a:solidFill>
                  <a:srgbClr val="FFFFFF"/>
                </a:solidFill>
                <a:latin typeface="Arial"/>
              </a:rPr>
              <a:t>Pattern</a:t>
            </a:r>
          </a:p>
        </p:txBody>
      </p:sp>
      <p:sp>
        <p:nvSpPr>
          <p:cNvPr id="9" name="Rectangle 8"/>
          <p:cNvSpPr/>
          <p:nvPr/>
        </p:nvSpPr>
        <p:spPr>
          <a:xfrm>
            <a:off x="4392960" y="1783080"/>
            <a:ext cx="233958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2688" y="1783080"/>
            <a:ext cx="2156703" cy="502920"/>
          </a:xfrm>
          <a:prstGeom prst="rect">
            <a:avLst/>
          </a:prstGeom>
          <a:noFill/>
        </p:spPr>
        <p:txBody>
          <a:bodyPr wrap="square" anchor="ctr">
            <a:spAutoFit/>
          </a:bodyPr>
          <a:lstStyle/>
          <a:p>
            <a:pPr algn="ctr">
              <a:spcAft>
                <a:spcPts val="400"/>
              </a:spcAft>
            </a:pPr>
            <a:r>
              <a:rPr sz="1400" b="1">
                <a:solidFill>
                  <a:srgbClr val="FFFFFF"/>
                </a:solidFill>
                <a:latin typeface="Arial"/>
              </a:rPr>
              <a:t>RTO</a:t>
            </a:r>
          </a:p>
        </p:txBody>
      </p:sp>
      <p:sp>
        <p:nvSpPr>
          <p:cNvPr id="11" name="Rectangle 10"/>
          <p:cNvSpPr/>
          <p:nvPr/>
        </p:nvSpPr>
        <p:spPr>
          <a:xfrm>
            <a:off x="6732543" y="1783080"/>
            <a:ext cx="233958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2271" y="1783080"/>
            <a:ext cx="2156703" cy="502920"/>
          </a:xfrm>
          <a:prstGeom prst="rect">
            <a:avLst/>
          </a:prstGeom>
          <a:noFill/>
        </p:spPr>
        <p:txBody>
          <a:bodyPr wrap="square" anchor="ctr">
            <a:spAutoFit/>
          </a:bodyPr>
          <a:lstStyle/>
          <a:p>
            <a:pPr algn="ctr">
              <a:spcAft>
                <a:spcPts val="400"/>
              </a:spcAft>
            </a:pPr>
            <a:r>
              <a:rPr sz="1400" b="1">
                <a:solidFill>
                  <a:srgbClr val="FFFFFF"/>
                </a:solidFill>
                <a:latin typeface="Arial"/>
              </a:rPr>
              <a:t>RPO</a:t>
            </a:r>
          </a:p>
        </p:txBody>
      </p:sp>
      <p:sp>
        <p:nvSpPr>
          <p:cNvPr id="13" name="Rectangle 12"/>
          <p:cNvSpPr/>
          <p:nvPr/>
        </p:nvSpPr>
        <p:spPr>
          <a:xfrm>
            <a:off x="9072126" y="1783080"/>
            <a:ext cx="233958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1854" y="1783080"/>
            <a:ext cx="2156703" cy="502920"/>
          </a:xfrm>
          <a:prstGeom prst="rect">
            <a:avLst/>
          </a:prstGeom>
          <a:noFill/>
        </p:spPr>
        <p:txBody>
          <a:bodyPr wrap="square" anchor="ctr">
            <a:spAutoFit/>
          </a:bodyPr>
          <a:lstStyle/>
          <a:p>
            <a:pPr algn="ctr">
              <a:spcAft>
                <a:spcPts val="400"/>
              </a:spcAft>
            </a:pPr>
            <a:r>
              <a:rPr sz="1400" b="1">
                <a:solidFill>
                  <a:srgbClr val="FFFFFF"/>
                </a:solidFill>
                <a:latin typeface="Arial"/>
              </a:rPr>
              <a:t>Cost</a:t>
            </a:r>
          </a:p>
        </p:txBody>
      </p:sp>
      <p:sp>
        <p:nvSpPr>
          <p:cNvPr id="15" name="Rectangle 14"/>
          <p:cNvSpPr/>
          <p:nvPr/>
        </p:nvSpPr>
        <p:spPr>
          <a:xfrm>
            <a:off x="777240" y="228600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8600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Backup &amp; Restore</a:t>
            </a:r>
          </a:p>
        </p:txBody>
      </p:sp>
      <p:sp>
        <p:nvSpPr>
          <p:cNvPr id="17" name="Rectangle 16"/>
          <p:cNvSpPr/>
          <p:nvPr/>
        </p:nvSpPr>
        <p:spPr>
          <a:xfrm>
            <a:off x="4392960"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2688" y="228600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Hours</a:t>
            </a:r>
          </a:p>
        </p:txBody>
      </p:sp>
      <p:sp>
        <p:nvSpPr>
          <p:cNvPr id="19" name="Rectangle 18"/>
          <p:cNvSpPr/>
          <p:nvPr/>
        </p:nvSpPr>
        <p:spPr>
          <a:xfrm>
            <a:off x="6732543"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42271" y="228600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Hours</a:t>
            </a:r>
          </a:p>
        </p:txBody>
      </p:sp>
      <p:sp>
        <p:nvSpPr>
          <p:cNvPr id="21" name="Rectangle 20"/>
          <p:cNvSpPr/>
          <p:nvPr/>
        </p:nvSpPr>
        <p:spPr>
          <a:xfrm>
            <a:off x="9072126"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1854" y="228600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23" name="Rectangle 22"/>
          <p:cNvSpPr/>
          <p:nvPr/>
        </p:nvSpPr>
        <p:spPr>
          <a:xfrm>
            <a:off x="777240" y="310896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0896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Pilot Light</a:t>
            </a:r>
          </a:p>
        </p:txBody>
      </p:sp>
      <p:sp>
        <p:nvSpPr>
          <p:cNvPr id="25" name="Rectangle 24"/>
          <p:cNvSpPr/>
          <p:nvPr/>
        </p:nvSpPr>
        <p:spPr>
          <a:xfrm>
            <a:off x="4392960"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02688" y="310896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10s of min</a:t>
            </a:r>
          </a:p>
        </p:txBody>
      </p:sp>
      <p:sp>
        <p:nvSpPr>
          <p:cNvPr id="27" name="Rectangle 26"/>
          <p:cNvSpPr/>
          <p:nvPr/>
        </p:nvSpPr>
        <p:spPr>
          <a:xfrm>
            <a:off x="6732543"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42271" y="310896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Minutes</a:t>
            </a:r>
          </a:p>
        </p:txBody>
      </p:sp>
      <p:sp>
        <p:nvSpPr>
          <p:cNvPr id="29" name="Rectangle 28"/>
          <p:cNvSpPr/>
          <p:nvPr/>
        </p:nvSpPr>
        <p:spPr>
          <a:xfrm>
            <a:off x="9072126"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1854" y="310896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31" name="Rectangle 30"/>
          <p:cNvSpPr/>
          <p:nvPr/>
        </p:nvSpPr>
        <p:spPr>
          <a:xfrm>
            <a:off x="777240" y="393192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93192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Warm Standby</a:t>
            </a:r>
          </a:p>
        </p:txBody>
      </p:sp>
      <p:sp>
        <p:nvSpPr>
          <p:cNvPr id="33" name="Rectangle 32"/>
          <p:cNvSpPr/>
          <p:nvPr/>
        </p:nvSpPr>
        <p:spPr>
          <a:xfrm>
            <a:off x="4392960"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02688" y="393192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Minutes</a:t>
            </a:r>
          </a:p>
        </p:txBody>
      </p:sp>
      <p:sp>
        <p:nvSpPr>
          <p:cNvPr id="35" name="Rectangle 34"/>
          <p:cNvSpPr/>
          <p:nvPr/>
        </p:nvSpPr>
        <p:spPr>
          <a:xfrm>
            <a:off x="6732543"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42271" y="393192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Seconds</a:t>
            </a:r>
          </a:p>
        </p:txBody>
      </p:sp>
      <p:sp>
        <p:nvSpPr>
          <p:cNvPr id="37" name="Rectangle 36"/>
          <p:cNvSpPr/>
          <p:nvPr/>
        </p:nvSpPr>
        <p:spPr>
          <a:xfrm>
            <a:off x="9072126"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1854" y="393192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39" name="Rectangle 38"/>
          <p:cNvSpPr/>
          <p:nvPr/>
        </p:nvSpPr>
        <p:spPr>
          <a:xfrm>
            <a:off x="777240" y="475488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75488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Multi-site Active/Active</a:t>
            </a:r>
          </a:p>
        </p:txBody>
      </p:sp>
      <p:sp>
        <p:nvSpPr>
          <p:cNvPr id="41" name="Rectangle 40"/>
          <p:cNvSpPr/>
          <p:nvPr/>
        </p:nvSpPr>
        <p:spPr>
          <a:xfrm>
            <a:off x="4392960"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02688" y="475488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Near-zero</a:t>
            </a:r>
          </a:p>
        </p:txBody>
      </p:sp>
      <p:sp>
        <p:nvSpPr>
          <p:cNvPr id="43" name="Rectangle 42"/>
          <p:cNvSpPr/>
          <p:nvPr/>
        </p:nvSpPr>
        <p:spPr>
          <a:xfrm>
            <a:off x="6732543"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42271" y="475488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Near-zero</a:t>
            </a:r>
          </a:p>
        </p:txBody>
      </p:sp>
      <p:sp>
        <p:nvSpPr>
          <p:cNvPr id="45" name="Rectangle 44"/>
          <p:cNvSpPr/>
          <p:nvPr/>
        </p:nvSpPr>
        <p:spPr>
          <a:xfrm>
            <a:off x="9072126"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81854" y="475488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transition xmlns:p14="http://schemas.microsoft.com/office/powerpoint/2010/main" p14:dur="380">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LOWER IS BETTER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DR Patterns — Approximate Recovery Time (RTO)</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As you move from backup/restore to active/active, RTO falls from hours to near-zero — at rising cost.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transition xmlns:p14="http://schemas.microsoft.com/office/powerpoint/2010/main" p14:dur="380">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DESIGN PRINCIPLES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Building for Resilience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Multi-AZ by default</a:t>
            </a:r>
          </a:p>
          <a:p>
            <a:pPr algn="l">
              <a:spcAft>
                <a:spcPts val="300"/>
              </a:spcAft>
            </a:pPr>
            <a:r>
              <a:rPr sz="1200" b="0">
                <a:solidFill>
                  <a:srgbClr val="5B6372"/>
                </a:solidFill>
                <a:latin typeface="Arial"/>
              </a:rPr>
              <a:t>Never depend on a single Availability Zone.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Elastic Load Balancing</a:t>
            </a:r>
          </a:p>
          <a:p>
            <a:pPr algn="l">
              <a:spcAft>
                <a:spcPts val="300"/>
              </a:spcAft>
            </a:pPr>
            <a:r>
              <a:rPr sz="1200" b="0">
                <a:solidFill>
                  <a:srgbClr val="5B6372"/>
                </a:solidFill>
                <a:latin typeface="Arial"/>
              </a:rPr>
              <a:t>Distribute traffic and route around unhealthy targets.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Auto Scaling</a:t>
            </a:r>
          </a:p>
          <a:p>
            <a:pPr algn="l">
              <a:spcAft>
                <a:spcPts val="300"/>
              </a:spcAft>
            </a:pPr>
            <a:r>
              <a:rPr sz="1200" b="0">
                <a:solidFill>
                  <a:srgbClr val="5B6372"/>
                </a:solidFill>
                <a:latin typeface="Arial"/>
              </a:rPr>
              <a:t>Match capacity to demand; replace failed instances automatically.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Decouple with queues</a:t>
            </a:r>
          </a:p>
          <a:p>
            <a:pPr algn="l">
              <a:spcAft>
                <a:spcPts val="300"/>
              </a:spcAft>
            </a:pPr>
            <a:r>
              <a:rPr sz="1200" b="0">
                <a:solidFill>
                  <a:srgbClr val="5B6372"/>
                </a:solidFill>
                <a:latin typeface="Arial"/>
              </a:rPr>
              <a:t>SQS / SNS / EventBridge let components fail independently.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transition xmlns:p14="http://schemas.microsoft.com/office/powerpoint/2010/main" p14:dur="380">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MATCHING CAPACITY TO DEMAND</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 Scaling Policy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33958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156703" cy="502920"/>
          </a:xfrm>
          <a:prstGeom prst="rect">
            <a:avLst/>
          </a:prstGeom>
          <a:noFill/>
        </p:spPr>
        <p:txBody>
          <a:bodyPr wrap="square" anchor="ctr">
            <a:spAutoFit/>
          </a:bodyPr>
          <a:lstStyle/>
          <a:p>
            <a:pPr algn="l">
              <a:spcAft>
                <a:spcPts val="400"/>
              </a:spcAft>
            </a:pPr>
            <a:r>
              <a:rPr sz="1400" b="1">
                <a:solidFill>
                  <a:srgbClr val="FFFFFF"/>
                </a:solidFill>
                <a:latin typeface="Arial"/>
              </a:rPr>
              <a:t>Policy</a:t>
            </a:r>
          </a:p>
        </p:txBody>
      </p:sp>
      <p:sp>
        <p:nvSpPr>
          <p:cNvPr id="9" name="Rectangle 8"/>
          <p:cNvSpPr/>
          <p:nvPr/>
        </p:nvSpPr>
        <p:spPr>
          <a:xfrm>
            <a:off x="3116823" y="1783080"/>
            <a:ext cx="4679167"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6551" y="1783080"/>
            <a:ext cx="4496287" cy="502920"/>
          </a:xfrm>
          <a:prstGeom prst="rect">
            <a:avLst/>
          </a:prstGeom>
          <a:noFill/>
        </p:spPr>
        <p:txBody>
          <a:bodyPr wrap="square" anchor="ctr">
            <a:spAutoFit/>
          </a:bodyPr>
          <a:lstStyle/>
          <a:p>
            <a:pPr algn="ctr">
              <a:spcAft>
                <a:spcPts val="400"/>
              </a:spcAft>
            </a:pPr>
            <a:r>
              <a:rPr sz="1400" b="1">
                <a:solidFill>
                  <a:srgbClr val="FFFFFF"/>
                </a:solidFill>
                <a:latin typeface="Arial"/>
              </a:rPr>
              <a:t>How it decides</a:t>
            </a:r>
          </a:p>
        </p:txBody>
      </p:sp>
      <p:sp>
        <p:nvSpPr>
          <p:cNvPr id="11" name="Rectangle 10"/>
          <p:cNvSpPr/>
          <p:nvPr/>
        </p:nvSpPr>
        <p:spPr>
          <a:xfrm>
            <a:off x="7795990" y="1783080"/>
            <a:ext cx="361572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5718" y="1783080"/>
            <a:ext cx="3432840" cy="502920"/>
          </a:xfrm>
          <a:prstGeom prst="rect">
            <a:avLst/>
          </a:prstGeom>
          <a:noFill/>
        </p:spPr>
        <p:txBody>
          <a:bodyPr wrap="square" anchor="ctr">
            <a:spAutoFit/>
          </a:bodyPr>
          <a:lstStyle/>
          <a:p>
            <a:pPr algn="ctr">
              <a:spcAft>
                <a:spcPts val="400"/>
              </a:spcAft>
            </a:pPr>
            <a:r>
              <a:rPr sz="1400" b="1">
                <a:solidFill>
                  <a:srgbClr val="FFFFFF"/>
                </a:solidFill>
                <a:latin typeface="Arial"/>
              </a:rPr>
              <a:t>Use when</a:t>
            </a:r>
          </a:p>
        </p:txBody>
      </p:sp>
      <p:sp>
        <p:nvSpPr>
          <p:cNvPr id="13" name="Rectangle 12"/>
          <p:cNvSpPr/>
          <p:nvPr/>
        </p:nvSpPr>
        <p:spPr>
          <a:xfrm>
            <a:off x="777240"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Target tracking</a:t>
            </a:r>
          </a:p>
        </p:txBody>
      </p:sp>
      <p:sp>
        <p:nvSpPr>
          <p:cNvPr id="15" name="Rectangle 14"/>
          <p:cNvSpPr/>
          <p:nvPr/>
        </p:nvSpPr>
        <p:spPr>
          <a:xfrm>
            <a:off x="3116823" y="2286000"/>
            <a:ext cx="4679167"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26551" y="2286000"/>
            <a:ext cx="4496287" cy="822960"/>
          </a:xfrm>
          <a:prstGeom prst="rect">
            <a:avLst/>
          </a:prstGeom>
          <a:noFill/>
        </p:spPr>
        <p:txBody>
          <a:bodyPr wrap="square" anchor="ctr">
            <a:spAutoFit/>
          </a:bodyPr>
          <a:lstStyle/>
          <a:p>
            <a:pPr algn="ctr">
              <a:spcAft>
                <a:spcPts val="400"/>
              </a:spcAft>
            </a:pPr>
            <a:r>
              <a:rPr sz="1250" b="0">
                <a:solidFill>
                  <a:srgbClr val="5B6372"/>
                </a:solidFill>
                <a:latin typeface="Arial"/>
              </a:rPr>
              <a:t>Keep a metric at a target (e.g. 50% CPU)</a:t>
            </a:r>
          </a:p>
        </p:txBody>
      </p:sp>
      <p:sp>
        <p:nvSpPr>
          <p:cNvPr id="17" name="Rectangle 16"/>
          <p:cNvSpPr/>
          <p:nvPr/>
        </p:nvSpPr>
        <p:spPr>
          <a:xfrm>
            <a:off x="7795990" y="228600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5718" y="228600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Default, simplest</a:t>
            </a:r>
          </a:p>
        </p:txBody>
      </p:sp>
      <p:sp>
        <p:nvSpPr>
          <p:cNvPr id="19" name="Rectangle 18"/>
          <p:cNvSpPr/>
          <p:nvPr/>
        </p:nvSpPr>
        <p:spPr>
          <a:xfrm>
            <a:off x="777240"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Step scaling</a:t>
            </a:r>
          </a:p>
        </p:txBody>
      </p:sp>
      <p:sp>
        <p:nvSpPr>
          <p:cNvPr id="21" name="Rectangle 20"/>
          <p:cNvSpPr/>
          <p:nvPr/>
        </p:nvSpPr>
        <p:spPr>
          <a:xfrm>
            <a:off x="3116823" y="3108960"/>
            <a:ext cx="4679167"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6551" y="3108960"/>
            <a:ext cx="4496287" cy="822960"/>
          </a:xfrm>
          <a:prstGeom prst="rect">
            <a:avLst/>
          </a:prstGeom>
          <a:noFill/>
        </p:spPr>
        <p:txBody>
          <a:bodyPr wrap="square" anchor="ctr">
            <a:spAutoFit/>
          </a:bodyPr>
          <a:lstStyle/>
          <a:p>
            <a:pPr algn="ctr">
              <a:spcAft>
                <a:spcPts val="400"/>
              </a:spcAft>
            </a:pPr>
            <a:r>
              <a:rPr sz="1250" b="0">
                <a:solidFill>
                  <a:srgbClr val="5B6372"/>
                </a:solidFill>
                <a:latin typeface="Arial"/>
              </a:rPr>
              <a:t>Add/remove capacity by alarm breach size</a:t>
            </a:r>
          </a:p>
        </p:txBody>
      </p:sp>
      <p:sp>
        <p:nvSpPr>
          <p:cNvPr id="23" name="Rectangle 22"/>
          <p:cNvSpPr/>
          <p:nvPr/>
        </p:nvSpPr>
        <p:spPr>
          <a:xfrm>
            <a:off x="7795990" y="310896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5718" y="310896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Fine-grained control</a:t>
            </a:r>
          </a:p>
        </p:txBody>
      </p:sp>
      <p:sp>
        <p:nvSpPr>
          <p:cNvPr id="25" name="Rectangle 24"/>
          <p:cNvSpPr/>
          <p:nvPr/>
        </p:nvSpPr>
        <p:spPr>
          <a:xfrm>
            <a:off x="777240"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Scheduled</a:t>
            </a:r>
          </a:p>
        </p:txBody>
      </p:sp>
      <p:sp>
        <p:nvSpPr>
          <p:cNvPr id="27" name="Rectangle 26"/>
          <p:cNvSpPr/>
          <p:nvPr/>
        </p:nvSpPr>
        <p:spPr>
          <a:xfrm>
            <a:off x="3116823" y="3931920"/>
            <a:ext cx="4679167"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26551" y="3931920"/>
            <a:ext cx="4496287" cy="822960"/>
          </a:xfrm>
          <a:prstGeom prst="rect">
            <a:avLst/>
          </a:prstGeom>
          <a:noFill/>
        </p:spPr>
        <p:txBody>
          <a:bodyPr wrap="square" anchor="ctr">
            <a:spAutoFit/>
          </a:bodyPr>
          <a:lstStyle/>
          <a:p>
            <a:pPr algn="ctr">
              <a:spcAft>
                <a:spcPts val="400"/>
              </a:spcAft>
            </a:pPr>
            <a:r>
              <a:rPr sz="1250" b="0">
                <a:solidFill>
                  <a:srgbClr val="5B6372"/>
                </a:solidFill>
                <a:latin typeface="Arial"/>
              </a:rPr>
              <a:t>Scale at known times</a:t>
            </a:r>
          </a:p>
        </p:txBody>
      </p:sp>
      <p:sp>
        <p:nvSpPr>
          <p:cNvPr id="29" name="Rectangle 28"/>
          <p:cNvSpPr/>
          <p:nvPr/>
        </p:nvSpPr>
        <p:spPr>
          <a:xfrm>
            <a:off x="7795990" y="393192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5718" y="393192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Predictable traffic patterns</a:t>
            </a:r>
          </a:p>
        </p:txBody>
      </p:sp>
      <p:sp>
        <p:nvSpPr>
          <p:cNvPr id="31" name="Rectangle 30"/>
          <p:cNvSpPr/>
          <p:nvPr/>
        </p:nvSpPr>
        <p:spPr>
          <a:xfrm>
            <a:off x="777240"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75488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Predictive</a:t>
            </a:r>
          </a:p>
        </p:txBody>
      </p:sp>
      <p:sp>
        <p:nvSpPr>
          <p:cNvPr id="33" name="Rectangle 32"/>
          <p:cNvSpPr/>
          <p:nvPr/>
        </p:nvSpPr>
        <p:spPr>
          <a:xfrm>
            <a:off x="3116823" y="4754880"/>
            <a:ext cx="4679167"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26551" y="4754880"/>
            <a:ext cx="4496287" cy="822960"/>
          </a:xfrm>
          <a:prstGeom prst="rect">
            <a:avLst/>
          </a:prstGeom>
          <a:noFill/>
        </p:spPr>
        <p:txBody>
          <a:bodyPr wrap="square" anchor="ctr">
            <a:spAutoFit/>
          </a:bodyPr>
          <a:lstStyle/>
          <a:p>
            <a:pPr algn="ctr">
              <a:spcAft>
                <a:spcPts val="400"/>
              </a:spcAft>
            </a:pPr>
            <a:r>
              <a:rPr sz="1250" b="0">
                <a:solidFill>
                  <a:srgbClr val="5B6372"/>
                </a:solidFill>
                <a:latin typeface="Arial"/>
              </a:rPr>
              <a:t>ML forecasts demand ahead of time</a:t>
            </a:r>
          </a:p>
        </p:txBody>
      </p:sp>
      <p:sp>
        <p:nvSpPr>
          <p:cNvPr id="35" name="Rectangle 34"/>
          <p:cNvSpPr/>
          <p:nvPr/>
        </p:nvSpPr>
        <p:spPr>
          <a:xfrm>
            <a:off x="7795990" y="475488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05718" y="475488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Recurring cyclical load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transition xmlns:p14="http://schemas.microsoft.com/office/powerpoint/2010/main" p14:dur="380">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DISTRIBUTING TRAFFIC</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Elastic Load Balancer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3007461" cy="502920"/>
          </a:xfrm>
          <a:prstGeom prst="rect">
            <a:avLst/>
          </a:prstGeom>
          <a:noFill/>
        </p:spPr>
        <p:txBody>
          <a:bodyPr wrap="square" anchor="ctr">
            <a:spAutoFit/>
          </a:bodyPr>
          <a:lstStyle/>
          <a:p>
            <a:pPr algn="l">
              <a:spcAft>
                <a:spcPts val="400"/>
              </a:spcAft>
            </a:pPr>
            <a:r>
              <a:rPr sz="1400" b="1">
                <a:solidFill>
                  <a:srgbClr val="FFFFFF"/>
                </a:solidFill>
                <a:latin typeface="Arial"/>
              </a:rPr>
              <a:t>Type</a:t>
            </a:r>
          </a:p>
        </p:txBody>
      </p:sp>
      <p:sp>
        <p:nvSpPr>
          <p:cNvPr id="9" name="Rectangle 8"/>
          <p:cNvSpPr/>
          <p:nvPr/>
        </p:nvSpPr>
        <p:spPr>
          <a:xfrm>
            <a:off x="3967581" y="1783080"/>
            <a:ext cx="2977652"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77309" y="1783080"/>
            <a:ext cx="2794772" cy="502920"/>
          </a:xfrm>
          <a:prstGeom prst="rect">
            <a:avLst/>
          </a:prstGeom>
          <a:noFill/>
        </p:spPr>
        <p:txBody>
          <a:bodyPr wrap="square" anchor="ctr">
            <a:spAutoFit/>
          </a:bodyPr>
          <a:lstStyle/>
          <a:p>
            <a:pPr algn="ctr">
              <a:spcAft>
                <a:spcPts val="400"/>
              </a:spcAft>
            </a:pPr>
            <a:r>
              <a:rPr sz="1400" b="1">
                <a:solidFill>
                  <a:srgbClr val="FFFFFF"/>
                </a:solidFill>
                <a:latin typeface="Arial"/>
              </a:rPr>
              <a:t>Layer</a:t>
            </a:r>
          </a:p>
        </p:txBody>
      </p:sp>
      <p:sp>
        <p:nvSpPr>
          <p:cNvPr id="11" name="Rectangle 10"/>
          <p:cNvSpPr/>
          <p:nvPr/>
        </p:nvSpPr>
        <p:spPr>
          <a:xfrm>
            <a:off x="6945233" y="1783080"/>
            <a:ext cx="4466478"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54961" y="1783080"/>
            <a:ext cx="4283598" cy="502920"/>
          </a:xfrm>
          <a:prstGeom prst="rect">
            <a:avLst/>
          </a:prstGeom>
          <a:noFill/>
        </p:spPr>
        <p:txBody>
          <a:bodyPr wrap="square" anchor="ctr">
            <a:spAutoFit/>
          </a:bodyPr>
          <a:lstStyle/>
          <a:p>
            <a:pPr algn="ctr">
              <a:spcAft>
                <a:spcPts val="400"/>
              </a:spcAft>
            </a:pPr>
            <a:r>
              <a:rPr sz="1400" b="1">
                <a:solidFill>
                  <a:srgbClr val="FFFFFF"/>
                </a:solidFill>
                <a:latin typeface="Arial"/>
              </a:rPr>
              <a:t>Best for</a:t>
            </a:r>
          </a:p>
        </p:txBody>
      </p:sp>
      <p:sp>
        <p:nvSpPr>
          <p:cNvPr id="13" name="Rectangle 12"/>
          <p:cNvSpPr/>
          <p:nvPr/>
        </p:nvSpPr>
        <p:spPr>
          <a:xfrm>
            <a:off x="777240" y="2286000"/>
            <a:ext cx="3190341"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3007461" cy="822960"/>
          </a:xfrm>
          <a:prstGeom prst="rect">
            <a:avLst/>
          </a:prstGeom>
          <a:noFill/>
        </p:spPr>
        <p:txBody>
          <a:bodyPr wrap="square" anchor="ctr">
            <a:spAutoFit/>
          </a:bodyPr>
          <a:lstStyle/>
          <a:p>
            <a:pPr algn="l">
              <a:spcAft>
                <a:spcPts val="400"/>
              </a:spcAft>
            </a:pPr>
            <a:r>
              <a:rPr sz="1250" b="1">
                <a:solidFill>
                  <a:srgbClr val="161B26"/>
                </a:solidFill>
                <a:latin typeface="Arial"/>
              </a:rPr>
              <a:t>Application LB (ALB)</a:t>
            </a:r>
          </a:p>
        </p:txBody>
      </p:sp>
      <p:sp>
        <p:nvSpPr>
          <p:cNvPr id="15" name="Rectangle 14"/>
          <p:cNvSpPr/>
          <p:nvPr/>
        </p:nvSpPr>
        <p:spPr>
          <a:xfrm>
            <a:off x="3967581" y="228600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77309" y="228600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HTTP/HTTPS (L7)</a:t>
            </a:r>
          </a:p>
        </p:txBody>
      </p:sp>
      <p:sp>
        <p:nvSpPr>
          <p:cNvPr id="17" name="Rectangle 16"/>
          <p:cNvSpPr/>
          <p:nvPr/>
        </p:nvSpPr>
        <p:spPr>
          <a:xfrm>
            <a:off x="6945233" y="2286000"/>
            <a:ext cx="446647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54961" y="2286000"/>
            <a:ext cx="4283598" cy="822960"/>
          </a:xfrm>
          <a:prstGeom prst="rect">
            <a:avLst/>
          </a:prstGeom>
          <a:noFill/>
        </p:spPr>
        <p:txBody>
          <a:bodyPr wrap="square" anchor="ctr">
            <a:spAutoFit/>
          </a:bodyPr>
          <a:lstStyle/>
          <a:p>
            <a:pPr algn="ctr">
              <a:spcAft>
                <a:spcPts val="400"/>
              </a:spcAft>
            </a:pPr>
            <a:r>
              <a:rPr sz="1250" b="0">
                <a:solidFill>
                  <a:srgbClr val="5B6372"/>
                </a:solidFill>
                <a:latin typeface="Arial"/>
              </a:rPr>
              <a:t>Web apps, path/host routing</a:t>
            </a:r>
          </a:p>
        </p:txBody>
      </p:sp>
      <p:sp>
        <p:nvSpPr>
          <p:cNvPr id="19" name="Rectangle 18"/>
          <p:cNvSpPr/>
          <p:nvPr/>
        </p:nvSpPr>
        <p:spPr>
          <a:xfrm>
            <a:off x="777240" y="3108960"/>
            <a:ext cx="3190341"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3007461" cy="822960"/>
          </a:xfrm>
          <a:prstGeom prst="rect">
            <a:avLst/>
          </a:prstGeom>
          <a:noFill/>
        </p:spPr>
        <p:txBody>
          <a:bodyPr wrap="square" anchor="ctr">
            <a:spAutoFit/>
          </a:bodyPr>
          <a:lstStyle/>
          <a:p>
            <a:pPr algn="l">
              <a:spcAft>
                <a:spcPts val="400"/>
              </a:spcAft>
            </a:pPr>
            <a:r>
              <a:rPr sz="1250" b="1">
                <a:solidFill>
                  <a:srgbClr val="161B26"/>
                </a:solidFill>
                <a:latin typeface="Arial"/>
              </a:rPr>
              <a:t>Network LB (NLB)</a:t>
            </a:r>
          </a:p>
        </p:txBody>
      </p:sp>
      <p:sp>
        <p:nvSpPr>
          <p:cNvPr id="21" name="Rectangle 20"/>
          <p:cNvSpPr/>
          <p:nvPr/>
        </p:nvSpPr>
        <p:spPr>
          <a:xfrm>
            <a:off x="3967581" y="3108960"/>
            <a:ext cx="297765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77309" y="310896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TCP/UDP (L4)</a:t>
            </a:r>
          </a:p>
        </p:txBody>
      </p:sp>
      <p:sp>
        <p:nvSpPr>
          <p:cNvPr id="23" name="Rectangle 22"/>
          <p:cNvSpPr/>
          <p:nvPr/>
        </p:nvSpPr>
        <p:spPr>
          <a:xfrm>
            <a:off x="6945233" y="3108960"/>
            <a:ext cx="446647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54961" y="3108960"/>
            <a:ext cx="4283598" cy="822960"/>
          </a:xfrm>
          <a:prstGeom prst="rect">
            <a:avLst/>
          </a:prstGeom>
          <a:noFill/>
        </p:spPr>
        <p:txBody>
          <a:bodyPr wrap="square" anchor="ctr">
            <a:spAutoFit/>
          </a:bodyPr>
          <a:lstStyle/>
          <a:p>
            <a:pPr algn="ctr">
              <a:spcAft>
                <a:spcPts val="400"/>
              </a:spcAft>
            </a:pPr>
            <a:r>
              <a:rPr sz="1250" b="0">
                <a:solidFill>
                  <a:srgbClr val="5B6372"/>
                </a:solidFill>
                <a:latin typeface="Arial"/>
              </a:rPr>
              <a:t>Ultra-low latency, static IP</a:t>
            </a:r>
          </a:p>
        </p:txBody>
      </p:sp>
      <p:sp>
        <p:nvSpPr>
          <p:cNvPr id="25" name="Rectangle 24"/>
          <p:cNvSpPr/>
          <p:nvPr/>
        </p:nvSpPr>
        <p:spPr>
          <a:xfrm>
            <a:off x="777240" y="3931920"/>
            <a:ext cx="3190341"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3007461" cy="822960"/>
          </a:xfrm>
          <a:prstGeom prst="rect">
            <a:avLst/>
          </a:prstGeom>
          <a:noFill/>
        </p:spPr>
        <p:txBody>
          <a:bodyPr wrap="square" anchor="ctr">
            <a:spAutoFit/>
          </a:bodyPr>
          <a:lstStyle/>
          <a:p>
            <a:pPr algn="l">
              <a:spcAft>
                <a:spcPts val="400"/>
              </a:spcAft>
            </a:pPr>
            <a:r>
              <a:rPr sz="1250" b="1">
                <a:solidFill>
                  <a:srgbClr val="161B26"/>
                </a:solidFill>
                <a:latin typeface="Arial"/>
              </a:rPr>
              <a:t>Gateway LB (GWLB)</a:t>
            </a:r>
          </a:p>
        </p:txBody>
      </p:sp>
      <p:sp>
        <p:nvSpPr>
          <p:cNvPr id="27" name="Rectangle 26"/>
          <p:cNvSpPr/>
          <p:nvPr/>
        </p:nvSpPr>
        <p:spPr>
          <a:xfrm>
            <a:off x="3967581" y="393192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77309" y="393192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L3 gateway</a:t>
            </a:r>
          </a:p>
        </p:txBody>
      </p:sp>
      <p:sp>
        <p:nvSpPr>
          <p:cNvPr id="29" name="Rectangle 28"/>
          <p:cNvSpPr/>
          <p:nvPr/>
        </p:nvSpPr>
        <p:spPr>
          <a:xfrm>
            <a:off x="6945233" y="3931920"/>
            <a:ext cx="446647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54961" y="3931920"/>
            <a:ext cx="4283598" cy="822960"/>
          </a:xfrm>
          <a:prstGeom prst="rect">
            <a:avLst/>
          </a:prstGeom>
          <a:noFill/>
        </p:spPr>
        <p:txBody>
          <a:bodyPr wrap="square" anchor="ctr">
            <a:spAutoFit/>
          </a:bodyPr>
          <a:lstStyle/>
          <a:p>
            <a:pPr algn="ctr">
              <a:spcAft>
                <a:spcPts val="400"/>
              </a:spcAft>
            </a:pPr>
            <a:r>
              <a:rPr sz="1250" b="0">
                <a:solidFill>
                  <a:srgbClr val="5B6372"/>
                </a:solidFill>
                <a:latin typeface="Arial"/>
              </a:rPr>
              <a:t>Inline security appliances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transition xmlns:p14="http://schemas.microsoft.com/office/powerpoint/2010/main" p14:dur="380">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DURABILITY &amp; RECOVERY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Protecting Your Data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Multi-AZ RDS</a:t>
            </a:r>
          </a:p>
          <a:p>
            <a:pPr algn="l">
              <a:spcAft>
                <a:spcPts val="300"/>
              </a:spcAft>
            </a:pPr>
            <a:r>
              <a:rPr sz="1200" b="0">
                <a:solidFill>
                  <a:srgbClr val="5B6372"/>
                </a:solidFill>
                <a:latin typeface="Arial"/>
              </a:rPr>
              <a:t>Synchronous standby with automatic failover.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DynamoDB global tables</a:t>
            </a:r>
          </a:p>
          <a:p>
            <a:pPr algn="l">
              <a:spcAft>
                <a:spcPts val="300"/>
              </a:spcAft>
            </a:pPr>
            <a:r>
              <a:rPr sz="1200" b="0">
                <a:solidFill>
                  <a:srgbClr val="5B6372"/>
                </a:solidFill>
                <a:latin typeface="Arial"/>
              </a:rPr>
              <a:t>Multi-Region, active-active replication.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S3 cross-Region replication</a:t>
            </a:r>
          </a:p>
          <a:p>
            <a:pPr algn="l">
              <a:spcAft>
                <a:spcPts val="300"/>
              </a:spcAft>
            </a:pPr>
            <a:r>
              <a:rPr sz="1200" b="0">
                <a:solidFill>
                  <a:srgbClr val="5B6372"/>
                </a:solidFill>
                <a:latin typeface="Arial"/>
              </a:rPr>
              <a:t>Durable object copies in another Region.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Automated snapshots</a:t>
            </a:r>
          </a:p>
          <a:p>
            <a:pPr algn="l">
              <a:spcAft>
                <a:spcPts val="300"/>
              </a:spcAft>
            </a:pPr>
            <a:r>
              <a:rPr sz="1200" b="0">
                <a:solidFill>
                  <a:srgbClr val="5B6372"/>
                </a:solidFill>
                <a:latin typeface="Arial"/>
              </a:rPr>
              <a:t>Point-in-time recovery for RDS/EBS.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transition xmlns:p14="http://schemas.microsoft.com/office/powerpoint/2010/main" p14:dur="380">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High availability across Availability Zones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Availability Zones are physically isolated data centres within a Region with independent power, cooling and networking.</a:t>
            </a:r>
          </a:p>
          <a:p>
            <a:pPr>
              <a:spcAft>
                <a:spcPts val="800"/>
              </a:spcAft>
            </a:pPr>
            <a:r>
              <a:rPr sz="1350" b="0">
                <a:solidFill>
                  <a:srgbClr val="161B26"/>
                </a:solidFill>
                <a:latin typeface="Arial"/>
              </a:rPr>
              <a:t>•  Spreading compute across at least two AZs behind an Elastic Load Balancer lets the system survive a full AZ failure.</a:t>
            </a:r>
          </a:p>
          <a:p>
            <a:pPr>
              <a:spcAft>
                <a:spcPts val="800"/>
              </a:spcAft>
            </a:pPr>
            <a:r>
              <a:rPr sz="1350" b="0">
                <a:solidFill>
                  <a:srgbClr val="161B26"/>
                </a:solidFill>
                <a:latin typeface="Arial"/>
              </a:rPr>
              <a:t>•  Stateless application tiers make AZ-level redundancy trivial — any instance can serve any request.</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Multi-AZ is the cheapest, highest-leverage resilience decision — most real outages are single-AZ or single-instance, both survivable.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single-AZ deployment, or a stateful session pinned to one instance, turns a routine hardware failure into a customer-visible outage.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Cross-AZ traffic incurs latency and data-transfer cost — a fair price for surviving an AZ loss.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transition xmlns:p14="http://schemas.microsoft.com/office/powerpoint/2010/main" p14:dur="380">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Elasticity and Auto Scaling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Auto Scaling groups add and remove instances to match demand and replace unhealthy ones automatically.</a:t>
            </a:r>
          </a:p>
          <a:p>
            <a:pPr>
              <a:spcAft>
                <a:spcPts val="800"/>
              </a:spcAft>
            </a:pPr>
            <a:r>
              <a:rPr sz="1350" b="0">
                <a:solidFill>
                  <a:srgbClr val="161B26"/>
                </a:solidFill>
                <a:latin typeface="Arial"/>
              </a:rPr>
              <a:t>•  Target tracking holds a metric (e.g. 50% CPU) at target; step and scheduled policies handle spikes and known patterns; predictive scaling forecasts demand.</a:t>
            </a:r>
          </a:p>
          <a:p>
            <a:pPr>
              <a:spcAft>
                <a:spcPts val="800"/>
              </a:spcAft>
            </a:pPr>
            <a:r>
              <a:rPr sz="1350" b="0">
                <a:solidFill>
                  <a:srgbClr val="161B26"/>
                </a:solidFill>
                <a:latin typeface="Arial"/>
              </a:rPr>
              <a:t>•  Health checks (EC2 and ELB) let the group cull and replace bad instances without human action.</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Elasticity matches cost to demand and provides self-healing — a terminated instance is silently replaced.</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Scaling on the wrong metric (CPU for an I/O-bound app) leaves you slow under load and over-provisioned when idle.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Aggressive scaling reacts fast but can thrash — tune cooldowns and warm-up so the group settles.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transition xmlns:p14="http://schemas.microsoft.com/office/powerpoint/2010/main" p14:dur="380">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Load balancer types and when to use them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Application Load Balancer routes HTTP/HTTPS with host/path rules and works well with containers and Lambda targets.</a:t>
            </a:r>
          </a:p>
          <a:p>
            <a:pPr>
              <a:spcAft>
                <a:spcPts val="800"/>
              </a:spcAft>
            </a:pPr>
            <a:r>
              <a:rPr sz="1350" b="0">
                <a:solidFill>
                  <a:srgbClr val="161B26"/>
                </a:solidFill>
                <a:latin typeface="Arial"/>
              </a:rPr>
              <a:t>•  Network Load Balancer handles TCP/UDP at ultra-low latency with static IPs.</a:t>
            </a:r>
          </a:p>
          <a:p>
            <a:pPr>
              <a:spcAft>
                <a:spcPts val="800"/>
              </a:spcAft>
            </a:pPr>
            <a:r>
              <a:rPr sz="1350" b="0">
                <a:solidFill>
                  <a:srgbClr val="161B26"/>
                </a:solidFill>
                <a:latin typeface="Arial"/>
              </a:rPr>
              <a:t>•  Gateway Load Balancer inserts inline security appliances transparently.</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Choosing the right layer-7 or layer-4 balancer shapes routing, TLS termination, latency and cost.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Forcing an L7 ALB where you need raw TCP throughput or a static IP adds latency and misses the requirement.</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ALB gives rich routing at higher per-request processing; NLB gives raw speed with fewer features.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transition xmlns:p14="http://schemas.microsoft.com/office/powerpoint/2010/main" p14:dur="380">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Decoupling with queues, topics and events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SQS buffers work between producers and consumers so a slow or failed consumer doesn't drop requests.</a:t>
            </a:r>
          </a:p>
          <a:p>
            <a:pPr>
              <a:spcAft>
                <a:spcPts val="800"/>
              </a:spcAft>
            </a:pPr>
            <a:r>
              <a:rPr sz="1350" b="0">
                <a:solidFill>
                  <a:srgbClr val="161B26"/>
                </a:solidFill>
                <a:latin typeface="Arial"/>
              </a:rPr>
              <a:t>•  SNS fans a message out to many subscribers; EventBridge routes events by content to many targets.</a:t>
            </a:r>
          </a:p>
          <a:p>
            <a:pPr>
              <a:spcAft>
                <a:spcPts val="800"/>
              </a:spcAft>
            </a:pPr>
            <a:r>
              <a:rPr sz="1350" b="0">
                <a:solidFill>
                  <a:srgbClr val="161B26"/>
                </a:solidFill>
                <a:latin typeface="Arial"/>
              </a:rPr>
              <a:t>•  Decoupled components fail and scale independently and absorb spikes as backlog rather than errors.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Loose coupling converts synchronous, cascading failures into asynchronous backlogs the system can recover from.</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synchronous call chain means one slow downstream service ties up threads and cascades into a full outage.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Asynchronous designs add eventual-consistency and idempotency concerns — consumers must handle duplicates and out-of-order delivery.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transition xmlns:p14="http://schemas.microsoft.com/office/powerpoint/2010/main" p14:dur="380">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RTO and RPO drive the DR pattern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Recovery Time Objective is how quickly you must restore service; Recovery Point Objective is how much data you can afford to lose.</a:t>
            </a:r>
          </a:p>
          <a:p>
            <a:pPr>
              <a:spcAft>
                <a:spcPts val="800"/>
              </a:spcAft>
            </a:pPr>
            <a:r>
              <a:rPr sz="1350" b="0">
                <a:solidFill>
                  <a:srgbClr val="161B26"/>
                </a:solidFill>
                <a:latin typeface="Arial"/>
              </a:rPr>
              <a:t>•  Backup &amp; restore, pilot light, warm standby and multi-site active/active trade rising cost for falling RTO/RPO.</a:t>
            </a:r>
          </a:p>
          <a:p>
            <a:pPr>
              <a:spcAft>
                <a:spcPts val="800"/>
              </a:spcAft>
            </a:pPr>
            <a:r>
              <a:rPr sz="1350" b="0">
                <a:solidFill>
                  <a:srgbClr val="161B26"/>
                </a:solidFill>
                <a:latin typeface="Arial"/>
              </a:rPr>
              <a:t>•  The right pattern is a business decision priced against the cost of downtime.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Naming RTO/RPO turns 'make it resilient' into a concrete, testable and budgetable design target.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Buying active/active for a back-office app wastes money; choosing backup-and-restore for a payment system risks the business.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Lower RTO/RPO means more running (and paid-for) standby capacity — match spend to the revenue at risk.</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transition xmlns:p14="http://schemas.microsoft.com/office/powerpoint/2010/main" p14:dur="380">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Data durability and multi-Region protection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Multi-AZ RDS keeps a synchronous standby with automatic failover; read replicas add scale and cross-Region copies.</a:t>
            </a:r>
          </a:p>
          <a:p>
            <a:pPr>
              <a:spcAft>
                <a:spcPts val="800"/>
              </a:spcAft>
            </a:pPr>
            <a:r>
              <a:rPr sz="1350" b="0">
                <a:solidFill>
                  <a:srgbClr val="161B26"/>
                </a:solidFill>
                <a:latin typeface="Arial"/>
              </a:rPr>
              <a:t>•  DynamoDB global tables replicate active-active across Regions; S3 offers cross-Region replication and eleven-nines durability.</a:t>
            </a:r>
          </a:p>
          <a:p>
            <a:pPr>
              <a:spcAft>
                <a:spcPts val="800"/>
              </a:spcAft>
            </a:pPr>
            <a:r>
              <a:rPr sz="1350" b="0">
                <a:solidFill>
                  <a:srgbClr val="161B26"/>
                </a:solidFill>
                <a:latin typeface="Arial"/>
              </a:rPr>
              <a:t>•  Automated snapshots and point-in-time recovery protect against data corruption and mistakes.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Compute is replaceable; data is not — durable, recoverable state is the foundation everything else rebuilds on.</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single-AZ database or un-tested backups mean the app tier can be perfectly redundant yet still lose the business's data.</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Synchronous replication protects data but adds write latency; cross-Region copies add cost and lag.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transition xmlns:p14="http://schemas.microsoft.com/office/powerpoint/2010/main" p14:dur="380">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Automated recovery and self-healing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ASG health checks replace failed instances; EC2 auto-recovery restores impaired instances.</a:t>
            </a:r>
          </a:p>
          <a:p>
            <a:pPr>
              <a:spcAft>
                <a:spcPts val="800"/>
              </a:spcAft>
            </a:pPr>
            <a:r>
              <a:rPr sz="1350" b="0">
                <a:solidFill>
                  <a:srgbClr val="161B26"/>
                </a:solidFill>
                <a:latin typeface="Arial"/>
              </a:rPr>
              <a:t>•  Route 53 health checks fail traffic over to a healthy Region or endpoint.</a:t>
            </a:r>
          </a:p>
          <a:p>
            <a:pPr>
              <a:spcAft>
                <a:spcPts val="800"/>
              </a:spcAft>
            </a:pPr>
            <a:r>
              <a:rPr sz="1350" b="0">
                <a:solidFill>
                  <a:srgbClr val="161B26"/>
                </a:solidFill>
                <a:latin typeface="Arial"/>
              </a:rPr>
              <a:t>•  The goal is that routine failures are handled by the system, not by a pager.</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Automating recovery shrinks MTTR toward zero for the common failures and frees humans for the novel ones.</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Manual failover runbooks that are never rehearsed fail exactly when you need them, under incident pressure.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Automated failover must guard against flapping and split-brain — tune thresholds and use health checks carefully.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transition xmlns:p14="http://schemas.microsoft.com/office/powerpoint/2010/main" p14:dur="380">
    <p:fade/>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Designing for graceful degradation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Under stress a resilient system sheds load, serves cached or default responses and protects its core function.</a:t>
            </a:r>
          </a:p>
          <a:p>
            <a:pPr>
              <a:spcAft>
                <a:spcPts val="800"/>
              </a:spcAft>
            </a:pPr>
            <a:r>
              <a:rPr sz="1350" b="0">
                <a:solidFill>
                  <a:srgbClr val="161B26"/>
                </a:solidFill>
                <a:latin typeface="Arial"/>
              </a:rPr>
              <a:t>•  Timeouts, retries with backoff and jitter, and circuit breakers stop failures from amplifying.</a:t>
            </a:r>
          </a:p>
          <a:p>
            <a:pPr>
              <a:spcAft>
                <a:spcPts val="800"/>
              </a:spcAft>
            </a:pPr>
            <a:r>
              <a:rPr sz="1350" b="0">
                <a:solidFill>
                  <a:srgbClr val="161B26"/>
                </a:solidFill>
                <a:latin typeface="Arial"/>
              </a:rPr>
              <a:t>•  Bulkheads isolate resources so one hot tenant or feature can't starve the rest.</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Graceful degradation keeps the most important user journeys working even when parts of the system are unhealthy.</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Unbounded retries during an incident create a retry storm that turns a brownout into a full outage.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Serving degraded responses reduces functionality temporarily to preserve availability — usually the right call.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transition xmlns:p14="http://schemas.microsoft.com/office/powerpoint/2010/main" p14:dur="380">
    <p:fade/>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PRICING RESILIENCE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Disaster Recovery Patterns — Cost vs Recovery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61572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3432840" cy="502920"/>
          </a:xfrm>
          <a:prstGeom prst="rect">
            <a:avLst/>
          </a:prstGeom>
          <a:noFill/>
        </p:spPr>
        <p:txBody>
          <a:bodyPr wrap="square" anchor="ctr">
            <a:spAutoFit/>
          </a:bodyPr>
          <a:lstStyle/>
          <a:p>
            <a:pPr algn="l">
              <a:spcAft>
                <a:spcPts val="400"/>
              </a:spcAft>
            </a:pPr>
            <a:r>
              <a:rPr sz="1400" b="1">
                <a:solidFill>
                  <a:srgbClr val="FFFFFF"/>
                </a:solidFill>
                <a:latin typeface="Arial"/>
              </a:rPr>
              <a:t>Pattern</a:t>
            </a:r>
          </a:p>
        </p:txBody>
      </p:sp>
      <p:sp>
        <p:nvSpPr>
          <p:cNvPr id="9" name="Rectangle 8"/>
          <p:cNvSpPr/>
          <p:nvPr/>
        </p:nvSpPr>
        <p:spPr>
          <a:xfrm>
            <a:off x="4392960" y="1783080"/>
            <a:ext cx="233958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2688" y="1783080"/>
            <a:ext cx="2156703" cy="502920"/>
          </a:xfrm>
          <a:prstGeom prst="rect">
            <a:avLst/>
          </a:prstGeom>
          <a:noFill/>
        </p:spPr>
        <p:txBody>
          <a:bodyPr wrap="square" anchor="ctr">
            <a:spAutoFit/>
          </a:bodyPr>
          <a:lstStyle/>
          <a:p>
            <a:pPr algn="ctr">
              <a:spcAft>
                <a:spcPts val="400"/>
              </a:spcAft>
            </a:pPr>
            <a:r>
              <a:rPr sz="1400" b="1">
                <a:solidFill>
                  <a:srgbClr val="FFFFFF"/>
                </a:solidFill>
                <a:latin typeface="Arial"/>
              </a:rPr>
              <a:t>RTO</a:t>
            </a:r>
          </a:p>
        </p:txBody>
      </p:sp>
      <p:sp>
        <p:nvSpPr>
          <p:cNvPr id="11" name="Rectangle 10"/>
          <p:cNvSpPr/>
          <p:nvPr/>
        </p:nvSpPr>
        <p:spPr>
          <a:xfrm>
            <a:off x="6732543" y="1783080"/>
            <a:ext cx="233958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2271" y="1783080"/>
            <a:ext cx="2156703" cy="502920"/>
          </a:xfrm>
          <a:prstGeom prst="rect">
            <a:avLst/>
          </a:prstGeom>
          <a:noFill/>
        </p:spPr>
        <p:txBody>
          <a:bodyPr wrap="square" anchor="ctr">
            <a:spAutoFit/>
          </a:bodyPr>
          <a:lstStyle/>
          <a:p>
            <a:pPr algn="ctr">
              <a:spcAft>
                <a:spcPts val="400"/>
              </a:spcAft>
            </a:pPr>
            <a:r>
              <a:rPr sz="1400" b="1">
                <a:solidFill>
                  <a:srgbClr val="FFFFFF"/>
                </a:solidFill>
                <a:latin typeface="Arial"/>
              </a:rPr>
              <a:t>RPO</a:t>
            </a:r>
          </a:p>
        </p:txBody>
      </p:sp>
      <p:sp>
        <p:nvSpPr>
          <p:cNvPr id="13" name="Rectangle 12"/>
          <p:cNvSpPr/>
          <p:nvPr/>
        </p:nvSpPr>
        <p:spPr>
          <a:xfrm>
            <a:off x="9072126" y="1783080"/>
            <a:ext cx="233958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1854" y="1783080"/>
            <a:ext cx="2156703" cy="502920"/>
          </a:xfrm>
          <a:prstGeom prst="rect">
            <a:avLst/>
          </a:prstGeom>
          <a:noFill/>
        </p:spPr>
        <p:txBody>
          <a:bodyPr wrap="square" anchor="ctr">
            <a:spAutoFit/>
          </a:bodyPr>
          <a:lstStyle/>
          <a:p>
            <a:pPr algn="ctr">
              <a:spcAft>
                <a:spcPts val="400"/>
              </a:spcAft>
            </a:pPr>
            <a:r>
              <a:rPr sz="1400" b="1">
                <a:solidFill>
                  <a:srgbClr val="FFFFFF"/>
                </a:solidFill>
                <a:latin typeface="Arial"/>
              </a:rPr>
              <a:t>Relative cost</a:t>
            </a:r>
          </a:p>
        </p:txBody>
      </p:sp>
      <p:sp>
        <p:nvSpPr>
          <p:cNvPr id="15" name="Rectangle 14"/>
          <p:cNvSpPr/>
          <p:nvPr/>
        </p:nvSpPr>
        <p:spPr>
          <a:xfrm>
            <a:off x="777240" y="228600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8600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Backup &amp; Restore</a:t>
            </a:r>
          </a:p>
        </p:txBody>
      </p:sp>
      <p:sp>
        <p:nvSpPr>
          <p:cNvPr id="17" name="Rectangle 16"/>
          <p:cNvSpPr/>
          <p:nvPr/>
        </p:nvSpPr>
        <p:spPr>
          <a:xfrm>
            <a:off x="4392960"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2688" y="228600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Hours</a:t>
            </a:r>
          </a:p>
        </p:txBody>
      </p:sp>
      <p:sp>
        <p:nvSpPr>
          <p:cNvPr id="19" name="Rectangle 18"/>
          <p:cNvSpPr/>
          <p:nvPr/>
        </p:nvSpPr>
        <p:spPr>
          <a:xfrm>
            <a:off x="6732543"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42271" y="228600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Hours</a:t>
            </a:r>
          </a:p>
        </p:txBody>
      </p:sp>
      <p:sp>
        <p:nvSpPr>
          <p:cNvPr id="21" name="Rectangle 20"/>
          <p:cNvSpPr/>
          <p:nvPr/>
        </p:nvSpPr>
        <p:spPr>
          <a:xfrm>
            <a:off x="9072126"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1854" y="228600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23" name="Rectangle 22"/>
          <p:cNvSpPr/>
          <p:nvPr/>
        </p:nvSpPr>
        <p:spPr>
          <a:xfrm>
            <a:off x="777240" y="310896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0896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Pilot Light</a:t>
            </a:r>
          </a:p>
        </p:txBody>
      </p:sp>
      <p:sp>
        <p:nvSpPr>
          <p:cNvPr id="25" name="Rectangle 24"/>
          <p:cNvSpPr/>
          <p:nvPr/>
        </p:nvSpPr>
        <p:spPr>
          <a:xfrm>
            <a:off x="4392960"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02688" y="310896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Tens of minutes</a:t>
            </a:r>
          </a:p>
        </p:txBody>
      </p:sp>
      <p:sp>
        <p:nvSpPr>
          <p:cNvPr id="27" name="Rectangle 26"/>
          <p:cNvSpPr/>
          <p:nvPr/>
        </p:nvSpPr>
        <p:spPr>
          <a:xfrm>
            <a:off x="6732543"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42271" y="310896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Minutes</a:t>
            </a:r>
          </a:p>
        </p:txBody>
      </p:sp>
      <p:sp>
        <p:nvSpPr>
          <p:cNvPr id="29" name="Rectangle 28"/>
          <p:cNvSpPr/>
          <p:nvPr/>
        </p:nvSpPr>
        <p:spPr>
          <a:xfrm>
            <a:off x="9072126"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1854" y="310896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31" name="Rectangle 30"/>
          <p:cNvSpPr/>
          <p:nvPr/>
        </p:nvSpPr>
        <p:spPr>
          <a:xfrm>
            <a:off x="777240" y="393192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93192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Warm Standby</a:t>
            </a:r>
          </a:p>
        </p:txBody>
      </p:sp>
      <p:sp>
        <p:nvSpPr>
          <p:cNvPr id="33" name="Rectangle 32"/>
          <p:cNvSpPr/>
          <p:nvPr/>
        </p:nvSpPr>
        <p:spPr>
          <a:xfrm>
            <a:off x="4392960"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02688" y="393192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Minutes</a:t>
            </a:r>
          </a:p>
        </p:txBody>
      </p:sp>
      <p:sp>
        <p:nvSpPr>
          <p:cNvPr id="35" name="Rectangle 34"/>
          <p:cNvSpPr/>
          <p:nvPr/>
        </p:nvSpPr>
        <p:spPr>
          <a:xfrm>
            <a:off x="6732543"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42271" y="393192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Seconds</a:t>
            </a:r>
          </a:p>
        </p:txBody>
      </p:sp>
      <p:sp>
        <p:nvSpPr>
          <p:cNvPr id="37" name="Rectangle 36"/>
          <p:cNvSpPr/>
          <p:nvPr/>
        </p:nvSpPr>
        <p:spPr>
          <a:xfrm>
            <a:off x="9072126"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1854" y="393192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39" name="Rectangle 38"/>
          <p:cNvSpPr/>
          <p:nvPr/>
        </p:nvSpPr>
        <p:spPr>
          <a:xfrm>
            <a:off x="777240" y="475488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75488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Multi-site Active/Active</a:t>
            </a:r>
          </a:p>
        </p:txBody>
      </p:sp>
      <p:sp>
        <p:nvSpPr>
          <p:cNvPr id="41" name="Rectangle 40"/>
          <p:cNvSpPr/>
          <p:nvPr/>
        </p:nvSpPr>
        <p:spPr>
          <a:xfrm>
            <a:off x="4392960"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02688" y="475488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Near-zero</a:t>
            </a:r>
          </a:p>
        </p:txBody>
      </p:sp>
      <p:sp>
        <p:nvSpPr>
          <p:cNvPr id="43" name="Rectangle 42"/>
          <p:cNvSpPr/>
          <p:nvPr/>
        </p:nvSpPr>
        <p:spPr>
          <a:xfrm>
            <a:off x="6732543"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42271" y="475488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Near-zero</a:t>
            </a:r>
          </a:p>
        </p:txBody>
      </p:sp>
      <p:sp>
        <p:nvSpPr>
          <p:cNvPr id="45" name="Rectangle 44"/>
          <p:cNvSpPr/>
          <p:nvPr/>
        </p:nvSpPr>
        <p:spPr>
          <a:xfrm>
            <a:off x="9072126"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81854" y="475488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transition xmlns:p14="http://schemas.microsoft.com/office/powerpoint/2010/main" p14:dur="380">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WHY MULTI-AZ</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Availability Math — Adding a Second AZ</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Most availability gain comes from the first jump to multi-AZ; multi-Region adds resilience against rare Region events at much higher cost.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transition xmlns:p14="http://schemas.microsoft.com/office/powerpoint/2010/main" p14:dur="380">
    <p:fade/>
  </p:transition>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ELASTICITY IN ACTION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 Scaling Under a Load Spike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Target tracking follows demand up and back down, so capacity tracks load — you pay for peak only while the peak lasts.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transition xmlns:p14="http://schemas.microsoft.com/office/powerpoint/2010/main" p14:dur="380">
    <p:fade/>
  </p:transition>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'HA' SYSTEMS STILL FALL OVER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Resilience Failure Modes &amp; Anti-Patterns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Single-AZ database</a:t>
            </a:r>
          </a:p>
          <a:p>
            <a:pPr algn="l">
              <a:spcAft>
                <a:spcPts val="300"/>
              </a:spcAft>
            </a:pPr>
            <a:r>
              <a:rPr sz="1100" b="0">
                <a:solidFill>
                  <a:srgbClr val="5B6372"/>
                </a:solidFill>
                <a:latin typeface="Arial"/>
              </a:rPr>
              <a:t>App tier redundant, data tier isn't → Multi-AZ RDS / global tables.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Sticky in-memory sessions</a:t>
            </a:r>
          </a:p>
          <a:p>
            <a:pPr algn="l">
              <a:spcAft>
                <a:spcPts val="300"/>
              </a:spcAft>
            </a:pPr>
            <a:r>
              <a:rPr sz="1100" b="0">
                <a:solidFill>
                  <a:srgbClr val="5B6372"/>
                </a:solidFill>
                <a:latin typeface="Arial"/>
              </a:rPr>
              <a:t>One instance loss logs everyone out → externalise session state.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Retry storms</a:t>
            </a:r>
          </a:p>
          <a:p>
            <a:pPr algn="l">
              <a:spcAft>
                <a:spcPts val="300"/>
              </a:spcAft>
            </a:pPr>
            <a:r>
              <a:rPr sz="1100" b="0">
                <a:solidFill>
                  <a:srgbClr val="5B6372"/>
                </a:solidFill>
                <a:latin typeface="Arial"/>
              </a:rPr>
              <a:t>Unbounded retries amplify an outage → backoff + jitter + circuit breakers.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Untested failover</a:t>
            </a:r>
          </a:p>
          <a:p>
            <a:pPr algn="l">
              <a:spcAft>
                <a:spcPts val="300"/>
              </a:spcAft>
            </a:pPr>
            <a:r>
              <a:rPr sz="1100" b="0">
                <a:solidFill>
                  <a:srgbClr val="5B6372"/>
                </a:solidFill>
                <a:latin typeface="Arial"/>
              </a:rPr>
              <a:t>Runbook fails under pressure → game-days and automated failover.</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Scaling on wrong metric</a:t>
            </a:r>
          </a:p>
          <a:p>
            <a:pPr algn="l">
              <a:spcAft>
                <a:spcPts val="300"/>
              </a:spcAft>
            </a:pPr>
            <a:r>
              <a:rPr sz="1100" b="0">
                <a:solidFill>
                  <a:srgbClr val="5B6372"/>
                </a:solidFill>
                <a:latin typeface="Arial"/>
              </a:rPr>
              <a:t>Slow under load, wasteful when idle → scale on the true constraint.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No health-check depth</a:t>
            </a:r>
          </a:p>
          <a:p>
            <a:pPr algn="l">
              <a:spcAft>
                <a:spcPts val="300"/>
              </a:spcAft>
            </a:pPr>
            <a:r>
              <a:rPr sz="1100" b="0">
                <a:solidFill>
                  <a:srgbClr val="5B6372"/>
                </a:solidFill>
                <a:latin typeface="Arial"/>
              </a:rPr>
              <a:t>LB routes to a process that's up but broken → deep health checks.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transition xmlns:p14="http://schemas.microsoft.com/office/powerpoint/2010/main" p14:dur="380">
    <p:fade/>
  </p:transition>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PROVEN PRACTICES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Resilience Patterns Worth Adopting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Multi-AZ by default</a:t>
            </a:r>
          </a:p>
          <a:p>
            <a:pPr algn="l">
              <a:spcAft>
                <a:spcPts val="300"/>
              </a:spcAft>
            </a:pPr>
            <a:r>
              <a:rPr sz="1100" b="0">
                <a:solidFill>
                  <a:srgbClr val="5B6372"/>
                </a:solidFill>
                <a:latin typeface="Arial"/>
              </a:rPr>
              <a:t>Never depend on a single Availability Zone.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Stateless tiers</a:t>
            </a:r>
          </a:p>
          <a:p>
            <a:pPr algn="l">
              <a:spcAft>
                <a:spcPts val="300"/>
              </a:spcAft>
            </a:pPr>
            <a:r>
              <a:rPr sz="1100" b="0">
                <a:solidFill>
                  <a:srgbClr val="5B6372"/>
                </a:solidFill>
                <a:latin typeface="Arial"/>
              </a:rPr>
              <a:t>Push state to RDS/DynamoDB/ElastiCache so any instance is disposable.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Backoff with jitter</a:t>
            </a:r>
          </a:p>
          <a:p>
            <a:pPr algn="l">
              <a:spcAft>
                <a:spcPts val="300"/>
              </a:spcAft>
            </a:pPr>
            <a:r>
              <a:rPr sz="1100" b="0">
                <a:solidFill>
                  <a:srgbClr val="5B6372"/>
                </a:solidFill>
                <a:latin typeface="Arial"/>
              </a:rPr>
              <a:t>Spread retries to avoid synchronised load.</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Circuit breaker</a:t>
            </a:r>
          </a:p>
          <a:p>
            <a:pPr algn="l">
              <a:spcAft>
                <a:spcPts val="300"/>
              </a:spcAft>
            </a:pPr>
            <a:r>
              <a:rPr sz="1100" b="0">
                <a:solidFill>
                  <a:srgbClr val="5B6372"/>
                </a:solidFill>
                <a:latin typeface="Arial"/>
              </a:rPr>
              <a:t>Stop calling a failing dependency; fail fast and recover.</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Health-check failover</a:t>
            </a:r>
          </a:p>
          <a:p>
            <a:pPr algn="l">
              <a:spcAft>
                <a:spcPts val="300"/>
              </a:spcAft>
            </a:pPr>
            <a:r>
              <a:rPr sz="1100" b="0">
                <a:solidFill>
                  <a:srgbClr val="5B6372"/>
                </a:solidFill>
                <a:latin typeface="Arial"/>
              </a:rPr>
              <a:t>Route 53 / ELB route around unhealthy targets.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Game-days</a:t>
            </a:r>
          </a:p>
          <a:p>
            <a:pPr algn="l">
              <a:spcAft>
                <a:spcPts val="300"/>
              </a:spcAft>
            </a:pPr>
            <a:r>
              <a:rPr sz="1100" b="0">
                <a:solidFill>
                  <a:srgbClr val="5B6372"/>
                </a:solidFill>
                <a:latin typeface="Arial"/>
              </a:rPr>
              <a:t>Rehearse failure so recovery is routine, not heroic.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transition xmlns:p14="http://schemas.microsoft.com/office/powerpoint/2010/main" p14:dur="380">
    <p:fade/>
  </p:transition>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MATCH SPEND TO RISK</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Architecture Decision — Which DR Pattern?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A</a:t>
            </a:r>
          </a:p>
        </p:txBody>
      </p:sp>
      <p:sp>
        <p:nvSpPr>
          <p:cNvPr id="11" name="TextBox 10"/>
          <p:cNvSpPr txBox="1"/>
          <p:nvPr/>
        </p:nvSpPr>
        <p:spPr>
          <a:xfrm>
            <a:off x="164592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Backup &amp; Restore</a:t>
            </a:r>
          </a:p>
        </p:txBody>
      </p:sp>
      <p:sp>
        <p:nvSpPr>
          <p:cNvPr id="12" name="TextBox 11"/>
          <p:cNvSpPr txBox="1"/>
          <p:nvPr/>
        </p:nvSpPr>
        <p:spPr>
          <a:xfrm>
            <a:off x="103327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Non-critical or easily rebuilt workloads. Cheapest — but recovery takes hours and loses recent data.</a:t>
            </a:r>
          </a:p>
        </p:txBody>
      </p:sp>
      <p:sp>
        <p:nvSpPr>
          <p:cNvPr id="13" name="Rectangle 12"/>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2803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7" name="TextBox 16"/>
          <p:cNvSpPr txBox="1"/>
          <p:nvPr/>
        </p:nvSpPr>
        <p:spPr>
          <a:xfrm>
            <a:off x="544068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Pilot Light / Warm Standby</a:t>
            </a:r>
          </a:p>
        </p:txBody>
      </p:sp>
      <p:sp>
        <p:nvSpPr>
          <p:cNvPr id="18" name="TextBox 17"/>
          <p:cNvSpPr txBox="1"/>
          <p:nvPr/>
        </p:nvSpPr>
        <p:spPr>
          <a:xfrm>
            <a:off x="482803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Important workloads needing minutes-scale recovery. A scaled-down copy runs ready to promote — moderate standing cost.</a:t>
            </a:r>
          </a:p>
        </p:txBody>
      </p:sp>
      <p:sp>
        <p:nvSpPr>
          <p:cNvPr id="19" name="Rectangle 18"/>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2279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C</a:t>
            </a:r>
          </a:p>
        </p:txBody>
      </p:sp>
      <p:sp>
        <p:nvSpPr>
          <p:cNvPr id="23" name="TextBox 22"/>
          <p:cNvSpPr txBox="1"/>
          <p:nvPr/>
        </p:nvSpPr>
        <p:spPr>
          <a:xfrm>
            <a:off x="923544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Multi-site Active/Active</a:t>
            </a:r>
          </a:p>
        </p:txBody>
      </p:sp>
      <p:sp>
        <p:nvSpPr>
          <p:cNvPr id="24" name="TextBox 23"/>
          <p:cNvSpPr txBox="1"/>
          <p:nvPr/>
        </p:nvSpPr>
        <p:spPr>
          <a:xfrm>
            <a:off x="862279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Revenue-critical systems that can't be down. Near-zero RTO/RPO — at roughly double the running cost and real complexity.</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transition xmlns:p14="http://schemas.microsoft.com/office/powerpoint/2010/main" p14:dur="380">
    <p:fade/>
  </p:transition>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DESIGNING FOR AZ LOSS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Surviving an Availability Zone outage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An AZ becomes impaired. Half the fleet is there, and the primary database node runs in it.</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Because compute is stateless behind an ALB across two AZs, the load balancer simply stops routing to the failed AZ.</a:t>
            </a:r>
          </a:p>
          <a:p>
            <a:pPr>
              <a:spcAft>
                <a:spcPts val="700"/>
              </a:spcAft>
            </a:pPr>
            <a:r>
              <a:rPr sz="1300" b="0">
                <a:solidFill>
                  <a:srgbClr val="161B26"/>
                </a:solidFill>
                <a:latin typeface="Arial"/>
              </a:rPr>
              <a:t>•  The Auto Scaling group launches replacement instances in the healthy AZ to restore capacity.</a:t>
            </a:r>
          </a:p>
          <a:p>
            <a:pPr>
              <a:spcAft>
                <a:spcPts val="700"/>
              </a:spcAft>
            </a:pPr>
            <a:r>
              <a:rPr sz="1300" b="0">
                <a:solidFill>
                  <a:srgbClr val="161B26"/>
                </a:solidFill>
                <a:latin typeface="Arial"/>
              </a:rPr>
              <a:t>•  Multi-AZ RDS fails over to the synchronous standby in the other AZ automatically.</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No human action is required for the common case — the design absorbs an AZ loss. Confirm capacity headroom so the healthy AZ can carry full load during the event.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transition xmlns:p14="http://schemas.microsoft.com/office/powerpoint/2010/main" p14:dur="380">
    <p:fade/>
  </p:transition>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ELASTICITY UNDER PRESSURE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A Black-Friday traffic spike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Traffic will rise 6x for a few hours during a sale, then return to normal.</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Fixed capacity sized for the peak wastes money the other 360 days; sized for normal, it falls over during the sale.</a:t>
            </a:r>
          </a:p>
          <a:p>
            <a:pPr>
              <a:spcAft>
                <a:spcPts val="700"/>
              </a:spcAft>
            </a:pPr>
            <a:r>
              <a:rPr sz="1300" b="0">
                <a:solidFill>
                  <a:srgbClr val="161B26"/>
                </a:solidFill>
                <a:latin typeface="Arial"/>
              </a:rPr>
              <a:t>•  Scheduled scaling pre-warms capacity just before the known event; target tracking then follows real demand.</a:t>
            </a:r>
          </a:p>
          <a:p>
            <a:pPr>
              <a:spcAft>
                <a:spcPts val="700"/>
              </a:spcAft>
            </a:pPr>
            <a:r>
              <a:rPr sz="1300" b="0">
                <a:solidFill>
                  <a:srgbClr val="161B26"/>
                </a:solidFill>
                <a:latin typeface="Arial"/>
              </a:rPr>
              <a:t>•  Decoupling checkout with SQS lets bursts queue instead of failing when a downstream service saturates.</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Combine scheduled pre-scaling for the known start time with target-tracking for the actual curve, and buffer spiky writes through a queue so load is absorbed as backlog.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p:transition xmlns:p14="http://schemas.microsoft.com/office/powerpoint/2010/main" p14:dur="380">
    <p:fade/>
  </p:transition>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FROM SLA TO ARCHITECTURE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Worked Analysis — Reading an RTO/RPO Requirement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73152" cy="76581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1028" y="178308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78308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'Restore within 15 minutes' (RTO)</a:t>
            </a:r>
          </a:p>
        </p:txBody>
      </p:sp>
      <p:sp>
        <p:nvSpPr>
          <p:cNvPr id="11" name="TextBox 10"/>
          <p:cNvSpPr txBox="1"/>
          <p:nvPr/>
        </p:nvSpPr>
        <p:spPr>
          <a:xfrm>
            <a:off x="5213908" y="178308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Rules out backup &amp; restore (hours). Warm standby or pilot light needed.</a:t>
            </a:r>
          </a:p>
        </p:txBody>
      </p:sp>
      <p:sp>
        <p:nvSpPr>
          <p:cNvPr id="12" name="Rectangle 11"/>
          <p:cNvSpPr/>
          <p:nvPr/>
        </p:nvSpPr>
        <p:spPr>
          <a:xfrm>
            <a:off x="777240" y="254889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890"/>
            <a:ext cx="73152" cy="76581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31028" y="254889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54889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'Lose at most a few seconds' (RPO)</a:t>
            </a:r>
          </a:p>
        </p:txBody>
      </p:sp>
      <p:sp>
        <p:nvSpPr>
          <p:cNvPr id="16" name="TextBox 15"/>
          <p:cNvSpPr txBox="1"/>
          <p:nvPr/>
        </p:nvSpPr>
        <p:spPr>
          <a:xfrm>
            <a:off x="5213908" y="254889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Requires synchronous or near-real-time replication — Multi-AZ RDS or global tables.</a:t>
            </a:r>
          </a:p>
        </p:txBody>
      </p:sp>
      <p:sp>
        <p:nvSpPr>
          <p:cNvPr id="17" name="Rectangle 16"/>
          <p:cNvSpPr/>
          <p:nvPr/>
        </p:nvSpPr>
        <p:spPr>
          <a:xfrm>
            <a:off x="777240" y="331470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4700"/>
            <a:ext cx="73152" cy="76581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31028" y="331470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31470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'Survive a Region event'</a:t>
            </a:r>
          </a:p>
        </p:txBody>
      </p:sp>
      <p:sp>
        <p:nvSpPr>
          <p:cNvPr id="21" name="TextBox 20"/>
          <p:cNvSpPr txBox="1"/>
          <p:nvPr/>
        </p:nvSpPr>
        <p:spPr>
          <a:xfrm>
            <a:off x="5213908" y="331470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Forces a cross-Region strategy, not just multi-AZ.</a:t>
            </a:r>
          </a:p>
        </p:txBody>
      </p:sp>
      <p:sp>
        <p:nvSpPr>
          <p:cNvPr id="22" name="Rectangle 21"/>
          <p:cNvSpPr/>
          <p:nvPr/>
        </p:nvSpPr>
        <p:spPr>
          <a:xfrm>
            <a:off x="777240" y="408051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0510"/>
            <a:ext cx="73152" cy="76581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1028" y="408051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08051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Budget is limited</a:t>
            </a:r>
          </a:p>
        </p:txBody>
      </p:sp>
      <p:sp>
        <p:nvSpPr>
          <p:cNvPr id="26" name="TextBox 25"/>
          <p:cNvSpPr txBox="1"/>
          <p:nvPr/>
        </p:nvSpPr>
        <p:spPr>
          <a:xfrm>
            <a:off x="5213908" y="408051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Pilot light: minimal always-on footprint, scaled up on failover — a pragmatic middle.</a:t>
            </a:r>
          </a:p>
        </p:txBody>
      </p:sp>
      <p:sp>
        <p:nvSpPr>
          <p:cNvPr id="27" name="Rectangle 26"/>
          <p:cNvSpPr/>
          <p:nvPr/>
        </p:nvSpPr>
        <p:spPr>
          <a:xfrm>
            <a:off x="777240" y="5010912"/>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10912"/>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10235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TAKEAWAY</a:t>
            </a:r>
          </a:p>
        </p:txBody>
      </p:sp>
      <p:sp>
        <p:nvSpPr>
          <p:cNvPr id="30" name="TextBox 29"/>
          <p:cNvSpPr txBox="1"/>
          <p:nvPr/>
        </p:nvSpPr>
        <p:spPr>
          <a:xfrm>
            <a:off x="1033272" y="5394960"/>
            <a:ext cx="10085832" cy="457200"/>
          </a:xfrm>
          <a:prstGeom prst="rect">
            <a:avLst/>
          </a:prstGeom>
          <a:noFill/>
        </p:spPr>
        <p:txBody>
          <a:bodyPr wrap="square" anchor="t">
            <a:spAutoFit/>
          </a:bodyPr>
          <a:lstStyle/>
          <a:p>
            <a:pPr algn="l">
              <a:spcAft>
                <a:spcPts val="400"/>
              </a:spcAft>
            </a:pPr>
            <a:r>
              <a:rPr sz="1300" b="1">
                <a:solidFill>
                  <a:srgbClr val="161B26"/>
                </a:solidFill>
                <a:latin typeface="Arial"/>
              </a:rPr>
              <a:t>Each phrase in the requirement eliminates patterns until one fits — resilience design is requirement-driven, not taste-driven.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p:transition xmlns:p14="http://schemas.microsoft.com/office/powerpoint/2010/main" p14:dur="380">
    <p:fade/>
  </p:transition>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EC2 · AUTO SCALING · ELB · LAMBDA · FARGATE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Compute and elasticity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Match execution model and scaling behaviour to availability, latency, control and operational-effort requirements.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EC2 exposes instance families, purchase models, launch templates and full operating-system control.</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Auto Scaling replaces unhealthy capacity and changes desired capacity from metrics or schedules.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ALB routes HTTP by host/path; NLB provides high-performance Layer 4 routing and static IP options.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p:transition xmlns:p14="http://schemas.microsoft.com/office/powerpoint/2010/main" p14:dur="380">
    <p:fade/>
  </p:transition>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Compute and elasticity: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EC2 for host-level control, Lambda for event-driven short execution, and Fargate when containers are wanted without host management.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Spread across AZs, use health checks and warm-up, scale on a demand-correlated signal and test replacement capacity.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CPU-only scaling can miss queue depth, concurrency, connection or downstream bottlenecks.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Launch-template version, healthy-host count, scaling activity, target latency, saturation and replacement test.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p:transition xmlns:p14="http://schemas.microsoft.com/office/powerpoint/2010/main" p14:dur="380">
    <p:fade/>
  </p:transition>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S3 · EBS · EFS · FSX · AWS BACKUP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Storage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Select durable object, block or shared-file storage with lifecycle and recovery controls matched to the workload.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S3 provides regional object durability, versioning, lifecycle tiers, replication and event notifications.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EBS is AZ-scoped block storage with volume types, snapshots and encryption.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EFS is elastic regional NFS; FSx supplies managed file systems such as Windows, Lustre, NetApp ONTAP and OpenZFS.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p:transition xmlns:p14="http://schemas.microsoft.com/office/powerpoint/2010/main" p14:dur="380">
    <p:fade/>
  </p:transition>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Storage services: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Choose from access protocol, latency/throughput, sharing scope, AZ/Region boundary, retention and recovery objectives.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Encrypt, version, block public access, automate backup/copy, test restore and separate backup administration.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Replication improves availability but can replicate corruption or deletion; it is not automatically a backup.</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Storage class/volume type, encryption key, version/snapshot, replication status, restore test and recovery 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p:transition xmlns:p14="http://schemas.microsoft.com/office/powerpoint/2010/main" p14:dur="380">
    <p:fade/>
  </p:transition>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RDS/AURORA · DYNAMODB · ELASTICACHE · DMS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Databases and data durability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Provide transactional or key-value persistence with availability, scaling and recovery appropriate to data access patterns.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RDS Multi-AZ provides synchronous standby/failover; read replicas primarily scale reads.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Aurora separates compute/storage, supports reader endpoints and Global Database options.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DynamoDB offers partitioned key-value/document storage, on-demand/provisioned capacity, PITR, Streams and global tables.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p:transition xmlns:p14="http://schemas.microsoft.com/office/powerpoint/2010/main" p14:dur="380">
    <p:fade/>
  </p:transition>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Databases and data durability: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Choose relational services for joins/transactions and DynamoDB for known key-access patterns at elastic scale; cache only where stale-data semantics are acceptable.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Enable backups/PITR, test failover/restore, monitor connections/lag/throttling and version schema changes.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Confusing a read replica with a synchronous standby can produce an incorrect recovery design.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Backup/PITR state, replication lag, failover time, throttles, query latency and restore validation.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p:transition xmlns:p14="http://schemas.microsoft.com/office/powerpoint/2010/main" p14:dur="380">
    <p:fade/>
  </p:transition>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VPC · TRANSIT GATEWAY · ROUTE 53 · CLOUDFRONT · GLOBAL ACCELERATOR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Networking and global delivery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Create isolated network boundaries, predictable routing and resilient regional/global traffic paths.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VPC subnets are AZ-scoped; route tables, gateways, security groups and NACLs shape connectivity.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Transit Gateway provides hub-and-spoke routing across VPCs and on-premises connections.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Route 53 uses DNS policies/health checks; CloudFront caches HTTP content; Global Accelerator uses anycast static IPs over the AWS network.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p:transition xmlns:p14="http://schemas.microsoft.com/office/powerpoint/2010/main" p14:dur="380">
    <p:fade/>
  </p:transition>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Networking and global delivery: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Choose DNS routing for endpoint selection, CloudFront for cacheable edge delivery and Global Accelerator for fast failover/static global entry points.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Design CIDRs and routes centrally, use private endpoints where appropriate, test health-check perspective and log network decisions.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healthy load balancer check may not prove dependencies, data freshness or the user transaction is healthy.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Route table, security-group diff, flow log, endpoint policy, DNS answer, edge metric and failover measurement.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p:transition xmlns:p14="http://schemas.microsoft.com/office/powerpoint/2010/main" p14:dur="380">
    <p:fade/>
  </p:transition>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Developer deep dive: EC2, Auto Scaling and Elastic Load Balancing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Build replaceable compute fleets whose capacity, routing and health behavior reflect the actual workload bottleneck.</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EC2 · launch templates · Auto Scaling · ALB/NLB/GWLB</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Scale from backlog per instance, cap maximum capacity from database throughput, warm instances before service and test Spot interruption handling.</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CPU target tracking never reacts to the true bottleneck; immediate termination can abandon in-flight messages.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p:transition xmlns:p14="http://schemas.microsoft.com/office/powerpoint/2010/main" p14:dur="380">
    <p:fade/>
  </p:transition>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EC2, Auto Scaling and Elastic Load Balancing: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Launch templates version AMI, instance type, IAM profile, network and user data; Auto Scaling groups should reference a controlled version rather than an accidental latest value.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Target-tracking, step, predictive and scheduled scaling solve different demand patterns and must account for warm-up and downstream capacity.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ALB routes HTTP/HTTPS using host, path and headers; NLB handles Layer 4 flows and static addresses; GWLB inserts compatible network appliances.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EC2, load-balancer and custom health checks serve different purposes; replacement should use the signal that best represents serviceability.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p:transition xmlns:p14="http://schemas.microsoft.com/office/powerpoint/2010/main" p14:dur="380">
    <p:fade/>
  </p:transition>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CONTROL AND DATA FLOW</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EC2, Auto Scaling and Elastic Load Balancing: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Publish immutable AMI</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Create launch-template version</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Start multi-AZ capacity</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Register healthy targets</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Scale from demand signal</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p:transition xmlns:p14="http://schemas.microsoft.com/office/powerpoint/2010/main" p14:dur="380">
    <p:fade/>
  </p:transition>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EC2, Auto Scaling and Elastic Load Balancing: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PURCHASE</a:t>
            </a:r>
          </a:p>
          <a:p>
            <a:pPr algn="l">
              <a:spcAft>
                <a:spcPts val="300"/>
              </a:spcAft>
            </a:pPr>
            <a:r>
              <a:rPr sz="1050" b="0">
                <a:solidFill>
                  <a:srgbClr val="5B6372"/>
                </a:solidFill>
                <a:latin typeface="Arial"/>
              </a:rPr>
              <a:t>Combine On-Demand, Spot and commitments from interruption tolerance and baseline demand, not from unit price alone.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SCALING METRIC</a:t>
            </a:r>
          </a:p>
          <a:p>
            <a:pPr algn="l">
              <a:spcAft>
                <a:spcPts val="300"/>
              </a:spcAft>
            </a:pPr>
            <a:r>
              <a:rPr sz="1050" b="0">
                <a:solidFill>
                  <a:srgbClr val="5B6372"/>
                </a:solidFill>
                <a:latin typeface="Arial"/>
              </a:rPr>
              <a:t>Use request count, queue depth or concurrency when CPU does not track the true saturation point.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REFRESH</a:t>
            </a:r>
          </a:p>
          <a:p>
            <a:pPr algn="l">
              <a:spcAft>
                <a:spcPts val="300"/>
              </a:spcAft>
            </a:pPr>
            <a:r>
              <a:rPr sz="1050" b="0">
                <a:solidFill>
                  <a:srgbClr val="5B6372"/>
                </a:solidFill>
                <a:latin typeface="Arial"/>
              </a:rPr>
              <a:t>Use instance refresh with checkpoints and minimum healthy percentage for controlled fleet replacement.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CONNECTION HANDLING</a:t>
            </a:r>
          </a:p>
          <a:p>
            <a:pPr algn="l">
              <a:spcAft>
                <a:spcPts val="300"/>
              </a:spcAft>
            </a:pPr>
            <a:r>
              <a:rPr sz="1050" b="0">
                <a:solidFill>
                  <a:srgbClr val="5B6372"/>
                </a:solidFill>
                <a:latin typeface="Arial"/>
              </a:rPr>
              <a:t>Set deregistration delay and application shutdown so in-flight work completes during replacement.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p:transition xmlns:p14="http://schemas.microsoft.com/office/powerpoint/2010/main" p14:dur="380">
    <p:fade/>
  </p:transition>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EC2, Auto Scaling and Elastic Load Balancing: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queue worker fleet has low CPU but an increasing backlog and must recover without overwhelming the database.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Scale from backlog per instance, cap maximum capacity from database throughput, warm instances before service and test Spot interruption handling.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CPU target tracking never reacts to the true bottleneck; immediate termination can abandon in-flight messages.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Launch-template version, healthy targets, scaling activity, backlog age, database saturation and graceful termination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p:transition xmlns:p14="http://schemas.microsoft.com/office/powerpoint/2010/main" p14:dur="380">
    <p:fade/>
  </p:transition>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AWS DEVELOPER SERVICES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Developer deep dive: S3, EBS and shared file storage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Choose object, block or file semantics from access pattern, failure boundary, performance and recovery requirements.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S3 · EBS · EFS · FSx · AWS Backup</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Use regional EFS with mount targets across application AZs, encrypted transit/storage and independent AWS Backup policy with restore testing.</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An EBS volume cannot attach across AZs as shared NFS; replication alone may reproduce deletion or corruption.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p:transition xmlns:p14="http://schemas.microsoft.com/office/powerpoint/2010/main" p14:dur="380">
    <p:fade/>
  </p:transition>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S3, EBS and shared file storage: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S3 stores objects in regional buckets with versioning, lifecycle, replication, event notification and multiple storage classes; consistency does not remove application concurrency concerns.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EBS is AZ-scoped block storage; gp3 separates baseline size from provisioned IOPS/throughput, while io2 targets sustained high IOPS and durability requirements.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EFS provides regional NFS with mount targets and performance/throughput modes; access points isolate application paths and POSIX identities.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FSx families expose workload-specific file protocols and performance, while AWS Backup centralizes policy, vault and copy workflows across supported services.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p:transition xmlns:p14="http://schemas.microsoft.com/office/powerpoint/2010/main" p14:dur="380">
    <p:fade/>
  </p:transition>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CONTROL AND DATA FLOW</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S3, EBS and shared file storage: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Classify protocol and sharing</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Select performance tier</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Encrypt and version</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Automate lifecycle or backup</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Restore and measure RPO/RTO</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p:transition xmlns:p14="http://schemas.microsoft.com/office/powerpoint/2010/main" p14:dur="380">
    <p:fade/>
  </p:transition>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CHOOSE DELIBERATELY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S3, EBS and shared file storage: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S3 PROTECTION</a:t>
            </a:r>
          </a:p>
          <a:p>
            <a:pPr algn="l">
              <a:spcAft>
                <a:spcPts val="300"/>
              </a:spcAft>
            </a:pPr>
            <a:r>
              <a:rPr sz="1050" b="0">
                <a:solidFill>
                  <a:srgbClr val="5B6372"/>
                </a:solidFill>
                <a:latin typeface="Arial"/>
              </a:rPr>
              <a:t>Enable Block Public Access, least-privilege bucket policy, versioning and Object Lock where retention requires immutability.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EBS RECOVERY</a:t>
            </a:r>
          </a:p>
          <a:p>
            <a:pPr algn="l">
              <a:spcAft>
                <a:spcPts val="300"/>
              </a:spcAft>
            </a:pPr>
            <a:r>
              <a:rPr sz="1050" b="0">
                <a:solidFill>
                  <a:srgbClr val="5B6372"/>
                </a:solidFill>
                <a:latin typeface="Arial"/>
              </a:rPr>
              <a:t>Use application-consistent snapshots where necessary and copy/encrypt across account or Region for isolation.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EFS DESIGN</a:t>
            </a:r>
          </a:p>
          <a:p>
            <a:pPr algn="l">
              <a:spcAft>
                <a:spcPts val="300"/>
              </a:spcAft>
            </a:pPr>
            <a:r>
              <a:rPr sz="1050" b="0">
                <a:solidFill>
                  <a:srgbClr val="5B6372"/>
                </a:solidFill>
                <a:latin typeface="Arial"/>
              </a:rPr>
              <a:t>Create mount targets in required AZs, secure NFS traffic and choose lifecycle policies from measured access.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BACKUP</a:t>
            </a:r>
          </a:p>
          <a:p>
            <a:pPr algn="l">
              <a:spcAft>
                <a:spcPts val="300"/>
              </a:spcAft>
            </a:pPr>
            <a:r>
              <a:rPr sz="1050" b="0">
                <a:solidFill>
                  <a:srgbClr val="5B6372"/>
                </a:solidFill>
                <a:latin typeface="Arial"/>
              </a:rPr>
              <a:t>Separate backup administration and vault permissions so workload compromise cannot delete every recovery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p:transition xmlns:p14="http://schemas.microsoft.com/office/powerpoint/2010/main" p14:dur="380">
    <p:fade/>
  </p:transition>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S3, EBS and shared file storage: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shared application volume must survive one AZ failure and retain recoverable versions against accidental deletion.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Use regional EFS with mount targets across application AZs, encrypted transit/storage and independent AWS Backup policy with restore testing.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An EBS volume cannot attach across AZs as shared NFS; replication alone may reproduce deletion or corruption.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Storage configuration, encryption key, version/snapshot, backup job, vault policy, restore checksum and recovery timing.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p:transition xmlns:p14="http://schemas.microsoft.com/office/powerpoint/2010/main" p14:dur="380">
    <p:fade/>
  </p:transition>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AWS DEVELOPER SERVICES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Developer deep dive: RDS, Aurora and ElastiCache data tiers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Provide transactional persistence and caching while distinguishing availability, read scaling, connection management and disaster recovery.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RDS · Aurora · RDS Proxy · ElastiCache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Keep writes on the relational writer, add RDS Proxy for pooled connections, direct safe reads to replicas and cache only explicitly stale-tolerant data.</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Caching transaction state or treating replica reads as immediately current creates correctness defects hidden by low latency.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p:transition xmlns:p14="http://schemas.microsoft.com/office/powerpoint/2010/main" p14:dur="380">
    <p:fade/>
  </p:transition>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RDS, Aurora and ElastiCache data tiers: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RDS Multi-AZ deployments provide synchronous standby behavior for availability; read replicas are asynchronous and primarily serve read scaling or DR patterns.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Aurora separates distributed storage from compute, exposes writer and reader endpoints and can add Global Database for cross-Region read and recovery designs.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RDS Proxy pools connections and can protect databases from serverless connection storms while integrating with IAM or Secrets Manager authentication.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ElastiCache for Redis/Valkey or Memcached changes latency and load but introduces eviction, expiry and stale-data semantics that the application must own.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p:transition xmlns:p14="http://schemas.microsoft.com/office/powerpoint/2010/main" p14:dur="380">
    <p:fade/>
  </p:transition>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CONTROL AND DATA FLOW</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RDS, Aurora and ElastiCache data tiers: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Model transaction and read pattern</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Select HA topology</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Control connections</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Add cache deliberately</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Back up, fail over and restore</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p:transition xmlns:p14="http://schemas.microsoft.com/office/powerpoint/2010/main" p14:dur="380">
    <p:fade/>
  </p:transition>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RDS, Aurora and ElastiCache data tiers: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STANDBY VS REPLICA</a:t>
            </a:r>
          </a:p>
          <a:p>
            <a:pPr algn="l">
              <a:spcAft>
                <a:spcPts val="300"/>
              </a:spcAft>
            </a:pPr>
            <a:r>
              <a:rPr sz="1050" b="0">
                <a:solidFill>
                  <a:srgbClr val="5B6372"/>
                </a:solidFill>
                <a:latin typeface="Arial"/>
              </a:rPr>
              <a:t>Use Multi-AZ for service continuity and replicas for read capacity; do not claim a replica is synchronous unless the selected architecture provides it.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CREDENTIALS</a:t>
            </a:r>
          </a:p>
          <a:p>
            <a:pPr algn="l">
              <a:spcAft>
                <a:spcPts val="300"/>
              </a:spcAft>
            </a:pPr>
            <a:r>
              <a:rPr sz="1050" b="0">
                <a:solidFill>
                  <a:srgbClr val="5B6372"/>
                </a:solidFill>
                <a:latin typeface="Arial"/>
              </a:rPr>
              <a:t>Store and rotate database secrets or use IAM authentication where supported; keep credentials out of application packages.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CACHE POLICY</a:t>
            </a:r>
          </a:p>
          <a:p>
            <a:pPr algn="l">
              <a:spcAft>
                <a:spcPts val="300"/>
              </a:spcAft>
            </a:pPr>
            <a:r>
              <a:rPr sz="1050" b="0">
                <a:solidFill>
                  <a:srgbClr val="5B6372"/>
                </a:solidFill>
                <a:latin typeface="Arial"/>
              </a:rPr>
              <a:t>Choose cache-aside, write-through or other behavior with explicit TTL, invalidation and failure fallback.</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SCHEMA CHANGE</a:t>
            </a:r>
          </a:p>
          <a:p>
            <a:pPr algn="l">
              <a:spcAft>
                <a:spcPts val="300"/>
              </a:spcAft>
            </a:pPr>
            <a:r>
              <a:rPr sz="1050" b="0">
                <a:solidFill>
                  <a:srgbClr val="5B6372"/>
                </a:solidFill>
                <a:latin typeface="Arial"/>
              </a:rPr>
              <a:t>Use backward-compatible expansion and contraction so application and database versions can overlap during deployment.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p:transition xmlns:p14="http://schemas.microsoft.com/office/powerpoint/2010/main" p14:dur="380">
    <p:fade/>
  </p:transition>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RDS, Aurora and ElastiCache data tiers: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Lambda workload causes connection spikes and read latency during release, but writes must remain strongly transactional.</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Keep writes on the relational writer, add RDS Proxy for pooled connections, direct safe reads to replicas and cache only explicitly stale-tolerant data.</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Caching transaction state or treating replica reads as immediately current creates correctness defects hidden by low latency.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Connection count, replica lag, failover event, cache hit/eviction, query latency, backup status and restore validation.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p:transition xmlns:p14="http://schemas.microsoft.com/office/powerpoint/2010/main" p14:dur="380">
    <p:fade/>
  </p:transition>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Developer deep dive: DynamoDB keys, capacity and change streams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Design key-value workloads from access patterns, partition distribution and consistency requirements before writing application code.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DynamoDB · Streams · DAX · global tables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Increase partition-key cardinality with a controlled shard suffix, retain tenant/time queryability through an index or aggregation path and add jittered retries.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Raising total capacity alone does not redistribute a single hot logical key; blind retries can amplify throttling.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p:transition xmlns:p14="http://schemas.microsoft.com/office/powerpoint/2010/main" p14:dur="380">
    <p:fade/>
  </p:transition>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DynamoDB keys, capacity and change streams: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Partition and optional sort keys define item placement and query order; scans read broadly and are not a substitute for a missing access pattern.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Global secondary indexes add alternate partition/sort keys and their own capacity behavior; local secondary indexes share the base partition key and must be created with the table.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On-demand capacity absorbs variable traffic, while provisioned capacity and auto scaling fit predictable demand; both can throttle hot partitions.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Streams capture item-level changes for time-bounded processing; TTL expiration, transactions, conditional writes and global tables solve different lifecycle and concurrency problems.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p:transition xmlns:p14="http://schemas.microsoft.com/office/powerpoint/2010/main" p14:dur="380">
    <p:fade/>
  </p:transition>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CONTROL AND DATA FLOW</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DynamoDB keys, capacity and change streams: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List access patterns</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Choose high-cardinality key</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Add only required indexes</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Handle throttling/idempotency</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Process stream and monitor lag</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p:transition xmlns:p14="http://schemas.microsoft.com/office/powerpoint/2010/main" p14:dur="380">
    <p:fade/>
  </p:transition>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DynamoDB keys, capacity and change streams: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CONSISTENCY</a:t>
            </a:r>
          </a:p>
          <a:p>
            <a:pPr algn="l">
              <a:spcAft>
                <a:spcPts val="300"/>
              </a:spcAft>
            </a:pPr>
            <a:r>
              <a:rPr sz="1050" b="0">
                <a:solidFill>
                  <a:srgbClr val="5B6372"/>
                </a:solidFill>
                <a:latin typeface="Arial"/>
              </a:rPr>
              <a:t>Strongly consistent reads are available only on supported base-table/index paths and cost more read capacity; global replication remains asynchronous.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CONCURRENCY</a:t>
            </a:r>
          </a:p>
          <a:p>
            <a:pPr algn="l">
              <a:spcAft>
                <a:spcPts val="300"/>
              </a:spcAft>
            </a:pPr>
            <a:r>
              <a:rPr sz="1050" b="0">
                <a:solidFill>
                  <a:srgbClr val="5B6372"/>
                </a:solidFill>
                <a:latin typeface="Arial"/>
              </a:rPr>
              <a:t>Use condition expressions or transactions to prevent lost updates and duplicate state transitions.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LARGE OBJECTS</a:t>
            </a:r>
          </a:p>
          <a:p>
            <a:pPr algn="l">
              <a:spcAft>
                <a:spcPts val="300"/>
              </a:spcAft>
            </a:pPr>
            <a:r>
              <a:rPr sz="1050" b="0">
                <a:solidFill>
                  <a:srgbClr val="5B6372"/>
                </a:solidFill>
                <a:latin typeface="Arial"/>
              </a:rPr>
              <a:t>Store large payloads in S3 and keep an object reference plus integrity metadata in the item.</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HOT KEYS</a:t>
            </a:r>
          </a:p>
          <a:p>
            <a:pPr algn="l">
              <a:spcAft>
                <a:spcPts val="300"/>
              </a:spcAft>
            </a:pPr>
            <a:r>
              <a:rPr sz="1050" b="0">
                <a:solidFill>
                  <a:srgbClr val="5B6372"/>
                </a:solidFill>
                <a:latin typeface="Arial"/>
              </a:rPr>
              <a:t>Write-shard only after understanding the required read aggregation and operational complexity.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302</a:t>
            </a:r>
          </a:p>
        </p:txBody>
      </p:sp>
    </p:spTree>
  </p:cSld>
  <p:clrMapOvr>
    <a:masterClrMapping/>
  </p:clrMapOvr>
  <p:transition xmlns:p14="http://schemas.microsoft.com/office/powerpoint/2010/main" p14:dur="380">
    <p:fade/>
  </p:transition>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DynamoDB keys, capacity and change streams: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An event-ingestion table throttles one tenant even though overall capacity is below the configured total.</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Increase partition-key cardinality with a controlled shard suffix, retain tenant/time queryability through an index or aggregation path and add jittered retries.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Raising total capacity alone does not redistribute a single hot logical key; blind retries can amplify throttling.</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Consumed capacity by operation, throttled requests, key distribution sample, index metrics, stream iterator age and conditional-write failures.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303</a:t>
            </a:r>
          </a:p>
        </p:txBody>
      </p:sp>
    </p:spTree>
  </p:cSld>
  <p:clrMapOvr>
    <a:masterClrMapping/>
  </p:clrMapOvr>
  <p:transition xmlns:p14="http://schemas.microsoft.com/office/powerpoint/2010/main" p14:dur="380">
    <p:fade/>
  </p:transition>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AWS DEVELOPER SERVICES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Developer deep dive: VPC, DNS and global content delivery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Control application reachability and global user paths across routing, security, name resolution, caching and failover layers.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VPC · PrivateLink · Route 53 · CloudFront · Global Accelerator</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Use a private API endpoint with interface endpoints or controlled network connectivity, private DNS and layered endpoint/resource policies.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A private subnet label provides no isolation by itself; missing routes or broad endpoint policies can defeat the intended boundary.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304</a:t>
            </a:r>
          </a:p>
        </p:txBody>
      </p:sp>
    </p:spTree>
  </p:cSld>
  <p:clrMapOvr>
    <a:masterClrMapping/>
  </p:clrMapOvr>
  <p:transition xmlns:p14="http://schemas.microsoft.com/office/powerpoint/2010/main" p14:dur="380">
    <p:fade/>
  </p:transition>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VPC, DNS and global content delivery: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Subnets are AZ-scoped, route tables choose next hops, security groups are stateful and NACLs are stateless; each layer answers a different connectivity question.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Gateway and interface VPC endpoints keep supported service traffic on AWS networks and can apply endpoint policies as an additional authorization boundary.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Route 53 policies choose DNS answers from health, latency, geography, weights or failover; TTL controls how quickly resolvers can observe changes.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CloudFront caches HTTP content at the edge using cache and origin-request policies, while Global Accelerator provides static anycast entry addresses and fast endpoint routing.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305</a:t>
            </a:r>
          </a:p>
        </p:txBody>
      </p:sp>
    </p:spTree>
  </p:cSld>
  <p:clrMapOvr>
    <a:masterClrMapping/>
  </p:clrMapOvr>
  <p:transition xmlns:p14="http://schemas.microsoft.com/office/powerpoint/2010/main" p14:dur="380">
    <p:fade/>
  </p:transition>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CONTROL AND DATA FLOW</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VPC, DNS and global content delivery: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Resolve name</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Route to edge or Region</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Evaluate network policy</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Reach healthy origin</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Log and measure user path</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306</a:t>
            </a:r>
          </a:p>
        </p:txBody>
      </p:sp>
    </p:spTree>
  </p:cSld>
  <p:clrMapOvr>
    <a:masterClrMapping/>
  </p:clrMapOvr>
  <p:transition xmlns:p14="http://schemas.microsoft.com/office/powerpoint/2010/main" p14:dur="380">
    <p:fade/>
  </p:transition>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VPC, DNS and global content delivery: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PRIVATE ACCESS</a:t>
            </a:r>
          </a:p>
          <a:p>
            <a:pPr algn="l">
              <a:spcAft>
                <a:spcPts val="300"/>
              </a:spcAft>
            </a:pPr>
            <a:r>
              <a:rPr sz="1050" b="0">
                <a:solidFill>
                  <a:srgbClr val="5B6372"/>
                </a:solidFill>
                <a:latin typeface="Arial"/>
              </a:rPr>
              <a:t>Use endpoints and private DNS for service APIs where egress control matters; verify endpoint and resource policies together.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CACHING</a:t>
            </a:r>
          </a:p>
          <a:p>
            <a:pPr algn="l">
              <a:spcAft>
                <a:spcPts val="300"/>
              </a:spcAft>
            </a:pPr>
            <a:r>
              <a:rPr sz="1050" b="0">
                <a:solidFill>
                  <a:srgbClr val="5B6372"/>
                </a:solidFill>
                <a:latin typeface="Arial"/>
              </a:rPr>
              <a:t>Build cache keys only from values that change the response and protect private content with signed access patterns.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FAILOVER</a:t>
            </a:r>
          </a:p>
          <a:p>
            <a:pPr algn="l">
              <a:spcAft>
                <a:spcPts val="300"/>
              </a:spcAft>
            </a:pPr>
            <a:r>
              <a:rPr sz="1050" b="0">
                <a:solidFill>
                  <a:srgbClr val="5B6372"/>
                </a:solidFill>
                <a:latin typeface="Arial"/>
              </a:rPr>
              <a:t>Health checks must represent the user transaction and account for DNS caching or connection persistence.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TROUBLESHOOTING</a:t>
            </a:r>
          </a:p>
          <a:p>
            <a:pPr algn="l">
              <a:spcAft>
                <a:spcPts val="300"/>
              </a:spcAft>
            </a:pPr>
            <a:r>
              <a:rPr sz="1050" b="0">
                <a:solidFill>
                  <a:srgbClr val="5B6372"/>
                </a:solidFill>
                <a:latin typeface="Arial"/>
              </a:rPr>
              <a:t>Check DNS, routes, security groups, NACL return paths, endpoint policy, target health and application logs in order.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307</a:t>
            </a:r>
          </a:p>
        </p:txBody>
      </p:sp>
    </p:spTree>
  </p:cSld>
  <p:clrMapOvr>
    <a:masterClrMapping/>
  </p:clrMapOvr>
  <p:transition xmlns:p14="http://schemas.microsoft.com/office/powerpoint/2010/main" p14:dur="380">
    <p:fade/>
  </p:transition>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VPC, DNS and global content delivery: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private API must be consumed by workloads in several VPCs and expose no public internet path.</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Use a private API endpoint with interface endpoints or controlled network connectivity, private DNS and layered endpoint/resource policies.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A private subnet label provides no isolation by itself; missing routes or broad endpoint policies can defeat the intended boundary.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DNS response, route path, endpoint ID/policy, flow log, target health, access log and reachability analysis.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308</a:t>
            </a:r>
          </a:p>
        </p:txBody>
      </p:sp>
    </p:spTree>
  </p:cSld>
  <p:clrMapOvr>
    <a:masterClrMapping/>
  </p:clrMapOvr>
  <p:transition xmlns:p14="http://schemas.microsoft.com/office/powerpoint/2010/main" p14:dur="380">
    <p:fade/>
  </p:transition>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RESILIENT CLOUD SOLUTIONS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Availability requirements and failure modes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Translate business impact into explicit availability, recovery and dependency requirements.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Model component failure domains, remove single points of failure and test degraded modes before selecting services.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Adding replicas does not help when they share the same failure domain or control-plane dependency.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Availability target, dependency map, failure-mode analysis, resilience recommendation and test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309</a:t>
            </a:r>
          </a:p>
        </p:txBody>
      </p:sp>
    </p:spTree>
  </p:cSld>
  <p:clrMapOvr>
    <a:masterClrMapping/>
  </p:clrMapOvr>
  <p:transition xmlns:p14="http://schemas.microsoft.com/office/powerpoint/2010/main" p14:dur="380">
    <p:fade/>
  </p:transition>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Availability requirements and failure modes: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Define impact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Map dependencies</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Identify failure domains</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Design controls</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Test failure</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310</a:t>
            </a:r>
          </a:p>
        </p:txBody>
      </p:sp>
    </p:spTree>
  </p:cSld>
  <p:clrMapOvr>
    <a:masterClrMapping/>
  </p:clrMapOvr>
  <p:transition xmlns:p14="http://schemas.microsoft.com/office/powerpoint/2010/main" p14:dur="380">
    <p:fade/>
  </p:transition>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Availability requirements and failure modes: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10B981"/>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An order service must remain available through an Availability Zone outage.</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Model component failure domains, remove single points of failure and test degraded modes before selecting services.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Multi-AZ · AWS Resilience Hub · Well-Architected Tool</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Adding replicas does not help when they share the same failure domain or control-plane dependency.</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Availability target, dependency map, failure-mode analysis, resilience recommendation and test result.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311</a:t>
            </a:r>
          </a:p>
        </p:txBody>
      </p:sp>
    </p:spTree>
  </p:cSld>
  <p:clrMapOvr>
    <a:masterClrMapping/>
  </p:clrMapOvr>
  <p:transition xmlns:p14="http://schemas.microsoft.com/office/powerpoint/2010/main" p14:dur="380">
    <p:fade/>
  </p:transition>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OPERATIONS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Availability requirements and failure modes: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Adding replicas does not help when they share the same failure domain or control-plane dependency.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Define impact through Test failure;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Availability target, dependency map, failure-mode analysis, resilience recommendation and test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312</a:t>
            </a:r>
          </a:p>
        </p:txBody>
      </p:sp>
    </p:spTree>
  </p:cSld>
  <p:clrMapOvr>
    <a:masterClrMapping/>
  </p:clrMapOvr>
  <p:transition xmlns:p14="http://schemas.microsoft.com/office/powerpoint/2010/main" p14:dur="380">
    <p:fade/>
  </p:transition>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Availability requirements and failure modes: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An order service must remain available through an Availability Zone outage.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Model component failure domains, remove single points of failure and test degraded modes before selecting services.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Adding replicas does not help when they share the same failure domain or control-plane dependency.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Availability target, dependency map, failure-mode analysis, resilience recommendation and test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313</a:t>
            </a:r>
          </a:p>
        </p:txBody>
      </p:sp>
    </p:spTree>
  </p:cSld>
  <p:clrMapOvr>
    <a:masterClrMapping/>
  </p:clrMapOvr>
  <p:transition xmlns:p14="http://schemas.microsoft.com/office/powerpoint/2010/main" p14:dur="380">
    <p:fade/>
  </p:transition>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RESILIENT CLOUD SOLUTIONS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Elastic compute and load distribution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Match scaling signals, capacity buffers and load-balancer health to workload behavior.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Use target tracking where possible, warm-up periods, lifecycle hooks, multiple AZs and meaningful health checks.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CPU is a poor scaling signal for queue-driven or latency-bound workloads.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Scaling policy, metric math, warm-up, lifecycle state, target health and capacity event.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314</a:t>
            </a:r>
          </a:p>
        </p:txBody>
      </p:sp>
    </p:spTree>
  </p:cSld>
  <p:clrMapOvr>
    <a:masterClrMapping/>
  </p:clrMapOvr>
  <p:transition xmlns:p14="http://schemas.microsoft.com/office/powerpoint/2010/main" p14:dur="380">
    <p:fade/>
  </p:transition>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Elastic compute and load distribution: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Measure demand</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Scale target</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Launch</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Warm and validate</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Register</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Rebalance</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315</a:t>
            </a:r>
          </a:p>
        </p:txBody>
      </p:sp>
    </p:spTree>
  </p:cSld>
  <p:clrMapOvr>
    <a:masterClrMapping/>
  </p:clrMapOvr>
  <p:transition xmlns:p14="http://schemas.microsoft.com/office/powerpoint/2010/main" p14:dur="380">
    <p:fade/>
  </p:transition>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Elastic compute and load distribution: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10B981"/>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Traffic spikes arrive in ten minutes, but new instances need eight minutes to become healthy.</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Use target tracking where possible, warm-up periods, lifecycle hooks, multiple AZs and meaningful health checks.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Auto Scaling · ALB · NLB · EC2 Fleet</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CPU is a poor scaling signal for queue-driven or latency-bound workloads.</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Scaling policy, metric math, warm-up, lifecycle state, target health and capacity event.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316</a:t>
            </a:r>
          </a:p>
        </p:txBody>
      </p:sp>
    </p:spTree>
  </p:cSld>
  <p:clrMapOvr>
    <a:masterClrMapping/>
  </p:clrMapOvr>
  <p:transition xmlns:p14="http://schemas.microsoft.com/office/powerpoint/2010/main" p14:dur="380">
    <p:fade/>
  </p:transition>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Elastic compute and load distribution: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CPU is a poor scaling signal for queue-driven or latency-bound workloads.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Measure demand through Rebalance;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Scaling policy, metric math, warm-up, lifecycle state, target health and capacity event.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317</a:t>
            </a:r>
          </a:p>
        </p:txBody>
      </p:sp>
    </p:spTree>
  </p:cSld>
  <p:clrMapOvr>
    <a:masterClrMapping/>
  </p:clrMapOvr>
  <p:transition xmlns:p14="http://schemas.microsoft.com/office/powerpoint/2010/main" p14:dur="380">
    <p:fade/>
  </p:transition>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Elastic compute and load distribution: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Traffic spikes arrive in ten minutes, but new instances need eight minutes to become healthy.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Use target tracking where possible, warm-up periods, lifecycle hooks, multiple AZs and meaningful health checks.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CPU is a poor scaling signal for queue-driven or latency-bound workloads.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Scaling policy, metric math, warm-up, lifecycle state, target health and capacity event.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318</a:t>
            </a:r>
          </a:p>
        </p:txBody>
      </p:sp>
    </p:spTree>
  </p:cSld>
  <p:clrMapOvr>
    <a:masterClrMapping/>
  </p:clrMapOvr>
  <p:transition xmlns:p14="http://schemas.microsoft.com/office/powerpoint/2010/main" p14:dur="380">
    <p:fade/>
  </p:transition>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RESILIENT CLOUD SOLUTIONS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DNS and multi-Region traffic control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Route users according to health, latency, geography and recovery objectives.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Combine endpoint health with failover or latency policies; understand DNS caching and use anycast when convergence must be faster.</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low TTL cannot force clients or resolvers to refresh immediately.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Routing policy, health-check state, TTL, endpoint weight and observed failover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319</a:t>
            </a:r>
          </a:p>
        </p:txBody>
      </p:sp>
    </p:spTree>
  </p:cSld>
  <p:clrMapOvr>
    <a:masterClrMapping/>
  </p:clrMapOvr>
  <p:transition xmlns:p14="http://schemas.microsoft.com/office/powerpoint/2010/main" p14:dur="380">
    <p:fade/>
  </p:transition>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DNS and multi-Region traffic control: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Probe endpoint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Evaluate policy</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Return target</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Observe health</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Fail over</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320</a:t>
            </a:r>
          </a:p>
        </p:txBody>
      </p:sp>
    </p:spTree>
  </p:cSld>
  <p:clrMapOvr>
    <a:masterClrMapping/>
  </p:clrMapOvr>
  <p:transition xmlns:p14="http://schemas.microsoft.com/office/powerpoint/2010/main" p14:dur="380">
    <p:fade/>
  </p:transition>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DNS and multi-Region traffic control: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10B981"/>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global API needs regional failover within one minute with stable client endpoints.</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Combine endpoint health with failover or latency policies; understand DNS caching and use anycast when convergence must be faster.</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Route 53 · Global Accelerator · CloudFront</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 low TTL cannot force clients or resolvers to refresh immediately.</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Routing policy, health-check state, TTL, endpoint weight and observed failover time.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321</a:t>
            </a:r>
          </a:p>
        </p:txBody>
      </p:sp>
    </p:spTree>
  </p:cSld>
  <p:clrMapOvr>
    <a:masterClrMapping/>
  </p:clrMapOvr>
  <p:transition xmlns:p14="http://schemas.microsoft.com/office/powerpoint/2010/main" p14:dur="380">
    <p:fade/>
  </p:transition>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DNS and multi-Region traffic control: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 low TTL cannot force clients or resolvers to refresh immediately.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Probe endpoint through Fail over;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Routing policy, health-check state, TTL, endpoint weight and observed failover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322</a:t>
            </a:r>
          </a:p>
        </p:txBody>
      </p:sp>
    </p:spTree>
  </p:cSld>
  <p:clrMapOvr>
    <a:masterClrMapping/>
  </p:clrMapOvr>
  <p:transition xmlns:p14="http://schemas.microsoft.com/office/powerpoint/2010/main" p14:dur="380">
    <p:fade/>
  </p:transition>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DNS and multi-Region traffic control: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global API needs regional failover within one minute with stable client endpoints.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Combine endpoint health with failover or latency policies; understand DNS caching and use anycast when convergence must be faster.</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 low TTL cannot force clients or resolvers to refresh immediately.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Routing policy, health-check state, TTL, endpoint weight and observed failover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323</a:t>
            </a:r>
          </a:p>
        </p:txBody>
      </p:sp>
    </p:spTree>
  </p:cSld>
  <p:clrMapOvr>
    <a:masterClrMapping/>
  </p:clrMapOvr>
  <p:transition xmlns:p14="http://schemas.microsoft.com/office/powerpoint/2010/main" p14:dur="380">
    <p:fade/>
  </p:transition>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RESILIENT CLOUD SOLUTIONS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Resilient data stores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Select replication and failover mechanisms that meet consistency, RPO and RTO requirements.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Distinguish read scaling from high availability, test failover, plan write ownership and monitor replication lag.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read replica is not automatically a synchronous standby or a complete DR strategy.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Topology, replication mode, lag metric, backup status, failover test and recovery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324</a:t>
            </a:r>
          </a:p>
        </p:txBody>
      </p:sp>
    </p:spTree>
  </p:cSld>
  <p:clrMapOvr>
    <a:masterClrMapping/>
  </p:clrMapOvr>
  <p:transition xmlns:p14="http://schemas.microsoft.com/office/powerpoint/2010/main" p14:dur="380">
    <p:fade/>
  </p:transition>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Resilient data stores: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Write</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Replicate</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Detect failure</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Promote or redirect</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Reconcile</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Verify</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325</a:t>
            </a:r>
          </a:p>
        </p:txBody>
      </p:sp>
    </p:spTree>
  </p:cSld>
  <p:clrMapOvr>
    <a:masterClrMapping/>
  </p:clrMapOvr>
  <p:transition xmlns:p14="http://schemas.microsoft.com/office/powerpoint/2010/main" p14:dur="380">
    <p:fade/>
  </p:transition>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Resilient data stores: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10B981"/>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payment datastore needs near-zero data loss and a tested cross-Region recovery path.</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Distinguish read scaling from high availability, test failover, plan write ownership and monitor replication lag.</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RDS Multi-AZ · Aurora Global Database · DynamoDB Global Tables</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 read replica is not automatically a synchronous standby or a complete DR strategy.</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Topology, replication mode, lag metric, backup status, failover test and recovery evidence.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326</a:t>
            </a:r>
          </a:p>
        </p:txBody>
      </p:sp>
    </p:spTree>
  </p:cSld>
  <p:clrMapOvr>
    <a:masterClrMapping/>
  </p:clrMapOvr>
  <p:transition xmlns:p14="http://schemas.microsoft.com/office/powerpoint/2010/main" p14:dur="380">
    <p:fade/>
  </p:transition>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Resilient data stores: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 read replica is not automatically a synchronous standby or a complete DR strategy.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Write through Verify;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Topology, replication mode, lag metric, backup status, failover test and recovery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327</a:t>
            </a:r>
          </a:p>
        </p:txBody>
      </p:sp>
    </p:spTree>
  </p:cSld>
  <p:clrMapOvr>
    <a:masterClrMapping/>
  </p:clrMapOvr>
  <p:transition xmlns:p14="http://schemas.microsoft.com/office/powerpoint/2010/main" p14:dur="380">
    <p:fade/>
  </p:transition>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Resilient data stores: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payment datastore needs near-zero data loss and a tested cross-Region recovery path.</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Distinguish read scaling from high availability, test failover, plan write ownership and monitor replication lag.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 read replica is not automatically a synchronous standby or a complete DR strategy.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Topology, replication mode, lag metric, backup status, failover test and recovery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328</a:t>
            </a:r>
          </a:p>
        </p:txBody>
      </p:sp>
    </p:spTree>
  </p:cSld>
  <p:clrMapOvr>
    <a:masterClrMapping/>
  </p:clrMapOvr>
  <p:transition xmlns:p14="http://schemas.microsoft.com/office/powerpoint/2010/main" p14:dur="380">
    <p:fade/>
  </p:transition>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RESILIENT CLOUD SOLUTIONS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Serverless resilience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Control concurrency, retries, idempotency and failure destinations in event-driven workloads.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Use queues for buffering, partial batch response, reserved concurrency, DLQs and idempotency keys.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Unbounded retries can multiply load and duplicate side effects during partial failure.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Request ID, retry count, idempotency record, queue age, DLQ message and concurrency metric.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329</a:t>
            </a:r>
          </a:p>
        </p:txBody>
      </p:sp>
    </p:spTree>
  </p:cSld>
  <p:clrMapOvr>
    <a:masterClrMapping/>
  </p:clrMapOvr>
  <p:transition xmlns:p14="http://schemas.microsoft.com/office/powerpoint/2010/main" p14:dur="380">
    <p:fade/>
  </p:transition>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Serverless resilience: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Accept event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Validate idempotency</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Process</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Retry with backoff</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Quarantine failure</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330</a:t>
            </a:r>
          </a:p>
        </p:txBody>
      </p:sp>
    </p:spTree>
  </p:cSld>
  <p:clrMapOvr>
    <a:masterClrMapping/>
  </p:clrMapOvr>
  <p:transition xmlns:p14="http://schemas.microsoft.com/office/powerpoint/2010/main" p14:dur="380">
    <p:fade/>
  </p:transition>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Serverless resilience: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10B981"/>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batch consumer occasionally times out after charging a card but before acknowledging the message.</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Use queues for buffering, partial batch response, reserved concurrency, DLQs and idempotency keys.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Lambda · API Gateway · SQS · Step Functions</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Unbounded retries can multiply load and duplicate side effects during partial failure.</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Request ID, retry count, idempotency record, queue age, DLQ message and concurrency metric.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331</a:t>
            </a:r>
          </a:p>
        </p:txBody>
      </p:sp>
    </p:spTree>
  </p:cSld>
  <p:clrMapOvr>
    <a:masterClrMapping/>
  </p:clrMapOvr>
  <p:transition xmlns:p14="http://schemas.microsoft.com/office/powerpoint/2010/main" p14:dur="380">
    <p:fade/>
  </p:transition>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Serverless resilience: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Unbounded retries can multiply load and duplicate side effects during partial failure.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Accept event through Quarantine failure;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Request ID, retry count, idempotency record, queue age, DLQ message and concurrency metric.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332</a:t>
            </a:r>
          </a:p>
        </p:txBody>
      </p:sp>
    </p:spTree>
  </p:cSld>
  <p:clrMapOvr>
    <a:masterClrMapping/>
  </p:clrMapOvr>
  <p:transition xmlns:p14="http://schemas.microsoft.com/office/powerpoint/2010/main" p14:dur="380">
    <p:fade/>
  </p:transition>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Serverless resilience: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batch consumer occasionally times out after charging a card but before acknowledging the message.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Use queues for buffering, partial batch response, reserved concurrency, DLQs and idempotency keys.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Unbounded retries can multiply load and duplicate side effects during partial failure.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Request ID, retry count, idempotency record, queue age, DLQ message and concurrency metric.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333</a:t>
            </a:r>
          </a:p>
        </p:txBody>
      </p:sp>
    </p:spTree>
  </p:cSld>
  <p:clrMapOvr>
    <a:masterClrMapping/>
  </p:clrMapOvr>
  <p:transition xmlns:p14="http://schemas.microsoft.com/office/powerpoint/2010/main" p14:dur="380">
    <p:fade/>
  </p:transition>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RESILIENT CLOUD SOLUTIONS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Container workload resilience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Keep container services available through node, task and deployment failures.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Spread tasks, set disruption budgets, use readiness checks, pin image digests and scale both service and capacity.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Scaling tasks without underlying capacity leaves workloads pending.</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Task placement, readiness state, image digest, service events, capacity-provider metric and deployment circuit breaker.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334</a:t>
            </a:r>
          </a:p>
        </p:txBody>
      </p:sp>
    </p:spTree>
  </p:cSld>
  <p:clrMapOvr>
    <a:masterClrMapping/>
  </p:clrMapOvr>
  <p:transition xmlns:p14="http://schemas.microsoft.com/office/powerpoint/2010/main" p14:dur="380">
    <p:fade/>
  </p:transition>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Container workload resilience: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Pull signed image</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Start task</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Pass readiness</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Receive traffic</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Replace unhealthy task</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335</a:t>
            </a:r>
          </a:p>
        </p:txBody>
      </p:sp>
    </p:spTree>
  </p:cSld>
  <p:clrMapOvr>
    <a:masterClrMapping/>
  </p:clrMapOvr>
  <p:transition xmlns:p14="http://schemas.microsoft.com/office/powerpoint/2010/main" p14:dur="380">
    <p:fade/>
  </p:transition>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Container workload resilience: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10B981"/>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An ECS service needs blue/green deployment and automatic rollback when error rate rises.</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Spread tasks, set disruption budgets, use readiness checks, pin image digests and scale both service and capacity.</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ECS · EKS · ECR · Application Auto Scaling</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Scaling tasks without underlying capacity leaves workloads pending.</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Task placement, readiness state, image digest, service events, capacity-provider metric and deployment circuit breaker.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336</a:t>
            </a:r>
          </a:p>
        </p:txBody>
      </p:sp>
    </p:spTree>
  </p:cSld>
  <p:clrMapOvr>
    <a:masterClrMapping/>
  </p:clrMapOvr>
  <p:transition xmlns:p14="http://schemas.microsoft.com/office/powerpoint/2010/main" p14:dur="380">
    <p:fade/>
  </p:transition>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Container workload resilience: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Scaling tasks without underlying capacity leaves workloads pending.</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Pull signed image through Replace unhealthy task;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Task placement, readiness state, image digest, service events, capacity-provider metric and deployment circuit breaker.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337</a:t>
            </a:r>
          </a:p>
        </p:txBody>
      </p:sp>
    </p:spTree>
  </p:cSld>
  <p:clrMapOvr>
    <a:masterClrMapping/>
  </p:clrMapOvr>
  <p:transition xmlns:p14="http://schemas.microsoft.com/office/powerpoint/2010/main" p14:dur="380">
    <p:fade/>
  </p:transition>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Container workload resilience: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An ECS service needs blue/green deployment and automatic rollback when error rate rises.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Spread tasks, set disruption budgets, use readiness checks, pin image digests and scale both service and capacity.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Scaling tasks without underlying capacity leaves workloads pending.</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Task placement, readiness state, image digest, service events, capacity-provider metric and deployment circuit breaker.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338</a:t>
            </a:r>
          </a:p>
        </p:txBody>
      </p:sp>
    </p:spTree>
  </p:cSld>
  <p:clrMapOvr>
    <a:masterClrMapping/>
  </p:clrMapOvr>
  <p:transition xmlns:p14="http://schemas.microsoft.com/office/powerpoint/2010/main" p14:dur="380">
    <p:fade/>
  </p:transition>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RESILIENT CLOUD SOLUTIONS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Disaster recovery and automated recovery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Choose and test backup/restore, pilot-light, warm-standby or multi-site strategies against business objectives.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Map each workload to RTO/RPO, automate backups and copies, document dependencies and conduct game days.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backup job marked successful does not prove the application can be restored coherently.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Recovery-point age, restore-test outcome, runbook duration, dependency validation and actual RTO/RPO.</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339</a:t>
            </a:r>
          </a:p>
        </p:txBody>
      </p:sp>
    </p:spTree>
  </p:cSld>
  <p:clrMapOvr>
    <a:masterClrMapping/>
  </p:clrMapOvr>
  <p:transition xmlns:p14="http://schemas.microsoft.com/office/powerpoint/2010/main" p14:dur="380">
    <p:fade/>
  </p:transition>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Disaster recovery and automated recovery: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Protect data</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Detect disaster</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Declare</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Restore or promote</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Redirect</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Validate business service</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340</a:t>
            </a:r>
          </a:p>
        </p:txBody>
      </p:sp>
    </p:spTree>
  </p:cSld>
  <p:clrMapOvr>
    <a:masterClrMapping/>
  </p:clrMapOvr>
  <p:transition xmlns:p14="http://schemas.microsoft.com/office/powerpoint/2010/main" p14:dur="380">
    <p:fade/>
  </p:transition>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Disaster recovery and automated recovery: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10B981"/>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regional disruption requires the customer portal to recover within 60 minutes with at most 15 minutes of data loss.</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Map each workload to RTO/RPO, automate backups and copies, document dependencies and conduct game days.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AWS Backup · Elastic Disaster Recovery · Route 53</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 backup job marked successful does not prove the application can be restored coherently.</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Recovery-point age, restore-test outcome, runbook duration, dependency validation and actual RTO/RPO.</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341</a:t>
            </a:r>
          </a:p>
        </p:txBody>
      </p:sp>
    </p:spTree>
  </p:cSld>
  <p:clrMapOvr>
    <a:masterClrMapping/>
  </p:clrMapOvr>
  <p:transition xmlns:p14="http://schemas.microsoft.com/office/powerpoint/2010/main" p14:dur="380">
    <p:fade/>
  </p:transition>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Disaster recovery and automated recovery: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 backup job marked successful does not prove the application can be restored coherently.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Protect data through Validate business service;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Recovery-point age, restore-test outcome, runbook duration, dependency validation and actual RTO/RPO.</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342</a:t>
            </a:r>
          </a:p>
        </p:txBody>
      </p:sp>
    </p:spTree>
  </p:cSld>
  <p:clrMapOvr>
    <a:masterClrMapping/>
  </p:clrMapOvr>
  <p:transition xmlns:p14="http://schemas.microsoft.com/office/powerpoint/2010/main" p14:dur="380">
    <p:fade/>
  </p:transition>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Disaster recovery and automated recovery: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regional disruption requires the customer portal to recover within 60 minutes with at most 15 minutes of data loss.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Map each workload to RTO/RPO, automate backups and copies, document dependencies and conduct game days.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 backup job marked successful does not prove the application can be restored coherently.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Recovery-point age, restore-test outcome, runbook duration, dependency validation and actual RTO/RPO.</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343</a:t>
            </a:r>
          </a:p>
        </p:txBody>
      </p:sp>
    </p:spTree>
  </p:cSld>
  <p:clrMapOvr>
    <a:masterClrMapping/>
  </p:clrMapOvr>
  <p:transition xmlns:p14="http://schemas.microsoft.com/office/powerpoint/2010/main" p14:dur="380">
    <p:fade/>
  </p:transition>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BOUNDARIES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Availability requirements and failure modes: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Define impact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Model component failure domains, remove single points of failure and test degraded modes before selecting services.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Multi-AZ · AWS Resilience Hub · Well-Architected Tool</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Availability target, dependency map, failure-mode analysis, resilience recommendation and test result.</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344</a:t>
            </a:r>
          </a:p>
        </p:txBody>
      </p:sp>
    </p:spTree>
  </p:cSld>
  <p:clrMapOvr>
    <a:masterClrMapping/>
  </p:clrMapOvr>
  <p:transition xmlns:p14="http://schemas.microsoft.com/office/powerpoint/2010/main" p14:dur="380">
    <p:fade/>
  </p:transition>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Elastic compute and load distribution: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Measure demand</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Use target tracking where possible, warm-up periods, lifecycle hooks, multiple AZs and meaningful health checks.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Auto Scaling · ALB · NLB · EC2 Fleet</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Scaling policy, metric math, warm-up, lifecycle state, target health and capacity event.</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345</a:t>
            </a:r>
          </a:p>
        </p:txBody>
      </p:sp>
    </p:spTree>
  </p:cSld>
  <p:clrMapOvr>
    <a:masterClrMapping/>
  </p:clrMapOvr>
  <p:transition xmlns:p14="http://schemas.microsoft.com/office/powerpoint/2010/main" p14:dur="380">
    <p:fade/>
  </p:transition>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DNS and multi-Region traffic control: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Probe endpoint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Combine endpoint health with failover or latency policies; understand DNS caching and use anycast when convergence must be faster.</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Route 53 · Global Accelerator · CloudFront</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Routing policy, health-check state, TTL, endpoint weight and observed failover time.</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346</a:t>
            </a:r>
          </a:p>
        </p:txBody>
      </p:sp>
    </p:spTree>
  </p:cSld>
  <p:clrMapOvr>
    <a:masterClrMapping/>
  </p:clrMapOvr>
  <p:transition xmlns:p14="http://schemas.microsoft.com/office/powerpoint/2010/main" p14:dur="380">
    <p:fade/>
  </p:transition>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Resilient data stores: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Write</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Distinguish read scaling from high availability, test failover, plan write ownership and monitor replication lag.</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RDS Multi-AZ · Aurora Global Database · DynamoDB Global Tables</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Topology, replication mode, lag metric, backup status, failover test and recovery evidence.</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347</a:t>
            </a:r>
          </a:p>
        </p:txBody>
      </p:sp>
    </p:spTree>
  </p:cSld>
  <p:clrMapOvr>
    <a:masterClrMapping/>
  </p:clrMapOvr>
  <p:transition xmlns:p14="http://schemas.microsoft.com/office/powerpoint/2010/main" p14:dur="380">
    <p:fade/>
  </p:transition>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Serverless resilience: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Accept event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Use queues for buffering, partial batch response, reserved concurrency, DLQs and idempotency keys.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Lambda · API Gateway · SQS · Step Functions</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Request ID, retry count, idempotency record, queue age, DLQ message and concurrency metric.</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348</a:t>
            </a:r>
          </a:p>
        </p:txBody>
      </p:sp>
    </p:spTree>
  </p:cSld>
  <p:clrMapOvr>
    <a:masterClrMapping/>
  </p:clrMapOvr>
  <p:transition xmlns:p14="http://schemas.microsoft.com/office/powerpoint/2010/main" p14:dur="380">
    <p:fade/>
  </p:transition>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Container workload resilience: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Pull signed image</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Spread tasks, set disruption budgets, use readiness checks, pin image digests and scale both service and capacity.</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ECS · EKS · ECR · Application Auto Scaling</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Task placement, readiness state, image digest, service events, capacity-provider metric and deployment circuit breaker.</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349</a:t>
            </a:r>
          </a:p>
        </p:txBody>
      </p:sp>
    </p:spTree>
  </p:cSld>
  <p:clrMapOvr>
    <a:masterClrMapping/>
  </p:clrMapOvr>
  <p:transition xmlns:p14="http://schemas.microsoft.com/office/powerpoint/2010/main" p14:dur="380">
    <p:fade/>
  </p:transition>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Disaster recovery and automated recovery: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Protect data</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Map each workload to RTO/RPO, automate backups and copies, document dependencies and conduct game days.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AWS Backup · Elastic Disaster Recovery · Route 53</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Recovery-point age, restore-test outcome, runbook duration, dependency validation and actual RTO/RPO.</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10B981"/>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350</a:t>
            </a:r>
          </a:p>
        </p:txBody>
      </p:sp>
    </p:spTree>
  </p:cSld>
  <p:clrMapOvr>
    <a:masterClrMapping/>
  </p:clrMapOvr>
  <p:transition xmlns:p14="http://schemas.microsoft.com/office/powerpoint/2010/main" p14:dur="380">
    <p:fade/>
  </p:transition>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DAY 3 · LO3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Deploy a Multi-AZ Application Load Balancer with an Auto Scaling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3 · LO3 · K2, K4, A2</a:t>
            </a:r>
          </a:p>
        </p:txBody>
      </p:sp>
      <p:sp>
        <p:nvSpPr>
          <p:cNvPr id="10" name="TextBox 9"/>
          <p:cNvSpPr txBox="1"/>
          <p:nvPr/>
        </p:nvSpPr>
        <p:spPr>
          <a:xfrm>
            <a:off x="777240" y="2286000"/>
            <a:ext cx="5486400" cy="1405255"/>
          </a:xfrm>
          <a:prstGeom prst="rect">
            <a:avLst/>
          </a:prstGeom>
          <a:noFill/>
        </p:spPr>
        <p:txBody>
          <a:bodyPr wrap="square" anchor="t">
            <a:spAutoFit/>
          </a:bodyPr>
          <a:lstStyle/>
          <a:p>
            <a:pPr algn="l">
              <a:spcAft>
                <a:spcPts val="400"/>
              </a:spcAft>
            </a:pPr>
            <a:r>
              <a:rPr sz="1350" b="0">
                <a:solidFill>
                  <a:srgbClr val="161B26"/>
                </a:solidFill>
                <a:latin typeface="Arial"/>
              </a:rPr>
              <a:t>A single instance in a single Availability Zone is a single point of failure.</a:t>
            </a:r>
          </a:p>
        </p:txBody>
      </p:sp>
      <p:sp>
        <p:nvSpPr>
          <p:cNvPr id="11" name="Rectangle 10"/>
          <p:cNvSpPr/>
          <p:nvPr/>
        </p:nvSpPr>
        <p:spPr>
          <a:xfrm>
            <a:off x="777240" y="3800983"/>
            <a:ext cx="5486400" cy="11383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00983"/>
            <a:ext cx="91440" cy="11383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928999"/>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960120" y="4203319"/>
            <a:ext cx="5166360" cy="206375"/>
          </a:xfrm>
          <a:prstGeom prst="rect">
            <a:avLst/>
          </a:prstGeom>
          <a:noFill/>
        </p:spPr>
        <p:txBody>
          <a:bodyPr wrap="square" anchor="t">
            <a:spAutoFit/>
          </a:bodyPr>
          <a:lstStyle/>
          <a:p>
            <a:pPr algn="l">
              <a:spcAft>
                <a:spcPts val="400"/>
              </a:spcAft>
            </a:pPr>
            <a:r>
              <a:rPr sz="1250" b="1">
                <a:solidFill>
                  <a:srgbClr val="161B26"/>
                </a:solidFill>
                <a:latin typeface="Arial"/>
              </a:rPr>
              <a:t>A running multi-AZ stack — an ALB, a target group.</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Amazon EC2, Elastic Load Balancing (ELBv2 / ALB), AWS Auto Scaling, AWS CloudFormation</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Deploy a highly available multi-AZ Application Load Balancer fronting an Auto Scaling group.</a:t>
            </a:r>
          </a:p>
          <a:p>
            <a:pPr algn="l">
              <a:spcAft>
                <a:spcPts val="300"/>
              </a:spcAft>
            </a:pPr>
            <a:r>
              <a:rPr sz="1050" b="0">
                <a:solidFill>
                  <a:srgbClr val="5B6372"/>
                </a:solidFill>
                <a:latin typeface="Arial"/>
              </a:rPr>
              <a:t>Evidence:  describe-stacks output showing stack ha-web at CREATE_COMPLETE with AlbDnsName and AsgName in the Outputs.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1-multiaz-alb-autoscaling.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351</a:t>
            </a:r>
          </a:p>
        </p:txBody>
      </p:sp>
    </p:spTree>
  </p:cSld>
  <p:clrMapOvr>
    <a:masterClrMapping/>
  </p:clrMapOvr>
  <p:transition xmlns:p14="http://schemas.microsoft.com/office/powerpoint/2010/main" p14:dur="380">
    <p:fade/>
  </p:transition>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DAY 3 · LO3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Attach Target-Tracking Auto Scaling and Validate Scale-Out Under Load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3 · LO3 · K2, K4, A2</a:t>
            </a:r>
          </a:p>
        </p:txBody>
      </p:sp>
      <p:sp>
        <p:nvSpPr>
          <p:cNvPr id="10" name="TextBox 9"/>
          <p:cNvSpPr txBox="1"/>
          <p:nvPr/>
        </p:nvSpPr>
        <p:spPr>
          <a:xfrm>
            <a:off x="777240" y="2286000"/>
            <a:ext cx="5486400" cy="1388745"/>
          </a:xfrm>
          <a:prstGeom prst="rect">
            <a:avLst/>
          </a:prstGeom>
          <a:noFill/>
        </p:spPr>
        <p:txBody>
          <a:bodyPr wrap="square" anchor="t">
            <a:spAutoFit/>
          </a:bodyPr>
          <a:lstStyle/>
          <a:p>
            <a:pPr algn="l">
              <a:spcAft>
                <a:spcPts val="400"/>
              </a:spcAft>
            </a:pPr>
            <a:r>
              <a:rPr sz="1350" b="0">
                <a:solidFill>
                  <a:srgbClr val="161B26"/>
                </a:solidFill>
                <a:latin typeface="Arial"/>
              </a:rPr>
              <a:t>A static two-instance web tier survives an AZ failure but not a traffic spike.</a:t>
            </a:r>
          </a:p>
        </p:txBody>
      </p:sp>
      <p:sp>
        <p:nvSpPr>
          <p:cNvPr id="11" name="Rectangle 10"/>
          <p:cNvSpPr/>
          <p:nvPr/>
        </p:nvSpPr>
        <p:spPr>
          <a:xfrm>
            <a:off x="777240" y="3784473"/>
            <a:ext cx="5486400" cy="13281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784473"/>
            <a:ext cx="91440" cy="13281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912489"/>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960120" y="4186809"/>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 target-tracking scaling policy (50% average CPU) on devops-ha-asg with its two auto-created CloudWatch alarms, plus a repeatable load test that drives observable scale-out and scale-in.</a:t>
            </a:r>
          </a:p>
        </p:txBody>
      </p:sp>
      <p:sp>
        <p:nvSpPr>
          <p:cNvPr id="15" name="TextBox 14"/>
          <p:cNvSpPr txBox="1"/>
          <p:nvPr/>
        </p:nvSpPr>
        <p:spPr>
          <a:xfrm>
            <a:off x="960120" y="4811268"/>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Auto Scaling, Amazon CloudWatch, Amazon EC2</a:t>
            </a:r>
          </a:p>
        </p:txBody>
      </p:sp>
      <p:sp>
        <p:nvSpPr>
          <p:cNvPr id="16" name="Rectangle 15"/>
          <p:cNvSpPr/>
          <p:nvPr/>
        </p:nvSpPr>
        <p:spPr>
          <a:xfrm>
            <a:off x="777240" y="5222367"/>
            <a:ext cx="5486400" cy="1105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222367"/>
            <a:ext cx="91440" cy="11052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350383"/>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624703"/>
            <a:ext cx="5166360" cy="520065"/>
          </a:xfrm>
          <a:prstGeom prst="rect">
            <a:avLst/>
          </a:prstGeom>
          <a:noFill/>
        </p:spPr>
        <p:txBody>
          <a:bodyPr wrap="square" anchor="t">
            <a:spAutoFit/>
          </a:bodyPr>
          <a:lstStyle/>
          <a:p>
            <a:pPr algn="l">
              <a:spcAft>
                <a:spcPts val="300"/>
              </a:spcAft>
            </a:pPr>
            <a:r>
              <a:rPr sz="1050" b="0">
                <a:solidFill>
                  <a:srgbClr val="5B6372"/>
                </a:solidFill>
                <a:latin typeface="Arial"/>
              </a:rPr>
              <a:t>Outcome:  Attach a target-tracking scaling policy to an Auto Scaling group.</a:t>
            </a:r>
          </a:p>
          <a:p>
            <a:pPr algn="l">
              <a:spcAft>
                <a:spcPts val="300"/>
              </a:spcAft>
            </a:pPr>
            <a:r>
              <a:rPr sz="1050" b="0">
                <a:solidFill>
                  <a:srgbClr val="5B6372"/>
                </a:solidFill>
                <a:latin typeface="Arial"/>
              </a:rPr>
              <a:t>Evidence:  describe-policies output showing cpu-target-tracking-50 attached with TargetValue 50.0.</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2-target-tracking-load-validation.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352</a:t>
            </a:r>
          </a:p>
        </p:txBody>
      </p:sp>
    </p:spTree>
  </p:cSld>
  <p:clrMapOvr>
    <a:masterClrMapping/>
  </p:clrMapOvr>
  <p:transition xmlns:p14="http://schemas.microsoft.com/office/powerpoint/2010/main" p14:dur="380">
    <p:fade/>
  </p:transition>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DAY 3 · LO3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Select a DR Strategy by RTO/RPO and Implement a Pilot-Light Skeleton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3 · LO3 · K2, K4, A2</a:t>
            </a:r>
          </a:p>
        </p:txBody>
      </p:sp>
      <p:sp>
        <p:nvSpPr>
          <p:cNvPr id="10" name="TextBox 9"/>
          <p:cNvSpPr txBox="1"/>
          <p:nvPr/>
        </p:nvSpPr>
        <p:spPr>
          <a:xfrm>
            <a:off x="777240" y="2286000"/>
            <a:ext cx="5486400" cy="992505"/>
          </a:xfrm>
          <a:prstGeom prst="rect">
            <a:avLst/>
          </a:prstGeom>
          <a:noFill/>
        </p:spPr>
        <p:txBody>
          <a:bodyPr wrap="square" anchor="t">
            <a:spAutoFit/>
          </a:bodyPr>
          <a:lstStyle/>
          <a:p>
            <a:pPr algn="l">
              <a:spcAft>
                <a:spcPts val="400"/>
              </a:spcAft>
            </a:pPr>
            <a:r>
              <a:rPr sz="1350" b="0">
                <a:solidFill>
                  <a:srgbClr val="161B26"/>
                </a:solidFill>
                <a:latin typeface="Arial"/>
              </a:rPr>
              <a:t>Not every workload needs active-active — and not every business can accept a day-long restore.</a:t>
            </a:r>
          </a:p>
        </p:txBody>
      </p:sp>
      <p:sp>
        <p:nvSpPr>
          <p:cNvPr id="11" name="Rectangle 10"/>
          <p:cNvSpPr/>
          <p:nvPr/>
        </p:nvSpPr>
        <p:spPr>
          <a:xfrm>
            <a:off x="777240" y="3388233"/>
            <a:ext cx="5486400" cy="15510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88233"/>
            <a:ext cx="91440" cy="155105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16249"/>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960120" y="3790569"/>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 completed DR selection worksheet plus a deployed pilot-light skeleton in a second Region (minimal VPC, a scaled-to-zero app tier.</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Amazon Route 53, Amazon RDS, AWS CloudFormation, Amazon S3 (Cross-Region Replication)</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Compare the four AWS disaster-recovery strategies against RTO/RPO targets, select an appropriate pattern.</a:t>
            </a:r>
          </a:p>
          <a:p>
            <a:pPr algn="l">
              <a:spcAft>
                <a:spcPts val="300"/>
              </a:spcAft>
            </a:pPr>
            <a:r>
              <a:rPr sz="1050" b="0">
                <a:solidFill>
                  <a:srgbClr val="5B6372"/>
                </a:solidFill>
                <a:latin typeface="Arial"/>
              </a:rPr>
              <a:t>Evidence:  The completed dr-plan.md worksheet showing the workload RTO/RPO and the justified strategy choice.</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3-rto-rpo-dr-selection.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353</a:t>
            </a:r>
          </a:p>
        </p:txBody>
      </p:sp>
    </p:spTree>
  </p:cSld>
  <p:clrMapOvr>
    <a:masterClrMapping/>
  </p:clrMapOvr>
  <p:transition xmlns:p14="http://schemas.microsoft.com/office/powerpoint/2010/main" p14:dur="380">
    <p:fade/>
  </p:transition>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DAY 3 · LO3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Automate Backup, Restore and Data Protection with AWS Backup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3 · LO3 · K2, K4, A2</a:t>
            </a:r>
          </a:p>
        </p:txBody>
      </p:sp>
      <p:sp>
        <p:nvSpPr>
          <p:cNvPr id="10" name="TextBox 9"/>
          <p:cNvSpPr txBox="1"/>
          <p:nvPr/>
        </p:nvSpPr>
        <p:spPr>
          <a:xfrm>
            <a:off x="777240" y="2286000"/>
            <a:ext cx="5486400" cy="1215390"/>
          </a:xfrm>
          <a:prstGeom prst="rect">
            <a:avLst/>
          </a:prstGeom>
          <a:noFill/>
        </p:spPr>
        <p:txBody>
          <a:bodyPr wrap="square" anchor="t">
            <a:spAutoFit/>
          </a:bodyPr>
          <a:lstStyle/>
          <a:p>
            <a:pPr algn="l">
              <a:spcAft>
                <a:spcPts val="400"/>
              </a:spcAft>
            </a:pPr>
            <a:r>
              <a:rPr sz="1350" b="0">
                <a:solidFill>
                  <a:srgbClr val="161B26"/>
                </a:solidFill>
                <a:latin typeface="Arial"/>
              </a:rPr>
              <a:t>Resilience is not only about staying up — it is about getting your data back.</a:t>
            </a:r>
          </a:p>
        </p:txBody>
      </p:sp>
      <p:sp>
        <p:nvSpPr>
          <p:cNvPr id="11" name="Rectangle 10"/>
          <p:cNvSpPr/>
          <p:nvPr/>
        </p:nvSpPr>
        <p:spPr>
          <a:xfrm>
            <a:off x="777240" y="3611118"/>
            <a:ext cx="5486400" cy="13281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118"/>
            <a:ext cx="91440" cy="13281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39134"/>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960120" y="4013454"/>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An AWS Backup plan with a tag-based selection protecting EBS and RDS, a verified restore from a recovery point, plus S3 versioning + cross-Region replication and RDS automated snapshots enabled.</a:t>
            </a:r>
          </a:p>
        </p:txBody>
      </p:sp>
      <p:sp>
        <p:nvSpPr>
          <p:cNvPr id="15" name="TextBox 14"/>
          <p:cNvSpPr txBox="1"/>
          <p:nvPr/>
        </p:nvSpPr>
        <p:spPr>
          <a:xfrm>
            <a:off x="960120" y="4637913"/>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Backup, Amazon RDS, Amazon S3, Amazon EBS</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Automate centralized backups with AWS Backup (plan + tag-based selection), test a restore.</a:t>
            </a:r>
          </a:p>
          <a:p>
            <a:pPr algn="l">
              <a:spcAft>
                <a:spcPts val="300"/>
              </a:spcAft>
            </a:pPr>
            <a:r>
              <a:rPr sz="1050" b="0">
                <a:solidFill>
                  <a:srgbClr val="5B6372"/>
                </a:solidFill>
                <a:latin typeface="Arial"/>
              </a:rPr>
              <a:t>Evidence:  get-backup-plan output showing devops-daily-plan with its daily rule and 35-day lifecycle.</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4-backup-restore-data-protection.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354</a:t>
            </a:r>
          </a:p>
        </p:txBody>
      </p:sp>
    </p:spTree>
  </p:cSld>
  <p:clrMapOvr>
    <a:masterClrMapping/>
  </p:clrMapOvr>
  <p:transition xmlns:p14="http://schemas.microsoft.com/office/powerpoint/2010/main" p14:dur="380">
    <p:fade/>
  </p:transition>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DAY 3 · LO3 · HANDS-ON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Inject Failure and Verify Self-Healing with AWS FIS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3 · LO3 · K2, K4, A2</a:t>
            </a:r>
          </a:p>
        </p:txBody>
      </p:sp>
      <p:sp>
        <p:nvSpPr>
          <p:cNvPr id="10" name="TextBox 9"/>
          <p:cNvSpPr txBox="1"/>
          <p:nvPr/>
        </p:nvSpPr>
        <p:spPr>
          <a:xfrm>
            <a:off x="777240" y="2286000"/>
            <a:ext cx="5486400" cy="1215390"/>
          </a:xfrm>
          <a:prstGeom prst="rect">
            <a:avLst/>
          </a:prstGeom>
          <a:noFill/>
        </p:spPr>
        <p:txBody>
          <a:bodyPr wrap="square" anchor="t">
            <a:spAutoFit/>
          </a:bodyPr>
          <a:lstStyle/>
          <a:p>
            <a:pPr algn="l">
              <a:spcAft>
                <a:spcPts val="400"/>
              </a:spcAft>
            </a:pPr>
            <a:r>
              <a:rPr sz="1350" b="0">
                <a:solidFill>
                  <a:srgbClr val="161B26"/>
                </a:solidFill>
                <a:latin typeface="Arial"/>
              </a:rPr>
              <a:t>A resilient design is only proven when you break it on purpose.</a:t>
            </a:r>
          </a:p>
        </p:txBody>
      </p:sp>
      <p:sp>
        <p:nvSpPr>
          <p:cNvPr id="11" name="Rectangle 10"/>
          <p:cNvSpPr/>
          <p:nvPr/>
        </p:nvSpPr>
        <p:spPr>
          <a:xfrm>
            <a:off x="777240" y="3611118"/>
            <a:ext cx="5486400" cy="15015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118"/>
            <a:ext cx="91440" cy="150152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39134"/>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960120" y="4013454"/>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 verified self-healing web tier: a manual instance termination is auto-replaced by the Auto Scaling group, and an AWS FIS experiment stops instances while the ALB continues to serve traffic.</a:t>
            </a:r>
          </a:p>
        </p:txBody>
      </p:sp>
      <p:sp>
        <p:nvSpPr>
          <p:cNvPr id="15" name="TextBox 14"/>
          <p:cNvSpPr txBox="1"/>
          <p:nvPr/>
        </p:nvSpPr>
        <p:spPr>
          <a:xfrm>
            <a:off x="960120" y="4637913"/>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Fault Injection Service (FIS), AWS Auto Scaling, Amazon EC2, Amazon CloudWatch</a:t>
            </a:r>
          </a:p>
        </p:txBody>
      </p:sp>
      <p:sp>
        <p:nvSpPr>
          <p:cNvPr id="16" name="Rectangle 15"/>
          <p:cNvSpPr/>
          <p:nvPr/>
        </p:nvSpPr>
        <p:spPr>
          <a:xfrm>
            <a:off x="777240" y="5222367"/>
            <a:ext cx="5486400" cy="1105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222367"/>
            <a:ext cx="91440" cy="11052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350383"/>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624703"/>
            <a:ext cx="5166360" cy="520065"/>
          </a:xfrm>
          <a:prstGeom prst="rect">
            <a:avLst/>
          </a:prstGeom>
          <a:noFill/>
        </p:spPr>
        <p:txBody>
          <a:bodyPr wrap="square" anchor="t">
            <a:spAutoFit/>
          </a:bodyPr>
          <a:lstStyle/>
          <a:p>
            <a:pPr algn="l">
              <a:spcAft>
                <a:spcPts val="300"/>
              </a:spcAft>
            </a:pPr>
            <a:r>
              <a:rPr sz="1050" b="0">
                <a:solidFill>
                  <a:srgbClr val="5B6372"/>
                </a:solidFill>
                <a:latin typeface="Arial"/>
              </a:rPr>
              <a:t>Outcome:  Prove the multi-AZ tier self-heals by terminating an instance.</a:t>
            </a:r>
          </a:p>
          <a:p>
            <a:pPr algn="l">
              <a:spcAft>
                <a:spcPts val="300"/>
              </a:spcAft>
            </a:pPr>
            <a:r>
              <a:rPr sz="1050" b="0">
                <a:solidFill>
                  <a:srgbClr val="5B6372"/>
                </a:solidFill>
                <a:latin typeface="Arial"/>
              </a:rPr>
              <a:t>Evidence:  describe-scaling-activities output showing a successful 'Launching a new EC2 instance' after the manual termination.</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5-failure-injection-self-healing.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355</a:t>
            </a:r>
          </a:p>
        </p:txBody>
      </p:sp>
    </p:spTree>
  </p:cSld>
  <p:clrMapOvr>
    <a:masterClrMapping/>
  </p:clrMapOvr>
  <p:transition xmlns:p14="http://schemas.microsoft.com/office/powerpoint/2010/main" p14:dur="380">
    <p:fade/>
  </p:transition>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RECAP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Recap — Resilient Cloud Solutions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11</a:t>
            </a:r>
          </a:p>
          <a:p>
            <a:pPr algn="l">
              <a:spcAft>
                <a:spcPts val="300"/>
              </a:spcAft>
            </a:pPr>
            <a:r>
              <a:rPr sz="950" b="0">
                <a:solidFill>
                  <a:srgbClr val="5B6372"/>
                </a:solidFill>
                <a:latin typeface="Arial"/>
              </a:rPr>
              <a:t>Deploy a highly available multi-AZ Application Load Balancer fronting an Auto Scaling group.</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12</a:t>
            </a:r>
          </a:p>
          <a:p>
            <a:pPr algn="l">
              <a:spcAft>
                <a:spcPts val="300"/>
              </a:spcAft>
            </a:pPr>
            <a:r>
              <a:rPr sz="950" b="0">
                <a:solidFill>
                  <a:srgbClr val="5B6372"/>
                </a:solidFill>
                <a:latin typeface="Arial"/>
              </a:rPr>
              <a:t>Attach a target-tracking scaling policy to an Auto Scaling group.</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13</a:t>
            </a:r>
          </a:p>
          <a:p>
            <a:pPr algn="l">
              <a:spcAft>
                <a:spcPts val="300"/>
              </a:spcAft>
            </a:pPr>
            <a:r>
              <a:rPr sz="950" b="0">
                <a:solidFill>
                  <a:srgbClr val="5B6372"/>
                </a:solidFill>
                <a:latin typeface="Arial"/>
              </a:rPr>
              <a:t>Compare the four AWS disaster-recovery strategies against RTO/RPO targets, select an appropriate pattern.</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14</a:t>
            </a:r>
          </a:p>
          <a:p>
            <a:pPr algn="l">
              <a:spcAft>
                <a:spcPts val="300"/>
              </a:spcAft>
            </a:pPr>
            <a:r>
              <a:rPr sz="950" b="0">
                <a:solidFill>
                  <a:srgbClr val="5B6372"/>
                </a:solidFill>
                <a:latin typeface="Arial"/>
              </a:rPr>
              <a:t>Automate centralized backups with AWS Backup (plan + tag-based selection), test a restore.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15</a:t>
            </a:r>
          </a:p>
          <a:p>
            <a:pPr algn="l">
              <a:spcAft>
                <a:spcPts val="300"/>
              </a:spcAft>
            </a:pPr>
            <a:r>
              <a:rPr sz="950" b="0">
                <a:solidFill>
                  <a:srgbClr val="5B6372"/>
                </a:solidFill>
                <a:latin typeface="Arial"/>
              </a:rPr>
              <a:t>Prove the multi-AZ tier self-heals by terminating an instance.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Key principle</a:t>
            </a:r>
          </a:p>
          <a:p>
            <a:pPr algn="l">
              <a:spcAft>
                <a:spcPts val="300"/>
              </a:spcAft>
            </a:pPr>
            <a:r>
              <a:rPr sz="950" b="0">
                <a:solidFill>
                  <a:srgbClr val="5B6372"/>
                </a:solidFill>
                <a:latin typeface="Arial"/>
              </a:rPr>
              <a:t>Spread compute across multiple Availability Zones behind an Elastic Load Balancer so one AZ failure is survivable.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356</a:t>
            </a:r>
          </a:p>
        </p:txBody>
      </p:sp>
    </p:spTree>
  </p:cSld>
  <p:clrMapOvr>
    <a:masterClrMapping/>
  </p:clrMapOvr>
  <p:transition xmlns:p14="http://schemas.microsoft.com/office/powerpoint/2010/main" p14:dur="380">
    <p:fade/>
  </p:transition>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Monitoring and Logging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Exam weighting 15%  ·  Metrics · logs · dashboards · alarms · automated event management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357</a:t>
            </a:r>
          </a:p>
        </p:txBody>
      </p:sp>
    </p:spTree>
  </p:cSld>
  <p:clrMapOvr>
    <a:masterClrMapping/>
  </p:clrMapOvr>
  <p:transition xmlns:p14="http://schemas.microsoft.com/office/powerpoint/2010/main" p14:dur="380">
    <p:fade/>
  </p:transition>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RESILIENCE &amp; OBSERVABILITY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Monitoring and Logging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29037" y="1819655"/>
            <a:ext cx="6933620" cy="39502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evops-resilience-observability.png"/>
          <p:cNvPicPr>
            <a:picLocks noChangeAspect="1"/>
          </p:cNvPicPr>
          <p:nvPr/>
        </p:nvPicPr>
        <p:blipFill>
          <a:blip r:embed="rId2"/>
          <a:stretch>
            <a:fillRect/>
          </a:stretch>
        </p:blipFill>
        <p:spPr>
          <a:xfrm>
            <a:off x="2683901" y="1874519"/>
            <a:ext cx="6823892" cy="3840480"/>
          </a:xfrm>
          <a:prstGeom prst="rect">
            <a:avLst/>
          </a:prstGeom>
        </p:spPr>
      </p:pic>
      <p:sp>
        <p:nvSpPr>
          <p:cNvPr id="9" name="Rectangle 8"/>
          <p:cNvSpPr/>
          <p:nvPr/>
        </p:nvSpPr>
        <p:spPr>
          <a:xfrm>
            <a:off x="777240" y="5852159"/>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852159"/>
            <a:ext cx="91440"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52159"/>
            <a:ext cx="10241280" cy="640080"/>
          </a:xfrm>
          <a:prstGeom prst="rect">
            <a:avLst/>
          </a:prstGeom>
          <a:noFill/>
        </p:spPr>
        <p:txBody>
          <a:bodyPr wrap="square" anchor="ctr">
            <a:spAutoFit/>
          </a:bodyPr>
          <a:lstStyle/>
          <a:p>
            <a:pPr algn="l">
              <a:spcAft>
                <a:spcPts val="400"/>
              </a:spcAft>
            </a:pPr>
            <a:r>
              <a:rPr sz="1300" b="1">
                <a:solidFill>
                  <a:srgbClr val="F59E0B"/>
                </a:solidFill>
                <a:latin typeface="Arial"/>
              </a:rPr>
              <a:t>▶  </a:t>
            </a:r>
            <a:r>
              <a:rPr sz="1350" b="0">
                <a:solidFill>
                  <a:srgbClr val="161B26"/>
                </a:solidFill>
                <a:latin typeface="Arial"/>
              </a:rPr>
              <a:t>Resilience and observability working together to keep services healthy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358</a:t>
            </a:r>
          </a:p>
        </p:txBody>
      </p:sp>
    </p:spTree>
  </p:cSld>
  <p:clrMapOvr>
    <a:masterClrMapping/>
  </p:clrMapOvr>
  <p:transition xmlns:p14="http://schemas.microsoft.com/office/powerpoint/2010/main" p14:dur="380">
    <p:fade/>
  </p:transition>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04 · WEIGHTING 15%</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Key Concepts — Monitoring and Logging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CloudWatch metrics</a:t>
            </a:r>
          </a:p>
          <a:p>
            <a:pPr algn="l">
              <a:spcAft>
                <a:spcPts val="300"/>
              </a:spcAft>
            </a:pPr>
            <a:r>
              <a:rPr sz="1150" b="0">
                <a:solidFill>
                  <a:srgbClr val="5B6372"/>
                </a:solidFill>
                <a:latin typeface="Arial"/>
              </a:rPr>
              <a:t>Namespaces, dimensions and custom metrics measure system and application health over time.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CloudWatch Logs</a:t>
            </a:r>
          </a:p>
          <a:p>
            <a:pPr algn="l">
              <a:spcAft>
                <a:spcPts val="300"/>
              </a:spcAft>
            </a:pPr>
            <a:r>
              <a:rPr sz="1150" b="0">
                <a:solidFill>
                  <a:srgbClr val="5B6372"/>
                </a:solidFill>
                <a:latin typeface="Arial"/>
              </a:rPr>
              <a:t>Log groups, streams, subscription filters and metric filters turn raw logs into searchable, alertable signals.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Dashboards</a:t>
            </a:r>
          </a:p>
          <a:p>
            <a:pPr algn="l">
              <a:spcAft>
                <a:spcPts val="300"/>
              </a:spcAft>
            </a:pPr>
            <a:r>
              <a:rPr sz="1150" b="0">
                <a:solidFill>
                  <a:srgbClr val="5B6372"/>
                </a:solidFill>
                <a:latin typeface="Arial"/>
              </a:rPr>
              <a:t>A single pane of glass correlates metrics, logs and alarms for fast troubleshooting.</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Alarms &amp; composite alarms</a:t>
            </a:r>
          </a:p>
          <a:p>
            <a:pPr algn="l">
              <a:spcAft>
                <a:spcPts val="300"/>
              </a:spcAft>
            </a:pPr>
            <a:r>
              <a:rPr sz="1150" b="0">
                <a:solidFill>
                  <a:srgbClr val="5B6372"/>
                </a:solidFill>
                <a:latin typeface="Arial"/>
              </a:rPr>
              <a:t>Thresholds and anomaly detection notify SNS or trigger auto-remediation before users are affected.</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Tracing &amp; insights</a:t>
            </a:r>
          </a:p>
          <a:p>
            <a:pPr algn="l">
              <a:spcAft>
                <a:spcPts val="300"/>
              </a:spcAft>
            </a:pPr>
            <a:r>
              <a:rPr sz="1150" b="0">
                <a:solidFill>
                  <a:srgbClr val="5B6372"/>
                </a:solidFill>
                <a:latin typeface="Arial"/>
              </a:rPr>
              <a:t>X-Ray traces distributed requests; CloudWatch Logs Insights and Container/Lambda Insights find the root cause.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Aggregation at scale</a:t>
            </a:r>
          </a:p>
          <a:p>
            <a:pPr algn="l">
              <a:spcAft>
                <a:spcPts val="300"/>
              </a:spcAft>
            </a:pPr>
            <a:r>
              <a:rPr sz="1150" b="0">
                <a:solidFill>
                  <a:srgbClr val="5B6372"/>
                </a:solidFill>
                <a:latin typeface="Arial"/>
              </a:rPr>
              <a:t>Cross-account observability, the CloudWatch agent and OpenTelemetry centralise telemetry from many sources.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359</a:t>
            </a:r>
          </a:p>
        </p:txBody>
      </p:sp>
    </p:spTree>
  </p:cSld>
  <p:clrMapOvr>
    <a:masterClrMapping/>
  </p:clrMapOvr>
  <p:transition xmlns:p14="http://schemas.microsoft.com/office/powerpoint/2010/main" p14:dur="380">
    <p:fade/>
  </p:transition>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04 · OBSERVABILITY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Monitoring &amp; Logging Pipeline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237744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37744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App + EC2
CloudWatch agent</a:t>
            </a:r>
          </a:p>
        </p:txBody>
      </p:sp>
      <p:sp>
        <p:nvSpPr>
          <p:cNvPr id="10" name="Rounded Rectangle 9"/>
          <p:cNvSpPr/>
          <p:nvPr/>
        </p:nvSpPr>
        <p:spPr>
          <a:xfrm>
            <a:off x="3520440" y="196596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0440" y="196596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CloudWatch Logs
log groups</a:t>
            </a:r>
          </a:p>
        </p:txBody>
      </p:sp>
      <p:sp>
        <p:nvSpPr>
          <p:cNvPr id="13" name="Rounded Rectangle 12"/>
          <p:cNvSpPr/>
          <p:nvPr/>
        </p:nvSpPr>
        <p:spPr>
          <a:xfrm>
            <a:off x="3520440" y="365760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365760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CloudWatch Metrics
+ custom metrics</a:t>
            </a:r>
          </a:p>
        </p:txBody>
      </p:sp>
      <p:sp>
        <p:nvSpPr>
          <p:cNvPr id="16" name="Rounded Rectangle 15"/>
          <p:cNvSpPr/>
          <p:nvPr/>
        </p:nvSpPr>
        <p:spPr>
          <a:xfrm>
            <a:off x="6263640" y="1965960"/>
            <a:ext cx="237744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965960"/>
            <a:ext cx="237744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Metric Filters
/ Logs Insights</a:t>
            </a:r>
          </a:p>
        </p:txBody>
      </p:sp>
      <p:sp>
        <p:nvSpPr>
          <p:cNvPr id="19" name="Rounded Rectangle 18"/>
          <p:cNvSpPr/>
          <p:nvPr/>
        </p:nvSpPr>
        <p:spPr>
          <a:xfrm>
            <a:off x="9006840" y="1965960"/>
            <a:ext cx="2377440" cy="1051560"/>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1965960"/>
            <a:ext cx="237744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Dashboards</a:t>
            </a:r>
          </a:p>
        </p:txBody>
      </p:sp>
      <p:sp>
        <p:nvSpPr>
          <p:cNvPr id="22" name="Rounded Rectangle 21"/>
          <p:cNvSpPr/>
          <p:nvPr/>
        </p:nvSpPr>
        <p:spPr>
          <a:xfrm>
            <a:off x="6263640" y="3657600"/>
            <a:ext cx="2377440" cy="1051560"/>
          </a:xfrm>
          <a:prstGeom prst="roundRect">
            <a:avLst/>
          </a:prstGeom>
          <a:solidFill>
            <a:srgbClr val="F5F8FC"/>
          </a:solidFill>
          <a:ln w="15875">
            <a:solidFill>
              <a:srgbClr val="EC71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657600"/>
            <a:ext cx="2377440" cy="8229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Alarms</a:t>
            </a:r>
          </a:p>
        </p:txBody>
      </p:sp>
      <p:sp>
        <p:nvSpPr>
          <p:cNvPr id="25" name="Rounded Rectangle 24"/>
          <p:cNvSpPr/>
          <p:nvPr/>
        </p:nvSpPr>
        <p:spPr>
          <a:xfrm>
            <a:off x="9006840" y="3657600"/>
            <a:ext cx="2377440" cy="1051560"/>
          </a:xfrm>
          <a:prstGeom prst="roundRect">
            <a:avLst/>
          </a:prstGeom>
          <a:solidFill>
            <a:srgbClr val="F5F8FC"/>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06840" y="3657600"/>
            <a:ext cx="2377440" cy="822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982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SNS notify</a:t>
            </a:r>
          </a:p>
        </p:txBody>
      </p:sp>
      <p:cxnSp>
        <p:nvCxnSpPr>
          <p:cNvPr id="28" name="Connector 27"/>
          <p:cNvCxnSpPr/>
          <p:nvPr/>
        </p:nvCxnSpPr>
        <p:spPr>
          <a:xfrm>
            <a:off x="31546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15468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8978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410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897880" y="418338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41080" y="418338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F59E0B"/>
                </a:solidFill>
                <a:latin typeface="Arial"/>
              </a:rPr>
              <a:t>▶  </a:t>
            </a:r>
            <a:r>
              <a:rPr sz="1300" b="0">
                <a:solidFill>
                  <a:srgbClr val="161B26"/>
                </a:solidFill>
                <a:latin typeface="Arial"/>
              </a:rPr>
              <a:t>Logs and metrics feed dashboards and alarms; alarms notify SNS and trigger the incident response in Domain 05.</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360</a:t>
            </a:r>
          </a:p>
        </p:txBody>
      </p:sp>
    </p:spTree>
  </p:cSld>
  <p:clrMapOvr>
    <a:masterClrMapping/>
  </p:clrMapOvr>
  <p:transition xmlns:p14="http://schemas.microsoft.com/office/powerpoint/2010/main" p14:dur="380">
    <p:fade/>
  </p:transition>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KNOW YOUR SIGNALS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Three Pillars of Observability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Metrics</a:t>
            </a:r>
          </a:p>
          <a:p>
            <a:pPr algn="l">
              <a:spcAft>
                <a:spcPts val="300"/>
              </a:spcAft>
            </a:pPr>
            <a:r>
              <a:rPr sz="1200" b="0">
                <a:solidFill>
                  <a:srgbClr val="5B6372"/>
                </a:solidFill>
                <a:latin typeface="Arial"/>
              </a:rPr>
              <a:t>Numeric time-series — CPU, latency, error rate, request count.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Logs</a:t>
            </a:r>
          </a:p>
          <a:p>
            <a:pPr algn="l">
              <a:spcAft>
                <a:spcPts val="300"/>
              </a:spcAft>
            </a:pPr>
            <a:r>
              <a:rPr sz="1200" b="0">
                <a:solidFill>
                  <a:srgbClr val="5B6372"/>
                </a:solidFill>
                <a:latin typeface="Arial"/>
              </a:rPr>
              <a:t>Event records — application, system and access logs in CloudWatch Logs.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Traces</a:t>
            </a:r>
          </a:p>
          <a:p>
            <a:pPr algn="l">
              <a:spcAft>
                <a:spcPts val="300"/>
              </a:spcAft>
            </a:pPr>
            <a:r>
              <a:rPr sz="1200" b="0">
                <a:solidFill>
                  <a:srgbClr val="5B6372"/>
                </a:solidFill>
                <a:latin typeface="Arial"/>
              </a:rPr>
              <a:t>Request paths across services with AWS X-Ray.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Dashboards &amp; alarms</a:t>
            </a:r>
          </a:p>
          <a:p>
            <a:pPr algn="l">
              <a:spcAft>
                <a:spcPts val="300"/>
              </a:spcAft>
            </a:pPr>
            <a:r>
              <a:rPr sz="1200" b="0">
                <a:solidFill>
                  <a:srgbClr val="5B6372"/>
                </a:solidFill>
                <a:latin typeface="Arial"/>
              </a:rPr>
              <a:t>Correlate all three; alarm on anomalies before users notice.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361</a:t>
            </a:r>
          </a:p>
        </p:txBody>
      </p:sp>
    </p:spTree>
  </p:cSld>
  <p:clrMapOvr>
    <a:masterClrMapping/>
  </p:clrMapOvr>
  <p:transition xmlns:p14="http://schemas.microsoft.com/office/powerpoint/2010/main" p14:dur="380">
    <p:fade/>
  </p:transition>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READING THE SIGNALS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Alarm Thresholds — Healthy vs Incident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F59E0B"/>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When p90 latency crosses the alarm threshold, CloudWatch fires and the automated response kicks in.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362</a:t>
            </a:r>
          </a:p>
        </p:txBody>
      </p:sp>
    </p:spTree>
  </p:cSld>
  <p:clrMapOvr>
    <a:masterClrMapping/>
  </p:clrMapOvr>
  <p:transition xmlns:p14="http://schemas.microsoft.com/office/powerpoint/2010/main" p14:dur="380">
    <p:fade/>
  </p:transition>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METRICS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Anatomy of CloudWatch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Namespaces</a:t>
            </a:r>
          </a:p>
          <a:p>
            <a:pPr algn="l">
              <a:spcAft>
                <a:spcPts val="300"/>
              </a:spcAft>
            </a:pPr>
            <a:r>
              <a:rPr sz="1200" b="0">
                <a:solidFill>
                  <a:srgbClr val="5B6372"/>
                </a:solidFill>
                <a:latin typeface="Arial"/>
              </a:rPr>
              <a:t>Group metrics by service (AWS/EC2, custom app namespaces).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Dimensions</a:t>
            </a:r>
          </a:p>
          <a:p>
            <a:pPr algn="l">
              <a:spcAft>
                <a:spcPts val="300"/>
              </a:spcAft>
            </a:pPr>
            <a:r>
              <a:rPr sz="1200" b="0">
                <a:solidFill>
                  <a:srgbClr val="5B6372"/>
                </a:solidFill>
                <a:latin typeface="Arial"/>
              </a:rPr>
              <a:t>Name/value pairs that identify a metric (InstanceId, etc.).</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Statistics &amp; periods</a:t>
            </a:r>
          </a:p>
          <a:p>
            <a:pPr algn="l">
              <a:spcAft>
                <a:spcPts val="300"/>
              </a:spcAft>
            </a:pPr>
            <a:r>
              <a:rPr sz="1200" b="0">
                <a:solidFill>
                  <a:srgbClr val="5B6372"/>
                </a:solidFill>
                <a:latin typeface="Arial"/>
              </a:rPr>
              <a:t>Aggregate over time — Average, Sum, p90, p99.</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Alarms &amp; composite</a:t>
            </a:r>
          </a:p>
          <a:p>
            <a:pPr algn="l">
              <a:spcAft>
                <a:spcPts val="300"/>
              </a:spcAft>
            </a:pPr>
            <a:r>
              <a:rPr sz="1200" b="0">
                <a:solidFill>
                  <a:srgbClr val="5B6372"/>
                </a:solidFill>
                <a:latin typeface="Arial"/>
              </a:rPr>
              <a:t>Trigger on thresholds or anomaly detection; combine with AND/OR.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363</a:t>
            </a:r>
          </a:p>
        </p:txBody>
      </p:sp>
    </p:spTree>
  </p:cSld>
  <p:clrMapOvr>
    <a:masterClrMapping/>
  </p:clrMapOvr>
  <p:transition xmlns:p14="http://schemas.microsoft.com/office/powerpoint/2010/main" p14:dur="380">
    <p:fade/>
  </p:transition>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TURNING LOGS INTO SIGNALS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Logs-to-Action Pipeline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CloudWatch agent
collects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Log group
stores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Metric filter
extracts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Metric
published</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Alarm
evaluates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SNS / action
notifies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364</a:t>
            </a:r>
          </a:p>
        </p:txBody>
      </p:sp>
    </p:spTree>
  </p:cSld>
  <p:clrMapOvr>
    <a:masterClrMapping/>
  </p:clrMapOvr>
  <p:transition xmlns:p14="http://schemas.microsoft.com/office/powerpoint/2010/main" p14:dur="380">
    <p:fade/>
  </p:transition>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DEEPER TROUBLESHOOTING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CloudWatch Insights Tools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3007461" cy="502920"/>
          </a:xfrm>
          <a:prstGeom prst="rect">
            <a:avLst/>
          </a:prstGeom>
          <a:noFill/>
        </p:spPr>
        <p:txBody>
          <a:bodyPr wrap="square" anchor="ctr">
            <a:spAutoFit/>
          </a:bodyPr>
          <a:lstStyle/>
          <a:p>
            <a:pPr algn="l">
              <a:spcAft>
                <a:spcPts val="400"/>
              </a:spcAft>
            </a:pPr>
            <a:r>
              <a:rPr sz="1400" b="1">
                <a:solidFill>
                  <a:srgbClr val="FFFFFF"/>
                </a:solidFill>
                <a:latin typeface="Arial"/>
              </a:rPr>
              <a:t>Tool</a:t>
            </a:r>
          </a:p>
        </p:txBody>
      </p:sp>
      <p:sp>
        <p:nvSpPr>
          <p:cNvPr id="9" name="Rectangle 8"/>
          <p:cNvSpPr/>
          <p:nvPr/>
        </p:nvSpPr>
        <p:spPr>
          <a:xfrm>
            <a:off x="3967581" y="1783080"/>
            <a:ext cx="7444130"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77309" y="1783080"/>
            <a:ext cx="7261250" cy="502920"/>
          </a:xfrm>
          <a:prstGeom prst="rect">
            <a:avLst/>
          </a:prstGeom>
          <a:noFill/>
        </p:spPr>
        <p:txBody>
          <a:bodyPr wrap="square" anchor="ctr">
            <a:spAutoFit/>
          </a:bodyPr>
          <a:lstStyle/>
          <a:p>
            <a:pPr algn="ctr">
              <a:spcAft>
                <a:spcPts val="400"/>
              </a:spcAft>
            </a:pPr>
            <a:r>
              <a:rPr sz="1400" b="1">
                <a:solidFill>
                  <a:srgbClr val="FFFFFF"/>
                </a:solidFill>
                <a:latin typeface="Arial"/>
              </a:rPr>
              <a:t>What it shows</a:t>
            </a:r>
          </a:p>
        </p:txBody>
      </p:sp>
      <p:sp>
        <p:nvSpPr>
          <p:cNvPr id="11" name="Rectangle 10"/>
          <p:cNvSpPr/>
          <p:nvPr/>
        </p:nvSpPr>
        <p:spPr>
          <a:xfrm>
            <a:off x="777240" y="2286000"/>
            <a:ext cx="3190341"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286000"/>
            <a:ext cx="3007461" cy="822960"/>
          </a:xfrm>
          <a:prstGeom prst="rect">
            <a:avLst/>
          </a:prstGeom>
          <a:noFill/>
        </p:spPr>
        <p:txBody>
          <a:bodyPr wrap="square" anchor="ctr">
            <a:spAutoFit/>
          </a:bodyPr>
          <a:lstStyle/>
          <a:p>
            <a:pPr algn="l">
              <a:spcAft>
                <a:spcPts val="400"/>
              </a:spcAft>
            </a:pPr>
            <a:r>
              <a:rPr sz="1250" b="1">
                <a:solidFill>
                  <a:srgbClr val="161B26"/>
                </a:solidFill>
                <a:latin typeface="Arial"/>
              </a:rPr>
              <a:t>Logs Insights</a:t>
            </a:r>
          </a:p>
        </p:txBody>
      </p:sp>
      <p:sp>
        <p:nvSpPr>
          <p:cNvPr id="13" name="Rectangle 12"/>
          <p:cNvSpPr/>
          <p:nvPr/>
        </p:nvSpPr>
        <p:spPr>
          <a:xfrm>
            <a:off x="3967581" y="2286000"/>
            <a:ext cx="744413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77309" y="2286000"/>
            <a:ext cx="7261250" cy="822960"/>
          </a:xfrm>
          <a:prstGeom prst="rect">
            <a:avLst/>
          </a:prstGeom>
          <a:noFill/>
        </p:spPr>
        <p:txBody>
          <a:bodyPr wrap="square" anchor="ctr">
            <a:spAutoFit/>
          </a:bodyPr>
          <a:lstStyle/>
          <a:p>
            <a:pPr algn="ctr">
              <a:spcAft>
                <a:spcPts val="400"/>
              </a:spcAft>
            </a:pPr>
            <a:r>
              <a:rPr sz="1250" b="0">
                <a:solidFill>
                  <a:srgbClr val="5B6372"/>
                </a:solidFill>
                <a:latin typeface="Arial"/>
              </a:rPr>
              <a:t>Query and analyse log data with a purpose-built language</a:t>
            </a:r>
          </a:p>
        </p:txBody>
      </p:sp>
      <p:sp>
        <p:nvSpPr>
          <p:cNvPr id="15" name="Rectangle 14"/>
          <p:cNvSpPr/>
          <p:nvPr/>
        </p:nvSpPr>
        <p:spPr>
          <a:xfrm>
            <a:off x="777240" y="3108960"/>
            <a:ext cx="3190341"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3108960"/>
            <a:ext cx="3007461" cy="822960"/>
          </a:xfrm>
          <a:prstGeom prst="rect">
            <a:avLst/>
          </a:prstGeom>
          <a:noFill/>
        </p:spPr>
        <p:txBody>
          <a:bodyPr wrap="square" anchor="ctr">
            <a:spAutoFit/>
          </a:bodyPr>
          <a:lstStyle/>
          <a:p>
            <a:pPr algn="l">
              <a:spcAft>
                <a:spcPts val="400"/>
              </a:spcAft>
            </a:pPr>
            <a:r>
              <a:rPr sz="1250" b="1">
                <a:solidFill>
                  <a:srgbClr val="161B26"/>
                </a:solidFill>
                <a:latin typeface="Arial"/>
              </a:rPr>
              <a:t>Container Insights</a:t>
            </a:r>
          </a:p>
        </p:txBody>
      </p:sp>
      <p:sp>
        <p:nvSpPr>
          <p:cNvPr id="17" name="Rectangle 16"/>
          <p:cNvSpPr/>
          <p:nvPr/>
        </p:nvSpPr>
        <p:spPr>
          <a:xfrm>
            <a:off x="3967581" y="3108960"/>
            <a:ext cx="744413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7309" y="3108960"/>
            <a:ext cx="7261250" cy="822960"/>
          </a:xfrm>
          <a:prstGeom prst="rect">
            <a:avLst/>
          </a:prstGeom>
          <a:noFill/>
        </p:spPr>
        <p:txBody>
          <a:bodyPr wrap="square" anchor="ctr">
            <a:spAutoFit/>
          </a:bodyPr>
          <a:lstStyle/>
          <a:p>
            <a:pPr algn="ctr">
              <a:spcAft>
                <a:spcPts val="400"/>
              </a:spcAft>
            </a:pPr>
            <a:r>
              <a:rPr sz="1250" b="0">
                <a:solidFill>
                  <a:srgbClr val="5B6372"/>
                </a:solidFill>
                <a:latin typeface="Arial"/>
              </a:rPr>
              <a:t>Metrics &amp; logs for ECS/EKS/Fargate</a:t>
            </a:r>
          </a:p>
        </p:txBody>
      </p:sp>
      <p:sp>
        <p:nvSpPr>
          <p:cNvPr id="19" name="Rectangle 18"/>
          <p:cNvSpPr/>
          <p:nvPr/>
        </p:nvSpPr>
        <p:spPr>
          <a:xfrm>
            <a:off x="777240" y="3931920"/>
            <a:ext cx="3190341"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931920"/>
            <a:ext cx="3007461" cy="822960"/>
          </a:xfrm>
          <a:prstGeom prst="rect">
            <a:avLst/>
          </a:prstGeom>
          <a:noFill/>
        </p:spPr>
        <p:txBody>
          <a:bodyPr wrap="square" anchor="ctr">
            <a:spAutoFit/>
          </a:bodyPr>
          <a:lstStyle/>
          <a:p>
            <a:pPr algn="l">
              <a:spcAft>
                <a:spcPts val="400"/>
              </a:spcAft>
            </a:pPr>
            <a:r>
              <a:rPr sz="1250" b="1">
                <a:solidFill>
                  <a:srgbClr val="161B26"/>
                </a:solidFill>
                <a:latin typeface="Arial"/>
              </a:rPr>
              <a:t>Lambda Insights</a:t>
            </a:r>
          </a:p>
        </p:txBody>
      </p:sp>
      <p:sp>
        <p:nvSpPr>
          <p:cNvPr id="21" name="Rectangle 20"/>
          <p:cNvSpPr/>
          <p:nvPr/>
        </p:nvSpPr>
        <p:spPr>
          <a:xfrm>
            <a:off x="3967581" y="3931920"/>
            <a:ext cx="744413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77309" y="3931920"/>
            <a:ext cx="7261250" cy="822960"/>
          </a:xfrm>
          <a:prstGeom prst="rect">
            <a:avLst/>
          </a:prstGeom>
          <a:noFill/>
        </p:spPr>
        <p:txBody>
          <a:bodyPr wrap="square" anchor="ctr">
            <a:spAutoFit/>
          </a:bodyPr>
          <a:lstStyle/>
          <a:p>
            <a:pPr algn="ctr">
              <a:spcAft>
                <a:spcPts val="400"/>
              </a:spcAft>
            </a:pPr>
            <a:r>
              <a:rPr sz="1250" b="0">
                <a:solidFill>
                  <a:srgbClr val="5B6372"/>
                </a:solidFill>
                <a:latin typeface="Arial"/>
              </a:rPr>
              <a:t>Performance &amp; cold-start metrics for functions</a:t>
            </a:r>
          </a:p>
        </p:txBody>
      </p:sp>
      <p:sp>
        <p:nvSpPr>
          <p:cNvPr id="23" name="Rectangle 22"/>
          <p:cNvSpPr/>
          <p:nvPr/>
        </p:nvSpPr>
        <p:spPr>
          <a:xfrm>
            <a:off x="777240" y="4754880"/>
            <a:ext cx="3190341"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4754880"/>
            <a:ext cx="3007461" cy="822960"/>
          </a:xfrm>
          <a:prstGeom prst="rect">
            <a:avLst/>
          </a:prstGeom>
          <a:noFill/>
        </p:spPr>
        <p:txBody>
          <a:bodyPr wrap="square" anchor="ctr">
            <a:spAutoFit/>
          </a:bodyPr>
          <a:lstStyle/>
          <a:p>
            <a:pPr algn="l">
              <a:spcAft>
                <a:spcPts val="400"/>
              </a:spcAft>
            </a:pPr>
            <a:r>
              <a:rPr sz="1250" b="1">
                <a:solidFill>
                  <a:srgbClr val="161B26"/>
                </a:solidFill>
                <a:latin typeface="Arial"/>
              </a:rPr>
              <a:t>AWS X-Ray</a:t>
            </a:r>
          </a:p>
        </p:txBody>
      </p:sp>
      <p:sp>
        <p:nvSpPr>
          <p:cNvPr id="25" name="Rectangle 24"/>
          <p:cNvSpPr/>
          <p:nvPr/>
        </p:nvSpPr>
        <p:spPr>
          <a:xfrm>
            <a:off x="3967581" y="4754880"/>
            <a:ext cx="744413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77309" y="4754880"/>
            <a:ext cx="7261250" cy="822960"/>
          </a:xfrm>
          <a:prstGeom prst="rect">
            <a:avLst/>
          </a:prstGeom>
          <a:noFill/>
        </p:spPr>
        <p:txBody>
          <a:bodyPr wrap="square" anchor="ctr">
            <a:spAutoFit/>
          </a:bodyPr>
          <a:lstStyle/>
          <a:p>
            <a:pPr algn="ctr">
              <a:spcAft>
                <a:spcPts val="400"/>
              </a:spcAft>
            </a:pPr>
            <a:r>
              <a:rPr sz="1250" b="0">
                <a:solidFill>
                  <a:srgbClr val="5B6372"/>
                </a:solidFill>
                <a:latin typeface="Arial"/>
              </a:rPr>
              <a:t>Distributed traces across microservices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365</a:t>
            </a:r>
          </a:p>
        </p:txBody>
      </p:sp>
    </p:spTree>
  </p:cSld>
  <p:clrMapOvr>
    <a:masterClrMapping/>
  </p:clrMapOvr>
  <p:transition xmlns:p14="http://schemas.microsoft.com/office/powerpoint/2010/main" p14:dur="380">
    <p:fade/>
  </p:transition>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three pillars — metrics, logs, traces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Metrics are cheap numeric time-series for trends and alarms; logs are detailed event records for context; traces follow one request across services.</a:t>
            </a:r>
          </a:p>
          <a:p>
            <a:pPr>
              <a:spcAft>
                <a:spcPts val="800"/>
              </a:spcAft>
            </a:pPr>
            <a:r>
              <a:rPr sz="1350" b="0">
                <a:solidFill>
                  <a:srgbClr val="161B26"/>
                </a:solidFill>
                <a:latin typeface="Arial"/>
              </a:rPr>
              <a:t>•  CloudWatch provides metrics and logs; X-Ray provides distributed traces.</a:t>
            </a:r>
          </a:p>
          <a:p>
            <a:pPr>
              <a:spcAft>
                <a:spcPts val="800"/>
              </a:spcAft>
            </a:pPr>
            <a:r>
              <a:rPr sz="1350" b="0">
                <a:solidFill>
                  <a:srgbClr val="161B26"/>
                </a:solidFill>
                <a:latin typeface="Arial"/>
              </a:rPr>
              <a:t>•  You alarm on metrics, investigate with logs, and localise with traces.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Each pillar answers a different question — 'is it broken?', 'why?', and 'where?' — and you need all three to troubleshoot fast.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Logging everything but graphing nothing leaves you searching text during an outage instead of seeing the problem at a glance.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High-cardinality metrics and verbose logs cost money and can slow queries — sample and aggregate deliberately.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366</a:t>
            </a:r>
          </a:p>
        </p:txBody>
      </p:sp>
    </p:spTree>
  </p:cSld>
  <p:clrMapOvr>
    <a:masterClrMapping/>
  </p:clrMapOvr>
  <p:transition xmlns:p14="http://schemas.microsoft.com/office/powerpoint/2010/main" p14:dur="380">
    <p:fade/>
  </p:transition>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CloudWatch metrics model — namespaces, dimensions, statistics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Metrics live in namespaces (AWS/EC2, custom app namespaces) and are identified by dimensions such as InstanceId.</a:t>
            </a:r>
          </a:p>
          <a:p>
            <a:pPr>
              <a:spcAft>
                <a:spcPts val="800"/>
              </a:spcAft>
            </a:pPr>
            <a:r>
              <a:rPr sz="1350" b="0">
                <a:solidFill>
                  <a:srgbClr val="161B26"/>
                </a:solidFill>
                <a:latin typeface="Arial"/>
              </a:rPr>
              <a:t>•  Statistics (Average, Sum, p90, p99) and periods aggregate raw data points over time.</a:t>
            </a:r>
          </a:p>
          <a:p>
            <a:pPr>
              <a:spcAft>
                <a:spcPts val="800"/>
              </a:spcAft>
            </a:pPr>
            <a:r>
              <a:rPr sz="1350" b="0">
                <a:solidFill>
                  <a:srgbClr val="161B26"/>
                </a:solidFill>
                <a:latin typeface="Arial"/>
              </a:rPr>
              <a:t>•  Custom and high-resolution metrics capture application-level signals AWS can't see.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Understanding dimensions and percentiles is what separates 'average looks fine' from seeing the p99 pain real users feel.</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Alarming on Average hides tail latency — the average is healthy while your slowest 1% of users are timing out.</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Percentiles and high-resolution metrics cost more but reveal problems averages mask.</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367</a:t>
            </a:r>
          </a:p>
        </p:txBody>
      </p:sp>
    </p:spTree>
  </p:cSld>
  <p:clrMapOvr>
    <a:masterClrMapping/>
  </p:clrMapOvr>
  <p:transition xmlns:p14="http://schemas.microsoft.com/office/powerpoint/2010/main" p14:dur="380">
    <p:fade/>
  </p:transition>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Turning logs into signals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CloudWatch Logs stores log groups and streams; metric filters extract numbers (e.g. ERROR count) from log text.</a:t>
            </a:r>
          </a:p>
          <a:p>
            <a:pPr>
              <a:spcAft>
                <a:spcPts val="800"/>
              </a:spcAft>
            </a:pPr>
            <a:r>
              <a:rPr sz="1350" b="0">
                <a:solidFill>
                  <a:srgbClr val="161B26"/>
                </a:solidFill>
                <a:latin typeface="Arial"/>
              </a:rPr>
              <a:t>•  Subscription filters stream logs in real time to Lambda, OpenSearch or Kinesis for processing.</a:t>
            </a:r>
          </a:p>
          <a:p>
            <a:pPr>
              <a:spcAft>
                <a:spcPts val="800"/>
              </a:spcAft>
            </a:pPr>
            <a:r>
              <a:rPr sz="1350" b="0">
                <a:solidFill>
                  <a:srgbClr val="161B26"/>
                </a:solidFill>
                <a:latin typeface="Arial"/>
              </a:rPr>
              <a:t>•  Logs Insights queries large volumes with a purpose-built query language.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metric filter converts unsearchable text into an alarmable metric, so logs drive automated response, not just post-hoc reading.</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Relying on humans to eyeball logs means problems are found only after users complain.</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Extracting many metrics from logs adds cost and complexity — extract the few that drive alarms and dashboards.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368</a:t>
            </a:r>
          </a:p>
        </p:txBody>
      </p:sp>
    </p:spTree>
  </p:cSld>
  <p:clrMapOvr>
    <a:masterClrMapping/>
  </p:clrMapOvr>
  <p:transition xmlns:p14="http://schemas.microsoft.com/office/powerpoint/2010/main" p14:dur="380">
    <p:fade/>
  </p:transition>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Alarms, composite alarms and anomaly detection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Alarms evaluate a metric against a threshold over N periods and change state (OK/ALARM/INSUFFICIENT_DATA).</a:t>
            </a:r>
          </a:p>
          <a:p>
            <a:pPr>
              <a:spcAft>
                <a:spcPts val="800"/>
              </a:spcAft>
            </a:pPr>
            <a:r>
              <a:rPr sz="1350" b="0">
                <a:solidFill>
                  <a:srgbClr val="161B26"/>
                </a:solidFill>
                <a:latin typeface="Arial"/>
              </a:rPr>
              <a:t>•  Composite alarms combine several alarms with AND/OR to cut noise and express real conditions.</a:t>
            </a:r>
          </a:p>
          <a:p>
            <a:pPr>
              <a:spcAft>
                <a:spcPts val="800"/>
              </a:spcAft>
            </a:pPr>
            <a:r>
              <a:rPr sz="1350" b="0">
                <a:solidFill>
                  <a:srgbClr val="161B26"/>
                </a:solidFill>
                <a:latin typeface="Arial"/>
              </a:rPr>
              <a:t>•  Anomaly detection bands adapt to normal daily/weekly patterns instead of a fixed line.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Well-designed alarms notify on real, actionable conditions and feed the automated incident response in Domain 5.</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Too many noisy single-metric alarms cause alert fatigue; responders learn to ignore the pager.</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Anomaly detection reduces false alarms but needs a learning period and can miss slow, gradual regressions.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369</a:t>
            </a:r>
          </a:p>
        </p:txBody>
      </p:sp>
    </p:spTree>
  </p:cSld>
  <p:clrMapOvr>
    <a:masterClrMapping/>
  </p:clrMapOvr>
  <p:transition xmlns:p14="http://schemas.microsoft.com/office/powerpoint/2010/main" p14:dur="380">
    <p:fade/>
  </p:transition>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Dashboards and the single pane of glass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Dashboards correlate metrics, logs and alarm state so responders see the whole system in one view.</a:t>
            </a:r>
          </a:p>
          <a:p>
            <a:pPr>
              <a:spcAft>
                <a:spcPts val="800"/>
              </a:spcAft>
            </a:pPr>
            <a:r>
              <a:rPr sz="1350" b="0">
                <a:solidFill>
                  <a:srgbClr val="161B26"/>
                </a:solidFill>
                <a:latin typeface="Arial"/>
              </a:rPr>
              <a:t>•  Service and cross-account dashboards aggregate telemetry from many sources.</a:t>
            </a:r>
          </a:p>
          <a:p>
            <a:pPr>
              <a:spcAft>
                <a:spcPts val="800"/>
              </a:spcAft>
            </a:pPr>
            <a:r>
              <a:rPr sz="1350" b="0">
                <a:solidFill>
                  <a:srgbClr val="161B26"/>
                </a:solidFill>
                <a:latin typeface="Arial"/>
              </a:rPr>
              <a:t>•  The best dashboards are organised around user journeys and the golden signals, not raw resource lists.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During an incident a good dashboard turns minutes of hunting into seconds of seeing — it is a force multiplier for MTTR.</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wall of 200 unlabelled graphs is as useless as none — no one can spot the anomaly under pressure.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Curated dashboards need maintenance as the system changes — stale dashboards mislead.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370</a:t>
            </a:r>
          </a:p>
        </p:txBody>
      </p:sp>
    </p:spTree>
  </p:cSld>
  <p:clrMapOvr>
    <a:masterClrMapping/>
  </p:clrMapOvr>
  <p:transition xmlns:p14="http://schemas.microsoft.com/office/powerpoint/2010/main" p14:dur="380">
    <p:fade/>
  </p:transition>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Distributed tracing with X-Ray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X-Ray captures a trace per request and a service map of dependencies and latencies.</a:t>
            </a:r>
          </a:p>
          <a:p>
            <a:pPr>
              <a:spcAft>
                <a:spcPts val="800"/>
              </a:spcAft>
            </a:pPr>
            <a:r>
              <a:rPr sz="1350" b="0">
                <a:solidFill>
                  <a:srgbClr val="161B26"/>
                </a:solidFill>
                <a:latin typeface="Arial"/>
              </a:rPr>
              <a:t>•  Traces reveal which downstream call in a chain is slow or failing.</a:t>
            </a:r>
          </a:p>
          <a:p>
            <a:pPr>
              <a:spcAft>
                <a:spcPts val="800"/>
              </a:spcAft>
            </a:pPr>
            <a:r>
              <a:rPr sz="1350" b="0">
                <a:solidFill>
                  <a:srgbClr val="161B26"/>
                </a:solidFill>
                <a:latin typeface="Arial"/>
              </a:rPr>
              <a:t>•  Sampling keeps overhead and cost bounded on high-traffic services.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In microservices, a symptom (slow checkout) and its cause (a slow third-party call three hops away) are far apart — tracing connects them.</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Without tracing, teams blame each other's services because no one can see the end-to-end request path.</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Full tracing is expensive at scale — sampling trades completeness for affordable, representative visibility.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371</a:t>
            </a:r>
          </a:p>
        </p:txBody>
      </p:sp>
    </p:spTree>
  </p:cSld>
  <p:clrMapOvr>
    <a:masterClrMapping/>
  </p:clrMapOvr>
  <p:transition xmlns:p14="http://schemas.microsoft.com/office/powerpoint/2010/main" p14:dur="380">
    <p:fade/>
  </p:transition>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Observability at scale — agents, OpenTelemetry, cross-account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The CloudWatch agent and the AWS Distro for OpenTelemetry collect host and application telemetry.</a:t>
            </a:r>
          </a:p>
          <a:p>
            <a:pPr>
              <a:spcAft>
                <a:spcPts val="800"/>
              </a:spcAft>
            </a:pPr>
            <a:r>
              <a:rPr sz="1350" b="0">
                <a:solidFill>
                  <a:srgbClr val="161B26"/>
                </a:solidFill>
                <a:latin typeface="Arial"/>
              </a:rPr>
              <a:t>•  Container Insights and Lambda Insights add curated metrics for ECS/EKS and functions.</a:t>
            </a:r>
          </a:p>
          <a:p>
            <a:pPr>
              <a:spcAft>
                <a:spcPts val="800"/>
              </a:spcAft>
            </a:pPr>
            <a:r>
              <a:rPr sz="1350" b="0">
                <a:solidFill>
                  <a:srgbClr val="161B26"/>
                </a:solidFill>
                <a:latin typeface="Arial"/>
              </a:rPr>
              <a:t>•  Cross-account observability centralises telemetry from many accounts into a monitoring account.</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consistent collection standard across a large estate makes telemetry comparable and centrally queryable.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Every team inventing its own metrics and log formats makes cross-service correlation impossible.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Centralisation eases correlation but concentrates cost and access — govern the monitoring account carefully.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372</a:t>
            </a:r>
          </a:p>
        </p:txBody>
      </p:sp>
    </p:spTree>
  </p:cSld>
  <p:clrMapOvr>
    <a:masterClrMapping/>
  </p:clrMapOvr>
  <p:transition xmlns:p14="http://schemas.microsoft.com/office/powerpoint/2010/main" p14:dur="380">
    <p:fade/>
  </p:transition>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golden signals and SLOs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Latency, traffic, errors and saturation are the golden signals that describe almost any service's health.</a:t>
            </a:r>
          </a:p>
          <a:p>
            <a:pPr>
              <a:spcAft>
                <a:spcPts val="800"/>
              </a:spcAft>
            </a:pPr>
            <a:r>
              <a:rPr sz="1350" b="0">
                <a:solidFill>
                  <a:srgbClr val="161B26"/>
                </a:solidFill>
                <a:latin typeface="Arial"/>
              </a:rPr>
              <a:t>•  Service Level Objectives set target thresholds (e.g. 99.9% of requests &lt; 300ms) and an error budget.</a:t>
            </a:r>
          </a:p>
          <a:p>
            <a:pPr>
              <a:spcAft>
                <a:spcPts val="800"/>
              </a:spcAft>
            </a:pPr>
            <a:r>
              <a:rPr sz="1350" b="0">
                <a:solidFill>
                  <a:srgbClr val="161B26"/>
                </a:solidFill>
                <a:latin typeface="Arial"/>
              </a:rPr>
              <a:t>•  Alarms and dashboards are built to protect the SLO, not to watch every raw resource metric.</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Tying monitoring to SLOs focuses attention on what users actually experience and gives an objective 'are we healthy?' answer.</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Alerting on CPU while the SLO quietly burns means you page on non-issues and miss the user-facing failure.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Strict SLOs drive reliability work but can slow feature delivery — the error budget is the negotiated balance.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373</a:t>
            </a:r>
          </a:p>
        </p:txBody>
      </p:sp>
    </p:spTree>
  </p:cSld>
  <p:clrMapOvr>
    <a:masterClrMapping/>
  </p:clrMapOvr>
  <p:transition xmlns:p14="http://schemas.microsoft.com/office/powerpoint/2010/main" p14:dur="380">
    <p:fade/>
  </p:transition>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DEEPER TROUBLESHOOTING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CloudWatch Insight Tools — Pick the Right Lens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69393" cy="502920"/>
          </a:xfrm>
          <a:prstGeom prst="rect">
            <a:avLst/>
          </a:prstGeom>
          <a:noFill/>
        </p:spPr>
        <p:txBody>
          <a:bodyPr wrap="square" anchor="ctr">
            <a:spAutoFit/>
          </a:bodyPr>
          <a:lstStyle/>
          <a:p>
            <a:pPr algn="l">
              <a:spcAft>
                <a:spcPts val="400"/>
              </a:spcAft>
            </a:pPr>
            <a:r>
              <a:rPr sz="1400" b="1">
                <a:solidFill>
                  <a:srgbClr val="FFFFFF"/>
                </a:solidFill>
                <a:latin typeface="Arial"/>
              </a:rPr>
              <a:t>Tool</a:t>
            </a:r>
          </a:p>
        </p:txBody>
      </p:sp>
      <p:sp>
        <p:nvSpPr>
          <p:cNvPr id="9" name="Rectangle 8"/>
          <p:cNvSpPr/>
          <p:nvPr/>
        </p:nvSpPr>
        <p:spPr>
          <a:xfrm>
            <a:off x="3329513" y="1783080"/>
            <a:ext cx="4253788"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4070908" cy="502920"/>
          </a:xfrm>
          <a:prstGeom prst="rect">
            <a:avLst/>
          </a:prstGeom>
          <a:noFill/>
        </p:spPr>
        <p:txBody>
          <a:bodyPr wrap="square" anchor="ctr">
            <a:spAutoFit/>
          </a:bodyPr>
          <a:lstStyle/>
          <a:p>
            <a:pPr algn="ctr">
              <a:spcAft>
                <a:spcPts val="400"/>
              </a:spcAft>
            </a:pPr>
            <a:r>
              <a:rPr sz="1400" b="1">
                <a:solidFill>
                  <a:srgbClr val="FFFFFF"/>
                </a:solidFill>
                <a:latin typeface="Arial"/>
              </a:rPr>
              <a:t>What it shows</a:t>
            </a:r>
          </a:p>
        </p:txBody>
      </p:sp>
      <p:sp>
        <p:nvSpPr>
          <p:cNvPr id="11" name="Rectangle 10"/>
          <p:cNvSpPr/>
          <p:nvPr/>
        </p:nvSpPr>
        <p:spPr>
          <a:xfrm>
            <a:off x="7583301" y="1783080"/>
            <a:ext cx="3828409"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3029" y="1783080"/>
            <a:ext cx="3645529" cy="502920"/>
          </a:xfrm>
          <a:prstGeom prst="rect">
            <a:avLst/>
          </a:prstGeom>
          <a:noFill/>
        </p:spPr>
        <p:txBody>
          <a:bodyPr wrap="square" anchor="ctr">
            <a:spAutoFit/>
          </a:bodyPr>
          <a:lstStyle/>
          <a:p>
            <a:pPr algn="ctr">
              <a:spcAft>
                <a:spcPts val="400"/>
              </a:spcAft>
            </a:pPr>
            <a:r>
              <a:rPr sz="1400" b="1">
                <a:solidFill>
                  <a:srgbClr val="FFFFFF"/>
                </a:solidFill>
                <a:latin typeface="Arial"/>
              </a:rPr>
              <a:t>Reach for it when</a:t>
            </a:r>
          </a:p>
        </p:txBody>
      </p:sp>
      <p:sp>
        <p:nvSpPr>
          <p:cNvPr id="13" name="Rectangle 12"/>
          <p:cNvSpPr/>
          <p:nvPr/>
        </p:nvSpPr>
        <p:spPr>
          <a:xfrm>
            <a:off x="777240" y="228600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Logs Insights</a:t>
            </a:r>
          </a:p>
        </p:txBody>
      </p:sp>
      <p:sp>
        <p:nvSpPr>
          <p:cNvPr id="15" name="Rectangle 14"/>
          <p:cNvSpPr/>
          <p:nvPr/>
        </p:nvSpPr>
        <p:spPr>
          <a:xfrm>
            <a:off x="3329513" y="228600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9241" y="228600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Ad-hoc queries over log data</a:t>
            </a:r>
          </a:p>
        </p:txBody>
      </p:sp>
      <p:sp>
        <p:nvSpPr>
          <p:cNvPr id="17" name="Rectangle 16"/>
          <p:cNvSpPr/>
          <p:nvPr/>
        </p:nvSpPr>
        <p:spPr>
          <a:xfrm>
            <a:off x="7583301" y="228600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3029" y="228600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You need the 'why' from raw events</a:t>
            </a:r>
          </a:p>
        </p:txBody>
      </p:sp>
      <p:sp>
        <p:nvSpPr>
          <p:cNvPr id="19" name="Rectangle 18"/>
          <p:cNvSpPr/>
          <p:nvPr/>
        </p:nvSpPr>
        <p:spPr>
          <a:xfrm>
            <a:off x="777240" y="310896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Container Insights</a:t>
            </a:r>
          </a:p>
        </p:txBody>
      </p:sp>
      <p:sp>
        <p:nvSpPr>
          <p:cNvPr id="21" name="Rectangle 20"/>
          <p:cNvSpPr/>
          <p:nvPr/>
        </p:nvSpPr>
        <p:spPr>
          <a:xfrm>
            <a:off x="3329513" y="310896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310896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Curated ECS/EKS/Fargate metrics</a:t>
            </a:r>
          </a:p>
        </p:txBody>
      </p:sp>
      <p:sp>
        <p:nvSpPr>
          <p:cNvPr id="23" name="Rectangle 22"/>
          <p:cNvSpPr/>
          <p:nvPr/>
        </p:nvSpPr>
        <p:spPr>
          <a:xfrm>
            <a:off x="7583301" y="310896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93029" y="310896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A container platform is slow</a:t>
            </a:r>
          </a:p>
        </p:txBody>
      </p:sp>
      <p:sp>
        <p:nvSpPr>
          <p:cNvPr id="25" name="Rectangle 24"/>
          <p:cNvSpPr/>
          <p:nvPr/>
        </p:nvSpPr>
        <p:spPr>
          <a:xfrm>
            <a:off x="777240" y="393192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Lambda Insights</a:t>
            </a:r>
          </a:p>
        </p:txBody>
      </p:sp>
      <p:sp>
        <p:nvSpPr>
          <p:cNvPr id="27" name="Rectangle 26"/>
          <p:cNvSpPr/>
          <p:nvPr/>
        </p:nvSpPr>
        <p:spPr>
          <a:xfrm>
            <a:off x="3329513" y="393192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9241" y="393192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Function perf &amp; cold starts</a:t>
            </a:r>
          </a:p>
        </p:txBody>
      </p:sp>
      <p:sp>
        <p:nvSpPr>
          <p:cNvPr id="29" name="Rectangle 28"/>
          <p:cNvSpPr/>
          <p:nvPr/>
        </p:nvSpPr>
        <p:spPr>
          <a:xfrm>
            <a:off x="7583301" y="393192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3029" y="393192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Serverless latency/cost issues</a:t>
            </a:r>
          </a:p>
        </p:txBody>
      </p:sp>
      <p:sp>
        <p:nvSpPr>
          <p:cNvPr id="31" name="Rectangle 30"/>
          <p:cNvSpPr/>
          <p:nvPr/>
        </p:nvSpPr>
        <p:spPr>
          <a:xfrm>
            <a:off x="777240" y="475488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75488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X-Ray</a:t>
            </a:r>
          </a:p>
        </p:txBody>
      </p:sp>
      <p:sp>
        <p:nvSpPr>
          <p:cNvPr id="33" name="Rectangle 32"/>
          <p:cNvSpPr/>
          <p:nvPr/>
        </p:nvSpPr>
        <p:spPr>
          <a:xfrm>
            <a:off x="3329513" y="475488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475488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End-to-end request traces</a:t>
            </a:r>
          </a:p>
        </p:txBody>
      </p:sp>
      <p:sp>
        <p:nvSpPr>
          <p:cNvPr id="35" name="Rectangle 34"/>
          <p:cNvSpPr/>
          <p:nvPr/>
        </p:nvSpPr>
        <p:spPr>
          <a:xfrm>
            <a:off x="7583301" y="475488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93029" y="475488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Latency spans many services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374</a:t>
            </a:r>
          </a:p>
        </p:txBody>
      </p:sp>
    </p:spTree>
  </p:cSld>
  <p:clrMapOvr>
    <a:masterClrMapping/>
  </p:clrMapOvr>
  <p:transition xmlns:p14="http://schemas.microsoft.com/office/powerpoint/2010/main" p14:dur="380">
    <p:fade/>
  </p:transition>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WHY p99 MATTERS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Average Hides the Tail — Latency Percentiles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F59E0B"/>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The average looks healthy at 140ms while the p99 user waits nearly a second — always alarm on the percentile your users feel.</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375</a:t>
            </a:r>
          </a:p>
        </p:txBody>
      </p:sp>
    </p:spTree>
  </p:cSld>
  <p:clrMapOvr>
    <a:masterClrMapping/>
  </p:clrMapOvr>
  <p:transition xmlns:p14="http://schemas.microsoft.com/office/powerpoint/2010/main" p14:dur="380">
    <p:fade/>
  </p:transition>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BLIND SPOTS THAT HURT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Monitoring Failure Modes &amp; Anti-Patterns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Alarm on average</a:t>
            </a:r>
          </a:p>
          <a:p>
            <a:pPr algn="l">
              <a:spcAft>
                <a:spcPts val="300"/>
              </a:spcAft>
            </a:pPr>
            <a:r>
              <a:rPr sz="1100" b="0">
                <a:solidFill>
                  <a:srgbClr val="5B6372"/>
                </a:solidFill>
                <a:latin typeface="Arial"/>
              </a:rPr>
              <a:t>Tail latency hidden → alarm on p90/p99.</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Alert fatigue</a:t>
            </a:r>
          </a:p>
          <a:p>
            <a:pPr algn="l">
              <a:spcAft>
                <a:spcPts val="300"/>
              </a:spcAft>
            </a:pPr>
            <a:r>
              <a:rPr sz="1100" b="0">
                <a:solidFill>
                  <a:srgbClr val="5B6372"/>
                </a:solidFill>
                <a:latin typeface="Arial"/>
              </a:rPr>
              <a:t>Noisy alarms ignored → composite alarms, SLO-based alerting.</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Logs but no metrics</a:t>
            </a:r>
          </a:p>
          <a:p>
            <a:pPr algn="l">
              <a:spcAft>
                <a:spcPts val="300"/>
              </a:spcAft>
            </a:pPr>
            <a:r>
              <a:rPr sz="1100" b="0">
                <a:solidFill>
                  <a:srgbClr val="5B6372"/>
                </a:solidFill>
                <a:latin typeface="Arial"/>
              </a:rPr>
              <a:t>Manual searching in incidents → metric filters + dashboards.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No traces in microservices</a:t>
            </a:r>
          </a:p>
          <a:p>
            <a:pPr algn="l">
              <a:spcAft>
                <a:spcPts val="300"/>
              </a:spcAft>
            </a:pPr>
            <a:r>
              <a:rPr sz="1100" b="0">
                <a:solidFill>
                  <a:srgbClr val="5B6372"/>
                </a:solidFill>
                <a:latin typeface="Arial"/>
              </a:rPr>
              <a:t>Cross-team blame → adopt X-Ray/OTel.</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Vanity dashboards</a:t>
            </a:r>
          </a:p>
          <a:p>
            <a:pPr algn="l">
              <a:spcAft>
                <a:spcPts val="300"/>
              </a:spcAft>
            </a:pPr>
            <a:r>
              <a:rPr sz="1100" b="0">
                <a:solidFill>
                  <a:srgbClr val="5B6372"/>
                </a:solidFill>
                <a:latin typeface="Arial"/>
              </a:rPr>
              <a:t>200 graphs, no signal → golden-signals layout.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Unmonitored dependencies</a:t>
            </a:r>
          </a:p>
          <a:p>
            <a:pPr algn="l">
              <a:spcAft>
                <a:spcPts val="300"/>
              </a:spcAft>
            </a:pPr>
            <a:r>
              <a:rPr sz="1100" b="0">
                <a:solidFill>
                  <a:srgbClr val="5B6372"/>
                </a:solidFill>
                <a:latin typeface="Arial"/>
              </a:rPr>
              <a:t>Third-party outage invisible → synthetic canaries.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376</a:t>
            </a:r>
          </a:p>
        </p:txBody>
      </p:sp>
    </p:spTree>
  </p:cSld>
  <p:clrMapOvr>
    <a:masterClrMapping/>
  </p:clrMapOvr>
  <p:transition xmlns:p14="http://schemas.microsoft.com/office/powerpoint/2010/main" p14:dur="380">
    <p:fade/>
  </p:transition>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PROVEN PRACTICES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Observability Patterns Worth Adopting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Golden-signals dashboards</a:t>
            </a:r>
          </a:p>
          <a:p>
            <a:pPr algn="l">
              <a:spcAft>
                <a:spcPts val="300"/>
              </a:spcAft>
            </a:pPr>
            <a:r>
              <a:rPr sz="1100" b="0">
                <a:solidFill>
                  <a:srgbClr val="5B6372"/>
                </a:solidFill>
                <a:latin typeface="Arial"/>
              </a:rPr>
              <a:t>Latency, traffic, errors, saturation per service.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SLOs + error budgets</a:t>
            </a:r>
          </a:p>
          <a:p>
            <a:pPr algn="l">
              <a:spcAft>
                <a:spcPts val="300"/>
              </a:spcAft>
            </a:pPr>
            <a:r>
              <a:rPr sz="1100" b="0">
                <a:solidFill>
                  <a:srgbClr val="5B6372"/>
                </a:solidFill>
                <a:latin typeface="Arial"/>
              </a:rPr>
              <a:t>Objective health and a delivery/reliability balance.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Structured logging</a:t>
            </a:r>
          </a:p>
          <a:p>
            <a:pPr algn="l">
              <a:spcAft>
                <a:spcPts val="300"/>
              </a:spcAft>
            </a:pPr>
            <a:r>
              <a:rPr sz="1100" b="0">
                <a:solidFill>
                  <a:srgbClr val="5B6372"/>
                </a:solidFill>
                <a:latin typeface="Arial"/>
              </a:rPr>
              <a:t>JSON logs with correlation IDs for Logs Insights.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Synthetic canaries</a:t>
            </a:r>
          </a:p>
          <a:p>
            <a:pPr algn="l">
              <a:spcAft>
                <a:spcPts val="300"/>
              </a:spcAft>
            </a:pPr>
            <a:r>
              <a:rPr sz="1100" b="0">
                <a:solidFill>
                  <a:srgbClr val="5B6372"/>
                </a:solidFill>
                <a:latin typeface="Arial"/>
              </a:rPr>
              <a:t>Probe key journeys before real users hit failures.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Metric filters → alarms</a:t>
            </a:r>
          </a:p>
          <a:p>
            <a:pPr algn="l">
              <a:spcAft>
                <a:spcPts val="300"/>
              </a:spcAft>
            </a:pPr>
            <a:r>
              <a:rPr sz="1100" b="0">
                <a:solidFill>
                  <a:srgbClr val="5B6372"/>
                </a:solidFill>
                <a:latin typeface="Arial"/>
              </a:rPr>
              <a:t>Turn log events into automated response.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Centralised observability</a:t>
            </a:r>
          </a:p>
          <a:p>
            <a:pPr algn="l">
              <a:spcAft>
                <a:spcPts val="300"/>
              </a:spcAft>
            </a:pPr>
            <a:r>
              <a:rPr sz="1100" b="0">
                <a:solidFill>
                  <a:srgbClr val="5B6372"/>
                </a:solidFill>
                <a:latin typeface="Arial"/>
              </a:rPr>
              <a:t>Cross-account monitoring account.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377</a:t>
            </a:r>
          </a:p>
        </p:txBody>
      </p:sp>
    </p:spTree>
  </p:cSld>
  <p:clrMapOvr>
    <a:masterClrMapping/>
  </p:clrMapOvr>
  <p:transition xmlns:p14="http://schemas.microsoft.com/office/powerpoint/2010/main" p14:dur="380">
    <p:fade/>
  </p:transition>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SIGNAL vs NOISE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Architecture Decision — What Should Page a Human?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574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A</a:t>
            </a:r>
          </a:p>
        </p:txBody>
      </p:sp>
      <p:sp>
        <p:nvSpPr>
          <p:cNvPr id="11" name="TextBox 10"/>
          <p:cNvSpPr txBox="1"/>
          <p:nvPr/>
        </p:nvSpPr>
        <p:spPr>
          <a:xfrm>
            <a:off x="1645920" y="2084831"/>
            <a:ext cx="2286000" cy="640080"/>
          </a:xfrm>
          <a:prstGeom prst="rect">
            <a:avLst/>
          </a:prstGeom>
          <a:noFill/>
        </p:spPr>
        <p:txBody>
          <a:bodyPr wrap="square" anchor="ctr">
            <a:spAutoFit/>
          </a:bodyPr>
          <a:lstStyle/>
          <a:p>
            <a:pPr algn="l">
              <a:spcAft>
                <a:spcPts val="400"/>
              </a:spcAft>
            </a:pPr>
            <a:r>
              <a:rPr sz="1450" b="1">
                <a:solidFill>
                  <a:srgbClr val="F59E0B"/>
                </a:solidFill>
                <a:latin typeface="Arial"/>
              </a:rPr>
              <a:t>Page immediately</a:t>
            </a:r>
          </a:p>
        </p:txBody>
      </p:sp>
      <p:sp>
        <p:nvSpPr>
          <p:cNvPr id="12" name="TextBox 11"/>
          <p:cNvSpPr txBox="1"/>
          <p:nvPr/>
        </p:nvSpPr>
        <p:spPr>
          <a:xfrm>
            <a:off x="103327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SLO-burning, user-facing symptoms (error rate, latency breach). Actionable now — keep these few and trustworthy.</a:t>
            </a:r>
          </a:p>
        </p:txBody>
      </p:sp>
      <p:sp>
        <p:nvSpPr>
          <p:cNvPr id="13" name="Rectangle 12"/>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2803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7" name="TextBox 16"/>
          <p:cNvSpPr txBox="1"/>
          <p:nvPr/>
        </p:nvSpPr>
        <p:spPr>
          <a:xfrm>
            <a:off x="544068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Ticket / review later</a:t>
            </a:r>
          </a:p>
        </p:txBody>
      </p:sp>
      <p:sp>
        <p:nvSpPr>
          <p:cNvPr id="18" name="TextBox 17"/>
          <p:cNvSpPr txBox="1"/>
          <p:nvPr/>
        </p:nvSpPr>
        <p:spPr>
          <a:xfrm>
            <a:off x="482803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Trends and capacity signals (rising saturation). Important but not urgent — dashboards and weekly review.</a:t>
            </a:r>
          </a:p>
        </p:txBody>
      </p:sp>
      <p:sp>
        <p:nvSpPr>
          <p:cNvPr id="19" name="Rectangle 18"/>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2279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C</a:t>
            </a:r>
          </a:p>
        </p:txBody>
      </p:sp>
      <p:sp>
        <p:nvSpPr>
          <p:cNvPr id="23" name="TextBox 22"/>
          <p:cNvSpPr txBox="1"/>
          <p:nvPr/>
        </p:nvSpPr>
        <p:spPr>
          <a:xfrm>
            <a:off x="923544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Auto-remediate, don't page</a:t>
            </a:r>
          </a:p>
        </p:txBody>
      </p:sp>
      <p:sp>
        <p:nvSpPr>
          <p:cNvPr id="24" name="TextBox 23"/>
          <p:cNvSpPr txBox="1"/>
          <p:nvPr/>
        </p:nvSpPr>
        <p:spPr>
          <a:xfrm>
            <a:off x="862279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Known, safe fixes (restart, scale, isolate). Let EventBridge + Lambda handle it and notify, not wake, the team.</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378</a:t>
            </a:r>
          </a:p>
        </p:txBody>
      </p:sp>
    </p:spTree>
  </p:cSld>
  <p:clrMapOvr>
    <a:masterClrMapping/>
  </p:clrMapOvr>
  <p:transition xmlns:p14="http://schemas.microsoft.com/office/powerpoint/2010/main" p14:dur="380">
    <p:fade/>
  </p:transition>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TRUST THE RIGHT SIGNAL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'Everything is green' but users complain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Dashboards show CPU and memory healthy, yet support reports slow checkouts.</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F59E0B"/>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Resource metrics are averages and miss the user-facing symptom; the SLO is about request latency, not CPU.</a:t>
            </a:r>
          </a:p>
          <a:p>
            <a:pPr>
              <a:spcAft>
                <a:spcPts val="700"/>
              </a:spcAft>
            </a:pPr>
            <a:r>
              <a:rPr sz="1300" b="0">
                <a:solidFill>
                  <a:srgbClr val="161B26"/>
                </a:solidFill>
                <a:latin typeface="Arial"/>
              </a:rPr>
              <a:t>•  A p99 latency metric and a Logs Insights query on the checkout path would reveal the slow requests.</a:t>
            </a:r>
          </a:p>
          <a:p>
            <a:pPr>
              <a:spcAft>
                <a:spcPts val="700"/>
              </a:spcAft>
            </a:pPr>
            <a:r>
              <a:rPr sz="1300" b="0">
                <a:solidFill>
                  <a:srgbClr val="161B26"/>
                </a:solidFill>
                <a:latin typeface="Arial"/>
              </a:rPr>
              <a:t>•  An X-Ray service map would localise the slow downstream call.</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Re-orient alerting around the golden signals and the SLO (p99 latency, error rate), and add tracing so the next 'green but slow' is visible and localisable in seconds.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379</a:t>
            </a:r>
          </a:p>
        </p:txBody>
      </p:sp>
    </p:spTree>
  </p:cSld>
  <p:clrMapOvr>
    <a:masterClrMapping/>
  </p:clrMapOvr>
  <p:transition xmlns:p14="http://schemas.microsoft.com/office/powerpoint/2010/main" p14:dur="380">
    <p:fade/>
  </p:transition>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REDUCING NOISE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Taming an alert storm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 single database blip fires 40 alarms across dependent services and the on-call mutes the channel.</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F59E0B"/>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Many single-metric alarms describe the same root cause, creating noise and fatigue.</a:t>
            </a:r>
          </a:p>
          <a:p>
            <a:pPr>
              <a:spcAft>
                <a:spcPts val="700"/>
              </a:spcAft>
            </a:pPr>
            <a:r>
              <a:rPr sz="1300" b="0">
                <a:solidFill>
                  <a:srgbClr val="161B26"/>
                </a:solidFill>
                <a:latin typeface="Arial"/>
              </a:rPr>
              <a:t>•  A composite alarm can express 'DB unhealthy AND app errors rising' and suppress the downstream chatter.</a:t>
            </a:r>
          </a:p>
          <a:p>
            <a:pPr>
              <a:spcAft>
                <a:spcPts val="700"/>
              </a:spcAft>
            </a:pPr>
            <a:r>
              <a:rPr sz="1300" b="0">
                <a:solidFill>
                  <a:srgbClr val="161B26"/>
                </a:solidFill>
                <a:latin typeface="Arial"/>
              </a:rPr>
              <a:t>•  SLO-based alerting pages on user impact, not on every correlated resource wobble.</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Consolidate with composite alarms and alert on SLO burn, so one meaningful page fires instead of forty — restoring trust in the pager.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380</a:t>
            </a:r>
          </a:p>
        </p:txBody>
      </p:sp>
    </p:spTree>
  </p:cSld>
  <p:clrMapOvr>
    <a:masterClrMapping/>
  </p:clrMapOvr>
  <p:transition xmlns:p14="http://schemas.microsoft.com/office/powerpoint/2010/main" p14:dur="380">
    <p:fade/>
  </p:transition>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LOGS-TO-ACTION PATH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Worked Analysis — From Log Line to Alarm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73152" cy="76581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1028" y="178308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78308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Raw log: 'ERROR checkout timeout'</a:t>
            </a:r>
          </a:p>
        </p:txBody>
      </p:sp>
      <p:sp>
        <p:nvSpPr>
          <p:cNvPr id="11" name="TextBox 10"/>
          <p:cNvSpPr txBox="1"/>
          <p:nvPr/>
        </p:nvSpPr>
        <p:spPr>
          <a:xfrm>
            <a:off x="5213908" y="178308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Unstructured text — invisible to metrics and alarms as-is.</a:t>
            </a:r>
          </a:p>
        </p:txBody>
      </p:sp>
      <p:sp>
        <p:nvSpPr>
          <p:cNvPr id="12" name="Rectangle 11"/>
          <p:cNvSpPr/>
          <p:nvPr/>
        </p:nvSpPr>
        <p:spPr>
          <a:xfrm>
            <a:off x="777240" y="254889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890"/>
            <a:ext cx="73152" cy="76581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31028" y="254889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54889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Metric filter extracts AppErrorCount</a:t>
            </a:r>
          </a:p>
        </p:txBody>
      </p:sp>
      <p:sp>
        <p:nvSpPr>
          <p:cNvPr id="16" name="TextBox 15"/>
          <p:cNvSpPr txBox="1"/>
          <p:nvPr/>
        </p:nvSpPr>
        <p:spPr>
          <a:xfrm>
            <a:off x="5213908" y="254889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A numeric metric now exists in a custom namespace.</a:t>
            </a:r>
          </a:p>
        </p:txBody>
      </p:sp>
      <p:sp>
        <p:nvSpPr>
          <p:cNvPr id="17" name="Rectangle 16"/>
          <p:cNvSpPr/>
          <p:nvPr/>
        </p:nvSpPr>
        <p:spPr>
          <a:xfrm>
            <a:off x="777240" y="331470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4700"/>
            <a:ext cx="73152" cy="76581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31028" y="331470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31470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Alarm: Sum &gt; 5 in 1 minute</a:t>
            </a:r>
          </a:p>
        </p:txBody>
      </p:sp>
      <p:sp>
        <p:nvSpPr>
          <p:cNvPr id="21" name="TextBox 20"/>
          <p:cNvSpPr txBox="1"/>
          <p:nvPr/>
        </p:nvSpPr>
        <p:spPr>
          <a:xfrm>
            <a:off x="5213908" y="331470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The metric becomes an actionable state change.</a:t>
            </a:r>
          </a:p>
        </p:txBody>
      </p:sp>
      <p:sp>
        <p:nvSpPr>
          <p:cNvPr id="22" name="Rectangle 21"/>
          <p:cNvSpPr/>
          <p:nvPr/>
        </p:nvSpPr>
        <p:spPr>
          <a:xfrm>
            <a:off x="777240" y="408051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0510"/>
            <a:ext cx="73152" cy="76581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1028" y="408051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08051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Alarm → SNS/EventBridge</a:t>
            </a:r>
          </a:p>
        </p:txBody>
      </p:sp>
      <p:sp>
        <p:nvSpPr>
          <p:cNvPr id="26" name="TextBox 25"/>
          <p:cNvSpPr txBox="1"/>
          <p:nvPr/>
        </p:nvSpPr>
        <p:spPr>
          <a:xfrm>
            <a:off x="5213908" y="408051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Notifies responders and can trigger auto-remediation (Domain 5).</a:t>
            </a:r>
          </a:p>
        </p:txBody>
      </p:sp>
      <p:sp>
        <p:nvSpPr>
          <p:cNvPr id="27" name="Rectangle 26"/>
          <p:cNvSpPr/>
          <p:nvPr/>
        </p:nvSpPr>
        <p:spPr>
          <a:xfrm>
            <a:off x="777240" y="5010912"/>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10912"/>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10235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TAKEAWAY</a:t>
            </a:r>
          </a:p>
        </p:txBody>
      </p:sp>
      <p:sp>
        <p:nvSpPr>
          <p:cNvPr id="30" name="TextBox 29"/>
          <p:cNvSpPr txBox="1"/>
          <p:nvPr/>
        </p:nvSpPr>
        <p:spPr>
          <a:xfrm>
            <a:off x="1033272" y="5394960"/>
            <a:ext cx="10085832" cy="457200"/>
          </a:xfrm>
          <a:prstGeom prst="rect">
            <a:avLst/>
          </a:prstGeom>
          <a:noFill/>
        </p:spPr>
        <p:txBody>
          <a:bodyPr wrap="square" anchor="t">
            <a:spAutoFit/>
          </a:bodyPr>
          <a:lstStyle/>
          <a:p>
            <a:pPr algn="l">
              <a:spcAft>
                <a:spcPts val="400"/>
              </a:spcAft>
            </a:pPr>
            <a:r>
              <a:rPr sz="1300" b="1">
                <a:solidFill>
                  <a:srgbClr val="161B26"/>
                </a:solidFill>
                <a:latin typeface="Arial"/>
              </a:rPr>
              <a:t>Observability is a pipeline: capture → extract → alarm → act. Each stage turns raw data into faster recovery.</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381</a:t>
            </a:r>
          </a:p>
        </p:txBody>
      </p:sp>
    </p:spTree>
  </p:cSld>
  <p:clrMapOvr>
    <a:masterClrMapping/>
  </p:clrMapOvr>
  <p:transition xmlns:p14="http://schemas.microsoft.com/office/powerpoint/2010/main" p14:dur="380">
    <p:fade/>
  </p:transition>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CLOUDWATCH METRICS · LOGS · ALARMS · CONTRIBUTOR INSIGHTS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Metrics, logs and alarms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Turn workload and deployment signals into actionable views, alarms and release decisions.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Metrics are time-series values with dimensions; high-cardinality dimensions can increase cost and fragmentation.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Logs supports structured ingestion, retention, subscriptions and Logs Insights queries.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Metric math, anomaly detection and composite alarms reduce noisy single-signal decisions.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382</a:t>
            </a:r>
          </a:p>
        </p:txBody>
      </p:sp>
    </p:spTree>
  </p:cSld>
  <p:clrMapOvr>
    <a:masterClrMapping/>
  </p:clrMapOvr>
  <p:transition xmlns:p14="http://schemas.microsoft.com/office/powerpoint/2010/main" p14:dur="380">
    <p:fade/>
  </p:transition>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Metrics, logs and alarms: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metrics for numeric trends/alarms, logs for event detail and composite/SLO signals for user impact.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Standardise dimensions, correlate release IDs, set retention, treat missing data deliberately and test alarm actions.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low-level alarm without an owner, action or user-impact relationship creates noise rather than observability.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Dashboard, query, alarm history, notification, release annotation and operator response.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383</a:t>
            </a:r>
          </a:p>
        </p:txBody>
      </p:sp>
    </p:spTree>
  </p:cSld>
  <p:clrMapOvr>
    <a:masterClrMapping/>
  </p:clrMapOvr>
  <p:transition xmlns:p14="http://schemas.microsoft.com/office/powerpoint/2010/main" p14:dur="380">
    <p:fade/>
  </p:transition>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X-RAY · CLOUDWATCH APPLICATION SIGNALS · SERVICELENS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Tracing and service health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Correlate a user request across services and identify latency, faults, errors and dependency bottlenecks.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Trace segments/subsegments represent service work and downstream calls.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Sampling limits cost while preserving representative traces; annotations support indexed filtering.</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Application Signals adds service, operation and SLO-oriented telemetry for supported workloads.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384</a:t>
            </a:r>
          </a:p>
        </p:txBody>
      </p:sp>
    </p:spTree>
  </p:cSld>
  <p:clrMapOvr>
    <a:masterClrMapping/>
  </p:clrMapOvr>
  <p:transition xmlns:p14="http://schemas.microsoft.com/office/powerpoint/2010/main" p14:dur="380">
    <p:fade/>
  </p:transition>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Tracing and service health: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distributed tracing when logs alone cannot explain cross-service latency or failure propagation.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Propagate trace context, avoid sensitive annotations, correlate trace/release IDs and define service-level objectives.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Unsampled rare failures or missing context propagation create misleading service maps.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Trace ID, service map, fault/latency segment, correlated log, SLO burn and release identifier.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385</a:t>
            </a:r>
          </a:p>
        </p:txBody>
      </p:sp>
    </p:spTree>
  </p:cSld>
  <p:clrMapOvr>
    <a:masterClrMapping/>
  </p:clrMapOvr>
  <p:transition xmlns:p14="http://schemas.microsoft.com/office/powerpoint/2010/main" p14:dur="380">
    <p:fade/>
  </p:transition>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OPENSEARCH SERVICE · MANAGED PROMETHEUS · MANAGED GRAFANA</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Telemetry analytics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Search, retain and visualise operational telemetry using tools matched to log, metric and dashboard workloads.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OpenSearch indexes/searches documents and can visualise log/event data.</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Managed Prometheus provides PromQL-compatible metric ingestion/query for container ecosystems.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Managed Grafana federates dashboards across approved data sources.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386</a:t>
            </a:r>
          </a:p>
        </p:txBody>
      </p:sp>
    </p:spTree>
  </p:cSld>
  <p:clrMapOvr>
    <a:masterClrMapping/>
  </p:clrMapOvr>
  <p:transition xmlns:p14="http://schemas.microsoft.com/office/powerpoint/2010/main" p14:dur="380">
    <p:fade/>
  </p:transition>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Telemetry analytics: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native CloudWatch first for AWS-integrated operations; add OpenSearch or Prometheus/Grafana when search/query or ecosystem requirements justify them.</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Control tenancy, encryption, retention, shard/cardinality growth and dashboard access through federation.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Unbounded log indexing or metric labels can create cost and performance failures.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Index policy, ingestion lag, query latency, series count, dashboard ownership and access log.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387</a:t>
            </a:r>
          </a:p>
        </p:txBody>
      </p:sp>
    </p:spTree>
  </p:cSld>
  <p:clrMapOvr>
    <a:masterClrMapping/>
  </p:clrMapOvr>
  <p:transition xmlns:p14="http://schemas.microsoft.com/office/powerpoint/2010/main" p14:dur="380">
    <p:fade/>
  </p:transition>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KINESIS DATA STREAMS · FIREHOSE · GLUE · ATHENA</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AWS foundations: Streaming and data engineering signals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Move high-volume operational events into durable streams, delivery destinations and queryable evidence stores.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Kinesis Data Streams partitions records by key and exposes shard/consumer lag and retention controls.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Firehose buffers, optionally transforms and delivers data to destinations such as S3/OpenSearch.</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Glue Catalog describes datasets; Athena queries data in S3 and benefits from partitioning and columnar formats.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388</a:t>
            </a:r>
          </a:p>
        </p:txBody>
      </p:sp>
    </p:spTree>
  </p:cSld>
  <p:clrMapOvr>
    <a:masterClrMapping/>
  </p:clrMapOvr>
  <p:transition xmlns:p14="http://schemas.microsoft.com/office/powerpoint/2010/main" p14:dur="380">
    <p:fade/>
  </p:transition>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SERVICE DECISION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Streaming and data engineering signals: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Streams for custom low-latency consumers/replay, Firehose for managed delivery, and S3/Glue/Athena for economical historical analysis.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Choose partition keys carefully, monitor iterator age, design replay/idempotency, encrypt records and control schema evolution.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hot partition throttles one shard even when the stream has unused capacity elsewhere.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Put-record result, shard distribution, iterator age, delivery error, catalog version, query and retention policy.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389</a:t>
            </a:r>
          </a:p>
        </p:txBody>
      </p:sp>
    </p:spTree>
  </p:cSld>
  <p:clrMapOvr>
    <a:masterClrMapping/>
  </p:clrMapOvr>
  <p:transition xmlns:p14="http://schemas.microsoft.com/office/powerpoint/2010/main" p14:dur="380">
    <p:fade/>
  </p:transition>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Developer deep dive: CloudWatch metrics, logs and alarm engineering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Create actionable observability from service, application and business signals instead of accumulating unowned telemetry.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CloudWatch Metrics · Logs · alarms · Logs Insights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Emit transaction success/failure and latency, annotate releases, alarm on error-rate/SLO burn and use a composite signal for rollback.</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CPU is not a user outcome; unbounded tenant IDs as dimensions can create excessive custom time series.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390</a:t>
            </a:r>
          </a:p>
        </p:txBody>
      </p:sp>
    </p:spTree>
  </p:cSld>
  <p:clrMapOvr>
    <a:masterClrMapping/>
  </p:clrMapOvr>
  <p:transition xmlns:p14="http://schemas.microsoft.com/office/powerpoint/2010/main" p14:dur="380">
    <p:fade/>
  </p:transition>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SERVICE MECHANICS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CloudWatch metrics, logs and alarm engineering: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Metrics combine namespace, name, dimensions, timestamp and value; every new dimension combination creates a distinct time series with cost and cardinality implications.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Embedded Metric Format extracts metrics from structured logs, allowing a single event to retain detail and contribute numeric signals.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Log groups define retention and encryption; subscription filters stream matching events to supported destinations for central analysis.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Metric math, anomaly detection and composite alarms combine signals, while missing-data treatment changes whether absence is healthy, breaching or unknown.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391</a:t>
            </a:r>
          </a:p>
        </p:txBody>
      </p:sp>
    </p:spTree>
  </p:cSld>
  <p:clrMapOvr>
    <a:masterClrMapping/>
  </p:clrMapOvr>
  <p:transition xmlns:p14="http://schemas.microsoft.com/office/powerpoint/2010/main" p14:dur="380">
    <p:fade/>
  </p:transition>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CONTROL AND DATA FLOW</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CloudWatch metrics, logs and alarm engineering: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Emit structured telemetry</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Apply dimensions and retention</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Query and correlate release</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Evaluate SLO signal</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Notify owner or automate</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392</a:t>
            </a:r>
          </a:p>
        </p:txBody>
      </p:sp>
    </p:spTree>
  </p:cSld>
  <p:clrMapOvr>
    <a:masterClrMapping/>
  </p:clrMapOvr>
  <p:transition xmlns:p14="http://schemas.microsoft.com/office/powerpoint/2010/main" p14:dur="380">
    <p:fade/>
  </p:transition>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CloudWatch metrics, logs and alarm engineering: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SIGNAL</a:t>
            </a:r>
          </a:p>
          <a:p>
            <a:pPr algn="l">
              <a:spcAft>
                <a:spcPts val="300"/>
              </a:spcAft>
            </a:pPr>
            <a:r>
              <a:rPr sz="1050" b="0">
                <a:solidFill>
                  <a:srgbClr val="5B6372"/>
                </a:solidFill>
                <a:latin typeface="Arial"/>
              </a:rPr>
              <a:t>Prefer request, error, duration and saturation indicators plus business outcomes over infrastructure-only dashboards.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ALARM</a:t>
            </a:r>
          </a:p>
          <a:p>
            <a:pPr algn="l">
              <a:spcAft>
                <a:spcPts val="300"/>
              </a:spcAft>
            </a:pPr>
            <a:r>
              <a:rPr sz="1050" b="0">
                <a:solidFill>
                  <a:srgbClr val="5B6372"/>
                </a:solidFill>
                <a:latin typeface="Arial"/>
              </a:rPr>
              <a:t>Define owner, severity, action, evaluation window and recovery behavior; test alarm transitions deliberately.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LOGS</a:t>
            </a:r>
          </a:p>
          <a:p>
            <a:pPr algn="l">
              <a:spcAft>
                <a:spcPts val="300"/>
              </a:spcAft>
            </a:pPr>
            <a:r>
              <a:rPr sz="1050" b="0">
                <a:solidFill>
                  <a:srgbClr val="5B6372"/>
                </a:solidFill>
                <a:latin typeface="Arial"/>
              </a:rPr>
              <a:t>Use structured fields and correlation IDs, redact secrets and set retention from operational/legal need.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COST</a:t>
            </a:r>
          </a:p>
          <a:p>
            <a:pPr algn="l">
              <a:spcAft>
                <a:spcPts val="300"/>
              </a:spcAft>
            </a:pPr>
            <a:r>
              <a:rPr sz="1050" b="0">
                <a:solidFill>
                  <a:srgbClr val="5B6372"/>
                </a:solidFill>
                <a:latin typeface="Arial"/>
              </a:rPr>
              <a:t>Control custom metric cardinality, log volume, ingestion class and query scan range.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393</a:t>
            </a:r>
          </a:p>
        </p:txBody>
      </p:sp>
    </p:spTree>
  </p:cSld>
  <p:clrMapOvr>
    <a:masterClrMapping/>
  </p:clrMapOvr>
  <p:transition xmlns:p14="http://schemas.microsoft.com/office/powerpoint/2010/main" p14:dur="380">
    <p:fade/>
  </p:transition>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1900" b="1">
                <a:solidFill>
                  <a:srgbClr val="161B26"/>
                </a:solidFill>
                <a:latin typeface="Arial"/>
              </a:rPr>
              <a:t>CloudWatch metrics, logs and alarm engineering: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deployment increases checkout failures without raising CPU, so the existing fleet alarm remains green.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Emit transaction success/failure and latency, annotate releases, alarm on error-rate/SLO burn and use a composite signal for rollback.</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CPU is not a user outcome; unbounded tenant IDs as dimensions can create excessive custom time series.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Metric schema, sample structured log, dashboard, query, alarm history, release annotation and operator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394</a:t>
            </a:r>
          </a:p>
        </p:txBody>
      </p:sp>
    </p:spTree>
  </p:cSld>
  <p:clrMapOvr>
    <a:masterClrMapping/>
  </p:clrMapOvr>
  <p:transition xmlns:p14="http://schemas.microsoft.com/office/powerpoint/2010/main" p14:dur="380">
    <p:fade/>
  </p:transition>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Developer deep dive: Distributed tracing with X-Ray and OpenTelemetry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Follow requests across service boundaries and connect latency or faults to dependency, release and log evidence.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AWS X-Ray · ADOT · Application Signals · ServiceLens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Propagate trace context, instrument SDK/dependency calls, retain message correlation and compare queue delay with processing duration.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A trace covering only the first Lambda misattributes queue time and hides downstream throttling.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395</a:t>
            </a:r>
          </a:p>
        </p:txBody>
      </p:sp>
    </p:spTree>
  </p:cSld>
  <p:clrMapOvr>
    <a:masterClrMapping/>
  </p:clrMapOvr>
  <p:transition xmlns:p14="http://schemas.microsoft.com/office/powerpoint/2010/main" p14:dur="380">
    <p:fade/>
  </p:transition>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SERVICE MECHANICS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Distributed tracing with X-Ray and OpenTelemetry: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Trace context propagates a trace identifier and sampling decision; each service contributes spans or X-Ray segments/subsegments describing timed work.</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Sampling reduces telemetry volume and must preserve enough rare or high-value failures for diagnosis; head and tail sampling have different visibility trade-offs.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Annotations are indexed fields for trace filtering, while metadata stores unindexed context; neither should contain secrets or regulated payloads.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AWS Distro for OpenTelemetry collects standard traces and metrics and can export to supported AWS or third-party backends.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396</a:t>
            </a:r>
          </a:p>
        </p:txBody>
      </p:sp>
    </p:spTree>
  </p:cSld>
  <p:clrMapOvr>
    <a:masterClrMapping/>
  </p:clrMapOvr>
  <p:transition xmlns:p14="http://schemas.microsoft.com/office/powerpoint/2010/main" p14:dur="380">
    <p:fade/>
  </p:transition>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CONTROL AND DATA FLOW</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Distributed tracing with X-Ray and OpenTelemetry: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Receive trace context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Create server span</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Instrument dependency call</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Export sampled telemetry</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Correlate map, logs and release</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397</a:t>
            </a:r>
          </a:p>
        </p:txBody>
      </p:sp>
    </p:spTree>
  </p:cSld>
  <p:clrMapOvr>
    <a:masterClrMapping/>
  </p:clrMapOvr>
  <p:transition xmlns:p14="http://schemas.microsoft.com/office/powerpoint/2010/main" p14:dur="380">
    <p:fade/>
  </p:transition>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Distributed tracing with X-Ray and OpenTelemetry: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PROPAGATION</a:t>
            </a:r>
          </a:p>
          <a:p>
            <a:pPr algn="l">
              <a:spcAft>
                <a:spcPts val="300"/>
              </a:spcAft>
            </a:pPr>
            <a:r>
              <a:rPr sz="1050" b="0">
                <a:solidFill>
                  <a:srgbClr val="5B6372"/>
                </a:solidFill>
                <a:latin typeface="Arial"/>
              </a:rPr>
              <a:t>Instrument every protocol boundary or explicitly bridge trace headers; one missing hop fragments the service map.</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SAMPLING</a:t>
            </a:r>
          </a:p>
          <a:p>
            <a:pPr algn="l">
              <a:spcAft>
                <a:spcPts val="300"/>
              </a:spcAft>
            </a:pPr>
            <a:r>
              <a:rPr sz="1050" b="0">
                <a:solidFill>
                  <a:srgbClr val="5B6372"/>
                </a:solidFill>
                <a:latin typeface="Arial"/>
              </a:rPr>
              <a:t>Set rules by service/path/value and monitor cost; preserve critical errors through appropriate sampling strategy.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ASYNC WORK</a:t>
            </a:r>
          </a:p>
          <a:p>
            <a:pPr algn="l">
              <a:spcAft>
                <a:spcPts val="300"/>
              </a:spcAft>
            </a:pPr>
            <a:r>
              <a:rPr sz="1050" b="0">
                <a:solidFill>
                  <a:srgbClr val="5B6372"/>
                </a:solidFill>
                <a:latin typeface="Arial"/>
              </a:rPr>
              <a:t>Link producer and consumer context without pretending queued time is synchronous processing.</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PRIVACY</a:t>
            </a:r>
          </a:p>
          <a:p>
            <a:pPr algn="l">
              <a:spcAft>
                <a:spcPts val="300"/>
              </a:spcAft>
            </a:pPr>
            <a:r>
              <a:rPr sz="1050" b="0">
                <a:solidFill>
                  <a:srgbClr val="5B6372"/>
                </a:solidFill>
                <a:latin typeface="Arial"/>
              </a:rPr>
              <a:t>Record identifiers needed for correlation but exclude credentials, tokens and sensitive payloads.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398</a:t>
            </a:r>
          </a:p>
        </p:txBody>
      </p:sp>
    </p:spTree>
  </p:cSld>
  <p:clrMapOvr>
    <a:masterClrMapping/>
  </p:clrMapOvr>
  <p:transition xmlns:p14="http://schemas.microsoft.com/office/powerpoint/2010/main" p14:dur="380">
    <p:fade/>
  </p:transition>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1900" b="1">
                <a:solidFill>
                  <a:srgbClr val="161B26"/>
                </a:solidFill>
                <a:latin typeface="Arial"/>
              </a:rPr>
              <a:t>Distributed tracing with X-Ray and OpenTelemetry: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serverless request is fast at the API edge but intermittently slow after two asynchronous downstream steps.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Propagate trace context, instrument SDK/dependency calls, retain message correlation and compare queue delay with processing duration.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A trace covering only the first Lambda misattributes queue time and hides downstream throttling.</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Trace ID, sampled spans, service map, fault/latency segment, correlated log/request ID and deployment version.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399</a:t>
            </a:r>
          </a:p>
        </p:txBody>
      </p:sp>
    </p:spTree>
  </p:cSld>
  <p:clrMapOvr>
    <a:masterClrMapping/>
  </p:clrMapOvr>
  <p:transition xmlns:p14="http://schemas.microsoft.com/office/powerpoint/2010/main" p14:dur="380">
    <p:fade/>
  </p:transition>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Developer deep dive: Kinesis, Firehose and queryable event lakes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Ingest, replay, deliver and query high-volume operational events while controlling partition balance, lag and schema evolution.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Kinesis Data Streams · Firehose · Glue · Athena</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Redesign the partition key with controlled distribution, preserve customer queryability in record fields and scale consumers from measured lag.</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Adding shards does not fix an unchanged hot key; retrying failed records without checkpoints can duplicate downstream 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400</a:t>
            </a:r>
          </a:p>
        </p:txBody>
      </p:sp>
    </p:spTree>
  </p:cSld>
  <p:clrMapOvr>
    <a:masterClrMapping/>
  </p:clrMapOvr>
  <p:transition xmlns:p14="http://schemas.microsoft.com/office/powerpoint/2010/main" p14:dur="380">
    <p:fade/>
  </p:transition>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Kinesis, Firehose and queryable event lakes: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Data Streams assigns records to shards from the partition key; consumer lag and hot shards are therefore functions of key distribution and per-shard throughput.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Enhanced fan-out gives registered consumers dedicated read throughput, while shared polling consumers compete within shard limits.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Firehose buffers by size/time, can transform records and delivers to destinations with backup/error prefixes for failed data.</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S3 partitioning, Glue catalog metadata and columnar formats such as Parquet reduce Athena scan volume and make historical evidence economical.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401</a:t>
            </a:r>
          </a:p>
        </p:txBody>
      </p:sp>
    </p:spTree>
  </p:cSld>
  <p:clrMapOvr>
    <a:masterClrMapping/>
  </p:clrMapOvr>
  <p:transition xmlns:p14="http://schemas.microsoft.com/office/powerpoint/2010/main" p14:dur="380">
    <p:fade/>
  </p:transition>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CONTROL AND DATA FLOW</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Kinesis, Firehose and queryable event lakes: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Choose partition key</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Write with retry and ordering</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Consume/checkpoint</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Deliver and catalog</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Query lag, errors and history</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402</a:t>
            </a:r>
          </a:p>
        </p:txBody>
      </p:sp>
    </p:spTree>
  </p:cSld>
  <p:clrMapOvr>
    <a:masterClrMapping/>
  </p:clrMapOvr>
  <p:transition xmlns:p14="http://schemas.microsoft.com/office/powerpoint/2010/main" p14:dur="380">
    <p:fade/>
  </p:transition>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Kinesis, Firehose and queryable event lakes: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STREAMS</a:t>
            </a:r>
          </a:p>
          <a:p>
            <a:pPr algn="l">
              <a:spcAft>
                <a:spcPts val="300"/>
              </a:spcAft>
            </a:pPr>
            <a:r>
              <a:rPr sz="1050" b="0">
                <a:solidFill>
                  <a:srgbClr val="5B6372"/>
                </a:solidFill>
                <a:latin typeface="Arial"/>
              </a:rPr>
              <a:t>Choose when custom consumers, replay, ordering within a shard or low-latency processing are required.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FIREHOSE</a:t>
            </a:r>
          </a:p>
          <a:p>
            <a:pPr algn="l">
              <a:spcAft>
                <a:spcPts val="300"/>
              </a:spcAft>
            </a:pPr>
            <a:r>
              <a:rPr sz="1050" b="0">
                <a:solidFill>
                  <a:srgbClr val="5B6372"/>
                </a:solidFill>
                <a:latin typeface="Arial"/>
              </a:rPr>
              <a:t>Choose for managed buffered delivery where application-controlled replay/consumer logic is not required.</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SCHEMA</a:t>
            </a:r>
          </a:p>
          <a:p>
            <a:pPr algn="l">
              <a:spcAft>
                <a:spcPts val="300"/>
              </a:spcAft>
            </a:pPr>
            <a:r>
              <a:rPr sz="1050" b="0">
                <a:solidFill>
                  <a:srgbClr val="5B6372"/>
                </a:solidFill>
                <a:latin typeface="Arial"/>
              </a:rPr>
              <a:t>Version records compatibly and quarantine malformed events instead of blocking an entire consumer shard.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SECURITY</a:t>
            </a:r>
          </a:p>
          <a:p>
            <a:pPr algn="l">
              <a:spcAft>
                <a:spcPts val="300"/>
              </a:spcAft>
            </a:pPr>
            <a:r>
              <a:rPr sz="1050" b="0">
                <a:solidFill>
                  <a:srgbClr val="5B6372"/>
                </a:solidFill>
                <a:latin typeface="Arial"/>
              </a:rPr>
              <a:t>Encrypt in transit/at rest, scope producer/consumer roles and protect destination prefixes/catalog access.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403</a:t>
            </a:r>
          </a:p>
        </p:txBody>
      </p:sp>
    </p:spTree>
  </p:cSld>
  <p:clrMapOvr>
    <a:masterClrMapping/>
  </p:clrMapOvr>
  <p:transition xmlns:p14="http://schemas.microsoft.com/office/powerpoint/2010/main" p14:dur="380">
    <p:fade/>
  </p:transition>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Kinesis, Firehose and queryable event lakes: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One customer ID dominates the stream and causes high iterator age while other shards remain idle.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Redesign the partition key with controlled distribution, preserve customer queryability in record fields and scale consumers from measured lag.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Adding shards does not fix an unchanged hot key; retrying failed records without checkpoints can duplicate downstream work.</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Put-record responses, per-shard throughput, iterator age, checkpoint, delivery errors, catalog version and Athena query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404</a:t>
            </a:r>
          </a:p>
        </p:txBody>
      </p:sp>
    </p:spTree>
  </p:cSld>
  <p:clrMapOvr>
    <a:masterClrMapping/>
  </p:clrMapOvr>
  <p:transition xmlns:p14="http://schemas.microsoft.com/office/powerpoint/2010/main" p14:dur="380">
    <p:fade/>
  </p:transition>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MONITORING AND LOGGING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Metrics, dimensions and service objectives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Measure user outcomes and resource behavior with metrics that support decisions.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Define SLIs and thresholds, use dimensions carefully, aggregate intentionally and avoid high-cardinality custom metrics.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Averages can hide tail latency and a small population of severe failures.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Metric namespace, dimensions, statistic, period, percentile, SLO and alarm history.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405</a:t>
            </a:r>
          </a:p>
        </p:txBody>
      </p:sp>
    </p:spTree>
  </p:cSld>
  <p:clrMapOvr>
    <a:masterClrMapping/>
  </p:clrMapOvr>
  <p:transition xmlns:p14="http://schemas.microsoft.com/office/powerpoint/2010/main" p14:dur="380">
    <p:fade/>
  </p:transition>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Metrics, dimensions and service objectives: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Instrument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Publish</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Aggregate</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Compare to objective</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Alert or review</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406</a:t>
            </a:r>
          </a:p>
        </p:txBody>
      </p:sp>
    </p:spTree>
  </p:cSld>
  <p:clrMapOvr>
    <a:masterClrMapping/>
  </p:clrMapOvr>
  <p:transition xmlns:p14="http://schemas.microsoft.com/office/powerpoint/2010/main" p14:dur="380">
    <p:fade/>
  </p:transition>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Metrics, dimensions and service objectives: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F59E0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An API meets average-latency targets but its slowest five percent of requests breach the user promise.</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Define SLIs and thresholds, use dimensions carefully, aggregate intentionally and avoid high-cardinality custom metrics.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CloudWatch Metrics · Metric Math · Application Signals</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Averages can hide tail latency and a small population of severe failures.</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Metric namespace, dimensions, statistic, period, percentile, SLO and alarm history.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407</a:t>
            </a:r>
          </a:p>
        </p:txBody>
      </p:sp>
    </p:spTree>
  </p:cSld>
  <p:clrMapOvr>
    <a:masterClrMapping/>
  </p:clrMapOvr>
  <p:transition xmlns:p14="http://schemas.microsoft.com/office/powerpoint/2010/main" p14:dur="380">
    <p:fade/>
  </p:transition>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OPERATIONS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Metrics, dimensions and service objectives: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Averages can hide tail latency and a small population of severe failures.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Instrument through Alert or review;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Metric namespace, dimensions, statistic, period, percentile, SLO and alarm history.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408</a:t>
            </a:r>
          </a:p>
        </p:txBody>
      </p:sp>
    </p:spTree>
  </p:cSld>
  <p:clrMapOvr>
    <a:masterClrMapping/>
  </p:clrMapOvr>
  <p:transition xmlns:p14="http://schemas.microsoft.com/office/powerpoint/2010/main" p14:dur="380">
    <p:fade/>
  </p:transition>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Metrics, dimensions and service objectives: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An API meets average-latency targets but its slowest five percent of requests breach the user promise.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Define SLIs and thresholds, use dimensions carefully, aggregate intentionally and avoid high-cardinality custom metrics.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Averages can hide tail latency and a small population of severe failures.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Metric namespace, dimensions, statistic, period, percentile, SLO and alarm history.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409</a:t>
            </a:r>
          </a:p>
        </p:txBody>
      </p:sp>
    </p:spTree>
  </p:cSld>
  <p:clrMapOvr>
    <a:masterClrMapping/>
  </p:clrMapOvr>
  <p:transition xmlns:p14="http://schemas.microsoft.com/office/powerpoint/2010/main" p14:dur="380">
    <p:fade/>
  </p:transition>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MONITORING AND LOGGING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Centralized log architecture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Collect searchable logs across accounts and Regions while meeting retention and access requirements.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Standardize structure, encrypt log groups, centralize subscriptions, partition archives and prevent recursive delivery.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Centralization without account/Region context makes incident correlation harder.</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Log-group policy, subscription filter, destination policy, archive partition and retention setting.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410</a:t>
            </a:r>
          </a:p>
        </p:txBody>
      </p:sp>
    </p:spTree>
  </p:cSld>
  <p:clrMapOvr>
    <a:masterClrMapping/>
  </p:clrMapOvr>
  <p:transition xmlns:p14="http://schemas.microsoft.com/office/powerpoint/2010/main" p14:dur="380">
    <p:fade/>
  </p:transition>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Centralized log architecture: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Emit structured log</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Collect</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Filter</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Stream</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Archive</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Query</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411</a:t>
            </a:r>
          </a:p>
        </p:txBody>
      </p:sp>
    </p:spTree>
  </p:cSld>
  <p:clrMapOvr>
    <a:masterClrMapping/>
  </p:clrMapOvr>
  <p:transition xmlns:p14="http://schemas.microsoft.com/office/powerpoint/2010/main" p14:dur="380">
    <p:fade/>
  </p:transition>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Centralized log architecture: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F59E0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Security operations needs a central account for application and audit logs from every workload account.</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Standardize structure, encrypt log groups, centralize subscriptions, partition archives and prevent recursive delivery.</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CloudWatch Logs · Kinesis Data Firehose · S3 · OpenSearch</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Centralization without account/Region context makes incident correlation harder.</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Log-group policy, subscription filter, destination policy, archive partition and retention setting.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412</a:t>
            </a:r>
          </a:p>
        </p:txBody>
      </p:sp>
    </p:spTree>
  </p:cSld>
  <p:clrMapOvr>
    <a:masterClrMapping/>
  </p:clrMapOvr>
  <p:transition xmlns:p14="http://schemas.microsoft.com/office/powerpoint/2010/main" p14:dur="380">
    <p:fade/>
  </p:transition>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Centralized log architecture: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Centralization without account/Region context makes incident correlation harder.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Emit structured log through Query;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Log-group policy, subscription filter, destination policy, archive partition and retention setting.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413</a:t>
            </a:r>
          </a:p>
        </p:txBody>
      </p:sp>
    </p:spTree>
  </p:cSld>
  <p:clrMapOvr>
    <a:masterClrMapping/>
  </p:clrMapOvr>
  <p:transition xmlns:p14="http://schemas.microsoft.com/office/powerpoint/2010/main" p14:dur="380">
    <p:fade/>
  </p:transition>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Centralized log architecture: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Security operations needs a central account for application and audit logs from every workload account.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Standardize structure, encrypt log groups, centralize subscriptions, partition archives and prevent recursive delivery.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Centralization without account/Region context makes incident correlation harder.</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Log-group policy, subscription filter, destination policy, archive partition and retention setting.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414</a:t>
            </a:r>
          </a:p>
        </p:txBody>
      </p:sp>
    </p:spTree>
  </p:cSld>
  <p:clrMapOvr>
    <a:masterClrMapping/>
  </p:clrMapOvr>
  <p:transition xmlns:p14="http://schemas.microsoft.com/office/powerpoint/2010/main" p14:dur="380">
    <p:fade/>
  </p:transition>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MONITORING AND LOGGING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Agents and custom telemetry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Capture operating-system, application and business signals not emitted by managed services.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Deploy versioned agent configuration, use least privilege, buffer safely and validate time synchronization.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broken agent rollout can remove visibility exactly when a change is being evaluated.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Agent config version, collection status, dropped records, IAM policy and sample telemetry.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415</a:t>
            </a:r>
          </a:p>
        </p:txBody>
      </p:sp>
    </p:spTree>
  </p:cSld>
  <p:clrMapOvr>
    <a:masterClrMapping/>
  </p:clrMapOvr>
  <p:transition xmlns:p14="http://schemas.microsoft.com/office/powerpoint/2010/main" p14:dur="380">
    <p:fade/>
  </p:transition>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Agents and custom telemetry: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Configure receiver</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Collect</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Enrich</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Batch</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Export</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Verify</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416</a:t>
            </a:r>
          </a:p>
        </p:txBody>
      </p:sp>
    </p:spTree>
  </p:cSld>
  <p:clrMapOvr>
    <a:masterClrMapping/>
  </p:clrMapOvr>
  <p:transition xmlns:p14="http://schemas.microsoft.com/office/powerpoint/2010/main" p14:dur="380">
    <p:fade/>
  </p:transition>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Agents and custom telemetry: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F59E0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hybrid fleet must publish memory utilization, application latency and deployment version consistently.</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Deploy versioned agent configuration, use least privilege, buffer safely and validate time synchronization.</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CloudWatch Agent · OpenTelemetry Collector · Embedded Metric Format</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 broken agent rollout can remove visibility exactly when a change is being evaluated.</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Agent config version, collection status, dropped records, IAM policy and sample telemetry.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417</a:t>
            </a:r>
          </a:p>
        </p:txBody>
      </p:sp>
    </p:spTree>
  </p:cSld>
  <p:clrMapOvr>
    <a:masterClrMapping/>
  </p:clrMapOvr>
  <p:transition xmlns:p14="http://schemas.microsoft.com/office/powerpoint/2010/main" p14:dur="380">
    <p:fade/>
  </p:transition>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Agents and custom telemetry: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 broken agent rollout can remove visibility exactly when a change is being evaluated.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Configure receiver through Verify;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Agent config version, collection status, dropped records, IAM policy and sample telemetry.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418</a:t>
            </a:r>
          </a:p>
        </p:txBody>
      </p:sp>
    </p:spTree>
  </p:cSld>
  <p:clrMapOvr>
    <a:masterClrMapping/>
  </p:clrMapOvr>
  <p:transition xmlns:p14="http://schemas.microsoft.com/office/powerpoint/2010/main" p14:dur="380">
    <p:fade/>
  </p:transition>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Agents and custom telemetry: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hybrid fleet must publish memory utilization, application latency and deployment version consistently.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Deploy versioned agent configuration, use least privilege, buffer safely and validate time synchronization.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 broken agent rollout can remove visibility exactly when a change is being evaluated.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Agent config version, collection status, dropped records, IAM policy and sample telemetry.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419</a:t>
            </a:r>
          </a:p>
        </p:txBody>
      </p:sp>
    </p:spTree>
  </p:cSld>
  <p:clrMapOvr>
    <a:masterClrMapping/>
  </p:clrMapOvr>
  <p:transition xmlns:p14="http://schemas.microsoft.com/office/powerpoint/2010/main" p14:dur="380">
    <p:fade/>
  </p:transition>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MONITORING AND LOGGING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Alarms, anomaly detection and composite signals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Trigger action only when evidence is meaningful enough to justify interruption or automation.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Tune evaluation periods and missing-data behavior; combine symptoms to reduce noise and attach runbook context.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One noisy metric can cause alert fatigue or repeated automated recovery.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Alarm configuration, state transition, contributing alarms, notification payload and operator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420</a:t>
            </a:r>
          </a:p>
        </p:txBody>
      </p:sp>
    </p:spTree>
  </p:cSld>
  <p:clrMapOvr>
    <a:masterClrMapping/>
  </p:clrMapOvr>
  <p:transition xmlns:p14="http://schemas.microsoft.com/office/powerpoint/2010/main" p14:dur="380">
    <p:fade/>
  </p:transition>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PROCESS MODEL</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Alarms, anomaly detection and composite signals: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Evaluate datapoint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Apply threshold</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Correlate</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Change state</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Notify or act</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421</a:t>
            </a:r>
          </a:p>
        </p:txBody>
      </p:sp>
    </p:spTree>
  </p:cSld>
  <p:clrMapOvr>
    <a:masterClrMapping/>
  </p:clrMapOvr>
  <p:transition xmlns:p14="http://schemas.microsoft.com/office/powerpoint/2010/main" p14:dur="380">
    <p:fade/>
  </p:transition>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SCENARIO</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Alarms, anomaly detection and composite signals: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F59E0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Operations wants a page only when latency is high and the error rate indicates customer impact.</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Tune evaluation periods and missing-data behavior; combine symptoms to reduce noise and attach runbook context.</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CloudWatch Alarms · Composite Alarms · SNS</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One noisy metric can cause alert fatigue or repeated automated recovery.</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Alarm configuration, state transition, contributing alarms, notification payload and operator action.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422</a:t>
            </a:r>
          </a:p>
        </p:txBody>
      </p:sp>
    </p:spTree>
  </p:cSld>
  <p:clrMapOvr>
    <a:masterClrMapping/>
  </p:clrMapOvr>
  <p:transition xmlns:p14="http://schemas.microsoft.com/office/powerpoint/2010/main" p14:dur="380">
    <p:fade/>
  </p:transition>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OPERATIONS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Alarms, anomaly detection and composite signals: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One noisy metric can cause alert fatigue or repeated automated recovery.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Evaluate datapoint through Notify or act;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Alarm configuration, state transition, contributing alarms, notification payload and operator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423</a:t>
            </a:r>
          </a:p>
        </p:txBody>
      </p:sp>
    </p:spTree>
  </p:cSld>
  <p:clrMapOvr>
    <a:masterClrMapping/>
  </p:clrMapOvr>
  <p:transition xmlns:p14="http://schemas.microsoft.com/office/powerpoint/2010/main" p14:dur="380">
    <p:fade/>
  </p:transition>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APPLIED SCENARIO</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Alarms, anomaly detection and composite signals: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Operations wants a page only when latency is high and the error rate indicates customer impact.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Tune evaluation periods and missing-data behavior; combine symptoms to reduce noise and attach runbook context.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One noisy metric can cause alert fatigue or repeated automated recovery.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Alarm configuration, state transition, contributing alarms, notification payload and operator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424</a:t>
            </a:r>
          </a:p>
        </p:txBody>
      </p:sp>
    </p:spTree>
  </p:cSld>
  <p:clrMapOvr>
    <a:masterClrMapping/>
  </p:clrMapOvr>
  <p:transition xmlns:p14="http://schemas.microsoft.com/office/powerpoint/2010/main" p14:dur="380">
    <p:fade/>
  </p:transition>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MONITORING AND LOGGING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Distributed tracing and service maps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Trace a request across services to locate latency, faults and dependency behavior.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Propagate trace context, sample intentionally, protect sensitive attributes and correlate traces with logs and metrics.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Missing context propagation creates disconnected traces and incorrect service maps.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Trace ID, segment/subsegment, annotation, sampling rule, fault edge and correlated log event.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425</a:t>
            </a:r>
          </a:p>
        </p:txBody>
      </p:sp>
    </p:spTree>
  </p:cSld>
  <p:clrMapOvr>
    <a:masterClrMapping/>
  </p:clrMapOvr>
  <p:transition xmlns:p14="http://schemas.microsoft.com/office/powerpoint/2010/main" p14:dur="380">
    <p:fade/>
  </p:transition>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Distributed tracing and service maps: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Receive trace context</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Create span</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Call dependency</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Propagate</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Export</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Analyze path</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426</a:t>
            </a:r>
          </a:p>
        </p:txBody>
      </p:sp>
    </p:spTree>
  </p:cSld>
  <p:clrMapOvr>
    <a:masterClrMapping/>
  </p:clrMapOvr>
  <p:transition xmlns:p14="http://schemas.microsoft.com/office/powerpoint/2010/main" p14:dur="380">
    <p:fade/>
  </p:transition>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Distributed tracing and service maps: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F59E0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request is slow only when it crosses an asynchronous worker and a third-party dependency.</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Propagate trace context, sample intentionally, protect sensitive attributes and correlate traces with logs and metrics.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AWS X-Ray · ADOT · CloudWatch ServiceLens</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Missing context propagation creates disconnected traces and incorrect service maps.</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Trace ID, segment/subsegment, annotation, sampling rule, fault edge and correlated log event.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427</a:t>
            </a:r>
          </a:p>
        </p:txBody>
      </p:sp>
    </p:spTree>
  </p:cSld>
  <p:clrMapOvr>
    <a:masterClrMapping/>
  </p:clrMapOvr>
  <p:transition xmlns:p14="http://schemas.microsoft.com/office/powerpoint/2010/main" p14:dur="380">
    <p:fade/>
  </p:transition>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Distributed tracing and service maps: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Missing context propagation creates disconnected traces and incorrect service maps.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Receive trace context through Analyze path;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Trace ID, segment/subsegment, annotation, sampling rule, fault edge and correlated log event.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428</a:t>
            </a:r>
          </a:p>
        </p:txBody>
      </p:sp>
    </p:spTree>
  </p:cSld>
  <p:clrMapOvr>
    <a:masterClrMapping/>
  </p:clrMapOvr>
  <p:transition xmlns:p14="http://schemas.microsoft.com/office/powerpoint/2010/main" p14:dur="380">
    <p:fade/>
  </p:transition>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Distributed tracing and service maps: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request is slow only when it crosses an asynchronous worker and a third-party dependency.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Propagate trace context, sample intentionally, protect sensitive attributes and correlate traces with logs and metrics.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Missing context propagation creates disconnected traces and incorrect service maps.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Trace ID, segment/subsegment, annotation, sampling rule, fault edge and correlated log event.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429</a:t>
            </a:r>
          </a:p>
        </p:txBody>
      </p:sp>
    </p:spTree>
  </p:cSld>
  <p:clrMapOvr>
    <a:masterClrMapping/>
  </p:clrMapOvr>
  <p:transition xmlns:p14="http://schemas.microsoft.com/office/powerpoint/2010/main" p14:dur="380">
    <p:fade/>
  </p:transition>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MONITORING AND LOGGING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Operational analysis and review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Turn telemetry into repeatable system reviews and prioritized modifications.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Build hypothesis-driven queries, compare deploy markers, keep dashboards audience-specific and record decisions.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dashboard with many graphs but no decision threshold becomes decorative monitoring.</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Saved query, dashboard version, deployment annotation, review finding, owner and verified improvement.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430</a:t>
            </a:r>
          </a:p>
        </p:txBody>
      </p:sp>
    </p:spTree>
  </p:cSld>
  <p:clrMapOvr>
    <a:masterClrMapping/>
  </p:clrMapOvr>
  <p:transition xmlns:p14="http://schemas.microsoft.com/office/powerpoint/2010/main" p14:dur="380">
    <p:fade/>
  </p:transition>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Operational analysis and review: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Observe change</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Form hypothesis</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Query evidence</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Decide</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Modify</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Measure again</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431</a:t>
            </a:r>
          </a:p>
        </p:txBody>
      </p:sp>
    </p:spTree>
  </p:cSld>
  <p:clrMapOvr>
    <a:masterClrMapping/>
  </p:clrMapOvr>
  <p:transition xmlns:p14="http://schemas.microsoft.com/office/powerpoint/2010/main" p14:dur="380">
    <p:fade/>
  </p:transition>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Operational analysis and review: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F59E0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weekly architecture review must explain rising throttles and recommend a measurable corrective action.</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Build hypothesis-driven queries, compare deploy markers, keep dashboards audience-specific and record decisions.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Logs Insights · Dashboards · Contributor Insights · Metrics Streams</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 dashboard with many graphs but no decision threshold becomes decorative monitoring.</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Saved query, dashboard version, deployment annotation, review finding, owner and verified improvement.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432</a:t>
            </a:r>
          </a:p>
        </p:txBody>
      </p:sp>
    </p:spTree>
  </p:cSld>
  <p:clrMapOvr>
    <a:masterClrMapping/>
  </p:clrMapOvr>
  <p:transition xmlns:p14="http://schemas.microsoft.com/office/powerpoint/2010/main" p14:dur="380">
    <p:fade/>
  </p:transition>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Operational analysis and review: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 dashboard with many graphs but no decision threshold becomes decorative monitoring.</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Observe change through Measure again;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Saved query, dashboard version, deployment annotation, review finding, owner and verified improvement.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433</a:t>
            </a:r>
          </a:p>
        </p:txBody>
      </p:sp>
    </p:spTree>
  </p:cSld>
  <p:clrMapOvr>
    <a:masterClrMapping/>
  </p:clrMapOvr>
  <p:transition xmlns:p14="http://schemas.microsoft.com/office/powerpoint/2010/main" p14:dur="380">
    <p:fade/>
  </p:transition>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Operational analysis and review: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weekly architecture review must explain rising throttles and recommend a measurable corrective action.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Build hypothesis-driven queries, compare deploy markers, keep dashboards audience-specific and record decisions.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 dashboard with many graphs but no decision threshold becomes decorative monitoring.</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Saved query, dashboard version, deployment annotation, review finding, owner and verified improvement.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434</a:t>
            </a:r>
          </a:p>
        </p:txBody>
      </p:sp>
    </p:spTree>
  </p:cSld>
  <p:clrMapOvr>
    <a:masterClrMapping/>
  </p:clrMapOvr>
  <p:transition xmlns:p14="http://schemas.microsoft.com/office/powerpoint/2010/main" p14:dur="380">
    <p:fade/>
  </p:transition>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Metrics to service objectives: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Instrument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Define SLIs and thresholds, use dimensions carefully, aggregate intentionally and avoid high-cardinality custom metrics.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CloudWatch Metrics · Metric Math · Application Signals</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Metric namespace, dimensions, statistic, period, percentile, SLO and alarm history.</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435</a:t>
            </a:r>
          </a:p>
        </p:txBody>
      </p:sp>
    </p:spTree>
  </p:cSld>
  <p:clrMapOvr>
    <a:masterClrMapping/>
  </p:clrMapOvr>
  <p:transition xmlns:p14="http://schemas.microsoft.com/office/powerpoint/2010/main" p14:dur="380">
    <p:fade/>
  </p:transition>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Centralized log architecture: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Emit structured log</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Standardize structure, encrypt log groups, centralize subscriptions, partition archives and prevent recursive delivery.</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CloudWatch Logs · Kinesis Data Firehose · S3 · OpenSearch</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Log-group policy, subscription filter, destination policy, archive partition and retention setting.</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436</a:t>
            </a:r>
          </a:p>
        </p:txBody>
      </p:sp>
    </p:spTree>
  </p:cSld>
  <p:clrMapOvr>
    <a:masterClrMapping/>
  </p:clrMapOvr>
  <p:transition xmlns:p14="http://schemas.microsoft.com/office/powerpoint/2010/main" p14:dur="380">
    <p:fade/>
  </p:transition>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Agents and custom telemetry: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Configure receiver</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Deploy versioned agent configuration, use least privilege, buffer safely and validate time synchronization.</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CloudWatch Agent · OpenTelemetry Collector · Embedded Metric Format</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Agent config version, collection status, dropped records, IAM policy and sample telemetry.</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437</a:t>
            </a:r>
          </a:p>
        </p:txBody>
      </p:sp>
    </p:spTree>
  </p:cSld>
  <p:clrMapOvr>
    <a:masterClrMapping/>
  </p:clrMapOvr>
  <p:transition xmlns:p14="http://schemas.microsoft.com/office/powerpoint/2010/main" p14:dur="380">
    <p:fade/>
  </p:transition>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SERVICE BOUNDARIES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Alarms, anomaly detection and composite signals: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Evaluate datapoint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Tune evaluation periods and missing-data behavior; combine symptoms to reduce noise and attach runbook context.</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CloudWatch Alarms · Composite Alarms · SNS</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Alarm configuration, state transition, contributing alarms, notification payload and operator action.</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438</a:t>
            </a:r>
          </a:p>
        </p:txBody>
      </p:sp>
    </p:spTree>
  </p:cSld>
  <p:clrMapOvr>
    <a:masterClrMapping/>
  </p:clrMapOvr>
  <p:transition xmlns:p14="http://schemas.microsoft.com/office/powerpoint/2010/main" p14:dur="380">
    <p:fade/>
  </p:transition>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Distributed tracing and service maps: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Receive trace context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Propagate trace context, sample intentionally, protect sensitive attributes and correlate traces with logs and metrics.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AWS X-Ray · ADOT · CloudWatch ServiceLens</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Trace ID, segment/subsegment, annotation, sampling rule, fault edge and correlated log event.</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439</a:t>
            </a:r>
          </a:p>
        </p:txBody>
      </p:sp>
    </p:spTree>
  </p:cSld>
  <p:clrMapOvr>
    <a:masterClrMapping/>
  </p:clrMapOvr>
  <p:transition xmlns:p14="http://schemas.microsoft.com/office/powerpoint/2010/main" p14:dur="380">
    <p:fade/>
  </p:transition>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4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Operational analysis and review: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Observe change</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Build hypothesis-driven queries, compare deploy markers, keep dashboards audience-specific and record decisions.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Logs Insights · Dashboards · Contributor Insights · Metrics Streams</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Saved query, dashboard version, deployment annotation, review finding, owner and verified improvement.</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F59E0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440</a:t>
            </a:r>
          </a:p>
        </p:txBody>
      </p:sp>
    </p:spTree>
  </p:cSld>
  <p:clrMapOvr>
    <a:masterClrMapping/>
  </p:clrMapOvr>
  <p:transition xmlns:p14="http://schemas.microsoft.com/office/powerpoint/2010/main" p14:dur="380">
    <p:fade/>
  </p:transition>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16 · DAY 4 · LO4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1900" b="1">
                <a:solidFill>
                  <a:srgbClr val="161B26"/>
                </a:solidFill>
                <a:latin typeface="Arial"/>
              </a:rPr>
              <a:t>Collect Custom Metrics with the CloudWatch Agent and Build an Operations Dashboard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16</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4 · LO4 · K5, A6</a:t>
            </a:r>
          </a:p>
        </p:txBody>
      </p:sp>
      <p:sp>
        <p:nvSpPr>
          <p:cNvPr id="10" name="TextBox 9"/>
          <p:cNvSpPr txBox="1"/>
          <p:nvPr/>
        </p:nvSpPr>
        <p:spPr>
          <a:xfrm>
            <a:off x="777240" y="2286000"/>
            <a:ext cx="5486400" cy="1231900"/>
          </a:xfrm>
          <a:prstGeom prst="rect">
            <a:avLst/>
          </a:prstGeom>
          <a:noFill/>
        </p:spPr>
        <p:txBody>
          <a:bodyPr wrap="square" anchor="t">
            <a:spAutoFit/>
          </a:bodyPr>
          <a:lstStyle/>
          <a:p>
            <a:pPr algn="l">
              <a:spcAft>
                <a:spcPts val="400"/>
              </a:spcAft>
            </a:pPr>
            <a:r>
              <a:rPr sz="1350" b="0">
                <a:solidFill>
                  <a:srgbClr val="161B26"/>
                </a:solidFill>
                <a:latin typeface="Arial"/>
              </a:rPr>
              <a:t>Your team runs a web app on EC2 but only has the default hypervisor CPU metric — you are blind to memory pressure, disk usage and application latency.</a:t>
            </a:r>
          </a:p>
        </p:txBody>
      </p:sp>
      <p:sp>
        <p:nvSpPr>
          <p:cNvPr id="11" name="Rectangle 10"/>
          <p:cNvSpPr/>
          <p:nvPr/>
        </p:nvSpPr>
        <p:spPr>
          <a:xfrm>
            <a:off x="777240" y="3627628"/>
            <a:ext cx="5486400" cy="16583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27628"/>
            <a:ext cx="91440" cy="1658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55644"/>
            <a:ext cx="5120640" cy="274320"/>
          </a:xfrm>
          <a:prstGeom prst="rect">
            <a:avLst/>
          </a:prstGeom>
          <a:noFill/>
        </p:spPr>
        <p:txBody>
          <a:bodyPr wrap="square" anchor="t">
            <a:spAutoFit/>
          </a:bodyPr>
          <a:lstStyle/>
          <a:p>
            <a:pPr algn="l">
              <a:spcAft>
                <a:spcPts val="400"/>
              </a:spcAft>
            </a:pPr>
            <a:r>
              <a:rPr sz="1200" b="1">
                <a:solidFill>
                  <a:srgbClr val="F59E0B"/>
                </a:solidFill>
                <a:latin typeface="Arial"/>
              </a:rPr>
              <a:t>YOU'LL BUILD</a:t>
            </a:r>
          </a:p>
        </p:txBody>
      </p:sp>
      <p:sp>
        <p:nvSpPr>
          <p:cNvPr id="14" name="TextBox 13"/>
          <p:cNvSpPr txBox="1"/>
          <p:nvPr/>
        </p:nvSpPr>
        <p:spPr>
          <a:xfrm>
            <a:off x="960120" y="4029964"/>
            <a:ext cx="5166360" cy="726440"/>
          </a:xfrm>
          <a:prstGeom prst="rect">
            <a:avLst/>
          </a:prstGeom>
          <a:noFill/>
        </p:spPr>
        <p:txBody>
          <a:bodyPr wrap="square" anchor="t">
            <a:spAutoFit/>
          </a:bodyPr>
          <a:lstStyle/>
          <a:p>
            <a:pPr algn="l">
              <a:spcAft>
                <a:spcPts val="400"/>
              </a:spcAft>
            </a:pPr>
            <a:r>
              <a:rPr sz="1100" b="1">
                <a:solidFill>
                  <a:srgbClr val="161B26"/>
                </a:solidFill>
                <a:latin typeface="Arial"/>
              </a:rPr>
              <a:t>A running CloudWatch agent emitting memory/disk custom metrics, a script publishing app latency/request/error metrics, and a CloudWatch dashboard visualising CPU, p90 latency, errors and request count.</a:t>
            </a:r>
          </a:p>
        </p:txBody>
      </p:sp>
      <p:sp>
        <p:nvSpPr>
          <p:cNvPr id="15" name="TextBox 14"/>
          <p:cNvSpPr txBox="1"/>
          <p:nvPr/>
        </p:nvSpPr>
        <p:spPr>
          <a:xfrm>
            <a:off x="960120" y="481126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Amazon CloudWatch, CloudWatch agent, Amazon EC2, AWS Systems Manager (SSM Parameter Store), IAM</a:t>
            </a:r>
          </a:p>
        </p:txBody>
      </p:sp>
      <p:sp>
        <p:nvSpPr>
          <p:cNvPr id="16" name="Rectangle 15"/>
          <p:cNvSpPr/>
          <p:nvPr/>
        </p:nvSpPr>
        <p:spPr>
          <a:xfrm>
            <a:off x="777240" y="5395722"/>
            <a:ext cx="5486400" cy="93192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395722"/>
            <a:ext cx="91440" cy="93192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52373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798058"/>
            <a:ext cx="5166360" cy="346710"/>
          </a:xfrm>
          <a:prstGeom prst="rect">
            <a:avLst/>
          </a:prstGeom>
          <a:noFill/>
        </p:spPr>
        <p:txBody>
          <a:bodyPr wrap="square" anchor="t">
            <a:spAutoFit/>
          </a:bodyPr>
          <a:lstStyle/>
          <a:p>
            <a:pPr algn="l">
              <a:spcAft>
                <a:spcPts val="300"/>
              </a:spcAft>
            </a:pPr>
            <a:r>
              <a:rPr sz="1050" b="0">
                <a:solidFill>
                  <a:srgbClr val="5B6372"/>
                </a:solidFill>
                <a:latin typeface="Arial"/>
              </a:rPr>
              <a:t>Outcome:  Instrument an EC2 workload with memory/disk.</a:t>
            </a:r>
          </a:p>
          <a:p>
            <a:pPr algn="l">
              <a:spcAft>
                <a:spcPts val="300"/>
              </a:spcAft>
            </a:pPr>
            <a:r>
              <a:rPr sz="1050" b="0">
                <a:solidFill>
                  <a:srgbClr val="5B6372"/>
                </a:solidFill>
                <a:latin typeface="Arial"/>
              </a:rPr>
              <a:t>Evidence:  Output of showing the agent running.</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6-cloudwatch-metrics-dashboard.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441</a:t>
            </a:r>
          </a:p>
        </p:txBody>
      </p:sp>
    </p:spTree>
  </p:cSld>
  <p:clrMapOvr>
    <a:masterClrMapping/>
  </p:clrMapOvr>
  <p:transition xmlns:p14="http://schemas.microsoft.com/office/powerpoint/2010/main" p14:dur="380">
    <p:fade/>
  </p:transition>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17 · DAY 4 · LO4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Centralise Logs in CloudWatch Logs and Analyse Them with Logs Insights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17</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4 · LO4 · K5, A6</a:t>
            </a:r>
          </a:p>
        </p:txBody>
      </p:sp>
      <p:sp>
        <p:nvSpPr>
          <p:cNvPr id="10" name="TextBox 9"/>
          <p:cNvSpPr txBox="1"/>
          <p:nvPr/>
        </p:nvSpPr>
        <p:spPr>
          <a:xfrm>
            <a:off x="777240" y="2286000"/>
            <a:ext cx="5486400" cy="1190625"/>
          </a:xfrm>
          <a:prstGeom prst="rect">
            <a:avLst/>
          </a:prstGeom>
          <a:noFill/>
        </p:spPr>
        <p:txBody>
          <a:bodyPr wrap="square" anchor="t">
            <a:spAutoFit/>
          </a:bodyPr>
          <a:lstStyle/>
          <a:p>
            <a:pPr algn="l">
              <a:spcAft>
                <a:spcPts val="400"/>
              </a:spcAft>
            </a:pPr>
            <a:r>
              <a:rPr sz="1350" b="0">
                <a:solidFill>
                  <a:srgbClr val="161B26"/>
                </a:solidFill>
                <a:latin typeface="Arial"/>
              </a:rPr>
              <a:t>When an incident hits, grepping across scattered instances wastes precious minutes.</a:t>
            </a:r>
          </a:p>
        </p:txBody>
      </p:sp>
      <p:sp>
        <p:nvSpPr>
          <p:cNvPr id="11" name="Rectangle 10"/>
          <p:cNvSpPr/>
          <p:nvPr/>
        </p:nvSpPr>
        <p:spPr>
          <a:xfrm>
            <a:off x="777240" y="3586353"/>
            <a:ext cx="5486400" cy="1526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86353"/>
            <a:ext cx="91440" cy="15262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14369"/>
            <a:ext cx="5120640" cy="274320"/>
          </a:xfrm>
          <a:prstGeom prst="rect">
            <a:avLst/>
          </a:prstGeom>
          <a:noFill/>
        </p:spPr>
        <p:txBody>
          <a:bodyPr wrap="square" anchor="t">
            <a:spAutoFit/>
          </a:bodyPr>
          <a:lstStyle/>
          <a:p>
            <a:pPr algn="l">
              <a:spcAft>
                <a:spcPts val="400"/>
              </a:spcAft>
            </a:pPr>
            <a:r>
              <a:rPr sz="1200" b="1">
                <a:solidFill>
                  <a:srgbClr val="F59E0B"/>
                </a:solidFill>
                <a:latin typeface="Arial"/>
              </a:rPr>
              <a:t>YOU'LL BUILD</a:t>
            </a:r>
          </a:p>
        </p:txBody>
      </p:sp>
      <p:sp>
        <p:nvSpPr>
          <p:cNvPr id="14" name="TextBox 13"/>
          <p:cNvSpPr txBox="1"/>
          <p:nvPr/>
        </p:nvSpPr>
        <p:spPr>
          <a:xfrm>
            <a:off x="960120" y="3988689"/>
            <a:ext cx="5166360" cy="594360"/>
          </a:xfrm>
          <a:prstGeom prst="rect">
            <a:avLst/>
          </a:prstGeom>
          <a:noFill/>
        </p:spPr>
        <p:txBody>
          <a:bodyPr wrap="square" anchor="t">
            <a:spAutoFit/>
          </a:bodyPr>
          <a:lstStyle/>
          <a:p>
            <a:pPr algn="l">
              <a:spcAft>
                <a:spcPts val="400"/>
              </a:spcAft>
            </a:pPr>
            <a:r>
              <a:rPr sz="1200" b="1">
                <a:solidFill>
                  <a:srgbClr val="161B26"/>
                </a:solidFill>
                <a:latin typeface="Arial"/>
              </a:rPr>
              <a:t>Centralised app and system log groups (with retention) fed by the CloudWatch agent, plus a set of saved Logs Insights queries that surface the slowest and most error-prone requests.</a:t>
            </a:r>
          </a:p>
        </p:txBody>
      </p:sp>
      <p:sp>
        <p:nvSpPr>
          <p:cNvPr id="15" name="TextBox 14"/>
          <p:cNvSpPr txBox="1"/>
          <p:nvPr/>
        </p:nvSpPr>
        <p:spPr>
          <a:xfrm>
            <a:off x="960120" y="4637913"/>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Amazon CloudWatch Logs, CloudWatch Logs Insights, CloudWatch agent, Amazon EC2, IAM</a:t>
            </a:r>
          </a:p>
        </p:txBody>
      </p:sp>
      <p:sp>
        <p:nvSpPr>
          <p:cNvPr id="16" name="Rectangle 15"/>
          <p:cNvSpPr/>
          <p:nvPr/>
        </p:nvSpPr>
        <p:spPr>
          <a:xfrm>
            <a:off x="777240" y="5222367"/>
            <a:ext cx="5486400" cy="1105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222367"/>
            <a:ext cx="91440" cy="11052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350383"/>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624703"/>
            <a:ext cx="5166360" cy="520065"/>
          </a:xfrm>
          <a:prstGeom prst="rect">
            <a:avLst/>
          </a:prstGeom>
          <a:noFill/>
        </p:spPr>
        <p:txBody>
          <a:bodyPr wrap="square" anchor="t">
            <a:spAutoFit/>
          </a:bodyPr>
          <a:lstStyle/>
          <a:p>
            <a:pPr algn="l">
              <a:spcAft>
                <a:spcPts val="300"/>
              </a:spcAft>
            </a:pPr>
            <a:r>
              <a:rPr sz="1050" b="0">
                <a:solidFill>
                  <a:srgbClr val="5B6372"/>
                </a:solidFill>
                <a:latin typeface="Arial"/>
              </a:rPr>
              <a:t>Outcome:  Ship application and system logs into CloudWatch Logs.</a:t>
            </a:r>
          </a:p>
          <a:p>
            <a:pPr algn="l">
              <a:spcAft>
                <a:spcPts val="300"/>
              </a:spcAft>
            </a:pPr>
            <a:r>
              <a:rPr sz="1050" b="0">
                <a:solidFill>
                  <a:srgbClr val="5B6372"/>
                </a:solidFill>
                <a:latin typeface="Arial"/>
              </a:rPr>
              <a:t>Evidence:  output showing /devops/app and /devops/system with retentionInDays 14.</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7-centralized-logs-insights.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442</a:t>
            </a:r>
          </a:p>
        </p:txBody>
      </p:sp>
    </p:spTree>
  </p:cSld>
  <p:clrMapOvr>
    <a:masterClrMapping/>
  </p:clrMapOvr>
  <p:transition xmlns:p14="http://schemas.microsoft.com/office/powerpoint/2010/main" p14:dur="380">
    <p:fade/>
  </p:transition>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18 · DAY 4 · LO4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1900" b="1">
                <a:solidFill>
                  <a:srgbClr val="161B26"/>
                </a:solidFill>
                <a:latin typeface="Arial"/>
              </a:rPr>
              <a:t>Turn Logs into Signals: Metric Filters, CloudWatch Alarms and SNS Notifications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18</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4 · LO4 · K5, A6</a:t>
            </a:r>
          </a:p>
        </p:txBody>
      </p:sp>
      <p:sp>
        <p:nvSpPr>
          <p:cNvPr id="10" name="TextBox 9"/>
          <p:cNvSpPr txBox="1"/>
          <p:nvPr/>
        </p:nvSpPr>
        <p:spPr>
          <a:xfrm>
            <a:off x="777240" y="2286000"/>
            <a:ext cx="5486400" cy="1165860"/>
          </a:xfrm>
          <a:prstGeom prst="rect">
            <a:avLst/>
          </a:prstGeom>
          <a:noFill/>
        </p:spPr>
        <p:txBody>
          <a:bodyPr wrap="square" anchor="t">
            <a:spAutoFit/>
          </a:bodyPr>
          <a:lstStyle/>
          <a:p>
            <a:pPr algn="l">
              <a:spcAft>
                <a:spcPts val="400"/>
              </a:spcAft>
            </a:pPr>
            <a:r>
              <a:rPr sz="1350" b="0">
                <a:solidFill>
                  <a:srgbClr val="161B26"/>
                </a:solidFill>
                <a:latin typeface="Arial"/>
              </a:rPr>
              <a:t>Logs are only useful if they page someone when things go wrong.</a:t>
            </a:r>
          </a:p>
        </p:txBody>
      </p:sp>
      <p:sp>
        <p:nvSpPr>
          <p:cNvPr id="11" name="Rectangle 10"/>
          <p:cNvSpPr/>
          <p:nvPr/>
        </p:nvSpPr>
        <p:spPr>
          <a:xfrm>
            <a:off x="777240" y="3561588"/>
            <a:ext cx="5486400" cy="15510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61588"/>
            <a:ext cx="91440" cy="155105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689604"/>
            <a:ext cx="5120640" cy="274320"/>
          </a:xfrm>
          <a:prstGeom prst="rect">
            <a:avLst/>
          </a:prstGeom>
          <a:noFill/>
        </p:spPr>
        <p:txBody>
          <a:bodyPr wrap="square" anchor="t">
            <a:spAutoFit/>
          </a:bodyPr>
          <a:lstStyle/>
          <a:p>
            <a:pPr algn="l">
              <a:spcAft>
                <a:spcPts val="400"/>
              </a:spcAft>
            </a:pPr>
            <a:r>
              <a:rPr sz="1200" b="1">
                <a:solidFill>
                  <a:srgbClr val="F59E0B"/>
                </a:solidFill>
                <a:latin typeface="Arial"/>
              </a:rPr>
              <a:t>YOU'LL BUILD</a:t>
            </a:r>
          </a:p>
        </p:txBody>
      </p:sp>
      <p:sp>
        <p:nvSpPr>
          <p:cNvPr id="14" name="TextBox 13"/>
          <p:cNvSpPr txBox="1"/>
          <p:nvPr/>
        </p:nvSpPr>
        <p:spPr>
          <a:xfrm>
            <a:off x="960120" y="3963924"/>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 metric filter converting ERROR log lines into a CloudWatch metric, two alarms (errors and high CPU) wired to an SNS topic.</a:t>
            </a:r>
          </a:p>
        </p:txBody>
      </p:sp>
      <p:sp>
        <p:nvSpPr>
          <p:cNvPr id="15" name="TextBox 14"/>
          <p:cNvSpPr txBox="1"/>
          <p:nvPr/>
        </p:nvSpPr>
        <p:spPr>
          <a:xfrm>
            <a:off x="960120" y="4637913"/>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Amazon CloudWatch (metric filters + alarms), Amazon CloudWatch Logs, Amazon SNS, AWS CloudFormation, IAM</a:t>
            </a:r>
          </a:p>
        </p:txBody>
      </p:sp>
      <p:sp>
        <p:nvSpPr>
          <p:cNvPr id="16" name="Rectangle 15"/>
          <p:cNvSpPr/>
          <p:nvPr/>
        </p:nvSpPr>
        <p:spPr>
          <a:xfrm>
            <a:off x="777240" y="5222367"/>
            <a:ext cx="5486400" cy="1105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222367"/>
            <a:ext cx="91440" cy="11052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350383"/>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624703"/>
            <a:ext cx="5166360" cy="520065"/>
          </a:xfrm>
          <a:prstGeom prst="rect">
            <a:avLst/>
          </a:prstGeom>
          <a:noFill/>
        </p:spPr>
        <p:txBody>
          <a:bodyPr wrap="square" anchor="t">
            <a:spAutoFit/>
          </a:bodyPr>
          <a:lstStyle/>
          <a:p>
            <a:pPr algn="l">
              <a:spcAft>
                <a:spcPts val="300"/>
              </a:spcAft>
            </a:pPr>
            <a:r>
              <a:rPr sz="1050" b="0">
                <a:solidFill>
                  <a:srgbClr val="5B6372"/>
                </a:solidFill>
                <a:latin typeface="Arial"/>
              </a:rPr>
              <a:t>Outcome:  Create a metric filter that counts ERROR log lines, alarm on that metric and on high CPU.</a:t>
            </a:r>
          </a:p>
          <a:p>
            <a:pPr algn="l">
              <a:spcAft>
                <a:spcPts val="300"/>
              </a:spcAft>
            </a:pPr>
            <a:r>
              <a:rPr sz="1050" b="0">
                <a:solidFill>
                  <a:srgbClr val="5B6372"/>
                </a:solidFill>
                <a:latin typeface="Arial"/>
              </a:rPr>
              <a:t>Evidence:  output showing app-error-count attached to /devops/app.</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8-metric-filters-alarms-sns.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443</a:t>
            </a:r>
          </a:p>
        </p:txBody>
      </p:sp>
    </p:spTree>
  </p:cSld>
  <p:clrMapOvr>
    <a:masterClrMapping/>
  </p:clrMapOvr>
  <p:transition xmlns:p14="http://schemas.microsoft.com/office/powerpoint/2010/main" p14:dur="380">
    <p:fade/>
  </p:transition>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RECAP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Recap — Monitoring and Logging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350" b="1">
                <a:solidFill>
                  <a:srgbClr val="161B26"/>
                </a:solidFill>
                <a:latin typeface="Arial"/>
              </a:rPr>
              <a:t>Lab 16</a:t>
            </a:r>
          </a:p>
          <a:p>
            <a:pPr algn="l">
              <a:spcAft>
                <a:spcPts val="300"/>
              </a:spcAft>
            </a:pPr>
            <a:r>
              <a:rPr sz="950" b="0">
                <a:solidFill>
                  <a:srgbClr val="5B6372"/>
                </a:solidFill>
                <a:latin typeface="Arial"/>
              </a:rPr>
              <a:t>Instrument an EC2 workload with memory/disk.</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350" b="1">
                <a:solidFill>
                  <a:srgbClr val="161B26"/>
                </a:solidFill>
                <a:latin typeface="Arial"/>
              </a:rPr>
              <a:t>Lab 17</a:t>
            </a:r>
          </a:p>
          <a:p>
            <a:pPr algn="l">
              <a:spcAft>
                <a:spcPts val="300"/>
              </a:spcAft>
            </a:pPr>
            <a:r>
              <a:rPr sz="950" b="0">
                <a:solidFill>
                  <a:srgbClr val="5B6372"/>
                </a:solidFill>
                <a:latin typeface="Arial"/>
              </a:rPr>
              <a:t>Ship application and system logs into CloudWatch Logs.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350" b="1">
                <a:solidFill>
                  <a:srgbClr val="161B26"/>
                </a:solidFill>
                <a:latin typeface="Arial"/>
              </a:rPr>
              <a:t>Lab 18</a:t>
            </a:r>
          </a:p>
          <a:p>
            <a:pPr algn="l">
              <a:spcAft>
                <a:spcPts val="300"/>
              </a:spcAft>
            </a:pPr>
            <a:r>
              <a:rPr sz="950" b="0">
                <a:solidFill>
                  <a:srgbClr val="5B6372"/>
                </a:solidFill>
                <a:latin typeface="Arial"/>
              </a:rPr>
              <a:t>Create a metric filter that counts ERROR log lines, alarm on that metric and on high CPU.</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350" b="1">
                <a:solidFill>
                  <a:srgbClr val="161B26"/>
                </a:solidFill>
                <a:latin typeface="Arial"/>
              </a:rPr>
              <a:t>Key principle</a:t>
            </a:r>
          </a:p>
          <a:p>
            <a:pPr algn="l">
              <a:spcAft>
                <a:spcPts val="300"/>
              </a:spcAft>
            </a:pPr>
            <a:r>
              <a:rPr sz="950" b="0">
                <a:solidFill>
                  <a:srgbClr val="5B6372"/>
                </a:solidFill>
                <a:latin typeface="Arial"/>
              </a:rPr>
              <a:t>Namespaces, dimensions and custom metrics measure system and application health over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444</a:t>
            </a:r>
          </a:p>
        </p:txBody>
      </p:sp>
    </p:spTree>
  </p:cSld>
  <p:clrMapOvr>
    <a:masterClrMapping/>
  </p:clrMapOvr>
  <p:transition xmlns:p14="http://schemas.microsoft.com/office/powerpoint/2010/main" p14:dur="380">
    <p:fade/>
  </p:transition>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Incident and Event Response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Exam weighting 14%  ·  Event sources · automated response · configuration change · troubleshooting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445</a:t>
            </a:r>
          </a:p>
        </p:txBody>
      </p:sp>
    </p:spTree>
  </p:cSld>
  <p:clrMapOvr>
    <a:masterClrMapping/>
  </p:clrMapOvr>
  <p:transition xmlns:p14="http://schemas.microsoft.com/office/powerpoint/2010/main" p14:dur="380">
    <p:fade/>
  </p:transition>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05 · WEIGHTING 14%</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Key Concepts — Incident and Event Response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Event-driven operations</a:t>
            </a:r>
          </a:p>
          <a:p>
            <a:pPr algn="l">
              <a:spcAft>
                <a:spcPts val="300"/>
              </a:spcAft>
            </a:pPr>
            <a:r>
              <a:rPr sz="1150" b="0">
                <a:solidFill>
                  <a:srgbClr val="5B6372"/>
                </a:solidFill>
                <a:latin typeface="Arial"/>
              </a:rPr>
              <a:t>EventBridge routes events from AWS services and applications to targets that act automatically.</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Notify &amp; act</a:t>
            </a:r>
          </a:p>
          <a:p>
            <a:pPr algn="l">
              <a:spcAft>
                <a:spcPts val="300"/>
              </a:spcAft>
            </a:pPr>
            <a:r>
              <a:rPr sz="1150" b="0">
                <a:solidFill>
                  <a:srgbClr val="5B6372"/>
                </a:solidFill>
                <a:latin typeface="Arial"/>
              </a:rPr>
              <a:t>SNS notifies people; Lambda, Systems Manager Automation and Step Functions take the remediating action.</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Auto-remediation</a:t>
            </a:r>
          </a:p>
          <a:p>
            <a:pPr algn="l">
              <a:spcAft>
                <a:spcPts val="300"/>
              </a:spcAft>
            </a:pPr>
            <a:r>
              <a:rPr sz="1150" b="0">
                <a:solidFill>
                  <a:srgbClr val="5B6372"/>
                </a:solidFill>
                <a:latin typeface="Arial"/>
              </a:rPr>
              <a:t>AWS Config rules and EventBridge patterns detect drift and fix it — tag, isolate, restart or roll back.</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Runbooks &amp; playbooks</a:t>
            </a:r>
          </a:p>
          <a:p>
            <a:pPr algn="l">
              <a:spcAft>
                <a:spcPts val="300"/>
              </a:spcAft>
            </a:pPr>
            <a:r>
              <a:rPr sz="1150" b="0">
                <a:solidFill>
                  <a:srgbClr val="5B6372"/>
                </a:solidFill>
                <a:latin typeface="Arial"/>
              </a:rPr>
              <a:t>Systems Manager documents codify the response so incidents are handled consistently and fast.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Deployment failure response</a:t>
            </a:r>
          </a:p>
          <a:p>
            <a:pPr algn="l">
              <a:spcAft>
                <a:spcPts val="300"/>
              </a:spcAft>
            </a:pPr>
            <a:r>
              <a:rPr sz="1150" b="0">
                <a:solidFill>
                  <a:srgbClr val="5B6372"/>
                </a:solidFill>
                <a:latin typeface="Arial"/>
              </a:rPr>
              <a:t>CloudWatch alarms roll back CodeDeploy; pipeline stages stop and alert on failure.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Troubleshooting</a:t>
            </a:r>
          </a:p>
          <a:p>
            <a:pPr algn="l">
              <a:spcAft>
                <a:spcPts val="300"/>
              </a:spcAft>
            </a:pPr>
            <a:r>
              <a:rPr sz="1150" b="0">
                <a:solidFill>
                  <a:srgbClr val="5B6372"/>
                </a:solidFill>
                <a:latin typeface="Arial"/>
              </a:rPr>
              <a:t>Correlate metrics, logs, traces and CloudTrail events to find and fix system and application failures.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446</a:t>
            </a:r>
          </a:p>
        </p:txBody>
      </p:sp>
    </p:spTree>
  </p:cSld>
  <p:clrMapOvr>
    <a:masterClrMapping/>
  </p:clrMapOvr>
  <p:transition xmlns:p14="http://schemas.microsoft.com/office/powerpoint/2010/main" p14:dur="380">
    <p:fade/>
  </p:transition>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05 · RESPOND</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Event-Driven Incident Response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828800" cy="1051560"/>
          </a:xfrm>
          <a:prstGeom prst="roundRect">
            <a:avLst/>
          </a:prstGeom>
          <a:solidFill>
            <a:srgbClr val="F5F8FC"/>
          </a:solidFill>
          <a:ln w="15875">
            <a:solidFill>
              <a:srgbClr val="EC71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828800" cy="8229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Event source
CloudWatch / EC2 / Config</a:t>
            </a:r>
          </a:p>
        </p:txBody>
      </p:sp>
      <p:sp>
        <p:nvSpPr>
          <p:cNvPr id="10" name="Rounded Rectangle 9"/>
          <p:cNvSpPr/>
          <p:nvPr/>
        </p:nvSpPr>
        <p:spPr>
          <a:xfrm>
            <a:off x="2971800" y="1965960"/>
            <a:ext cx="182880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71800" y="1965960"/>
            <a:ext cx="182880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EventBridge
rule + pattern</a:t>
            </a:r>
          </a:p>
        </p:txBody>
      </p:sp>
      <p:sp>
        <p:nvSpPr>
          <p:cNvPr id="13" name="Rounded Rectangle 12"/>
          <p:cNvSpPr/>
          <p:nvPr/>
        </p:nvSpPr>
        <p:spPr>
          <a:xfrm>
            <a:off x="5166360" y="1965960"/>
            <a:ext cx="182880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66360" y="1965960"/>
            <a:ext cx="18288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80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SNS
notify responders</a:t>
            </a:r>
          </a:p>
        </p:txBody>
      </p:sp>
      <p:sp>
        <p:nvSpPr>
          <p:cNvPr id="16" name="Rounded Rectangle 15"/>
          <p:cNvSpPr/>
          <p:nvPr/>
        </p:nvSpPr>
        <p:spPr>
          <a:xfrm>
            <a:off x="5166360" y="3657600"/>
            <a:ext cx="182880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66360" y="3657600"/>
            <a:ext cx="182880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376732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Lambda
auto-remediate</a:t>
            </a:r>
          </a:p>
        </p:txBody>
      </p:sp>
      <p:sp>
        <p:nvSpPr>
          <p:cNvPr id="19" name="Rounded Rectangle 18"/>
          <p:cNvSpPr/>
          <p:nvPr/>
        </p:nvSpPr>
        <p:spPr>
          <a:xfrm>
            <a:off x="7360920" y="3657600"/>
            <a:ext cx="182880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0920" y="3657600"/>
            <a:ext cx="182880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52360" y="376732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SSM Automation
runbook</a:t>
            </a:r>
          </a:p>
        </p:txBody>
      </p:sp>
      <p:sp>
        <p:nvSpPr>
          <p:cNvPr id="22" name="Rounded Rectangle 21"/>
          <p:cNvSpPr/>
          <p:nvPr/>
        </p:nvSpPr>
        <p:spPr>
          <a:xfrm>
            <a:off x="9555480" y="3657600"/>
            <a:ext cx="182880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55480" y="3657600"/>
            <a:ext cx="18288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46920" y="376732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Healthy state
restored</a:t>
            </a:r>
          </a:p>
        </p:txBody>
      </p:sp>
      <p:cxnSp>
        <p:nvCxnSpPr>
          <p:cNvPr id="25" name="Connector 24"/>
          <p:cNvCxnSpPr/>
          <p:nvPr/>
        </p:nvCxnSpPr>
        <p:spPr>
          <a:xfrm>
            <a:off x="260604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80060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80060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995160" y="418338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189720" y="418338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EC711E"/>
                </a:solidFill>
                <a:latin typeface="Arial"/>
              </a:rPr>
              <a:t>▶  </a:t>
            </a:r>
            <a:r>
              <a:rPr sz="1300" b="0">
                <a:solidFill>
                  <a:srgbClr val="161B26"/>
                </a:solidFill>
                <a:latin typeface="Arial"/>
              </a:rPr>
              <a:t>EventBridge routes the event to notify people and trigger a Lambda/SSM runbook that fixes the issue automatically.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447</a:t>
            </a:r>
          </a:p>
        </p:txBody>
      </p:sp>
    </p:spTree>
  </p:cSld>
  <p:clrMapOvr>
    <a:masterClrMapping/>
  </p:clrMapOvr>
  <p:transition xmlns:p14="http://schemas.microsoft.com/office/powerpoint/2010/main" p14:dur="380">
    <p:fade/>
  </p:transition>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THE RESPONSE LOOP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From Detection to Remediation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Detect</a:t>
            </a:r>
          </a:p>
          <a:p>
            <a:pPr algn="l">
              <a:spcAft>
                <a:spcPts val="300"/>
              </a:spcAft>
            </a:pPr>
            <a:r>
              <a:rPr sz="1150" b="0">
                <a:solidFill>
                  <a:srgbClr val="5B6372"/>
                </a:solidFill>
                <a:latin typeface="Arial"/>
              </a:rPr>
              <a:t>CloudWatch alarms, Config rules and service events signal a problem.</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Route</a:t>
            </a:r>
          </a:p>
          <a:p>
            <a:pPr algn="l">
              <a:spcAft>
                <a:spcPts val="300"/>
              </a:spcAft>
            </a:pPr>
            <a:r>
              <a:rPr sz="1150" b="0">
                <a:solidFill>
                  <a:srgbClr val="5B6372"/>
                </a:solidFill>
                <a:latin typeface="Arial"/>
              </a:rPr>
              <a:t>EventBridge matches the event pattern and fans out to targets.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Notify</a:t>
            </a:r>
          </a:p>
          <a:p>
            <a:pPr algn="l">
              <a:spcAft>
                <a:spcPts val="300"/>
              </a:spcAft>
            </a:pPr>
            <a:r>
              <a:rPr sz="1150" b="0">
                <a:solidFill>
                  <a:srgbClr val="5B6372"/>
                </a:solidFill>
                <a:latin typeface="Arial"/>
              </a:rPr>
              <a:t>SNS alerts on-call responders by email / chat / SMS.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Remediate</a:t>
            </a:r>
          </a:p>
          <a:p>
            <a:pPr algn="l">
              <a:spcAft>
                <a:spcPts val="300"/>
              </a:spcAft>
            </a:pPr>
            <a:r>
              <a:rPr sz="1150" b="0">
                <a:solidFill>
                  <a:srgbClr val="5B6372"/>
                </a:solidFill>
                <a:latin typeface="Arial"/>
              </a:rPr>
              <a:t>Lambda or SSM Automation runs the runbook — restart, isolate, roll back.</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Roll back</a:t>
            </a:r>
          </a:p>
          <a:p>
            <a:pPr algn="l">
              <a:spcAft>
                <a:spcPts val="300"/>
              </a:spcAft>
            </a:pPr>
            <a:r>
              <a:rPr sz="1150" b="0">
                <a:solidFill>
                  <a:srgbClr val="5B6372"/>
                </a:solidFill>
                <a:latin typeface="Arial"/>
              </a:rPr>
              <a:t>CloudWatch alarms auto-roll-back a bad CodeDeploy deployment.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Learn</a:t>
            </a:r>
          </a:p>
          <a:p>
            <a:pPr algn="l">
              <a:spcAft>
                <a:spcPts val="300"/>
              </a:spcAft>
            </a:pPr>
            <a:r>
              <a:rPr sz="1150" b="0">
                <a:solidFill>
                  <a:srgbClr val="5B6372"/>
                </a:solidFill>
                <a:latin typeface="Arial"/>
              </a:rPr>
              <a:t>Blameless review; codify the fix into the runbook.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448</a:t>
            </a:r>
          </a:p>
        </p:txBody>
      </p:sp>
    </p:spTree>
  </p:cSld>
  <p:clrMapOvr>
    <a:masterClrMapping/>
  </p:clrMapOvr>
  <p:transition xmlns:p14="http://schemas.microsoft.com/office/powerpoint/2010/main" p14:dur="380">
    <p:fade/>
  </p:transition>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WHY AUTOMATE RESPONSE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Automation Cuts Mean Time To Recover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EC711E"/>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Event-driven automation collapses MTTR from over an hour to a few minutes across every phase.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449</a:t>
            </a:r>
          </a:p>
        </p:txBody>
      </p:sp>
    </p:spTree>
  </p:cSld>
  <p:clrMapOvr>
    <a:masterClrMapping/>
  </p:clrMapOvr>
  <p:transition xmlns:p14="http://schemas.microsoft.com/office/powerpoint/2010/main" p14:dur="380">
    <p:fade/>
  </p:transition>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THE EVENT ROUTER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Amazon EventBridge Concepts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Event bus</a:t>
            </a:r>
          </a:p>
          <a:p>
            <a:pPr algn="l">
              <a:spcAft>
                <a:spcPts val="300"/>
              </a:spcAft>
            </a:pPr>
            <a:r>
              <a:rPr sz="1200" b="0">
                <a:solidFill>
                  <a:srgbClr val="5B6372"/>
                </a:solidFill>
                <a:latin typeface="Arial"/>
              </a:rPr>
              <a:t>Receives events from AWS services, SaaS and your apps.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Rules &amp; patterns</a:t>
            </a:r>
          </a:p>
          <a:p>
            <a:pPr algn="l">
              <a:spcAft>
                <a:spcPts val="300"/>
              </a:spcAft>
            </a:pPr>
            <a:r>
              <a:rPr sz="1200" b="0">
                <a:solidFill>
                  <a:srgbClr val="5B6372"/>
                </a:solidFill>
                <a:latin typeface="Arial"/>
              </a:rPr>
              <a:t>Match events by source, type and detail.</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Targets</a:t>
            </a:r>
          </a:p>
          <a:p>
            <a:pPr algn="l">
              <a:spcAft>
                <a:spcPts val="300"/>
              </a:spcAft>
            </a:pPr>
            <a:r>
              <a:rPr sz="1200" b="0">
                <a:solidFill>
                  <a:srgbClr val="5B6372"/>
                </a:solidFill>
                <a:latin typeface="Arial"/>
              </a:rPr>
              <a:t>Route matched events to Lambda, SNS, SQS, Step Functions…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Scheduler</a:t>
            </a:r>
          </a:p>
          <a:p>
            <a:pPr algn="l">
              <a:spcAft>
                <a:spcPts val="300"/>
              </a:spcAft>
            </a:pPr>
            <a:r>
              <a:rPr sz="1200" b="0">
                <a:solidFill>
                  <a:srgbClr val="5B6372"/>
                </a:solidFill>
                <a:latin typeface="Arial"/>
              </a:rPr>
              <a:t>Run tasks on a cron/rate schedule at scale.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450</a:t>
            </a:r>
          </a:p>
        </p:txBody>
      </p:sp>
    </p:spTree>
  </p:cSld>
  <p:clrMapOvr>
    <a:masterClrMapping/>
  </p:clrMapOvr>
  <p:transition xmlns:p14="http://schemas.microsoft.com/office/powerpoint/2010/main" p14:dur="380">
    <p:fade/>
  </p:transition>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CODIFYING THE RESPONSE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Runbooks vs Playbooks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Automate the known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Guide the unknown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Runbook</a:t>
            </a:r>
          </a:p>
          <a:p>
            <a:pPr>
              <a:spcAft>
                <a:spcPts val="1000"/>
              </a:spcAft>
            </a:pPr>
            <a:r>
              <a:rPr sz="1300" b="0">
                <a:solidFill>
                  <a:srgbClr val="5B6372"/>
                </a:solidFill>
                <a:latin typeface="Arial"/>
              </a:rPr>
              <a:t>–  Step-by-step operational procedure</a:t>
            </a:r>
          </a:p>
          <a:p>
            <a:pPr>
              <a:spcAft>
                <a:spcPts val="1000"/>
              </a:spcAft>
            </a:pPr>
            <a:r>
              <a:rPr sz="1300" b="0">
                <a:solidFill>
                  <a:srgbClr val="5B6372"/>
                </a:solidFill>
                <a:latin typeface="Arial"/>
              </a:rPr>
              <a:t>–  Often codified as SSM Automation documents</a:t>
            </a:r>
          </a:p>
          <a:p>
            <a:pPr>
              <a:spcAft>
                <a:spcPts val="1000"/>
              </a:spcAft>
            </a:pPr>
            <a:r>
              <a:rPr sz="1300" b="0">
                <a:solidFill>
                  <a:srgbClr val="5B6372"/>
                </a:solidFill>
                <a:latin typeface="Arial"/>
              </a:rPr>
              <a:t>–  Automates a known, repeatable fix</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Playbook</a:t>
            </a:r>
          </a:p>
          <a:p>
            <a:pPr>
              <a:spcAft>
                <a:spcPts val="1000"/>
              </a:spcAft>
            </a:pPr>
            <a:r>
              <a:rPr sz="1300" b="0">
                <a:solidFill>
                  <a:srgbClr val="5B6372"/>
                </a:solidFill>
                <a:latin typeface="Arial"/>
              </a:rPr>
              <a:t>–  Broader incident-response guidance</a:t>
            </a:r>
          </a:p>
          <a:p>
            <a:pPr>
              <a:spcAft>
                <a:spcPts val="1000"/>
              </a:spcAft>
            </a:pPr>
            <a:r>
              <a:rPr sz="1300" b="0">
                <a:solidFill>
                  <a:srgbClr val="5B6372"/>
                </a:solidFill>
                <a:latin typeface="Arial"/>
              </a:rPr>
              <a:t>–  Roles, comms and decision points</a:t>
            </a:r>
          </a:p>
          <a:p>
            <a:pPr>
              <a:spcAft>
                <a:spcPts val="1000"/>
              </a:spcAft>
            </a:pPr>
            <a:r>
              <a:rPr sz="1300" b="0">
                <a:solidFill>
                  <a:srgbClr val="5B6372"/>
                </a:solidFill>
                <a:latin typeface="Arial"/>
              </a:rPr>
              <a:t>–  Used for novel or major incidents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451</a:t>
            </a:r>
          </a:p>
        </p:txBody>
      </p:sp>
    </p:spTree>
  </p:cSld>
  <p:clrMapOvr>
    <a:masterClrMapping/>
  </p:clrMapOvr>
  <p:transition xmlns:p14="http://schemas.microsoft.com/office/powerpoint/2010/main" p14:dur="380">
    <p:fade/>
  </p:transition>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FAIL SAFELY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Responding to Deployment Failures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550" b="1">
                <a:solidFill>
                  <a:srgbClr val="161B26"/>
                </a:solidFill>
                <a:latin typeface="Arial"/>
              </a:rPr>
              <a:t>Alarm-based rollback</a:t>
            </a:r>
          </a:p>
          <a:p>
            <a:pPr algn="l">
              <a:spcAft>
                <a:spcPts val="300"/>
              </a:spcAft>
            </a:pPr>
            <a:r>
              <a:rPr sz="1150" b="0">
                <a:solidFill>
                  <a:srgbClr val="5B6372"/>
                </a:solidFill>
                <a:latin typeface="Arial"/>
              </a:rPr>
              <a:t>CloudWatch alarms auto-roll-back a bad CodeDeploy deployment.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550" b="1">
                <a:solidFill>
                  <a:srgbClr val="161B26"/>
                </a:solidFill>
                <a:latin typeface="Arial"/>
              </a:rPr>
              <a:t>Pipeline stop</a:t>
            </a:r>
          </a:p>
          <a:p>
            <a:pPr algn="l">
              <a:spcAft>
                <a:spcPts val="300"/>
              </a:spcAft>
            </a:pPr>
            <a:r>
              <a:rPr sz="1150" b="0">
                <a:solidFill>
                  <a:srgbClr val="5B6372"/>
                </a:solidFill>
                <a:latin typeface="Arial"/>
              </a:rPr>
              <a:t>A failed stage halts CodePipeline and alerts the team.</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550" b="1">
                <a:solidFill>
                  <a:srgbClr val="161B26"/>
                </a:solidFill>
                <a:latin typeface="Arial"/>
              </a:rPr>
              <a:t>Circuit breaker</a:t>
            </a:r>
          </a:p>
          <a:p>
            <a:pPr algn="l">
              <a:spcAft>
                <a:spcPts val="300"/>
              </a:spcAft>
            </a:pPr>
            <a:r>
              <a:rPr sz="1150" b="0">
                <a:solidFill>
                  <a:srgbClr val="5B6372"/>
                </a:solidFill>
                <a:latin typeface="Arial"/>
              </a:rPr>
              <a:t>ECS deployment circuit breaker reverts failed rollouts.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550" b="1">
                <a:solidFill>
                  <a:srgbClr val="161B26"/>
                </a:solidFill>
                <a:latin typeface="Arial"/>
              </a:rPr>
              <a:t>Blue/green switch-back</a:t>
            </a:r>
          </a:p>
          <a:p>
            <a:pPr algn="l">
              <a:spcAft>
                <a:spcPts val="300"/>
              </a:spcAft>
            </a:pPr>
            <a:r>
              <a:rPr sz="1150" b="0">
                <a:solidFill>
                  <a:srgbClr val="5B6372"/>
                </a:solidFill>
                <a:latin typeface="Arial"/>
              </a:rPr>
              <a:t>Instantly shift traffic back to the last good fleet.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452</a:t>
            </a:r>
          </a:p>
        </p:txBody>
      </p:sp>
    </p:spTree>
  </p:cSld>
  <p:clrMapOvr>
    <a:masterClrMapping/>
  </p:clrMapOvr>
  <p:transition xmlns:p14="http://schemas.microsoft.com/office/powerpoint/2010/main" p14:dur="380">
    <p:fade/>
  </p:transition>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Event-driven operations with EventBridge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EventBridge receives events from AWS services, SaaS partners and your applications on event buses.</a:t>
            </a:r>
          </a:p>
          <a:p>
            <a:pPr>
              <a:spcAft>
                <a:spcPts val="800"/>
              </a:spcAft>
            </a:pPr>
            <a:r>
              <a:rPr sz="1350" b="0">
                <a:solidFill>
                  <a:srgbClr val="161B26"/>
                </a:solidFill>
                <a:latin typeface="Arial"/>
              </a:rPr>
              <a:t>•  Rules match events by source, detail-type and content pattern and route them to targets.</a:t>
            </a:r>
          </a:p>
          <a:p>
            <a:pPr>
              <a:spcAft>
                <a:spcPts val="800"/>
              </a:spcAft>
            </a:pPr>
            <a:r>
              <a:rPr sz="1350" b="0">
                <a:solidFill>
                  <a:srgbClr val="161B26"/>
                </a:solidFill>
                <a:latin typeface="Arial"/>
              </a:rPr>
              <a:t>•  Targets include Lambda, SNS, SQS, Step Functions and Systems Manager Automation.</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Events let operations react the instant something changes, instead of polling or waiting for a human to notice.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Over-broad event patterns match far more than intended and trigger remediation on benign events.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Fine-grained rules are precise but numerous to manage; broad rules are simple but risk false triggers.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453</a:t>
            </a:r>
          </a:p>
        </p:txBody>
      </p:sp>
    </p:spTree>
  </p:cSld>
  <p:clrMapOvr>
    <a:masterClrMapping/>
  </p:clrMapOvr>
  <p:transition xmlns:p14="http://schemas.microsoft.com/office/powerpoint/2010/main" p14:dur="380">
    <p:fade/>
  </p:transition>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Notify people, trigger machines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SNS notifies humans by email, SMS or chat; it also fans out to multiple subscribers.</a:t>
            </a:r>
          </a:p>
          <a:p>
            <a:pPr>
              <a:spcAft>
                <a:spcPts val="800"/>
              </a:spcAft>
            </a:pPr>
            <a:r>
              <a:rPr sz="1350" b="0">
                <a:solidFill>
                  <a:srgbClr val="161B26"/>
                </a:solidFill>
                <a:latin typeface="Arial"/>
              </a:rPr>
              <a:t>•  Lambda, Systems Manager Automation and Step Functions take the actual remediating action.</a:t>
            </a:r>
          </a:p>
          <a:p>
            <a:pPr>
              <a:spcAft>
                <a:spcPts val="800"/>
              </a:spcAft>
            </a:pPr>
            <a:r>
              <a:rPr sz="1350" b="0">
                <a:solidFill>
                  <a:srgbClr val="161B26"/>
                </a:solidFill>
                <a:latin typeface="Arial"/>
              </a:rPr>
              <a:t>•  The two paths run in parallel: tell the responders and start the fix simultaneously.</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Separating 'notify' from 'act' means the automated fix starts immediately while humans stay informed and can intervene.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Notifying without automating leaves recovery gated on human reaction time at 3am.</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Automating actions demands tight IAM scoping and validation so a bad event can't trigger a harmful action.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454</a:t>
            </a:r>
          </a:p>
        </p:txBody>
      </p:sp>
    </p:spTree>
  </p:cSld>
  <p:clrMapOvr>
    <a:masterClrMapping/>
  </p:clrMapOvr>
  <p:transition xmlns:p14="http://schemas.microsoft.com/office/powerpoint/2010/main" p14:dur="380">
    <p:fade/>
  </p:transition>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Auto-remediation with Config and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AWS Config detects non-compliant or drifted resources and can invoke an SSM Automation remediation.</a:t>
            </a:r>
          </a:p>
          <a:p>
            <a:pPr>
              <a:spcAft>
                <a:spcPts val="800"/>
              </a:spcAft>
            </a:pPr>
            <a:r>
              <a:rPr sz="1350" b="0">
                <a:solidFill>
                  <a:srgbClr val="161B26"/>
                </a:solidFill>
                <a:latin typeface="Arial"/>
              </a:rPr>
              <a:t>•  Common auto-fixes: re-enable encryption, remove a public S3 setting, isolate an instance, re-tag resources.</a:t>
            </a:r>
          </a:p>
          <a:p>
            <a:pPr>
              <a:spcAft>
                <a:spcPts val="800"/>
              </a:spcAft>
            </a:pPr>
            <a:r>
              <a:rPr sz="1350" b="0">
                <a:solidFill>
                  <a:srgbClr val="161B26"/>
                </a:solidFill>
                <a:latin typeface="Arial"/>
              </a:rPr>
              <a:t>•  Every remediation is logged for audit and can require approval for higher-risk actions.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Continuous detection plus automated remediation keeps the environment compliant without waiting for a human review cycle.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Auto-remediating without guardrails can fight a legitimate change or mask a deeper problem instead of fixing it.</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Immediate auto-fix is fast but can hide recurring root causes — track remediation frequency as a signal.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455</a:t>
            </a:r>
          </a:p>
        </p:txBody>
      </p:sp>
    </p:spTree>
  </p:cSld>
  <p:clrMapOvr>
    <a:masterClrMapping/>
  </p:clrMapOvr>
  <p:transition xmlns:p14="http://schemas.microsoft.com/office/powerpoint/2010/main" p14:dur="380">
    <p:fade/>
  </p:transition>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Runbooks and playbooks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 runbook is a precise, often-automated procedure for a known problem (SSM Automation documents encode these).</a:t>
            </a:r>
          </a:p>
          <a:p>
            <a:pPr>
              <a:spcAft>
                <a:spcPts val="800"/>
              </a:spcAft>
            </a:pPr>
            <a:r>
              <a:rPr sz="1350" b="0">
                <a:solidFill>
                  <a:srgbClr val="161B26"/>
                </a:solidFill>
                <a:latin typeface="Arial"/>
              </a:rPr>
              <a:t>•  A playbook is broader human guidance for novel or major incidents — roles, comms and decision points.</a:t>
            </a:r>
          </a:p>
          <a:p>
            <a:pPr>
              <a:spcAft>
                <a:spcPts val="800"/>
              </a:spcAft>
            </a:pPr>
            <a:r>
              <a:rPr sz="1350" b="0">
                <a:solidFill>
                  <a:srgbClr val="161B26"/>
                </a:solidFill>
                <a:latin typeface="Arial"/>
              </a:rPr>
              <a:t>•  Codifying responses makes them consistent, fast and improvable after every incident.</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Runbooks turn hard-won incident knowledge into repeatable automation; playbooks coordinate the human response to the unknown.</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Tribal knowledge in one engineer's head fails the moment that person is on leave during an incident.</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Automated runbooks must be maintained as the system changes, or they confidently do the wrong thing.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456</a:t>
            </a:r>
          </a:p>
        </p:txBody>
      </p:sp>
    </p:spTree>
  </p:cSld>
  <p:clrMapOvr>
    <a:masterClrMapping/>
  </p:clrMapOvr>
  <p:transition xmlns:p14="http://schemas.microsoft.com/office/powerpoint/2010/main" p14:dur="380">
    <p:fade/>
  </p:transition>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Deployment-failure response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CloudWatch alarms can trigger CodeDeploy automatic rollback when a new release misbehaves.</a:t>
            </a:r>
          </a:p>
          <a:p>
            <a:pPr>
              <a:spcAft>
                <a:spcPts val="800"/>
              </a:spcAft>
            </a:pPr>
            <a:r>
              <a:rPr sz="1350" b="0">
                <a:solidFill>
                  <a:srgbClr val="161B26"/>
                </a:solidFill>
                <a:latin typeface="Arial"/>
              </a:rPr>
              <a:t>•  A failed pipeline stage halts CodePipeline and alerts the team rather than continuing to prod.</a:t>
            </a:r>
          </a:p>
          <a:p>
            <a:pPr>
              <a:spcAft>
                <a:spcPts val="800"/>
              </a:spcAft>
            </a:pPr>
            <a:r>
              <a:rPr sz="1350" b="0">
                <a:solidFill>
                  <a:srgbClr val="161B26"/>
                </a:solidFill>
                <a:latin typeface="Arial"/>
              </a:rPr>
              <a:t>•  The ECS deployment circuit breaker reverts a failed rollout; blue/green switches traffic back instantly.</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Wiring release health into automated rollback keeps a bad deployment from becoming a prolonged outage.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Deployments with no health signal or rollback path require a manual, stressful, error-prone recovery.</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Fast auto-rollback is safe but can oscillate if the health signal is noisy — tune alarm sensitivity.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457</a:t>
            </a:r>
          </a:p>
        </p:txBody>
      </p:sp>
    </p:spTree>
  </p:cSld>
  <p:clrMapOvr>
    <a:masterClrMapping/>
  </p:clrMapOvr>
  <p:transition xmlns:p14="http://schemas.microsoft.com/office/powerpoint/2010/main" p14:dur="380">
    <p:fade/>
  </p:transition>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Troubleshooting methodically across signals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Correlate metrics (what changed), logs (what the app said), traces (where it slowed) and CloudTrail (who changed what).</a:t>
            </a:r>
          </a:p>
          <a:p>
            <a:pPr>
              <a:spcAft>
                <a:spcPts val="800"/>
              </a:spcAft>
            </a:pPr>
            <a:r>
              <a:rPr sz="1350" b="0">
                <a:solidFill>
                  <a:srgbClr val="161B26"/>
                </a:solidFill>
                <a:latin typeface="Arial"/>
              </a:rPr>
              <a:t>•  Start from the user-facing symptom and the SLO, then narrow by time and by service.</a:t>
            </a:r>
          </a:p>
          <a:p>
            <a:pPr>
              <a:spcAft>
                <a:spcPts val="800"/>
              </a:spcAft>
            </a:pPr>
            <a:r>
              <a:rPr sz="1350" b="0">
                <a:solidFill>
                  <a:srgbClr val="161B26"/>
                </a:solidFill>
                <a:latin typeface="Arial"/>
              </a:rPr>
              <a:t>•  CloudTrail often reveals that an incident began with a configuration or permission change.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disciplined, signal-driven method finds root cause faster than guessing and prevents fixing symptoms only.</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Restarting things at random during an incident can clear the symptom while leaving the cause to recur.</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Thorough diagnosis takes minutes you may feel you don't have — but mis-diagnosis costs more.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458</a:t>
            </a:r>
          </a:p>
        </p:txBody>
      </p:sp>
    </p:spTree>
  </p:cSld>
  <p:clrMapOvr>
    <a:masterClrMapping/>
  </p:clrMapOvr>
  <p:transition xmlns:p14="http://schemas.microsoft.com/office/powerpoint/2010/main" p14:dur="380">
    <p:fade/>
  </p:transition>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Blameless post-incident review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After recovery, a blameless review reconstructs the timeline and identifies systemic causes.</a:t>
            </a:r>
          </a:p>
          <a:p>
            <a:pPr>
              <a:spcAft>
                <a:spcPts val="800"/>
              </a:spcAft>
            </a:pPr>
            <a:r>
              <a:rPr sz="1350" b="0">
                <a:solidFill>
                  <a:srgbClr val="161B26"/>
                </a:solidFill>
                <a:latin typeface="Arial"/>
              </a:rPr>
              <a:t>•  Action items harden the system: new alarms, a new runbook, a guardrail, or a design change.</a:t>
            </a:r>
          </a:p>
          <a:p>
            <a:pPr>
              <a:spcAft>
                <a:spcPts val="800"/>
              </a:spcAft>
            </a:pPr>
            <a:r>
              <a:rPr sz="1350" b="0">
                <a:solidFill>
                  <a:srgbClr val="161B26"/>
                </a:solidFill>
                <a:latin typeface="Arial"/>
              </a:rPr>
              <a:t>•  The fix is codified so the same incident cannot recur silently.</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Treating incidents as learning — not fault — turns each outage into durable resilience and better automation.</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Blaming individuals drives problems underground; people stop reporting near-misses and the system stops improving.</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Reviews cost time and candour — the payoff is compounding reliability over many incidents.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459</a:t>
            </a:r>
          </a:p>
        </p:txBody>
      </p:sp>
    </p:spTree>
  </p:cSld>
  <p:clrMapOvr>
    <a:masterClrMapping/>
  </p:clrMapOvr>
  <p:transition xmlns:p14="http://schemas.microsoft.com/office/powerpoint/2010/main" p14:dur="380">
    <p:fade/>
  </p:transition>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Orchestrating complex responses with Step Functions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Step Functions coordinate multi-step remediations with retries, branching and error handling.</a:t>
            </a:r>
          </a:p>
          <a:p>
            <a:pPr>
              <a:spcAft>
                <a:spcPts val="800"/>
              </a:spcAft>
            </a:pPr>
            <a:r>
              <a:rPr sz="1350" b="0">
                <a:solidFill>
                  <a:srgbClr val="161B26"/>
                </a:solidFill>
                <a:latin typeface="Arial"/>
              </a:rPr>
              <a:t>•  State machines make a response auditable and resumable rather than a fragile chain of Lambdas.</a:t>
            </a:r>
          </a:p>
          <a:p>
            <a:pPr>
              <a:spcAft>
                <a:spcPts val="800"/>
              </a:spcAft>
            </a:pPr>
            <a:r>
              <a:rPr sz="1350" b="0">
                <a:solidFill>
                  <a:srgbClr val="161B26"/>
                </a:solidFill>
                <a:latin typeface="Arial"/>
              </a:rPr>
              <a:t>•  Human-approval states can pause automation for a decision on higher-risk actions.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Some incidents need a workflow, not a single action — orchestration gives reliable, observable, multi-step recovery.</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tangle of Lambdas invoking Lambdas becomes impossible to trace or safely modify.</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Orchestration adds a service to design and cost, justified when the response has real branching and steps.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460</a:t>
            </a:r>
          </a:p>
        </p:txBody>
      </p:sp>
    </p:spTree>
  </p:cSld>
  <p:clrMapOvr>
    <a:masterClrMapping/>
  </p:clrMapOvr>
  <p:transition xmlns:p14="http://schemas.microsoft.com/office/powerpoint/2010/main" p14:dur="380">
    <p:fade/>
  </p:transition>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CODIFYING THE RESPONSE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Runbook vs Playbook — Know the Difference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5029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944014" cy="502920"/>
          </a:xfrm>
          <a:prstGeom prst="rect">
            <a:avLst/>
          </a:prstGeom>
          <a:noFill/>
        </p:spPr>
        <p:txBody>
          <a:bodyPr wrap="square" anchor="ctr">
            <a:spAutoFit/>
          </a:bodyPr>
          <a:lstStyle/>
          <a:p>
            <a:pPr algn="l">
              <a:spcAft>
                <a:spcPts val="400"/>
              </a:spcAft>
            </a:pPr>
            <a:r>
              <a:rPr sz="1400" b="1">
                <a:solidFill>
                  <a:srgbClr val="FFFFFF"/>
                </a:solidFill>
                <a:latin typeface="Arial"/>
              </a:rPr>
              <a:t>Aspect</a:t>
            </a:r>
          </a:p>
        </p:txBody>
      </p:sp>
      <p:sp>
        <p:nvSpPr>
          <p:cNvPr id="9" name="Rectangle 8"/>
          <p:cNvSpPr/>
          <p:nvPr/>
        </p:nvSpPr>
        <p:spPr>
          <a:xfrm>
            <a:off x="2904134" y="1783080"/>
            <a:ext cx="4253788" cy="5029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3862" y="1783080"/>
            <a:ext cx="4070908" cy="502920"/>
          </a:xfrm>
          <a:prstGeom prst="rect">
            <a:avLst/>
          </a:prstGeom>
          <a:noFill/>
        </p:spPr>
        <p:txBody>
          <a:bodyPr wrap="square" anchor="ctr">
            <a:spAutoFit/>
          </a:bodyPr>
          <a:lstStyle/>
          <a:p>
            <a:pPr algn="ctr">
              <a:spcAft>
                <a:spcPts val="400"/>
              </a:spcAft>
            </a:pPr>
            <a:r>
              <a:rPr sz="1400" b="1">
                <a:solidFill>
                  <a:srgbClr val="FFFFFF"/>
                </a:solidFill>
                <a:latin typeface="Arial"/>
              </a:rPr>
              <a:t>Runbook</a:t>
            </a:r>
          </a:p>
        </p:txBody>
      </p:sp>
      <p:sp>
        <p:nvSpPr>
          <p:cNvPr id="11" name="Rectangle 10"/>
          <p:cNvSpPr/>
          <p:nvPr/>
        </p:nvSpPr>
        <p:spPr>
          <a:xfrm>
            <a:off x="7157922" y="1783080"/>
            <a:ext cx="4253788" cy="5029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7650" y="1783080"/>
            <a:ext cx="4070908" cy="502920"/>
          </a:xfrm>
          <a:prstGeom prst="rect">
            <a:avLst/>
          </a:prstGeom>
          <a:noFill/>
        </p:spPr>
        <p:txBody>
          <a:bodyPr wrap="square" anchor="ctr">
            <a:spAutoFit/>
          </a:bodyPr>
          <a:lstStyle/>
          <a:p>
            <a:pPr algn="ctr">
              <a:spcAft>
                <a:spcPts val="400"/>
              </a:spcAft>
            </a:pPr>
            <a:r>
              <a:rPr sz="1400" b="1">
                <a:solidFill>
                  <a:srgbClr val="FFFFFF"/>
                </a:solidFill>
                <a:latin typeface="Arial"/>
              </a:rPr>
              <a:t>Playbook</a:t>
            </a:r>
          </a:p>
        </p:txBody>
      </p:sp>
      <p:sp>
        <p:nvSpPr>
          <p:cNvPr id="13" name="Rectangle 12"/>
          <p:cNvSpPr/>
          <p:nvPr/>
        </p:nvSpPr>
        <p:spPr>
          <a:xfrm>
            <a:off x="777240" y="2286000"/>
            <a:ext cx="212689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Scope</a:t>
            </a:r>
          </a:p>
        </p:txBody>
      </p:sp>
      <p:sp>
        <p:nvSpPr>
          <p:cNvPr id="15" name="Rectangle 14"/>
          <p:cNvSpPr/>
          <p:nvPr/>
        </p:nvSpPr>
        <p:spPr>
          <a:xfrm>
            <a:off x="2904134" y="228600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3862" y="228600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One known, repeatable fix</a:t>
            </a:r>
          </a:p>
        </p:txBody>
      </p:sp>
      <p:sp>
        <p:nvSpPr>
          <p:cNvPr id="17" name="Rectangle 16"/>
          <p:cNvSpPr/>
          <p:nvPr/>
        </p:nvSpPr>
        <p:spPr>
          <a:xfrm>
            <a:off x="7157922" y="228600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7650" y="228600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Broader incident guidance</a:t>
            </a:r>
          </a:p>
        </p:txBody>
      </p:sp>
      <p:sp>
        <p:nvSpPr>
          <p:cNvPr id="19" name="Rectangle 18"/>
          <p:cNvSpPr/>
          <p:nvPr/>
        </p:nvSpPr>
        <p:spPr>
          <a:xfrm>
            <a:off x="777240" y="3108960"/>
            <a:ext cx="212689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Form</a:t>
            </a:r>
          </a:p>
        </p:txBody>
      </p:sp>
      <p:sp>
        <p:nvSpPr>
          <p:cNvPr id="21" name="Rectangle 20"/>
          <p:cNvSpPr/>
          <p:nvPr/>
        </p:nvSpPr>
        <p:spPr>
          <a:xfrm>
            <a:off x="2904134" y="310896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3862" y="310896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Often automated (SSM Automation)</a:t>
            </a:r>
          </a:p>
        </p:txBody>
      </p:sp>
      <p:sp>
        <p:nvSpPr>
          <p:cNvPr id="23" name="Rectangle 22"/>
          <p:cNvSpPr/>
          <p:nvPr/>
        </p:nvSpPr>
        <p:spPr>
          <a:xfrm>
            <a:off x="7157922" y="310896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7650" y="310896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Human roles, comms, decisions</a:t>
            </a:r>
          </a:p>
        </p:txBody>
      </p:sp>
      <p:sp>
        <p:nvSpPr>
          <p:cNvPr id="25" name="Rectangle 24"/>
          <p:cNvSpPr/>
          <p:nvPr/>
        </p:nvSpPr>
        <p:spPr>
          <a:xfrm>
            <a:off x="777240" y="3931920"/>
            <a:ext cx="212689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Best for</a:t>
            </a:r>
          </a:p>
        </p:txBody>
      </p:sp>
      <p:sp>
        <p:nvSpPr>
          <p:cNvPr id="27" name="Rectangle 26"/>
          <p:cNvSpPr/>
          <p:nvPr/>
        </p:nvSpPr>
        <p:spPr>
          <a:xfrm>
            <a:off x="2904134" y="393192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3862" y="393192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'Disk full → expand volume'</a:t>
            </a:r>
          </a:p>
        </p:txBody>
      </p:sp>
      <p:sp>
        <p:nvSpPr>
          <p:cNvPr id="29" name="Rectangle 28"/>
          <p:cNvSpPr/>
          <p:nvPr/>
        </p:nvSpPr>
        <p:spPr>
          <a:xfrm>
            <a:off x="7157922" y="393192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67650" y="393192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Novel or major incidents</a:t>
            </a:r>
          </a:p>
        </p:txBody>
      </p:sp>
      <p:sp>
        <p:nvSpPr>
          <p:cNvPr id="31" name="Rectangle 30"/>
          <p:cNvSpPr/>
          <p:nvPr/>
        </p:nvSpPr>
        <p:spPr>
          <a:xfrm>
            <a:off x="777240" y="4754880"/>
            <a:ext cx="212689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75488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Outcome</a:t>
            </a:r>
          </a:p>
        </p:txBody>
      </p:sp>
      <p:sp>
        <p:nvSpPr>
          <p:cNvPr id="33" name="Rectangle 32"/>
          <p:cNvSpPr/>
          <p:nvPr/>
        </p:nvSpPr>
        <p:spPr>
          <a:xfrm>
            <a:off x="2904134" y="475488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475488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Fast, consistent auto-recovery</a:t>
            </a:r>
          </a:p>
        </p:txBody>
      </p:sp>
      <p:sp>
        <p:nvSpPr>
          <p:cNvPr id="35" name="Rectangle 34"/>
          <p:cNvSpPr/>
          <p:nvPr/>
        </p:nvSpPr>
        <p:spPr>
          <a:xfrm>
            <a:off x="7157922" y="475488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67650" y="475488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Coordinated human response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461</a:t>
            </a:r>
          </a:p>
        </p:txBody>
      </p:sp>
    </p:spTree>
  </p:cSld>
  <p:clrMapOvr>
    <a:masterClrMapping/>
  </p:clrMapOvr>
  <p:transition xmlns:p14="http://schemas.microsoft.com/office/powerpoint/2010/main" p14:dur="380">
    <p:fade/>
  </p:transition>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WHY AUTOMATE RESPONSE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Automation Cuts MTTR Across Every Phase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EC711E"/>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Event-driven automation collapses mean-time-to-recover from over an hour to a few minutes — most of the saving is in detection and remediation.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462</a:t>
            </a:r>
          </a:p>
        </p:txBody>
      </p:sp>
    </p:spTree>
  </p:cSld>
  <p:clrMapOvr>
    <a:masterClrMapping/>
  </p:clrMapOvr>
  <p:transition xmlns:p14="http://schemas.microsoft.com/office/powerpoint/2010/main" p14:dur="380">
    <p:fade/>
  </p:transition>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WHAT SLOWS RECOVERY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Incident-Response Failure Modes &amp; Anti-Patterns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Over-broad event patterns</a:t>
            </a:r>
          </a:p>
          <a:p>
            <a:pPr algn="l">
              <a:spcAft>
                <a:spcPts val="300"/>
              </a:spcAft>
            </a:pPr>
            <a:r>
              <a:rPr sz="1100" b="0">
                <a:solidFill>
                  <a:srgbClr val="5B6372"/>
                </a:solidFill>
                <a:latin typeface="Arial"/>
              </a:rPr>
              <a:t>Remediation on benign events → precise patterns, test them.</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Notify-only, no automation</a:t>
            </a:r>
          </a:p>
          <a:p>
            <a:pPr algn="l">
              <a:spcAft>
                <a:spcPts val="300"/>
              </a:spcAft>
            </a:pPr>
            <a:r>
              <a:rPr sz="1100" b="0">
                <a:solidFill>
                  <a:srgbClr val="5B6372"/>
                </a:solidFill>
                <a:latin typeface="Arial"/>
              </a:rPr>
              <a:t>Recovery gated on human reaction → wire the fix.</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Unscoped remediation IAM</a:t>
            </a:r>
          </a:p>
          <a:p>
            <a:pPr algn="l">
              <a:spcAft>
                <a:spcPts val="300"/>
              </a:spcAft>
            </a:pPr>
            <a:r>
              <a:rPr sz="1100" b="0">
                <a:solidFill>
                  <a:srgbClr val="5B6372"/>
                </a:solidFill>
                <a:latin typeface="Arial"/>
              </a:rPr>
              <a:t>A bad event does damage → least-privilege action roles.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Tribal knowledge</a:t>
            </a:r>
          </a:p>
          <a:p>
            <a:pPr algn="l">
              <a:spcAft>
                <a:spcPts val="300"/>
              </a:spcAft>
            </a:pPr>
            <a:r>
              <a:rPr sz="1100" b="0">
                <a:solidFill>
                  <a:srgbClr val="5B6372"/>
                </a:solidFill>
                <a:latin typeface="Arial"/>
              </a:rPr>
              <a:t>Fix lives in one head → codify runbooks.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Random restarts</a:t>
            </a:r>
          </a:p>
          <a:p>
            <a:pPr algn="l">
              <a:spcAft>
                <a:spcPts val="300"/>
              </a:spcAft>
            </a:pPr>
            <a:r>
              <a:rPr sz="1100" b="0">
                <a:solidFill>
                  <a:srgbClr val="5B6372"/>
                </a:solidFill>
                <a:latin typeface="Arial"/>
              </a:rPr>
              <a:t>Symptom cleared, cause remains → signal-driven diagnosis.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No post-incident learning</a:t>
            </a:r>
          </a:p>
          <a:p>
            <a:pPr algn="l">
              <a:spcAft>
                <a:spcPts val="300"/>
              </a:spcAft>
            </a:pPr>
            <a:r>
              <a:rPr sz="1100" b="0">
                <a:solidFill>
                  <a:srgbClr val="5B6372"/>
                </a:solidFill>
                <a:latin typeface="Arial"/>
              </a:rPr>
              <a:t>Same outage recurs → blameless review + action items.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463</a:t>
            </a:r>
          </a:p>
        </p:txBody>
      </p:sp>
    </p:spTree>
  </p:cSld>
  <p:clrMapOvr>
    <a:masterClrMapping/>
  </p:clrMapOvr>
  <p:transition xmlns:p14="http://schemas.microsoft.com/office/powerpoint/2010/main" p14:dur="380">
    <p:fade/>
  </p:transition>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PROVEN PRACTICES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Response Patterns Worth Adopting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Detect → route → notify+act</a:t>
            </a:r>
          </a:p>
          <a:p>
            <a:pPr algn="l">
              <a:spcAft>
                <a:spcPts val="300"/>
              </a:spcAft>
            </a:pPr>
            <a:r>
              <a:rPr sz="1100" b="0">
                <a:solidFill>
                  <a:srgbClr val="5B6372"/>
                </a:solidFill>
                <a:latin typeface="Arial"/>
              </a:rPr>
              <a:t>EventBridge fans out to people and automation.</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Alarm-based rollback</a:t>
            </a:r>
          </a:p>
          <a:p>
            <a:pPr algn="l">
              <a:spcAft>
                <a:spcPts val="300"/>
              </a:spcAft>
            </a:pPr>
            <a:r>
              <a:rPr sz="1100" b="0">
                <a:solidFill>
                  <a:srgbClr val="5B6372"/>
                </a:solidFill>
                <a:latin typeface="Arial"/>
              </a:rPr>
              <a:t>Release health auto-reverts bad deploys.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Automated runbooks</a:t>
            </a:r>
          </a:p>
          <a:p>
            <a:pPr algn="l">
              <a:spcAft>
                <a:spcPts val="300"/>
              </a:spcAft>
            </a:pPr>
            <a:r>
              <a:rPr sz="1100" b="0">
                <a:solidFill>
                  <a:srgbClr val="5B6372"/>
                </a:solidFill>
                <a:latin typeface="Arial"/>
              </a:rPr>
              <a:t>SSM Automation for known fixes.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Guarded auto-remediation</a:t>
            </a:r>
          </a:p>
          <a:p>
            <a:pPr algn="l">
              <a:spcAft>
                <a:spcPts val="300"/>
              </a:spcAft>
            </a:pPr>
            <a:r>
              <a:rPr sz="1100" b="0">
                <a:solidFill>
                  <a:srgbClr val="5B6372"/>
                </a:solidFill>
                <a:latin typeface="Arial"/>
              </a:rPr>
              <a:t>Config → remediation with approval for risky actions.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Orchestrated recovery</a:t>
            </a:r>
          </a:p>
          <a:p>
            <a:pPr algn="l">
              <a:spcAft>
                <a:spcPts val="300"/>
              </a:spcAft>
            </a:pPr>
            <a:r>
              <a:rPr sz="1100" b="0">
                <a:solidFill>
                  <a:srgbClr val="5B6372"/>
                </a:solidFill>
                <a:latin typeface="Arial"/>
              </a:rPr>
              <a:t>Step Functions for multi-step responses.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Blameless reviews</a:t>
            </a:r>
          </a:p>
          <a:p>
            <a:pPr algn="l">
              <a:spcAft>
                <a:spcPts val="300"/>
              </a:spcAft>
            </a:pPr>
            <a:r>
              <a:rPr sz="1100" b="0">
                <a:solidFill>
                  <a:srgbClr val="5B6372"/>
                </a:solidFill>
                <a:latin typeface="Arial"/>
              </a:rPr>
              <a:t>Every incident hardens the system.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464</a:t>
            </a:r>
          </a:p>
        </p:txBody>
      </p:sp>
    </p:spTree>
  </p:cSld>
  <p:clrMapOvr>
    <a:masterClrMapping/>
  </p:clrMapOvr>
  <p:transition xmlns:p14="http://schemas.microsoft.com/office/powerpoint/2010/main" p14:dur="380">
    <p:fade/>
  </p:transition>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RESPONSE STRATEGY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Architecture Decision — Automate the Fix or Page a Human?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57400"/>
            <a:ext cx="457200" cy="45720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A</a:t>
            </a:r>
          </a:p>
        </p:txBody>
      </p:sp>
      <p:sp>
        <p:nvSpPr>
          <p:cNvPr id="11" name="TextBox 10"/>
          <p:cNvSpPr txBox="1"/>
          <p:nvPr/>
        </p:nvSpPr>
        <p:spPr>
          <a:xfrm>
            <a:off x="1645920" y="2084831"/>
            <a:ext cx="2286000" cy="640080"/>
          </a:xfrm>
          <a:prstGeom prst="rect">
            <a:avLst/>
          </a:prstGeom>
          <a:noFill/>
        </p:spPr>
        <p:txBody>
          <a:bodyPr wrap="square" anchor="ctr">
            <a:spAutoFit/>
          </a:bodyPr>
          <a:lstStyle/>
          <a:p>
            <a:pPr algn="l">
              <a:spcAft>
                <a:spcPts val="400"/>
              </a:spcAft>
            </a:pPr>
            <a:r>
              <a:rPr sz="1450" b="1">
                <a:solidFill>
                  <a:srgbClr val="EC711E"/>
                </a:solidFill>
                <a:latin typeface="Arial"/>
              </a:rPr>
              <a:t>Fully automate</a:t>
            </a:r>
          </a:p>
        </p:txBody>
      </p:sp>
      <p:sp>
        <p:nvSpPr>
          <p:cNvPr id="12" name="TextBox 11"/>
          <p:cNvSpPr txBox="1"/>
          <p:nvPr/>
        </p:nvSpPr>
        <p:spPr>
          <a:xfrm>
            <a:off x="103327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Known cause, safe and reversible fix, frequent occurrence. Fastest recovery — needs tight IAM and validation.</a:t>
            </a:r>
          </a:p>
        </p:txBody>
      </p:sp>
      <p:sp>
        <p:nvSpPr>
          <p:cNvPr id="13" name="Rectangle 12"/>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2803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7" name="TextBox 16"/>
          <p:cNvSpPr txBox="1"/>
          <p:nvPr/>
        </p:nvSpPr>
        <p:spPr>
          <a:xfrm>
            <a:off x="544068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Automate with approval</a:t>
            </a:r>
          </a:p>
        </p:txBody>
      </p:sp>
      <p:sp>
        <p:nvSpPr>
          <p:cNvPr id="18" name="TextBox 17"/>
          <p:cNvSpPr txBox="1"/>
          <p:nvPr/>
        </p:nvSpPr>
        <p:spPr>
          <a:xfrm>
            <a:off x="482803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Higher-risk action or ambiguous trigger. Step Functions pauses for a human yes/no before acting.</a:t>
            </a:r>
          </a:p>
        </p:txBody>
      </p:sp>
      <p:sp>
        <p:nvSpPr>
          <p:cNvPr id="19" name="Rectangle 18"/>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2279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C</a:t>
            </a:r>
          </a:p>
        </p:txBody>
      </p:sp>
      <p:sp>
        <p:nvSpPr>
          <p:cNvPr id="23" name="TextBox 22"/>
          <p:cNvSpPr txBox="1"/>
          <p:nvPr/>
        </p:nvSpPr>
        <p:spPr>
          <a:xfrm>
            <a:off x="923544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Notify only</a:t>
            </a:r>
          </a:p>
        </p:txBody>
      </p:sp>
      <p:sp>
        <p:nvSpPr>
          <p:cNvPr id="24" name="TextBox 23"/>
          <p:cNvSpPr txBox="1"/>
          <p:nvPr/>
        </p:nvSpPr>
        <p:spPr>
          <a:xfrm>
            <a:off x="862279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Novel or unclear incidents. Page the on-call with rich context; automation isn't safe until the pattern is understood.</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465</a:t>
            </a:r>
          </a:p>
        </p:txBody>
      </p:sp>
    </p:spTree>
  </p:cSld>
  <p:clrMapOvr>
    <a:masterClrMapping/>
  </p:clrMapOvr>
  <p:transition xmlns:p14="http://schemas.microsoft.com/office/powerpoint/2010/main" p14:dur="380">
    <p:fade/>
  </p:transition>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DETECT AND AUTO-REMEDIATE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A public S3 bucket appears at 2am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Someone changes a bucket to public. Data exposure risk is immediate; no engineer is awake.</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EC711E"/>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AWS Config's s3-bucket-public-read-prohibited rule detects the non-compliant state within minutes.</a:t>
            </a:r>
          </a:p>
          <a:p>
            <a:pPr>
              <a:spcAft>
                <a:spcPts val="700"/>
              </a:spcAft>
            </a:pPr>
            <a:r>
              <a:rPr sz="1300" b="0">
                <a:solidFill>
                  <a:srgbClr val="161B26"/>
                </a:solidFill>
                <a:latin typeface="Arial"/>
              </a:rPr>
              <a:t>•  An EventBridge rule on the Config compliance-change event can trigger an SSM Automation remediation.</a:t>
            </a:r>
          </a:p>
          <a:p>
            <a:pPr>
              <a:spcAft>
                <a:spcPts val="700"/>
              </a:spcAft>
            </a:pPr>
            <a:r>
              <a:rPr sz="1300" b="0">
                <a:solidFill>
                  <a:srgbClr val="161B26"/>
                </a:solidFill>
                <a:latin typeface="Arial"/>
              </a:rPr>
              <a:t>•  The remediation re-applies Block Public Access and SNS notifies the security channel.</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Wire Config → EventBridge → SSM Automation to auto-remediate and notify, so the exposure window is minutes and unattended — with the action logged for the morning review.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466</a:t>
            </a:r>
          </a:p>
        </p:txBody>
      </p:sp>
    </p:spTree>
  </p:cSld>
  <p:clrMapOvr>
    <a:masterClrMapping/>
  </p:clrMapOvr>
  <p:transition xmlns:p14="http://schemas.microsoft.com/office/powerpoint/2010/main" p14:dur="380">
    <p:fade/>
  </p:transition>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RELEASE-HEALTH AUTOMATION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A deploy degrades error rate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Minutes after a rollout, the error-rate alarm crosses threshold.</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EC711E"/>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The alarm can be an automatic rollback trigger for the CodeDeploy deployment, no human needed.</a:t>
            </a:r>
          </a:p>
          <a:p>
            <a:pPr>
              <a:spcAft>
                <a:spcPts val="700"/>
              </a:spcAft>
            </a:pPr>
            <a:r>
              <a:rPr sz="1300" b="0">
                <a:solidFill>
                  <a:srgbClr val="161B26"/>
                </a:solidFill>
                <a:latin typeface="Arial"/>
              </a:rPr>
              <a:t>•  EventBridge can also notify the team and open an incident record for context.</a:t>
            </a:r>
          </a:p>
          <a:p>
            <a:pPr>
              <a:spcAft>
                <a:spcPts val="700"/>
              </a:spcAft>
            </a:pPr>
            <a:r>
              <a:rPr sz="1300" b="0">
                <a:solidFill>
                  <a:srgbClr val="161B26"/>
                </a:solidFill>
                <a:latin typeface="Arial"/>
              </a:rPr>
              <a:t>•  A post-incident action is to move the service to canary so 5% catches this next time.</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Bind the error-rate alarm to CodeDeploy auto-rollback and notify in parallel; recovery becomes automatic and the follow-up hardens the pipeline.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467</a:t>
            </a:r>
          </a:p>
        </p:txBody>
      </p:sp>
    </p:spTree>
  </p:cSld>
  <p:clrMapOvr>
    <a:masterClrMapping/>
  </p:clrMapOvr>
  <p:transition xmlns:p14="http://schemas.microsoft.com/office/powerpoint/2010/main" p14:dur="380">
    <p:fade/>
  </p:transition>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EVENT TO RECOVERY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Worked Analysis — Anatomy of an Automated Response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73152" cy="76581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1028" y="178308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78308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Signal</a:t>
            </a:r>
          </a:p>
        </p:txBody>
      </p:sp>
      <p:sp>
        <p:nvSpPr>
          <p:cNvPr id="11" name="TextBox 10"/>
          <p:cNvSpPr txBox="1"/>
          <p:nvPr/>
        </p:nvSpPr>
        <p:spPr>
          <a:xfrm>
            <a:off x="5213908" y="178308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CloudWatch alarm / Config finding / service event fires.</a:t>
            </a:r>
          </a:p>
        </p:txBody>
      </p:sp>
      <p:sp>
        <p:nvSpPr>
          <p:cNvPr id="12" name="Rectangle 11"/>
          <p:cNvSpPr/>
          <p:nvPr/>
        </p:nvSpPr>
        <p:spPr>
          <a:xfrm>
            <a:off x="777240" y="254889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890"/>
            <a:ext cx="73152" cy="76581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31028" y="254889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54889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Route</a:t>
            </a:r>
          </a:p>
        </p:txBody>
      </p:sp>
      <p:sp>
        <p:nvSpPr>
          <p:cNvPr id="16" name="TextBox 15"/>
          <p:cNvSpPr txBox="1"/>
          <p:nvPr/>
        </p:nvSpPr>
        <p:spPr>
          <a:xfrm>
            <a:off x="5213908" y="254889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EventBridge rule matches the event pattern precisely.</a:t>
            </a:r>
          </a:p>
        </p:txBody>
      </p:sp>
      <p:sp>
        <p:nvSpPr>
          <p:cNvPr id="17" name="Rectangle 16"/>
          <p:cNvSpPr/>
          <p:nvPr/>
        </p:nvSpPr>
        <p:spPr>
          <a:xfrm>
            <a:off x="777240" y="331470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4700"/>
            <a:ext cx="73152" cy="76581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31028" y="331470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31470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Notify</a:t>
            </a:r>
          </a:p>
        </p:txBody>
      </p:sp>
      <p:sp>
        <p:nvSpPr>
          <p:cNvPr id="21" name="TextBox 20"/>
          <p:cNvSpPr txBox="1"/>
          <p:nvPr/>
        </p:nvSpPr>
        <p:spPr>
          <a:xfrm>
            <a:off x="5213908" y="331470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SNS informs responders with context — they watch, not scramble.</a:t>
            </a:r>
          </a:p>
        </p:txBody>
      </p:sp>
      <p:sp>
        <p:nvSpPr>
          <p:cNvPr id="22" name="Rectangle 21"/>
          <p:cNvSpPr/>
          <p:nvPr/>
        </p:nvSpPr>
        <p:spPr>
          <a:xfrm>
            <a:off x="777240" y="408051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0510"/>
            <a:ext cx="73152" cy="76581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1028" y="408051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08051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Act &amp; verify</a:t>
            </a:r>
          </a:p>
        </p:txBody>
      </p:sp>
      <p:sp>
        <p:nvSpPr>
          <p:cNvPr id="26" name="TextBox 25"/>
          <p:cNvSpPr txBox="1"/>
          <p:nvPr/>
        </p:nvSpPr>
        <p:spPr>
          <a:xfrm>
            <a:off x="5213908" y="408051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Lambda/SSM runbook remediates; a follow-up check confirms healthy state, else escalates.</a:t>
            </a:r>
          </a:p>
        </p:txBody>
      </p:sp>
      <p:sp>
        <p:nvSpPr>
          <p:cNvPr id="27" name="Rectangle 26"/>
          <p:cNvSpPr/>
          <p:nvPr/>
        </p:nvSpPr>
        <p:spPr>
          <a:xfrm>
            <a:off x="777240" y="5010912"/>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10912"/>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10235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TAKEAWAY</a:t>
            </a:r>
          </a:p>
        </p:txBody>
      </p:sp>
      <p:sp>
        <p:nvSpPr>
          <p:cNvPr id="30" name="TextBox 29"/>
          <p:cNvSpPr txBox="1"/>
          <p:nvPr/>
        </p:nvSpPr>
        <p:spPr>
          <a:xfrm>
            <a:off x="1033272" y="5394960"/>
            <a:ext cx="10085832" cy="457200"/>
          </a:xfrm>
          <a:prstGeom prst="rect">
            <a:avLst/>
          </a:prstGeom>
          <a:noFill/>
        </p:spPr>
        <p:txBody>
          <a:bodyPr wrap="square" anchor="t">
            <a:spAutoFit/>
          </a:bodyPr>
          <a:lstStyle/>
          <a:p>
            <a:pPr algn="l">
              <a:spcAft>
                <a:spcPts val="400"/>
              </a:spcAft>
            </a:pPr>
            <a:r>
              <a:rPr sz="1300" b="1">
                <a:solidFill>
                  <a:srgbClr val="161B26"/>
                </a:solidFill>
                <a:latin typeface="Arial"/>
              </a:rPr>
              <a:t>A good response is a small, testable pipeline — precise trigger, parallel notify-and-act, and a verification step that escalates if the fix didn't hold.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468</a:t>
            </a:r>
          </a:p>
        </p:txBody>
      </p:sp>
    </p:spTree>
  </p:cSld>
  <p:clrMapOvr>
    <a:masterClrMapping/>
  </p:clrMapOvr>
  <p:transition xmlns:p14="http://schemas.microsoft.com/office/powerpoint/2010/main" p14:dur="380">
    <p:fade/>
  </p:transition>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EVENTBRIDGE · SNS · SQS · LAMBDA</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Event-driven incident response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Route precise operational state changes to people and automation with buffering and failure isolation.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EventBridge filters structured events and supports archives/replay for event buses.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SNS fans out notifications; SQS buffers consumer work and supports DLQs.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Lambda performs short response actions under a scoped execution role.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469</a:t>
            </a:r>
          </a:p>
        </p:txBody>
      </p:sp>
    </p:spTree>
  </p:cSld>
  <p:clrMapOvr>
    <a:masterClrMapping/>
  </p:clrMapOvr>
  <p:transition xmlns:p14="http://schemas.microsoft.com/office/powerpoint/2010/main" p14:dur="380">
    <p:fade/>
  </p:transition>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Event-driven incident response: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EventBridge for content routing, SNS for fan-out and SQS when consumers need durable buffering/back-pressure.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Match exact fields, make actions idempotent, add DLQs, cap retries and require approval for high-impact remediation.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broad event pattern or overprivileged responder can automate the wrong containment action.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Matched event, delivery attempts, DLQ depth, function request ID, changed resource and approval.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470</a:t>
            </a:r>
          </a:p>
        </p:txBody>
      </p:sp>
    </p:spTree>
  </p:cSld>
  <p:clrMapOvr>
    <a:masterClrMapping/>
  </p:clrMapOvr>
  <p:transition xmlns:p14="http://schemas.microsoft.com/office/powerpoint/2010/main" p14:dur="380">
    <p:fade/>
  </p:transition>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SYSTEMS MANAGER OPSCENTER · AUTOMATION · EXPLORER · INCIDENT MANAGER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Operations and remediation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Aggregate operational issues, attach context and run controlled investigation or remediation workflows.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OpsItems connect an issue to resources, related events, runbooks and ownership.</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Automation executes auditable steps with branching, approvals and AWS API integrations.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Explorer aggregates operational/compliance data across configured accounts and Regions.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471</a:t>
            </a:r>
          </a:p>
        </p:txBody>
      </p:sp>
    </p:spTree>
  </p:cSld>
  <p:clrMapOvr>
    <a:masterClrMapping/>
  </p:clrMapOvr>
  <p:transition xmlns:p14="http://schemas.microsoft.com/office/powerpoint/2010/main" p14:dur="380">
    <p:fade/>
  </p:transition>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Operations and remediation: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Automation for repeatable remediation and OpsCenter when issues need lifecycle, ownership and evidence.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Start with read-only diagnosis, canary the change, bound targets/errors and preserve before/after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Automation that deletes diagnostic state before collection can make the incident unexplainable.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OpsItem, execution steps, approver, target set, output, resource diff and post-check.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472</a:t>
            </a:r>
          </a:p>
        </p:txBody>
      </p:sp>
    </p:spTree>
  </p:cSld>
  <p:clrMapOvr>
    <a:masterClrMapping/>
  </p:clrMapOvr>
  <p:transition xmlns:p14="http://schemas.microsoft.com/office/powerpoint/2010/main" p14:dur="380">
    <p:fade/>
  </p:transition>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CLOUDTRAIL · AWS CONFIG · CLOUDFORMATION DRIFT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Audit and configuration diagnosis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Separate who changed what from what configuration exists now and what desired state declares.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CloudTrail records control-plane/API activity and identity context; data events require explicit configuration.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Config records supported resource configuration/history and evaluates rules.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CloudFormation drift compares supported actual properties with the stack template.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473</a:t>
            </a:r>
          </a:p>
        </p:txBody>
      </p:sp>
    </p:spTree>
  </p:cSld>
  <p:clrMapOvr>
    <a:masterClrMapping/>
  </p:clrMapOvr>
  <p:transition xmlns:p14="http://schemas.microsoft.com/office/powerpoint/2010/main" p14:dur="380">
    <p:fade/>
  </p:transition>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Audit and configuration diagnosis: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CloudTrail for actor/API evidence, Config for resource history/compliance and drift for IaC divergence.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Centralise trails, protect logs, scope selectors deliberately, aggregate Config and investigate before remediation.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No event may mean the trail did not capture that event category—not that no change occurred.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Event time/identity/request, configuration timeline, compliance evaluation, drift detail and remediation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474</a:t>
            </a:r>
          </a:p>
        </p:txBody>
      </p:sp>
    </p:spTree>
  </p:cSld>
  <p:clrMapOvr>
    <a:masterClrMapping/>
  </p:clrMapOvr>
  <p:transition xmlns:p14="http://schemas.microsoft.com/office/powerpoint/2010/main" p14:dur="380">
    <p:fade/>
  </p:transition>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VPC FLOW LOGS · REACHABILITY ANALYZER · CLOUDWATCH · ROUTE 53 RESOLVER LOGS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Network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Diagnose connectivity by distinguishing route, policy, name-resolution, load-balancer and application failures.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Flow Logs show accepted/rejected network-flow metadata, not packet contents.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Reachability Analyzer evaluates a modeled path through supported network configuration.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Resolver query logs reveal DNS questions/responses from configured VPCs.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475</a:t>
            </a:r>
          </a:p>
        </p:txBody>
      </p:sp>
    </p:spTree>
  </p:cSld>
  <p:clrMapOvr>
    <a:masterClrMapping/>
  </p:clrMapOvr>
  <p:transition xmlns:p14="http://schemas.microsoft.com/office/powerpoint/2010/main" p14:dur="380">
    <p:fade/>
  </p:transition>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Network troubleshooting: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configuration path analysis first, then flow/DNS/load-balancer evidence to locate the failed layer.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Check source/destination, DNS, route both ways, security groups, NACLs, endpoints, target health and application listener.</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Treating every timeout as a security-group issue leads to random changes and larger blast radius.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Path result, flow-log action, DNS response, route, target health, application log and corrected control.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476</a:t>
            </a:r>
          </a:p>
        </p:txBody>
      </p:sp>
    </p:spTree>
  </p:cSld>
  <p:clrMapOvr>
    <a:masterClrMapping/>
  </p:clrMapOvr>
  <p:transition xmlns:p14="http://schemas.microsoft.com/office/powerpoint/2010/main" p14:dur="380">
    <p:fade/>
  </p:transition>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Developer deep dive: SQS buffering, ordering and dead-letter handling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Decouple producers from consumers while making delivery, visibility, idempotency and poison-message behavior explicit.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SQS Standard · FIFO · dead-letter queues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Make the charge operation idempotent, extend visibility while healthy, cap retry attempts and isolate permanent failures in a DLQ.</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Increasing visibility indefinitely hides stuck work; relying only on FIFO deduplication does not protect downstream side effects forever.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477</a:t>
            </a:r>
          </a:p>
        </p:txBody>
      </p:sp>
    </p:spTree>
  </p:cSld>
  <p:clrMapOvr>
    <a:masterClrMapping/>
  </p:clrMapOvr>
  <p:transition xmlns:p14="http://schemas.microsoft.com/office/powerpoint/2010/main" p14:dur="380">
    <p:fade/>
  </p:transition>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SERVICE MECHANICS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SQS buffering, ordering and dead-letter handling: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Standard queues scale broadly with at-least-once delivery and best-effort ordering; consumers must tolerate duplicate and reordered messages.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FIFO queues preserve order within a message group and deduplicate within the supported window, but throughput and group design still matter.</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Visibility timeout hides a received message while processing; it must exceed normal work or be extended through a heartbeat.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Long polling reduces empty receives, while redrive policies move repeatedly failing messages to a DLQ for inspection and controlled replay.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478</a:t>
            </a:r>
          </a:p>
        </p:txBody>
      </p:sp>
    </p:spTree>
  </p:cSld>
  <p:clrMapOvr>
    <a:masterClrMapping/>
  </p:clrMapOvr>
  <p:transition xmlns:p14="http://schemas.microsoft.com/office/powerpoint/2010/main" p14:dur="380">
    <p:fade/>
  </p:transition>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CONTROL AND DATA FLOW</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SQS buffering, ordering and dead-letter handling: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Send durable message</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Long-poll receive</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Acquire visibility lease</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Process idempotently</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Delete or redrive</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EC711E"/>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479</a:t>
            </a:r>
          </a:p>
        </p:txBody>
      </p:sp>
    </p:spTree>
  </p:cSld>
  <p:clrMapOvr>
    <a:masterClrMapping/>
  </p:clrMapOvr>
  <p:transition xmlns:p14="http://schemas.microsoft.com/office/powerpoint/2010/main" p14:dur="380">
    <p:fade/>
  </p:transition>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SQS buffering, ordering and dead-letter handling: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QUEUE TYPE</a:t>
            </a:r>
          </a:p>
          <a:p>
            <a:pPr algn="l">
              <a:spcAft>
                <a:spcPts val="300"/>
              </a:spcAft>
            </a:pPr>
            <a:r>
              <a:rPr sz="1050" b="0">
                <a:solidFill>
                  <a:srgbClr val="5B6372"/>
                </a:solidFill>
                <a:latin typeface="Arial"/>
              </a:rPr>
              <a:t>Choose FIFO only when ordered groups/deduplication are real requirements; Standard remains the default for independent work.</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BATCHING</a:t>
            </a:r>
          </a:p>
          <a:p>
            <a:pPr algn="l">
              <a:spcAft>
                <a:spcPts val="300"/>
              </a:spcAft>
            </a:pPr>
            <a:r>
              <a:rPr sz="1050" b="0">
                <a:solidFill>
                  <a:srgbClr val="5B6372"/>
                </a:solidFill>
                <a:latin typeface="Arial"/>
              </a:rPr>
              <a:t>Batch send/receive/delete for efficiency, but handle per-entry success and failure independently.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DLQ</a:t>
            </a:r>
          </a:p>
          <a:p>
            <a:pPr algn="l">
              <a:spcAft>
                <a:spcPts val="300"/>
              </a:spcAft>
            </a:pPr>
            <a:r>
              <a:rPr sz="1050" b="0">
                <a:solidFill>
                  <a:srgbClr val="5B6372"/>
                </a:solidFill>
                <a:latin typeface="Arial"/>
              </a:rPr>
              <a:t>Set max receives from real retry behavior and monitor age/depth; a DLQ is an investigation queue, not a disposal bin.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SECURITY</a:t>
            </a:r>
          </a:p>
          <a:p>
            <a:pPr algn="l">
              <a:spcAft>
                <a:spcPts val="300"/>
              </a:spcAft>
            </a:pPr>
            <a:r>
              <a:rPr sz="1050" b="0">
                <a:solidFill>
                  <a:srgbClr val="5B6372"/>
                </a:solidFill>
                <a:latin typeface="Arial"/>
              </a:rPr>
              <a:t>Use queue policies for producer access, KMS where required and VPC endpoints for controlled private API paths.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480</a:t>
            </a:r>
          </a:p>
        </p:txBody>
      </p:sp>
    </p:spTree>
  </p:cSld>
  <p:clrMapOvr>
    <a:masterClrMapping/>
  </p:clrMapOvr>
  <p:transition xmlns:p14="http://schemas.microsoft.com/office/powerpoint/2010/main" p14:dur="380">
    <p:fade/>
  </p:transition>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1900" b="1">
                <a:solidFill>
                  <a:srgbClr val="161B26"/>
                </a:solidFill>
                <a:latin typeface="Arial"/>
              </a:rPr>
              <a:t>SQS buffering, ordering and dead-letter handling: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worker occasionally exceeds the visibility timeout, causing two instances to charge the same order.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Make the charge operation idempotent, extend visibility while healthy, cap retry attempts and isolate permanent failures in a DLQ.</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Increasing visibility indefinitely hides stuck work; relying only on FIFO deduplication does not protect downstream side effects forever.</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Message ID/group, receive count, processing heartbeat, idempotency record, deletion result, DLQ age and redrive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481</a:t>
            </a:r>
          </a:p>
        </p:txBody>
      </p:sp>
    </p:spTree>
  </p:cSld>
  <p:clrMapOvr>
    <a:masterClrMapping/>
  </p:clrMapOvr>
  <p:transition xmlns:p14="http://schemas.microsoft.com/office/powerpoint/2010/main" p14:dur="380">
    <p:fade/>
  </p:transition>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Developer deep dive: SNS, EventBridge and API event contracts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Select fan-out, event routing or synchronous API integration from contract, delivery and consumer-isolation requirements.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SNS · EventBridge · API Gateway · Lambda</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Publish a versioned domain event to EventBridge, filter to per-consumer queues and let each consumer own retry/DLQ behavior.</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Direct synchronous calls couple availability and release schedules; a broad event pattern can invoke the wrong automation.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482</a:t>
            </a:r>
          </a:p>
        </p:txBody>
      </p:sp>
    </p:spTree>
  </p:cSld>
  <p:clrMapOvr>
    <a:masterClrMapping/>
  </p:clrMapOvr>
  <p:transition xmlns:p14="http://schemas.microsoft.com/office/powerpoint/2010/main" p14:dur="380">
    <p:fade/>
  </p:transition>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SNS, EventBridge and API event contracts: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SNS publishes one message to multiple subscriptions and supports filtering, retries and protocol-specific delivery behavior.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EventBridge routes structured events by content across buses, supports schemas, archives/replay and SaaS or cross-account integration patterns.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API Gateway exposes REST, HTTP or WebSocket APIs with stages, integrations, authorization, throttling, logging and deployment controls.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Lambda proxy integrations pass a defined event envelope; non-proxy mappings can transform and validate requests before reaching the backend.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483</a:t>
            </a:r>
          </a:p>
        </p:txBody>
      </p:sp>
    </p:spTree>
  </p:cSld>
  <p:clrMapOvr>
    <a:masterClrMapping/>
  </p:clrMapOvr>
  <p:transition xmlns:p14="http://schemas.microsoft.com/office/powerpoint/2010/main" p14:dur="380">
    <p:fade/>
  </p:transition>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CONTROL AND DATA FLOW</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SNS, EventBridge and API event contracts: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Define versioned contract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Authenticate producer</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Filter or validate</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Deliver to isolated consumer</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Handle failure and observe</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EC711E"/>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484</a:t>
            </a:r>
          </a:p>
        </p:txBody>
      </p:sp>
    </p:spTree>
  </p:cSld>
  <p:clrMapOvr>
    <a:masterClrMapping/>
  </p:clrMapOvr>
  <p:transition xmlns:p14="http://schemas.microsoft.com/office/powerpoint/2010/main" p14:dur="380">
    <p:fade/>
  </p:transition>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SNS, EventBridge and API event contracts: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SNS</a:t>
            </a:r>
          </a:p>
          <a:p>
            <a:pPr algn="l">
              <a:spcAft>
                <a:spcPts val="300"/>
              </a:spcAft>
            </a:pPr>
            <a:r>
              <a:rPr sz="1050" b="0">
                <a:solidFill>
                  <a:srgbClr val="5B6372"/>
                </a:solidFill>
                <a:latin typeface="Arial"/>
              </a:rPr>
              <a:t>Choose for push-based fan-out where subscribers receive the same publication through supported protocols.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EVENTBRIDGE</a:t>
            </a:r>
          </a:p>
          <a:p>
            <a:pPr algn="l">
              <a:spcAft>
                <a:spcPts val="300"/>
              </a:spcAft>
            </a:pPr>
            <a:r>
              <a:rPr sz="1050" b="0">
                <a:solidFill>
                  <a:srgbClr val="5B6372"/>
                </a:solidFill>
                <a:latin typeface="Arial"/>
              </a:rPr>
              <a:t>Choose for content-based routing, account decoupling, event discovery and replayable operational events.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API GATEWAY</a:t>
            </a:r>
          </a:p>
          <a:p>
            <a:pPr algn="l">
              <a:spcAft>
                <a:spcPts val="300"/>
              </a:spcAft>
            </a:pPr>
            <a:r>
              <a:rPr sz="1050" b="0">
                <a:solidFill>
                  <a:srgbClr val="5B6372"/>
                </a:solidFill>
                <a:latin typeface="Arial"/>
              </a:rPr>
              <a:t>Choose for managed synchronous HTTP/WebSocket entry with authorization, quotas and request/response controls.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BUFFER</a:t>
            </a:r>
          </a:p>
          <a:p>
            <a:pPr algn="l">
              <a:spcAft>
                <a:spcPts val="300"/>
              </a:spcAft>
            </a:pPr>
            <a:r>
              <a:rPr sz="1050" b="0">
                <a:solidFill>
                  <a:srgbClr val="5B6372"/>
                </a:solidFill>
                <a:latin typeface="Arial"/>
              </a:rPr>
              <a:t>Place SQS between routing and slow consumers when back-pressure and independent retry are required.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485</a:t>
            </a:r>
          </a:p>
        </p:txBody>
      </p:sp>
    </p:spTree>
  </p:cSld>
  <p:clrMapOvr>
    <a:masterClrMapping/>
  </p:clrMapOvr>
  <p:transition xmlns:p14="http://schemas.microsoft.com/office/powerpoint/2010/main" p14:dur="380">
    <p:fade/>
  </p:transition>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SNS, EventBridge and API event contracts: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An order event must reach billing, analytics and notification teams without the producer knowing their endpoints or failure state.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Publish a versioned domain event to EventBridge, filter to per-consumer queues and let each consumer own retry/DLQ behavior.</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Direct synchronous calls couple availability and release schedules; a broad event pattern can invoke the wrong automation.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Schema/version, producer identity, matched rule, delivery attempts, consumer queue depth, DLQ record and correlation ID.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486</a:t>
            </a:r>
          </a:p>
        </p:txBody>
      </p:sp>
    </p:spTree>
  </p:cSld>
  <p:clrMapOvr>
    <a:masterClrMapping/>
  </p:clrMapOvr>
  <p:transition xmlns:p14="http://schemas.microsoft.com/office/powerpoint/2010/main" p14:dur="380">
    <p:fade/>
  </p:transition>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INCIDENT AND EVENT RESPONSE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Event-driven operations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Route operational events to the right automated or human response with explicit contracts.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Use precise event patterns, schemas, input transformation, retries, DLQs and archive/replay where required.</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An overly broad rule can invoke expensive or destructive automation for unrelated events.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Event pattern, matched sample, target role, retry policy, DLQ and replay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487</a:t>
            </a:r>
          </a:p>
        </p:txBody>
      </p:sp>
    </p:spTree>
  </p:cSld>
  <p:clrMapOvr>
    <a:masterClrMapping/>
  </p:clrMapOvr>
  <p:transition xmlns:p14="http://schemas.microsoft.com/office/powerpoint/2010/main" p14:dur="380">
    <p:fade/>
  </p:transition>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Event-driven operations: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Source event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Match pattern</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Transform</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Invoke target</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Retry or quarantine</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EC711E"/>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488</a:t>
            </a:r>
          </a:p>
        </p:txBody>
      </p:sp>
    </p:spTree>
  </p:cSld>
  <p:clrMapOvr>
    <a:masterClrMapping/>
  </p:clrMapOvr>
  <p:transition xmlns:p14="http://schemas.microsoft.com/office/powerpoint/2010/main" p14:dur="380">
    <p:fade/>
  </p:transition>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Event-driven operations: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EC711E"/>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Only failed production deployments should create an incident and trigger rollback diagnostics.</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Use precise event patterns, schemas, input transformation, retries, DLQs and archive/replay where required.</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EventBridge · Pipes · Scheduler · Lambda</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An overly broad rule can invoke expensive or destructive automation for unrelated events.</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Event pattern, matched sample, target role, retry policy, DLQ and replay record.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489</a:t>
            </a:r>
          </a:p>
        </p:txBody>
      </p:sp>
    </p:spTree>
  </p:cSld>
  <p:clrMapOvr>
    <a:masterClrMapping/>
  </p:clrMapOvr>
  <p:transition xmlns:p14="http://schemas.microsoft.com/office/powerpoint/2010/main" p14:dur="380">
    <p:fade/>
  </p:transition>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Event-driven operations: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An overly broad rule can invoke expensive or destructive automation for unrelated events.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Source event through Retry or quarantine;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Event pattern, matched sample, target role, retry policy, DLQ and replay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490</a:t>
            </a:r>
          </a:p>
        </p:txBody>
      </p:sp>
    </p:spTree>
  </p:cSld>
  <p:clrMapOvr>
    <a:masterClrMapping/>
  </p:clrMapOvr>
  <p:transition xmlns:p14="http://schemas.microsoft.com/office/powerpoint/2010/main" p14:dur="380">
    <p:fade/>
  </p:transition>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Event-driven operations: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Only failed production deployments should create an incident and trigger rollback diagnostics.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Use precise event patterns, schemas, input transformation, retries, DLQs and archive/replay where required.</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An overly broad rule can invoke expensive or destructive automation for unrelated events.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Event pattern, matched sample, target role, retry policy, DLQ and replay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491</a:t>
            </a:r>
          </a:p>
        </p:txBody>
      </p:sp>
    </p:spTree>
  </p:cSld>
  <p:clrMapOvr>
    <a:masterClrMapping/>
  </p:clrMapOvr>
  <p:transition xmlns:p14="http://schemas.microsoft.com/office/powerpoint/2010/main" p14:dur="380">
    <p:fade/>
  </p:transition>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INCIDENT AND EVENT RESPONSE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Health and audit event correlation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Distinguish provider events, configuration changes and workload symptoms during an incident.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Correlate Health events with API history and resource telemetry using account, Region, resource and time.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Treating every symptom as an application defect delays response to service or control-plane events.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Health event ARN, CloudTrail event ID, affected entities, timeline and correlated alarm.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492</a:t>
            </a:r>
          </a:p>
        </p:txBody>
      </p:sp>
    </p:spTree>
  </p:cSld>
  <p:clrMapOvr>
    <a:masterClrMapping/>
  </p:clrMapOvr>
  <p:transition xmlns:p14="http://schemas.microsoft.com/office/powerpoint/2010/main" p14:dur="380">
    <p:fade/>
  </p:transition>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Health and audit event correlation: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Detect symptom</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Check Health</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Query API history</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Correlate resource</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Choose response</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EC711E"/>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493</a:t>
            </a:r>
          </a:p>
        </p:txBody>
      </p:sp>
    </p:spTree>
  </p:cSld>
  <p:clrMapOvr>
    <a:masterClrMapping/>
  </p:clrMapOvr>
  <p:transition xmlns:p14="http://schemas.microsoft.com/office/powerpoint/2010/main" p14:dur="380">
    <p:fade/>
  </p:transition>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Health and audit event correlation: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EC711E"/>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Instances fail in one Region after a maintenance event while a deployment occurred minutes earlier.</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Correlate Health events with API history and resource telemetry using account, Region, resource and time.</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AWS Health · CloudTrail · EventBridge</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Treating every symptom as an application defect delays response to service or control-plane events.</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Health event ARN, CloudTrail event ID, affected entities, timeline and correlated alarm.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494</a:t>
            </a:r>
          </a:p>
        </p:txBody>
      </p:sp>
    </p:spTree>
  </p:cSld>
  <p:clrMapOvr>
    <a:masterClrMapping/>
  </p:clrMapOvr>
  <p:transition xmlns:p14="http://schemas.microsoft.com/office/powerpoint/2010/main" p14:dur="380">
    <p:fade/>
  </p:transition>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Health and audit event correlation: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Treating every symptom as an application defect delays response to service or control-plane events.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Detect symptom through Choose response;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Health event ARN, CloudTrail event ID, affected entities, timeline and correlated alarm.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495</a:t>
            </a:r>
          </a:p>
        </p:txBody>
      </p:sp>
    </p:spTree>
  </p:cSld>
  <p:clrMapOvr>
    <a:masterClrMapping/>
  </p:clrMapOvr>
  <p:transition xmlns:p14="http://schemas.microsoft.com/office/powerpoint/2010/main" p14:dur="380">
    <p:fade/>
  </p:transition>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Health and audit event correlation: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Instances fail in one Region after a maintenance event while a deployment occurred minutes earlier.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Correlate Health events with API history and resource telemetry using account, Region, resource and time.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Treating every symptom as an application defect delays response to service or control-plane events.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Health event ARN, CloudTrail event ID, affected entities, timeline and correlated alarm.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496</a:t>
            </a:r>
          </a:p>
        </p:txBody>
      </p:sp>
    </p:spTree>
  </p:cSld>
  <p:clrMapOvr>
    <a:masterClrMapping/>
  </p:clrMapOvr>
  <p:transition xmlns:p14="http://schemas.microsoft.com/office/powerpoint/2010/main" p14:dur="380">
    <p:fade/>
  </p:transition>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INCIDENT AND EVENT RESPONSE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Queues, dead-letter queues and redrive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Contain poison messages, preserve evidence and restore flow without replaying successful work.</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Set max receives from retry cost, alarm on age and DLQ depth, inspect safely and redrive in controlled batches.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Redriving an uncorrected poison message recreates the incident.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Message ID, receive count, failure reason, DLQ age, fix version and redrive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497</a:t>
            </a:r>
          </a:p>
        </p:txBody>
      </p:sp>
    </p:spTree>
  </p:cSld>
  <p:clrMapOvr>
    <a:masterClrMapping/>
  </p:clrMapOvr>
  <p:transition xmlns:p14="http://schemas.microsoft.com/office/powerpoint/2010/main" p14:dur="380">
    <p:fade/>
  </p:transition>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Queues, dead-letter queues and redrive: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Consume</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Fail</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Retry</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Move to DLQ</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Diagnose</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Redrive after fix</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EC711E"/>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498</a:t>
            </a:r>
          </a:p>
        </p:txBody>
      </p:sp>
    </p:spTree>
  </p:cSld>
  <p:clrMapOvr>
    <a:masterClrMapping/>
  </p:clrMapOvr>
  <p:transition xmlns:p14="http://schemas.microsoft.com/office/powerpoint/2010/main" p14:dur="380">
    <p:fade/>
  </p:transition>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Queues, dead-letter queues and redrive: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EC711E"/>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malformed event blocks a consumer while valid orders accumulate behind it.</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Set max receives from retry cost, alarm on age and DLQ depth, inspect safely and redrive in controlled batches.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SQS · SNS · Lambda</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Redriving an uncorrected poison message recreates the incident.</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Message ID, receive count, failure reason, DLQ age, fix version and redrive result.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499</a:t>
            </a:r>
          </a:p>
        </p:txBody>
      </p:sp>
    </p:spTree>
  </p:cSld>
  <p:clrMapOvr>
    <a:masterClrMapping/>
  </p:clrMapOvr>
  <p:transition xmlns:p14="http://schemas.microsoft.com/office/powerpoint/2010/main" p14:dur="380">
    <p:fade/>
  </p:transition>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Queues, dead-letter queues and redrive: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Redriving an uncorrected poison message recreates the incident.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Consume through Redrive after fix;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Message ID, receive count, failure reason, DLQ age, fix version and redrive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500</a:t>
            </a:r>
          </a:p>
        </p:txBody>
      </p:sp>
    </p:spTree>
  </p:cSld>
  <p:clrMapOvr>
    <a:masterClrMapping/>
  </p:clrMapOvr>
  <p:transition xmlns:p14="http://schemas.microsoft.com/office/powerpoint/2010/main" p14:dur="380">
    <p:fade/>
  </p:transition>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Queues, dead-letter queues and redrive: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malformed event blocks a consumer while valid orders accumulate behind it.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Set max receives from retry cost, alarm on age and DLQ depth, inspect safely and redrive in controlled batches.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Redriving an uncorrected poison message recreates the incident.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Message ID, receive count, failure reason, DLQ age, fix version and redrive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501</a:t>
            </a:r>
          </a:p>
        </p:txBody>
      </p:sp>
    </p:spTree>
  </p:cSld>
  <p:clrMapOvr>
    <a:masterClrMapping/>
  </p:clrMapOvr>
  <p:transition xmlns:p14="http://schemas.microsoft.com/office/powerpoint/2010/main" p14:dur="380">
    <p:fade/>
  </p:transition>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INCIDENT AND EVENT RESPONSE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Automated remediation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Correct known, bounded failure modes quickly while preserving safety and auditability.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Validate preconditions, scope targets, use approvals for high-risk steps, enforce rate controls and verify postconditions.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Automation that acts on uncertain diagnosis can deepen an outage.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Trigger evidence, automation execution, approvals, step output, rollback and postcondition check.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502</a:t>
            </a:r>
          </a:p>
        </p:txBody>
      </p:sp>
    </p:spTree>
  </p:cSld>
  <p:clrMapOvr>
    <a:masterClrMapping/>
  </p:clrMapOvr>
  <p:transition xmlns:p14="http://schemas.microsoft.com/office/powerpoint/2010/main" p14:dur="380">
    <p:fade/>
  </p:transition>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Automated remediation: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Detect known condition</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Validate</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Approve if required</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Remediate canary</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Expand</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Verify</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EC711E"/>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503</a:t>
            </a:r>
          </a:p>
        </p:txBody>
      </p:sp>
    </p:spTree>
  </p:cSld>
  <p:clrMapOvr>
    <a:masterClrMapping/>
  </p:clrMapOvr>
  <p:transition xmlns:p14="http://schemas.microsoft.com/office/powerpoint/2010/main" p14:dur="380">
    <p:fade/>
  </p:transition>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Automated remediation: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EC711E"/>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public security group rule must be removed automatically without touching approved exceptions.</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Validate preconditions, scope targets, use approvals for high-risk steps, enforce rate controls and verify postconditions.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Systems Manager Automation · Config · Lambda</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Automation that acts on uncertain diagnosis can deepen an outage.</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Trigger evidence, automation execution, approvals, step output, rollback and postcondition check.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504</a:t>
            </a:r>
          </a:p>
        </p:txBody>
      </p:sp>
    </p:spTree>
  </p:cSld>
  <p:clrMapOvr>
    <a:masterClrMapping/>
  </p:clrMapOvr>
  <p:transition xmlns:p14="http://schemas.microsoft.com/office/powerpoint/2010/main" p14:dur="380">
    <p:fade/>
  </p:transition>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Automated remediation: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Automation that acts on uncertain diagnosis can deepen an outage.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Detect known condition through Verify;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Trigger evidence, automation execution, approvals, step output, rollback and postcondition check.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505</a:t>
            </a:r>
          </a:p>
        </p:txBody>
      </p:sp>
    </p:spTree>
  </p:cSld>
  <p:clrMapOvr>
    <a:masterClrMapping/>
  </p:clrMapOvr>
  <p:transition xmlns:p14="http://schemas.microsoft.com/office/powerpoint/2010/main" p14:dur="380">
    <p:fade/>
  </p:transition>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Automated remediation: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public security group rule must be removed automatically without touching approved exceptions.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Validate preconditions, scope targets, use approvals for high-risk steps, enforce rate controls and verify postconditions.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Automation that acts on uncertain diagnosis can deepen an outage.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Trigger evidence, automation execution, approvals, step output, rollback and postcondition check.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506</a:t>
            </a:r>
          </a:p>
        </p:txBody>
      </p:sp>
    </p:spTree>
  </p:cSld>
  <p:clrMapOvr>
    <a:masterClrMapping/>
  </p:clrMapOvr>
  <p:transition xmlns:p14="http://schemas.microsoft.com/office/powerpoint/2010/main" p14:dur="380">
    <p:fade/>
  </p:transition>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INCIDENT AND EVENT RESPONSE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Incident coordination and runbooks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Create a shared timeline, ownership model and executable response path during incidents.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Define severity, response plans, contacts, escalation, runbooks and post-incident actions before failure.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technically correct fix can still fail when ownership and communication are unclear.</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Incident record, responder engagement, timeline, runbook execution, decision log and action items.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507</a:t>
            </a:r>
          </a:p>
        </p:txBody>
      </p:sp>
    </p:spTree>
  </p:cSld>
  <p:clrMapOvr>
    <a:masterClrMapping/>
  </p:clrMapOvr>
  <p:transition xmlns:p14="http://schemas.microsoft.com/office/powerpoint/2010/main" p14:dur="380">
    <p:fade/>
  </p:transition>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Incident coordination and runbooks: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Declare</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Engage owners</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Stabilize</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Diagnose</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Recover</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Learn</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EC711E"/>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508</a:t>
            </a:r>
          </a:p>
        </p:txBody>
      </p:sp>
    </p:spTree>
  </p:cSld>
  <p:clrMapOvr>
    <a:masterClrMapping/>
  </p:clrMapOvr>
  <p:transition xmlns:p14="http://schemas.microsoft.com/office/powerpoint/2010/main" p14:dur="380">
    <p:fade/>
  </p:transition>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Incident coordination and runbooks: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EC711E"/>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critical API outage requires application, platform, security and business responders to coordinate.</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Define severity, response plans, contacts, escalation, runbooks and post-incident actions before failure.</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Incident Manager · OpsCenter · Chatbot</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 technically correct fix can still fail when ownership and communication are unclear.</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Incident record, responder engagement, timeline, runbook execution, decision log and action items.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509</a:t>
            </a:r>
          </a:p>
        </p:txBody>
      </p:sp>
    </p:spTree>
  </p:cSld>
  <p:clrMapOvr>
    <a:masterClrMapping/>
  </p:clrMapOvr>
  <p:transition xmlns:p14="http://schemas.microsoft.com/office/powerpoint/2010/main" p14:dur="380">
    <p:fade/>
  </p:transition>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Incident coordination and runbooks: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 technically correct fix can still fail when ownership and communication are unclear.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Declare through Learn;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Incident record, responder engagement, timeline, runbook execution, decision log and action items.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510</a:t>
            </a:r>
          </a:p>
        </p:txBody>
      </p:sp>
    </p:spTree>
  </p:cSld>
  <p:clrMapOvr>
    <a:masterClrMapping/>
  </p:clrMapOvr>
  <p:transition xmlns:p14="http://schemas.microsoft.com/office/powerpoint/2010/main" p14:dur="380">
    <p:fade/>
  </p:transition>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Incident coordination and runbooks: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critical API outage requires application, platform, security and business responders to coordinate.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Define severity, response plans, contacts, escalation, runbooks and post-incident actions before failure.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 technically correct fix can still fail when ownership and communication are unclear.</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Incident record, responder engagement, timeline, runbook execution, decision log and action items.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511</a:t>
            </a:r>
          </a:p>
        </p:txBody>
      </p:sp>
    </p:spTree>
  </p:cSld>
  <p:clrMapOvr>
    <a:masterClrMapping/>
  </p:clrMapOvr>
  <p:transition xmlns:p14="http://schemas.microsoft.com/office/powerpoint/2010/main" p14:dur="380">
    <p:fade/>
  </p:transition>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INCIDENT AND EVENT RESPONSE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Structured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Reduce mean time to recovery through hypothesis-driven diagnosis and controlled changes.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Start from user impact, check recent changes, narrow by dependency, compare healthy baselines and change one variable at a time.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Random changes destroy evidence and create new failure modes.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Impact statement, timeline, hypotheses, evidence, change record, recovery metric and root cause.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512</a:t>
            </a:r>
          </a:p>
        </p:txBody>
      </p:sp>
    </p:spTree>
  </p:cSld>
  <p:clrMapOvr>
    <a:masterClrMapping/>
  </p:clrMapOvr>
  <p:transition xmlns:p14="http://schemas.microsoft.com/office/powerpoint/2010/main" p14:dur="380">
    <p:fade/>
  </p:transition>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Structured troubleshooting: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Define impact</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Build timeline</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Rank hypotheses</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Test safely</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Recover</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Validate and document</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EC711E"/>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513</a:t>
            </a:r>
          </a:p>
        </p:txBody>
      </p:sp>
    </p:spTree>
  </p:cSld>
  <p:clrMapOvr>
    <a:masterClrMapping/>
  </p:clrMapOvr>
  <p:transition xmlns:p14="http://schemas.microsoft.com/office/powerpoint/2010/main" p14:dur="380">
    <p:fade/>
  </p:transition>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Structured troubleshooting: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EC711E"/>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Latency rises after a deployment, but only for requests using one downstream dependency.</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Start from user impact, check recent changes, narrow by dependency, compare healthy baselines and change one variable at a time.</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CloudWatch · X-Ray · CloudTrail · Systems Manager</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Random changes destroy evidence and create new failure modes.</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Impact statement, timeline, hypotheses, evidence, change record, recovery metric and root cause.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514</a:t>
            </a:r>
          </a:p>
        </p:txBody>
      </p:sp>
    </p:spTree>
  </p:cSld>
  <p:clrMapOvr>
    <a:masterClrMapping/>
  </p:clrMapOvr>
  <p:transition xmlns:p14="http://schemas.microsoft.com/office/powerpoint/2010/main" p14:dur="380">
    <p:fade/>
  </p:transition>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Structured troubleshooting: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Random changes destroy evidence and create new failure modes.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Define impact through Validate and document;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Impact statement, timeline, hypotheses, evidence, change record, recovery metric and root cause.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515</a:t>
            </a:r>
          </a:p>
        </p:txBody>
      </p:sp>
    </p:spTree>
  </p:cSld>
  <p:clrMapOvr>
    <a:masterClrMapping/>
  </p:clrMapOvr>
  <p:transition xmlns:p14="http://schemas.microsoft.com/office/powerpoint/2010/main" p14:dur="380">
    <p:fade/>
  </p:transition>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Structured troubleshooting: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Latency rises after a deployment, but only for requests using one downstream dependency.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Start from user impact, check recent changes, narrow by dependency, compare healthy baselines and change one variable at a time.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Random changes destroy evidence and create new failure modes.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Impact statement, timeline, hypotheses, evidence, change record, recovery metric and root cause.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516</a:t>
            </a:r>
          </a:p>
        </p:txBody>
      </p:sp>
    </p:spTree>
  </p:cSld>
  <p:clrMapOvr>
    <a:masterClrMapping/>
  </p:clrMapOvr>
  <p:transition xmlns:p14="http://schemas.microsoft.com/office/powerpoint/2010/main" p14:dur="380">
    <p:fade/>
  </p:transition>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Event-driven operations: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Source event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Use precise event patterns, schemas, input transformation, retries, DLQs and archive/replay where required.</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EventBridge · Pipes · Scheduler · Lambda</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Event pattern, matched sample, target role, retry policy, DLQ and replay record.</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EC711E"/>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517</a:t>
            </a:r>
          </a:p>
        </p:txBody>
      </p:sp>
    </p:spTree>
  </p:cSld>
  <p:clrMapOvr>
    <a:masterClrMapping/>
  </p:clrMapOvr>
  <p:transition xmlns:p14="http://schemas.microsoft.com/office/powerpoint/2010/main" p14:dur="380">
    <p:fade/>
  </p:transition>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Health and audit event correlation: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Detect symptom</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Correlate Health events with API history and resource telemetry using account, Region, resource and time.</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AWS Health · CloudTrail · EventBridge</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Health event ARN, CloudTrail event ID, affected entities, timeline and correlated alarm.</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EC711E"/>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518</a:t>
            </a:r>
          </a:p>
        </p:txBody>
      </p:sp>
    </p:spTree>
  </p:cSld>
  <p:clrMapOvr>
    <a:masterClrMapping/>
  </p:clrMapOvr>
  <p:transition xmlns:p14="http://schemas.microsoft.com/office/powerpoint/2010/main" p14:dur="380">
    <p:fade/>
  </p:transition>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Queues, dead-letter queues and redrive: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Consume</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Set max receives from retry cost, alarm on age and DLQ depth, inspect safely and redrive in controlled batches.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SQS · SNS · Lambda</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Message ID, receive count, failure reason, DLQ age, fix version and redrive result.</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EC711E"/>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519</a:t>
            </a:r>
          </a:p>
        </p:txBody>
      </p:sp>
    </p:spTree>
  </p:cSld>
  <p:clrMapOvr>
    <a:masterClrMapping/>
  </p:clrMapOvr>
  <p:transition xmlns:p14="http://schemas.microsoft.com/office/powerpoint/2010/main" p14:dur="380">
    <p:fade/>
  </p:transition>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Automated remediation: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Detect known condition</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Validate preconditions, scope targets, use approvals for high-risk steps, enforce rate controls and verify postconditions.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Systems Manager Automation · Config · Lambda</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Trigger evidence, automation execution, approvals, step output, rollback and postcondition check.</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EC711E"/>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520</a:t>
            </a:r>
          </a:p>
        </p:txBody>
      </p:sp>
    </p:spTree>
  </p:cSld>
  <p:clrMapOvr>
    <a:masterClrMapping/>
  </p:clrMapOvr>
  <p:transition xmlns:p14="http://schemas.microsoft.com/office/powerpoint/2010/main" p14:dur="380">
    <p:fade/>
  </p:transition>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Incident coordination and runbooks: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Declare</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Define severity, response plans, contacts, escalation, runbooks and post-incident actions before failure.</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Incident Manager · OpsCenter · Chatbot</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Incident record, responder engagement, timeline, runbook execution, decision log and action items.</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EC711E"/>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521</a:t>
            </a:r>
          </a:p>
        </p:txBody>
      </p:sp>
    </p:spTree>
  </p:cSld>
  <p:clrMapOvr>
    <a:masterClrMapping/>
  </p:clrMapOvr>
  <p:transition xmlns:p14="http://schemas.microsoft.com/office/powerpoint/2010/main" p14:dur="380">
    <p:fade/>
  </p:transition>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5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Structured troubleshooting: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Define impact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Start from user impact, check recent changes, narrow by dependency, compare healthy baselines and change one variable at a time.</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CloudWatch · X-Ray · CloudTrail · Systems Manager</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Impact statement, timeline, hypotheses, evidence, change record, recovery metric and root cause.</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EC711E"/>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522</a:t>
            </a:r>
          </a:p>
        </p:txBody>
      </p:sp>
    </p:spTree>
  </p:cSld>
  <p:clrMapOvr>
    <a:masterClrMapping/>
  </p:clrMapOvr>
  <p:transition xmlns:p14="http://schemas.microsoft.com/office/powerpoint/2010/main" p14:dur="380">
    <p:fade/>
  </p:transition>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LAB 19 · DAY 4 · LO5 · HANDS-ON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Route Incidents with Amazon EventBridge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19</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4 · LO5 · K7, A5</a:t>
            </a:r>
          </a:p>
        </p:txBody>
      </p:sp>
      <p:sp>
        <p:nvSpPr>
          <p:cNvPr id="10" name="TextBox 9"/>
          <p:cNvSpPr txBox="1"/>
          <p:nvPr/>
        </p:nvSpPr>
        <p:spPr>
          <a:xfrm>
            <a:off x="777240" y="2286000"/>
            <a:ext cx="5486400" cy="992505"/>
          </a:xfrm>
          <a:prstGeom prst="rect">
            <a:avLst/>
          </a:prstGeom>
          <a:noFill/>
        </p:spPr>
        <p:txBody>
          <a:bodyPr wrap="square" anchor="t">
            <a:spAutoFit/>
          </a:bodyPr>
          <a:lstStyle/>
          <a:p>
            <a:pPr algn="l">
              <a:spcAft>
                <a:spcPts val="400"/>
              </a:spcAft>
            </a:pPr>
            <a:r>
              <a:rPr sz="1350" b="0">
                <a:solidFill>
                  <a:srgbClr val="161B26"/>
                </a:solidFill>
                <a:latin typeface="Arial"/>
              </a:rPr>
              <a:t>Your team wants a single 'routing brain' for operational incidents.</a:t>
            </a:r>
          </a:p>
        </p:txBody>
      </p:sp>
      <p:sp>
        <p:nvSpPr>
          <p:cNvPr id="11" name="Rectangle 10"/>
          <p:cNvSpPr/>
          <p:nvPr/>
        </p:nvSpPr>
        <p:spPr>
          <a:xfrm>
            <a:off x="777240" y="3388233"/>
            <a:ext cx="5486400" cy="15510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88233"/>
            <a:ext cx="91440" cy="1551051"/>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16249"/>
            <a:ext cx="5120640" cy="274320"/>
          </a:xfrm>
          <a:prstGeom prst="rect">
            <a:avLst/>
          </a:prstGeom>
          <a:noFill/>
        </p:spPr>
        <p:txBody>
          <a:bodyPr wrap="square" anchor="t">
            <a:spAutoFit/>
          </a:bodyPr>
          <a:lstStyle/>
          <a:p>
            <a:pPr algn="l">
              <a:spcAft>
                <a:spcPts val="400"/>
              </a:spcAft>
            </a:pPr>
            <a:r>
              <a:rPr sz="1200" b="1">
                <a:solidFill>
                  <a:srgbClr val="EC711E"/>
                </a:solidFill>
                <a:latin typeface="Arial"/>
              </a:rPr>
              <a:t>YOU'LL BUILD</a:t>
            </a:r>
          </a:p>
        </p:txBody>
      </p:sp>
      <p:sp>
        <p:nvSpPr>
          <p:cNvPr id="14" name="TextBox 13"/>
          <p:cNvSpPr txBox="1"/>
          <p:nvPr/>
        </p:nvSpPr>
        <p:spPr>
          <a:xfrm>
            <a:off x="960120" y="3790569"/>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An enabled EventBridge rule on the default bus whose validated event pattern matches CloudWatch Alarm state changes, EC2 state-change notifications.</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Amazon EventBridge, Amazon SNS, Amazon CloudWatch, CloudWatch Logs, IAM</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Build an EventBridge rule that matches incident signals and fans them out to notify and log targets (LO5, K7, A5).</a:t>
            </a:r>
          </a:p>
          <a:p>
            <a:pPr algn="l">
              <a:spcAft>
                <a:spcPts val="300"/>
              </a:spcAft>
            </a:pPr>
            <a:r>
              <a:rPr sz="1050" b="0">
                <a:solidFill>
                  <a:srgbClr val="5B6372"/>
                </a:solidFill>
                <a:latin typeface="Arial"/>
              </a:rPr>
              <a:t>Evidence:  The three results showing true / true / false for the alarm, EC2 and unrelated samples.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9-eventbridge-incident-routing.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523</a:t>
            </a:r>
          </a:p>
        </p:txBody>
      </p:sp>
    </p:spTree>
  </p:cSld>
  <p:clrMapOvr>
    <a:masterClrMapping/>
  </p:clrMapOvr>
  <p:transition xmlns:p14="http://schemas.microsoft.com/office/powerpoint/2010/main" p14:dur="380">
    <p:fade/>
  </p:transition>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LAB 20 · DAY 4 · LO5 · HANDS-ON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Automated Remediation with Lambda and Systems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20</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4 · LO5 · K7, A5</a:t>
            </a:r>
          </a:p>
        </p:txBody>
      </p:sp>
      <p:sp>
        <p:nvSpPr>
          <p:cNvPr id="10" name="TextBox 9"/>
          <p:cNvSpPr txBox="1"/>
          <p:nvPr/>
        </p:nvSpPr>
        <p:spPr>
          <a:xfrm>
            <a:off x="777240" y="2286000"/>
            <a:ext cx="5486400" cy="711835"/>
          </a:xfrm>
          <a:prstGeom prst="rect">
            <a:avLst/>
          </a:prstGeom>
          <a:noFill/>
        </p:spPr>
        <p:txBody>
          <a:bodyPr wrap="square" anchor="t">
            <a:spAutoFit/>
          </a:bodyPr>
          <a:lstStyle/>
          <a:p>
            <a:pPr algn="l">
              <a:spcAft>
                <a:spcPts val="400"/>
              </a:spcAft>
            </a:pPr>
            <a:r>
              <a:rPr sz="1350" b="0">
                <a:solidFill>
                  <a:srgbClr val="161B26"/>
                </a:solidFill>
                <a:latin typeface="Arial"/>
              </a:rPr>
              <a:t>Notification alone does not resolve an incident — the on-call engineer still has to act.</a:t>
            </a:r>
          </a:p>
        </p:txBody>
      </p:sp>
      <p:sp>
        <p:nvSpPr>
          <p:cNvPr id="11" name="Rectangle 10"/>
          <p:cNvSpPr/>
          <p:nvPr/>
        </p:nvSpPr>
        <p:spPr>
          <a:xfrm>
            <a:off x="777240" y="3107563"/>
            <a:ext cx="5486400" cy="16583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107563"/>
            <a:ext cx="91440" cy="165836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35579"/>
            <a:ext cx="5120640" cy="274320"/>
          </a:xfrm>
          <a:prstGeom prst="rect">
            <a:avLst/>
          </a:prstGeom>
          <a:noFill/>
        </p:spPr>
        <p:txBody>
          <a:bodyPr wrap="square" anchor="t">
            <a:spAutoFit/>
          </a:bodyPr>
          <a:lstStyle/>
          <a:p>
            <a:pPr algn="l">
              <a:spcAft>
                <a:spcPts val="400"/>
              </a:spcAft>
            </a:pPr>
            <a:r>
              <a:rPr sz="1200" b="1">
                <a:solidFill>
                  <a:srgbClr val="EC711E"/>
                </a:solidFill>
                <a:latin typeface="Arial"/>
              </a:rPr>
              <a:t>YOU'LL BUILD</a:t>
            </a:r>
          </a:p>
        </p:txBody>
      </p:sp>
      <p:sp>
        <p:nvSpPr>
          <p:cNvPr id="14" name="TextBox 13"/>
          <p:cNvSpPr txBox="1"/>
          <p:nvPr/>
        </p:nvSpPr>
        <p:spPr>
          <a:xfrm>
            <a:off x="960120" y="3509899"/>
            <a:ext cx="5166360" cy="726440"/>
          </a:xfrm>
          <a:prstGeom prst="rect">
            <a:avLst/>
          </a:prstGeom>
          <a:noFill/>
        </p:spPr>
        <p:txBody>
          <a:bodyPr wrap="square" anchor="t">
            <a:spAutoFit/>
          </a:bodyPr>
          <a:lstStyle/>
          <a:p>
            <a:pPr algn="l">
              <a:spcAft>
                <a:spcPts val="400"/>
              </a:spcAft>
            </a:pPr>
            <a:r>
              <a:rPr sz="1100" b="1">
                <a:solidFill>
                  <a:srgbClr val="161B26"/>
                </a:solidFill>
                <a:latin typeface="Arial"/>
              </a:rPr>
              <a:t>A CloudFormation-deployed auto-remediation stack (EventBridge rule + least-privilege Lambda + SSM Automation runbook + SNS notify) that, on an unhealthy-instance event, restarts the instance automatically.</a:t>
            </a:r>
          </a:p>
        </p:txBody>
      </p:sp>
      <p:sp>
        <p:nvSpPr>
          <p:cNvPr id="15" name="TextBox 14"/>
          <p:cNvSpPr txBox="1"/>
          <p:nvPr/>
        </p:nvSpPr>
        <p:spPr>
          <a:xfrm>
            <a:off x="960120" y="4291203"/>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Lambda, AWS Systems Manager Automation, Amazon EventBridge, AWS IAM, Amazon CloudWatch Logs + 2 more</a:t>
            </a:r>
          </a:p>
        </p:txBody>
      </p:sp>
      <p:sp>
        <p:nvSpPr>
          <p:cNvPr id="16" name="Rectangle 15"/>
          <p:cNvSpPr/>
          <p:nvPr/>
        </p:nvSpPr>
        <p:spPr>
          <a:xfrm>
            <a:off x="777240" y="4875657"/>
            <a:ext cx="5486400" cy="14519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75657"/>
            <a:ext cx="91440" cy="145199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003673"/>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277993"/>
            <a:ext cx="5166360" cy="866775"/>
          </a:xfrm>
          <a:prstGeom prst="rect">
            <a:avLst/>
          </a:prstGeom>
          <a:noFill/>
        </p:spPr>
        <p:txBody>
          <a:bodyPr wrap="square" anchor="t">
            <a:spAutoFit/>
          </a:bodyPr>
          <a:lstStyle/>
          <a:p>
            <a:pPr algn="l">
              <a:spcAft>
                <a:spcPts val="300"/>
              </a:spcAft>
            </a:pPr>
            <a:r>
              <a:rPr sz="1050" b="0">
                <a:solidFill>
                  <a:srgbClr val="5B6372"/>
                </a:solidFill>
                <a:latin typeface="Arial"/>
              </a:rPr>
              <a:t>Outcome:  Wire an EventBridge target to a least-privilege Lambda that triggers an SSM Automation runbook so an unhealthy resource self-heals (LO5, K7, A5).</a:t>
            </a:r>
          </a:p>
          <a:p>
            <a:pPr algn="l">
              <a:spcAft>
                <a:spcPts val="300"/>
              </a:spcAft>
            </a:pPr>
            <a:r>
              <a:rPr sz="1050" b="0">
                <a:solidFill>
                  <a:srgbClr val="5B6372"/>
                </a:solidFill>
                <a:latin typeface="Arial"/>
              </a:rPr>
              <a:t>Evidence:  output proving the Lambda role is least-privilege (scoped runbook + tag-conditioned EC2, no broad wildcards).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20-lambda-ssm-auto-remediation.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524</a:t>
            </a:r>
          </a:p>
        </p:txBody>
      </p:sp>
    </p:spTree>
  </p:cSld>
  <p:clrMapOvr>
    <a:masterClrMapping/>
  </p:clrMapOvr>
  <p:transition xmlns:p14="http://schemas.microsoft.com/office/powerpoint/2010/main" p14:dur="380">
    <p:fade/>
  </p:transition>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RECAP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Recap — Incident and Event Response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350" b="1">
                <a:solidFill>
                  <a:srgbClr val="161B26"/>
                </a:solidFill>
                <a:latin typeface="Arial"/>
              </a:rPr>
              <a:t>Lab 19</a:t>
            </a:r>
          </a:p>
          <a:p>
            <a:pPr algn="l">
              <a:spcAft>
                <a:spcPts val="300"/>
              </a:spcAft>
            </a:pPr>
            <a:r>
              <a:rPr sz="950" b="0">
                <a:solidFill>
                  <a:srgbClr val="5B6372"/>
                </a:solidFill>
                <a:latin typeface="Arial"/>
              </a:rPr>
              <a:t>Build an EventBridge rule that matches incident signals.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350" b="1">
                <a:solidFill>
                  <a:srgbClr val="161B26"/>
                </a:solidFill>
                <a:latin typeface="Arial"/>
              </a:rPr>
              <a:t>Lab 20</a:t>
            </a:r>
          </a:p>
          <a:p>
            <a:pPr algn="l">
              <a:spcAft>
                <a:spcPts val="300"/>
              </a:spcAft>
            </a:pPr>
            <a:r>
              <a:rPr sz="950" b="0">
                <a:solidFill>
                  <a:srgbClr val="5B6372"/>
                </a:solidFill>
                <a:latin typeface="Arial"/>
              </a:rPr>
              <a:t>Wire an EventBridge target to a least-privilege Lambda that triggers an SSM Automation runbook so an unhealthy resource.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350" b="1">
                <a:solidFill>
                  <a:srgbClr val="161B26"/>
                </a:solidFill>
                <a:latin typeface="Arial"/>
              </a:rPr>
              <a:t>Key principle</a:t>
            </a:r>
          </a:p>
          <a:p>
            <a:pPr algn="l">
              <a:spcAft>
                <a:spcPts val="300"/>
              </a:spcAft>
            </a:pPr>
            <a:r>
              <a:rPr sz="950" b="0">
                <a:solidFill>
                  <a:srgbClr val="5B6372"/>
                </a:solidFill>
                <a:latin typeface="Arial"/>
              </a:rPr>
              <a:t>EventBridge routes events from AWS services and applications to targets that act automatically.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525</a:t>
            </a:r>
          </a:p>
        </p:txBody>
      </p:sp>
    </p:spTree>
  </p:cSld>
  <p:clrMapOvr>
    <a:masterClrMapping/>
  </p:clrMapOvr>
  <p:transition xmlns:p14="http://schemas.microsoft.com/office/powerpoint/2010/main" p14:dur="380">
    <p:fade/>
  </p:transition>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and Compliance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Exam weighting 17%  ·  Identity &amp; access at scale · data protection · security monitoring &amp; audit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526</a:t>
            </a:r>
          </a:p>
        </p:txBody>
      </p:sp>
    </p:spTree>
  </p:cSld>
  <p:clrMapOvr>
    <a:masterClrMapping/>
  </p:clrMapOvr>
  <p:transition xmlns:p14="http://schemas.microsoft.com/office/powerpoint/2010/main" p14:dur="380">
    <p:fade/>
  </p:transition>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SECURITY &amp; COMPLIANCE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Security and Compliance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29037" y="1819655"/>
            <a:ext cx="6933620" cy="39502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evops-security-compliance.png"/>
          <p:cNvPicPr>
            <a:picLocks noChangeAspect="1"/>
          </p:cNvPicPr>
          <p:nvPr/>
        </p:nvPicPr>
        <p:blipFill>
          <a:blip r:embed="rId2"/>
          <a:stretch>
            <a:fillRect/>
          </a:stretch>
        </p:blipFill>
        <p:spPr>
          <a:xfrm>
            <a:off x="2683901" y="1874519"/>
            <a:ext cx="6823892" cy="3840480"/>
          </a:xfrm>
          <a:prstGeom prst="rect">
            <a:avLst/>
          </a:prstGeom>
        </p:spPr>
      </p:pic>
      <p:sp>
        <p:nvSpPr>
          <p:cNvPr id="9" name="Rectangle 8"/>
          <p:cNvSpPr/>
          <p:nvPr/>
        </p:nvSpPr>
        <p:spPr>
          <a:xfrm>
            <a:off x="777240" y="5852159"/>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852159"/>
            <a:ext cx="91440" cy="6400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52159"/>
            <a:ext cx="10241280" cy="640080"/>
          </a:xfrm>
          <a:prstGeom prst="rect">
            <a:avLst/>
          </a:prstGeom>
          <a:noFill/>
        </p:spPr>
        <p:txBody>
          <a:bodyPr wrap="square" anchor="ctr">
            <a:spAutoFit/>
          </a:bodyPr>
          <a:lstStyle/>
          <a:p>
            <a:pPr algn="l">
              <a:spcAft>
                <a:spcPts val="400"/>
              </a:spcAft>
            </a:pPr>
            <a:r>
              <a:rPr sz="1300" b="1">
                <a:solidFill>
                  <a:srgbClr val="C0392B"/>
                </a:solidFill>
                <a:latin typeface="Arial"/>
              </a:rPr>
              <a:t>▶  </a:t>
            </a:r>
            <a:r>
              <a:rPr sz="1350" b="0">
                <a:solidFill>
                  <a:srgbClr val="161B26"/>
                </a:solidFill>
                <a:latin typeface="Arial"/>
              </a:rPr>
              <a:t>Security and compliance as continuous, automated guardrails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527</a:t>
            </a:r>
          </a:p>
        </p:txBody>
      </p:sp>
    </p:spTree>
  </p:cSld>
  <p:clrMapOvr>
    <a:masterClrMapping/>
  </p:clrMapOvr>
  <p:transition xmlns:p14="http://schemas.microsoft.com/office/powerpoint/2010/main" p14:dur="380">
    <p:fade/>
  </p:transition>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06 · WEIGHTING 17%</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Key Concepts — Security and Compliance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Identity &amp; access management</a:t>
            </a:r>
          </a:p>
          <a:p>
            <a:pPr algn="l">
              <a:spcAft>
                <a:spcPts val="300"/>
              </a:spcAft>
            </a:pPr>
            <a:r>
              <a:rPr sz="1150" b="0">
                <a:solidFill>
                  <a:srgbClr val="5B6372"/>
                </a:solidFill>
                <a:latin typeface="Arial"/>
              </a:rPr>
              <a:t>IAM users, roles, policies and permission boundaries enforce least privilege; roles beat long-lived keys.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IAM at scale</a:t>
            </a:r>
          </a:p>
          <a:p>
            <a:pPr algn="l">
              <a:spcAft>
                <a:spcPts val="300"/>
              </a:spcAft>
            </a:pPr>
            <a:r>
              <a:rPr sz="1150" b="0">
                <a:solidFill>
                  <a:srgbClr val="5B6372"/>
                </a:solidFill>
                <a:latin typeface="Arial"/>
              </a:rPr>
              <a:t>Organizations SCPs, IAM Identity Center and federation manage access across many accounts.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Data protection</a:t>
            </a:r>
          </a:p>
          <a:p>
            <a:pPr algn="l">
              <a:spcAft>
                <a:spcPts val="300"/>
              </a:spcAft>
            </a:pPr>
            <a:r>
              <a:rPr sz="1150" b="0">
                <a:solidFill>
                  <a:srgbClr val="5B6372"/>
                </a:solidFill>
                <a:latin typeface="Arial"/>
              </a:rPr>
              <a:t>KMS encryption, Secrets Manager, S3 Block Public Access and TLS protect data at rest and in transit.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Detective controls</a:t>
            </a:r>
          </a:p>
          <a:p>
            <a:pPr algn="l">
              <a:spcAft>
                <a:spcPts val="300"/>
              </a:spcAft>
            </a:pPr>
            <a:r>
              <a:rPr sz="1150" b="0">
                <a:solidFill>
                  <a:srgbClr val="5B6372"/>
                </a:solidFill>
                <a:latin typeface="Arial"/>
              </a:rPr>
              <a:t>CloudTrail, AWS Config, GuardDuty and Security Hub record, assess and score the account's posture.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Automated compliance</a:t>
            </a:r>
          </a:p>
          <a:p>
            <a:pPr algn="l">
              <a:spcAft>
                <a:spcPts val="300"/>
              </a:spcAft>
            </a:pPr>
            <a:r>
              <a:rPr sz="1150" b="0">
                <a:solidFill>
                  <a:srgbClr val="5B6372"/>
                </a:solidFill>
                <a:latin typeface="Arial"/>
              </a:rPr>
              <a:t>Config rules and conformance packs continuously check resources against a technical blueprint.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Governance blueprint</a:t>
            </a:r>
          </a:p>
          <a:p>
            <a:pPr algn="l">
              <a:spcAft>
                <a:spcPts val="300"/>
              </a:spcAft>
            </a:pPr>
            <a:r>
              <a:rPr sz="1150" b="0">
                <a:solidFill>
                  <a:srgbClr val="5B6372"/>
                </a:solidFill>
                <a:latin typeface="Arial"/>
              </a:rPr>
              <a:t>A landing zone plus guardrails give a documented, auditable security and compliance baseline.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528</a:t>
            </a:r>
          </a:p>
        </p:txBody>
      </p:sp>
    </p:spTree>
  </p:cSld>
  <p:clrMapOvr>
    <a:masterClrMapping/>
  </p:clrMapOvr>
  <p:transition xmlns:p14="http://schemas.microsoft.com/office/powerpoint/2010/main" p14:dur="380">
    <p:fade/>
  </p:transition>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06 · SECURE &amp; AUDIT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Security &amp; Compliance Blueprint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2377440" cy="1051560"/>
          </a:xfrm>
          <a:prstGeom prst="roundRect">
            <a:avLst/>
          </a:prstGeom>
          <a:solidFill>
            <a:srgbClr val="F5F8FC"/>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377440" cy="822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IAM
least-privilege roles</a:t>
            </a:r>
          </a:p>
        </p:txBody>
      </p:sp>
      <p:sp>
        <p:nvSpPr>
          <p:cNvPr id="10" name="Rounded Rectangle 9"/>
          <p:cNvSpPr/>
          <p:nvPr/>
        </p:nvSpPr>
        <p:spPr>
          <a:xfrm>
            <a:off x="777240" y="3657600"/>
            <a:ext cx="237744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657600"/>
            <a:ext cx="237744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KMS + Secrets
encryption</a:t>
            </a:r>
          </a:p>
        </p:txBody>
      </p:sp>
      <p:sp>
        <p:nvSpPr>
          <p:cNvPr id="13" name="Rounded Rectangle 12"/>
          <p:cNvSpPr/>
          <p:nvPr/>
        </p:nvSpPr>
        <p:spPr>
          <a:xfrm>
            <a:off x="3520440" y="196596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CloudTrail
audit log</a:t>
            </a:r>
          </a:p>
        </p:txBody>
      </p:sp>
      <p:sp>
        <p:nvSpPr>
          <p:cNvPr id="16" name="Rounded Rectangle 15"/>
          <p:cNvSpPr/>
          <p:nvPr/>
        </p:nvSpPr>
        <p:spPr>
          <a:xfrm>
            <a:off x="6263640" y="1965960"/>
            <a:ext cx="237744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965960"/>
            <a:ext cx="237744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AWS Config
rules + drift</a:t>
            </a:r>
          </a:p>
        </p:txBody>
      </p:sp>
      <p:sp>
        <p:nvSpPr>
          <p:cNvPr id="19" name="Rounded Rectangle 18"/>
          <p:cNvSpPr/>
          <p:nvPr/>
        </p:nvSpPr>
        <p:spPr>
          <a:xfrm>
            <a:off x="9006840" y="1965960"/>
            <a:ext cx="2377440" cy="1051560"/>
          </a:xfrm>
          <a:prstGeom prst="roundRect">
            <a:avLst/>
          </a:prstGeom>
          <a:solidFill>
            <a:srgbClr val="F5F8FC"/>
          </a:solidFill>
          <a:ln w="15875">
            <a:solidFill>
              <a:srgbClr val="EC71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1965960"/>
            <a:ext cx="2377440" cy="8229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Security Hub /
GuardDuty</a:t>
            </a:r>
          </a:p>
        </p:txBody>
      </p:sp>
      <p:sp>
        <p:nvSpPr>
          <p:cNvPr id="22" name="Rounded Rectangle 21"/>
          <p:cNvSpPr/>
          <p:nvPr/>
        </p:nvSpPr>
        <p:spPr>
          <a:xfrm>
            <a:off x="6263640" y="3657600"/>
            <a:ext cx="2377440" cy="1051560"/>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657600"/>
            <a:ext cx="237744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Auto-remediate
/ notify</a:t>
            </a:r>
          </a:p>
        </p:txBody>
      </p:sp>
      <p:cxnSp>
        <p:nvCxnSpPr>
          <p:cNvPr id="25" name="Connector 24"/>
          <p:cNvCxnSpPr/>
          <p:nvPr/>
        </p:nvCxnSpPr>
        <p:spPr>
          <a:xfrm>
            <a:off x="31546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15468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8978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410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4523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C0392B"/>
                </a:solidFill>
                <a:latin typeface="Arial"/>
              </a:rPr>
              <a:t>▶  </a:t>
            </a:r>
            <a:r>
              <a:rPr sz="1300" b="0">
                <a:solidFill>
                  <a:srgbClr val="161B26"/>
                </a:solidFill>
                <a:latin typeface="Arial"/>
              </a:rPr>
              <a:t>Least-privilege identity + encryption, with CloudTrail, Config and Security Hub providing continuous audit and scoring.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529</a:t>
            </a:r>
          </a:p>
        </p:txBody>
      </p:sp>
    </p:spTree>
  </p:cSld>
  <p:clrMapOvr>
    <a:masterClrMapping/>
  </p:clrMapOvr>
  <p:transition xmlns:p14="http://schemas.microsoft.com/office/powerpoint/2010/main" p14:dur="380">
    <p:fade/>
  </p:transition>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LAYERED SECURITY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Defence in Depth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Identity</a:t>
            </a:r>
          </a:p>
          <a:p>
            <a:pPr algn="l">
              <a:spcAft>
                <a:spcPts val="300"/>
              </a:spcAft>
            </a:pPr>
            <a:r>
              <a:rPr sz="1150" b="0">
                <a:solidFill>
                  <a:srgbClr val="5B6372"/>
                </a:solidFill>
                <a:latin typeface="Arial"/>
              </a:rPr>
              <a:t>IAM roles, permission boundaries, IAM Identity Center, SCPs.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Data protection</a:t>
            </a:r>
          </a:p>
          <a:p>
            <a:pPr algn="l">
              <a:spcAft>
                <a:spcPts val="300"/>
              </a:spcAft>
            </a:pPr>
            <a:r>
              <a:rPr sz="1150" b="0">
                <a:solidFill>
                  <a:srgbClr val="5B6372"/>
                </a:solidFill>
                <a:latin typeface="Arial"/>
              </a:rPr>
              <a:t>KMS encryption, Secrets Manager, S3 Block Public Access, TLS.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Detective controls</a:t>
            </a:r>
          </a:p>
          <a:p>
            <a:pPr algn="l">
              <a:spcAft>
                <a:spcPts val="300"/>
              </a:spcAft>
            </a:pPr>
            <a:r>
              <a:rPr sz="1150" b="0">
                <a:solidFill>
                  <a:srgbClr val="5B6372"/>
                </a:solidFill>
                <a:latin typeface="Arial"/>
              </a:rPr>
              <a:t>CloudTrail, AWS Config, GuardDuty, Security Hub.</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Preventive controls</a:t>
            </a:r>
          </a:p>
          <a:p>
            <a:pPr algn="l">
              <a:spcAft>
                <a:spcPts val="300"/>
              </a:spcAft>
            </a:pPr>
            <a:r>
              <a:rPr sz="1150" b="0">
                <a:solidFill>
                  <a:srgbClr val="5B6372"/>
                </a:solidFill>
                <a:latin typeface="Arial"/>
              </a:rPr>
              <a:t>Security groups, WAF, SCPs and least-privilege policies.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Automated compliance</a:t>
            </a:r>
          </a:p>
          <a:p>
            <a:pPr algn="l">
              <a:spcAft>
                <a:spcPts val="300"/>
              </a:spcAft>
            </a:pPr>
            <a:r>
              <a:rPr sz="1150" b="0">
                <a:solidFill>
                  <a:srgbClr val="5B6372"/>
                </a:solidFill>
                <a:latin typeface="Arial"/>
              </a:rPr>
              <a:t>Config rules and conformance packs check continuously.</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Auditable blueprint</a:t>
            </a:r>
          </a:p>
          <a:p>
            <a:pPr algn="l">
              <a:spcAft>
                <a:spcPts val="300"/>
              </a:spcAft>
            </a:pPr>
            <a:r>
              <a:rPr sz="1150" b="0">
                <a:solidFill>
                  <a:srgbClr val="5B6372"/>
                </a:solidFill>
                <a:latin typeface="Arial"/>
              </a:rPr>
              <a:t>Landing zone + guardrails give a documented baseline.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530</a:t>
            </a:r>
          </a:p>
        </p:txBody>
      </p:sp>
    </p:spTree>
  </p:cSld>
  <p:clrMapOvr>
    <a:masterClrMapping/>
  </p:clrMapOvr>
  <p:transition xmlns:p14="http://schemas.microsoft.com/office/powerpoint/2010/main" p14:dur="380">
    <p:fade/>
  </p:transition>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LEAST PRIVILEGE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IAM — Users vs Roles vs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69393" cy="502920"/>
          </a:xfrm>
          <a:prstGeom prst="rect">
            <a:avLst/>
          </a:prstGeom>
          <a:noFill/>
        </p:spPr>
        <p:txBody>
          <a:bodyPr wrap="square" anchor="ctr">
            <a:spAutoFit/>
          </a:bodyPr>
          <a:lstStyle/>
          <a:p>
            <a:pPr algn="l">
              <a:spcAft>
                <a:spcPts val="400"/>
              </a:spcAft>
            </a:pPr>
            <a:r>
              <a:rPr sz="1400" b="1">
                <a:solidFill>
                  <a:srgbClr val="FFFFFF"/>
                </a:solidFill>
                <a:latin typeface="Arial"/>
              </a:rPr>
              <a:t>Concept</a:t>
            </a:r>
          </a:p>
        </p:txBody>
      </p:sp>
      <p:sp>
        <p:nvSpPr>
          <p:cNvPr id="9" name="Rectangle 8"/>
          <p:cNvSpPr/>
          <p:nvPr/>
        </p:nvSpPr>
        <p:spPr>
          <a:xfrm>
            <a:off x="3329513" y="1783080"/>
            <a:ext cx="4253788"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4070908" cy="502920"/>
          </a:xfrm>
          <a:prstGeom prst="rect">
            <a:avLst/>
          </a:prstGeom>
          <a:noFill/>
        </p:spPr>
        <p:txBody>
          <a:bodyPr wrap="square" anchor="ctr">
            <a:spAutoFit/>
          </a:bodyPr>
          <a:lstStyle/>
          <a:p>
            <a:pPr algn="ctr">
              <a:spcAft>
                <a:spcPts val="400"/>
              </a:spcAft>
            </a:pPr>
            <a:r>
              <a:rPr sz="1400" b="1">
                <a:solidFill>
                  <a:srgbClr val="FFFFFF"/>
                </a:solidFill>
                <a:latin typeface="Arial"/>
              </a:rPr>
              <a:t>What it is</a:t>
            </a:r>
          </a:p>
        </p:txBody>
      </p:sp>
      <p:sp>
        <p:nvSpPr>
          <p:cNvPr id="11" name="Rectangle 10"/>
          <p:cNvSpPr/>
          <p:nvPr/>
        </p:nvSpPr>
        <p:spPr>
          <a:xfrm>
            <a:off x="7583301" y="1783080"/>
            <a:ext cx="3828409"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3029" y="1783080"/>
            <a:ext cx="3645529" cy="502920"/>
          </a:xfrm>
          <a:prstGeom prst="rect">
            <a:avLst/>
          </a:prstGeom>
          <a:noFill/>
        </p:spPr>
        <p:txBody>
          <a:bodyPr wrap="square" anchor="ctr">
            <a:spAutoFit/>
          </a:bodyPr>
          <a:lstStyle/>
          <a:p>
            <a:pPr algn="ctr">
              <a:spcAft>
                <a:spcPts val="400"/>
              </a:spcAft>
            </a:pPr>
            <a:r>
              <a:rPr sz="1400" b="1">
                <a:solidFill>
                  <a:srgbClr val="FFFFFF"/>
                </a:solidFill>
                <a:latin typeface="Arial"/>
              </a:rPr>
              <a:t>Best practice</a:t>
            </a:r>
          </a:p>
        </p:txBody>
      </p:sp>
      <p:sp>
        <p:nvSpPr>
          <p:cNvPr id="13" name="Rectangle 12"/>
          <p:cNvSpPr/>
          <p:nvPr/>
        </p:nvSpPr>
        <p:spPr>
          <a:xfrm>
            <a:off x="777240" y="228600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IAM User</a:t>
            </a:r>
          </a:p>
        </p:txBody>
      </p:sp>
      <p:sp>
        <p:nvSpPr>
          <p:cNvPr id="15" name="Rectangle 14"/>
          <p:cNvSpPr/>
          <p:nvPr/>
        </p:nvSpPr>
        <p:spPr>
          <a:xfrm>
            <a:off x="3329513" y="228600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9241" y="228600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Long-lived identity + credentials</a:t>
            </a:r>
          </a:p>
        </p:txBody>
      </p:sp>
      <p:sp>
        <p:nvSpPr>
          <p:cNvPr id="17" name="Rectangle 16"/>
          <p:cNvSpPr/>
          <p:nvPr/>
        </p:nvSpPr>
        <p:spPr>
          <a:xfrm>
            <a:off x="7583301" y="228600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3029" y="228600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Avoid; prefer federation</a:t>
            </a:r>
          </a:p>
        </p:txBody>
      </p:sp>
      <p:sp>
        <p:nvSpPr>
          <p:cNvPr id="19" name="Rectangle 18"/>
          <p:cNvSpPr/>
          <p:nvPr/>
        </p:nvSpPr>
        <p:spPr>
          <a:xfrm>
            <a:off x="777240" y="310896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IAM Role</a:t>
            </a:r>
          </a:p>
        </p:txBody>
      </p:sp>
      <p:sp>
        <p:nvSpPr>
          <p:cNvPr id="21" name="Rectangle 20"/>
          <p:cNvSpPr/>
          <p:nvPr/>
        </p:nvSpPr>
        <p:spPr>
          <a:xfrm>
            <a:off x="3329513" y="310896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310896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Temporary, assumable permissions</a:t>
            </a:r>
          </a:p>
        </p:txBody>
      </p:sp>
      <p:sp>
        <p:nvSpPr>
          <p:cNvPr id="23" name="Rectangle 22"/>
          <p:cNvSpPr/>
          <p:nvPr/>
        </p:nvSpPr>
        <p:spPr>
          <a:xfrm>
            <a:off x="7583301" y="310896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93029" y="310896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Use for apps &amp; cross-account</a:t>
            </a:r>
          </a:p>
        </p:txBody>
      </p:sp>
      <p:sp>
        <p:nvSpPr>
          <p:cNvPr id="25" name="Rectangle 24"/>
          <p:cNvSpPr/>
          <p:nvPr/>
        </p:nvSpPr>
        <p:spPr>
          <a:xfrm>
            <a:off x="777240" y="393192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Policy</a:t>
            </a:r>
          </a:p>
        </p:txBody>
      </p:sp>
      <p:sp>
        <p:nvSpPr>
          <p:cNvPr id="27" name="Rectangle 26"/>
          <p:cNvSpPr/>
          <p:nvPr/>
        </p:nvSpPr>
        <p:spPr>
          <a:xfrm>
            <a:off x="3329513" y="393192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9241" y="393192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JSON permissions document</a:t>
            </a:r>
          </a:p>
        </p:txBody>
      </p:sp>
      <p:sp>
        <p:nvSpPr>
          <p:cNvPr id="29" name="Rectangle 28"/>
          <p:cNvSpPr/>
          <p:nvPr/>
        </p:nvSpPr>
        <p:spPr>
          <a:xfrm>
            <a:off x="7583301" y="393192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3029" y="393192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Least privilege; scope by condition</a:t>
            </a:r>
          </a:p>
        </p:txBody>
      </p:sp>
      <p:sp>
        <p:nvSpPr>
          <p:cNvPr id="31" name="Rectangle 30"/>
          <p:cNvSpPr/>
          <p:nvPr/>
        </p:nvSpPr>
        <p:spPr>
          <a:xfrm>
            <a:off x="777240" y="475488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75488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Permission boundary</a:t>
            </a:r>
          </a:p>
        </p:txBody>
      </p:sp>
      <p:sp>
        <p:nvSpPr>
          <p:cNvPr id="33" name="Rectangle 32"/>
          <p:cNvSpPr/>
          <p:nvPr/>
        </p:nvSpPr>
        <p:spPr>
          <a:xfrm>
            <a:off x="3329513" y="475488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475488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Max permissions a principal can have</a:t>
            </a:r>
          </a:p>
        </p:txBody>
      </p:sp>
      <p:sp>
        <p:nvSpPr>
          <p:cNvPr id="35" name="Rectangle 34"/>
          <p:cNvSpPr/>
          <p:nvPr/>
        </p:nvSpPr>
        <p:spPr>
          <a:xfrm>
            <a:off x="7583301" y="475488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93029" y="475488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Guardrail for delegated admin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531</a:t>
            </a:r>
          </a:p>
        </p:txBody>
      </p:sp>
    </p:spTree>
  </p:cSld>
  <p:clrMapOvr>
    <a:masterClrMapping/>
  </p:clrMapOvr>
  <p:transition xmlns:p14="http://schemas.microsoft.com/office/powerpoint/2010/main" p14:dur="380">
    <p:fade/>
  </p:transition>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GUARDRAILS THAT WATCH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Config — Continuous Compliance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Recorder
tracks resources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C0392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Rules
managed/custom</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C0392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Evaluate
compliance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C0392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Non-compliant
flagged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C0392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Remediate
auto/manual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532</a:t>
            </a:r>
          </a:p>
        </p:txBody>
      </p:sp>
    </p:spTree>
  </p:cSld>
  <p:clrMapOvr>
    <a:masterClrMapping/>
  </p:clrMapOvr>
  <p:transition xmlns:p14="http://schemas.microsoft.com/office/powerpoint/2010/main" p14:dur="380">
    <p:fade/>
  </p:transition>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KNOW WHAT HAPPENED</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Detective &amp; Governance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582082" cy="502920"/>
          </a:xfrm>
          <a:prstGeom prst="rect">
            <a:avLst/>
          </a:prstGeom>
          <a:noFill/>
        </p:spPr>
        <p:txBody>
          <a:bodyPr wrap="square" anchor="ctr">
            <a:spAutoFit/>
          </a:bodyPr>
          <a:lstStyle/>
          <a:p>
            <a:pPr algn="l">
              <a:spcAft>
                <a:spcPts val="400"/>
              </a:spcAft>
            </a:pPr>
            <a:r>
              <a:rPr sz="1400" b="1">
                <a:solidFill>
                  <a:srgbClr val="FFFFFF"/>
                </a:solidFill>
                <a:latin typeface="Arial"/>
              </a:rPr>
              <a:t>Service</a:t>
            </a:r>
          </a:p>
        </p:txBody>
      </p:sp>
      <p:sp>
        <p:nvSpPr>
          <p:cNvPr id="9" name="Rectangle 8"/>
          <p:cNvSpPr/>
          <p:nvPr/>
        </p:nvSpPr>
        <p:spPr>
          <a:xfrm>
            <a:off x="3542202" y="1783080"/>
            <a:ext cx="7869509"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783080"/>
            <a:ext cx="7686629" cy="502920"/>
          </a:xfrm>
          <a:prstGeom prst="rect">
            <a:avLst/>
          </a:prstGeom>
          <a:noFill/>
        </p:spPr>
        <p:txBody>
          <a:bodyPr wrap="square" anchor="ctr">
            <a:spAutoFit/>
          </a:bodyPr>
          <a:lstStyle/>
          <a:p>
            <a:pPr algn="ctr">
              <a:spcAft>
                <a:spcPts val="400"/>
              </a:spcAft>
            </a:pPr>
            <a:r>
              <a:rPr sz="1400" b="1">
                <a:solidFill>
                  <a:srgbClr val="FFFFFF"/>
                </a:solidFill>
                <a:latin typeface="Arial"/>
              </a:rPr>
              <a:t>What it does</a:t>
            </a:r>
          </a:p>
        </p:txBody>
      </p:sp>
      <p:sp>
        <p:nvSpPr>
          <p:cNvPr id="11" name="Rectangle 10"/>
          <p:cNvSpPr/>
          <p:nvPr/>
        </p:nvSpPr>
        <p:spPr>
          <a:xfrm>
            <a:off x="777240" y="2286000"/>
            <a:ext cx="276496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28600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CloudTrail</a:t>
            </a:r>
          </a:p>
        </p:txBody>
      </p:sp>
      <p:sp>
        <p:nvSpPr>
          <p:cNvPr id="13" name="Rectangle 12"/>
          <p:cNvSpPr/>
          <p:nvPr/>
        </p:nvSpPr>
        <p:spPr>
          <a:xfrm>
            <a:off x="3542202" y="2286000"/>
            <a:ext cx="78695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1930" y="2286000"/>
            <a:ext cx="7686629" cy="822960"/>
          </a:xfrm>
          <a:prstGeom prst="rect">
            <a:avLst/>
          </a:prstGeom>
          <a:noFill/>
        </p:spPr>
        <p:txBody>
          <a:bodyPr wrap="square" anchor="ctr">
            <a:spAutoFit/>
          </a:bodyPr>
          <a:lstStyle/>
          <a:p>
            <a:pPr algn="ctr">
              <a:spcAft>
                <a:spcPts val="400"/>
              </a:spcAft>
            </a:pPr>
            <a:r>
              <a:rPr sz="1250" b="0">
                <a:solidFill>
                  <a:srgbClr val="5B6372"/>
                </a:solidFill>
                <a:latin typeface="Arial"/>
              </a:rPr>
              <a:t>Records every API call for audit and forensics</a:t>
            </a:r>
          </a:p>
        </p:txBody>
      </p:sp>
      <p:sp>
        <p:nvSpPr>
          <p:cNvPr id="15" name="Rectangle 14"/>
          <p:cNvSpPr/>
          <p:nvPr/>
        </p:nvSpPr>
        <p:spPr>
          <a:xfrm>
            <a:off x="777240" y="3108960"/>
            <a:ext cx="276496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310896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AWS Config</a:t>
            </a:r>
          </a:p>
        </p:txBody>
      </p:sp>
      <p:sp>
        <p:nvSpPr>
          <p:cNvPr id="17" name="Rectangle 16"/>
          <p:cNvSpPr/>
          <p:nvPr/>
        </p:nvSpPr>
        <p:spPr>
          <a:xfrm>
            <a:off x="3542202" y="3108960"/>
            <a:ext cx="78695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1930" y="3108960"/>
            <a:ext cx="7686629" cy="822960"/>
          </a:xfrm>
          <a:prstGeom prst="rect">
            <a:avLst/>
          </a:prstGeom>
          <a:noFill/>
        </p:spPr>
        <p:txBody>
          <a:bodyPr wrap="square" anchor="ctr">
            <a:spAutoFit/>
          </a:bodyPr>
          <a:lstStyle/>
          <a:p>
            <a:pPr algn="ctr">
              <a:spcAft>
                <a:spcPts val="400"/>
              </a:spcAft>
            </a:pPr>
            <a:r>
              <a:rPr sz="1250" b="0">
                <a:solidFill>
                  <a:srgbClr val="5B6372"/>
                </a:solidFill>
                <a:latin typeface="Arial"/>
              </a:rPr>
              <a:t>Tracks resource configuration &amp; compliance over time</a:t>
            </a:r>
          </a:p>
        </p:txBody>
      </p:sp>
      <p:sp>
        <p:nvSpPr>
          <p:cNvPr id="19" name="Rectangle 18"/>
          <p:cNvSpPr/>
          <p:nvPr/>
        </p:nvSpPr>
        <p:spPr>
          <a:xfrm>
            <a:off x="777240" y="3931920"/>
            <a:ext cx="276496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93192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GuardDuty</a:t>
            </a:r>
          </a:p>
        </p:txBody>
      </p:sp>
      <p:sp>
        <p:nvSpPr>
          <p:cNvPr id="21" name="Rectangle 20"/>
          <p:cNvSpPr/>
          <p:nvPr/>
        </p:nvSpPr>
        <p:spPr>
          <a:xfrm>
            <a:off x="3542202" y="3931920"/>
            <a:ext cx="78695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3931920"/>
            <a:ext cx="7686629" cy="822960"/>
          </a:xfrm>
          <a:prstGeom prst="rect">
            <a:avLst/>
          </a:prstGeom>
          <a:noFill/>
        </p:spPr>
        <p:txBody>
          <a:bodyPr wrap="square" anchor="ctr">
            <a:spAutoFit/>
          </a:bodyPr>
          <a:lstStyle/>
          <a:p>
            <a:pPr algn="ctr">
              <a:spcAft>
                <a:spcPts val="400"/>
              </a:spcAft>
            </a:pPr>
            <a:r>
              <a:rPr sz="1250" b="0">
                <a:solidFill>
                  <a:srgbClr val="5B6372"/>
                </a:solidFill>
                <a:latin typeface="Arial"/>
              </a:rPr>
              <a:t>ML threat detection from logs &amp; network traffic</a:t>
            </a:r>
          </a:p>
        </p:txBody>
      </p:sp>
      <p:sp>
        <p:nvSpPr>
          <p:cNvPr id="23" name="Rectangle 22"/>
          <p:cNvSpPr/>
          <p:nvPr/>
        </p:nvSpPr>
        <p:spPr>
          <a:xfrm>
            <a:off x="777240" y="4754880"/>
            <a:ext cx="276496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475488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Security Hub</a:t>
            </a:r>
          </a:p>
        </p:txBody>
      </p:sp>
      <p:sp>
        <p:nvSpPr>
          <p:cNvPr id="25" name="Rectangle 24"/>
          <p:cNvSpPr/>
          <p:nvPr/>
        </p:nvSpPr>
        <p:spPr>
          <a:xfrm>
            <a:off x="3542202" y="4754880"/>
            <a:ext cx="78695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1930" y="4754880"/>
            <a:ext cx="7686629" cy="822960"/>
          </a:xfrm>
          <a:prstGeom prst="rect">
            <a:avLst/>
          </a:prstGeom>
          <a:noFill/>
        </p:spPr>
        <p:txBody>
          <a:bodyPr wrap="square" anchor="ctr">
            <a:spAutoFit/>
          </a:bodyPr>
          <a:lstStyle/>
          <a:p>
            <a:pPr algn="ctr">
              <a:spcAft>
                <a:spcPts val="400"/>
              </a:spcAft>
            </a:pPr>
            <a:r>
              <a:rPr sz="1250" b="0">
                <a:solidFill>
                  <a:srgbClr val="5B6372"/>
                </a:solidFill>
                <a:latin typeface="Arial"/>
              </a:rPr>
              <a:t>Aggregates findings &amp; scores posture against standards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533</a:t>
            </a:r>
          </a:p>
        </p:txBody>
      </p:sp>
    </p:spTree>
  </p:cSld>
  <p:clrMapOvr>
    <a:masterClrMapping/>
  </p:clrMapOvr>
  <p:transition xmlns:p14="http://schemas.microsoft.com/office/powerpoint/2010/main" p14:dur="380">
    <p:fade/>
  </p:transition>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PROTECTING DATA</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Encryption Everywhere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At rest</a:t>
            </a:r>
          </a:p>
          <a:p>
            <a:pPr algn="l">
              <a:spcAft>
                <a:spcPts val="300"/>
              </a:spcAft>
            </a:pPr>
            <a:r>
              <a:rPr sz="1200" b="0">
                <a:solidFill>
                  <a:srgbClr val="5B6372"/>
                </a:solidFill>
                <a:latin typeface="Arial"/>
              </a:rPr>
              <a:t>KMS-managed keys for S3, EBS, RDS, DynamoDB.</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In transit</a:t>
            </a:r>
          </a:p>
          <a:p>
            <a:pPr algn="l">
              <a:spcAft>
                <a:spcPts val="300"/>
              </a:spcAft>
            </a:pPr>
            <a:r>
              <a:rPr sz="1200" b="0">
                <a:solidFill>
                  <a:srgbClr val="5B6372"/>
                </a:solidFill>
                <a:latin typeface="Arial"/>
              </a:rPr>
              <a:t>TLS for all service and app traffic.</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Secrets</a:t>
            </a:r>
          </a:p>
          <a:p>
            <a:pPr algn="l">
              <a:spcAft>
                <a:spcPts val="300"/>
              </a:spcAft>
            </a:pPr>
            <a:r>
              <a:rPr sz="1200" b="0">
                <a:solidFill>
                  <a:srgbClr val="5B6372"/>
                </a:solidFill>
                <a:latin typeface="Arial"/>
              </a:rPr>
              <a:t>Secrets Manager with automatic rotation.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Key governance</a:t>
            </a:r>
          </a:p>
          <a:p>
            <a:pPr algn="l">
              <a:spcAft>
                <a:spcPts val="300"/>
              </a:spcAft>
            </a:pPr>
            <a:r>
              <a:rPr sz="1200" b="0">
                <a:solidFill>
                  <a:srgbClr val="5B6372"/>
                </a:solidFill>
                <a:latin typeface="Arial"/>
              </a:rPr>
              <a:t>Key policies, grants and rotation with AWS KMS.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534</a:t>
            </a:r>
          </a:p>
        </p:txBody>
      </p:sp>
    </p:spTree>
  </p:cSld>
  <p:clrMapOvr>
    <a:masterClrMapping/>
  </p:clrMapOvr>
  <p:transition xmlns:p14="http://schemas.microsoft.com/office/powerpoint/2010/main" p14:dur="380">
    <p:fade/>
  </p:transition>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Identity and access — least privilege by design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IAM policies grant explicit permissions; roles provide temporary, assumable credentials for apps and cross-account access.</a:t>
            </a:r>
          </a:p>
          <a:p>
            <a:pPr>
              <a:spcAft>
                <a:spcPts val="800"/>
              </a:spcAft>
            </a:pPr>
            <a:r>
              <a:rPr sz="1350" b="0">
                <a:solidFill>
                  <a:srgbClr val="161B26"/>
                </a:solidFill>
                <a:latin typeface="Arial"/>
              </a:rPr>
              <a:t>•  Permission boundaries cap the maximum permissions a delegated admin can grant.</a:t>
            </a:r>
          </a:p>
          <a:p>
            <a:pPr>
              <a:spcAft>
                <a:spcPts val="800"/>
              </a:spcAft>
            </a:pPr>
            <a:r>
              <a:rPr sz="1350" b="0">
                <a:solidFill>
                  <a:srgbClr val="161B26"/>
                </a:solidFill>
                <a:latin typeface="Arial"/>
              </a:rPr>
              <a:t>•  Prefer roles and short-lived credentials over long-lived access keys everywhere.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Least privilege limits the blast radius of any compromised credential or mistaken policy to exactly what was needed.</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wildcard 'Action: *' policy or shared long-lived keys turn one leaked secret into full account compromise.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Tight policies take more effort to author and maintain — Access Analyzer and policy generation reduce that cost.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535</a:t>
            </a:r>
          </a:p>
        </p:txBody>
      </p:sp>
    </p:spTree>
  </p:cSld>
  <p:clrMapOvr>
    <a:masterClrMapping/>
  </p:clrMapOvr>
  <p:transition xmlns:p14="http://schemas.microsoft.com/office/powerpoint/2010/main" p14:dur="380">
    <p:fade/>
  </p:transition>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Identity at scale — Identity Center, federation, SCPs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IAM Identity Center centralises workforce access and single sign-on across many accounts.</a:t>
            </a:r>
          </a:p>
          <a:p>
            <a:pPr>
              <a:spcAft>
                <a:spcPts val="800"/>
              </a:spcAft>
            </a:pPr>
            <a:r>
              <a:rPr sz="1350" b="0">
                <a:solidFill>
                  <a:srgbClr val="161B26"/>
                </a:solidFill>
                <a:latin typeface="Arial"/>
              </a:rPr>
              <a:t>•  Federation lets your corporate identity provider issue temporary AWS access — no per-user IAM users.</a:t>
            </a:r>
          </a:p>
          <a:p>
            <a:pPr>
              <a:spcAft>
                <a:spcPts val="800"/>
              </a:spcAft>
            </a:pPr>
            <a:r>
              <a:rPr sz="1350" b="0">
                <a:solidFill>
                  <a:srgbClr val="161B26"/>
                </a:solidFill>
                <a:latin typeface="Arial"/>
              </a:rPr>
              <a:t>•  Service Control Policies set org-wide guardrails no account can exceed.</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Central identity plus org guardrails make access consistent, auditable and revocable across a whole organisation.</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Per-account IAM users multiply credentials to rotate and audit and inevitably drift out of least privilege.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Central control needs governance so it doesn't become a bottleneck for teams needing new access.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536</a:t>
            </a:r>
          </a:p>
        </p:txBody>
      </p:sp>
    </p:spTree>
  </p:cSld>
  <p:clrMapOvr>
    <a:masterClrMapping/>
  </p:clrMapOvr>
  <p:transition xmlns:p14="http://schemas.microsoft.com/office/powerpoint/2010/main" p14:dur="380">
    <p:fade/>
  </p:transition>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Data protection — encryption and secrets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KMS manages encryption keys and key policies for data at rest across S3, EBS, RDS and DynamoDB; TLS protects data in transit.</a:t>
            </a:r>
          </a:p>
          <a:p>
            <a:pPr>
              <a:spcAft>
                <a:spcPts val="800"/>
              </a:spcAft>
            </a:pPr>
            <a:r>
              <a:rPr sz="1350" b="0">
                <a:solidFill>
                  <a:srgbClr val="161B26"/>
                </a:solidFill>
                <a:latin typeface="Arial"/>
              </a:rPr>
              <a:t>•  Secrets Manager stores and rotates credentials; S3 Block Public Access prevents accidental exposure.</a:t>
            </a:r>
          </a:p>
          <a:p>
            <a:pPr>
              <a:spcAft>
                <a:spcPts val="800"/>
              </a:spcAft>
            </a:pPr>
            <a:r>
              <a:rPr sz="1350" b="0">
                <a:solidFill>
                  <a:srgbClr val="161B26"/>
                </a:solidFill>
                <a:latin typeface="Arial"/>
              </a:rPr>
              <a:t>•  Envelope encryption and key policies control exactly who can use which key.</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Encrypting everywhere and centralising key and secret governance protect data even if another control fails.</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An unencrypted volume or a public bucket exposes data regardless of how strong the network perimeter is.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Customer-managed keys give control and auditability but add key-management responsibility and cost.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537</a:t>
            </a:r>
          </a:p>
        </p:txBody>
      </p:sp>
    </p:spTree>
  </p:cSld>
  <p:clrMapOvr>
    <a:masterClrMapping/>
  </p:clrMapOvr>
  <p:transition xmlns:p14="http://schemas.microsoft.com/office/powerpoint/2010/main" p14:dur="380">
    <p:fade/>
  </p:transition>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Detective controls — the audit trail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CloudTrail records every API call for audit and forensics; AWS Config tracks configuration state over time.</a:t>
            </a:r>
          </a:p>
          <a:p>
            <a:pPr>
              <a:spcAft>
                <a:spcPts val="800"/>
              </a:spcAft>
            </a:pPr>
            <a:r>
              <a:rPr sz="1350" b="0">
                <a:solidFill>
                  <a:srgbClr val="161B26"/>
                </a:solidFill>
                <a:latin typeface="Arial"/>
              </a:rPr>
              <a:t>•  GuardDuty applies ML threat detection to logs and network flows; Security Hub aggregates and scores findings.</a:t>
            </a:r>
          </a:p>
          <a:p>
            <a:pPr>
              <a:spcAft>
                <a:spcPts val="800"/>
              </a:spcAft>
            </a:pPr>
            <a:r>
              <a:rPr sz="1350" b="0">
                <a:solidFill>
                  <a:srgbClr val="161B26"/>
                </a:solidFill>
                <a:latin typeface="Arial"/>
              </a:rPr>
              <a:t>•  Together they answer 'what happened, when, by whom, and are we compliant?'</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Detective controls provide the evidence for incident forensics, audits and continuous compliance scoring.</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No CloudTrail (or a trail without log-file validation) means an incident can't be reconstructed and audits fail.</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Full logging and threat detection cost money and generate findings to triage — tune and prioritise by severity.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538</a:t>
            </a:r>
          </a:p>
        </p:txBody>
      </p:sp>
    </p:spTree>
  </p:cSld>
  <p:clrMapOvr>
    <a:masterClrMapping/>
  </p:clrMapOvr>
  <p:transition xmlns:p14="http://schemas.microsoft.com/office/powerpoint/2010/main" p14:dur="380">
    <p:fade/>
  </p:transition>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Automated compliance — Config rules and conformance packs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Config rules continuously evaluate resources against a technical blueprint (managed or custom rules).</a:t>
            </a:r>
          </a:p>
          <a:p>
            <a:pPr>
              <a:spcAft>
                <a:spcPts val="800"/>
              </a:spcAft>
            </a:pPr>
            <a:r>
              <a:rPr sz="1350" b="0">
                <a:solidFill>
                  <a:srgbClr val="161B26"/>
                </a:solidFill>
                <a:latin typeface="Arial"/>
              </a:rPr>
              <a:t>•  Conformance packs bundle rules and remediations to a standard (e.g. CIS, PCI) and deploy org-wide.</a:t>
            </a:r>
          </a:p>
          <a:p>
            <a:pPr>
              <a:spcAft>
                <a:spcPts val="800"/>
              </a:spcAft>
            </a:pPr>
            <a:r>
              <a:rPr sz="1350" b="0">
                <a:solidFill>
                  <a:srgbClr val="161B26"/>
                </a:solidFill>
                <a:latin typeface="Arial"/>
              </a:rPr>
              <a:t>•  Non-compliant resources are flagged and can be auto-remediated.</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Continuous, codified compliance replaces point-in-time audits with always-on assurance and evidence.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Manual quarterly audits miss the days-to-weeks a resource sits non-compliant between checks.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Strict conformance packs improve posture but can generate noise — phase in rules and remediations.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539</a:t>
            </a:r>
          </a:p>
        </p:txBody>
      </p:sp>
    </p:spTree>
  </p:cSld>
  <p:clrMapOvr>
    <a:masterClrMapping/>
  </p:clrMapOvr>
  <p:transition xmlns:p14="http://schemas.microsoft.com/office/powerpoint/2010/main" p14:dur="380">
    <p:fade/>
  </p:transition>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Preventive controls and defence in depth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Security groups and network ACLs, WAF, and least-privilege policies stop bad requests before they reach resources.</a:t>
            </a:r>
          </a:p>
          <a:p>
            <a:pPr>
              <a:spcAft>
                <a:spcPts val="800"/>
              </a:spcAft>
            </a:pPr>
            <a:r>
              <a:rPr sz="1350" b="0">
                <a:solidFill>
                  <a:srgbClr val="161B26"/>
                </a:solidFill>
                <a:latin typeface="Arial"/>
              </a:rPr>
              <a:t>•  SCPs prevent whole classes of action org-wide; VPC design limits lateral movement.</a:t>
            </a:r>
          </a:p>
          <a:p>
            <a:pPr>
              <a:spcAft>
                <a:spcPts val="800"/>
              </a:spcAft>
            </a:pPr>
            <a:r>
              <a:rPr sz="1350" b="0">
                <a:solidFill>
                  <a:srgbClr val="161B26"/>
                </a:solidFill>
                <a:latin typeface="Arial"/>
              </a:rPr>
              <a:t>•  Layered controls mean no single failure exposes the system.</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Defence in depth ensures that when one layer fails — and layers do fail — others still protect the data.</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Relying on a single perimeter (a firewall) fails completely the moment that one control is bypassed.</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More layers add complexity and can impede legitimate traffic — design them to be observable and testable.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540</a:t>
            </a:r>
          </a:p>
        </p:txBody>
      </p:sp>
    </p:spTree>
  </p:cSld>
  <p:clrMapOvr>
    <a:masterClrMapping/>
  </p:clrMapOvr>
  <p:transition xmlns:p14="http://schemas.microsoft.com/office/powerpoint/2010/main" p14:dur="380">
    <p:fade/>
  </p:transition>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Governance blueprint — landing zone and guardrails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 landing zone (via Control Tower) gives a documented, auditable security and network baseline.</a:t>
            </a:r>
          </a:p>
          <a:p>
            <a:pPr>
              <a:spcAft>
                <a:spcPts val="800"/>
              </a:spcAft>
            </a:pPr>
            <a:r>
              <a:rPr sz="1350" b="0">
                <a:solidFill>
                  <a:srgbClr val="161B26"/>
                </a:solidFill>
                <a:latin typeface="Arial"/>
              </a:rPr>
              <a:t>•  Preventive guardrails (SCPs) and detective guardrails (Config rules) are applied to every account.</a:t>
            </a:r>
          </a:p>
          <a:p>
            <a:pPr>
              <a:spcAft>
                <a:spcPts val="800"/>
              </a:spcAft>
            </a:pPr>
            <a:r>
              <a:rPr sz="1350" b="0">
                <a:solidFill>
                  <a:srgbClr val="161B26"/>
                </a:solidFill>
                <a:latin typeface="Arial"/>
              </a:rPr>
              <a:t>•  New accounts inherit the baseline automatically through account vending.</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governance blueprint makes 'secure and compliant' the default state of every account, not a per-project effort.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Ad-hoc, per-project security guarantees nothing is consistent and every audit re-discovers the same gaps.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central blueprint needs a platform team and change process — the payoff is org-wide, provable compliance.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541</a:t>
            </a:r>
          </a:p>
        </p:txBody>
      </p:sp>
    </p:spTree>
  </p:cSld>
  <p:clrMapOvr>
    <a:masterClrMapping/>
  </p:clrMapOvr>
  <p:transition xmlns:p14="http://schemas.microsoft.com/office/powerpoint/2010/main" p14:dur="380">
    <p:fade/>
  </p:transition>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Securing the pipeline itself (DevSecOps)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Scan source and dependencies (SAST/SCA) and infrastructure templates in the build; sign and verify artifacts.</a:t>
            </a:r>
          </a:p>
          <a:p>
            <a:pPr>
              <a:spcAft>
                <a:spcPts val="800"/>
              </a:spcAft>
            </a:pPr>
            <a:r>
              <a:rPr sz="1350" b="0">
                <a:solidFill>
                  <a:srgbClr val="161B26"/>
                </a:solidFill>
                <a:latin typeface="Arial"/>
              </a:rPr>
              <a:t>•  Scope pipeline and deployment roles to least privilege and isolate environments by account.</a:t>
            </a:r>
          </a:p>
          <a:p>
            <a:pPr>
              <a:spcAft>
                <a:spcPts val="800"/>
              </a:spcAft>
            </a:pPr>
            <a:r>
              <a:rPr sz="1350" b="0">
                <a:solidFill>
                  <a:srgbClr val="161B26"/>
                </a:solidFill>
                <a:latin typeface="Arial"/>
              </a:rPr>
              <a:t>•  Store no secrets in code; pull them at deploy time from Secrets Manager/SSM.</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The pipeline has powerful credentials and touches production — a compromised pipeline is a compromised environment.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pipeline role with broad permissions and secrets in the repo is a direct path from a code leak to full compromise.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Security gates add build time — order them fast-to-slow and fail fast to keep the pipeline usable.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542</a:t>
            </a:r>
          </a:p>
        </p:txBody>
      </p:sp>
    </p:spTree>
  </p:cSld>
  <p:clrMapOvr>
    <a:masterClrMapping/>
  </p:clrMapOvr>
  <p:transition xmlns:p14="http://schemas.microsoft.com/office/powerpoint/2010/main" p14:dur="380">
    <p:fade/>
  </p:transition>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LEAST PRIVILEGE AT SCALE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IAM — Users vs Roles vs Federation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977652"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794772" cy="502920"/>
          </a:xfrm>
          <a:prstGeom prst="rect">
            <a:avLst/>
          </a:prstGeom>
          <a:noFill/>
        </p:spPr>
        <p:txBody>
          <a:bodyPr wrap="square" anchor="ctr">
            <a:spAutoFit/>
          </a:bodyPr>
          <a:lstStyle/>
          <a:p>
            <a:pPr algn="l">
              <a:spcAft>
                <a:spcPts val="400"/>
              </a:spcAft>
            </a:pPr>
            <a:r>
              <a:rPr sz="1400" b="1">
                <a:solidFill>
                  <a:srgbClr val="FFFFFF"/>
                </a:solidFill>
                <a:latin typeface="Arial"/>
              </a:rPr>
              <a:t>Identity</a:t>
            </a:r>
          </a:p>
        </p:txBody>
      </p:sp>
      <p:sp>
        <p:nvSpPr>
          <p:cNvPr id="9" name="Rectangle 8"/>
          <p:cNvSpPr/>
          <p:nvPr/>
        </p:nvSpPr>
        <p:spPr>
          <a:xfrm>
            <a:off x="3754892" y="1783080"/>
            <a:ext cx="3828409"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64620" y="1783080"/>
            <a:ext cx="3645529" cy="502920"/>
          </a:xfrm>
          <a:prstGeom prst="rect">
            <a:avLst/>
          </a:prstGeom>
          <a:noFill/>
        </p:spPr>
        <p:txBody>
          <a:bodyPr wrap="square" anchor="ctr">
            <a:spAutoFit/>
          </a:bodyPr>
          <a:lstStyle/>
          <a:p>
            <a:pPr algn="ctr">
              <a:spcAft>
                <a:spcPts val="400"/>
              </a:spcAft>
            </a:pPr>
            <a:r>
              <a:rPr sz="1400" b="1">
                <a:solidFill>
                  <a:srgbClr val="FFFFFF"/>
                </a:solidFill>
                <a:latin typeface="Arial"/>
              </a:rPr>
              <a:t>What it is</a:t>
            </a:r>
          </a:p>
        </p:txBody>
      </p:sp>
      <p:sp>
        <p:nvSpPr>
          <p:cNvPr id="11" name="Rectangle 10"/>
          <p:cNvSpPr/>
          <p:nvPr/>
        </p:nvSpPr>
        <p:spPr>
          <a:xfrm>
            <a:off x="7583301" y="1783080"/>
            <a:ext cx="3828409"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3029" y="1783080"/>
            <a:ext cx="3645529" cy="502920"/>
          </a:xfrm>
          <a:prstGeom prst="rect">
            <a:avLst/>
          </a:prstGeom>
          <a:noFill/>
        </p:spPr>
        <p:txBody>
          <a:bodyPr wrap="square" anchor="ctr">
            <a:spAutoFit/>
          </a:bodyPr>
          <a:lstStyle/>
          <a:p>
            <a:pPr algn="ctr">
              <a:spcAft>
                <a:spcPts val="400"/>
              </a:spcAft>
            </a:pPr>
            <a:r>
              <a:rPr sz="1400" b="1">
                <a:solidFill>
                  <a:srgbClr val="FFFFFF"/>
                </a:solidFill>
                <a:latin typeface="Arial"/>
              </a:rPr>
              <a:t>Best practice</a:t>
            </a:r>
          </a:p>
        </p:txBody>
      </p:sp>
      <p:sp>
        <p:nvSpPr>
          <p:cNvPr id="13" name="Rectangle 12"/>
          <p:cNvSpPr/>
          <p:nvPr/>
        </p:nvSpPr>
        <p:spPr>
          <a:xfrm>
            <a:off x="777240" y="228600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2794772" cy="822960"/>
          </a:xfrm>
          <a:prstGeom prst="rect">
            <a:avLst/>
          </a:prstGeom>
          <a:noFill/>
        </p:spPr>
        <p:txBody>
          <a:bodyPr wrap="square" anchor="ctr">
            <a:spAutoFit/>
          </a:bodyPr>
          <a:lstStyle/>
          <a:p>
            <a:pPr algn="l">
              <a:spcAft>
                <a:spcPts val="400"/>
              </a:spcAft>
            </a:pPr>
            <a:r>
              <a:rPr sz="1250" b="1">
                <a:solidFill>
                  <a:srgbClr val="161B26"/>
                </a:solidFill>
                <a:latin typeface="Arial"/>
              </a:rPr>
              <a:t>IAM user + keys</a:t>
            </a:r>
          </a:p>
        </p:txBody>
      </p:sp>
      <p:sp>
        <p:nvSpPr>
          <p:cNvPr id="15" name="Rectangle 14"/>
          <p:cNvSpPr/>
          <p:nvPr/>
        </p:nvSpPr>
        <p:spPr>
          <a:xfrm>
            <a:off x="3754892" y="228600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64620" y="228600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Long-lived credential</a:t>
            </a:r>
          </a:p>
        </p:txBody>
      </p:sp>
      <p:sp>
        <p:nvSpPr>
          <p:cNvPr id="17" name="Rectangle 16"/>
          <p:cNvSpPr/>
          <p:nvPr/>
        </p:nvSpPr>
        <p:spPr>
          <a:xfrm>
            <a:off x="7583301" y="228600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3029" y="228600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Avoid; rotate/retire, prefer roles</a:t>
            </a:r>
          </a:p>
        </p:txBody>
      </p:sp>
      <p:sp>
        <p:nvSpPr>
          <p:cNvPr id="19" name="Rectangle 18"/>
          <p:cNvSpPr/>
          <p:nvPr/>
        </p:nvSpPr>
        <p:spPr>
          <a:xfrm>
            <a:off x="777240" y="3108960"/>
            <a:ext cx="297765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2794772" cy="822960"/>
          </a:xfrm>
          <a:prstGeom prst="rect">
            <a:avLst/>
          </a:prstGeom>
          <a:noFill/>
        </p:spPr>
        <p:txBody>
          <a:bodyPr wrap="square" anchor="ctr">
            <a:spAutoFit/>
          </a:bodyPr>
          <a:lstStyle/>
          <a:p>
            <a:pPr algn="l">
              <a:spcAft>
                <a:spcPts val="400"/>
              </a:spcAft>
            </a:pPr>
            <a:r>
              <a:rPr sz="1250" b="1">
                <a:solidFill>
                  <a:srgbClr val="161B26"/>
                </a:solidFill>
                <a:latin typeface="Arial"/>
              </a:rPr>
              <a:t>IAM role</a:t>
            </a:r>
          </a:p>
        </p:txBody>
      </p:sp>
      <p:sp>
        <p:nvSpPr>
          <p:cNvPr id="21" name="Rectangle 20"/>
          <p:cNvSpPr/>
          <p:nvPr/>
        </p:nvSpPr>
        <p:spPr>
          <a:xfrm>
            <a:off x="3754892" y="310896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64620" y="310896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Temporary, assumable</a:t>
            </a:r>
          </a:p>
        </p:txBody>
      </p:sp>
      <p:sp>
        <p:nvSpPr>
          <p:cNvPr id="23" name="Rectangle 22"/>
          <p:cNvSpPr/>
          <p:nvPr/>
        </p:nvSpPr>
        <p:spPr>
          <a:xfrm>
            <a:off x="7583301" y="310896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93029" y="310896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Use for apps and cross-account</a:t>
            </a:r>
          </a:p>
        </p:txBody>
      </p:sp>
      <p:sp>
        <p:nvSpPr>
          <p:cNvPr id="25" name="Rectangle 24"/>
          <p:cNvSpPr/>
          <p:nvPr/>
        </p:nvSpPr>
        <p:spPr>
          <a:xfrm>
            <a:off x="777240" y="393192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2794772" cy="822960"/>
          </a:xfrm>
          <a:prstGeom prst="rect">
            <a:avLst/>
          </a:prstGeom>
          <a:noFill/>
        </p:spPr>
        <p:txBody>
          <a:bodyPr wrap="square" anchor="ctr">
            <a:spAutoFit/>
          </a:bodyPr>
          <a:lstStyle/>
          <a:p>
            <a:pPr algn="l">
              <a:spcAft>
                <a:spcPts val="400"/>
              </a:spcAft>
            </a:pPr>
            <a:r>
              <a:rPr sz="1250" b="1">
                <a:solidFill>
                  <a:srgbClr val="161B26"/>
                </a:solidFill>
                <a:latin typeface="Arial"/>
              </a:rPr>
              <a:t>Federation / Identity Center</a:t>
            </a:r>
          </a:p>
        </p:txBody>
      </p:sp>
      <p:sp>
        <p:nvSpPr>
          <p:cNvPr id="27" name="Rectangle 26"/>
          <p:cNvSpPr/>
          <p:nvPr/>
        </p:nvSpPr>
        <p:spPr>
          <a:xfrm>
            <a:off x="3754892" y="393192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64620" y="393192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IdP issues short-lived access</a:t>
            </a:r>
          </a:p>
        </p:txBody>
      </p:sp>
      <p:sp>
        <p:nvSpPr>
          <p:cNvPr id="29" name="Rectangle 28"/>
          <p:cNvSpPr/>
          <p:nvPr/>
        </p:nvSpPr>
        <p:spPr>
          <a:xfrm>
            <a:off x="7583301" y="393192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3029" y="393192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Standard for workforce access</a:t>
            </a:r>
          </a:p>
        </p:txBody>
      </p:sp>
      <p:sp>
        <p:nvSpPr>
          <p:cNvPr id="31" name="Rectangle 30"/>
          <p:cNvSpPr/>
          <p:nvPr/>
        </p:nvSpPr>
        <p:spPr>
          <a:xfrm>
            <a:off x="777240" y="4754880"/>
            <a:ext cx="297765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754880"/>
            <a:ext cx="2794772" cy="822960"/>
          </a:xfrm>
          <a:prstGeom prst="rect">
            <a:avLst/>
          </a:prstGeom>
          <a:noFill/>
        </p:spPr>
        <p:txBody>
          <a:bodyPr wrap="square" anchor="ctr">
            <a:spAutoFit/>
          </a:bodyPr>
          <a:lstStyle/>
          <a:p>
            <a:pPr algn="l">
              <a:spcAft>
                <a:spcPts val="400"/>
              </a:spcAft>
            </a:pPr>
            <a:r>
              <a:rPr sz="1250" b="1">
                <a:solidFill>
                  <a:srgbClr val="161B26"/>
                </a:solidFill>
                <a:latin typeface="Arial"/>
              </a:rPr>
              <a:t>Permission boundary</a:t>
            </a:r>
          </a:p>
        </p:txBody>
      </p:sp>
      <p:sp>
        <p:nvSpPr>
          <p:cNvPr id="33" name="Rectangle 32"/>
          <p:cNvSpPr/>
          <p:nvPr/>
        </p:nvSpPr>
        <p:spPr>
          <a:xfrm>
            <a:off x="3754892" y="475488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64620" y="475488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Cap on granted permissions</a:t>
            </a:r>
          </a:p>
        </p:txBody>
      </p:sp>
      <p:sp>
        <p:nvSpPr>
          <p:cNvPr id="35" name="Rectangle 34"/>
          <p:cNvSpPr/>
          <p:nvPr/>
        </p:nvSpPr>
        <p:spPr>
          <a:xfrm>
            <a:off x="7583301" y="475488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93029" y="475488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Guardrail for delegated admins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543</a:t>
            </a:r>
          </a:p>
        </p:txBody>
      </p:sp>
    </p:spTree>
  </p:cSld>
  <p:clrMapOvr>
    <a:masterClrMapping/>
  </p:clrMapOvr>
  <p:transition xmlns:p14="http://schemas.microsoft.com/office/powerpoint/2010/main" p14:dur="380">
    <p:fade/>
  </p:transition>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CONTINUOUS COMPLIANCE WINS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Time-to-Detect a Public Bucket — Manual vs Continuous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C0392B"/>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Continuous Config evaluation shrinks the exposure window from months to minutes — the difference between a finding and a breach.</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544</a:t>
            </a:r>
          </a:p>
        </p:txBody>
      </p:sp>
    </p:spTree>
  </p:cSld>
  <p:clrMapOvr>
    <a:masterClrMapping/>
  </p:clrMapOvr>
  <p:transition xmlns:p14="http://schemas.microsoft.com/office/powerpoint/2010/main" p14:dur="380">
    <p:fade/>
  </p:transition>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HOW ACCOUNTS GET COMPROMISED</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Security Failure Modes &amp; Anti-Patterns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Wildcard IAM policies</a:t>
            </a:r>
          </a:p>
          <a:p>
            <a:pPr algn="l">
              <a:spcAft>
                <a:spcPts val="300"/>
              </a:spcAft>
            </a:pPr>
            <a:r>
              <a:rPr sz="1100" b="0">
                <a:solidFill>
                  <a:srgbClr val="5B6372"/>
                </a:solidFill>
                <a:latin typeface="Arial"/>
              </a:rPr>
              <a:t>One leaked key = full access → least privilege + Access Analyzer.</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Long-lived access keys</a:t>
            </a:r>
          </a:p>
          <a:p>
            <a:pPr algn="l">
              <a:spcAft>
                <a:spcPts val="300"/>
              </a:spcAft>
            </a:pPr>
            <a:r>
              <a:rPr sz="1100" b="0">
                <a:solidFill>
                  <a:srgbClr val="5B6372"/>
                </a:solidFill>
                <a:latin typeface="Arial"/>
              </a:rPr>
              <a:t>Hard to rotate/audit → roles and federation.</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Public S3 / open SGs</a:t>
            </a:r>
          </a:p>
          <a:p>
            <a:pPr algn="l">
              <a:spcAft>
                <a:spcPts val="300"/>
              </a:spcAft>
            </a:pPr>
            <a:r>
              <a:rPr sz="1100" b="0">
                <a:solidFill>
                  <a:srgbClr val="5B6372"/>
                </a:solidFill>
                <a:latin typeface="Arial"/>
              </a:rPr>
              <a:t>Accidental exposure → Block Public Access, Config rules.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No CloudTrail / validation</a:t>
            </a:r>
          </a:p>
          <a:p>
            <a:pPr algn="l">
              <a:spcAft>
                <a:spcPts val="300"/>
              </a:spcAft>
            </a:pPr>
            <a:r>
              <a:rPr sz="1100" b="0">
                <a:solidFill>
                  <a:srgbClr val="5B6372"/>
                </a:solidFill>
                <a:latin typeface="Arial"/>
              </a:rPr>
              <a:t>Incidents unauditable → org trail + log-file validation.</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Secrets in code</a:t>
            </a:r>
          </a:p>
          <a:p>
            <a:pPr algn="l">
              <a:spcAft>
                <a:spcPts val="300"/>
              </a:spcAft>
            </a:pPr>
            <a:r>
              <a:rPr sz="1100" b="0">
                <a:solidFill>
                  <a:srgbClr val="5B6372"/>
                </a:solidFill>
                <a:latin typeface="Arial"/>
              </a:rPr>
              <a:t>Leak on repo access → Secrets Manager/SSM.</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Over-privileged pipeline</a:t>
            </a:r>
          </a:p>
          <a:p>
            <a:pPr algn="l">
              <a:spcAft>
                <a:spcPts val="300"/>
              </a:spcAft>
            </a:pPr>
            <a:r>
              <a:rPr sz="1100" b="0">
                <a:solidFill>
                  <a:srgbClr val="5B6372"/>
                </a:solidFill>
                <a:latin typeface="Arial"/>
              </a:rPr>
              <a:t>Code leak → prod compromise → scope deploy roles.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545</a:t>
            </a:r>
          </a:p>
        </p:txBody>
      </p:sp>
    </p:spTree>
  </p:cSld>
  <p:clrMapOvr>
    <a:masterClrMapping/>
  </p:clrMapOvr>
  <p:transition xmlns:p14="http://schemas.microsoft.com/office/powerpoint/2010/main" p14:dur="380">
    <p:fade/>
  </p:transition>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PROVEN PRACTICES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Security Patterns Worth Adopting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Least privilege everywhere</a:t>
            </a:r>
          </a:p>
          <a:p>
            <a:pPr algn="l">
              <a:spcAft>
                <a:spcPts val="300"/>
              </a:spcAft>
            </a:pPr>
            <a:r>
              <a:rPr sz="1100" b="0">
                <a:solidFill>
                  <a:srgbClr val="5B6372"/>
                </a:solidFill>
                <a:latin typeface="Arial"/>
              </a:rPr>
              <a:t>Roles, boundaries, scoped policies, no wildcards.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Encrypt at rest and in transit</a:t>
            </a:r>
          </a:p>
          <a:p>
            <a:pPr algn="l">
              <a:spcAft>
                <a:spcPts val="300"/>
              </a:spcAft>
            </a:pPr>
            <a:r>
              <a:rPr sz="1100" b="0">
                <a:solidFill>
                  <a:srgbClr val="5B6372"/>
                </a:solidFill>
                <a:latin typeface="Arial"/>
              </a:rPr>
              <a:t>KMS + TLS by default on every store.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Continuous compliance</a:t>
            </a:r>
          </a:p>
          <a:p>
            <a:pPr algn="l">
              <a:spcAft>
                <a:spcPts val="300"/>
              </a:spcAft>
            </a:pPr>
            <a:r>
              <a:rPr sz="1100" b="0">
                <a:solidFill>
                  <a:srgbClr val="5B6372"/>
                </a:solidFill>
                <a:latin typeface="Arial"/>
              </a:rPr>
              <a:t>Config rules + conformance packs, auto-remediate.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Central logging account</a:t>
            </a:r>
          </a:p>
          <a:p>
            <a:pPr algn="l">
              <a:spcAft>
                <a:spcPts val="300"/>
              </a:spcAft>
            </a:pPr>
            <a:r>
              <a:rPr sz="1100" b="0">
                <a:solidFill>
                  <a:srgbClr val="5B6372"/>
                </a:solidFill>
                <a:latin typeface="Arial"/>
              </a:rPr>
              <a:t>Immutable CloudTrail + Security Hub aggregation.</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Guardrails by SCP</a:t>
            </a:r>
          </a:p>
          <a:p>
            <a:pPr algn="l">
              <a:spcAft>
                <a:spcPts val="300"/>
              </a:spcAft>
            </a:pPr>
            <a:r>
              <a:rPr sz="1100" b="0">
                <a:solidFill>
                  <a:srgbClr val="5B6372"/>
                </a:solidFill>
                <a:latin typeface="Arial"/>
              </a:rPr>
              <a:t>Prevent whole action classes org-wide.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DevSecOps</a:t>
            </a:r>
          </a:p>
          <a:p>
            <a:pPr algn="l">
              <a:spcAft>
                <a:spcPts val="300"/>
              </a:spcAft>
            </a:pPr>
            <a:r>
              <a:rPr sz="1100" b="0">
                <a:solidFill>
                  <a:srgbClr val="5B6372"/>
                </a:solidFill>
                <a:latin typeface="Arial"/>
              </a:rPr>
              <a:t>Scan code, deps and IaC in the pipeline.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546</a:t>
            </a:r>
          </a:p>
        </p:txBody>
      </p:sp>
    </p:spTree>
  </p:cSld>
  <p:clrMapOvr>
    <a:masterClrMapping/>
  </p:clrMapOvr>
  <p:transition xmlns:p14="http://schemas.microsoft.com/office/powerpoint/2010/main" p14:dur="380">
    <p:fade/>
  </p:transition>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PREVENT, DETECT, REMEDIATE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Architecture Decision — Where Do Compliance Controls Live?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574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A</a:t>
            </a:r>
          </a:p>
        </p:txBody>
      </p:sp>
      <p:sp>
        <p:nvSpPr>
          <p:cNvPr id="11" name="TextBox 10"/>
          <p:cNvSpPr txBox="1"/>
          <p:nvPr/>
        </p:nvSpPr>
        <p:spPr>
          <a:xfrm>
            <a:off x="1645920" y="2084831"/>
            <a:ext cx="2286000" cy="640080"/>
          </a:xfrm>
          <a:prstGeom prst="rect">
            <a:avLst/>
          </a:prstGeom>
          <a:noFill/>
        </p:spPr>
        <p:txBody>
          <a:bodyPr wrap="square" anchor="ctr">
            <a:spAutoFit/>
          </a:bodyPr>
          <a:lstStyle/>
          <a:p>
            <a:pPr algn="l">
              <a:spcAft>
                <a:spcPts val="400"/>
              </a:spcAft>
            </a:pPr>
            <a:r>
              <a:rPr sz="1450" b="1">
                <a:solidFill>
                  <a:srgbClr val="C0392B"/>
                </a:solidFill>
                <a:latin typeface="Arial"/>
              </a:rPr>
              <a:t>Preventive (SCP / policy)</a:t>
            </a:r>
          </a:p>
        </p:txBody>
      </p:sp>
      <p:sp>
        <p:nvSpPr>
          <p:cNvPr id="12" name="TextBox 11"/>
          <p:cNvSpPr txBox="1"/>
          <p:nvPr/>
        </p:nvSpPr>
        <p:spPr>
          <a:xfrm>
            <a:off x="103327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Stop the action from ever happening org-wide. Strongest — but blunt; can block legitimate edge cases.</a:t>
            </a:r>
          </a:p>
        </p:txBody>
      </p:sp>
      <p:sp>
        <p:nvSpPr>
          <p:cNvPr id="13" name="Rectangle 12"/>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2803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7" name="TextBox 16"/>
          <p:cNvSpPr txBox="1"/>
          <p:nvPr/>
        </p:nvSpPr>
        <p:spPr>
          <a:xfrm>
            <a:off x="544068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Detective (Config / GuardDuty)</a:t>
            </a:r>
          </a:p>
        </p:txBody>
      </p:sp>
      <p:sp>
        <p:nvSpPr>
          <p:cNvPr id="18" name="TextBox 17"/>
          <p:cNvSpPr txBox="1"/>
          <p:nvPr/>
        </p:nvSpPr>
        <p:spPr>
          <a:xfrm>
            <a:off x="482803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Allow, but continuously detect and score. Flexible and auditable — leaves a (short) exposure window.</a:t>
            </a:r>
          </a:p>
        </p:txBody>
      </p:sp>
      <p:sp>
        <p:nvSpPr>
          <p:cNvPr id="19" name="Rectangle 18"/>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2279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C</a:t>
            </a:r>
          </a:p>
        </p:txBody>
      </p:sp>
      <p:sp>
        <p:nvSpPr>
          <p:cNvPr id="23" name="TextBox 22"/>
          <p:cNvSpPr txBox="1"/>
          <p:nvPr/>
        </p:nvSpPr>
        <p:spPr>
          <a:xfrm>
            <a:off x="923544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Automated remediation</a:t>
            </a:r>
          </a:p>
        </p:txBody>
      </p:sp>
      <p:sp>
        <p:nvSpPr>
          <p:cNvPr id="24" name="TextBox 23"/>
          <p:cNvSpPr txBox="1"/>
          <p:nvPr/>
        </p:nvSpPr>
        <p:spPr>
          <a:xfrm>
            <a:off x="862279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Detect then auto-fix (Config → SSM). Closes the window fast — needs careful scoping and logging.</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547</a:t>
            </a:r>
          </a:p>
        </p:txBody>
      </p:sp>
    </p:spTree>
  </p:cSld>
  <p:clrMapOvr>
    <a:masterClrMapping/>
  </p:clrMapOvr>
  <p:transition xmlns:p14="http://schemas.microsoft.com/office/powerpoint/2010/main" p14:dur="380">
    <p:fade/>
  </p:transition>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EVIDENCE ON DEMAND</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Passing an external security audit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An auditor asks you to prove that all volumes are encrypted and no bucket is public, historically and now.</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C0392B"/>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Point-in-time console screenshots don't prove continuous compliance over the audit period.</a:t>
            </a:r>
          </a:p>
          <a:p>
            <a:pPr>
              <a:spcAft>
                <a:spcPts val="700"/>
              </a:spcAft>
            </a:pPr>
            <a:r>
              <a:rPr sz="1300" b="0">
                <a:solidFill>
                  <a:srgbClr val="161B26"/>
                </a:solidFill>
                <a:latin typeface="Arial"/>
              </a:rPr>
              <a:t>•  AWS Config records configuration history and rule-compliance over time — that history is the evidence.</a:t>
            </a:r>
          </a:p>
          <a:p>
            <a:pPr>
              <a:spcAft>
                <a:spcPts val="700"/>
              </a:spcAft>
            </a:pPr>
            <a:r>
              <a:rPr sz="1300" b="0">
                <a:solidFill>
                  <a:srgbClr val="161B26"/>
                </a:solidFill>
                <a:latin typeface="Arial"/>
              </a:rPr>
              <a:t>•  CloudTrail with log-file validation proves the audit record itself wasn't tampered with.</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Present Config compliance history and conformance-pack results as continuous evidence, backed by a validated CloudTrail — turning audit from a scramble into a query.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548</a:t>
            </a:r>
          </a:p>
        </p:txBody>
      </p:sp>
    </p:spTree>
  </p:cSld>
  <p:clrMapOvr>
    <a:masterClrMapping/>
  </p:clrMapOvr>
  <p:transition xmlns:p14="http://schemas.microsoft.com/office/powerpoint/2010/main" p14:dur="380">
    <p:fade/>
  </p:transition>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LEAST PRIVILEGE IN PRACTICE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An app needs one new permission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 service fails with AccessDenied writing to a new S3 prefix. The quick fix is to grant s3:* on all buckets.</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C0392B"/>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A wildcard grant fixes the error but massively widens blast radius if the role is ever compromised.</a:t>
            </a:r>
          </a:p>
          <a:p>
            <a:pPr>
              <a:spcAft>
                <a:spcPts val="700"/>
              </a:spcAft>
            </a:pPr>
            <a:r>
              <a:rPr sz="1300" b="0">
                <a:solidFill>
                  <a:srgbClr val="161B26"/>
                </a:solidFill>
                <a:latin typeface="Arial"/>
              </a:rPr>
              <a:t>•  IAM Access Analyzer can generate a policy scoped to exactly the actions and resources the app used.</a:t>
            </a:r>
          </a:p>
          <a:p>
            <a:pPr>
              <a:spcAft>
                <a:spcPts val="700"/>
              </a:spcAft>
            </a:pPr>
            <a:r>
              <a:rPr sz="1300" b="0">
                <a:solidFill>
                  <a:srgbClr val="161B26"/>
                </a:solidFill>
                <a:latin typeface="Arial"/>
              </a:rPr>
              <a:t>•  The correct grant is s3:PutObject on that specific bucket/prefix, nothing more.</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Grant the single scoped permission the app actually needs (not a wildcard), using Access Analyzer to right-size the policy — keeping least privilege intact under time pressure.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549</a:t>
            </a:r>
          </a:p>
        </p:txBody>
      </p:sp>
    </p:spTree>
  </p:cSld>
  <p:clrMapOvr>
    <a:masterClrMapping/>
  </p:clrMapOvr>
  <p:transition xmlns:p14="http://schemas.microsoft.com/office/powerpoint/2010/main" p14:dur="380">
    <p:fade/>
  </p:transition>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FROM POLICY TO GUARDRAILS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Worked Analysis — Building a Compliance Blueprint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73152" cy="76581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1028" y="178308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78308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Requirement: encrypt all data at rest</a:t>
            </a:r>
          </a:p>
        </p:txBody>
      </p:sp>
      <p:sp>
        <p:nvSpPr>
          <p:cNvPr id="11" name="TextBox 10"/>
          <p:cNvSpPr txBox="1"/>
          <p:nvPr/>
        </p:nvSpPr>
        <p:spPr>
          <a:xfrm>
            <a:off x="5213908" y="178308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Config rule encrypted-volumes + S3 default encryption; KMS keys with scoped policies.</a:t>
            </a:r>
          </a:p>
        </p:txBody>
      </p:sp>
      <p:sp>
        <p:nvSpPr>
          <p:cNvPr id="12" name="Rectangle 11"/>
          <p:cNvSpPr/>
          <p:nvPr/>
        </p:nvSpPr>
        <p:spPr>
          <a:xfrm>
            <a:off x="777240" y="254889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890"/>
            <a:ext cx="73152" cy="76581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31028" y="254889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54889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Requirement: no public data</a:t>
            </a:r>
          </a:p>
        </p:txBody>
      </p:sp>
      <p:sp>
        <p:nvSpPr>
          <p:cNvPr id="16" name="TextBox 15"/>
          <p:cNvSpPr txBox="1"/>
          <p:nvPr/>
        </p:nvSpPr>
        <p:spPr>
          <a:xfrm>
            <a:off x="5213908" y="254889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S3 Block Public Access org-wide + s3-bucket-public-read-prohibited rule.</a:t>
            </a:r>
          </a:p>
        </p:txBody>
      </p:sp>
      <p:sp>
        <p:nvSpPr>
          <p:cNvPr id="17" name="Rectangle 16"/>
          <p:cNvSpPr/>
          <p:nvPr/>
        </p:nvSpPr>
        <p:spPr>
          <a:xfrm>
            <a:off x="777240" y="331470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4700"/>
            <a:ext cx="73152" cy="76581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31028" y="331470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31470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Requirement: full audit trail</a:t>
            </a:r>
          </a:p>
        </p:txBody>
      </p:sp>
      <p:sp>
        <p:nvSpPr>
          <p:cNvPr id="21" name="TextBox 20"/>
          <p:cNvSpPr txBox="1"/>
          <p:nvPr/>
        </p:nvSpPr>
        <p:spPr>
          <a:xfrm>
            <a:off x="5213908" y="331470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Org CloudTrail to an encrypted, access-controlled logging account with validation.</a:t>
            </a:r>
          </a:p>
        </p:txBody>
      </p:sp>
      <p:sp>
        <p:nvSpPr>
          <p:cNvPr id="22" name="Rectangle 21"/>
          <p:cNvSpPr/>
          <p:nvPr/>
        </p:nvSpPr>
        <p:spPr>
          <a:xfrm>
            <a:off x="777240" y="408051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0510"/>
            <a:ext cx="73152" cy="76581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1028" y="408051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08051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Requirement: least-privilege identity</a:t>
            </a:r>
          </a:p>
        </p:txBody>
      </p:sp>
      <p:sp>
        <p:nvSpPr>
          <p:cNvPr id="26" name="TextBox 25"/>
          <p:cNvSpPr txBox="1"/>
          <p:nvPr/>
        </p:nvSpPr>
        <p:spPr>
          <a:xfrm>
            <a:off x="5213908" y="408051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Roles + Identity Center + permission boundaries + Access Analyzer reviews.</a:t>
            </a:r>
          </a:p>
        </p:txBody>
      </p:sp>
      <p:sp>
        <p:nvSpPr>
          <p:cNvPr id="27" name="Rectangle 26"/>
          <p:cNvSpPr/>
          <p:nvPr/>
        </p:nvSpPr>
        <p:spPr>
          <a:xfrm>
            <a:off x="777240" y="5010912"/>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10912"/>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10235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TAKEAWAY</a:t>
            </a:r>
          </a:p>
        </p:txBody>
      </p:sp>
      <p:sp>
        <p:nvSpPr>
          <p:cNvPr id="30" name="TextBox 29"/>
          <p:cNvSpPr txBox="1"/>
          <p:nvPr/>
        </p:nvSpPr>
        <p:spPr>
          <a:xfrm>
            <a:off x="1033272" y="5394960"/>
            <a:ext cx="10085832" cy="457200"/>
          </a:xfrm>
          <a:prstGeom prst="rect">
            <a:avLst/>
          </a:prstGeom>
          <a:noFill/>
        </p:spPr>
        <p:txBody>
          <a:bodyPr wrap="square" anchor="t">
            <a:spAutoFit/>
          </a:bodyPr>
          <a:lstStyle/>
          <a:p>
            <a:pPr algn="l">
              <a:spcAft>
                <a:spcPts val="400"/>
              </a:spcAft>
            </a:pPr>
            <a:r>
              <a:rPr sz="1300" b="1">
                <a:solidFill>
                  <a:srgbClr val="161B26"/>
                </a:solidFill>
                <a:latin typeface="Arial"/>
              </a:rPr>
              <a:t>A compliance blueprint maps each written requirement to a concrete, testable AWS control — so 'we are compliant' is something you can prove, continuously.</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550</a:t>
            </a:r>
          </a:p>
        </p:txBody>
      </p:sp>
    </p:spTree>
  </p:cSld>
  <p:clrMapOvr>
    <a:masterClrMapping/>
  </p:clrMapOvr>
  <p:transition xmlns:p14="http://schemas.microsoft.com/office/powerpoint/2010/main" p14:dur="380">
    <p:fade/>
  </p:transition>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IAM · IAM IDENTITY CENTER · STS · RESOURCE POLICIES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Identity and temporary access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Grant human and workload access through least privilege, federation and short-lived sessions.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Identity policies, resource policies, permission boundaries and SCPs intersect to determine effective access.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STS issues temporary credentials for roles and federation.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IAM Identity Center assigns workforce access across accounts/applications using permission sets.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551</a:t>
            </a:r>
          </a:p>
        </p:txBody>
      </p:sp>
    </p:spTree>
  </p:cSld>
  <p:clrMapOvr>
    <a:masterClrMapping/>
  </p:clrMapOvr>
  <p:transition xmlns:p14="http://schemas.microsoft.com/office/powerpoint/2010/main" p14:dur="380">
    <p:fade/>
  </p:transition>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Identity and temporary access: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roles and federation for humans/workloads; use resource policies for cross-principal resource access where supported.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Constrain trust policies, require context such as ExternalId/tags where appropriate, analyse access and remove unused permission.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An Allow can still be blocked by an explicit deny, permission boundary, session policy or SCP.</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Principal/session, evaluated policy layers, Access Analyzer finding, CloudTrail event and last-accessed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552</a:t>
            </a:r>
          </a:p>
        </p:txBody>
      </p:sp>
    </p:spTree>
  </p:cSld>
  <p:clrMapOvr>
    <a:masterClrMapping/>
  </p:clrMapOvr>
  <p:transition xmlns:p14="http://schemas.microsoft.com/office/powerpoint/2010/main" p14:dur="380">
    <p:fade/>
  </p:transition>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KMS · SECRETS MANAGER · PARAMETER STORE · ACM</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Encryption and secrets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Protect data and credentials through governed keys, rotation and workload-time retrieval.</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KMS keys enforce cryptographic permissions through key and IAM policies and emit CloudTrail evidence.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Secrets Manager stores/rotates secrets and versions; Parameter Store manages hierarchical parameters and SecureString values.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ACM provisions and renews supported public/private certificates for integrated services.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553</a:t>
            </a:r>
          </a:p>
        </p:txBody>
      </p:sp>
    </p:spTree>
  </p:cSld>
  <p:clrMapOvr>
    <a:masterClrMapping/>
  </p:clrMapOvr>
  <p:transition xmlns:p14="http://schemas.microsoft.com/office/powerpoint/2010/main" p14:dur="380">
    <p:fade/>
  </p:transition>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Encryption and secrets: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Secrets Manager for rotating credentials, Parameter Store for configuration/parameters and KMS for control of encryption keys.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Use envelope encryption, scope decrypt by key/context, retrieve at runtime, rotate and never log secret values.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Encrypting data does not help if broad principals can decrypt it or plaintext is copied into pipeline logs.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Key policy/grant, encryption context, rotation/version stage, access event and failed-decrypt alert.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554</a:t>
            </a:r>
          </a:p>
        </p:txBody>
      </p:sp>
    </p:spTree>
  </p:cSld>
  <p:clrMapOvr>
    <a:masterClrMapping/>
  </p:clrMapOvr>
  <p:transition xmlns:p14="http://schemas.microsoft.com/office/powerpoint/2010/main" p14:dur="380">
    <p:fade/>
  </p:transition>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ORGANIZATIONS · SCPS · CONTROL TOWER GUARDRAILS · CONFIG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Preventive governance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Set permission ceilings and mandatory account controls while leaving workload teams clear deployment paths.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SCPs limit available permissions but do not grant permissions.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Control Tower preventive/proactive/detective controls apply managed governance patterns.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Config rules evaluate resource configuration and can trigger scoped remediation.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555</a:t>
            </a:r>
          </a:p>
        </p:txBody>
      </p:sp>
    </p:spTree>
  </p:cSld>
  <p:clrMapOvr>
    <a:masterClrMapping/>
  </p:clrMapOvr>
  <p:transition xmlns:p14="http://schemas.microsoft.com/office/powerpoint/2010/main" p14:dur="380">
    <p:fade/>
  </p:transition>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Preventive governance: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Use preventive controls for actions that must never occur and detective controls where context or exception handling is required.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Test in a canary OU, protect break-glass paths, document exemptions and monitor policy/control drift.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deny deployed at the root without testing can block security and recovery operations across all accounts.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Policy version, target hierarchy, simulation/test, exception, Config evaluation and remediation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556</a:t>
            </a:r>
          </a:p>
        </p:txBody>
      </p:sp>
    </p:spTree>
  </p:cSld>
  <p:clrMapOvr>
    <a:masterClrMapping/>
  </p:clrMapOvr>
  <p:transition xmlns:p14="http://schemas.microsoft.com/office/powerpoint/2010/main" p14:dur="380">
    <p:fade/>
  </p:transition>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SECURITY HUB · GUARDDUTY · INSPECTOR · MACIE · WAF/SHIELD/FIREWALL MANAGER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foundations: Threat detection and edge protection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Detect suspicious activity, vulnerabilities and sensitive-data exposure, then apply consistent edge/network protections.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1</a:t>
            </a:r>
          </a:p>
          <a:p>
            <a:pPr algn="l">
              <a:spcAft>
                <a:spcPts val="300"/>
              </a:spcAft>
            </a:pPr>
            <a:r>
              <a:rPr sz="1050" b="0">
                <a:solidFill>
                  <a:srgbClr val="5B6372"/>
                </a:solidFill>
                <a:latin typeface="Arial"/>
              </a:rPr>
              <a:t>GuardDuty analyses AWS data sources for threats; Inspector scans supported compute/container functions for vulnerabilities.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2</a:t>
            </a:r>
          </a:p>
          <a:p>
            <a:pPr algn="l">
              <a:spcAft>
                <a:spcPts val="300"/>
              </a:spcAft>
            </a:pPr>
            <a:r>
              <a:rPr sz="1050" b="0">
                <a:solidFill>
                  <a:srgbClr val="5B6372"/>
                </a:solidFill>
                <a:latin typeface="Arial"/>
              </a:rPr>
              <a:t>Macie discovers sensitive data in S3; Security Hub normalises/aggregates findings and workflow status.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FEATURE 3</a:t>
            </a:r>
          </a:p>
          <a:p>
            <a:pPr algn="l">
              <a:spcAft>
                <a:spcPts val="300"/>
              </a:spcAft>
            </a:pPr>
            <a:r>
              <a:rPr sz="1050" b="0">
                <a:solidFill>
                  <a:srgbClr val="5B6372"/>
                </a:solidFill>
                <a:latin typeface="Arial"/>
              </a:rPr>
              <a:t>WAF filters Layer 7 requests, Shield mitigates DDoS, and Firewall Manager applies policies across accounts.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557</a:t>
            </a:r>
          </a:p>
        </p:txBody>
      </p:sp>
    </p:spTree>
  </p:cSld>
  <p:clrMapOvr>
    <a:masterClrMapping/>
  </p:clrMapOvr>
  <p:transition xmlns:p14="http://schemas.microsoft.com/office/powerpoint/2010/main" p14:dur="380">
    <p:fade/>
  </p:transition>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SERVICE DECISION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Threat detection and edge protection: selection and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CHOOSE WHEN</a:t>
            </a:r>
          </a:p>
          <a:p>
            <a:pPr algn="l">
              <a:spcAft>
                <a:spcPts val="300"/>
              </a:spcAft>
            </a:pPr>
            <a:r>
              <a:rPr sz="1050" b="0">
                <a:solidFill>
                  <a:srgbClr val="5B6372"/>
                </a:solidFill>
                <a:latin typeface="Arial"/>
              </a:rPr>
              <a:t>Select the control from threat surface: identity/network behaviour, vulnerable software, sensitive data, application requests or organization-wide policy.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DEVOPS ENGINEERING</a:t>
            </a:r>
          </a:p>
          <a:p>
            <a:pPr algn="l">
              <a:spcAft>
                <a:spcPts val="300"/>
              </a:spcAft>
            </a:pPr>
            <a:r>
              <a:rPr sz="1050" b="0">
                <a:solidFill>
                  <a:srgbClr val="5B6372"/>
                </a:solidFill>
                <a:latin typeface="Arial"/>
              </a:rPr>
              <a:t>Delegate administration, tune findings/rules, enrich ownership, automate only well-understood containment and preserve evidence.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Enabling every managed rule in block mode without observation can create a security-induced outage.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Finding ID/severity, affected resource, rule sample, workflow status, owner, containment and closure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558</a:t>
            </a:r>
          </a:p>
        </p:txBody>
      </p:sp>
    </p:spTree>
  </p:cSld>
  <p:clrMapOvr>
    <a:masterClrMapping/>
  </p:clrMapOvr>
  <p:transition xmlns:p14="http://schemas.microsoft.com/office/powerpoint/2010/main" p14:dur="380">
    <p:fade/>
  </p:transition>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Developer deep dive: IAM, STS and Cognito authorization boundaries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Separate workforce, workload and customer identity while reasoning through every policy layer that shapes effective permission.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IAM · STS · IAM Identity Center · Cognito</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Create a customer role with narrow S3 permissions, a vendor principal in the trust policy and a unique ExternalId condition; log every assumed session.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Granting the vendor identity directly across resources is hard to revoke and audit; a trust policy alone grants no S3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559</a:t>
            </a:r>
          </a:p>
        </p:txBody>
      </p:sp>
    </p:spTree>
  </p:cSld>
  <p:clrMapOvr>
    <a:masterClrMapping/>
  </p:clrMapOvr>
  <p:transition xmlns:p14="http://schemas.microsoft.com/office/powerpoint/2010/main" p14:dur="380">
    <p:fade/>
  </p:transition>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SERVICE MECHANICS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IAM, STS and Cognito authorization boundaries: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IAM evaluation combines identity and resource policies, with explicit denies, permission boundaries, session policies and SCPs limiting the final result.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A role trust policy controls who may assume the role; the role permission policy controls what the resulting session may do.</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STS sessions are temporary and can carry session tags for attribute-based access; ExternalId helps mitigate confused-deputy risk in third-party access.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Cognito user pools authenticate application users, while identity pools exchange supported identities for scoped AWS credentials.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560</a:t>
            </a:r>
          </a:p>
        </p:txBody>
      </p:sp>
    </p:spTree>
  </p:cSld>
  <p:clrMapOvr>
    <a:masterClrMapping/>
  </p:clrMapOvr>
  <p:transition xmlns:p14="http://schemas.microsoft.com/office/powerpoint/2010/main" p14:dur="380">
    <p:fade/>
  </p:transition>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CONTROL AND DATA FLOW</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IAM, STS and Cognito authorization boundaries: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Authenticate identity</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Evaluate trust</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Issue temporary session</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Evaluate effective policies</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Record and review access</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561</a:t>
            </a:r>
          </a:p>
        </p:txBody>
      </p:sp>
    </p:spTree>
  </p:cSld>
  <p:clrMapOvr>
    <a:masterClrMapping/>
  </p:clrMapOvr>
  <p:transition xmlns:p14="http://schemas.microsoft.com/office/powerpoint/2010/main" p14:dur="380">
    <p:fade/>
  </p:transition>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IAM, STS and Cognito authorization boundaries: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WORKFORCE</a:t>
            </a:r>
          </a:p>
          <a:p>
            <a:pPr algn="l">
              <a:spcAft>
                <a:spcPts val="300"/>
              </a:spcAft>
            </a:pPr>
            <a:r>
              <a:rPr sz="1050" b="0">
                <a:solidFill>
                  <a:srgbClr val="5B6372"/>
                </a:solidFill>
                <a:latin typeface="Arial"/>
              </a:rPr>
              <a:t>Use IAM Identity Center and account permission sets for centrally managed employee access.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WORKLOAD</a:t>
            </a:r>
          </a:p>
          <a:p>
            <a:pPr algn="l">
              <a:spcAft>
                <a:spcPts val="300"/>
              </a:spcAft>
            </a:pPr>
            <a:r>
              <a:rPr sz="1050" b="0">
                <a:solidFill>
                  <a:srgbClr val="5B6372"/>
                </a:solidFill>
                <a:latin typeface="Arial"/>
              </a:rPr>
              <a:t>Attach roles to compute and restrict trust to the intended service, account and conditions.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CUSTOMER</a:t>
            </a:r>
          </a:p>
          <a:p>
            <a:pPr algn="l">
              <a:spcAft>
                <a:spcPts val="300"/>
              </a:spcAft>
            </a:pPr>
            <a:r>
              <a:rPr sz="1050" b="0">
                <a:solidFill>
                  <a:srgbClr val="5B6372"/>
                </a:solidFill>
                <a:latin typeface="Arial"/>
              </a:rPr>
              <a:t>Use user pools for application authentication and identity pools only when clients need scoped AWS credentials.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ANALYSIS</a:t>
            </a:r>
          </a:p>
          <a:p>
            <a:pPr algn="l">
              <a:spcAft>
                <a:spcPts val="300"/>
              </a:spcAft>
            </a:pPr>
            <a:r>
              <a:rPr sz="1050" b="0">
                <a:solidFill>
                  <a:srgbClr val="5B6372"/>
                </a:solidFill>
                <a:latin typeface="Arial"/>
              </a:rPr>
              <a:t>Use policy simulation, Access Analyzer and last-accessed data to validate and reduce permissions.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562</a:t>
            </a:r>
          </a:p>
        </p:txBody>
      </p:sp>
    </p:spTree>
  </p:cSld>
  <p:clrMapOvr>
    <a:masterClrMapping/>
  </p:clrMapOvr>
  <p:transition xmlns:p14="http://schemas.microsoft.com/office/powerpoint/2010/main" p14:dur="380">
    <p:fade/>
  </p:transition>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IAM, STS and Cognito authorization boundaries: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SaaS vendor needs read access to one customer prefix without receiving reusable customer credentials.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Create a customer role with narrow S3 permissions, a vendor principal in the trust policy and a unique ExternalId condition; log every assumed session.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Granting the vendor identity directly across resources is hard to revoke and audit; a trust policy alone grants no S3 action.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Trust policy, permission policy, ExternalId control, session ARN/tags, Access Analyzer result and CloudTrail AssumeRole event.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563</a:t>
            </a:r>
          </a:p>
        </p:txBody>
      </p:sp>
    </p:spTree>
  </p:cSld>
  <p:clrMapOvr>
    <a:masterClrMapping/>
  </p:clrMapOvr>
  <p:transition xmlns:p14="http://schemas.microsoft.com/office/powerpoint/2010/main" p14:dur="380">
    <p:fade/>
  </p:transition>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AWS DEVELOPER SERVICES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Developer deep dive: KMS, secrets and application-edge protection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PURPOSE</a:t>
            </a:r>
          </a:p>
          <a:p>
            <a:pPr algn="l">
              <a:spcAft>
                <a:spcPts val="300"/>
              </a:spcAft>
            </a:pPr>
            <a:r>
              <a:rPr sz="1050" b="0">
                <a:solidFill>
                  <a:srgbClr val="5B6372"/>
                </a:solidFill>
                <a:latin typeface="Arial"/>
              </a:rPr>
              <a:t>Protect data, credentials and public application paths with controls whose permissions, rotation and failure behavior are observable.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SERVICE BOUNDARY</a:t>
            </a:r>
          </a:p>
          <a:p>
            <a:pPr algn="l">
              <a:spcAft>
                <a:spcPts val="300"/>
              </a:spcAft>
            </a:pPr>
            <a:r>
              <a:rPr sz="1050" b="0">
                <a:solidFill>
                  <a:srgbClr val="5B6372"/>
                </a:solidFill>
                <a:latin typeface="Arial"/>
              </a:rPr>
              <a:t>KMS · Secrets Manager · ACM · WAF · Shield</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PRIMARY DESIGN DECISION</a:t>
            </a:r>
          </a:p>
          <a:p>
            <a:pPr algn="l">
              <a:spcAft>
                <a:spcPts val="300"/>
              </a:spcAft>
            </a:pPr>
            <a:r>
              <a:rPr sz="1050" b="0">
                <a:solidFill>
                  <a:srgbClr val="5B6372"/>
                </a:solidFill>
                <a:latin typeface="Arial"/>
              </a:rPr>
              <a:t>Use staged secret rotation with connection refresh, encrypt under a scoped key, deploy WAF in count mode first and promote the validated rule to block.</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BOUNDARY</a:t>
            </a:r>
          </a:p>
          <a:p>
            <a:pPr algn="l">
              <a:spcAft>
                <a:spcPts val="300"/>
              </a:spcAft>
            </a:pPr>
            <a:r>
              <a:rPr sz="1050" b="0">
                <a:solidFill>
                  <a:srgbClr val="5B6372"/>
                </a:solidFill>
                <a:latin typeface="Arial"/>
              </a:rPr>
              <a:t>A key policy that excludes recovery administrators can lock out data; immediate blocking can create a security-induced outage.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564</a:t>
            </a:r>
          </a:p>
        </p:txBody>
      </p:sp>
    </p:spTree>
  </p:cSld>
  <p:clrMapOvr>
    <a:masterClrMapping/>
  </p:clrMapOvr>
  <p:transition xmlns:p14="http://schemas.microsoft.com/office/powerpoint/2010/main" p14:dur="380">
    <p:fade/>
  </p:transition>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SERVICE MECHANICS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KMS, secrets and application-edge protection: how it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1</a:t>
            </a:r>
          </a:p>
          <a:p>
            <a:pPr algn="l">
              <a:spcAft>
                <a:spcPts val="300"/>
              </a:spcAft>
            </a:pPr>
            <a:r>
              <a:rPr sz="1050" b="0">
                <a:solidFill>
                  <a:srgbClr val="5B6372"/>
                </a:solidFill>
                <a:latin typeface="Arial"/>
              </a:rPr>
              <a:t>KMS performs cryptographic operations under key and IAM policies; envelope encryption keeps large data operations outside KMS while protecting data keys.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2</a:t>
            </a:r>
          </a:p>
          <a:p>
            <a:pPr algn="l">
              <a:spcAft>
                <a:spcPts val="300"/>
              </a:spcAft>
            </a:pPr>
            <a:r>
              <a:rPr sz="1050" b="0">
                <a:solidFill>
                  <a:srgbClr val="5B6372"/>
                </a:solidFill>
                <a:latin typeface="Arial"/>
              </a:rPr>
              <a:t>Encryption context can bind decrypt permission to non-secret request attributes and is recorded with supported audit events.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3</a:t>
            </a:r>
          </a:p>
          <a:p>
            <a:pPr algn="l">
              <a:spcAft>
                <a:spcPts val="300"/>
              </a:spcAft>
            </a:pPr>
            <a:r>
              <a:rPr sz="1050" b="0">
                <a:solidFill>
                  <a:srgbClr val="5B6372"/>
                </a:solidFill>
                <a:latin typeface="Arial"/>
              </a:rPr>
              <a:t>Secrets Manager stores versioned secret values with staging labels and can automate rotation; applications should cache retrieval and handle rotation overlap.</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MECHANIC 4</a:t>
            </a:r>
          </a:p>
          <a:p>
            <a:pPr algn="l">
              <a:spcAft>
                <a:spcPts val="300"/>
              </a:spcAft>
            </a:pPr>
            <a:r>
              <a:rPr sz="1050" b="0">
                <a:solidFill>
                  <a:srgbClr val="5B6372"/>
                </a:solidFill>
                <a:latin typeface="Arial"/>
              </a:rPr>
              <a:t>ACM manages supported certificates, WAF evaluates Layer 7 rules and Shield provides DDoS protections; Firewall Manager applies policies across governed accounts.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565</a:t>
            </a:r>
          </a:p>
        </p:txBody>
      </p:sp>
    </p:spTree>
  </p:cSld>
  <p:clrMapOvr>
    <a:masterClrMapping/>
  </p:clrMapOvr>
  <p:transition xmlns:p14="http://schemas.microsoft.com/office/powerpoint/2010/main" p14:dur="380">
    <p:fade/>
  </p:transition>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CONTROL AND DATA FLOW</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KMS, secrets and application-edge protection: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Classify data and threat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Select key/secret ownership</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Authorize runtime retrieval</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Inspect edge request</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Rotate, alert and retain evidence</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566</a:t>
            </a:r>
          </a:p>
        </p:txBody>
      </p:sp>
    </p:spTree>
  </p:cSld>
  <p:clrMapOvr>
    <a:masterClrMapping/>
  </p:clrMapOvr>
  <p:transition xmlns:p14="http://schemas.microsoft.com/office/powerpoint/2010/main" p14:dur="380">
    <p:fade/>
  </p:transition>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CHOOSE DELIBERATELY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KMS, secrets and application-edge protection: configuration decisions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KEY OWNERSHIP</a:t>
            </a:r>
          </a:p>
          <a:p>
            <a:pPr algn="l">
              <a:spcAft>
                <a:spcPts val="300"/>
              </a:spcAft>
            </a:pPr>
            <a:r>
              <a:rPr sz="1050" b="0">
                <a:solidFill>
                  <a:srgbClr val="5B6372"/>
                </a:solidFill>
                <a:latin typeface="Arial"/>
              </a:rPr>
              <a:t>Choose AWS-owned, AWS-managed or customer-managed keys from policy, separation, rotation and cross-account requirements.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GRANTS</a:t>
            </a:r>
          </a:p>
          <a:p>
            <a:pPr algn="l">
              <a:spcAft>
                <a:spcPts val="300"/>
              </a:spcAft>
            </a:pPr>
            <a:r>
              <a:rPr sz="1050" b="0">
                <a:solidFill>
                  <a:srgbClr val="5B6372"/>
                </a:solidFill>
                <a:latin typeface="Arial"/>
              </a:rPr>
              <a:t>Use grants for delegated service use where appropriate and retire them with the consuming resource lifecycle.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ROTATION</a:t>
            </a:r>
          </a:p>
          <a:p>
            <a:pPr algn="l">
              <a:spcAft>
                <a:spcPts val="300"/>
              </a:spcAft>
            </a:pPr>
            <a:r>
              <a:rPr sz="1050" b="0">
                <a:solidFill>
                  <a:srgbClr val="5B6372"/>
                </a:solidFill>
                <a:latin typeface="Arial"/>
              </a:rPr>
              <a:t>Support overlapping credential versions and test both rotation and emergency revocation paths.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WAF ROLLOUT</a:t>
            </a:r>
          </a:p>
          <a:p>
            <a:pPr algn="l">
              <a:spcAft>
                <a:spcPts val="300"/>
              </a:spcAft>
            </a:pPr>
            <a:r>
              <a:rPr sz="1050" b="0">
                <a:solidFill>
                  <a:srgbClr val="5B6372"/>
                </a:solidFill>
                <a:latin typeface="Arial"/>
              </a:rPr>
              <a:t>Observe managed rules in count mode, inspect sampled requests and introduce blocking with exception ownership.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567</a:t>
            </a:r>
          </a:p>
        </p:txBody>
      </p:sp>
    </p:spTree>
  </p:cSld>
  <p:clrMapOvr>
    <a:masterClrMapping/>
  </p:clrMapOvr>
  <p:transition xmlns:p14="http://schemas.microsoft.com/office/powerpoint/2010/main" p14:dur="380">
    <p:fade/>
  </p:transition>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APPLIED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KMS, secrets and application-edge protection: worked architecture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SCENARIO</a:t>
            </a:r>
          </a:p>
          <a:p>
            <a:pPr algn="l">
              <a:spcAft>
                <a:spcPts val="300"/>
              </a:spcAft>
            </a:pPr>
            <a:r>
              <a:rPr sz="1050" b="0">
                <a:solidFill>
                  <a:srgbClr val="5B6372"/>
                </a:solidFill>
                <a:latin typeface="Arial"/>
              </a:rPr>
              <a:t>A public API must rotate its database secret without downtime and block a new malicious request pattern safely.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DESIGN DECISION</a:t>
            </a:r>
          </a:p>
          <a:p>
            <a:pPr algn="l">
              <a:spcAft>
                <a:spcPts val="300"/>
              </a:spcAft>
            </a:pPr>
            <a:r>
              <a:rPr sz="1050" b="0">
                <a:solidFill>
                  <a:srgbClr val="5B6372"/>
                </a:solidFill>
                <a:latin typeface="Arial"/>
              </a:rPr>
              <a:t>Use staged secret rotation with connection refresh, encrypt under a scoped key, deploy WAF in count mode first and promote the validated rule to block.</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TO AVOID</a:t>
            </a:r>
          </a:p>
          <a:p>
            <a:pPr algn="l">
              <a:spcAft>
                <a:spcPts val="300"/>
              </a:spcAft>
            </a:pPr>
            <a:r>
              <a:rPr sz="1050" b="0">
                <a:solidFill>
                  <a:srgbClr val="5B6372"/>
                </a:solidFill>
                <a:latin typeface="Arial"/>
              </a:rPr>
              <a:t>A key policy that excludes recovery administrators can lock out data; immediate blocking can create a security-induced outage.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EVIDENCE</a:t>
            </a:r>
          </a:p>
          <a:p>
            <a:pPr algn="l">
              <a:spcAft>
                <a:spcPts val="300"/>
              </a:spcAft>
            </a:pPr>
            <a:r>
              <a:rPr sz="1050" b="0">
                <a:solidFill>
                  <a:srgbClr val="5B6372"/>
                </a:solidFill>
                <a:latin typeface="Arial"/>
              </a:rPr>
              <a:t>Key policy/grant, encryption-context event, secret version stages, rotation result, WAF samples, blocked-rate metric and exception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568</a:t>
            </a:r>
          </a:p>
        </p:txBody>
      </p:sp>
    </p:spTree>
  </p:cSld>
  <p:clrMapOvr>
    <a:masterClrMapping/>
  </p:clrMapOvr>
  <p:transition xmlns:p14="http://schemas.microsoft.com/office/powerpoint/2010/main" p14:dur="380">
    <p:fade/>
  </p:transition>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SECURITY AND COMPLIANCE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Identity at scale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Provide workforce and workload access through federation, short-lived credentials and least privilege.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Use permission sets, roles, session controls and access analysis; avoid long-lived IAM user keys.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Broad shared roles erase accountability and expand blast radius.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Identity source, permission-set version, role session, access finding and CloudTrail principal.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569</a:t>
            </a:r>
          </a:p>
        </p:txBody>
      </p:sp>
    </p:spTree>
  </p:cSld>
  <p:clrMapOvr>
    <a:masterClrMapping/>
  </p:clrMapOvr>
  <p:transition xmlns:p14="http://schemas.microsoft.com/office/powerpoint/2010/main" p14:dur="380">
    <p:fade/>
  </p:transition>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Identity at scale: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Authenticate</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Assign permission set</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Assume role</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Authorize</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Record session</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570</a:t>
            </a:r>
          </a:p>
        </p:txBody>
      </p:sp>
    </p:spTree>
  </p:cSld>
  <p:clrMapOvr>
    <a:masterClrMapping/>
  </p:clrMapOvr>
  <p:transition xmlns:p14="http://schemas.microsoft.com/office/powerpoint/2010/main" p14:dur="380">
    <p:fade/>
  </p:transition>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Identity at scale: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C0392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Engineers need auditable access to development and production accounts with different privileges.</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Use permission sets, roles, session controls and access analysis; avoid long-lived IAM user keys.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IAM Identity Center · IAM · STS</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Broad shared roles erase accountability and expand blast radius.</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Identity source, permission-set version, role session, access finding and CloudTrail principal.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571</a:t>
            </a:r>
          </a:p>
        </p:txBody>
      </p:sp>
    </p:spTree>
  </p:cSld>
  <p:clrMapOvr>
    <a:masterClrMapping/>
  </p:clrMapOvr>
  <p:transition xmlns:p14="http://schemas.microsoft.com/office/powerpoint/2010/main" p14:dur="380">
    <p:fade/>
  </p:transition>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Identity at scale: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Broad shared roles erase accountability and expand blast radius.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Authenticate through Record session;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Identity source, permission-set version, role session, access finding and CloudTrail principal.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572</a:t>
            </a:r>
          </a:p>
        </p:txBody>
      </p:sp>
    </p:spTree>
  </p:cSld>
  <p:clrMapOvr>
    <a:masterClrMapping/>
  </p:clrMapOvr>
  <p:transition xmlns:p14="http://schemas.microsoft.com/office/powerpoint/2010/main" p14:dur="380">
    <p:fade/>
  </p:transition>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Identity at scale: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Engineers need auditable access to development and production accounts with different privileges.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Use permission sets, roles, session controls and access analysis; avoid long-lived IAM user keys.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Broad shared roles erase accountability and expand blast radius.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Identity source, permission-set version, role session, access finding and CloudTrail principal.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573</a:t>
            </a:r>
          </a:p>
        </p:txBody>
      </p:sp>
    </p:spTree>
  </p:cSld>
  <p:clrMapOvr>
    <a:masterClrMapping/>
  </p:clrMapOvr>
  <p:transition xmlns:p14="http://schemas.microsoft.com/office/powerpoint/2010/main" p14:dur="380">
    <p:fade/>
  </p:transition>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SECURITY AND COMPLIANCE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Organizations and preventive guardrails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Set organization-wide permission boundaries while preserving account autonomy inside approved limits.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Design OU structure from governance needs, test SCP impact, use deny guardrails carefully and keep break-glass access.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An SCP does not grant permission; it limits what identity and resource policies may allow.</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OU hierarchy, SCP version, policy simulator result, exception and affected-account inventory.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574</a:t>
            </a:r>
          </a:p>
        </p:txBody>
      </p:sp>
    </p:spTree>
  </p:cSld>
  <p:clrMapOvr>
    <a:masterClrMapping/>
  </p:clrMapOvr>
  <p:transition xmlns:p14="http://schemas.microsoft.com/office/powerpoint/2010/main" p14:dur="380">
    <p:fade/>
  </p:transition>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Organizations and preventive guardrails: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6354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9829"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982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Classify account</a:t>
            </a:r>
          </a:p>
        </p:txBody>
      </p:sp>
      <p:sp>
        <p:nvSpPr>
          <p:cNvPr id="12" name="Rectangle 11"/>
          <p:cNvSpPr/>
          <p:nvPr/>
        </p:nvSpPr>
        <p:spPr>
          <a:xfrm>
            <a:off x="2969971"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971" y="2148840"/>
            <a:ext cx="186354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2560"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256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3088843"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Attach baseline</a:t>
            </a:r>
          </a:p>
        </p:txBody>
      </p:sp>
      <p:sp>
        <p:nvSpPr>
          <p:cNvPr id="17" name="Rectangle 16"/>
          <p:cNvSpPr/>
          <p:nvPr/>
        </p:nvSpPr>
        <p:spPr>
          <a:xfrm>
            <a:off x="5162702"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2702" y="2148840"/>
            <a:ext cx="186354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65291"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529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5281574"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Evaluate effective permission</a:t>
            </a:r>
          </a:p>
        </p:txBody>
      </p:sp>
      <p:sp>
        <p:nvSpPr>
          <p:cNvPr id="22" name="Rectangle 21"/>
          <p:cNvSpPr/>
          <p:nvPr/>
        </p:nvSpPr>
        <p:spPr>
          <a:xfrm>
            <a:off x="7355433"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433" y="2148840"/>
            <a:ext cx="186354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8022"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802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7474305"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Test workload</a:t>
            </a:r>
          </a:p>
        </p:txBody>
      </p:sp>
      <p:sp>
        <p:nvSpPr>
          <p:cNvPr id="27" name="Rectangle 26"/>
          <p:cNvSpPr/>
          <p:nvPr/>
        </p:nvSpPr>
        <p:spPr>
          <a:xfrm>
            <a:off x="9548164" y="2148840"/>
            <a:ext cx="1863547"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48164" y="2148840"/>
            <a:ext cx="1863547"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50753"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075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9667036" y="3474720"/>
            <a:ext cx="1625803" cy="1737360"/>
          </a:xfrm>
          <a:prstGeom prst="rect">
            <a:avLst/>
          </a:prstGeom>
          <a:noFill/>
        </p:spPr>
        <p:txBody>
          <a:bodyPr wrap="square" anchor="ctr">
            <a:spAutoFit/>
          </a:bodyPr>
          <a:lstStyle/>
          <a:p>
            <a:pPr algn="ctr">
              <a:spcAft>
                <a:spcPts val="400"/>
              </a:spcAft>
            </a:pPr>
            <a:r>
              <a:rPr sz="1250" b="0">
                <a:solidFill>
                  <a:srgbClr val="161B26"/>
                </a:solidFill>
                <a:latin typeface="Arial"/>
              </a:rPr>
              <a:t>Monitor exceptions</a:t>
            </a:r>
          </a:p>
        </p:txBody>
      </p:sp>
      <p:cxnSp>
        <p:nvCxnSpPr>
          <p:cNvPr id="32" name="Connector 31"/>
          <p:cNvCxnSpPr/>
          <p:nvPr/>
        </p:nvCxnSpPr>
        <p:spPr>
          <a:xfrm>
            <a:off x="2640787"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3351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26249"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898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575</a:t>
            </a:r>
          </a:p>
        </p:txBody>
      </p:sp>
    </p:spTree>
  </p:cSld>
  <p:clrMapOvr>
    <a:masterClrMapping/>
  </p:clrMapOvr>
  <p:transition xmlns:p14="http://schemas.microsoft.com/office/powerpoint/2010/main" p14:dur="380">
    <p:fade/>
  </p:transition>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Organizations and preventive guardrails: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C0392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Production accounts must never disable CloudTrail or create unencrypted storage.</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Design OU structure from governance needs, test SCP impact, use deny guardrails carefully and keep break-glass access.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Organizations · SCPs · Control Tower</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An SCP does not grant permission; it limits what identity and resource policies may allow.</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OU hierarchy, SCP version, policy simulator result, exception and affected-account inventory.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576</a:t>
            </a:r>
          </a:p>
        </p:txBody>
      </p:sp>
    </p:spTree>
  </p:cSld>
  <p:clrMapOvr>
    <a:masterClrMapping/>
  </p:clrMapOvr>
  <p:transition xmlns:p14="http://schemas.microsoft.com/office/powerpoint/2010/main" p14:dur="380">
    <p:fade/>
  </p:transition>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Organizations and preventive guardrails: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An SCP does not grant permission; it limits what identity and resource policies may allow.</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Classify account through Monitor exceptions;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OU hierarchy, SCP version, policy simulator result, exception and affected-account inventory.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577</a:t>
            </a:r>
          </a:p>
        </p:txBody>
      </p:sp>
    </p:spTree>
  </p:cSld>
  <p:clrMapOvr>
    <a:masterClrMapping/>
  </p:clrMapOvr>
  <p:transition xmlns:p14="http://schemas.microsoft.com/office/powerpoint/2010/main" p14:dur="380">
    <p:fade/>
  </p:transition>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Organizations and preventive guardrails: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Production accounts must never disable CloudTrail or create unencrypted storage.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Design OU structure from governance needs, test SCP impact, use deny guardrails carefully and keep break-glass access.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An SCP does not grant permission; it limits what identity and resource policies may allow.</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OU hierarchy, SCP version, policy simulator result, exception and affected-account inventory.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578</a:t>
            </a:r>
          </a:p>
        </p:txBody>
      </p:sp>
    </p:spTree>
  </p:cSld>
  <p:clrMapOvr>
    <a:masterClrMapping/>
  </p:clrMapOvr>
  <p:transition xmlns:p14="http://schemas.microsoft.com/office/powerpoint/2010/main" p14:dur="380">
    <p:fade/>
  </p:transition>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SECURITY AND COMPLIANCE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Secrets, keys and data protection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Protect data and credentials through encryption, controlled key use and automated rotation.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Separate key administration from use, scope resource policies, rotate secrets safely and plan multi-Region recovery.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Encrypting with a key that the recovery account cannot use makes backups operationally unavailable.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Key policy, grant, encryption context, secret version stages, rotation result and access trail.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579</a:t>
            </a:r>
          </a:p>
        </p:txBody>
      </p:sp>
    </p:spTree>
  </p:cSld>
  <p:clrMapOvr>
    <a:masterClrMapping/>
  </p:clrMapOvr>
  <p:transition xmlns:p14="http://schemas.microsoft.com/office/powerpoint/2010/main" p14:dur="380">
    <p:fade/>
  </p:transition>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Secrets, keys and data protection: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Generate or store secret</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Authorize workload</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Encrypt</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Use</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Rotate</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Audit</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580</a:t>
            </a:r>
          </a:p>
        </p:txBody>
      </p:sp>
    </p:spTree>
  </p:cSld>
  <p:clrMapOvr>
    <a:masterClrMapping/>
  </p:clrMapOvr>
  <p:transition xmlns:p14="http://schemas.microsoft.com/office/powerpoint/2010/main" p14:dur="380">
    <p:fade/>
  </p:transition>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Secrets, keys and data protection: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C0392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database credential must rotate without downtime and remain recoverable in the DR Region.</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Separate key administration from use, scope resource policies, rotate secrets safely and plan multi-Region recovery.</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KMS · Secrets Manager · Parameter Store · ACM</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Encrypting with a key that the recovery account cannot use makes backups operationally unavailable.</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Key policy, grant, encryption context, secret version stages, rotation result and access trail.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581</a:t>
            </a:r>
          </a:p>
        </p:txBody>
      </p:sp>
    </p:spTree>
  </p:cSld>
  <p:clrMapOvr>
    <a:masterClrMapping/>
  </p:clrMapOvr>
  <p:transition xmlns:p14="http://schemas.microsoft.com/office/powerpoint/2010/main" p14:dur="380">
    <p:fade/>
  </p:transition>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Secrets, keys and data protection: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Encrypting with a key that the recovery account cannot use makes backups operationally unavailable.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Generate or store secret through Audit;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Key policy, grant, encryption context, secret version stages, rotation result and access trail.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582</a:t>
            </a:r>
          </a:p>
        </p:txBody>
      </p:sp>
    </p:spTree>
  </p:cSld>
  <p:clrMapOvr>
    <a:masterClrMapping/>
  </p:clrMapOvr>
  <p:transition xmlns:p14="http://schemas.microsoft.com/office/powerpoint/2010/main" p14:dur="380">
    <p:fade/>
  </p:transition>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Secrets, keys and data protection: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database credential must rotate without downtime and remain recoverable in the DR Region.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Separate key administration from use, scope resource policies, rotate secrets safely and plan multi-Region recovery.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Encrypting with a key that the recovery account cannot use makes backups operationally unavailable.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Key policy, grant, encryption context, secret version stages, rotation result and access trail.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583</a:t>
            </a:r>
          </a:p>
        </p:txBody>
      </p:sp>
    </p:spTree>
  </p:cSld>
  <p:clrMapOvr>
    <a:masterClrMapping/>
  </p:clrMapOvr>
  <p:transition xmlns:p14="http://schemas.microsoft.com/office/powerpoint/2010/main" p14:dur="380">
    <p:fade/>
  </p:transition>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SECURITY AND COMPLIANCE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Config rules and conformance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Continuously evaluate resource configuration against explicit controls and remediate safely.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Use managed/custom rules, aggregators, evidence retention and remediation with exception tagging.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compliant snapshot is not proof that the resource stayed compliant between evaluations.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Configuration timeline, rule evaluation, conformance score, exception, remediation execution and recheck.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584</a:t>
            </a:r>
          </a:p>
        </p:txBody>
      </p:sp>
    </p:spTree>
  </p:cSld>
  <p:clrMapOvr>
    <a:masterClrMapping/>
  </p:clrMapOvr>
  <p:transition xmlns:p14="http://schemas.microsoft.com/office/powerpoint/2010/main" p14:dur="380">
    <p:fade/>
  </p:transition>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Config rules and conformance: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Record configuration</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Evaluate rule</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Aggregate</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Notify</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Remediate</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Re-evaluate</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585</a:t>
            </a:r>
          </a:p>
        </p:txBody>
      </p:sp>
    </p:spTree>
  </p:cSld>
  <p:clrMapOvr>
    <a:masterClrMapping/>
  </p:clrMapOvr>
  <p:transition xmlns:p14="http://schemas.microsoft.com/office/powerpoint/2010/main" p14:dur="380">
    <p:fade/>
  </p:transition>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Config rules and conformance: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C0392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Auditors require evidence that all production buckets remained encrypted and blocked public access.</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Use managed/custom rules, aggregators, evidence retention and remediation with exception tagging.</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AWS Config · Conformance Packs · Systems Manager</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 compliant snapshot is not proof that the resource stayed compliant between evaluations.</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Configuration timeline, rule evaluation, conformance score, exception, remediation execution and recheck.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586</a:t>
            </a:r>
          </a:p>
        </p:txBody>
      </p:sp>
    </p:spTree>
  </p:cSld>
  <p:clrMapOvr>
    <a:masterClrMapping/>
  </p:clrMapOvr>
  <p:transition xmlns:p14="http://schemas.microsoft.com/office/powerpoint/2010/main" p14:dur="380">
    <p:fade/>
  </p:transition>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Config rules and conformance: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 compliant snapshot is not proof that the resource stayed compliant between evaluations.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Record configuration through Re-evaluate;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Configuration timeline, rule evaluation, conformance score, exception, remediation execution and recheck.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587</a:t>
            </a:r>
          </a:p>
        </p:txBody>
      </p:sp>
    </p:spTree>
  </p:cSld>
  <p:clrMapOvr>
    <a:masterClrMapping/>
  </p:clrMapOvr>
  <p:transition xmlns:p14="http://schemas.microsoft.com/office/powerpoint/2010/main" p14:dur="380">
    <p:fade/>
  </p:transition>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Config rules and conformance: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Auditors require evidence that all production buckets remained encrypted and blocked public access.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Use managed/custom rules, aggregators, evidence retention and remediation with exception tagging.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 compliant snapshot is not proof that the resource stayed compliant between evaluations.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Configuration timeline, rule evaluation, conformance score, exception, remediation execution and recheck.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588</a:t>
            </a:r>
          </a:p>
        </p:txBody>
      </p:sp>
    </p:spTree>
  </p:cSld>
  <p:clrMapOvr>
    <a:masterClrMapping/>
  </p:clrMapOvr>
  <p:transition xmlns:p14="http://schemas.microsoft.com/office/powerpoint/2010/main" p14:dur="380">
    <p:fade/>
  </p:transition>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SECURITY AND COMPLIANCE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Threat detection and investigation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Combine findings, vulnerability context and behavior graphs to prioritize credible threats.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Delegate administration, centralize findings, normalize severity, enrich with ownership and automate only well-understood responses.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high volume of unowned findings becomes an unworkable compliance queue.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Finding ID, affected resource, severity, vulnerability, graph evidence, workflow status and response.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589</a:t>
            </a:r>
          </a:p>
        </p:txBody>
      </p:sp>
    </p:spTree>
  </p:cSld>
  <p:clrMapOvr>
    <a:masterClrMapping/>
  </p:clrMapOvr>
  <p:transition xmlns:p14="http://schemas.microsoft.com/office/powerpoint/2010/main" p14:dur="380">
    <p:fade/>
  </p:transition>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Threat detection and investigation: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Detect</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Normalize</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Enrich</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Prioritize</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Investigate</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Contain</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590</a:t>
            </a:r>
          </a:p>
        </p:txBody>
      </p:sp>
    </p:spTree>
  </p:cSld>
  <p:clrMapOvr>
    <a:masterClrMapping/>
  </p:clrMapOvr>
  <p:transition xmlns:p14="http://schemas.microsoft.com/office/powerpoint/2010/main" p14:dur="380">
    <p:fade/>
  </p:transition>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Threat detection and investigation: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C0392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An exposed instance shows anomalous network activity and a critical package vulnerability.</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Delegate administration, centralize findings, normalize severity, enrich with ownership and automate only well-understood responses.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GuardDuty · Security Hub · Detective · Inspector</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 high volume of unowned findings becomes an unworkable compliance queue.</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Finding ID, affected resource, severity, vulnerability, graph evidence, workflow status and response.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591</a:t>
            </a:r>
          </a:p>
        </p:txBody>
      </p:sp>
    </p:spTree>
  </p:cSld>
  <p:clrMapOvr>
    <a:masterClrMapping/>
  </p:clrMapOvr>
  <p:transition xmlns:p14="http://schemas.microsoft.com/office/powerpoint/2010/main" p14:dur="380">
    <p:fade/>
  </p:transition>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Threat detection and investigation: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 high volume of unowned findings becomes an unworkable compliance queue.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Detect through Contain;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Finding ID, affected resource, severity, vulnerability, graph evidence, workflow status and response.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592</a:t>
            </a:r>
          </a:p>
        </p:txBody>
      </p:sp>
    </p:spTree>
  </p:cSld>
  <p:clrMapOvr>
    <a:masterClrMapping/>
  </p:clrMapOvr>
  <p:transition xmlns:p14="http://schemas.microsoft.com/office/powerpoint/2010/main" p14:dur="380">
    <p:fade/>
  </p:transition>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Threat detection and investigation: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An exposed instance shows anomalous network activity and a critical package vulnerability.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Delegate administration, centralize findings, normalize severity, enrich with ownership and automate only well-understood responses.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 high volume of unowned findings becomes an unworkable compliance queue.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Finding ID, affected resource, severity, vulnerability, graph evidence, workflow status and response.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593</a:t>
            </a:r>
          </a:p>
        </p:txBody>
      </p:sp>
    </p:spTree>
  </p:cSld>
  <p:clrMapOvr>
    <a:masterClrMapping/>
  </p:clrMapOvr>
  <p:transition xmlns:p14="http://schemas.microsoft.com/office/powerpoint/2010/main" p14:dur="380">
    <p:fade/>
  </p:transition>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SECURITY AND COMPLIANCE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Edge and network protection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Apply consistent layered protection to public endpoints and network paths.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Use managed rules in count mode first, central policies, rate limits, logging and exception workflows.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Blocking without observing false positives can turn a security control into an outage.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Policy version, sampled request, rule action, log destination, exception and rollout scope.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594</a:t>
            </a:r>
          </a:p>
        </p:txBody>
      </p:sp>
    </p:spTree>
  </p:cSld>
  <p:clrMapOvr>
    <a:masterClrMapping/>
  </p:clrMapOvr>
  <p:transition xmlns:p14="http://schemas.microsoft.com/office/powerpoint/2010/main" p14:dur="380">
    <p:fade/>
  </p:transition>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Edge and network protection: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Observe traffic</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Evaluate rule</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Count</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Tune exception</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Block</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Monitor</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595</a:t>
            </a:r>
          </a:p>
        </p:txBody>
      </p:sp>
    </p:spTree>
  </p:cSld>
  <p:clrMapOvr>
    <a:masterClrMapping/>
  </p:clrMapOvr>
  <p:transition xmlns:p14="http://schemas.microsoft.com/office/powerpoint/2010/main" p14:dur="380">
    <p:fade/>
  </p:transition>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Edge and network protection: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C0392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company must deploy baseline WAF controls to every internet-facing application across accounts.</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Use managed rules in count mode first, central policies, rate limits, logging and exception workflows.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WAF · Firewall Manager · Shield · Network Firewall</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Blocking without observing false positives can turn a security control into an outage.</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Policy version, sampled request, rule action, log destination, exception and rollout scope.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596</a:t>
            </a:r>
          </a:p>
        </p:txBody>
      </p:sp>
    </p:spTree>
  </p:cSld>
  <p:clrMapOvr>
    <a:masterClrMapping/>
  </p:clrMapOvr>
  <p:transition xmlns:p14="http://schemas.microsoft.com/office/powerpoint/2010/main" p14:dur="380">
    <p:fade/>
  </p:transition>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Edge and network protection: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Blocking without observing false positives can turn a security control into an outage.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Observe traffic through Monitor;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Policy version, sampled request, rule action, log destination, exception and rollout scope.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597</a:t>
            </a:r>
          </a:p>
        </p:txBody>
      </p:sp>
    </p:spTree>
  </p:cSld>
  <p:clrMapOvr>
    <a:masterClrMapping/>
  </p:clrMapOvr>
  <p:transition xmlns:p14="http://schemas.microsoft.com/office/powerpoint/2010/main" p14:dur="380">
    <p:fade/>
  </p:transition>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Edge and network protection: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company must deploy baseline WAF controls to every internet-facing application across accounts.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Use managed rules in count mode first, central policies, rate limits, logging and exception workflows.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Blocking without observing false positives can turn a security control into an outage.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Policy version, sampled request, rule action, log destination, exception and rollout scope.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598</a:t>
            </a:r>
          </a:p>
        </p:txBody>
      </p:sp>
    </p:spTree>
  </p:cSld>
  <p:clrMapOvr>
    <a:masterClrMapping/>
  </p:clrMapOvr>
  <p:transition xmlns:p14="http://schemas.microsoft.com/office/powerpoint/2010/main" p14:dur="380">
    <p:fade/>
  </p:transition>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SECURITY AND COMPLIANCE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Security blueprint and audit evidence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OUTCOME</a:t>
            </a:r>
          </a:p>
          <a:p>
            <a:pPr algn="l">
              <a:spcAft>
                <a:spcPts val="300"/>
              </a:spcAft>
            </a:pPr>
            <a:r>
              <a:rPr sz="1050" b="0">
                <a:solidFill>
                  <a:srgbClr val="5B6372"/>
                </a:solidFill>
                <a:latin typeface="Arial"/>
              </a:rPr>
              <a:t>Translate risk and compliance obligations into components, controls, ownership and evidence flows.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ARCHITECTURE</a:t>
            </a:r>
          </a:p>
          <a:p>
            <a:pPr algn="l">
              <a:spcAft>
                <a:spcPts val="300"/>
              </a:spcAft>
            </a:pPr>
            <a:r>
              <a:rPr sz="1050" b="0">
                <a:solidFill>
                  <a:srgbClr val="5B6372"/>
                </a:solidFill>
                <a:latin typeface="Arial"/>
              </a:rPr>
              <a:t>Document trust boundaries, data classification, preventive/detective controls, logging, retention and incident responsibilities.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FAILURE MODE</a:t>
            </a:r>
          </a:p>
          <a:p>
            <a:pPr algn="l">
              <a:spcAft>
                <a:spcPts val="300"/>
              </a:spcAft>
            </a:pPr>
            <a:r>
              <a:rPr sz="1050" b="0">
                <a:solidFill>
                  <a:srgbClr val="5B6372"/>
                </a:solidFill>
                <a:latin typeface="Arial"/>
              </a:rPr>
              <a:t>A service list without data flows, control intent and ownership is not an actionable blueprint.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EVIDENCE</a:t>
            </a:r>
          </a:p>
          <a:p>
            <a:pPr algn="l">
              <a:spcAft>
                <a:spcPts val="300"/>
              </a:spcAft>
            </a:pPr>
            <a:r>
              <a:rPr sz="1050" b="0">
                <a:solidFill>
                  <a:srgbClr val="5B6372"/>
                </a:solidFill>
                <a:latin typeface="Arial"/>
              </a:rPr>
              <a:t>Architecture diagram, control matrix, evidence source, owner, retention rule, exception and review cadence.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599</a:t>
            </a:r>
          </a:p>
        </p:txBody>
      </p:sp>
    </p:spTree>
  </p:cSld>
  <p:clrMapOvr>
    <a:masterClrMapping/>
  </p:clrMapOvr>
  <p:transition xmlns:p14="http://schemas.microsoft.com/office/powerpoint/2010/main" p14:dur="380">
    <p:fade/>
  </p:transition>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PROCESS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Security blueprint and audit evidence: operating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980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97102"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10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Classify data</a:t>
            </a:r>
          </a:p>
        </p:txBody>
      </p:sp>
      <p:sp>
        <p:nvSpPr>
          <p:cNvPr id="12" name="Rectangle 11"/>
          <p:cNvSpPr/>
          <p:nvPr/>
        </p:nvSpPr>
        <p:spPr>
          <a:xfrm>
            <a:off x="2604516"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4516" y="2148840"/>
            <a:ext cx="14980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24378"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24378"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6" name="TextBox 15"/>
          <p:cNvSpPr txBox="1"/>
          <p:nvPr/>
        </p:nvSpPr>
        <p:spPr>
          <a:xfrm>
            <a:off x="2723388"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Map trust boundaries</a:t>
            </a:r>
          </a:p>
        </p:txBody>
      </p:sp>
      <p:sp>
        <p:nvSpPr>
          <p:cNvPr id="17" name="Rectangle 16"/>
          <p:cNvSpPr/>
          <p:nvPr/>
        </p:nvSpPr>
        <p:spPr>
          <a:xfrm>
            <a:off x="4431792"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1792" y="2148840"/>
            <a:ext cx="149809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51654"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654"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1" name="TextBox 20"/>
          <p:cNvSpPr txBox="1"/>
          <p:nvPr/>
        </p:nvSpPr>
        <p:spPr>
          <a:xfrm>
            <a:off x="4550664"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Select controls</a:t>
            </a:r>
          </a:p>
        </p:txBody>
      </p:sp>
      <p:sp>
        <p:nvSpPr>
          <p:cNvPr id="22" name="Rectangle 21"/>
          <p:cNvSpPr/>
          <p:nvPr/>
        </p:nvSpPr>
        <p:spPr>
          <a:xfrm>
            <a:off x="6259068"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2148840"/>
            <a:ext cx="149809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8930"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8930"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6" name="TextBox 25"/>
          <p:cNvSpPr txBox="1"/>
          <p:nvPr/>
        </p:nvSpPr>
        <p:spPr>
          <a:xfrm>
            <a:off x="6377940"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Assign owners</a:t>
            </a:r>
          </a:p>
        </p:txBody>
      </p:sp>
      <p:sp>
        <p:nvSpPr>
          <p:cNvPr id="27" name="Rectangle 26"/>
          <p:cNvSpPr/>
          <p:nvPr/>
        </p:nvSpPr>
        <p:spPr>
          <a:xfrm>
            <a:off x="8086344"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86344" y="2148840"/>
            <a:ext cx="1498092"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06206" y="2532888"/>
            <a:ext cx="658368" cy="658368"/>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31" name="TextBox 30"/>
          <p:cNvSpPr txBox="1"/>
          <p:nvPr/>
        </p:nvSpPr>
        <p:spPr>
          <a:xfrm>
            <a:off x="8205216"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Collect evidence</a:t>
            </a:r>
          </a:p>
        </p:txBody>
      </p:sp>
      <p:sp>
        <p:nvSpPr>
          <p:cNvPr id="32" name="Rectangle 31"/>
          <p:cNvSpPr/>
          <p:nvPr/>
        </p:nvSpPr>
        <p:spPr>
          <a:xfrm>
            <a:off x="9913620" y="2148840"/>
            <a:ext cx="1498092"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13620" y="2148840"/>
            <a:ext cx="1498092" cy="914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3482" y="2532888"/>
            <a:ext cx="658368" cy="658368"/>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3482"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36" name="TextBox 35"/>
          <p:cNvSpPr txBox="1"/>
          <p:nvPr/>
        </p:nvSpPr>
        <p:spPr>
          <a:xfrm>
            <a:off x="10032492" y="3474720"/>
            <a:ext cx="1260348" cy="1737360"/>
          </a:xfrm>
          <a:prstGeom prst="rect">
            <a:avLst/>
          </a:prstGeom>
          <a:noFill/>
        </p:spPr>
        <p:txBody>
          <a:bodyPr wrap="square" anchor="ctr">
            <a:spAutoFit/>
          </a:bodyPr>
          <a:lstStyle/>
          <a:p>
            <a:pPr algn="ctr">
              <a:spcAft>
                <a:spcPts val="400"/>
              </a:spcAft>
            </a:pPr>
            <a:r>
              <a:rPr sz="1250" b="0">
                <a:solidFill>
                  <a:srgbClr val="161B26"/>
                </a:solidFill>
                <a:latin typeface="Arial"/>
              </a:rPr>
              <a:t>Review</a:t>
            </a:r>
          </a:p>
        </p:txBody>
      </p:sp>
      <p:cxnSp>
        <p:nvCxnSpPr>
          <p:cNvPr id="37" name="Connector 36"/>
          <p:cNvCxnSpPr/>
          <p:nvPr/>
        </p:nvCxnSpPr>
        <p:spPr>
          <a:xfrm>
            <a:off x="2275332"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0260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5716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84436"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600</a:t>
            </a:r>
          </a:p>
        </p:txBody>
      </p:sp>
    </p:spTree>
  </p:cSld>
  <p:clrMapOvr>
    <a:masterClrMapping/>
  </p:clrMapOvr>
  <p:transition xmlns:p14="http://schemas.microsoft.com/office/powerpoint/2010/main" p14:dur="380">
    <p:fade/>
  </p:transition>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Security blueprint and audit evidence: design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3280" cy="43708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708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11680"/>
            <a:ext cx="530352" cy="53035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11680"/>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a:t>
            </a:r>
          </a:p>
        </p:txBody>
      </p:sp>
      <p:sp>
        <p:nvSpPr>
          <p:cNvPr id="11" name="TextBox 10"/>
          <p:cNvSpPr txBox="1"/>
          <p:nvPr/>
        </p:nvSpPr>
        <p:spPr>
          <a:xfrm>
            <a:off x="1709928" y="1984248"/>
            <a:ext cx="2212848" cy="502920"/>
          </a:xfrm>
          <a:prstGeom prst="rect">
            <a:avLst/>
          </a:prstGeom>
          <a:noFill/>
        </p:spPr>
        <p:txBody>
          <a:bodyPr wrap="square" anchor="ctr">
            <a:spAutoFit/>
          </a:bodyPr>
          <a:lstStyle/>
          <a:p>
            <a:pPr algn="l">
              <a:spcAft>
                <a:spcPts val="400"/>
              </a:spcAft>
            </a:pPr>
            <a:r>
              <a:rPr sz="1350" b="1">
                <a:solidFill>
                  <a:srgbClr val="C0392B"/>
                </a:solidFill>
                <a:latin typeface="Arial"/>
              </a:rPr>
              <a:t>SCENARIO</a:t>
            </a:r>
          </a:p>
        </p:txBody>
      </p:sp>
      <p:sp>
        <p:nvSpPr>
          <p:cNvPr id="12" name="TextBox 11"/>
          <p:cNvSpPr txBox="1"/>
          <p:nvPr/>
        </p:nvSpPr>
        <p:spPr>
          <a:xfrm>
            <a:off x="1051560" y="2743200"/>
            <a:ext cx="2834640" cy="3136392"/>
          </a:xfrm>
          <a:prstGeom prst="rect">
            <a:avLst/>
          </a:prstGeom>
          <a:noFill/>
        </p:spPr>
        <p:txBody>
          <a:bodyPr wrap="square" anchor="t">
            <a:spAutoFit/>
          </a:bodyPr>
          <a:lstStyle/>
          <a:p>
            <a:pPr algn="l">
              <a:spcAft>
                <a:spcPts val="400"/>
              </a:spcAft>
            </a:pPr>
            <a:r>
              <a:rPr sz="1300" b="0">
                <a:solidFill>
                  <a:srgbClr val="161B26"/>
                </a:solidFill>
                <a:latin typeface="Arial"/>
              </a:rPr>
              <a:t>A regulated workload needs a technical blueprint that developers, security and auditors can all execute.</a:t>
            </a:r>
          </a:p>
        </p:txBody>
      </p:sp>
      <p:sp>
        <p:nvSpPr>
          <p:cNvPr id="13" name="Rectangle 12"/>
          <p:cNvSpPr/>
          <p:nvPr/>
        </p:nvSpPr>
        <p:spPr>
          <a:xfrm>
            <a:off x="4434840"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6008" y="1965960"/>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7" name="TextBox 16"/>
          <p:cNvSpPr txBox="1"/>
          <p:nvPr/>
        </p:nvSpPr>
        <p:spPr>
          <a:xfrm>
            <a:off x="5212080" y="1929384"/>
            <a:ext cx="2286000" cy="475488"/>
          </a:xfrm>
          <a:prstGeom prst="rect">
            <a:avLst/>
          </a:prstGeom>
          <a:noFill/>
        </p:spPr>
        <p:txBody>
          <a:bodyPr wrap="square" anchor="ctr">
            <a:spAutoFit/>
          </a:bodyPr>
          <a:lstStyle/>
          <a:p>
            <a:pPr algn="l">
              <a:spcAft>
                <a:spcPts val="400"/>
              </a:spcAft>
            </a:pPr>
            <a:r>
              <a:rPr sz="1250" b="1">
                <a:solidFill>
                  <a:srgbClr val="10B981"/>
                </a:solidFill>
                <a:latin typeface="Arial"/>
              </a:rPr>
              <a:t>DESIGN RESPONSE</a:t>
            </a:r>
          </a:p>
        </p:txBody>
      </p:sp>
      <p:sp>
        <p:nvSpPr>
          <p:cNvPr id="18" name="TextBox 17"/>
          <p:cNvSpPr txBox="1"/>
          <p:nvPr/>
        </p:nvSpPr>
        <p:spPr>
          <a:xfrm>
            <a:off x="4663440"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Document trust boundaries, data classification, preventive/detective controls, logging, retention and incident responsibilities.</a:t>
            </a:r>
          </a:p>
        </p:txBody>
      </p:sp>
      <p:sp>
        <p:nvSpPr>
          <p:cNvPr id="19" name="Rectangle 18"/>
          <p:cNvSpPr/>
          <p:nvPr/>
        </p:nvSpPr>
        <p:spPr>
          <a:xfrm>
            <a:off x="7973568" y="1783080"/>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783080"/>
            <a:ext cx="91440" cy="2148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6" y="19659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1965960"/>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8750808" y="1929384"/>
            <a:ext cx="2286000" cy="475488"/>
          </a:xfrm>
          <a:prstGeom prst="rect">
            <a:avLst/>
          </a:prstGeom>
          <a:noFill/>
        </p:spPr>
        <p:txBody>
          <a:bodyPr wrap="square" anchor="ctr">
            <a:spAutoFit/>
          </a:bodyPr>
          <a:lstStyle/>
          <a:p>
            <a:pPr algn="l">
              <a:spcAft>
                <a:spcPts val="400"/>
              </a:spcAft>
            </a:pPr>
            <a:r>
              <a:rPr sz="1250" b="1">
                <a:solidFill>
                  <a:srgbClr val="7C3AED"/>
                </a:solidFill>
                <a:latin typeface="Arial"/>
              </a:rPr>
              <a:t>PRIMARY SERVICES</a:t>
            </a:r>
          </a:p>
        </p:txBody>
      </p:sp>
      <p:sp>
        <p:nvSpPr>
          <p:cNvPr id="24" name="TextBox 23"/>
          <p:cNvSpPr txBox="1"/>
          <p:nvPr/>
        </p:nvSpPr>
        <p:spPr>
          <a:xfrm>
            <a:off x="8202168" y="2514600"/>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Security Hub · Audit Manager · Artifact · Tagging</a:t>
            </a:r>
          </a:p>
        </p:txBody>
      </p:sp>
      <p:sp>
        <p:nvSpPr>
          <p:cNvPr id="25" name="Rectangle 24"/>
          <p:cNvSpPr/>
          <p:nvPr/>
        </p:nvSpPr>
        <p:spPr>
          <a:xfrm>
            <a:off x="4434840"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4005072"/>
            <a:ext cx="91440"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36008" y="4187952"/>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212080" y="4151376"/>
            <a:ext cx="2286000" cy="475488"/>
          </a:xfrm>
          <a:prstGeom prst="rect">
            <a:avLst/>
          </a:prstGeom>
          <a:noFill/>
        </p:spPr>
        <p:txBody>
          <a:bodyPr wrap="square" anchor="ctr">
            <a:spAutoFit/>
          </a:bodyPr>
          <a:lstStyle/>
          <a:p>
            <a:pPr algn="l">
              <a:spcAft>
                <a:spcPts val="400"/>
              </a:spcAft>
            </a:pPr>
            <a:r>
              <a:rPr sz="1250" b="1">
                <a:solidFill>
                  <a:srgbClr val="F59E0B"/>
                </a:solidFill>
                <a:latin typeface="Arial"/>
              </a:rPr>
              <a:t>FAILURE MODE</a:t>
            </a:r>
          </a:p>
        </p:txBody>
      </p:sp>
      <p:sp>
        <p:nvSpPr>
          <p:cNvPr id="30" name="TextBox 29"/>
          <p:cNvSpPr txBox="1"/>
          <p:nvPr/>
        </p:nvSpPr>
        <p:spPr>
          <a:xfrm>
            <a:off x="4663440"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 service list without data flows, control intent and ownership is not an actionable blueprint.</a:t>
            </a:r>
          </a:p>
        </p:txBody>
      </p:sp>
      <p:sp>
        <p:nvSpPr>
          <p:cNvPr id="31" name="Rectangle 30"/>
          <p:cNvSpPr/>
          <p:nvPr/>
        </p:nvSpPr>
        <p:spPr>
          <a:xfrm>
            <a:off x="7973568" y="4005072"/>
            <a:ext cx="3246120" cy="2148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73568" y="4005072"/>
            <a:ext cx="91440" cy="21488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74736" y="4187952"/>
            <a:ext cx="438912" cy="438912"/>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4187952"/>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8750808" y="4151376"/>
            <a:ext cx="2286000" cy="475488"/>
          </a:xfrm>
          <a:prstGeom prst="rect">
            <a:avLst/>
          </a:prstGeom>
          <a:noFill/>
        </p:spPr>
        <p:txBody>
          <a:bodyPr wrap="square" anchor="ctr">
            <a:spAutoFit/>
          </a:bodyPr>
          <a:lstStyle/>
          <a:p>
            <a:pPr algn="l">
              <a:spcAft>
                <a:spcPts val="400"/>
              </a:spcAft>
            </a:pPr>
            <a:r>
              <a:rPr sz="1250" b="1">
                <a:solidFill>
                  <a:srgbClr val="EC711E"/>
                </a:solidFill>
                <a:latin typeface="Arial"/>
              </a:rPr>
              <a:t>PROOF</a:t>
            </a:r>
          </a:p>
        </p:txBody>
      </p:sp>
      <p:sp>
        <p:nvSpPr>
          <p:cNvPr id="36" name="TextBox 35"/>
          <p:cNvSpPr txBox="1"/>
          <p:nvPr/>
        </p:nvSpPr>
        <p:spPr>
          <a:xfrm>
            <a:off x="8202168" y="4736592"/>
            <a:ext cx="2788920" cy="1280160"/>
          </a:xfrm>
          <a:prstGeom prst="rect">
            <a:avLst/>
          </a:prstGeom>
          <a:noFill/>
        </p:spPr>
        <p:txBody>
          <a:bodyPr wrap="square" anchor="t">
            <a:spAutoFit/>
          </a:bodyPr>
          <a:lstStyle/>
          <a:p>
            <a:pPr algn="l">
              <a:spcAft>
                <a:spcPts val="400"/>
              </a:spcAft>
            </a:pPr>
            <a:r>
              <a:rPr sz="1150" b="0">
                <a:solidFill>
                  <a:srgbClr val="161B26"/>
                </a:solidFill>
                <a:latin typeface="Arial"/>
              </a:rPr>
              <a:t>Architecture diagram, control matrix, evidence source, owner, retention rule, exception and review cadence.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601</a:t>
            </a:r>
          </a:p>
        </p:txBody>
      </p:sp>
    </p:spTree>
  </p:cSld>
  <p:clrMapOvr>
    <a:masterClrMapping/>
  </p:clrMapOvr>
  <p:transition xmlns:p14="http://schemas.microsoft.com/office/powerpoint/2010/main" p14:dur="380">
    <p:fade/>
  </p:transition>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OPERATIONS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Security blueprint and audit evidence: failure diagnostic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RECOGNISE</a:t>
            </a:r>
          </a:p>
          <a:p>
            <a:pPr algn="l">
              <a:spcAft>
                <a:spcPts val="300"/>
              </a:spcAft>
            </a:pPr>
            <a:r>
              <a:rPr sz="1050" b="0">
                <a:solidFill>
                  <a:srgbClr val="5B6372"/>
                </a:solidFill>
                <a:latin typeface="Arial"/>
              </a:rPr>
              <a:t>Observable failure condition: A service list without data flows, control intent and ownership is not an actionable blueprint.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CONTAIN</a:t>
            </a:r>
          </a:p>
          <a:p>
            <a:pPr algn="l">
              <a:spcAft>
                <a:spcPts val="300"/>
              </a:spcAft>
            </a:pPr>
            <a:r>
              <a:rPr sz="1050" b="0">
                <a:solidFill>
                  <a:srgbClr val="5B6372"/>
                </a:solidFill>
                <a:latin typeface="Arial"/>
              </a:rPr>
              <a:t>Pause promotion, preserve evidence and reduce impact without destroying diagnostic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DIAGNOSE</a:t>
            </a:r>
          </a:p>
          <a:p>
            <a:pPr algn="l">
              <a:spcAft>
                <a:spcPts val="300"/>
              </a:spcAft>
            </a:pPr>
            <a:r>
              <a:rPr sz="1050" b="0">
                <a:solidFill>
                  <a:srgbClr val="5B6372"/>
                </a:solidFill>
                <a:latin typeface="Arial"/>
              </a:rPr>
              <a:t>Trace the workflow from Classify data through Review; compare intended configuration with runtime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RECOVER</a:t>
            </a:r>
          </a:p>
          <a:p>
            <a:pPr algn="l">
              <a:spcAft>
                <a:spcPts val="300"/>
              </a:spcAft>
            </a:pPr>
            <a:r>
              <a:rPr sz="1050" b="0">
                <a:solidFill>
                  <a:srgbClr val="5B6372"/>
                </a:solidFill>
                <a:latin typeface="Arial"/>
              </a:rPr>
              <a:t>Restore the last known-good state, then prove recovery with Architecture diagram, control matrix, evidence source, owner, retention rule, exception and review cadence.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602</a:t>
            </a:r>
          </a:p>
        </p:txBody>
      </p:sp>
    </p:spTree>
  </p:cSld>
  <p:clrMapOvr>
    <a:masterClrMapping/>
  </p:clrMapOvr>
  <p:transition xmlns:p14="http://schemas.microsoft.com/office/powerpoint/2010/main" p14:dur="380">
    <p:fade/>
  </p:transition>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APPLIED SCENARIO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Security blueprint and audit evidence: worked decision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CONSTRAINT</a:t>
            </a:r>
          </a:p>
          <a:p>
            <a:pPr algn="l">
              <a:spcAft>
                <a:spcPts val="300"/>
              </a:spcAft>
            </a:pPr>
            <a:r>
              <a:rPr sz="1050" b="0">
                <a:solidFill>
                  <a:srgbClr val="5B6372"/>
                </a:solidFill>
                <a:latin typeface="Arial"/>
              </a:rPr>
              <a:t>A regulated workload needs a technical blueprint that developers, security and auditors can all execute.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DECISION</a:t>
            </a:r>
          </a:p>
          <a:p>
            <a:pPr algn="l">
              <a:spcAft>
                <a:spcPts val="300"/>
              </a:spcAft>
            </a:pPr>
            <a:r>
              <a:rPr sz="1050" b="0">
                <a:solidFill>
                  <a:srgbClr val="5B6372"/>
                </a:solidFill>
                <a:latin typeface="Arial"/>
              </a:rPr>
              <a:t>Document trust boundaries, data classification, preventive/detective controls, logging, retention and incident responsibilities.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WHY ALTERNATIVES LOSE</a:t>
            </a:r>
          </a:p>
          <a:p>
            <a:pPr algn="l">
              <a:spcAft>
                <a:spcPts val="300"/>
              </a:spcAft>
            </a:pPr>
            <a:r>
              <a:rPr sz="1050" b="0">
                <a:solidFill>
                  <a:srgbClr val="5B6372"/>
                </a:solidFill>
                <a:latin typeface="Arial"/>
              </a:rPr>
              <a:t>Reject options that do not change the stated failure boundary: A service list without data flows, control intent and ownership is not an actionable blueprint.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450" b="1">
                <a:solidFill>
                  <a:srgbClr val="161B26"/>
                </a:solidFill>
                <a:latin typeface="Arial"/>
              </a:rPr>
              <a:t>ACCEPTANCE TEST</a:t>
            </a:r>
          </a:p>
          <a:p>
            <a:pPr algn="l">
              <a:spcAft>
                <a:spcPts val="300"/>
              </a:spcAft>
            </a:pPr>
            <a:r>
              <a:rPr sz="1050" b="0">
                <a:solidFill>
                  <a:srgbClr val="5B6372"/>
                </a:solidFill>
                <a:latin typeface="Arial"/>
              </a:rPr>
              <a:t>The decision is complete only when this proof exists: Architecture diagram, control matrix, evidence source, owner, retention rule, exception and review cadence.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603</a:t>
            </a:r>
          </a:p>
        </p:txBody>
      </p:sp>
    </p:spTree>
  </p:cSld>
  <p:clrMapOvr>
    <a:masterClrMapping/>
  </p:clrMapOvr>
  <p:transition xmlns:p14="http://schemas.microsoft.com/office/powerpoint/2010/main" p14:dur="380">
    <p:fade/>
  </p:transition>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Identity at scale: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Authenticate</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Use permission sets, roles, session controls and access analysis; avoid long-lived IAM user keys.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IAM Identity Center · IAM · STS</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Identity source, permission-set version, role session, access finding and CloudTrail principal.</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604</a:t>
            </a:r>
          </a:p>
        </p:txBody>
      </p:sp>
    </p:spTree>
  </p:cSld>
  <p:clrMapOvr>
    <a:masterClrMapping/>
  </p:clrMapOvr>
  <p:transition xmlns:p14="http://schemas.microsoft.com/office/powerpoint/2010/main" p14:dur="380">
    <p:fade/>
  </p:transition>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700" b="1">
                <a:solidFill>
                  <a:srgbClr val="161B26"/>
                </a:solidFill>
                <a:latin typeface="Arial"/>
              </a:rPr>
              <a:t>Organizations and preventive guardrails: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Classify account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Design OU structure from governance needs, test SCP impact, use deny guardrails carefully and keep break-glass access.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Organizations · SCPs · Control Tower</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OU hierarchy, SCP version, policy simulator result, exception and affected-account inventory.</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605</a:t>
            </a:r>
          </a:p>
        </p:txBody>
      </p:sp>
    </p:spTree>
  </p:cSld>
  <p:clrMapOvr>
    <a:masterClrMapping/>
  </p:clrMapOvr>
  <p:transition xmlns:p14="http://schemas.microsoft.com/office/powerpoint/2010/main" p14:dur="380">
    <p:fade/>
  </p:transition>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Secrets, keys and data protection: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Generate or store secret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Separate key administration from use, scope resource policies, rotate secrets safely and plan multi-Region recovery.</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KMS · Secrets Manager · Parameter Store · ACM</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Key policy, grant, encryption context, secret version stages, rotation result and access trail.</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606</a:t>
            </a:r>
          </a:p>
        </p:txBody>
      </p:sp>
    </p:spTree>
  </p:cSld>
  <p:clrMapOvr>
    <a:masterClrMapping/>
  </p:clrMapOvr>
  <p:transition xmlns:p14="http://schemas.microsoft.com/office/powerpoint/2010/main" p14:dur="380">
    <p:fade/>
  </p:transition>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Config rules and conformance: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Record configuration</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Use managed/custom rules, aggregators, evidence retention and remediation with exception tagging.</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AWS Config · Conformance Packs · Systems Manager</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Configuration timeline, rule evaluation, conformance score, exception, remediation execution and recheck.</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607</a:t>
            </a:r>
          </a:p>
        </p:txBody>
      </p:sp>
    </p:spTree>
  </p:cSld>
  <p:clrMapOvr>
    <a:masterClrMapping/>
  </p:clrMapOvr>
  <p:transition xmlns:p14="http://schemas.microsoft.com/office/powerpoint/2010/main" p14:dur="380">
    <p:fade/>
  </p:transition>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Threat detection and investigation: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Detect</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Delegate administration, centralize findings, normalize severity, enrich with ownership and automate only well-understood responses.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GuardDuty · Security Hub · Detective · Inspector</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Finding ID, affected resource, severity, vulnerability, graph evidence, workflow status and response.</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608</a:t>
            </a:r>
          </a:p>
        </p:txBody>
      </p:sp>
    </p:spTree>
  </p:cSld>
  <p:clrMapOvr>
    <a:masterClrMapping/>
  </p:clrMapOvr>
  <p:transition xmlns:p14="http://schemas.microsoft.com/office/powerpoint/2010/main" p14:dur="380">
    <p:fade/>
  </p:transition>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Edge and network protection: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Observe traffic</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Use managed rules in count mode first, central policies, rate limits, logging and exception workflows.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WAF · Firewall Manager · Shield · Network Firewall</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Policy version, sampled request, rule action, log destination, exception and rollout scope.</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609</a:t>
            </a:r>
          </a:p>
        </p:txBody>
      </p:sp>
    </p:spTree>
  </p:cSld>
  <p:clrMapOvr>
    <a:masterClrMapping/>
  </p:clrMapOvr>
  <p:transition xmlns:p14="http://schemas.microsoft.com/office/powerpoint/2010/main" p14:dur="380">
    <p:fade/>
  </p:transition>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6 · SERVICE BOUNDARIES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Security blueprint and audit evidence: architecture 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41173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3921" y="2532888"/>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3921"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1" name="TextBox 10"/>
          <p:cNvSpPr txBox="1"/>
          <p:nvPr/>
        </p:nvSpPr>
        <p:spPr>
          <a:xfrm>
            <a:off x="896112" y="3319272"/>
            <a:ext cx="2173986" cy="384048"/>
          </a:xfrm>
          <a:prstGeom prst="rect">
            <a:avLst/>
          </a:prstGeom>
          <a:noFill/>
        </p:spPr>
        <p:txBody>
          <a:bodyPr wrap="square" anchor="ctr">
            <a:spAutoFit/>
          </a:bodyPr>
          <a:lstStyle/>
          <a:p>
            <a:pPr algn="ctr">
              <a:spcAft>
                <a:spcPts val="400"/>
              </a:spcAft>
            </a:pPr>
            <a:r>
              <a:rPr sz="1150" b="1">
                <a:solidFill>
                  <a:srgbClr val="1F6FEB"/>
                </a:solidFill>
                <a:latin typeface="Arial"/>
              </a:rPr>
              <a:t>TRIGGER / INPUT</a:t>
            </a:r>
          </a:p>
        </p:txBody>
      </p:sp>
      <p:sp>
        <p:nvSpPr>
          <p:cNvPr id="12" name="TextBox 11"/>
          <p:cNvSpPr txBox="1"/>
          <p:nvPr/>
        </p:nvSpPr>
        <p:spPr>
          <a:xfrm>
            <a:off x="896112"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Classify data</a:t>
            </a:r>
          </a:p>
        </p:txBody>
      </p:sp>
      <p:sp>
        <p:nvSpPr>
          <p:cNvPr id="13" name="Rectangle 12"/>
          <p:cNvSpPr/>
          <p:nvPr/>
        </p:nvSpPr>
        <p:spPr>
          <a:xfrm>
            <a:off x="3518154"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8154" y="2148840"/>
            <a:ext cx="241173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4835" y="2532888"/>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4835"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3637026" y="3319272"/>
            <a:ext cx="2173986" cy="384048"/>
          </a:xfrm>
          <a:prstGeom prst="rect">
            <a:avLst/>
          </a:prstGeom>
          <a:noFill/>
        </p:spPr>
        <p:txBody>
          <a:bodyPr wrap="square" anchor="ctr">
            <a:spAutoFit/>
          </a:bodyPr>
          <a:lstStyle/>
          <a:p>
            <a:pPr algn="ctr">
              <a:spcAft>
                <a:spcPts val="400"/>
              </a:spcAft>
            </a:pPr>
            <a:r>
              <a:rPr sz="1150" b="1">
                <a:solidFill>
                  <a:srgbClr val="10B981"/>
                </a:solidFill>
                <a:latin typeface="Arial"/>
              </a:rPr>
              <a:t>CONTROL PLANE</a:t>
            </a:r>
          </a:p>
        </p:txBody>
      </p:sp>
      <p:sp>
        <p:nvSpPr>
          <p:cNvPr id="18" name="TextBox 17"/>
          <p:cNvSpPr txBox="1"/>
          <p:nvPr/>
        </p:nvSpPr>
        <p:spPr>
          <a:xfrm>
            <a:off x="3637026"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Document trust boundaries, data classification, preventive/detective controls, logging, retention and incident responsibilities.</a:t>
            </a:r>
          </a:p>
        </p:txBody>
      </p:sp>
      <p:sp>
        <p:nvSpPr>
          <p:cNvPr id="19" name="Rectangle 18"/>
          <p:cNvSpPr/>
          <p:nvPr/>
        </p:nvSpPr>
        <p:spPr>
          <a:xfrm>
            <a:off x="6259068"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9068" y="2148840"/>
            <a:ext cx="241173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5749" y="2532888"/>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5749"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23" name="TextBox 22"/>
          <p:cNvSpPr txBox="1"/>
          <p:nvPr/>
        </p:nvSpPr>
        <p:spPr>
          <a:xfrm>
            <a:off x="6377940" y="3319272"/>
            <a:ext cx="2173986" cy="384048"/>
          </a:xfrm>
          <a:prstGeom prst="rect">
            <a:avLst/>
          </a:prstGeom>
          <a:noFill/>
        </p:spPr>
        <p:txBody>
          <a:bodyPr wrap="square" anchor="ctr">
            <a:spAutoFit/>
          </a:bodyPr>
          <a:lstStyle/>
          <a:p>
            <a:pPr algn="ctr">
              <a:spcAft>
                <a:spcPts val="400"/>
              </a:spcAft>
            </a:pPr>
            <a:r>
              <a:rPr sz="1150" b="1">
                <a:solidFill>
                  <a:srgbClr val="7C3AED"/>
                </a:solidFill>
                <a:latin typeface="Arial"/>
              </a:rPr>
              <a:t>AWS SERVICES</a:t>
            </a:r>
          </a:p>
        </p:txBody>
      </p:sp>
      <p:sp>
        <p:nvSpPr>
          <p:cNvPr id="24" name="TextBox 23"/>
          <p:cNvSpPr txBox="1"/>
          <p:nvPr/>
        </p:nvSpPr>
        <p:spPr>
          <a:xfrm>
            <a:off x="6377940"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Security Hub · Audit Manager · Artifact · Tagging</a:t>
            </a:r>
          </a:p>
        </p:txBody>
      </p:sp>
      <p:sp>
        <p:nvSpPr>
          <p:cNvPr id="25" name="Rectangle 24"/>
          <p:cNvSpPr/>
          <p:nvPr/>
        </p:nvSpPr>
        <p:spPr>
          <a:xfrm>
            <a:off x="8999982" y="2148840"/>
            <a:ext cx="2411730" cy="32461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982" y="2148840"/>
            <a:ext cx="241173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76663" y="2532888"/>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6663" y="2532888"/>
            <a:ext cx="658368" cy="658368"/>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29" name="TextBox 28"/>
          <p:cNvSpPr txBox="1"/>
          <p:nvPr/>
        </p:nvSpPr>
        <p:spPr>
          <a:xfrm>
            <a:off x="9118854" y="3319272"/>
            <a:ext cx="2173986" cy="384048"/>
          </a:xfrm>
          <a:prstGeom prst="rect">
            <a:avLst/>
          </a:prstGeom>
          <a:noFill/>
        </p:spPr>
        <p:txBody>
          <a:bodyPr wrap="square" anchor="ctr">
            <a:spAutoFit/>
          </a:bodyPr>
          <a:lstStyle/>
          <a:p>
            <a:pPr algn="ctr">
              <a:spcAft>
                <a:spcPts val="400"/>
              </a:spcAft>
            </a:pPr>
            <a:r>
              <a:rPr sz="1150" b="1">
                <a:solidFill>
                  <a:srgbClr val="F59E0B"/>
                </a:solidFill>
                <a:latin typeface="Arial"/>
              </a:rPr>
              <a:t>EVIDENCE BOUNDARY</a:t>
            </a:r>
          </a:p>
        </p:txBody>
      </p:sp>
      <p:sp>
        <p:nvSpPr>
          <p:cNvPr id="30" name="TextBox 29"/>
          <p:cNvSpPr txBox="1"/>
          <p:nvPr/>
        </p:nvSpPr>
        <p:spPr>
          <a:xfrm>
            <a:off x="9118854" y="3749040"/>
            <a:ext cx="2173986" cy="1463040"/>
          </a:xfrm>
          <a:prstGeom prst="rect">
            <a:avLst/>
          </a:prstGeom>
          <a:noFill/>
        </p:spPr>
        <p:txBody>
          <a:bodyPr wrap="square" anchor="ctr">
            <a:spAutoFit/>
          </a:bodyPr>
          <a:lstStyle/>
          <a:p>
            <a:pPr algn="ctr">
              <a:spcAft>
                <a:spcPts val="400"/>
              </a:spcAft>
            </a:pPr>
            <a:r>
              <a:rPr sz="1150" b="0">
                <a:solidFill>
                  <a:srgbClr val="161B26"/>
                </a:solidFill>
                <a:latin typeface="Arial"/>
              </a:rPr>
              <a:t>Architecture diagram, control matrix, evidence source, owner, retention rule, exception and review cadence.</a:t>
            </a:r>
          </a:p>
        </p:txBody>
      </p:sp>
      <p:cxnSp>
        <p:nvCxnSpPr>
          <p:cNvPr id="31" name="Connector 30"/>
          <p:cNvCxnSpPr/>
          <p:nvPr/>
        </p:nvCxnSpPr>
        <p:spPr>
          <a:xfrm>
            <a:off x="3188970"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29884"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0798" y="3771900"/>
            <a:ext cx="329184" cy="0"/>
          </a:xfrm>
          <a:prstGeom prst="line">
            <a:avLst/>
          </a:prstGeom>
          <a:ln w="22860">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052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5650992"/>
            <a:ext cx="10195560" cy="457200"/>
          </a:xfrm>
          <a:prstGeom prst="rect">
            <a:avLst/>
          </a:prstGeom>
          <a:noFill/>
        </p:spPr>
        <p:txBody>
          <a:bodyPr wrap="square" anchor="ctr">
            <a:spAutoFit/>
          </a:bodyPr>
          <a:lstStyle/>
          <a:p>
            <a:pPr algn="l">
              <a:spcAft>
                <a:spcPts val="400"/>
              </a:spcAft>
            </a:pPr>
            <a:r>
              <a:rPr sz="1150" b="1">
                <a:solidFill>
                  <a:srgbClr val="C0392B"/>
                </a:solidFill>
                <a:latin typeface="Arial"/>
              </a:rPr>
              <a:t>OPERATING PRINCIPLE  </a:t>
            </a:r>
            <a:r>
              <a:rPr sz="1250" b="0">
                <a:solidFill>
                  <a:srgbClr val="161B26"/>
                </a:solidFill>
                <a:latin typeface="Arial"/>
              </a:rPr>
              <a:t>Treat the stages as one controlled system; evidence from each stage informs the next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610</a:t>
            </a:r>
          </a:p>
        </p:txBody>
      </p:sp>
    </p:spTree>
  </p:cSld>
  <p:clrMapOvr>
    <a:masterClrMapping/>
  </p:clrMapOvr>
  <p:transition xmlns:p14="http://schemas.microsoft.com/office/powerpoint/2010/main" p14:dur="380">
    <p:fade/>
  </p:transition>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LAB 21 · DAY 5 · LO6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Enforce IAM Least Privilege and Analyse Policies for Over-Permissive Access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21</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5 · LO6 · K6, A4</a:t>
            </a:r>
          </a:p>
        </p:txBody>
      </p:sp>
      <p:sp>
        <p:nvSpPr>
          <p:cNvPr id="10" name="TextBox 9"/>
          <p:cNvSpPr txBox="1"/>
          <p:nvPr/>
        </p:nvSpPr>
        <p:spPr>
          <a:xfrm>
            <a:off x="777240" y="2286000"/>
            <a:ext cx="5486400" cy="1215390"/>
          </a:xfrm>
          <a:prstGeom prst="rect">
            <a:avLst/>
          </a:prstGeom>
          <a:noFill/>
        </p:spPr>
        <p:txBody>
          <a:bodyPr wrap="square" anchor="t">
            <a:spAutoFit/>
          </a:bodyPr>
          <a:lstStyle/>
          <a:p>
            <a:pPr algn="l">
              <a:spcAft>
                <a:spcPts val="400"/>
              </a:spcAft>
            </a:pPr>
            <a:r>
              <a:rPr sz="1350" b="0">
                <a:solidFill>
                  <a:srgbClr val="161B26"/>
                </a:solidFill>
                <a:latin typeface="Arial"/>
              </a:rPr>
              <a:t>Broad permissions are the single most common cloud security failure.</a:t>
            </a:r>
          </a:p>
        </p:txBody>
      </p:sp>
      <p:sp>
        <p:nvSpPr>
          <p:cNvPr id="11" name="Rectangle 10"/>
          <p:cNvSpPr/>
          <p:nvPr/>
        </p:nvSpPr>
        <p:spPr>
          <a:xfrm>
            <a:off x="777240" y="3611118"/>
            <a:ext cx="5486400" cy="13281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118"/>
            <a:ext cx="91440" cy="132816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39134"/>
            <a:ext cx="5120640" cy="274320"/>
          </a:xfrm>
          <a:prstGeom prst="rect">
            <a:avLst/>
          </a:prstGeom>
          <a:noFill/>
        </p:spPr>
        <p:txBody>
          <a:bodyPr wrap="square" anchor="t">
            <a:spAutoFit/>
          </a:bodyPr>
          <a:lstStyle/>
          <a:p>
            <a:pPr algn="l">
              <a:spcAft>
                <a:spcPts val="400"/>
              </a:spcAft>
            </a:pPr>
            <a:r>
              <a:rPr sz="1200" b="1">
                <a:solidFill>
                  <a:srgbClr val="C0392B"/>
                </a:solidFill>
                <a:latin typeface="Arial"/>
              </a:rPr>
              <a:t>YOU'LL BUILD</a:t>
            </a:r>
          </a:p>
        </p:txBody>
      </p:sp>
      <p:sp>
        <p:nvSpPr>
          <p:cNvPr id="14" name="TextBox 13"/>
          <p:cNvSpPr txBox="1"/>
          <p:nvPr/>
        </p:nvSpPr>
        <p:spPr>
          <a:xfrm>
            <a:off x="960120" y="4013454"/>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 least-privilege IAM policy for the app role, capped by a permission boundary, that passes Access Analyzer validation with no security warnings and grants nothing beyond the app's real needs.</a:t>
            </a:r>
          </a:p>
        </p:txBody>
      </p:sp>
      <p:sp>
        <p:nvSpPr>
          <p:cNvPr id="15" name="TextBox 14"/>
          <p:cNvSpPr txBox="1"/>
          <p:nvPr/>
        </p:nvSpPr>
        <p:spPr>
          <a:xfrm>
            <a:off x="960120" y="4637913"/>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IAM, IAM Access Analyzer, AWS STS, AWS CloudFormation</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Write a scoped IAM policy, cap it with a permission boundary, and prove least privilege with IAM Access Analyzer.</a:t>
            </a:r>
          </a:p>
          <a:p>
            <a:pPr algn="l">
              <a:spcAft>
                <a:spcPts val="300"/>
              </a:spcAft>
            </a:pPr>
            <a:r>
              <a:rPr sz="1050" b="0">
                <a:solidFill>
                  <a:srgbClr val="5B6372"/>
                </a:solidFill>
                <a:latin typeface="Arial"/>
              </a:rPr>
              <a:t>Evidence:  The output showing zero SECURITY_WARNING findings for iam-policy.json.</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21-iam-least-privilege-analysis.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611</a:t>
            </a:r>
          </a:p>
        </p:txBody>
      </p:sp>
    </p:spTree>
  </p:cSld>
  <p:clrMapOvr>
    <a:masterClrMapping/>
  </p:clrMapOvr>
  <p:transition xmlns:p14="http://schemas.microsoft.com/office/powerpoint/2010/main" p14:dur="380">
    <p:fade/>
  </p:transition>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LAB 22 · DAY 5 · LO6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Protect Data with Secrets Manager and Customer-Managed KMS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22</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5 · LO6 · K6, A4</a:t>
            </a:r>
          </a:p>
        </p:txBody>
      </p:sp>
      <p:sp>
        <p:nvSpPr>
          <p:cNvPr id="10" name="TextBox 9"/>
          <p:cNvSpPr txBox="1"/>
          <p:nvPr/>
        </p:nvSpPr>
        <p:spPr>
          <a:xfrm>
            <a:off x="777240" y="2286000"/>
            <a:ext cx="5486400" cy="1017270"/>
          </a:xfrm>
          <a:prstGeom prst="rect">
            <a:avLst/>
          </a:prstGeom>
          <a:noFill/>
        </p:spPr>
        <p:txBody>
          <a:bodyPr wrap="square" anchor="t">
            <a:spAutoFit/>
          </a:bodyPr>
          <a:lstStyle/>
          <a:p>
            <a:pPr algn="l">
              <a:spcAft>
                <a:spcPts val="400"/>
              </a:spcAft>
            </a:pPr>
            <a:r>
              <a:rPr sz="1350" b="0">
                <a:solidFill>
                  <a:srgbClr val="161B26"/>
                </a:solidFill>
                <a:latin typeface="Arial"/>
              </a:rPr>
              <a:t>Sensitive data must be encrypted with keys you control and secrets must never live in code.</a:t>
            </a:r>
          </a:p>
        </p:txBody>
      </p:sp>
      <p:sp>
        <p:nvSpPr>
          <p:cNvPr id="11" name="Rectangle 10"/>
          <p:cNvSpPr/>
          <p:nvPr/>
        </p:nvSpPr>
        <p:spPr>
          <a:xfrm>
            <a:off x="777240" y="3412998"/>
            <a:ext cx="5486400" cy="1526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12998"/>
            <a:ext cx="91440" cy="152628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41014"/>
            <a:ext cx="5120640" cy="274320"/>
          </a:xfrm>
          <a:prstGeom prst="rect">
            <a:avLst/>
          </a:prstGeom>
          <a:noFill/>
        </p:spPr>
        <p:txBody>
          <a:bodyPr wrap="square" anchor="t">
            <a:spAutoFit/>
          </a:bodyPr>
          <a:lstStyle/>
          <a:p>
            <a:pPr algn="l">
              <a:spcAft>
                <a:spcPts val="400"/>
              </a:spcAft>
            </a:pPr>
            <a:r>
              <a:rPr sz="1200" b="1">
                <a:solidFill>
                  <a:srgbClr val="C0392B"/>
                </a:solidFill>
                <a:latin typeface="Arial"/>
              </a:rPr>
              <a:t>YOU'LL BUILD</a:t>
            </a:r>
          </a:p>
        </p:txBody>
      </p:sp>
      <p:sp>
        <p:nvSpPr>
          <p:cNvPr id="14" name="TextBox 13"/>
          <p:cNvSpPr txBox="1"/>
          <p:nvPr/>
        </p:nvSpPr>
        <p:spPr>
          <a:xfrm>
            <a:off x="960120" y="3815334"/>
            <a:ext cx="5166360" cy="594360"/>
          </a:xfrm>
          <a:prstGeom prst="rect">
            <a:avLst/>
          </a:prstGeom>
          <a:noFill/>
        </p:spPr>
        <p:txBody>
          <a:bodyPr wrap="square" anchor="t">
            <a:spAutoFit/>
          </a:bodyPr>
          <a:lstStyle/>
          <a:p>
            <a:pPr algn="l">
              <a:spcAft>
                <a:spcPts val="400"/>
              </a:spcAft>
            </a:pPr>
            <a:r>
              <a:rPr sz="1200" b="1">
                <a:solidFill>
                  <a:srgbClr val="161B26"/>
                </a:solidFill>
                <a:latin typeface="Arial"/>
              </a:rPr>
              <a:t>A customer-managed KMS key with a scoped key policy, a rotating Secrets Manager secret, and an S3 bucket that encrypts by default with your key and rejects any unencrypted upload.</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KMS, AWS Secrets Manager, Amazon S3, AWS Lambda (rotation), AWS CloudFormation</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Create a customer-managed KMS key with a key policy, store a secret with rotation, and enforce encryption on S3.</a:t>
            </a:r>
          </a:p>
          <a:p>
            <a:pPr algn="l">
              <a:spcAft>
                <a:spcPts val="300"/>
              </a:spcAft>
            </a:pPr>
            <a:r>
              <a:rPr sz="1050" b="0">
                <a:solidFill>
                  <a:srgbClr val="5B6372"/>
                </a:solidFill>
                <a:latin typeface="Arial"/>
              </a:rPr>
              <a:t>Evidence:  describe-key output showing KeyManager CUSTOMER, KeyState Enabled and rotation enabled for alias/devops-app.</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22-secrets-kms-encryption.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612</a:t>
            </a:r>
          </a:p>
        </p:txBody>
      </p:sp>
    </p:spTree>
  </p:cSld>
  <p:clrMapOvr>
    <a:masterClrMapping/>
  </p:clrMapOvr>
  <p:transition xmlns:p14="http://schemas.microsoft.com/office/powerpoint/2010/main" p14:dur="380">
    <p:fade/>
  </p:transition>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LAB 23 · DAY 5 · LO6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300" b="1">
                <a:solidFill>
                  <a:srgbClr val="161B26"/>
                </a:solidFill>
                <a:latin typeface="Arial"/>
              </a:rPr>
              <a:t>Produce CloudTrail Audit Evidence and Answer Who-Did-What-When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23</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5 · LO6 · K6, A4</a:t>
            </a:r>
          </a:p>
        </p:txBody>
      </p:sp>
      <p:sp>
        <p:nvSpPr>
          <p:cNvPr id="10" name="TextBox 9"/>
          <p:cNvSpPr txBox="1"/>
          <p:nvPr/>
        </p:nvSpPr>
        <p:spPr>
          <a:xfrm>
            <a:off x="777240" y="2286000"/>
            <a:ext cx="5486400" cy="992505"/>
          </a:xfrm>
          <a:prstGeom prst="rect">
            <a:avLst/>
          </a:prstGeom>
          <a:noFill/>
        </p:spPr>
        <p:txBody>
          <a:bodyPr wrap="square" anchor="t">
            <a:spAutoFit/>
          </a:bodyPr>
          <a:lstStyle/>
          <a:p>
            <a:pPr algn="l">
              <a:spcAft>
                <a:spcPts val="400"/>
              </a:spcAft>
            </a:pPr>
            <a:r>
              <a:rPr sz="1350" b="0">
                <a:solidFill>
                  <a:srgbClr val="161B26"/>
                </a:solidFill>
                <a:latin typeface="Arial"/>
              </a:rPr>
              <a:t>Auditors and incident responders need a tamper-evident record of every API call.</a:t>
            </a:r>
          </a:p>
        </p:txBody>
      </p:sp>
      <p:sp>
        <p:nvSpPr>
          <p:cNvPr id="11" name="Rectangle 10"/>
          <p:cNvSpPr/>
          <p:nvPr/>
        </p:nvSpPr>
        <p:spPr>
          <a:xfrm>
            <a:off x="777240" y="3388233"/>
            <a:ext cx="5486400" cy="15510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88233"/>
            <a:ext cx="91440" cy="1551051"/>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16249"/>
            <a:ext cx="5120640" cy="274320"/>
          </a:xfrm>
          <a:prstGeom prst="rect">
            <a:avLst/>
          </a:prstGeom>
          <a:noFill/>
        </p:spPr>
        <p:txBody>
          <a:bodyPr wrap="square" anchor="t">
            <a:spAutoFit/>
          </a:bodyPr>
          <a:lstStyle/>
          <a:p>
            <a:pPr algn="l">
              <a:spcAft>
                <a:spcPts val="400"/>
              </a:spcAft>
            </a:pPr>
            <a:r>
              <a:rPr sz="1200" b="1">
                <a:solidFill>
                  <a:srgbClr val="C0392B"/>
                </a:solidFill>
                <a:latin typeface="Arial"/>
              </a:rPr>
              <a:t>YOU'LL BUILD</a:t>
            </a:r>
          </a:p>
        </p:txBody>
      </p:sp>
      <p:sp>
        <p:nvSpPr>
          <p:cNvPr id="14" name="TextBox 13"/>
          <p:cNvSpPr txBox="1"/>
          <p:nvPr/>
        </p:nvSpPr>
        <p:spPr>
          <a:xfrm>
            <a:off x="960120" y="3790569"/>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 validated, multi-Region CloudTrail delivering encrypted logs to S3, plus Athena/CloudTrail Lake queries that answer who-did-what-when and an exported evidence pack.</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CloudTrail, Amazon S3, Amazon Athena, CloudTrail Lake, AWS KMS</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Stand up a multi-Region CloudTrail with log-file validation and query it to export audit evidence.</a:t>
            </a:r>
          </a:p>
          <a:p>
            <a:pPr algn="l">
              <a:spcAft>
                <a:spcPts val="300"/>
              </a:spcAft>
            </a:pPr>
            <a:r>
              <a:rPr sz="1050" b="0">
                <a:solidFill>
                  <a:srgbClr val="5B6372"/>
                </a:solidFill>
                <a:latin typeface="Arial"/>
              </a:rPr>
              <a:t>Evidence:  describe-trails output showing multi-Region true, log-file validation true and a KMS key on devops-trail.</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23-cloudtrail-audit-evidence.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613</a:t>
            </a:r>
          </a:p>
        </p:txBody>
      </p:sp>
    </p:spTree>
  </p:cSld>
  <p:clrMapOvr>
    <a:masterClrMapping/>
  </p:clrMapOvr>
  <p:transition xmlns:p14="http://schemas.microsoft.com/office/powerpoint/2010/main" p14:dur="380">
    <p:fade/>
  </p:transition>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LAB 24 · DAY 5 · LO6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Run Continuous Compliance with AWS Config and Security Hub</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24</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5 · LO6 · K6, A4</a:t>
            </a:r>
          </a:p>
        </p:txBody>
      </p:sp>
      <p:sp>
        <p:nvSpPr>
          <p:cNvPr id="10" name="TextBox 9"/>
          <p:cNvSpPr txBox="1"/>
          <p:nvPr/>
        </p:nvSpPr>
        <p:spPr>
          <a:xfrm>
            <a:off x="777240" y="2286000"/>
            <a:ext cx="5486400" cy="1042035"/>
          </a:xfrm>
          <a:prstGeom prst="rect">
            <a:avLst/>
          </a:prstGeom>
          <a:noFill/>
        </p:spPr>
        <p:txBody>
          <a:bodyPr wrap="square" anchor="t">
            <a:spAutoFit/>
          </a:bodyPr>
          <a:lstStyle/>
          <a:p>
            <a:pPr algn="l">
              <a:spcAft>
                <a:spcPts val="400"/>
              </a:spcAft>
            </a:pPr>
            <a:r>
              <a:rPr sz="1350" b="0">
                <a:solidFill>
                  <a:srgbClr val="161B26"/>
                </a:solidFill>
                <a:latin typeface="Arial"/>
              </a:rPr>
              <a:t>Compliance is not a one-off audit — it must run continuously.</a:t>
            </a:r>
          </a:p>
        </p:txBody>
      </p:sp>
      <p:sp>
        <p:nvSpPr>
          <p:cNvPr id="11" name="Rectangle 10"/>
          <p:cNvSpPr/>
          <p:nvPr/>
        </p:nvSpPr>
        <p:spPr>
          <a:xfrm>
            <a:off x="777240" y="3437763"/>
            <a:ext cx="5486400" cy="15015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37763"/>
            <a:ext cx="91440" cy="1501521"/>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65779"/>
            <a:ext cx="5120640" cy="274320"/>
          </a:xfrm>
          <a:prstGeom prst="rect">
            <a:avLst/>
          </a:prstGeom>
          <a:noFill/>
        </p:spPr>
        <p:txBody>
          <a:bodyPr wrap="square" anchor="t">
            <a:spAutoFit/>
          </a:bodyPr>
          <a:lstStyle/>
          <a:p>
            <a:pPr algn="l">
              <a:spcAft>
                <a:spcPts val="400"/>
              </a:spcAft>
            </a:pPr>
            <a:r>
              <a:rPr sz="1200" b="1">
                <a:solidFill>
                  <a:srgbClr val="C0392B"/>
                </a:solidFill>
                <a:latin typeface="Arial"/>
              </a:rPr>
              <a:t>YOU'LL BUILD</a:t>
            </a:r>
          </a:p>
        </p:txBody>
      </p:sp>
      <p:sp>
        <p:nvSpPr>
          <p:cNvPr id="14" name="TextBox 13"/>
          <p:cNvSpPr txBox="1"/>
          <p:nvPr/>
        </p:nvSpPr>
        <p:spPr>
          <a:xfrm>
            <a:off x="960120" y="3840099"/>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 continuously evaluating AWS Config + Security Hub setup that detects an injected violation as NON_COMPLIANT, auto-remediates it to COMPLIANT, and shows the posture score improve.</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Config, AWS Security Hub, AWS Systems Manager Automation, Amazon S3, AWS CloudFormation + 1 more</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Enable AWS Config managed rules and Security Hub standards, inject a violation and remediate to COMPLIANT.</a:t>
            </a:r>
          </a:p>
          <a:p>
            <a:pPr algn="l">
              <a:spcAft>
                <a:spcPts val="300"/>
              </a:spcAft>
            </a:pPr>
            <a:r>
              <a:rPr sz="1050" b="0">
                <a:solidFill>
                  <a:srgbClr val="5B6372"/>
                </a:solidFill>
                <a:latin typeface="Arial"/>
              </a:rPr>
              <a:t>Evidence:  describe-configuration-recorder-status showing recording true and get-enabled-standards showing FSBP enabled.</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24-config-securityhub-compliance.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614</a:t>
            </a:r>
          </a:p>
        </p:txBody>
      </p:sp>
    </p:spTree>
  </p:cSld>
  <p:clrMapOvr>
    <a:masterClrMapping/>
  </p:clrMapOvr>
  <p:transition xmlns:p14="http://schemas.microsoft.com/office/powerpoint/2010/main" p14:dur="380">
    <p:fade/>
  </p:transition>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LAB 25 · DAY 5 · LO1–LO6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1600" b="1">
                <a:solidFill>
                  <a:srgbClr val="161B26"/>
                </a:solidFill>
                <a:latin typeface="Arial"/>
              </a:rPr>
              <a:t>Capstone — Blueprint, Well-Architected Review and Evidence Pack for the Whole Delivery System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41732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417320" cy="365760"/>
          </a:xfrm>
          <a:prstGeom prst="rect">
            <a:avLst/>
          </a:prstGeom>
          <a:noFill/>
        </p:spPr>
        <p:txBody>
          <a:bodyPr wrap="square" anchor="t">
            <a:spAutoFit/>
          </a:bodyPr>
          <a:lstStyle/>
          <a:p>
            <a:pPr algn="ctr">
              <a:spcAft>
                <a:spcPts val="400"/>
              </a:spcAft>
            </a:pPr>
            <a:r>
              <a:rPr sz="1600" b="1">
                <a:solidFill>
                  <a:srgbClr val="FFFFFF"/>
                </a:solidFill>
                <a:latin typeface="Arial"/>
              </a:rPr>
              <a:t>LAB 25</a:t>
            </a:r>
          </a:p>
        </p:txBody>
      </p:sp>
      <p:sp>
        <p:nvSpPr>
          <p:cNvPr id="9" name="TextBox 8"/>
          <p:cNvSpPr txBox="1"/>
          <p:nvPr/>
        </p:nvSpPr>
        <p:spPr>
          <a:xfrm>
            <a:off x="2514600" y="1783080"/>
            <a:ext cx="3749039" cy="365760"/>
          </a:xfrm>
          <a:prstGeom prst="rect">
            <a:avLst/>
          </a:prstGeom>
          <a:noFill/>
        </p:spPr>
        <p:txBody>
          <a:bodyPr wrap="square" anchor="t">
            <a:spAutoFit/>
          </a:bodyPr>
          <a:lstStyle/>
          <a:p>
            <a:pPr algn="l">
              <a:spcAft>
                <a:spcPts val="400"/>
              </a:spcAft>
            </a:pPr>
            <a:r>
              <a:rPr sz="1150" b="1">
                <a:solidFill>
                  <a:srgbClr val="5B6372"/>
                </a:solidFill>
                <a:latin typeface="Arial"/>
              </a:rPr>
              <a:t>Day 5 · LO1–LO6 · K1, K2, K3, K4, K5, K6, K7, A1, A2, A3, A4, A5, A6</a:t>
            </a:r>
          </a:p>
        </p:txBody>
      </p:sp>
      <p:sp>
        <p:nvSpPr>
          <p:cNvPr id="10" name="TextBox 9"/>
          <p:cNvSpPr txBox="1"/>
          <p:nvPr/>
        </p:nvSpPr>
        <p:spPr>
          <a:xfrm>
            <a:off x="777240" y="2286000"/>
            <a:ext cx="5486400" cy="868680"/>
          </a:xfrm>
          <a:prstGeom prst="rect">
            <a:avLst/>
          </a:prstGeom>
          <a:noFill/>
        </p:spPr>
        <p:txBody>
          <a:bodyPr wrap="square" anchor="t">
            <a:spAutoFit/>
          </a:bodyPr>
          <a:lstStyle/>
          <a:p>
            <a:pPr algn="l">
              <a:spcAft>
                <a:spcPts val="400"/>
              </a:spcAft>
            </a:pPr>
            <a:r>
              <a:rPr sz="1350" b="0">
                <a:solidFill>
                  <a:srgbClr val="161B26"/>
                </a:solidFill>
                <a:latin typeface="Arial"/>
              </a:rPr>
              <a:t>This capstone ties the entire course together.</a:t>
            </a:r>
          </a:p>
        </p:txBody>
      </p:sp>
      <p:sp>
        <p:nvSpPr>
          <p:cNvPr id="11" name="Rectangle 10"/>
          <p:cNvSpPr/>
          <p:nvPr/>
        </p:nvSpPr>
        <p:spPr>
          <a:xfrm>
            <a:off x="777240" y="3264408"/>
            <a:ext cx="5486400" cy="15015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264408"/>
            <a:ext cx="91440" cy="1501521"/>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392424"/>
            <a:ext cx="5120640" cy="274320"/>
          </a:xfrm>
          <a:prstGeom prst="rect">
            <a:avLst/>
          </a:prstGeom>
          <a:noFill/>
        </p:spPr>
        <p:txBody>
          <a:bodyPr wrap="square" anchor="t">
            <a:spAutoFit/>
          </a:bodyPr>
          <a:lstStyle/>
          <a:p>
            <a:pPr algn="l">
              <a:spcAft>
                <a:spcPts val="400"/>
              </a:spcAft>
            </a:pPr>
            <a:r>
              <a:rPr sz="1200" b="1">
                <a:solidFill>
                  <a:srgbClr val="C0392B"/>
                </a:solidFill>
                <a:latin typeface="Arial"/>
              </a:rPr>
              <a:t>YOU'LL BUILD</a:t>
            </a:r>
          </a:p>
        </p:txBody>
      </p:sp>
      <p:sp>
        <p:nvSpPr>
          <p:cNvPr id="14" name="TextBox 13"/>
          <p:cNvSpPr txBox="1"/>
          <p:nvPr/>
        </p:nvSpPr>
        <p:spPr>
          <a:xfrm>
            <a:off x="960120" y="3666744"/>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 completed technical blueprint, a Well-Architected pillar review with scores and actions, and an evidence pack that proves the whole secured/resilient/observable delivery system against LO1–LO6.</a:t>
            </a:r>
          </a:p>
        </p:txBody>
      </p:sp>
      <p:sp>
        <p:nvSpPr>
          <p:cNvPr id="15" name="TextBox 14"/>
          <p:cNvSpPr txBox="1"/>
          <p:nvPr/>
        </p:nvSpPr>
        <p:spPr>
          <a:xfrm>
            <a:off x="960120" y="4291203"/>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CodePipeline/CodeBuild/CodeDeploy, CloudFormation, EC2/ALB/Auto Scaling, RDS, CloudWatch + 9 more</a:t>
            </a:r>
          </a:p>
        </p:txBody>
      </p:sp>
      <p:sp>
        <p:nvSpPr>
          <p:cNvPr id="16" name="Rectangle 15"/>
          <p:cNvSpPr/>
          <p:nvPr/>
        </p:nvSpPr>
        <p:spPr>
          <a:xfrm>
            <a:off x="777240" y="4875657"/>
            <a:ext cx="5486400" cy="14519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75657"/>
            <a:ext cx="91440" cy="145199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003673"/>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277993"/>
            <a:ext cx="5166360" cy="866775"/>
          </a:xfrm>
          <a:prstGeom prst="rect">
            <a:avLst/>
          </a:prstGeom>
          <a:noFill/>
        </p:spPr>
        <p:txBody>
          <a:bodyPr wrap="square" anchor="t">
            <a:spAutoFit/>
          </a:bodyPr>
          <a:lstStyle/>
          <a:p>
            <a:pPr algn="l">
              <a:spcAft>
                <a:spcPts val="300"/>
              </a:spcAft>
            </a:pPr>
            <a:r>
              <a:rPr sz="1050" b="0">
                <a:solidFill>
                  <a:srgbClr val="5B6372"/>
                </a:solidFill>
                <a:latin typeface="Arial"/>
              </a:rPr>
              <a:t>Outcome:  Synthesise Labs 1–24 into one secured, resilient, observable delivery system with a blueprint, an operational review and an evidence pack.</a:t>
            </a:r>
          </a:p>
          <a:p>
            <a:pPr algn="l">
              <a:spcAft>
                <a:spcPts val="300"/>
              </a:spcAft>
            </a:pPr>
            <a:r>
              <a:rPr sz="1050" b="0">
                <a:solidFill>
                  <a:srgbClr val="5B6372"/>
                </a:solidFill>
                <a:latin typeface="Arial"/>
              </a:rPr>
              <a:t>Evidence:  The completed blueprint.md with all six domain sections filled and cross-referenced to the labs.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25-capstone-blueprint-evidence-pack.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615</a:t>
            </a:r>
          </a:p>
        </p:txBody>
      </p:sp>
    </p:spTree>
  </p:cSld>
  <p:clrMapOvr>
    <a:masterClrMapping/>
  </p:clrMapOvr>
  <p:transition xmlns:p14="http://schemas.microsoft.com/office/powerpoint/2010/main" p14:dur="380">
    <p:fade/>
  </p:transition>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RECAP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Recap — Security and Compliance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21</a:t>
            </a:r>
          </a:p>
          <a:p>
            <a:pPr algn="l">
              <a:spcAft>
                <a:spcPts val="300"/>
              </a:spcAft>
            </a:pPr>
            <a:r>
              <a:rPr sz="950" b="0">
                <a:solidFill>
                  <a:srgbClr val="5B6372"/>
                </a:solidFill>
                <a:latin typeface="Arial"/>
              </a:rPr>
              <a:t>Write a scoped IAM policy, cap it.</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22</a:t>
            </a:r>
          </a:p>
          <a:p>
            <a:pPr algn="l">
              <a:spcAft>
                <a:spcPts val="300"/>
              </a:spcAft>
            </a:pPr>
            <a:r>
              <a:rPr sz="950" b="0">
                <a:solidFill>
                  <a:srgbClr val="5B6372"/>
                </a:solidFill>
                <a:latin typeface="Arial"/>
              </a:rPr>
              <a:t>Create a customer-managed KMS key with a key policy, store a secret with rotation.</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23</a:t>
            </a:r>
          </a:p>
          <a:p>
            <a:pPr algn="l">
              <a:spcAft>
                <a:spcPts val="300"/>
              </a:spcAft>
            </a:pPr>
            <a:r>
              <a:rPr sz="950" b="0">
                <a:solidFill>
                  <a:srgbClr val="5B6372"/>
                </a:solidFill>
                <a:latin typeface="Arial"/>
              </a:rPr>
              <a:t>Stand up a multi-Region CloudTrail with log-file validation and query it to export audit evidence.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24</a:t>
            </a:r>
          </a:p>
          <a:p>
            <a:pPr algn="l">
              <a:spcAft>
                <a:spcPts val="300"/>
              </a:spcAft>
            </a:pPr>
            <a:r>
              <a:rPr sz="950" b="0">
                <a:solidFill>
                  <a:srgbClr val="5B6372"/>
                </a:solidFill>
                <a:latin typeface="Arial"/>
              </a:rPr>
              <a:t>Enable AWS Config managed rules and Security Hub standards, inject a violation and remediate to COMPLIANT.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Lab 25</a:t>
            </a:r>
          </a:p>
          <a:p>
            <a:pPr algn="l">
              <a:spcAft>
                <a:spcPts val="300"/>
              </a:spcAft>
            </a:pPr>
            <a:r>
              <a:rPr sz="950" b="0">
                <a:solidFill>
                  <a:srgbClr val="5B6372"/>
                </a:solidFill>
                <a:latin typeface="Arial"/>
              </a:rPr>
              <a:t>Synthesise Labs 1–24 into one secured, resilient, observable delivery system.</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350" b="1">
                <a:solidFill>
                  <a:srgbClr val="161B26"/>
                </a:solidFill>
                <a:latin typeface="Arial"/>
              </a:rPr>
              <a:t>Key principle</a:t>
            </a:r>
          </a:p>
          <a:p>
            <a:pPr algn="l">
              <a:spcAft>
                <a:spcPts val="300"/>
              </a:spcAft>
            </a:pPr>
            <a:r>
              <a:rPr sz="950" b="0">
                <a:solidFill>
                  <a:srgbClr val="5B6372"/>
                </a:solidFill>
                <a:latin typeface="Arial"/>
              </a:rPr>
              <a:t>IAM users, roles, policies and permission boundaries enforce least privilege; roles beat long-lived keys.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616</a:t>
            </a:r>
          </a:p>
        </p:txBody>
      </p:sp>
    </p:spTree>
  </p:cSld>
  <p:clrMapOvr>
    <a:masterClrMapping/>
  </p:clrMapOvr>
  <p:transition xmlns:p14="http://schemas.microsoft.com/office/powerpoint/2010/main" p14:dur="380">
    <p:fade/>
  </p:transition>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PUTTING IT ALL TOGETHER</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Cross-Domain Integration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six domains are one system — a single sample application delivered, run and secured end to end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617</a:t>
            </a:r>
          </a:p>
        </p:txBody>
      </p:sp>
    </p:spTree>
  </p:cSld>
  <p:clrMapOvr>
    <a:masterClrMapping/>
  </p:clrMapOvr>
  <p:transition xmlns:p14="http://schemas.microsoft.com/office/powerpoint/2010/main" p14:dur="380">
    <p:fade/>
  </p:transition>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ALL SIX DOMAINS AS ONE SYSTEM</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Sample Application, End to End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Source
GitHub via CodeConnections</a:t>
            </a:r>
          </a:p>
        </p:txBody>
      </p:sp>
      <p:sp>
        <p:nvSpPr>
          <p:cNvPr id="10" name="Rounded Rectangle 9"/>
          <p:cNvSpPr/>
          <p:nvPr/>
        </p:nvSpPr>
        <p:spPr>
          <a:xfrm>
            <a:off x="3520440" y="196596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0440" y="196596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CI/CD
CodePipeline/Build/Deploy</a:t>
            </a:r>
          </a:p>
        </p:txBody>
      </p:sp>
      <p:sp>
        <p:nvSpPr>
          <p:cNvPr id="13" name="Rounded Rectangle 12"/>
          <p:cNvSpPr/>
          <p:nvPr/>
        </p:nvSpPr>
        <p:spPr>
          <a:xfrm>
            <a:off x="777240" y="3657600"/>
            <a:ext cx="237744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657600"/>
            <a:ext cx="237744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IaC
CloudFormation</a:t>
            </a:r>
          </a:p>
        </p:txBody>
      </p:sp>
      <p:sp>
        <p:nvSpPr>
          <p:cNvPr id="16" name="Rounded Rectangle 15"/>
          <p:cNvSpPr/>
          <p:nvPr/>
        </p:nvSpPr>
        <p:spPr>
          <a:xfrm>
            <a:off x="6263640" y="1965960"/>
            <a:ext cx="237744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965960"/>
            <a:ext cx="237744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Run (HA)
ALB + Multi-AZ ASG</a:t>
            </a:r>
          </a:p>
        </p:txBody>
      </p:sp>
      <p:sp>
        <p:nvSpPr>
          <p:cNvPr id="19" name="Rounded Rectangle 18"/>
          <p:cNvSpPr/>
          <p:nvPr/>
        </p:nvSpPr>
        <p:spPr>
          <a:xfrm>
            <a:off x="9006840" y="1965960"/>
            <a:ext cx="2377440" cy="1051560"/>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1965960"/>
            <a:ext cx="237744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Observe
CloudWatch + X-Ray</a:t>
            </a:r>
          </a:p>
        </p:txBody>
      </p:sp>
      <p:sp>
        <p:nvSpPr>
          <p:cNvPr id="22" name="Rounded Rectangle 21"/>
          <p:cNvSpPr/>
          <p:nvPr/>
        </p:nvSpPr>
        <p:spPr>
          <a:xfrm>
            <a:off x="9006840" y="3657600"/>
            <a:ext cx="2377440" cy="1051560"/>
          </a:xfrm>
          <a:prstGeom prst="roundRect">
            <a:avLst/>
          </a:prstGeom>
          <a:solidFill>
            <a:srgbClr val="F5F8FC"/>
          </a:solidFill>
          <a:ln w="15875">
            <a:solidFill>
              <a:srgbClr val="EC71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40" y="3657600"/>
            <a:ext cx="2377440" cy="8229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Respond
EventBridge + Lambda</a:t>
            </a:r>
          </a:p>
        </p:txBody>
      </p:sp>
      <p:sp>
        <p:nvSpPr>
          <p:cNvPr id="25" name="Rounded Rectangle 24"/>
          <p:cNvSpPr/>
          <p:nvPr/>
        </p:nvSpPr>
        <p:spPr>
          <a:xfrm>
            <a:off x="6263640" y="3657600"/>
            <a:ext cx="2377440" cy="1051560"/>
          </a:xfrm>
          <a:prstGeom prst="roundRect">
            <a:avLst/>
          </a:prstGeom>
          <a:solidFill>
            <a:srgbClr val="F5F8FC"/>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3657600"/>
            <a:ext cx="2377440" cy="822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Secure &amp; Audit
IAM/Config/CloudTrail</a:t>
            </a:r>
          </a:p>
        </p:txBody>
      </p:sp>
      <p:cxnSp>
        <p:nvCxnSpPr>
          <p:cNvPr id="28" name="Connector 27"/>
          <p:cNvCxnSpPr/>
          <p:nvPr/>
        </p:nvCxnSpPr>
        <p:spPr>
          <a:xfrm flipV="1">
            <a:off x="19659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1546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8978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410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1955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864108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4523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1F6FEB"/>
                </a:solidFill>
                <a:latin typeface="Arial"/>
              </a:rPr>
              <a:t>▶  </a:t>
            </a:r>
            <a:r>
              <a:rPr sz="1300" b="0">
                <a:solidFill>
                  <a:srgbClr val="161B26"/>
                </a:solidFill>
                <a:latin typeface="Arial"/>
              </a:rPr>
              <a:t>Domains 1–6 map onto one delivery-to-operations loop: build it (1), codify it (2), make it resilient (3), watch it (4), respond (5) and secure it (6).</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618</a:t>
            </a:r>
          </a:p>
        </p:txBody>
      </p:sp>
    </p:spTree>
  </p:cSld>
  <p:clrMapOvr>
    <a:masterClrMapping/>
  </p:clrMapOvr>
  <p:transition xmlns:p14="http://schemas.microsoft.com/office/powerpoint/2010/main" p14:dur="380">
    <p:fade/>
  </p:transition>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ONE CONNECTED SYSTEM · 5 LABS × 5 DAYS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How the 25 Labs Connect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Day 1 → Day 2</a:t>
            </a:r>
          </a:p>
          <a:p>
            <a:pPr algn="l">
              <a:spcAft>
                <a:spcPts val="300"/>
              </a:spcAft>
            </a:pPr>
            <a:r>
              <a:rPr sz="1150" b="0">
                <a:solidFill>
                  <a:srgbClr val="5B6372"/>
                </a:solidFill>
                <a:latin typeface="Arial"/>
              </a:rPr>
              <a:t>The CI/CD pipeline built across Labs 1–5 deploys the Infrastructure as Code defined in Labs 6–10.</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Day 2 → Day 3</a:t>
            </a:r>
          </a:p>
          <a:p>
            <a:pPr algn="l">
              <a:spcAft>
                <a:spcPts val="300"/>
              </a:spcAft>
            </a:pPr>
            <a:r>
              <a:rPr sz="1150" b="0">
                <a:solidFill>
                  <a:srgbClr val="5B6372"/>
                </a:solidFill>
                <a:latin typeface="Arial"/>
              </a:rPr>
              <a:t>The network and app stacks become the highly available, auto-scaling, DR-ready foundation (Labs 11–15).</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Day 3 → Day 4</a:t>
            </a:r>
          </a:p>
          <a:p>
            <a:pPr algn="l">
              <a:spcAft>
                <a:spcPts val="300"/>
              </a:spcAft>
            </a:pPr>
            <a:r>
              <a:rPr sz="1150" b="0">
                <a:solidFill>
                  <a:srgbClr val="5B6372"/>
                </a:solidFill>
                <a:latin typeface="Arial"/>
              </a:rPr>
              <a:t>The running fleet emits the metrics, logs and events monitored and routed in Labs 16–20.</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Day 4 → Day 5</a:t>
            </a:r>
          </a:p>
          <a:p>
            <a:pPr algn="l">
              <a:spcAft>
                <a:spcPts val="300"/>
              </a:spcAft>
            </a:pPr>
            <a:r>
              <a:rPr sz="1150" b="0">
                <a:solidFill>
                  <a:srgbClr val="5B6372"/>
                </a:solidFill>
                <a:latin typeface="Arial"/>
              </a:rPr>
              <a:t>Alarms and events drive automated response, then least-privilege, encryption and audit (Labs 21–24).</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Labs → Capstone</a:t>
            </a:r>
          </a:p>
          <a:p>
            <a:pPr algn="l">
              <a:spcAft>
                <a:spcPts val="300"/>
              </a:spcAft>
            </a:pPr>
            <a:r>
              <a:rPr sz="1150" b="0">
                <a:solidFill>
                  <a:srgbClr val="5B6372"/>
                </a:solidFill>
                <a:latin typeface="Arial"/>
              </a:rPr>
              <a:t>Lab 25 integrates all six domains into one secured, resilient, observable blueprint + evidence pack.</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One system</a:t>
            </a:r>
          </a:p>
          <a:p>
            <a:pPr algn="l">
              <a:spcAft>
                <a:spcPts val="300"/>
              </a:spcAft>
            </a:pPr>
            <a:r>
              <a:rPr sz="1150" b="0">
                <a:solidFill>
                  <a:srgbClr val="5B6372"/>
                </a:solidFill>
                <a:latin typeface="Arial"/>
              </a:rPr>
              <a:t>Each lab produces an artifact the next builds on — 25 connected labs across 5 days, not isolated exercises.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619</a:t>
            </a:r>
          </a:p>
        </p:txBody>
      </p:sp>
    </p:spTree>
  </p:cSld>
  <p:clrMapOvr>
    <a:masterClrMapping/>
  </p:clrMapOvr>
  <p:transition xmlns:p14="http://schemas.microsoft.com/office/powerpoint/2010/main" p14:dur="380">
    <p:fade/>
  </p:transition>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TRACING ONE EVENT ACROSS ALL SIX DOMAINS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Capstone Scenario — A change, a failure, a recovery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 developer merges a change that passes tests but degrades checkout latency once at production scale.</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1F6FEB"/>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Domain 1: the pipeline built and promoted an immutable artifact with a canary stage.</a:t>
            </a:r>
          </a:p>
          <a:p>
            <a:pPr>
              <a:spcAft>
                <a:spcPts val="700"/>
              </a:spcAft>
            </a:pPr>
            <a:r>
              <a:rPr sz="1300" b="0">
                <a:solidFill>
                  <a:srgbClr val="161B26"/>
                </a:solidFill>
                <a:latin typeface="Arial"/>
              </a:rPr>
              <a:t>•  Domain 3/4: canary p99 latency breaches the SLO; the CloudWatch alarm fires within minutes.</a:t>
            </a:r>
          </a:p>
          <a:p>
            <a:pPr>
              <a:spcAft>
                <a:spcPts val="700"/>
              </a:spcAft>
            </a:pPr>
            <a:r>
              <a:rPr sz="1300" b="0">
                <a:solidFill>
                  <a:srgbClr val="161B26"/>
                </a:solidFill>
                <a:latin typeface="Arial"/>
              </a:rPr>
              <a:t>•  Domain 5: the alarm triggers CodeDeploy auto-rollback and notifies the on-call via EventBridge/SNS.</a:t>
            </a:r>
          </a:p>
          <a:p>
            <a:pPr>
              <a:spcAft>
                <a:spcPts val="700"/>
              </a:spcAft>
            </a:pPr>
            <a:r>
              <a:rPr sz="1300" b="0">
                <a:solidFill>
                  <a:srgbClr val="161B26"/>
                </a:solidFill>
                <a:latin typeface="Arial"/>
              </a:rPr>
              <a:t>•  Domain 6: CloudTrail records exactly who changed what, feeding the blameless review.</a:t>
            </a:r>
          </a:p>
          <a:p>
            <a:pPr>
              <a:spcAft>
                <a:spcPts val="700"/>
              </a:spcAft>
            </a:pPr>
            <a:r>
              <a:rPr sz="1300" b="0">
                <a:solidFill>
                  <a:srgbClr val="161B26"/>
                </a:solidFill>
                <a:latin typeface="Arial"/>
              </a:rPr>
              <a:t>•  Domain 2: the durable fix is encoded in the template/config and re-applied, not hand-patched.</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No 2am heroics: the system detects, rolls back and records the event automatically. The follow-up hardens the canary threshold and adds a regression test.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620</a:t>
            </a:r>
          </a:p>
        </p:txBody>
      </p:sp>
    </p:spTree>
  </p:cSld>
  <p:clrMapOvr>
    <a:masterClrMapping/>
  </p:clrMapOvr>
  <p:transition xmlns:p14="http://schemas.microsoft.com/office/powerpoint/2010/main" p14:dur="380">
    <p:fade/>
  </p:transition>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MAPPING A NEED ONTO THE DOMAINS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From Business Requirement to Six-Domain Design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1028" y="178308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78308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'Ship weekly without downtime'</a:t>
            </a:r>
          </a:p>
        </p:txBody>
      </p:sp>
      <p:sp>
        <p:nvSpPr>
          <p:cNvPr id="11" name="TextBox 10"/>
          <p:cNvSpPr txBox="1"/>
          <p:nvPr/>
        </p:nvSpPr>
        <p:spPr>
          <a:xfrm>
            <a:off x="5213908" y="178308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Domain 1 CI/CD + blue/green; Domain 3 multi-AZ so releases don't drop traffic.</a:t>
            </a:r>
          </a:p>
        </p:txBody>
      </p:sp>
      <p:sp>
        <p:nvSpPr>
          <p:cNvPr id="12" name="Rectangle 11"/>
          <p:cNvSpPr/>
          <p:nvPr/>
        </p:nvSpPr>
        <p:spPr>
          <a:xfrm>
            <a:off x="777240" y="254889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89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31028" y="254889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54889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'Recover an AZ loss in minutes'</a:t>
            </a:r>
          </a:p>
        </p:txBody>
      </p:sp>
      <p:sp>
        <p:nvSpPr>
          <p:cNvPr id="16" name="TextBox 15"/>
          <p:cNvSpPr txBox="1"/>
          <p:nvPr/>
        </p:nvSpPr>
        <p:spPr>
          <a:xfrm>
            <a:off x="5213908" y="254889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Domain 3 Multi-AZ ASG + RDS failover; Domain 4 alarms to confirm health.</a:t>
            </a:r>
          </a:p>
        </p:txBody>
      </p:sp>
      <p:sp>
        <p:nvSpPr>
          <p:cNvPr id="17" name="Rectangle 16"/>
          <p:cNvSpPr/>
          <p:nvPr/>
        </p:nvSpPr>
        <p:spPr>
          <a:xfrm>
            <a:off x="777240" y="331470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470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31028" y="331470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31470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'Know within a minute when it breaks'</a:t>
            </a:r>
          </a:p>
        </p:txBody>
      </p:sp>
      <p:sp>
        <p:nvSpPr>
          <p:cNvPr id="21" name="TextBox 20"/>
          <p:cNvSpPr txBox="1"/>
          <p:nvPr/>
        </p:nvSpPr>
        <p:spPr>
          <a:xfrm>
            <a:off x="5213908" y="331470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Domain 4 golden-signal alarms; Domain 5 event-driven notify + remediate.</a:t>
            </a:r>
          </a:p>
        </p:txBody>
      </p:sp>
      <p:sp>
        <p:nvSpPr>
          <p:cNvPr id="22" name="Rectangle 21"/>
          <p:cNvSpPr/>
          <p:nvPr/>
        </p:nvSpPr>
        <p:spPr>
          <a:xfrm>
            <a:off x="777240" y="408051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051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1028" y="408051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08051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'Prove we are compliant'</a:t>
            </a:r>
          </a:p>
        </p:txBody>
      </p:sp>
      <p:sp>
        <p:nvSpPr>
          <p:cNvPr id="26" name="TextBox 25"/>
          <p:cNvSpPr txBox="1"/>
          <p:nvPr/>
        </p:nvSpPr>
        <p:spPr>
          <a:xfrm>
            <a:off x="5213908" y="408051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Domain 6 Config + CloudTrail; Domain 2 guardrails as code in every account.</a:t>
            </a:r>
          </a:p>
        </p:txBody>
      </p:sp>
      <p:sp>
        <p:nvSpPr>
          <p:cNvPr id="27" name="Rectangle 26"/>
          <p:cNvSpPr/>
          <p:nvPr/>
        </p:nvSpPr>
        <p:spPr>
          <a:xfrm>
            <a:off x="777240" y="5010912"/>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10912"/>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10235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TAKEAWAY</a:t>
            </a:r>
          </a:p>
        </p:txBody>
      </p:sp>
      <p:sp>
        <p:nvSpPr>
          <p:cNvPr id="30" name="TextBox 29"/>
          <p:cNvSpPr txBox="1"/>
          <p:nvPr/>
        </p:nvSpPr>
        <p:spPr>
          <a:xfrm>
            <a:off x="1033272" y="5394960"/>
            <a:ext cx="10085832" cy="457200"/>
          </a:xfrm>
          <a:prstGeom prst="rect">
            <a:avLst/>
          </a:prstGeom>
          <a:noFill/>
        </p:spPr>
        <p:txBody>
          <a:bodyPr wrap="square" anchor="t">
            <a:spAutoFit/>
          </a:bodyPr>
          <a:lstStyle/>
          <a:p>
            <a:pPr algn="l">
              <a:spcAft>
                <a:spcPts val="400"/>
              </a:spcAft>
            </a:pPr>
            <a:r>
              <a:rPr sz="1300" b="1">
                <a:solidFill>
                  <a:srgbClr val="161B26"/>
                </a:solidFill>
                <a:latin typeface="Arial"/>
              </a:rPr>
              <a:t>Real requirements cut across domains — a competent DevOps engineer composes controls from all six into one coherent design.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621</a:t>
            </a:r>
          </a:p>
        </p:txBody>
      </p:sp>
    </p:spTree>
  </p:cSld>
  <p:clrMapOvr>
    <a:masterClrMapping/>
  </p:clrMapOvr>
  <p:transition xmlns:p14="http://schemas.microsoft.com/office/powerpoint/2010/main" p14:dur="380">
    <p:fade/>
  </p:transition>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 RECURRING DEVOPS TRADE-OFF</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Decision — Build It Yourself or Use a Managed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574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A</a:t>
            </a:r>
          </a:p>
        </p:txBody>
      </p:sp>
      <p:sp>
        <p:nvSpPr>
          <p:cNvPr id="11" name="TextBox 10"/>
          <p:cNvSpPr txBox="1"/>
          <p:nvPr/>
        </p:nvSpPr>
        <p:spPr>
          <a:xfrm>
            <a:off x="1645920" y="2084831"/>
            <a:ext cx="2286000" cy="640080"/>
          </a:xfrm>
          <a:prstGeom prst="rect">
            <a:avLst/>
          </a:prstGeom>
          <a:noFill/>
        </p:spPr>
        <p:txBody>
          <a:bodyPr wrap="square" anchor="ctr">
            <a:spAutoFit/>
          </a:bodyPr>
          <a:lstStyle/>
          <a:p>
            <a:pPr algn="l">
              <a:spcAft>
                <a:spcPts val="400"/>
              </a:spcAft>
            </a:pPr>
            <a:r>
              <a:rPr sz="1450" b="1">
                <a:solidFill>
                  <a:srgbClr val="1F6FEB"/>
                </a:solidFill>
                <a:latin typeface="Arial"/>
              </a:rPr>
              <a:t>Managed service</a:t>
            </a:r>
          </a:p>
        </p:txBody>
      </p:sp>
      <p:sp>
        <p:nvSpPr>
          <p:cNvPr id="12" name="TextBox 11"/>
          <p:cNvSpPr txBox="1"/>
          <p:nvPr/>
        </p:nvSpPr>
        <p:spPr>
          <a:xfrm>
            <a:off x="103327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Default choice. Less undifferentiated heavy lifting (e.g. RDS vs self-run DB) — at higher unit cost and less control.</a:t>
            </a:r>
          </a:p>
        </p:txBody>
      </p:sp>
      <p:sp>
        <p:nvSpPr>
          <p:cNvPr id="13" name="Rectangle 12"/>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2803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7" name="TextBox 16"/>
          <p:cNvSpPr txBox="1"/>
          <p:nvPr/>
        </p:nvSpPr>
        <p:spPr>
          <a:xfrm>
            <a:off x="544068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Self-managed on EC2</a:t>
            </a:r>
          </a:p>
        </p:txBody>
      </p:sp>
      <p:sp>
        <p:nvSpPr>
          <p:cNvPr id="18" name="TextBox 17"/>
          <p:cNvSpPr txBox="1"/>
          <p:nvPr/>
        </p:nvSpPr>
        <p:spPr>
          <a:xfrm>
            <a:off x="482803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Only when you need control the managed option can't give (custom kernel, licensing). More ops burden and patching you own.</a:t>
            </a:r>
          </a:p>
        </p:txBody>
      </p:sp>
      <p:sp>
        <p:nvSpPr>
          <p:cNvPr id="19" name="Rectangle 18"/>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2279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C</a:t>
            </a:r>
          </a:p>
        </p:txBody>
      </p:sp>
      <p:sp>
        <p:nvSpPr>
          <p:cNvPr id="23" name="TextBox 22"/>
          <p:cNvSpPr txBox="1"/>
          <p:nvPr/>
        </p:nvSpPr>
        <p:spPr>
          <a:xfrm>
            <a:off x="923544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Serverless-first</a:t>
            </a:r>
          </a:p>
        </p:txBody>
      </p:sp>
      <p:sp>
        <p:nvSpPr>
          <p:cNvPr id="24" name="TextBox 23"/>
          <p:cNvSpPr txBox="1"/>
          <p:nvPr/>
        </p:nvSpPr>
        <p:spPr>
          <a:xfrm>
            <a:off x="862279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For spiky, event-driven work. Pay-per-use and minimal ops — within the service's limits and cold-start profile.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622</a:t>
            </a:r>
          </a:p>
        </p:txBody>
      </p:sp>
    </p:spTree>
  </p:cSld>
  <p:clrMapOvr>
    <a:masterClrMapping/>
  </p:clrMapOvr>
  <p:transition xmlns:p14="http://schemas.microsoft.com/office/powerpoint/2010/main" p14:dur="380">
    <p:fade/>
  </p:transition>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623</a:t>
            </a:r>
          </a:p>
        </p:txBody>
      </p:sp>
    </p:spTree>
  </p:cSld>
  <p:clrMapOvr>
    <a:masterClrMapping/>
  </p:clrMapOvr>
  <p:transition xmlns:p14="http://schemas.microsoft.com/office/powerpoint/2010/main" p14:dur="380">
    <p:fade/>
  </p:transition>
</p:sld>
</file>

<file path=ppt/slides/slide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LO1</a:t>
            </a:r>
          </a:p>
          <a:p>
            <a:pPr algn="l">
              <a:spcAft>
                <a:spcPts val="300"/>
              </a:spcAft>
            </a:pPr>
            <a:r>
              <a:rPr sz="1200" b="0">
                <a:solidFill>
                  <a:srgbClr val="5B6372"/>
                </a:solidFill>
                <a:latin typeface="Arial"/>
              </a:rPr>
              <a:t>Develop an AWS CI/CD pipeline proof of concept.</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LO2</a:t>
            </a:r>
          </a:p>
          <a:p>
            <a:pPr algn="l">
              <a:spcAft>
                <a:spcPts val="300"/>
              </a:spcAft>
            </a:pPr>
            <a:r>
              <a:rPr sz="1200" b="0">
                <a:solidFill>
                  <a:srgbClr val="5B6372"/>
                </a:solidFill>
                <a:latin typeface="Arial"/>
              </a:rPr>
              <a:t>Identify the technical and practical requirements in an AWS cloud infrastructure setup.</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LO3</a:t>
            </a:r>
          </a:p>
          <a:p>
            <a:pPr algn="l">
              <a:spcAft>
                <a:spcPts val="300"/>
              </a:spcAft>
            </a:pPr>
            <a:r>
              <a:rPr sz="1200" b="0">
                <a:solidFill>
                  <a:srgbClr val="5B6372"/>
                </a:solidFill>
                <a:latin typeface="Arial"/>
              </a:rPr>
              <a:t>Develop a resilient cloud solution based on AWS cloud components.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LO4</a:t>
            </a:r>
          </a:p>
          <a:p>
            <a:pPr algn="l">
              <a:spcAft>
                <a:spcPts val="300"/>
              </a:spcAft>
            </a:pPr>
            <a:r>
              <a:rPr sz="1200" b="0">
                <a:solidFill>
                  <a:srgbClr val="5B6372"/>
                </a:solidFill>
                <a:latin typeface="Arial"/>
              </a:rPr>
              <a:t>Implement regular AWS monitoring and perform necessary troubleshooting.</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LO5</a:t>
            </a:r>
          </a:p>
          <a:p>
            <a:pPr algn="l">
              <a:spcAft>
                <a:spcPts val="300"/>
              </a:spcAft>
            </a:pPr>
            <a:r>
              <a:rPr sz="1200" b="0">
                <a:solidFill>
                  <a:srgbClr val="5B6372"/>
                </a:solidFill>
                <a:latin typeface="Arial"/>
              </a:rPr>
              <a:t>Demonstrate solutions to incidents and business problems on the AWS cloud.</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LO6</a:t>
            </a:r>
          </a:p>
          <a:p>
            <a:pPr algn="l">
              <a:spcAft>
                <a:spcPts val="300"/>
              </a:spcAft>
            </a:pPr>
            <a:r>
              <a:rPr sz="1200" b="0">
                <a:solidFill>
                  <a:srgbClr val="5B6372"/>
                </a:solidFill>
                <a:latin typeface="Arial"/>
              </a:rPr>
              <a:t>Prepare a technical blueprint to address security and compliance.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624</a:t>
            </a:r>
          </a:p>
        </p:txBody>
      </p:sp>
    </p:spTree>
  </p:cSld>
  <p:clrMapOvr>
    <a:masterClrMapping/>
  </p:clrMapOvr>
  <p:transition xmlns:p14="http://schemas.microsoft.com/office/powerpoint/2010/main" p14:dur="380">
    <p:fade/>
  </p:transition>
</p:sld>
</file>

<file path=ppt/slides/slide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Continue Your AWS DevOps Journey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Rebuild the labs</a:t>
            </a:r>
          </a:p>
          <a:p>
            <a:pPr algn="l">
              <a:spcAft>
                <a:spcPts val="300"/>
              </a:spcAft>
            </a:pPr>
            <a:r>
              <a:rPr sz="1200" b="0">
                <a:solidFill>
                  <a:srgbClr val="5B6372"/>
                </a:solidFill>
                <a:latin typeface="Arial"/>
              </a:rPr>
              <a:t>Redo all six labs from memory until the AWS workflows are automatic.</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Automate more</a:t>
            </a:r>
          </a:p>
          <a:p>
            <a:pPr algn="l">
              <a:spcAft>
                <a:spcPts val="300"/>
              </a:spcAft>
            </a:pPr>
            <a:r>
              <a:rPr sz="1200" b="0">
                <a:solidFill>
                  <a:srgbClr val="5B6372"/>
                </a:solidFill>
                <a:latin typeface="Arial"/>
              </a:rPr>
              <a:t>Add tests, canary deploys and IaC to your own projects.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Well-Architected reviews</a:t>
            </a:r>
          </a:p>
          <a:p>
            <a:pPr algn="l">
              <a:spcAft>
                <a:spcPts val="300"/>
              </a:spcAft>
            </a:pPr>
            <a:r>
              <a:rPr sz="1200" b="0">
                <a:solidFill>
                  <a:srgbClr val="5B6372"/>
                </a:solidFill>
                <a:latin typeface="Arial"/>
              </a:rPr>
              <a:t>Run Well-Architected reviews on real workloads.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Keep learning</a:t>
            </a:r>
          </a:p>
          <a:p>
            <a:pPr algn="l">
              <a:spcAft>
                <a:spcPts val="300"/>
              </a:spcAft>
            </a:pPr>
            <a:r>
              <a:rPr sz="1200" b="0">
                <a:solidFill>
                  <a:srgbClr val="5B6372"/>
                </a:solidFill>
                <a:latin typeface="Arial"/>
              </a:rPr>
              <a:t>Explore ECS/EKS, Step Functions, and multi-account governance.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625</a:t>
            </a:r>
          </a:p>
        </p:txBody>
      </p:sp>
    </p:spTree>
  </p:cSld>
  <p:clrMapOvr>
    <a:masterClrMapping/>
  </p:clrMapOvr>
  <p:transition xmlns:p14="http://schemas.microsoft.com/office/powerpoint/2010/main" p14:dur="380">
    <p:fade/>
  </p:transition>
</p:sld>
</file>

<file path=ppt/slides/slide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(SAQ) — 1 hour.  Practical Performance (PP) — 2 hours.</a:t>
            </a:r>
          </a:p>
          <a:p>
            <a:pPr>
              <a:spcAft>
                <a:spcPts val="1000"/>
              </a:spcAft>
            </a:pPr>
            <a:r>
              <a:rPr sz="2000" b="0">
                <a:solidFill>
                  <a:srgbClr val="161B26"/>
                </a:solidFill>
                <a:latin typeface="Arial"/>
              </a:rPr>
              <a:t>•  Open book: slides, Learner Guide and approved materials only.</a:t>
            </a:r>
          </a:p>
          <a:p>
            <a:pPr>
              <a:spcAft>
                <a:spcPts val="1000"/>
              </a:spcAft>
            </a:pPr>
            <a:r>
              <a:rPr sz="2000" b="0">
                <a:solidFill>
                  <a:srgbClr val="161B26"/>
                </a:solidFill>
                <a:latin typeface="Arial"/>
              </a:rPr>
              <a:t>•  Remember to take the Assessment digital attendance (TRAQOM).</a:t>
            </a:r>
          </a:p>
          <a:p>
            <a:pPr>
              <a:spcAft>
                <a:spcPts val="1000"/>
              </a:spcAft>
            </a:pPr>
            <a:r>
              <a:rPr sz="2000" b="0">
                <a:solidFill>
                  <a:srgbClr val="161B26"/>
                </a:solidFill>
                <a:latin typeface="Arial"/>
              </a:rPr>
              <a:t>•  Submit your completed answers on the LMS at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626</a:t>
            </a:r>
          </a:p>
        </p:txBody>
      </p:sp>
    </p:spTree>
  </p:cSld>
  <p:clrMapOvr>
    <a:masterClrMapping/>
  </p:clrMapOvr>
  <p:transition xmlns:p14="http://schemas.microsoft.com/office/powerpoint/2010/main" p14:dur="380">
    <p:fade/>
  </p:transition>
</p:sld>
</file>

<file path=ppt/slides/slide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627</a:t>
            </a:r>
          </a:p>
        </p:txBody>
      </p:sp>
    </p:spTree>
  </p:cSld>
  <p:clrMapOvr>
    <a:masterClrMapping/>
  </p:clrMapOvr>
  <p:transition xmlns:p14="http://schemas.microsoft.com/office/powerpoint/2010/main" p14:dur="380">
    <p:fade/>
  </p:transition>
</p:sld>
</file>

<file path=ppt/slides/slide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6720840" cy="365760"/>
          </a:xfrm>
          <a:prstGeom prst="rect">
            <a:avLst/>
          </a:prstGeom>
          <a:noFill/>
        </p:spPr>
        <p:txBody>
          <a:bodyPr wrap="square" anchor="t">
            <a:spAutoFit/>
          </a:bodyPr>
          <a:lstStyle/>
          <a:p>
            <a:pPr algn="l">
              <a:spcAft>
                <a:spcPts val="400"/>
              </a:spcAft>
            </a:pPr>
            <a:r>
              <a:rPr sz="1350" b="1">
                <a:solidFill>
                  <a:srgbClr val="161B26"/>
                </a:solidFill>
                <a:latin typeface="Arial"/>
              </a:rPr>
              <a:t>Take the SSG digital attendance at three points on every funded day:</a:t>
            </a:r>
          </a:p>
        </p:txBody>
      </p:sp>
      <p:sp>
        <p:nvSpPr>
          <p:cNvPr id="8" name="Rectangle 7"/>
          <p:cNvSpPr/>
          <p:nvPr/>
        </p:nvSpPr>
        <p:spPr>
          <a:xfrm>
            <a:off x="777240" y="2194560"/>
            <a:ext cx="205740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94560"/>
            <a:ext cx="205740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395728"/>
            <a:ext cx="2057400" cy="457200"/>
          </a:xfrm>
          <a:prstGeom prst="rect">
            <a:avLst/>
          </a:prstGeom>
          <a:noFill/>
        </p:spPr>
        <p:txBody>
          <a:bodyPr wrap="square" anchor="t">
            <a:spAutoFit/>
          </a:bodyPr>
          <a:lstStyle/>
          <a:p>
            <a:pPr algn="ctr">
              <a:spcAft>
                <a:spcPts val="400"/>
              </a:spcAft>
            </a:pPr>
            <a:r>
              <a:rPr sz="1800" b="1">
                <a:solidFill>
                  <a:srgbClr val="1F6FEB"/>
                </a:solidFill>
                <a:latin typeface="Arial"/>
              </a:rPr>
              <a:t>AM</a:t>
            </a:r>
          </a:p>
        </p:txBody>
      </p:sp>
      <p:sp>
        <p:nvSpPr>
          <p:cNvPr id="11" name="TextBox 10"/>
          <p:cNvSpPr txBox="1"/>
          <p:nvPr/>
        </p:nvSpPr>
        <p:spPr>
          <a:xfrm>
            <a:off x="905256" y="2852928"/>
            <a:ext cx="1801368" cy="457200"/>
          </a:xfrm>
          <a:prstGeom prst="rect">
            <a:avLst/>
          </a:prstGeom>
          <a:noFill/>
        </p:spPr>
        <p:txBody>
          <a:bodyPr wrap="square" anchor="t">
            <a:spAutoFit/>
          </a:bodyPr>
          <a:lstStyle/>
          <a:p>
            <a:pPr algn="ctr">
              <a:spcAft>
                <a:spcPts val="400"/>
              </a:spcAft>
            </a:pPr>
            <a:r>
              <a:rPr sz="1050" b="0">
                <a:solidFill>
                  <a:srgbClr val="5B6372"/>
                </a:solidFill>
                <a:latin typeface="Arial"/>
              </a:rPr>
              <a:t>Start of the morning session</a:t>
            </a:r>
          </a:p>
        </p:txBody>
      </p:sp>
      <p:sp>
        <p:nvSpPr>
          <p:cNvPr id="12" name="Rectangle 11"/>
          <p:cNvSpPr/>
          <p:nvPr/>
        </p:nvSpPr>
        <p:spPr>
          <a:xfrm>
            <a:off x="3108960" y="2194560"/>
            <a:ext cx="205740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08960" y="2194560"/>
            <a:ext cx="205740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2395728"/>
            <a:ext cx="2057400" cy="457200"/>
          </a:xfrm>
          <a:prstGeom prst="rect">
            <a:avLst/>
          </a:prstGeom>
          <a:noFill/>
        </p:spPr>
        <p:txBody>
          <a:bodyPr wrap="square" anchor="t">
            <a:spAutoFit/>
          </a:bodyPr>
          <a:lstStyle/>
          <a:p>
            <a:pPr algn="ctr">
              <a:spcAft>
                <a:spcPts val="400"/>
              </a:spcAft>
            </a:pPr>
            <a:r>
              <a:rPr sz="1800" b="1">
                <a:solidFill>
                  <a:srgbClr val="10B981"/>
                </a:solidFill>
                <a:latin typeface="Arial"/>
              </a:rPr>
              <a:t>PM</a:t>
            </a:r>
          </a:p>
        </p:txBody>
      </p:sp>
      <p:sp>
        <p:nvSpPr>
          <p:cNvPr id="15" name="TextBox 14"/>
          <p:cNvSpPr txBox="1"/>
          <p:nvPr/>
        </p:nvSpPr>
        <p:spPr>
          <a:xfrm>
            <a:off x="3236976" y="2852928"/>
            <a:ext cx="1801368" cy="457200"/>
          </a:xfrm>
          <a:prstGeom prst="rect">
            <a:avLst/>
          </a:prstGeom>
          <a:noFill/>
        </p:spPr>
        <p:txBody>
          <a:bodyPr wrap="square" anchor="t">
            <a:spAutoFit/>
          </a:bodyPr>
          <a:lstStyle/>
          <a:p>
            <a:pPr algn="ctr">
              <a:spcAft>
                <a:spcPts val="400"/>
              </a:spcAft>
            </a:pPr>
            <a:r>
              <a:rPr sz="1050" b="0">
                <a:solidFill>
                  <a:srgbClr val="5B6372"/>
                </a:solidFill>
                <a:latin typeface="Arial"/>
              </a:rPr>
              <a:t>Start of the afternoon session</a:t>
            </a:r>
          </a:p>
        </p:txBody>
      </p:sp>
      <p:sp>
        <p:nvSpPr>
          <p:cNvPr id="16" name="Rectangle 15"/>
          <p:cNvSpPr/>
          <p:nvPr/>
        </p:nvSpPr>
        <p:spPr>
          <a:xfrm>
            <a:off x="5440680" y="2194560"/>
            <a:ext cx="205740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40680" y="2194560"/>
            <a:ext cx="205740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40680" y="2395728"/>
            <a:ext cx="2057400" cy="457200"/>
          </a:xfrm>
          <a:prstGeom prst="rect">
            <a:avLst/>
          </a:prstGeom>
          <a:noFill/>
        </p:spPr>
        <p:txBody>
          <a:bodyPr wrap="square" anchor="t">
            <a:spAutoFit/>
          </a:bodyPr>
          <a:lstStyle/>
          <a:p>
            <a:pPr algn="ctr">
              <a:spcAft>
                <a:spcPts val="400"/>
              </a:spcAft>
            </a:pPr>
            <a:r>
              <a:rPr sz="1800" b="1">
                <a:solidFill>
                  <a:srgbClr val="7C3AED"/>
                </a:solidFill>
                <a:latin typeface="Arial"/>
              </a:rPr>
              <a:t>ASSESSMENT</a:t>
            </a:r>
          </a:p>
        </p:txBody>
      </p:sp>
      <p:sp>
        <p:nvSpPr>
          <p:cNvPr id="19" name="TextBox 18"/>
          <p:cNvSpPr txBox="1"/>
          <p:nvPr/>
        </p:nvSpPr>
        <p:spPr>
          <a:xfrm>
            <a:off x="5568696" y="2852928"/>
            <a:ext cx="1801368" cy="457200"/>
          </a:xfrm>
          <a:prstGeom prst="rect">
            <a:avLst/>
          </a:prstGeom>
          <a:noFill/>
        </p:spPr>
        <p:txBody>
          <a:bodyPr wrap="square" anchor="t">
            <a:spAutoFit/>
          </a:bodyPr>
          <a:lstStyle/>
          <a:p>
            <a:pPr algn="ctr">
              <a:spcAft>
                <a:spcPts val="400"/>
              </a:spcAft>
            </a:pPr>
            <a:r>
              <a:rPr sz="1050" b="0">
                <a:solidFill>
                  <a:srgbClr val="5B6372"/>
                </a:solidFill>
                <a:latin typeface="Arial"/>
              </a:rPr>
              <a:t>Before the Day 5 assessment</a:t>
            </a:r>
          </a:p>
        </p:txBody>
      </p:sp>
      <p:sp>
        <p:nvSpPr>
          <p:cNvPr id="20" name="Rectangle 19"/>
          <p:cNvSpPr/>
          <p:nvPr/>
        </p:nvSpPr>
        <p:spPr>
          <a:xfrm>
            <a:off x="777240" y="3566160"/>
            <a:ext cx="6720840" cy="548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1832" y="363931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3639312"/>
            <a:ext cx="402336" cy="402336"/>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23" name="TextBox 22"/>
          <p:cNvSpPr txBox="1"/>
          <p:nvPr/>
        </p:nvSpPr>
        <p:spPr>
          <a:xfrm>
            <a:off x="1600200" y="3566160"/>
            <a:ext cx="5715000" cy="548640"/>
          </a:xfrm>
          <a:prstGeom prst="rect">
            <a:avLst/>
          </a:prstGeom>
          <a:noFill/>
        </p:spPr>
        <p:txBody>
          <a:bodyPr wrap="square" anchor="ctr">
            <a:spAutoFit/>
          </a:bodyPr>
          <a:lstStyle/>
          <a:p>
            <a:pPr algn="l">
              <a:spcAft>
                <a:spcPts val="400"/>
              </a:spcAft>
            </a:pPr>
            <a:r>
              <a:rPr sz="1200" b="0">
                <a:solidFill>
                  <a:srgbClr val="161B26"/>
                </a:solidFill>
                <a:latin typeface="Arial"/>
              </a:rPr>
              <a:t>The trainer/administrator displays the SSG digital-attendance QR code from the portal.</a:t>
            </a:r>
          </a:p>
        </p:txBody>
      </p:sp>
      <p:sp>
        <p:nvSpPr>
          <p:cNvPr id="24" name="Rectangle 23"/>
          <p:cNvSpPr/>
          <p:nvPr/>
        </p:nvSpPr>
        <p:spPr>
          <a:xfrm>
            <a:off x="777240" y="4224528"/>
            <a:ext cx="6720840" cy="548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1832" y="4297680"/>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4297680"/>
            <a:ext cx="402336" cy="402336"/>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7" name="TextBox 26"/>
          <p:cNvSpPr txBox="1"/>
          <p:nvPr/>
        </p:nvSpPr>
        <p:spPr>
          <a:xfrm>
            <a:off x="1600200" y="4224528"/>
            <a:ext cx="5715000" cy="548640"/>
          </a:xfrm>
          <a:prstGeom prst="rect">
            <a:avLst/>
          </a:prstGeom>
          <a:noFill/>
        </p:spPr>
        <p:txBody>
          <a:bodyPr wrap="square" anchor="ctr">
            <a:spAutoFit/>
          </a:bodyPr>
          <a:lstStyle/>
          <a:p>
            <a:pPr algn="l">
              <a:spcAft>
                <a:spcPts val="400"/>
              </a:spcAft>
            </a:pPr>
            <a:r>
              <a:rPr sz="1200" b="0">
                <a:solidFill>
                  <a:srgbClr val="161B26"/>
                </a:solidFill>
                <a:latin typeface="Arial"/>
              </a:rPr>
              <a:t>Scan the QR code with your mobile phone camera and submit your attendance.</a:t>
            </a:r>
          </a:p>
        </p:txBody>
      </p:sp>
      <p:sp>
        <p:nvSpPr>
          <p:cNvPr id="28" name="Rectangle 27"/>
          <p:cNvSpPr/>
          <p:nvPr/>
        </p:nvSpPr>
        <p:spPr>
          <a:xfrm>
            <a:off x="777240" y="4882896"/>
            <a:ext cx="6720840" cy="548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41832" y="4956048"/>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4956048"/>
            <a:ext cx="402336" cy="402336"/>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1" name="TextBox 30"/>
          <p:cNvSpPr txBox="1"/>
          <p:nvPr/>
        </p:nvSpPr>
        <p:spPr>
          <a:xfrm>
            <a:off x="1600200" y="4882896"/>
            <a:ext cx="5715000" cy="548640"/>
          </a:xfrm>
          <a:prstGeom prst="rect">
            <a:avLst/>
          </a:prstGeom>
          <a:noFill/>
        </p:spPr>
        <p:txBody>
          <a:bodyPr wrap="square" anchor="ctr">
            <a:spAutoFit/>
          </a:bodyPr>
          <a:lstStyle/>
          <a:p>
            <a:pPr algn="l">
              <a:spcAft>
                <a:spcPts val="400"/>
              </a:spcAft>
            </a:pPr>
            <a:r>
              <a:rPr sz="1200" b="0">
                <a:solidFill>
                  <a:srgbClr val="161B26"/>
                </a:solidFill>
                <a:latin typeface="Arial"/>
              </a:rPr>
              <a:t>It is mandatory for AM, PM and the Assessment sessions on WSQ-funded courses.</a:t>
            </a:r>
          </a:p>
        </p:txBody>
      </p:sp>
      <p:sp>
        <p:nvSpPr>
          <p:cNvPr id="32" name="Rectangle 31"/>
          <p:cNvSpPr/>
          <p:nvPr/>
        </p:nvSpPr>
        <p:spPr>
          <a:xfrm>
            <a:off x="7818120" y="1737360"/>
            <a:ext cx="3566160" cy="3703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18120" y="1737360"/>
            <a:ext cx="35661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18120" y="1938528"/>
            <a:ext cx="3566160" cy="365760"/>
          </a:xfrm>
          <a:prstGeom prst="rect">
            <a:avLst/>
          </a:prstGeom>
          <a:noFill/>
        </p:spPr>
        <p:txBody>
          <a:bodyPr wrap="square" anchor="t">
            <a:spAutoFit/>
          </a:bodyPr>
          <a:lstStyle/>
          <a:p>
            <a:pPr algn="ctr">
              <a:spcAft>
                <a:spcPts val="400"/>
              </a:spcAft>
            </a:pPr>
            <a:r>
              <a:rPr sz="1100" b="1">
                <a:solidFill>
                  <a:srgbClr val="10B981"/>
                </a:solidFill>
                <a:latin typeface="Arial"/>
              </a:rPr>
              <a:t>SCAN TO SUBMIT ATTENDANCE</a:t>
            </a:r>
          </a:p>
        </p:txBody>
      </p:sp>
      <p:sp>
        <p:nvSpPr>
          <p:cNvPr id="35" name="Rectangle 34"/>
          <p:cNvSpPr/>
          <p:nvPr/>
        </p:nvSpPr>
        <p:spPr>
          <a:xfrm>
            <a:off x="8435340" y="2377440"/>
            <a:ext cx="2331720"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262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53262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57250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8398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39546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0694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842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53262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66978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0694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4410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08126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21842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35558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49274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80694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1842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80694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21842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53262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66978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80694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94410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08126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21842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35558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49274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80694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21842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80694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21842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53262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66978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80694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94410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008126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21842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35558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49274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57250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70966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84682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98398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12114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25830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39546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857250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39546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857250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884682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98398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912114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39546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857250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84682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98398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912114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39546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857250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884682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98398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12114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39546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57250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39546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857250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70966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84682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898398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12114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25830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939546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66978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80694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94410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008126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021842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035558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049274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966978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049274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966978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994410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008126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021842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49274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966978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94410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008126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021842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049274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966978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994410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008126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021842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049274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966978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049274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966978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980694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94410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08126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21842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1035558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049274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857250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870966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884682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898398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912114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925830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939546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857250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939546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57250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84682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898398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912114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939546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857250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884682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898398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912114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939546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857250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884682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898398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912114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939546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857250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939546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57250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870966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884682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898398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912114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925830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939546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8001000" y="4846320"/>
            <a:ext cx="3200400" cy="548640"/>
          </a:xfrm>
          <a:prstGeom prst="rect">
            <a:avLst/>
          </a:prstGeom>
          <a:noFill/>
        </p:spPr>
        <p:txBody>
          <a:bodyPr wrap="square" anchor="t">
            <a:spAutoFit/>
          </a:bodyPr>
          <a:lstStyle/>
          <a:p>
            <a:pPr algn="ctr">
              <a:spcAft>
                <a:spcPts val="400"/>
              </a:spcAft>
            </a:pPr>
            <a:r>
              <a:rPr sz="1050" b="0">
                <a:solidFill>
                  <a:srgbClr val="5B6372"/>
                </a:solidFill>
                <a:latin typeface="Arial"/>
              </a:rPr>
              <a:t>SSG digital-attendance QR — displayed live from the portal by the trainer</a:t>
            </a:r>
          </a:p>
        </p:txBody>
      </p:sp>
      <p:sp>
        <p:nvSpPr>
          <p:cNvPr id="175" name="Rectangle 174"/>
          <p:cNvSpPr/>
          <p:nvPr/>
        </p:nvSpPr>
        <p:spPr>
          <a:xfrm>
            <a:off x="777240" y="5623560"/>
            <a:ext cx="10607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1005840" y="5623560"/>
            <a:ext cx="10149840" cy="566928"/>
          </a:xfrm>
          <a:prstGeom prst="rect">
            <a:avLst/>
          </a:prstGeom>
          <a:noFill/>
        </p:spPr>
        <p:txBody>
          <a:bodyPr wrap="square" anchor="ctr">
            <a:spAutoFit/>
          </a:bodyPr>
          <a:lstStyle/>
          <a:p>
            <a:pPr algn="l">
              <a:spcAft>
                <a:spcPts val="400"/>
              </a:spcAft>
            </a:pPr>
            <a:r>
              <a:rPr sz="1250" b="1">
                <a:solidFill>
                  <a:srgbClr val="FFFFFF"/>
                </a:solidFill>
                <a:latin typeface="Arial"/>
              </a:rPr>
              <a:t>Minimum 75% attendance on the SSG Digital Attendance record is required to be eligible for assessment and funding.</a:t>
            </a:r>
          </a:p>
        </p:txBody>
      </p:sp>
      <p:sp>
        <p:nvSpPr>
          <p:cNvPr id="177" name="TextBox 17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78" name="TextBox 17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9" name="TextBox 17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628</a:t>
            </a:r>
          </a:p>
        </p:txBody>
      </p:sp>
    </p:spTree>
  </p:cSld>
  <p:clrMapOvr>
    <a:masterClrMapping/>
  </p:clrMapOvr>
  <p:transition xmlns:p14="http://schemas.microsoft.com/office/powerpoint/2010/main" p14:dur="380">
    <p:fade/>
  </p:transition>
</p:sld>
</file>

<file path=ppt/slides/slide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WELL DONE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plan, automate, operate and secure DevOps solutions on AWS across the full delivery lifecycle.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629</a:t>
            </a:r>
          </a:p>
        </p:txBody>
      </p:sp>
    </p:spTree>
  </p:cSld>
  <p:clrMapOvr>
    <a:masterClrMapping/>
  </p:clrMapOvr>
  <p:transition xmlns:p14="http://schemas.microsoft.com/office/powerpoint/2010/main" p14:dur="380">
    <p:fade/>
  </p:transition>
</p:sld>
</file>

<file path=ppt/slides/slide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pic>
        <p:nvPicPr>
          <p:cNvPr id="45" name="Picture 44" descr="ref_login.png"/>
          <p:cNvPicPr>
            <a:picLocks noChangeAspect="1"/>
          </p:cNvPicPr>
          <p:nvPr/>
        </p:nvPicPr>
        <p:blipFill>
          <a:blip r:embed="rId2"/>
          <a:stretch>
            <a:fillRect/>
          </a:stretch>
        </p:blipFill>
        <p:spPr>
          <a:xfrm>
            <a:off x="2001725" y="1741932"/>
            <a:ext cx="8188245" cy="4073652"/>
          </a:xfrm>
          <a:prstGeom prst="rect">
            <a:avLst/>
          </a:prstGeom>
          <a:ln w="12700">
            <a:solidFill>
              <a:srgbClr val="E2E8F0"/>
            </a:solidFill>
          </a:ln>
        </p:spPr>
      </p:pic>
      <p:sp>
        <p:nvSpPr>
          <p:cNvPr id="46" name="TextBox 45"/>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