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22.xml" ContentType="application/vnd.openxmlformats-officedocument.presentationml.notesSlide+xml"/>
  <Override PartName="/ppt/notesSlides/notesSlide323.xml" ContentType="application/vnd.openxmlformats-officedocument.presentationml.notesSlide+xml"/>
  <Override PartName="/ppt/notesSlides/notesSlide324.xml" ContentType="application/vnd.openxmlformats-officedocument.presentationml.notesSlide+xml"/>
  <Override PartName="/ppt/notesSlides/notesSlide325.xml" ContentType="application/vnd.openxmlformats-officedocument.presentationml.notesSlide+xml"/>
  <Override PartName="/ppt/notesSlides/notesSlide326.xml" ContentType="application/vnd.openxmlformats-officedocument.presentationml.notesSlide+xml"/>
  <Override PartName="/ppt/notesSlides/notesSlide327.xml" ContentType="application/vnd.openxmlformats-officedocument.presentationml.notesSlide+xml"/>
  <Override PartName="/ppt/notesSlides/notesSlide328.xml" ContentType="application/vnd.openxmlformats-officedocument.presentationml.notesSlide+xml"/>
  <Override PartName="/ppt/notesSlides/notesSlide329.xml" ContentType="application/vnd.openxmlformats-officedocument.presentationml.notesSlide+xml"/>
  <Override PartName="/ppt/notesSlides/notesSlide33.xml" ContentType="application/vnd.openxmlformats-officedocument.presentationml.notesSlide+xml"/>
  <Override PartName="/ppt/notesSlides/notesSlide330.xml" ContentType="application/vnd.openxmlformats-officedocument.presentationml.notesSlide+xml"/>
  <Override PartName="/ppt/notesSlides/notesSlide331.xml" ContentType="application/vnd.openxmlformats-officedocument.presentationml.notesSlide+xml"/>
  <Override PartName="/ppt/notesSlides/notesSlide332.xml" ContentType="application/vnd.openxmlformats-officedocument.presentationml.notesSlide+xml"/>
  <Override PartName="/ppt/notesSlides/notesSlide333.xml" ContentType="application/vnd.openxmlformats-officedocument.presentationml.notesSlide+xml"/>
  <Override PartName="/ppt/notesSlides/notesSlide334.xml" ContentType="application/vnd.openxmlformats-officedocument.presentationml.notesSlide+xml"/>
  <Override PartName="/ppt/notesSlides/notesSlide335.xml" ContentType="application/vnd.openxmlformats-officedocument.presentationml.notesSlide+xml"/>
  <Override PartName="/ppt/notesSlides/notesSlide336.xml" ContentType="application/vnd.openxmlformats-officedocument.presentationml.notesSlide+xml"/>
  <Override PartName="/ppt/notesSlides/notesSlide337.xml" ContentType="application/vnd.openxmlformats-officedocument.presentationml.notesSlide+xml"/>
  <Override PartName="/ppt/notesSlides/notesSlide338.xml" ContentType="application/vnd.openxmlformats-officedocument.presentationml.notesSlide+xml"/>
  <Override PartName="/ppt/notesSlides/notesSlide339.xml" ContentType="application/vnd.openxmlformats-officedocument.presentationml.notesSlide+xml"/>
  <Override PartName="/ppt/notesSlides/notesSlide34.xml" ContentType="application/vnd.openxmlformats-officedocument.presentationml.notesSlide+xml"/>
  <Override PartName="/ppt/notesSlides/notesSlide340.xml" ContentType="application/vnd.openxmlformats-officedocument.presentationml.notesSlide+xml"/>
  <Override PartName="/ppt/notesSlides/notesSlide341.xml" ContentType="application/vnd.openxmlformats-officedocument.presentationml.notesSlide+xml"/>
  <Override PartName="/ppt/notesSlides/notesSlide342.xml" ContentType="application/vnd.openxmlformats-officedocument.presentationml.notesSlide+xml"/>
  <Override PartName="/ppt/notesSlides/notesSlide343.xml" ContentType="application/vnd.openxmlformats-officedocument.presentationml.notesSlide+xml"/>
  <Override PartName="/ppt/notesSlides/notesSlide344.xml" ContentType="application/vnd.openxmlformats-officedocument.presentationml.notesSlide+xml"/>
  <Override PartName="/ppt/notesSlides/notesSlide345.xml" ContentType="application/vnd.openxmlformats-officedocument.presentationml.notesSlide+xml"/>
  <Override PartName="/ppt/notesSlides/notesSlide346.xml" ContentType="application/vnd.openxmlformats-officedocument.presentationml.notesSlide+xml"/>
  <Override PartName="/ppt/notesSlides/notesSlide347.xml" ContentType="application/vnd.openxmlformats-officedocument.presentationml.notesSlide+xml"/>
  <Override PartName="/ppt/notesSlides/notesSlide348.xml" ContentType="application/vnd.openxmlformats-officedocument.presentationml.notesSlide+xml"/>
  <Override PartName="/ppt/notesSlides/notesSlide349.xml" ContentType="application/vnd.openxmlformats-officedocument.presentationml.notesSlide+xml"/>
  <Override PartName="/ppt/notesSlides/notesSlide35.xml" ContentType="application/vnd.openxmlformats-officedocument.presentationml.notesSlide+xml"/>
  <Override PartName="/ppt/notesSlides/notesSlide350.xml" ContentType="application/vnd.openxmlformats-officedocument.presentationml.notesSlide+xml"/>
  <Override PartName="/ppt/notesSlides/notesSlide351.xml" ContentType="application/vnd.openxmlformats-officedocument.presentationml.notesSlide+xml"/>
  <Override PartName="/ppt/notesSlides/notesSlide352.xml" ContentType="application/vnd.openxmlformats-officedocument.presentationml.notesSlide+xml"/>
  <Override PartName="/ppt/notesSlides/notesSlide353.xml" ContentType="application/vnd.openxmlformats-officedocument.presentationml.notesSlide+xml"/>
  <Override PartName="/ppt/notesSlides/notesSlide354.xml" ContentType="application/vnd.openxmlformats-officedocument.presentationml.notesSlide+xml"/>
  <Override PartName="/ppt/notesSlides/notesSlide355.xml" ContentType="application/vnd.openxmlformats-officedocument.presentationml.notesSlide+xml"/>
  <Override PartName="/ppt/notesSlides/notesSlide356.xml" ContentType="application/vnd.openxmlformats-officedocument.presentationml.notesSlide+xml"/>
  <Override PartName="/ppt/notesSlides/notesSlide357.xml" ContentType="application/vnd.openxmlformats-officedocument.presentationml.notesSlide+xml"/>
  <Override PartName="/ppt/notesSlides/notesSlide358.xml" ContentType="application/vnd.openxmlformats-officedocument.presentationml.notesSlide+xml"/>
  <Override PartName="/ppt/notesSlides/notesSlide359.xml" ContentType="application/vnd.openxmlformats-officedocument.presentationml.notesSlide+xml"/>
  <Override PartName="/ppt/notesSlides/notesSlide36.xml" ContentType="application/vnd.openxmlformats-officedocument.presentationml.notesSlide+xml"/>
  <Override PartName="/ppt/notesSlides/notesSlide360.xml" ContentType="application/vnd.openxmlformats-officedocument.presentationml.notesSlide+xml"/>
  <Override PartName="/ppt/notesSlides/notesSlide361.xml" ContentType="application/vnd.openxmlformats-officedocument.presentationml.notesSlide+xml"/>
  <Override PartName="/ppt/notesSlides/notesSlide362.xml" ContentType="application/vnd.openxmlformats-officedocument.presentationml.notesSlide+xml"/>
  <Override PartName="/ppt/notesSlides/notesSlide363.xml" ContentType="application/vnd.openxmlformats-officedocument.presentationml.notesSlide+xml"/>
  <Override PartName="/ppt/notesSlides/notesSlide364.xml" ContentType="application/vnd.openxmlformats-officedocument.presentationml.notesSlide+xml"/>
  <Override PartName="/ppt/notesSlides/notesSlide365.xml" ContentType="application/vnd.openxmlformats-officedocument.presentationml.notesSlide+xml"/>
  <Override PartName="/ppt/notesSlides/notesSlide366.xml" ContentType="application/vnd.openxmlformats-officedocument.presentationml.notesSlide+xml"/>
  <Override PartName="/ppt/notesSlides/notesSlide367.xml" ContentType="application/vnd.openxmlformats-officedocument.presentationml.notesSlide+xml"/>
  <Override PartName="/ppt/notesSlides/notesSlide368.xml" ContentType="application/vnd.openxmlformats-officedocument.presentationml.notesSlide+xml"/>
  <Override PartName="/ppt/notesSlides/notesSlide369.xml" ContentType="application/vnd.openxmlformats-officedocument.presentationml.notesSlide+xml"/>
  <Override PartName="/ppt/notesSlides/notesSlide37.xml" ContentType="application/vnd.openxmlformats-officedocument.presentationml.notesSlide+xml"/>
  <Override PartName="/ppt/notesSlides/notesSlide370.xml" ContentType="application/vnd.openxmlformats-officedocument.presentationml.notesSlide+xml"/>
  <Override PartName="/ppt/notesSlides/notesSlide371.xml" ContentType="application/vnd.openxmlformats-officedocument.presentationml.notesSlide+xml"/>
  <Override PartName="/ppt/notesSlides/notesSlide372.xml" ContentType="application/vnd.openxmlformats-officedocument.presentationml.notesSlide+xml"/>
  <Override PartName="/ppt/notesSlides/notesSlide373.xml" ContentType="application/vnd.openxmlformats-officedocument.presentationml.notesSlide+xml"/>
  <Override PartName="/ppt/notesSlides/notesSlide374.xml" ContentType="application/vnd.openxmlformats-officedocument.presentationml.notesSlide+xml"/>
  <Override PartName="/ppt/notesSlides/notesSlide375.xml" ContentType="application/vnd.openxmlformats-officedocument.presentationml.notesSlide+xml"/>
  <Override PartName="/ppt/notesSlides/notesSlide376.xml" ContentType="application/vnd.openxmlformats-officedocument.presentationml.notesSlide+xml"/>
  <Override PartName="/ppt/notesSlides/notesSlide377.xml" ContentType="application/vnd.openxmlformats-officedocument.presentationml.notesSlide+xml"/>
  <Override PartName="/ppt/notesSlides/notesSlide378.xml" ContentType="application/vnd.openxmlformats-officedocument.presentationml.notesSlide+xml"/>
  <Override PartName="/ppt/notesSlides/notesSlide379.xml" ContentType="application/vnd.openxmlformats-officedocument.presentationml.notesSlide+xml"/>
  <Override PartName="/ppt/notesSlides/notesSlide38.xml" ContentType="application/vnd.openxmlformats-officedocument.presentationml.notesSlide+xml"/>
  <Override PartName="/ppt/notesSlides/notesSlide380.xml" ContentType="application/vnd.openxmlformats-officedocument.presentationml.notesSlide+xml"/>
  <Override PartName="/ppt/notesSlides/notesSlide381.xml" ContentType="application/vnd.openxmlformats-officedocument.presentationml.notesSlide+xml"/>
  <Override PartName="/ppt/notesSlides/notesSlide382.xml" ContentType="application/vnd.openxmlformats-officedocument.presentationml.notesSlide+xml"/>
  <Override PartName="/ppt/notesSlides/notesSlide383.xml" ContentType="application/vnd.openxmlformats-officedocument.presentationml.notesSlide+xml"/>
  <Override PartName="/ppt/notesSlides/notesSlide384.xml" ContentType="application/vnd.openxmlformats-officedocument.presentationml.notesSlide+xml"/>
  <Override PartName="/ppt/notesSlides/notesSlide385.xml" ContentType="application/vnd.openxmlformats-officedocument.presentationml.notesSlide+xml"/>
  <Override PartName="/ppt/notesSlides/notesSlide386.xml" ContentType="application/vnd.openxmlformats-officedocument.presentationml.notesSlide+xml"/>
  <Override PartName="/ppt/notesSlides/notesSlide387.xml" ContentType="application/vnd.openxmlformats-officedocument.presentationml.notesSlide+xml"/>
  <Override PartName="/ppt/notesSlides/notesSlide388.xml" ContentType="application/vnd.openxmlformats-officedocument.presentationml.notesSlide+xml"/>
  <Override PartName="/ppt/notesSlides/notesSlide389.xml" ContentType="application/vnd.openxmlformats-officedocument.presentationml.notesSlide+xml"/>
  <Override PartName="/ppt/notesSlides/notesSlide39.xml" ContentType="application/vnd.openxmlformats-officedocument.presentationml.notesSlide+xml"/>
  <Override PartName="/ppt/notesSlides/notesSlide390.xml" ContentType="application/vnd.openxmlformats-officedocument.presentationml.notesSlide+xml"/>
  <Override PartName="/ppt/notesSlides/notesSlide391.xml" ContentType="application/vnd.openxmlformats-officedocument.presentationml.notesSlide+xml"/>
  <Override PartName="/ppt/notesSlides/notesSlide392.xml" ContentType="application/vnd.openxmlformats-officedocument.presentationml.notesSlide+xml"/>
  <Override PartName="/ppt/notesSlides/notesSlide393.xml" ContentType="application/vnd.openxmlformats-officedocument.presentationml.notesSlide+xml"/>
  <Override PartName="/ppt/notesSlides/notesSlide394.xml" ContentType="application/vnd.openxmlformats-officedocument.presentationml.notesSlide+xml"/>
  <Override PartName="/ppt/notesSlides/notesSlide395.xml" ContentType="application/vnd.openxmlformats-officedocument.presentationml.notesSlide+xml"/>
  <Override PartName="/ppt/notesSlides/notesSlide396.xml" ContentType="application/vnd.openxmlformats-officedocument.presentationml.notesSlide+xml"/>
  <Override PartName="/ppt/notesSlides/notesSlide397.xml" ContentType="application/vnd.openxmlformats-officedocument.presentationml.notesSlide+xml"/>
  <Override PartName="/ppt/notesSlides/notesSlide398.xml" ContentType="application/vnd.openxmlformats-officedocument.presentationml.notesSlide+xml"/>
  <Override PartName="/ppt/notesSlides/notesSlide39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00.xml" ContentType="application/vnd.openxmlformats-officedocument.presentationml.notesSlide+xml"/>
  <Override PartName="/ppt/notesSlides/notesSlide401.xml" ContentType="application/vnd.openxmlformats-officedocument.presentationml.notesSlide+xml"/>
  <Override PartName="/ppt/notesSlides/notesSlide402.xml" ContentType="application/vnd.openxmlformats-officedocument.presentationml.notesSlide+xml"/>
  <Override PartName="/ppt/notesSlides/notesSlide403.xml" ContentType="application/vnd.openxmlformats-officedocument.presentationml.notesSlide+xml"/>
  <Override PartName="/ppt/notesSlides/notesSlide404.xml" ContentType="application/vnd.openxmlformats-officedocument.presentationml.notesSlide+xml"/>
  <Override PartName="/ppt/notesSlides/notesSlide405.xml" ContentType="application/vnd.openxmlformats-officedocument.presentationml.notesSlide+xml"/>
  <Override PartName="/ppt/notesSlides/notesSlide406.xml" ContentType="application/vnd.openxmlformats-officedocument.presentationml.notesSlide+xml"/>
  <Override PartName="/ppt/notesSlides/notesSlide407.xml" ContentType="application/vnd.openxmlformats-officedocument.presentationml.notesSlide+xml"/>
  <Override PartName="/ppt/notesSlides/notesSlide408.xml" ContentType="application/vnd.openxmlformats-officedocument.presentationml.notesSlide+xml"/>
  <Override PartName="/ppt/notesSlides/notesSlide409.xml" ContentType="application/vnd.openxmlformats-officedocument.presentationml.notesSlide+xml"/>
  <Override PartName="/ppt/notesSlides/notesSlide41.xml" ContentType="application/vnd.openxmlformats-officedocument.presentationml.notesSlide+xml"/>
  <Override PartName="/ppt/notesSlides/notesSlide410.xml" ContentType="application/vnd.openxmlformats-officedocument.presentationml.notesSlide+xml"/>
  <Override PartName="/ppt/notesSlides/notesSlide411.xml" ContentType="application/vnd.openxmlformats-officedocument.presentationml.notesSlide+xml"/>
  <Override PartName="/ppt/notesSlides/notesSlide412.xml" ContentType="application/vnd.openxmlformats-officedocument.presentationml.notesSlide+xml"/>
  <Override PartName="/ppt/notesSlides/notesSlide413.xml" ContentType="application/vnd.openxmlformats-officedocument.presentationml.notesSlide+xml"/>
  <Override PartName="/ppt/notesSlides/notesSlide414.xml" ContentType="application/vnd.openxmlformats-officedocument.presentationml.notesSlide+xml"/>
  <Override PartName="/ppt/notesSlides/notesSlide415.xml" ContentType="application/vnd.openxmlformats-officedocument.presentationml.notesSlide+xml"/>
  <Override PartName="/ppt/notesSlides/notesSlide416.xml" ContentType="application/vnd.openxmlformats-officedocument.presentationml.notesSlide+xml"/>
  <Override PartName="/ppt/notesSlides/notesSlide417.xml" ContentType="application/vnd.openxmlformats-officedocument.presentationml.notesSlide+xml"/>
  <Override PartName="/ppt/notesSlides/notesSlide418.xml" ContentType="application/vnd.openxmlformats-officedocument.presentationml.notesSlide+xml"/>
  <Override PartName="/ppt/notesSlides/notesSlide419.xml" ContentType="application/vnd.openxmlformats-officedocument.presentationml.notesSlide+xml"/>
  <Override PartName="/ppt/notesSlides/notesSlide42.xml" ContentType="application/vnd.openxmlformats-officedocument.presentationml.notesSlide+xml"/>
  <Override PartName="/ppt/notesSlides/notesSlide420.xml" ContentType="application/vnd.openxmlformats-officedocument.presentationml.notesSlide+xml"/>
  <Override PartName="/ppt/notesSlides/notesSlide421.xml" ContentType="application/vnd.openxmlformats-officedocument.presentationml.notesSlide+xml"/>
  <Override PartName="/ppt/notesSlides/notesSlide422.xml" ContentType="application/vnd.openxmlformats-officedocument.presentationml.notesSlide+xml"/>
  <Override PartName="/ppt/notesSlides/notesSlide423.xml" ContentType="application/vnd.openxmlformats-officedocument.presentationml.notesSlide+xml"/>
  <Override PartName="/ppt/notesSlides/notesSlide424.xml" ContentType="application/vnd.openxmlformats-officedocument.presentationml.notesSlide+xml"/>
  <Override PartName="/ppt/notesSlides/notesSlide425.xml" ContentType="application/vnd.openxmlformats-officedocument.presentationml.notesSlide+xml"/>
  <Override PartName="/ppt/notesSlides/notesSlide426.xml" ContentType="application/vnd.openxmlformats-officedocument.presentationml.notesSlide+xml"/>
  <Override PartName="/ppt/notesSlides/notesSlide427.xml" ContentType="application/vnd.openxmlformats-officedocument.presentationml.notesSlide+xml"/>
  <Override PartName="/ppt/notesSlides/notesSlide428.xml" ContentType="application/vnd.openxmlformats-officedocument.presentationml.notesSlide+xml"/>
  <Override PartName="/ppt/notesSlides/notesSlide429.xml" ContentType="application/vnd.openxmlformats-officedocument.presentationml.notesSlide+xml"/>
  <Override PartName="/ppt/notesSlides/notesSlide43.xml" ContentType="application/vnd.openxmlformats-officedocument.presentationml.notesSlide+xml"/>
  <Override PartName="/ppt/notesSlides/notesSlide430.xml" ContentType="application/vnd.openxmlformats-officedocument.presentationml.notesSlide+xml"/>
  <Override PartName="/ppt/notesSlides/notesSlide431.xml" ContentType="application/vnd.openxmlformats-officedocument.presentationml.notesSlide+xml"/>
  <Override PartName="/ppt/notesSlides/notesSlide432.xml" ContentType="application/vnd.openxmlformats-officedocument.presentationml.notesSlide+xml"/>
  <Override PartName="/ppt/notesSlides/notesSlide433.xml" ContentType="application/vnd.openxmlformats-officedocument.presentationml.notesSlide+xml"/>
  <Override PartName="/ppt/notesSlides/notesSlide434.xml" ContentType="application/vnd.openxmlformats-officedocument.presentationml.notesSlide+xml"/>
  <Override PartName="/ppt/notesSlides/notesSlide435.xml" ContentType="application/vnd.openxmlformats-officedocument.presentationml.notesSlide+xml"/>
  <Override PartName="/ppt/notesSlides/notesSlide436.xml" ContentType="application/vnd.openxmlformats-officedocument.presentationml.notesSlide+xml"/>
  <Override PartName="/ppt/notesSlides/notesSlide437.xml" ContentType="application/vnd.openxmlformats-officedocument.presentationml.notesSlide+xml"/>
  <Override PartName="/ppt/notesSlides/notesSlide438.xml" ContentType="application/vnd.openxmlformats-officedocument.presentationml.notesSlide+xml"/>
  <Override PartName="/ppt/notesSlides/notesSlide439.xml" ContentType="application/vnd.openxmlformats-officedocument.presentationml.notesSlide+xml"/>
  <Override PartName="/ppt/notesSlides/notesSlide44.xml" ContentType="application/vnd.openxmlformats-officedocument.presentationml.notesSlide+xml"/>
  <Override PartName="/ppt/notesSlides/notesSlide440.xml" ContentType="application/vnd.openxmlformats-officedocument.presentationml.notesSlide+xml"/>
  <Override PartName="/ppt/notesSlides/notesSlide441.xml" ContentType="application/vnd.openxmlformats-officedocument.presentationml.notesSlide+xml"/>
  <Override PartName="/ppt/notesSlides/notesSlide442.xml" ContentType="application/vnd.openxmlformats-officedocument.presentationml.notesSlide+xml"/>
  <Override PartName="/ppt/notesSlides/notesSlide443.xml" ContentType="application/vnd.openxmlformats-officedocument.presentationml.notesSlide+xml"/>
  <Override PartName="/ppt/notesSlides/notesSlide444.xml" ContentType="application/vnd.openxmlformats-officedocument.presentationml.notesSlide+xml"/>
  <Override PartName="/ppt/notesSlides/notesSlide445.xml" ContentType="application/vnd.openxmlformats-officedocument.presentationml.notesSlide+xml"/>
  <Override PartName="/ppt/notesSlides/notesSlide446.xml" ContentType="application/vnd.openxmlformats-officedocument.presentationml.notesSlide+xml"/>
  <Override PartName="/ppt/notesSlides/notesSlide447.xml" ContentType="application/vnd.openxmlformats-officedocument.presentationml.notesSlide+xml"/>
  <Override PartName="/ppt/notesSlides/notesSlide448.xml" ContentType="application/vnd.openxmlformats-officedocument.presentationml.notesSlide+xml"/>
  <Override PartName="/ppt/notesSlides/notesSlide449.xml" ContentType="application/vnd.openxmlformats-officedocument.presentationml.notesSlide+xml"/>
  <Override PartName="/ppt/notesSlides/notesSlide45.xml" ContentType="application/vnd.openxmlformats-officedocument.presentationml.notesSlide+xml"/>
  <Override PartName="/ppt/notesSlides/notesSlide450.xml" ContentType="application/vnd.openxmlformats-officedocument.presentationml.notesSlide+xml"/>
  <Override PartName="/ppt/notesSlides/notesSlide451.xml" ContentType="application/vnd.openxmlformats-officedocument.presentationml.notesSlide+xml"/>
  <Override PartName="/ppt/notesSlides/notesSlide452.xml" ContentType="application/vnd.openxmlformats-officedocument.presentationml.notesSlide+xml"/>
  <Override PartName="/ppt/notesSlides/notesSlide453.xml" ContentType="application/vnd.openxmlformats-officedocument.presentationml.notesSlide+xml"/>
  <Override PartName="/ppt/notesSlides/notesSlide454.xml" ContentType="application/vnd.openxmlformats-officedocument.presentationml.notesSlide+xml"/>
  <Override PartName="/ppt/notesSlides/notesSlide455.xml" ContentType="application/vnd.openxmlformats-officedocument.presentationml.notesSlide+xml"/>
  <Override PartName="/ppt/notesSlides/notesSlide456.xml" ContentType="application/vnd.openxmlformats-officedocument.presentationml.notesSlide+xml"/>
  <Override PartName="/ppt/notesSlides/notesSlide457.xml" ContentType="application/vnd.openxmlformats-officedocument.presentationml.notesSlide+xml"/>
  <Override PartName="/ppt/notesSlides/notesSlide458.xml" ContentType="application/vnd.openxmlformats-officedocument.presentationml.notesSlide+xml"/>
  <Override PartName="/ppt/notesSlides/notesSlide459.xml" ContentType="application/vnd.openxmlformats-officedocument.presentationml.notesSlide+xml"/>
  <Override PartName="/ppt/notesSlides/notesSlide46.xml" ContentType="application/vnd.openxmlformats-officedocument.presentationml.notesSlide+xml"/>
  <Override PartName="/ppt/notesSlides/notesSlide460.xml" ContentType="application/vnd.openxmlformats-officedocument.presentationml.notesSlide+xml"/>
  <Override PartName="/ppt/notesSlides/notesSlide461.xml" ContentType="application/vnd.openxmlformats-officedocument.presentationml.notesSlide+xml"/>
  <Override PartName="/ppt/notesSlides/notesSlide462.xml" ContentType="application/vnd.openxmlformats-officedocument.presentationml.notesSlide+xml"/>
  <Override PartName="/ppt/notesSlides/notesSlide463.xml" ContentType="application/vnd.openxmlformats-officedocument.presentationml.notesSlide+xml"/>
  <Override PartName="/ppt/notesSlides/notesSlide464.xml" ContentType="application/vnd.openxmlformats-officedocument.presentationml.notesSlide+xml"/>
  <Override PartName="/ppt/notesSlides/notesSlide465.xml" ContentType="application/vnd.openxmlformats-officedocument.presentationml.notesSlide+xml"/>
  <Override PartName="/ppt/notesSlides/notesSlide466.xml" ContentType="application/vnd.openxmlformats-officedocument.presentationml.notesSlide+xml"/>
  <Override PartName="/ppt/notesSlides/notesSlide467.xml" ContentType="application/vnd.openxmlformats-officedocument.presentationml.notesSlide+xml"/>
  <Override PartName="/ppt/notesSlides/notesSlide468.xml" ContentType="application/vnd.openxmlformats-officedocument.presentationml.notesSlide+xml"/>
  <Override PartName="/ppt/notesSlides/notesSlide469.xml" ContentType="application/vnd.openxmlformats-officedocument.presentationml.notesSlide+xml"/>
  <Override PartName="/ppt/notesSlides/notesSlide47.xml" ContentType="application/vnd.openxmlformats-officedocument.presentationml.notesSlide+xml"/>
  <Override PartName="/ppt/notesSlides/notesSlide470.xml" ContentType="application/vnd.openxmlformats-officedocument.presentationml.notesSlide+xml"/>
  <Override PartName="/ppt/notesSlides/notesSlide471.xml" ContentType="application/vnd.openxmlformats-officedocument.presentationml.notesSlide+xml"/>
  <Override PartName="/ppt/notesSlides/notesSlide472.xml" ContentType="application/vnd.openxmlformats-officedocument.presentationml.notesSlide+xml"/>
  <Override PartName="/ppt/notesSlides/notesSlide473.xml" ContentType="application/vnd.openxmlformats-officedocument.presentationml.notesSlide+xml"/>
  <Override PartName="/ppt/notesSlides/notesSlide474.xml" ContentType="application/vnd.openxmlformats-officedocument.presentationml.notesSlide+xml"/>
  <Override PartName="/ppt/notesSlides/notesSlide475.xml" ContentType="application/vnd.openxmlformats-officedocument.presentationml.notesSlide+xml"/>
  <Override PartName="/ppt/notesSlides/notesSlide476.xml" ContentType="application/vnd.openxmlformats-officedocument.presentationml.notesSlide+xml"/>
  <Override PartName="/ppt/notesSlides/notesSlide477.xml" ContentType="application/vnd.openxmlformats-officedocument.presentationml.notesSlide+xml"/>
  <Override PartName="/ppt/notesSlides/notesSlide478.xml" ContentType="application/vnd.openxmlformats-officedocument.presentationml.notesSlide+xml"/>
  <Override PartName="/ppt/notesSlides/notesSlide479.xml" ContentType="application/vnd.openxmlformats-officedocument.presentationml.notesSlide+xml"/>
  <Override PartName="/ppt/notesSlides/notesSlide48.xml" ContentType="application/vnd.openxmlformats-officedocument.presentationml.notesSlide+xml"/>
  <Override PartName="/ppt/notesSlides/notesSlide480.xml" ContentType="application/vnd.openxmlformats-officedocument.presentationml.notesSlide+xml"/>
  <Override PartName="/ppt/notesSlides/notesSlide481.xml" ContentType="application/vnd.openxmlformats-officedocument.presentationml.notesSlide+xml"/>
  <Override PartName="/ppt/notesSlides/notesSlide482.xml" ContentType="application/vnd.openxmlformats-officedocument.presentationml.notesSlide+xml"/>
  <Override PartName="/ppt/notesSlides/notesSlide483.xml" ContentType="application/vnd.openxmlformats-officedocument.presentationml.notesSlide+xml"/>
  <Override PartName="/ppt/notesSlides/notesSlide484.xml" ContentType="application/vnd.openxmlformats-officedocument.presentationml.notesSlide+xml"/>
  <Override PartName="/ppt/notesSlides/notesSlide485.xml" ContentType="application/vnd.openxmlformats-officedocument.presentationml.notesSlide+xml"/>
  <Override PartName="/ppt/notesSlides/notesSlide486.xml" ContentType="application/vnd.openxmlformats-officedocument.presentationml.notesSlide+xml"/>
  <Override PartName="/ppt/notesSlides/notesSlide487.xml" ContentType="application/vnd.openxmlformats-officedocument.presentationml.notesSlide+xml"/>
  <Override PartName="/ppt/notesSlides/notesSlide488.xml" ContentType="application/vnd.openxmlformats-officedocument.presentationml.notesSlide+xml"/>
  <Override PartName="/ppt/notesSlides/notesSlide489.xml" ContentType="application/vnd.openxmlformats-officedocument.presentationml.notesSlide+xml"/>
  <Override PartName="/ppt/notesSlides/notesSlide49.xml" ContentType="application/vnd.openxmlformats-officedocument.presentationml.notesSlide+xml"/>
  <Override PartName="/ppt/notesSlides/notesSlide490.xml" ContentType="application/vnd.openxmlformats-officedocument.presentationml.notesSlide+xml"/>
  <Override PartName="/ppt/notesSlides/notesSlide491.xml" ContentType="application/vnd.openxmlformats-officedocument.presentationml.notesSlide+xml"/>
  <Override PartName="/ppt/notesSlides/notesSlide492.xml" ContentType="application/vnd.openxmlformats-officedocument.presentationml.notesSlide+xml"/>
  <Override PartName="/ppt/notesSlides/notesSlide493.xml" ContentType="application/vnd.openxmlformats-officedocument.presentationml.notesSlide+xml"/>
  <Override PartName="/ppt/notesSlides/notesSlide494.xml" ContentType="application/vnd.openxmlformats-officedocument.presentationml.notesSlide+xml"/>
  <Override PartName="/ppt/notesSlides/notesSlide495.xml" ContentType="application/vnd.openxmlformats-officedocument.presentationml.notesSlide+xml"/>
  <Override PartName="/ppt/notesSlides/notesSlide496.xml" ContentType="application/vnd.openxmlformats-officedocument.presentationml.notesSlide+xml"/>
  <Override PartName="/ppt/notesSlides/notesSlide497.xml" ContentType="application/vnd.openxmlformats-officedocument.presentationml.notesSlide+xml"/>
  <Override PartName="/ppt/notesSlides/notesSlide498.xml" ContentType="application/vnd.openxmlformats-officedocument.presentationml.notesSlide+xml"/>
  <Override PartName="/ppt/notesSlides/notesSlide49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00.xml" ContentType="application/vnd.openxmlformats-officedocument.presentationml.notesSlide+xml"/>
  <Override PartName="/ppt/notesSlides/notesSlide501.xml" ContentType="application/vnd.openxmlformats-officedocument.presentationml.notesSlide+xml"/>
  <Override PartName="/ppt/notesSlides/notesSlide502.xml" ContentType="application/vnd.openxmlformats-officedocument.presentationml.notesSlide+xml"/>
  <Override PartName="/ppt/notesSlides/notesSlide503.xml" ContentType="application/vnd.openxmlformats-officedocument.presentationml.notesSlide+xml"/>
  <Override PartName="/ppt/notesSlides/notesSlide504.xml" ContentType="application/vnd.openxmlformats-officedocument.presentationml.notesSlide+xml"/>
  <Override PartName="/ppt/notesSlides/notesSlide505.xml" ContentType="application/vnd.openxmlformats-officedocument.presentationml.notesSlide+xml"/>
  <Override PartName="/ppt/notesSlides/notesSlide506.xml" ContentType="application/vnd.openxmlformats-officedocument.presentationml.notesSlide+xml"/>
  <Override PartName="/ppt/notesSlides/notesSlide507.xml" ContentType="application/vnd.openxmlformats-officedocument.presentationml.notesSlide+xml"/>
  <Override PartName="/ppt/notesSlides/notesSlide508.xml" ContentType="application/vnd.openxmlformats-officedocument.presentationml.notesSlide+xml"/>
  <Override PartName="/ppt/notesSlides/notesSlide509.xml" ContentType="application/vnd.openxmlformats-officedocument.presentationml.notesSlide+xml"/>
  <Override PartName="/ppt/notesSlides/notesSlide51.xml" ContentType="application/vnd.openxmlformats-officedocument.presentationml.notesSlide+xml"/>
  <Override PartName="/ppt/notesSlides/notesSlide510.xml" ContentType="application/vnd.openxmlformats-officedocument.presentationml.notesSlide+xml"/>
  <Override PartName="/ppt/notesSlides/notesSlide511.xml" ContentType="application/vnd.openxmlformats-officedocument.presentationml.notesSlide+xml"/>
  <Override PartName="/ppt/notesSlides/notesSlide512.xml" ContentType="application/vnd.openxmlformats-officedocument.presentationml.notesSlide+xml"/>
  <Override PartName="/ppt/notesSlides/notesSlide513.xml" ContentType="application/vnd.openxmlformats-officedocument.presentationml.notesSlide+xml"/>
  <Override PartName="/ppt/notesSlides/notesSlide514.xml" ContentType="application/vnd.openxmlformats-officedocument.presentationml.notesSlide+xml"/>
  <Override PartName="/ppt/notesSlides/notesSlide515.xml" ContentType="application/vnd.openxmlformats-officedocument.presentationml.notesSlide+xml"/>
  <Override PartName="/ppt/notesSlides/notesSlide516.xml" ContentType="application/vnd.openxmlformats-officedocument.presentationml.notesSlide+xml"/>
  <Override PartName="/ppt/notesSlides/notesSlide517.xml" ContentType="application/vnd.openxmlformats-officedocument.presentationml.notesSlide+xml"/>
  <Override PartName="/ppt/notesSlides/notesSlide518.xml" ContentType="application/vnd.openxmlformats-officedocument.presentationml.notesSlide+xml"/>
  <Override PartName="/ppt/notesSlides/notesSlide519.xml" ContentType="application/vnd.openxmlformats-officedocument.presentationml.notesSlide+xml"/>
  <Override PartName="/ppt/notesSlides/notesSlide52.xml" ContentType="application/vnd.openxmlformats-officedocument.presentationml.notesSlide+xml"/>
  <Override PartName="/ppt/notesSlides/notesSlide520.xml" ContentType="application/vnd.openxmlformats-officedocument.presentationml.notesSlide+xml"/>
  <Override PartName="/ppt/notesSlides/notesSlide521.xml" ContentType="application/vnd.openxmlformats-officedocument.presentationml.notesSlide+xml"/>
  <Override PartName="/ppt/notesSlides/notesSlide522.xml" ContentType="application/vnd.openxmlformats-officedocument.presentationml.notesSlide+xml"/>
  <Override PartName="/ppt/notesSlides/notesSlide523.xml" ContentType="application/vnd.openxmlformats-officedocument.presentationml.notesSlide+xml"/>
  <Override PartName="/ppt/notesSlides/notesSlide524.xml" ContentType="application/vnd.openxmlformats-officedocument.presentationml.notesSlide+xml"/>
  <Override PartName="/ppt/notesSlides/notesSlide525.xml" ContentType="application/vnd.openxmlformats-officedocument.presentationml.notesSlide+xml"/>
  <Override PartName="/ppt/notesSlides/notesSlide526.xml" ContentType="application/vnd.openxmlformats-officedocument.presentationml.notesSlide+xml"/>
  <Override PartName="/ppt/notesSlides/notesSlide527.xml" ContentType="application/vnd.openxmlformats-officedocument.presentationml.notesSlide+xml"/>
  <Override PartName="/ppt/notesSlides/notesSlide528.xml" ContentType="application/vnd.openxmlformats-officedocument.presentationml.notesSlide+xml"/>
  <Override PartName="/ppt/notesSlides/notesSlide529.xml" ContentType="application/vnd.openxmlformats-officedocument.presentationml.notesSlide+xml"/>
  <Override PartName="/ppt/notesSlides/notesSlide53.xml" ContentType="application/vnd.openxmlformats-officedocument.presentationml.notesSlide+xml"/>
  <Override PartName="/ppt/notesSlides/notesSlide530.xml" ContentType="application/vnd.openxmlformats-officedocument.presentationml.notesSlide+xml"/>
  <Override PartName="/ppt/notesSlides/notesSlide531.xml" ContentType="application/vnd.openxmlformats-officedocument.presentationml.notesSlide+xml"/>
  <Override PartName="/ppt/notesSlides/notesSlide532.xml" ContentType="application/vnd.openxmlformats-officedocument.presentationml.notesSlide+xml"/>
  <Override PartName="/ppt/notesSlides/notesSlide533.xml" ContentType="application/vnd.openxmlformats-officedocument.presentationml.notesSlide+xml"/>
  <Override PartName="/ppt/notesSlides/notesSlide534.xml" ContentType="application/vnd.openxmlformats-officedocument.presentationml.notesSlide+xml"/>
  <Override PartName="/ppt/notesSlides/notesSlide535.xml" ContentType="application/vnd.openxmlformats-officedocument.presentationml.notesSlide+xml"/>
  <Override PartName="/ppt/notesSlides/notesSlide536.xml" ContentType="application/vnd.openxmlformats-officedocument.presentationml.notesSlide+xml"/>
  <Override PartName="/ppt/notesSlides/notesSlide537.xml" ContentType="application/vnd.openxmlformats-officedocument.presentationml.notesSlide+xml"/>
  <Override PartName="/ppt/notesSlides/notesSlide538.xml" ContentType="application/vnd.openxmlformats-officedocument.presentationml.notesSlide+xml"/>
  <Override PartName="/ppt/notesSlides/notesSlide539.xml" ContentType="application/vnd.openxmlformats-officedocument.presentationml.notesSlide+xml"/>
  <Override PartName="/ppt/notesSlides/notesSlide54.xml" ContentType="application/vnd.openxmlformats-officedocument.presentationml.notesSlide+xml"/>
  <Override PartName="/ppt/notesSlides/notesSlide540.xml" ContentType="application/vnd.openxmlformats-officedocument.presentationml.notesSlide+xml"/>
  <Override PartName="/ppt/notesSlides/notesSlide541.xml" ContentType="application/vnd.openxmlformats-officedocument.presentationml.notesSlide+xml"/>
  <Override PartName="/ppt/notesSlides/notesSlide542.xml" ContentType="application/vnd.openxmlformats-officedocument.presentationml.notesSlide+xml"/>
  <Override PartName="/ppt/notesSlides/notesSlide543.xml" ContentType="application/vnd.openxmlformats-officedocument.presentationml.notesSlide+xml"/>
  <Override PartName="/ppt/notesSlides/notesSlide544.xml" ContentType="application/vnd.openxmlformats-officedocument.presentationml.notesSlide+xml"/>
  <Override PartName="/ppt/notesSlides/notesSlide545.xml" ContentType="application/vnd.openxmlformats-officedocument.presentationml.notesSlide+xml"/>
  <Override PartName="/ppt/notesSlides/notesSlide546.xml" ContentType="application/vnd.openxmlformats-officedocument.presentationml.notesSlide+xml"/>
  <Override PartName="/ppt/notesSlides/notesSlide547.xml" ContentType="application/vnd.openxmlformats-officedocument.presentationml.notesSlide+xml"/>
  <Override PartName="/ppt/notesSlides/notesSlide548.xml" ContentType="application/vnd.openxmlformats-officedocument.presentationml.notesSlide+xml"/>
  <Override PartName="/ppt/notesSlides/notesSlide549.xml" ContentType="application/vnd.openxmlformats-officedocument.presentationml.notesSlide+xml"/>
  <Override PartName="/ppt/notesSlides/notesSlide55.xml" ContentType="application/vnd.openxmlformats-officedocument.presentationml.notesSlide+xml"/>
  <Override PartName="/ppt/notesSlides/notesSlide550.xml" ContentType="application/vnd.openxmlformats-officedocument.presentationml.notesSlide+xml"/>
  <Override PartName="/ppt/notesSlides/notesSlide551.xml" ContentType="application/vnd.openxmlformats-officedocument.presentationml.notesSlide+xml"/>
  <Override PartName="/ppt/notesSlides/notesSlide552.xml" ContentType="application/vnd.openxmlformats-officedocument.presentationml.notesSlide+xml"/>
  <Override PartName="/ppt/notesSlides/notesSlide553.xml" ContentType="application/vnd.openxmlformats-officedocument.presentationml.notesSlide+xml"/>
  <Override PartName="/ppt/notesSlides/notesSlide554.xml" ContentType="application/vnd.openxmlformats-officedocument.presentationml.notesSlide+xml"/>
  <Override PartName="/ppt/notesSlides/notesSlide555.xml" ContentType="application/vnd.openxmlformats-officedocument.presentationml.notesSlide+xml"/>
  <Override PartName="/ppt/notesSlides/notesSlide556.xml" ContentType="application/vnd.openxmlformats-officedocument.presentationml.notesSlide+xml"/>
  <Override PartName="/ppt/notesSlides/notesSlide557.xml" ContentType="application/vnd.openxmlformats-officedocument.presentationml.notesSlide+xml"/>
  <Override PartName="/ppt/notesSlides/notesSlide558.xml" ContentType="application/vnd.openxmlformats-officedocument.presentationml.notesSlide+xml"/>
  <Override PartName="/ppt/notesSlides/notesSlide559.xml" ContentType="application/vnd.openxmlformats-officedocument.presentationml.notesSlide+xml"/>
  <Override PartName="/ppt/notesSlides/notesSlide56.xml" ContentType="application/vnd.openxmlformats-officedocument.presentationml.notesSlide+xml"/>
  <Override PartName="/ppt/notesSlides/notesSlide560.xml" ContentType="application/vnd.openxmlformats-officedocument.presentationml.notesSlide+xml"/>
  <Override PartName="/ppt/notesSlides/notesSlide561.xml" ContentType="application/vnd.openxmlformats-officedocument.presentationml.notesSlide+xml"/>
  <Override PartName="/ppt/notesSlides/notesSlide562.xml" ContentType="application/vnd.openxmlformats-officedocument.presentationml.notesSlide+xml"/>
  <Override PartName="/ppt/notesSlides/notesSlide563.xml" ContentType="application/vnd.openxmlformats-officedocument.presentationml.notesSlide+xml"/>
  <Override PartName="/ppt/notesSlides/notesSlide564.xml" ContentType="application/vnd.openxmlformats-officedocument.presentationml.notesSlide+xml"/>
  <Override PartName="/ppt/notesSlides/notesSlide565.xml" ContentType="application/vnd.openxmlformats-officedocument.presentationml.notesSlide+xml"/>
  <Override PartName="/ppt/notesSlides/notesSlide566.xml" ContentType="application/vnd.openxmlformats-officedocument.presentationml.notesSlide+xml"/>
  <Override PartName="/ppt/notesSlides/notesSlide567.xml" ContentType="application/vnd.openxmlformats-officedocument.presentationml.notesSlide+xml"/>
  <Override PartName="/ppt/notesSlides/notesSlide568.xml" ContentType="application/vnd.openxmlformats-officedocument.presentationml.notesSlide+xml"/>
  <Override PartName="/ppt/notesSlides/notesSlide569.xml" ContentType="application/vnd.openxmlformats-officedocument.presentationml.notesSlide+xml"/>
  <Override PartName="/ppt/notesSlides/notesSlide57.xml" ContentType="application/vnd.openxmlformats-officedocument.presentationml.notesSlide+xml"/>
  <Override PartName="/ppt/notesSlides/notesSlide570.xml" ContentType="application/vnd.openxmlformats-officedocument.presentationml.notesSlide+xml"/>
  <Override PartName="/ppt/notesSlides/notesSlide571.xml" ContentType="application/vnd.openxmlformats-officedocument.presentationml.notesSlide+xml"/>
  <Override PartName="/ppt/notesSlides/notesSlide572.xml" ContentType="application/vnd.openxmlformats-officedocument.presentationml.notesSlide+xml"/>
  <Override PartName="/ppt/notesSlides/notesSlide573.xml" ContentType="application/vnd.openxmlformats-officedocument.presentationml.notesSlide+xml"/>
  <Override PartName="/ppt/notesSlides/notesSlide574.xml" ContentType="application/vnd.openxmlformats-officedocument.presentationml.notesSlide+xml"/>
  <Override PartName="/ppt/notesSlides/notesSlide575.xml" ContentType="application/vnd.openxmlformats-officedocument.presentationml.notesSlide+xml"/>
  <Override PartName="/ppt/notesSlides/notesSlide576.xml" ContentType="application/vnd.openxmlformats-officedocument.presentationml.notesSlide+xml"/>
  <Override PartName="/ppt/notesSlides/notesSlide577.xml" ContentType="application/vnd.openxmlformats-officedocument.presentationml.notesSlide+xml"/>
  <Override PartName="/ppt/notesSlides/notesSlide578.xml" ContentType="application/vnd.openxmlformats-officedocument.presentationml.notesSlide+xml"/>
  <Override PartName="/ppt/notesSlides/notesSlide579.xml" ContentType="application/vnd.openxmlformats-officedocument.presentationml.notesSlide+xml"/>
  <Override PartName="/ppt/notesSlides/notesSlide58.xml" ContentType="application/vnd.openxmlformats-officedocument.presentationml.notesSlide+xml"/>
  <Override PartName="/ppt/notesSlides/notesSlide580.xml" ContentType="application/vnd.openxmlformats-officedocument.presentationml.notesSlide+xml"/>
  <Override PartName="/ppt/notesSlides/notesSlide581.xml" ContentType="application/vnd.openxmlformats-officedocument.presentationml.notesSlide+xml"/>
  <Override PartName="/ppt/notesSlides/notesSlide582.xml" ContentType="application/vnd.openxmlformats-officedocument.presentationml.notesSlide+xml"/>
  <Override PartName="/ppt/notesSlides/notesSlide583.xml" ContentType="application/vnd.openxmlformats-officedocument.presentationml.notesSlide+xml"/>
  <Override PartName="/ppt/notesSlides/notesSlide584.xml" ContentType="application/vnd.openxmlformats-officedocument.presentationml.notesSlide+xml"/>
  <Override PartName="/ppt/notesSlides/notesSlide585.xml" ContentType="application/vnd.openxmlformats-officedocument.presentationml.notesSlide+xml"/>
  <Override PartName="/ppt/notesSlides/notesSlide586.xml" ContentType="application/vnd.openxmlformats-officedocument.presentationml.notesSlide+xml"/>
  <Override PartName="/ppt/notesSlides/notesSlide587.xml" ContentType="application/vnd.openxmlformats-officedocument.presentationml.notesSlide+xml"/>
  <Override PartName="/ppt/notesSlides/notesSlide588.xml" ContentType="application/vnd.openxmlformats-officedocument.presentationml.notesSlide+xml"/>
  <Override PartName="/ppt/notesSlides/notesSlide589.xml" ContentType="application/vnd.openxmlformats-officedocument.presentationml.notesSlide+xml"/>
  <Override PartName="/ppt/notesSlides/notesSlide59.xml" ContentType="application/vnd.openxmlformats-officedocument.presentationml.notesSlide+xml"/>
  <Override PartName="/ppt/notesSlides/notesSlide590.xml" ContentType="application/vnd.openxmlformats-officedocument.presentationml.notesSlide+xml"/>
  <Override PartName="/ppt/notesSlides/notesSlide591.xml" ContentType="application/vnd.openxmlformats-officedocument.presentationml.notesSlide+xml"/>
  <Override PartName="/ppt/notesSlides/notesSlide592.xml" ContentType="application/vnd.openxmlformats-officedocument.presentationml.notesSlide+xml"/>
  <Override PartName="/ppt/notesSlides/notesSlide593.xml" ContentType="application/vnd.openxmlformats-officedocument.presentationml.notesSlide+xml"/>
  <Override PartName="/ppt/notesSlides/notesSlide594.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23.xml" ContentType="application/vnd.openxmlformats-officedocument.presentationml.slide+xml"/>
  <Override PartName="/ppt/slides/slide524.xml" ContentType="application/vnd.openxmlformats-officedocument.presentationml.slide+xml"/>
  <Override PartName="/ppt/slides/slide525.xml" ContentType="application/vnd.openxmlformats-officedocument.presentationml.slide+xml"/>
  <Override PartName="/ppt/slides/slide526.xml" ContentType="application/vnd.openxmlformats-officedocument.presentationml.slide+xml"/>
  <Override PartName="/ppt/slides/slide527.xml" ContentType="application/vnd.openxmlformats-officedocument.presentationml.slide+xml"/>
  <Override PartName="/ppt/slides/slide528.xml" ContentType="application/vnd.openxmlformats-officedocument.presentationml.slide+xml"/>
  <Override PartName="/ppt/slides/slide529.xml" ContentType="application/vnd.openxmlformats-officedocument.presentationml.slide+xml"/>
  <Override PartName="/ppt/slides/slide53.xml" ContentType="application/vnd.openxmlformats-officedocument.presentationml.slide+xml"/>
  <Override PartName="/ppt/slides/slide530.xml" ContentType="application/vnd.openxmlformats-officedocument.presentationml.slide+xml"/>
  <Override PartName="/ppt/slides/slide531.xml" ContentType="application/vnd.openxmlformats-officedocument.presentationml.slide+xml"/>
  <Override PartName="/ppt/slides/slide532.xml" ContentType="application/vnd.openxmlformats-officedocument.presentationml.slide+xml"/>
  <Override PartName="/ppt/slides/slide533.xml" ContentType="application/vnd.openxmlformats-officedocument.presentationml.slide+xml"/>
  <Override PartName="/ppt/slides/slide534.xml" ContentType="application/vnd.openxmlformats-officedocument.presentationml.slide+xml"/>
  <Override PartName="/ppt/slides/slide535.xml" ContentType="application/vnd.openxmlformats-officedocument.presentationml.slide+xml"/>
  <Override PartName="/ppt/slides/slide536.xml" ContentType="application/vnd.openxmlformats-officedocument.presentationml.slide+xml"/>
  <Override PartName="/ppt/slides/slide537.xml" ContentType="application/vnd.openxmlformats-officedocument.presentationml.slide+xml"/>
  <Override PartName="/ppt/slides/slide538.xml" ContentType="application/vnd.openxmlformats-officedocument.presentationml.slide+xml"/>
  <Override PartName="/ppt/slides/slide539.xml" ContentType="application/vnd.openxmlformats-officedocument.presentationml.slide+xml"/>
  <Override PartName="/ppt/slides/slide54.xml" ContentType="application/vnd.openxmlformats-officedocument.presentationml.slide+xml"/>
  <Override PartName="/ppt/slides/slide540.xml" ContentType="application/vnd.openxmlformats-officedocument.presentationml.slide+xml"/>
  <Override PartName="/ppt/slides/slide541.xml" ContentType="application/vnd.openxmlformats-officedocument.presentationml.slide+xml"/>
  <Override PartName="/ppt/slides/slide542.xml" ContentType="application/vnd.openxmlformats-officedocument.presentationml.slide+xml"/>
  <Override PartName="/ppt/slides/slide543.xml" ContentType="application/vnd.openxmlformats-officedocument.presentationml.slide+xml"/>
  <Override PartName="/ppt/slides/slide544.xml" ContentType="application/vnd.openxmlformats-officedocument.presentationml.slide+xml"/>
  <Override PartName="/ppt/slides/slide545.xml" ContentType="application/vnd.openxmlformats-officedocument.presentationml.slide+xml"/>
  <Override PartName="/ppt/slides/slide546.xml" ContentType="application/vnd.openxmlformats-officedocument.presentationml.slide+xml"/>
  <Override PartName="/ppt/slides/slide547.xml" ContentType="application/vnd.openxmlformats-officedocument.presentationml.slide+xml"/>
  <Override PartName="/ppt/slides/slide548.xml" ContentType="application/vnd.openxmlformats-officedocument.presentationml.slide+xml"/>
  <Override PartName="/ppt/slides/slide549.xml" ContentType="application/vnd.openxmlformats-officedocument.presentationml.slide+xml"/>
  <Override PartName="/ppt/slides/slide55.xml" ContentType="application/vnd.openxmlformats-officedocument.presentationml.slide+xml"/>
  <Override PartName="/ppt/slides/slide550.xml" ContentType="application/vnd.openxmlformats-officedocument.presentationml.slide+xml"/>
  <Override PartName="/ppt/slides/slide551.xml" ContentType="application/vnd.openxmlformats-officedocument.presentationml.slide+xml"/>
  <Override PartName="/ppt/slides/slide552.xml" ContentType="application/vnd.openxmlformats-officedocument.presentationml.slide+xml"/>
  <Override PartName="/ppt/slides/slide553.xml" ContentType="application/vnd.openxmlformats-officedocument.presentationml.slide+xml"/>
  <Override PartName="/ppt/slides/slide554.xml" ContentType="application/vnd.openxmlformats-officedocument.presentationml.slide+xml"/>
  <Override PartName="/ppt/slides/slide555.xml" ContentType="application/vnd.openxmlformats-officedocument.presentationml.slide+xml"/>
  <Override PartName="/ppt/slides/slide556.xml" ContentType="application/vnd.openxmlformats-officedocument.presentationml.slide+xml"/>
  <Override PartName="/ppt/slides/slide557.xml" ContentType="application/vnd.openxmlformats-officedocument.presentationml.slide+xml"/>
  <Override PartName="/ppt/slides/slide558.xml" ContentType="application/vnd.openxmlformats-officedocument.presentationml.slide+xml"/>
  <Override PartName="/ppt/slides/slide559.xml" ContentType="application/vnd.openxmlformats-officedocument.presentationml.slide+xml"/>
  <Override PartName="/ppt/slides/slide56.xml" ContentType="application/vnd.openxmlformats-officedocument.presentationml.slide+xml"/>
  <Override PartName="/ppt/slides/slide560.xml" ContentType="application/vnd.openxmlformats-officedocument.presentationml.slide+xml"/>
  <Override PartName="/ppt/slides/slide561.xml" ContentType="application/vnd.openxmlformats-officedocument.presentationml.slide+xml"/>
  <Override PartName="/ppt/slides/slide562.xml" ContentType="application/vnd.openxmlformats-officedocument.presentationml.slide+xml"/>
  <Override PartName="/ppt/slides/slide563.xml" ContentType="application/vnd.openxmlformats-officedocument.presentationml.slide+xml"/>
  <Override PartName="/ppt/slides/slide564.xml" ContentType="application/vnd.openxmlformats-officedocument.presentationml.slide+xml"/>
  <Override PartName="/ppt/slides/slide565.xml" ContentType="application/vnd.openxmlformats-officedocument.presentationml.slide+xml"/>
  <Override PartName="/ppt/slides/slide566.xml" ContentType="application/vnd.openxmlformats-officedocument.presentationml.slide+xml"/>
  <Override PartName="/ppt/slides/slide567.xml" ContentType="application/vnd.openxmlformats-officedocument.presentationml.slide+xml"/>
  <Override PartName="/ppt/slides/slide568.xml" ContentType="application/vnd.openxmlformats-officedocument.presentationml.slide+xml"/>
  <Override PartName="/ppt/slides/slide569.xml" ContentType="application/vnd.openxmlformats-officedocument.presentationml.slide+xml"/>
  <Override PartName="/ppt/slides/slide57.xml" ContentType="application/vnd.openxmlformats-officedocument.presentationml.slide+xml"/>
  <Override PartName="/ppt/slides/slide570.xml" ContentType="application/vnd.openxmlformats-officedocument.presentationml.slide+xml"/>
  <Override PartName="/ppt/slides/slide571.xml" ContentType="application/vnd.openxmlformats-officedocument.presentationml.slide+xml"/>
  <Override PartName="/ppt/slides/slide572.xml" ContentType="application/vnd.openxmlformats-officedocument.presentationml.slide+xml"/>
  <Override PartName="/ppt/slides/slide573.xml" ContentType="application/vnd.openxmlformats-officedocument.presentationml.slide+xml"/>
  <Override PartName="/ppt/slides/slide574.xml" ContentType="application/vnd.openxmlformats-officedocument.presentationml.slide+xml"/>
  <Override PartName="/ppt/slides/slide575.xml" ContentType="application/vnd.openxmlformats-officedocument.presentationml.slide+xml"/>
  <Override PartName="/ppt/slides/slide576.xml" ContentType="application/vnd.openxmlformats-officedocument.presentationml.slide+xml"/>
  <Override PartName="/ppt/slides/slide577.xml" ContentType="application/vnd.openxmlformats-officedocument.presentationml.slide+xml"/>
  <Override PartName="/ppt/slides/slide578.xml" ContentType="application/vnd.openxmlformats-officedocument.presentationml.slide+xml"/>
  <Override PartName="/ppt/slides/slide579.xml" ContentType="application/vnd.openxmlformats-officedocument.presentationml.slide+xml"/>
  <Override PartName="/ppt/slides/slide58.xml" ContentType="application/vnd.openxmlformats-officedocument.presentationml.slide+xml"/>
  <Override PartName="/ppt/slides/slide580.xml" ContentType="application/vnd.openxmlformats-officedocument.presentationml.slide+xml"/>
  <Override PartName="/ppt/slides/slide581.xml" ContentType="application/vnd.openxmlformats-officedocument.presentationml.slide+xml"/>
  <Override PartName="/ppt/slides/slide582.xml" ContentType="application/vnd.openxmlformats-officedocument.presentationml.slide+xml"/>
  <Override PartName="/ppt/slides/slide583.xml" ContentType="application/vnd.openxmlformats-officedocument.presentationml.slide+xml"/>
  <Override PartName="/ppt/slides/slide584.xml" ContentType="application/vnd.openxmlformats-officedocument.presentationml.slide+xml"/>
  <Override PartName="/ppt/slides/slide585.xml" ContentType="application/vnd.openxmlformats-officedocument.presentationml.slide+xml"/>
  <Override PartName="/ppt/slides/slide586.xml" ContentType="application/vnd.openxmlformats-officedocument.presentationml.slide+xml"/>
  <Override PartName="/ppt/slides/slide587.xml" ContentType="application/vnd.openxmlformats-officedocument.presentationml.slide+xml"/>
  <Override PartName="/ppt/slides/slide588.xml" ContentType="application/vnd.openxmlformats-officedocument.presentationml.slide+xml"/>
  <Override PartName="/ppt/slides/slide589.xml" ContentType="application/vnd.openxmlformats-officedocument.presentationml.slide+xml"/>
  <Override PartName="/ppt/slides/slide59.xml" ContentType="application/vnd.openxmlformats-officedocument.presentationml.slide+xml"/>
  <Override PartName="/ppt/slides/slide590.xml" ContentType="application/vnd.openxmlformats-officedocument.presentationml.slide+xml"/>
  <Override PartName="/ppt/slides/slide591.xml" ContentType="application/vnd.openxmlformats-officedocument.presentationml.slide+xml"/>
  <Override PartName="/ppt/slides/slide592.xml" ContentType="application/vnd.openxmlformats-officedocument.presentationml.slide+xml"/>
  <Override PartName="/ppt/slides/slide593.xml" ContentType="application/vnd.openxmlformats-officedocument.presentationml.slide+xml"/>
  <Override PartName="/ppt/slides/slide594.xml" ContentType="application/vnd.openxmlformats-officedocument.presentationml.slide+xml"/>
  <Override PartName="/ppt/slides/slide595.xml" ContentType="application/vnd.openxmlformats-officedocument.presentationml.slide+xml"/>
  <Override PartName="/ppt/slides/slide596.xml" ContentType="application/vnd.openxmlformats-officedocument.presentationml.slide+xml"/>
  <Override PartName="/ppt/slides/slide597.xml" ContentType="application/vnd.openxmlformats-officedocument.presentationml.slide+xml"/>
  <Override PartName="/ppt/slides/slide598.xml" ContentType="application/vnd.openxmlformats-officedocument.presentationml.slide+xml"/>
  <Override PartName="/ppt/slides/slide59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00.xml" ContentType="application/vnd.openxmlformats-officedocument.presentationml.slide+xml"/>
  <Override PartName="/ppt/slides/slide601.xml" ContentType="application/vnd.openxmlformats-officedocument.presentationml.slide+xml"/>
  <Override PartName="/ppt/slides/slide602.xml" ContentType="application/vnd.openxmlformats-officedocument.presentationml.slide+xml"/>
  <Override PartName="/ppt/slides/slide603.xml" ContentType="application/vnd.openxmlformats-officedocument.presentationml.slide+xml"/>
  <Override PartName="/ppt/slides/slide604.xml" ContentType="application/vnd.openxmlformats-officedocument.presentationml.slide+xml"/>
  <Override PartName="/ppt/slides/slide605.xml" ContentType="application/vnd.openxmlformats-officedocument.presentationml.slide+xml"/>
  <Override PartName="/ppt/slides/slide606.xml" ContentType="application/vnd.openxmlformats-officedocument.presentationml.slide+xml"/>
  <Override PartName="/ppt/slides/slide607.xml" ContentType="application/vnd.openxmlformats-officedocument.presentationml.slide+xml"/>
  <Override PartName="/ppt/slides/slide608.xml" ContentType="application/vnd.openxmlformats-officedocument.presentationml.slide+xml"/>
  <Override PartName="/ppt/slides/slide609.xml" ContentType="application/vnd.openxmlformats-officedocument.presentationml.slide+xml"/>
  <Override PartName="/ppt/slides/slide61.xml" ContentType="application/vnd.openxmlformats-officedocument.presentationml.slide+xml"/>
  <Override PartName="/ppt/slides/slide610.xml" ContentType="application/vnd.openxmlformats-officedocument.presentationml.slide+xml"/>
  <Override PartName="/ppt/slides/slide611.xml" ContentType="application/vnd.openxmlformats-officedocument.presentationml.slide+xml"/>
  <Override PartName="/ppt/slides/slide612.xml" ContentType="application/vnd.openxmlformats-officedocument.presentationml.slide+xml"/>
  <Override PartName="/ppt/slides/slide613.xml" ContentType="application/vnd.openxmlformats-officedocument.presentationml.slide+xml"/>
  <Override PartName="/ppt/slides/slide614.xml" ContentType="application/vnd.openxmlformats-officedocument.presentationml.slide+xml"/>
  <Override PartName="/ppt/slides/slide615.xml" ContentType="application/vnd.openxmlformats-officedocument.presentationml.slide+xml"/>
  <Override PartName="/ppt/slides/slide616.xml" ContentType="application/vnd.openxmlformats-officedocument.presentationml.slide+xml"/>
  <Override PartName="/ppt/slides/slide617.xml" ContentType="application/vnd.openxmlformats-officedocument.presentationml.slide+xml"/>
  <Override PartName="/ppt/slides/slide618.xml" ContentType="application/vnd.openxmlformats-officedocument.presentationml.slide+xml"/>
  <Override PartName="/ppt/slides/slide619.xml" ContentType="application/vnd.openxmlformats-officedocument.presentationml.slide+xml"/>
  <Override PartName="/ppt/slides/slide62.xml" ContentType="application/vnd.openxmlformats-officedocument.presentationml.slide+xml"/>
  <Override PartName="/ppt/slides/slide620.xml" ContentType="application/vnd.openxmlformats-officedocument.presentationml.slide+xml"/>
  <Override PartName="/ppt/slides/slide621.xml" ContentType="application/vnd.openxmlformats-officedocument.presentationml.slide+xml"/>
  <Override PartName="/ppt/slides/slide622.xml" ContentType="application/vnd.openxmlformats-officedocument.presentationml.slide+xml"/>
  <Override PartName="/ppt/slides/slide623.xml" ContentType="application/vnd.openxmlformats-officedocument.presentationml.slide+xml"/>
  <Override PartName="/ppt/slides/slide624.xml" ContentType="application/vnd.openxmlformats-officedocument.presentationml.slide+xml"/>
  <Override PartName="/ppt/slides/slide625.xml" ContentType="application/vnd.openxmlformats-officedocument.presentationml.slide+xml"/>
  <Override PartName="/ppt/slides/slide626.xml" ContentType="application/vnd.openxmlformats-officedocument.presentationml.slide+xml"/>
  <Override PartName="/ppt/slides/slide627.xml" ContentType="application/vnd.openxmlformats-officedocument.presentationml.slide+xml"/>
  <Override PartName="/ppt/slides/slide628.xml" ContentType="application/vnd.openxmlformats-officedocument.presentationml.slide+xml"/>
  <Override PartName="/ppt/slides/slide629.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 id="532" r:id="rId284"/>
    <p:sldId id="533" r:id="rId285"/>
    <p:sldId id="534" r:id="rId286"/>
    <p:sldId id="535" r:id="rId287"/>
    <p:sldId id="536" r:id="rId288"/>
    <p:sldId id="537" r:id="rId289"/>
    <p:sldId id="538" r:id="rId290"/>
    <p:sldId id="539" r:id="rId291"/>
    <p:sldId id="540" r:id="rId292"/>
    <p:sldId id="541" r:id="rId293"/>
    <p:sldId id="542" r:id="rId294"/>
    <p:sldId id="543" r:id="rId295"/>
    <p:sldId id="544" r:id="rId296"/>
    <p:sldId id="545" r:id="rId297"/>
    <p:sldId id="546" r:id="rId298"/>
    <p:sldId id="547" r:id="rId299"/>
    <p:sldId id="548" r:id="rId300"/>
    <p:sldId id="549" r:id="rId301"/>
    <p:sldId id="550" r:id="rId302"/>
    <p:sldId id="551" r:id="rId303"/>
    <p:sldId id="552" r:id="rId304"/>
    <p:sldId id="553" r:id="rId305"/>
    <p:sldId id="554" r:id="rId306"/>
    <p:sldId id="555" r:id="rId307"/>
    <p:sldId id="556" r:id="rId308"/>
    <p:sldId id="557" r:id="rId309"/>
    <p:sldId id="558" r:id="rId310"/>
    <p:sldId id="559" r:id="rId311"/>
    <p:sldId id="560" r:id="rId312"/>
    <p:sldId id="561" r:id="rId313"/>
    <p:sldId id="562" r:id="rId314"/>
    <p:sldId id="563" r:id="rId315"/>
    <p:sldId id="564" r:id="rId316"/>
    <p:sldId id="565" r:id="rId317"/>
    <p:sldId id="566" r:id="rId318"/>
    <p:sldId id="567" r:id="rId319"/>
    <p:sldId id="568" r:id="rId320"/>
    <p:sldId id="569" r:id="rId321"/>
    <p:sldId id="570" r:id="rId322"/>
    <p:sldId id="571" r:id="rId323"/>
    <p:sldId id="572" r:id="rId324"/>
    <p:sldId id="573" r:id="rId325"/>
    <p:sldId id="574" r:id="rId326"/>
    <p:sldId id="575" r:id="rId327"/>
    <p:sldId id="576" r:id="rId328"/>
    <p:sldId id="577" r:id="rId329"/>
    <p:sldId id="578" r:id="rId330"/>
    <p:sldId id="579" r:id="rId331"/>
    <p:sldId id="580" r:id="rId332"/>
    <p:sldId id="581" r:id="rId333"/>
    <p:sldId id="582" r:id="rId334"/>
    <p:sldId id="583" r:id="rId335"/>
    <p:sldId id="584" r:id="rId336"/>
    <p:sldId id="585" r:id="rId337"/>
    <p:sldId id="586" r:id="rId338"/>
    <p:sldId id="587" r:id="rId339"/>
    <p:sldId id="588" r:id="rId340"/>
    <p:sldId id="589" r:id="rId341"/>
    <p:sldId id="590" r:id="rId342"/>
    <p:sldId id="591" r:id="rId343"/>
    <p:sldId id="592" r:id="rId344"/>
    <p:sldId id="593" r:id="rId345"/>
    <p:sldId id="594" r:id="rId346"/>
    <p:sldId id="595" r:id="rId347"/>
    <p:sldId id="596" r:id="rId348"/>
    <p:sldId id="597" r:id="rId349"/>
    <p:sldId id="598" r:id="rId350"/>
    <p:sldId id="599" r:id="rId351"/>
    <p:sldId id="600" r:id="rId352"/>
    <p:sldId id="601" r:id="rId353"/>
    <p:sldId id="602" r:id="rId354"/>
    <p:sldId id="603" r:id="rId355"/>
    <p:sldId id="604" r:id="rId356"/>
    <p:sldId id="605" r:id="rId357"/>
    <p:sldId id="606" r:id="rId358"/>
    <p:sldId id="607" r:id="rId359"/>
    <p:sldId id="608" r:id="rId360"/>
    <p:sldId id="609" r:id="rId361"/>
    <p:sldId id="610" r:id="rId362"/>
    <p:sldId id="611" r:id="rId363"/>
    <p:sldId id="612" r:id="rId364"/>
    <p:sldId id="613" r:id="rId365"/>
    <p:sldId id="614" r:id="rId366"/>
    <p:sldId id="615" r:id="rId367"/>
    <p:sldId id="616" r:id="rId368"/>
    <p:sldId id="617" r:id="rId369"/>
    <p:sldId id="618" r:id="rId370"/>
    <p:sldId id="619" r:id="rId371"/>
    <p:sldId id="620" r:id="rId372"/>
    <p:sldId id="621" r:id="rId373"/>
    <p:sldId id="622" r:id="rId374"/>
    <p:sldId id="623" r:id="rId375"/>
    <p:sldId id="624" r:id="rId376"/>
    <p:sldId id="625" r:id="rId377"/>
    <p:sldId id="626" r:id="rId378"/>
    <p:sldId id="627" r:id="rId379"/>
    <p:sldId id="628" r:id="rId380"/>
    <p:sldId id="629" r:id="rId381"/>
    <p:sldId id="630" r:id="rId382"/>
    <p:sldId id="631" r:id="rId383"/>
    <p:sldId id="632" r:id="rId384"/>
    <p:sldId id="633" r:id="rId385"/>
    <p:sldId id="634" r:id="rId386"/>
    <p:sldId id="635" r:id="rId387"/>
    <p:sldId id="636" r:id="rId388"/>
    <p:sldId id="637" r:id="rId389"/>
    <p:sldId id="638" r:id="rId390"/>
    <p:sldId id="639" r:id="rId391"/>
    <p:sldId id="640" r:id="rId392"/>
    <p:sldId id="641" r:id="rId393"/>
    <p:sldId id="642" r:id="rId394"/>
    <p:sldId id="643" r:id="rId395"/>
    <p:sldId id="644" r:id="rId396"/>
    <p:sldId id="645" r:id="rId397"/>
    <p:sldId id="646" r:id="rId398"/>
    <p:sldId id="647" r:id="rId399"/>
    <p:sldId id="648" r:id="rId400"/>
    <p:sldId id="649" r:id="rId401"/>
    <p:sldId id="650" r:id="rId402"/>
    <p:sldId id="651" r:id="rId403"/>
    <p:sldId id="652" r:id="rId404"/>
    <p:sldId id="653" r:id="rId405"/>
    <p:sldId id="654" r:id="rId406"/>
    <p:sldId id="655" r:id="rId407"/>
    <p:sldId id="656" r:id="rId408"/>
    <p:sldId id="657" r:id="rId409"/>
    <p:sldId id="658" r:id="rId410"/>
    <p:sldId id="659" r:id="rId411"/>
    <p:sldId id="660" r:id="rId412"/>
    <p:sldId id="661" r:id="rId413"/>
    <p:sldId id="662" r:id="rId414"/>
    <p:sldId id="663" r:id="rId415"/>
    <p:sldId id="664" r:id="rId416"/>
    <p:sldId id="665" r:id="rId417"/>
    <p:sldId id="666" r:id="rId418"/>
    <p:sldId id="667" r:id="rId419"/>
    <p:sldId id="668" r:id="rId420"/>
    <p:sldId id="669" r:id="rId421"/>
    <p:sldId id="670" r:id="rId422"/>
    <p:sldId id="671" r:id="rId423"/>
    <p:sldId id="672" r:id="rId424"/>
    <p:sldId id="673" r:id="rId425"/>
    <p:sldId id="674" r:id="rId426"/>
    <p:sldId id="675" r:id="rId427"/>
    <p:sldId id="676" r:id="rId428"/>
    <p:sldId id="677" r:id="rId429"/>
    <p:sldId id="678" r:id="rId430"/>
    <p:sldId id="679" r:id="rId431"/>
    <p:sldId id="680" r:id="rId432"/>
    <p:sldId id="681" r:id="rId433"/>
    <p:sldId id="682" r:id="rId434"/>
    <p:sldId id="683" r:id="rId435"/>
    <p:sldId id="684" r:id="rId436"/>
    <p:sldId id="685" r:id="rId437"/>
    <p:sldId id="686" r:id="rId438"/>
    <p:sldId id="687" r:id="rId439"/>
    <p:sldId id="688" r:id="rId440"/>
    <p:sldId id="689" r:id="rId441"/>
    <p:sldId id="690" r:id="rId442"/>
    <p:sldId id="691" r:id="rId443"/>
    <p:sldId id="692" r:id="rId444"/>
    <p:sldId id="693" r:id="rId445"/>
    <p:sldId id="694" r:id="rId446"/>
    <p:sldId id="695" r:id="rId447"/>
    <p:sldId id="696" r:id="rId448"/>
    <p:sldId id="697" r:id="rId449"/>
    <p:sldId id="698" r:id="rId450"/>
    <p:sldId id="699" r:id="rId451"/>
    <p:sldId id="700" r:id="rId452"/>
    <p:sldId id="701" r:id="rId453"/>
    <p:sldId id="702" r:id="rId454"/>
    <p:sldId id="703" r:id="rId455"/>
    <p:sldId id="704" r:id="rId456"/>
    <p:sldId id="705" r:id="rId457"/>
    <p:sldId id="706" r:id="rId458"/>
    <p:sldId id="707" r:id="rId459"/>
    <p:sldId id="708" r:id="rId460"/>
    <p:sldId id="709" r:id="rId461"/>
    <p:sldId id="710" r:id="rId462"/>
    <p:sldId id="711" r:id="rId463"/>
    <p:sldId id="712" r:id="rId464"/>
    <p:sldId id="713" r:id="rId465"/>
    <p:sldId id="714" r:id="rId466"/>
    <p:sldId id="715" r:id="rId467"/>
    <p:sldId id="716" r:id="rId468"/>
    <p:sldId id="717" r:id="rId469"/>
    <p:sldId id="718" r:id="rId470"/>
    <p:sldId id="719" r:id="rId471"/>
    <p:sldId id="720" r:id="rId472"/>
    <p:sldId id="721" r:id="rId473"/>
    <p:sldId id="722" r:id="rId474"/>
    <p:sldId id="723" r:id="rId475"/>
    <p:sldId id="724" r:id="rId476"/>
    <p:sldId id="725" r:id="rId477"/>
    <p:sldId id="726" r:id="rId478"/>
    <p:sldId id="727" r:id="rId479"/>
    <p:sldId id="728" r:id="rId480"/>
    <p:sldId id="729" r:id="rId481"/>
    <p:sldId id="730" r:id="rId482"/>
    <p:sldId id="731" r:id="rId483"/>
    <p:sldId id="732" r:id="rId484"/>
    <p:sldId id="733" r:id="rId485"/>
    <p:sldId id="734" r:id="rId486"/>
    <p:sldId id="735" r:id="rId487"/>
    <p:sldId id="736" r:id="rId488"/>
    <p:sldId id="737" r:id="rId489"/>
    <p:sldId id="738" r:id="rId490"/>
    <p:sldId id="739" r:id="rId491"/>
    <p:sldId id="740" r:id="rId492"/>
    <p:sldId id="741" r:id="rId493"/>
    <p:sldId id="742" r:id="rId494"/>
    <p:sldId id="743" r:id="rId495"/>
    <p:sldId id="744" r:id="rId496"/>
    <p:sldId id="745" r:id="rId497"/>
    <p:sldId id="746" r:id="rId498"/>
    <p:sldId id="747" r:id="rId499"/>
    <p:sldId id="748" r:id="rId500"/>
    <p:sldId id="749" r:id="rId501"/>
    <p:sldId id="750" r:id="rId502"/>
    <p:sldId id="751" r:id="rId503"/>
    <p:sldId id="752" r:id="rId504"/>
    <p:sldId id="753" r:id="rId505"/>
    <p:sldId id="754" r:id="rId506"/>
    <p:sldId id="755" r:id="rId507"/>
    <p:sldId id="756" r:id="rId508"/>
    <p:sldId id="757" r:id="rId509"/>
    <p:sldId id="758" r:id="rId510"/>
    <p:sldId id="759" r:id="rId511"/>
    <p:sldId id="760" r:id="rId512"/>
    <p:sldId id="761" r:id="rId513"/>
    <p:sldId id="762" r:id="rId514"/>
    <p:sldId id="763" r:id="rId515"/>
    <p:sldId id="764" r:id="rId516"/>
    <p:sldId id="765" r:id="rId517"/>
    <p:sldId id="766" r:id="rId518"/>
    <p:sldId id="767" r:id="rId519"/>
    <p:sldId id="768" r:id="rId520"/>
    <p:sldId id="769" r:id="rId521"/>
    <p:sldId id="770" r:id="rId522"/>
    <p:sldId id="771" r:id="rId523"/>
    <p:sldId id="772" r:id="rId524"/>
    <p:sldId id="773" r:id="rId525"/>
    <p:sldId id="774" r:id="rId526"/>
    <p:sldId id="775" r:id="rId527"/>
    <p:sldId id="776" r:id="rId528"/>
    <p:sldId id="777" r:id="rId529"/>
    <p:sldId id="778" r:id="rId530"/>
    <p:sldId id="779" r:id="rId531"/>
    <p:sldId id="780" r:id="rId532"/>
    <p:sldId id="781" r:id="rId533"/>
    <p:sldId id="782" r:id="rId534"/>
    <p:sldId id="783" r:id="rId535"/>
    <p:sldId id="784" r:id="rId536"/>
    <p:sldId id="785" r:id="rId537"/>
    <p:sldId id="786" r:id="rId538"/>
    <p:sldId id="787" r:id="rId539"/>
    <p:sldId id="788" r:id="rId540"/>
    <p:sldId id="789" r:id="rId541"/>
    <p:sldId id="790" r:id="rId542"/>
    <p:sldId id="791" r:id="rId543"/>
    <p:sldId id="792" r:id="rId544"/>
    <p:sldId id="793" r:id="rId545"/>
    <p:sldId id="794" r:id="rId546"/>
    <p:sldId id="795" r:id="rId547"/>
    <p:sldId id="796" r:id="rId548"/>
    <p:sldId id="797" r:id="rId549"/>
    <p:sldId id="798" r:id="rId550"/>
    <p:sldId id="799" r:id="rId551"/>
    <p:sldId id="800" r:id="rId552"/>
    <p:sldId id="801" r:id="rId553"/>
    <p:sldId id="802" r:id="rId554"/>
    <p:sldId id="803" r:id="rId555"/>
    <p:sldId id="804" r:id="rId556"/>
    <p:sldId id="805" r:id="rId557"/>
    <p:sldId id="806" r:id="rId558"/>
    <p:sldId id="807" r:id="rId559"/>
    <p:sldId id="808" r:id="rId560"/>
    <p:sldId id="809" r:id="rId561"/>
    <p:sldId id="810" r:id="rId562"/>
    <p:sldId id="811" r:id="rId563"/>
    <p:sldId id="812" r:id="rId564"/>
    <p:sldId id="813" r:id="rId565"/>
    <p:sldId id="814" r:id="rId566"/>
    <p:sldId id="815" r:id="rId567"/>
    <p:sldId id="816" r:id="rId568"/>
    <p:sldId id="817" r:id="rId569"/>
    <p:sldId id="818" r:id="rId570"/>
    <p:sldId id="819" r:id="rId571"/>
    <p:sldId id="820" r:id="rId572"/>
    <p:sldId id="821" r:id="rId573"/>
    <p:sldId id="822" r:id="rId574"/>
    <p:sldId id="823" r:id="rId575"/>
    <p:sldId id="824" r:id="rId576"/>
    <p:sldId id="825" r:id="rId577"/>
    <p:sldId id="826" r:id="rId578"/>
    <p:sldId id="827" r:id="rId579"/>
    <p:sldId id="828" r:id="rId580"/>
    <p:sldId id="829" r:id="rId581"/>
    <p:sldId id="830" r:id="rId582"/>
    <p:sldId id="831" r:id="rId583"/>
    <p:sldId id="832" r:id="rId584"/>
    <p:sldId id="833" r:id="rId585"/>
    <p:sldId id="834" r:id="rId586"/>
    <p:sldId id="835" r:id="rId587"/>
    <p:sldId id="836" r:id="rId588"/>
    <p:sldId id="837" r:id="rId589"/>
    <p:sldId id="838" r:id="rId590"/>
    <p:sldId id="839" r:id="rId591"/>
    <p:sldId id="840" r:id="rId592"/>
    <p:sldId id="841" r:id="rId593"/>
    <p:sldId id="842" r:id="rId594"/>
    <p:sldId id="843" r:id="rId595"/>
    <p:sldId id="844" r:id="rId596"/>
    <p:sldId id="845" r:id="rId597"/>
    <p:sldId id="846" r:id="rId598"/>
    <p:sldId id="847" r:id="rId599"/>
    <p:sldId id="848" r:id="rId600"/>
    <p:sldId id="849" r:id="rId601"/>
    <p:sldId id="850" r:id="rId602"/>
    <p:sldId id="851" r:id="rId603"/>
    <p:sldId id="852" r:id="rId604"/>
    <p:sldId id="853" r:id="rId605"/>
    <p:sldId id="854" r:id="rId606"/>
    <p:sldId id="855" r:id="rId607"/>
    <p:sldId id="856" r:id="rId608"/>
    <p:sldId id="857" r:id="rId609"/>
    <p:sldId id="858" r:id="rId610"/>
    <p:sldId id="859" r:id="rId611"/>
    <p:sldId id="860" r:id="rId612"/>
    <p:sldId id="861" r:id="rId613"/>
    <p:sldId id="862" r:id="rId614"/>
    <p:sldId id="863" r:id="rId615"/>
    <p:sldId id="864" r:id="rId616"/>
    <p:sldId id="865" r:id="rId617"/>
    <p:sldId id="866" r:id="rId618"/>
    <p:sldId id="867" r:id="rId619"/>
    <p:sldId id="868" r:id="rId620"/>
    <p:sldId id="869" r:id="rId621"/>
    <p:sldId id="870" r:id="rId622"/>
    <p:sldId id="871" r:id="rId623"/>
    <p:sldId id="872" r:id="rId624"/>
    <p:sldId id="873" r:id="rId625"/>
    <p:sldId id="874" r:id="rId626"/>
    <p:sldId id="875" r:id="rId627"/>
    <p:sldId id="876" r:id="rId628"/>
    <p:sldId id="877" r:id="rId629"/>
    <p:sldId id="878" r:id="rId630"/>
    <p:sldId id="879" r:id="rId631"/>
    <p:sldId id="880" r:id="rId632"/>
    <p:sldId id="881" r:id="rId633"/>
    <p:sldId id="882" r:id="rId634"/>
    <p:sldId id="883" r:id="rId635"/>
    <p:sldId id="884" r:id="rId6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 Id="rId284" Type="http://schemas.openxmlformats.org/officeDocument/2006/relationships/slide" Target="slides/slide277.xml"/><Relationship Id="rId285" Type="http://schemas.openxmlformats.org/officeDocument/2006/relationships/slide" Target="slides/slide278.xml"/><Relationship Id="rId286" Type="http://schemas.openxmlformats.org/officeDocument/2006/relationships/slide" Target="slides/slide279.xml"/><Relationship Id="rId287" Type="http://schemas.openxmlformats.org/officeDocument/2006/relationships/slide" Target="slides/slide280.xml"/><Relationship Id="rId288" Type="http://schemas.openxmlformats.org/officeDocument/2006/relationships/slide" Target="slides/slide281.xml"/><Relationship Id="rId289" Type="http://schemas.openxmlformats.org/officeDocument/2006/relationships/slide" Target="slides/slide282.xml"/><Relationship Id="rId290" Type="http://schemas.openxmlformats.org/officeDocument/2006/relationships/slide" Target="slides/slide283.xml"/><Relationship Id="rId291" Type="http://schemas.openxmlformats.org/officeDocument/2006/relationships/slide" Target="slides/slide284.xml"/><Relationship Id="rId292" Type="http://schemas.openxmlformats.org/officeDocument/2006/relationships/slide" Target="slides/slide285.xml"/><Relationship Id="rId293" Type="http://schemas.openxmlformats.org/officeDocument/2006/relationships/slide" Target="slides/slide286.xml"/><Relationship Id="rId294" Type="http://schemas.openxmlformats.org/officeDocument/2006/relationships/slide" Target="slides/slide287.xml"/><Relationship Id="rId295" Type="http://schemas.openxmlformats.org/officeDocument/2006/relationships/slide" Target="slides/slide288.xml"/><Relationship Id="rId296" Type="http://schemas.openxmlformats.org/officeDocument/2006/relationships/slide" Target="slides/slide289.xml"/><Relationship Id="rId297" Type="http://schemas.openxmlformats.org/officeDocument/2006/relationships/slide" Target="slides/slide290.xml"/><Relationship Id="rId298" Type="http://schemas.openxmlformats.org/officeDocument/2006/relationships/slide" Target="slides/slide291.xml"/><Relationship Id="rId299" Type="http://schemas.openxmlformats.org/officeDocument/2006/relationships/slide" Target="slides/slide292.xml"/><Relationship Id="rId300" Type="http://schemas.openxmlformats.org/officeDocument/2006/relationships/slide" Target="slides/slide293.xml"/><Relationship Id="rId301" Type="http://schemas.openxmlformats.org/officeDocument/2006/relationships/slide" Target="slides/slide294.xml"/><Relationship Id="rId302" Type="http://schemas.openxmlformats.org/officeDocument/2006/relationships/slide" Target="slides/slide295.xml"/><Relationship Id="rId303" Type="http://schemas.openxmlformats.org/officeDocument/2006/relationships/slide" Target="slides/slide296.xml"/><Relationship Id="rId304" Type="http://schemas.openxmlformats.org/officeDocument/2006/relationships/slide" Target="slides/slide297.xml"/><Relationship Id="rId305" Type="http://schemas.openxmlformats.org/officeDocument/2006/relationships/slide" Target="slides/slide298.xml"/><Relationship Id="rId306" Type="http://schemas.openxmlformats.org/officeDocument/2006/relationships/slide" Target="slides/slide299.xml"/><Relationship Id="rId307" Type="http://schemas.openxmlformats.org/officeDocument/2006/relationships/slide" Target="slides/slide300.xml"/><Relationship Id="rId308" Type="http://schemas.openxmlformats.org/officeDocument/2006/relationships/slide" Target="slides/slide301.xml"/><Relationship Id="rId309" Type="http://schemas.openxmlformats.org/officeDocument/2006/relationships/slide" Target="slides/slide302.xml"/><Relationship Id="rId310" Type="http://schemas.openxmlformats.org/officeDocument/2006/relationships/slide" Target="slides/slide303.xml"/><Relationship Id="rId311" Type="http://schemas.openxmlformats.org/officeDocument/2006/relationships/slide" Target="slides/slide304.xml"/><Relationship Id="rId312" Type="http://schemas.openxmlformats.org/officeDocument/2006/relationships/slide" Target="slides/slide305.xml"/><Relationship Id="rId313" Type="http://schemas.openxmlformats.org/officeDocument/2006/relationships/slide" Target="slides/slide306.xml"/><Relationship Id="rId314" Type="http://schemas.openxmlformats.org/officeDocument/2006/relationships/slide" Target="slides/slide307.xml"/><Relationship Id="rId315" Type="http://schemas.openxmlformats.org/officeDocument/2006/relationships/slide" Target="slides/slide308.xml"/><Relationship Id="rId316" Type="http://schemas.openxmlformats.org/officeDocument/2006/relationships/slide" Target="slides/slide309.xml"/><Relationship Id="rId317" Type="http://schemas.openxmlformats.org/officeDocument/2006/relationships/slide" Target="slides/slide310.xml"/><Relationship Id="rId318" Type="http://schemas.openxmlformats.org/officeDocument/2006/relationships/slide" Target="slides/slide311.xml"/><Relationship Id="rId319" Type="http://schemas.openxmlformats.org/officeDocument/2006/relationships/slide" Target="slides/slide312.xml"/><Relationship Id="rId320" Type="http://schemas.openxmlformats.org/officeDocument/2006/relationships/slide" Target="slides/slide313.xml"/><Relationship Id="rId321" Type="http://schemas.openxmlformats.org/officeDocument/2006/relationships/slide" Target="slides/slide314.xml"/><Relationship Id="rId322" Type="http://schemas.openxmlformats.org/officeDocument/2006/relationships/slide" Target="slides/slide315.xml"/><Relationship Id="rId323" Type="http://schemas.openxmlformats.org/officeDocument/2006/relationships/slide" Target="slides/slide316.xml"/><Relationship Id="rId324" Type="http://schemas.openxmlformats.org/officeDocument/2006/relationships/slide" Target="slides/slide317.xml"/><Relationship Id="rId325" Type="http://schemas.openxmlformats.org/officeDocument/2006/relationships/slide" Target="slides/slide318.xml"/><Relationship Id="rId326" Type="http://schemas.openxmlformats.org/officeDocument/2006/relationships/slide" Target="slides/slide319.xml"/><Relationship Id="rId327" Type="http://schemas.openxmlformats.org/officeDocument/2006/relationships/slide" Target="slides/slide320.xml"/><Relationship Id="rId328" Type="http://schemas.openxmlformats.org/officeDocument/2006/relationships/slide" Target="slides/slide321.xml"/><Relationship Id="rId329" Type="http://schemas.openxmlformats.org/officeDocument/2006/relationships/slide" Target="slides/slide322.xml"/><Relationship Id="rId330" Type="http://schemas.openxmlformats.org/officeDocument/2006/relationships/slide" Target="slides/slide323.xml"/><Relationship Id="rId331" Type="http://schemas.openxmlformats.org/officeDocument/2006/relationships/slide" Target="slides/slide324.xml"/><Relationship Id="rId332" Type="http://schemas.openxmlformats.org/officeDocument/2006/relationships/slide" Target="slides/slide325.xml"/><Relationship Id="rId333" Type="http://schemas.openxmlformats.org/officeDocument/2006/relationships/slide" Target="slides/slide326.xml"/><Relationship Id="rId334" Type="http://schemas.openxmlformats.org/officeDocument/2006/relationships/slide" Target="slides/slide327.xml"/><Relationship Id="rId335" Type="http://schemas.openxmlformats.org/officeDocument/2006/relationships/slide" Target="slides/slide328.xml"/><Relationship Id="rId336" Type="http://schemas.openxmlformats.org/officeDocument/2006/relationships/slide" Target="slides/slide329.xml"/><Relationship Id="rId337" Type="http://schemas.openxmlformats.org/officeDocument/2006/relationships/slide" Target="slides/slide330.xml"/><Relationship Id="rId338" Type="http://schemas.openxmlformats.org/officeDocument/2006/relationships/slide" Target="slides/slide331.xml"/><Relationship Id="rId339" Type="http://schemas.openxmlformats.org/officeDocument/2006/relationships/slide" Target="slides/slide332.xml"/><Relationship Id="rId340" Type="http://schemas.openxmlformats.org/officeDocument/2006/relationships/slide" Target="slides/slide333.xml"/><Relationship Id="rId341" Type="http://schemas.openxmlformats.org/officeDocument/2006/relationships/slide" Target="slides/slide334.xml"/><Relationship Id="rId342" Type="http://schemas.openxmlformats.org/officeDocument/2006/relationships/slide" Target="slides/slide335.xml"/><Relationship Id="rId343" Type="http://schemas.openxmlformats.org/officeDocument/2006/relationships/slide" Target="slides/slide336.xml"/><Relationship Id="rId344" Type="http://schemas.openxmlformats.org/officeDocument/2006/relationships/slide" Target="slides/slide337.xml"/><Relationship Id="rId345" Type="http://schemas.openxmlformats.org/officeDocument/2006/relationships/slide" Target="slides/slide338.xml"/><Relationship Id="rId346" Type="http://schemas.openxmlformats.org/officeDocument/2006/relationships/slide" Target="slides/slide339.xml"/><Relationship Id="rId347" Type="http://schemas.openxmlformats.org/officeDocument/2006/relationships/slide" Target="slides/slide340.xml"/><Relationship Id="rId348" Type="http://schemas.openxmlformats.org/officeDocument/2006/relationships/slide" Target="slides/slide341.xml"/><Relationship Id="rId349" Type="http://schemas.openxmlformats.org/officeDocument/2006/relationships/slide" Target="slides/slide342.xml"/><Relationship Id="rId350" Type="http://schemas.openxmlformats.org/officeDocument/2006/relationships/slide" Target="slides/slide343.xml"/><Relationship Id="rId351" Type="http://schemas.openxmlformats.org/officeDocument/2006/relationships/slide" Target="slides/slide344.xml"/><Relationship Id="rId352" Type="http://schemas.openxmlformats.org/officeDocument/2006/relationships/slide" Target="slides/slide345.xml"/><Relationship Id="rId353" Type="http://schemas.openxmlformats.org/officeDocument/2006/relationships/slide" Target="slides/slide346.xml"/><Relationship Id="rId354" Type="http://schemas.openxmlformats.org/officeDocument/2006/relationships/slide" Target="slides/slide347.xml"/><Relationship Id="rId355" Type="http://schemas.openxmlformats.org/officeDocument/2006/relationships/slide" Target="slides/slide348.xml"/><Relationship Id="rId356" Type="http://schemas.openxmlformats.org/officeDocument/2006/relationships/slide" Target="slides/slide349.xml"/><Relationship Id="rId357" Type="http://schemas.openxmlformats.org/officeDocument/2006/relationships/slide" Target="slides/slide350.xml"/><Relationship Id="rId358" Type="http://schemas.openxmlformats.org/officeDocument/2006/relationships/slide" Target="slides/slide351.xml"/><Relationship Id="rId359" Type="http://schemas.openxmlformats.org/officeDocument/2006/relationships/slide" Target="slides/slide352.xml"/><Relationship Id="rId360" Type="http://schemas.openxmlformats.org/officeDocument/2006/relationships/slide" Target="slides/slide353.xml"/><Relationship Id="rId361" Type="http://schemas.openxmlformats.org/officeDocument/2006/relationships/slide" Target="slides/slide354.xml"/><Relationship Id="rId362" Type="http://schemas.openxmlformats.org/officeDocument/2006/relationships/slide" Target="slides/slide355.xml"/><Relationship Id="rId363" Type="http://schemas.openxmlformats.org/officeDocument/2006/relationships/slide" Target="slides/slide356.xml"/><Relationship Id="rId364" Type="http://schemas.openxmlformats.org/officeDocument/2006/relationships/slide" Target="slides/slide357.xml"/><Relationship Id="rId365" Type="http://schemas.openxmlformats.org/officeDocument/2006/relationships/slide" Target="slides/slide358.xml"/><Relationship Id="rId366" Type="http://schemas.openxmlformats.org/officeDocument/2006/relationships/slide" Target="slides/slide359.xml"/><Relationship Id="rId367" Type="http://schemas.openxmlformats.org/officeDocument/2006/relationships/slide" Target="slides/slide360.xml"/><Relationship Id="rId368" Type="http://schemas.openxmlformats.org/officeDocument/2006/relationships/slide" Target="slides/slide361.xml"/><Relationship Id="rId369" Type="http://schemas.openxmlformats.org/officeDocument/2006/relationships/slide" Target="slides/slide362.xml"/><Relationship Id="rId370" Type="http://schemas.openxmlformats.org/officeDocument/2006/relationships/slide" Target="slides/slide363.xml"/><Relationship Id="rId371" Type="http://schemas.openxmlformats.org/officeDocument/2006/relationships/slide" Target="slides/slide364.xml"/><Relationship Id="rId372" Type="http://schemas.openxmlformats.org/officeDocument/2006/relationships/slide" Target="slides/slide365.xml"/><Relationship Id="rId373" Type="http://schemas.openxmlformats.org/officeDocument/2006/relationships/slide" Target="slides/slide366.xml"/><Relationship Id="rId374" Type="http://schemas.openxmlformats.org/officeDocument/2006/relationships/slide" Target="slides/slide367.xml"/><Relationship Id="rId375" Type="http://schemas.openxmlformats.org/officeDocument/2006/relationships/slide" Target="slides/slide368.xml"/><Relationship Id="rId376" Type="http://schemas.openxmlformats.org/officeDocument/2006/relationships/slide" Target="slides/slide369.xml"/><Relationship Id="rId377" Type="http://schemas.openxmlformats.org/officeDocument/2006/relationships/slide" Target="slides/slide370.xml"/><Relationship Id="rId378" Type="http://schemas.openxmlformats.org/officeDocument/2006/relationships/slide" Target="slides/slide371.xml"/><Relationship Id="rId379" Type="http://schemas.openxmlformats.org/officeDocument/2006/relationships/slide" Target="slides/slide372.xml"/><Relationship Id="rId380" Type="http://schemas.openxmlformats.org/officeDocument/2006/relationships/slide" Target="slides/slide373.xml"/><Relationship Id="rId381" Type="http://schemas.openxmlformats.org/officeDocument/2006/relationships/slide" Target="slides/slide374.xml"/><Relationship Id="rId382" Type="http://schemas.openxmlformats.org/officeDocument/2006/relationships/slide" Target="slides/slide375.xml"/><Relationship Id="rId383" Type="http://schemas.openxmlformats.org/officeDocument/2006/relationships/slide" Target="slides/slide376.xml"/><Relationship Id="rId384" Type="http://schemas.openxmlformats.org/officeDocument/2006/relationships/slide" Target="slides/slide377.xml"/><Relationship Id="rId385" Type="http://schemas.openxmlformats.org/officeDocument/2006/relationships/slide" Target="slides/slide378.xml"/><Relationship Id="rId386" Type="http://schemas.openxmlformats.org/officeDocument/2006/relationships/slide" Target="slides/slide379.xml"/><Relationship Id="rId387" Type="http://schemas.openxmlformats.org/officeDocument/2006/relationships/slide" Target="slides/slide380.xml"/><Relationship Id="rId388" Type="http://schemas.openxmlformats.org/officeDocument/2006/relationships/slide" Target="slides/slide381.xml"/><Relationship Id="rId389" Type="http://schemas.openxmlformats.org/officeDocument/2006/relationships/slide" Target="slides/slide382.xml"/><Relationship Id="rId390" Type="http://schemas.openxmlformats.org/officeDocument/2006/relationships/slide" Target="slides/slide383.xml"/><Relationship Id="rId391" Type="http://schemas.openxmlformats.org/officeDocument/2006/relationships/slide" Target="slides/slide384.xml"/><Relationship Id="rId392" Type="http://schemas.openxmlformats.org/officeDocument/2006/relationships/slide" Target="slides/slide385.xml"/><Relationship Id="rId393" Type="http://schemas.openxmlformats.org/officeDocument/2006/relationships/slide" Target="slides/slide386.xml"/><Relationship Id="rId394" Type="http://schemas.openxmlformats.org/officeDocument/2006/relationships/slide" Target="slides/slide387.xml"/><Relationship Id="rId395" Type="http://schemas.openxmlformats.org/officeDocument/2006/relationships/slide" Target="slides/slide388.xml"/><Relationship Id="rId396" Type="http://schemas.openxmlformats.org/officeDocument/2006/relationships/slide" Target="slides/slide389.xml"/><Relationship Id="rId397" Type="http://schemas.openxmlformats.org/officeDocument/2006/relationships/slide" Target="slides/slide390.xml"/><Relationship Id="rId398" Type="http://schemas.openxmlformats.org/officeDocument/2006/relationships/slide" Target="slides/slide391.xml"/><Relationship Id="rId399" Type="http://schemas.openxmlformats.org/officeDocument/2006/relationships/slide" Target="slides/slide392.xml"/><Relationship Id="rId400" Type="http://schemas.openxmlformats.org/officeDocument/2006/relationships/slide" Target="slides/slide393.xml"/><Relationship Id="rId401" Type="http://schemas.openxmlformats.org/officeDocument/2006/relationships/slide" Target="slides/slide394.xml"/><Relationship Id="rId402" Type="http://schemas.openxmlformats.org/officeDocument/2006/relationships/slide" Target="slides/slide395.xml"/><Relationship Id="rId403" Type="http://schemas.openxmlformats.org/officeDocument/2006/relationships/slide" Target="slides/slide396.xml"/><Relationship Id="rId404" Type="http://schemas.openxmlformats.org/officeDocument/2006/relationships/slide" Target="slides/slide397.xml"/><Relationship Id="rId405" Type="http://schemas.openxmlformats.org/officeDocument/2006/relationships/slide" Target="slides/slide398.xml"/><Relationship Id="rId406" Type="http://schemas.openxmlformats.org/officeDocument/2006/relationships/slide" Target="slides/slide399.xml"/><Relationship Id="rId407" Type="http://schemas.openxmlformats.org/officeDocument/2006/relationships/slide" Target="slides/slide400.xml"/><Relationship Id="rId408" Type="http://schemas.openxmlformats.org/officeDocument/2006/relationships/slide" Target="slides/slide401.xml"/><Relationship Id="rId409" Type="http://schemas.openxmlformats.org/officeDocument/2006/relationships/slide" Target="slides/slide402.xml"/><Relationship Id="rId410" Type="http://schemas.openxmlformats.org/officeDocument/2006/relationships/slide" Target="slides/slide403.xml"/><Relationship Id="rId411" Type="http://schemas.openxmlformats.org/officeDocument/2006/relationships/slide" Target="slides/slide404.xml"/><Relationship Id="rId412" Type="http://schemas.openxmlformats.org/officeDocument/2006/relationships/slide" Target="slides/slide405.xml"/><Relationship Id="rId413" Type="http://schemas.openxmlformats.org/officeDocument/2006/relationships/slide" Target="slides/slide406.xml"/><Relationship Id="rId414" Type="http://schemas.openxmlformats.org/officeDocument/2006/relationships/slide" Target="slides/slide407.xml"/><Relationship Id="rId415" Type="http://schemas.openxmlformats.org/officeDocument/2006/relationships/slide" Target="slides/slide408.xml"/><Relationship Id="rId416" Type="http://schemas.openxmlformats.org/officeDocument/2006/relationships/slide" Target="slides/slide409.xml"/><Relationship Id="rId417" Type="http://schemas.openxmlformats.org/officeDocument/2006/relationships/slide" Target="slides/slide410.xml"/><Relationship Id="rId418" Type="http://schemas.openxmlformats.org/officeDocument/2006/relationships/slide" Target="slides/slide411.xml"/><Relationship Id="rId419" Type="http://schemas.openxmlformats.org/officeDocument/2006/relationships/slide" Target="slides/slide412.xml"/><Relationship Id="rId420" Type="http://schemas.openxmlformats.org/officeDocument/2006/relationships/slide" Target="slides/slide413.xml"/><Relationship Id="rId421" Type="http://schemas.openxmlformats.org/officeDocument/2006/relationships/slide" Target="slides/slide414.xml"/><Relationship Id="rId422" Type="http://schemas.openxmlformats.org/officeDocument/2006/relationships/slide" Target="slides/slide415.xml"/><Relationship Id="rId423" Type="http://schemas.openxmlformats.org/officeDocument/2006/relationships/slide" Target="slides/slide416.xml"/><Relationship Id="rId424" Type="http://schemas.openxmlformats.org/officeDocument/2006/relationships/slide" Target="slides/slide417.xml"/><Relationship Id="rId425" Type="http://schemas.openxmlformats.org/officeDocument/2006/relationships/slide" Target="slides/slide418.xml"/><Relationship Id="rId426" Type="http://schemas.openxmlformats.org/officeDocument/2006/relationships/slide" Target="slides/slide419.xml"/><Relationship Id="rId427" Type="http://schemas.openxmlformats.org/officeDocument/2006/relationships/slide" Target="slides/slide420.xml"/><Relationship Id="rId428" Type="http://schemas.openxmlformats.org/officeDocument/2006/relationships/slide" Target="slides/slide421.xml"/><Relationship Id="rId429" Type="http://schemas.openxmlformats.org/officeDocument/2006/relationships/slide" Target="slides/slide422.xml"/><Relationship Id="rId430" Type="http://schemas.openxmlformats.org/officeDocument/2006/relationships/slide" Target="slides/slide423.xml"/><Relationship Id="rId431" Type="http://schemas.openxmlformats.org/officeDocument/2006/relationships/slide" Target="slides/slide424.xml"/><Relationship Id="rId432" Type="http://schemas.openxmlformats.org/officeDocument/2006/relationships/slide" Target="slides/slide425.xml"/><Relationship Id="rId433" Type="http://schemas.openxmlformats.org/officeDocument/2006/relationships/slide" Target="slides/slide426.xml"/><Relationship Id="rId434" Type="http://schemas.openxmlformats.org/officeDocument/2006/relationships/slide" Target="slides/slide427.xml"/><Relationship Id="rId435" Type="http://schemas.openxmlformats.org/officeDocument/2006/relationships/slide" Target="slides/slide428.xml"/><Relationship Id="rId436" Type="http://schemas.openxmlformats.org/officeDocument/2006/relationships/slide" Target="slides/slide429.xml"/><Relationship Id="rId437" Type="http://schemas.openxmlformats.org/officeDocument/2006/relationships/slide" Target="slides/slide430.xml"/><Relationship Id="rId438" Type="http://schemas.openxmlformats.org/officeDocument/2006/relationships/slide" Target="slides/slide431.xml"/><Relationship Id="rId439" Type="http://schemas.openxmlformats.org/officeDocument/2006/relationships/slide" Target="slides/slide432.xml"/><Relationship Id="rId440" Type="http://schemas.openxmlformats.org/officeDocument/2006/relationships/slide" Target="slides/slide433.xml"/><Relationship Id="rId441" Type="http://schemas.openxmlformats.org/officeDocument/2006/relationships/slide" Target="slides/slide434.xml"/><Relationship Id="rId442" Type="http://schemas.openxmlformats.org/officeDocument/2006/relationships/slide" Target="slides/slide435.xml"/><Relationship Id="rId443" Type="http://schemas.openxmlformats.org/officeDocument/2006/relationships/slide" Target="slides/slide436.xml"/><Relationship Id="rId444" Type="http://schemas.openxmlformats.org/officeDocument/2006/relationships/slide" Target="slides/slide437.xml"/><Relationship Id="rId445" Type="http://schemas.openxmlformats.org/officeDocument/2006/relationships/slide" Target="slides/slide438.xml"/><Relationship Id="rId446" Type="http://schemas.openxmlformats.org/officeDocument/2006/relationships/slide" Target="slides/slide439.xml"/><Relationship Id="rId447" Type="http://schemas.openxmlformats.org/officeDocument/2006/relationships/slide" Target="slides/slide440.xml"/><Relationship Id="rId448" Type="http://schemas.openxmlformats.org/officeDocument/2006/relationships/slide" Target="slides/slide441.xml"/><Relationship Id="rId449" Type="http://schemas.openxmlformats.org/officeDocument/2006/relationships/slide" Target="slides/slide442.xml"/><Relationship Id="rId450" Type="http://schemas.openxmlformats.org/officeDocument/2006/relationships/slide" Target="slides/slide443.xml"/><Relationship Id="rId451" Type="http://schemas.openxmlformats.org/officeDocument/2006/relationships/slide" Target="slides/slide444.xml"/><Relationship Id="rId452" Type="http://schemas.openxmlformats.org/officeDocument/2006/relationships/slide" Target="slides/slide445.xml"/><Relationship Id="rId453" Type="http://schemas.openxmlformats.org/officeDocument/2006/relationships/slide" Target="slides/slide446.xml"/><Relationship Id="rId454" Type="http://schemas.openxmlformats.org/officeDocument/2006/relationships/slide" Target="slides/slide447.xml"/><Relationship Id="rId455" Type="http://schemas.openxmlformats.org/officeDocument/2006/relationships/slide" Target="slides/slide448.xml"/><Relationship Id="rId456" Type="http://schemas.openxmlformats.org/officeDocument/2006/relationships/slide" Target="slides/slide449.xml"/><Relationship Id="rId457" Type="http://schemas.openxmlformats.org/officeDocument/2006/relationships/slide" Target="slides/slide450.xml"/><Relationship Id="rId458" Type="http://schemas.openxmlformats.org/officeDocument/2006/relationships/slide" Target="slides/slide451.xml"/><Relationship Id="rId459" Type="http://schemas.openxmlformats.org/officeDocument/2006/relationships/slide" Target="slides/slide452.xml"/><Relationship Id="rId460" Type="http://schemas.openxmlformats.org/officeDocument/2006/relationships/slide" Target="slides/slide453.xml"/><Relationship Id="rId461" Type="http://schemas.openxmlformats.org/officeDocument/2006/relationships/slide" Target="slides/slide454.xml"/><Relationship Id="rId462" Type="http://schemas.openxmlformats.org/officeDocument/2006/relationships/slide" Target="slides/slide455.xml"/><Relationship Id="rId463" Type="http://schemas.openxmlformats.org/officeDocument/2006/relationships/slide" Target="slides/slide456.xml"/><Relationship Id="rId464" Type="http://schemas.openxmlformats.org/officeDocument/2006/relationships/slide" Target="slides/slide457.xml"/><Relationship Id="rId465" Type="http://schemas.openxmlformats.org/officeDocument/2006/relationships/slide" Target="slides/slide458.xml"/><Relationship Id="rId466" Type="http://schemas.openxmlformats.org/officeDocument/2006/relationships/slide" Target="slides/slide459.xml"/><Relationship Id="rId467" Type="http://schemas.openxmlformats.org/officeDocument/2006/relationships/slide" Target="slides/slide460.xml"/><Relationship Id="rId468" Type="http://schemas.openxmlformats.org/officeDocument/2006/relationships/slide" Target="slides/slide461.xml"/><Relationship Id="rId469" Type="http://schemas.openxmlformats.org/officeDocument/2006/relationships/slide" Target="slides/slide462.xml"/><Relationship Id="rId470" Type="http://schemas.openxmlformats.org/officeDocument/2006/relationships/slide" Target="slides/slide463.xml"/><Relationship Id="rId471" Type="http://schemas.openxmlformats.org/officeDocument/2006/relationships/slide" Target="slides/slide464.xml"/><Relationship Id="rId472" Type="http://schemas.openxmlformats.org/officeDocument/2006/relationships/slide" Target="slides/slide465.xml"/><Relationship Id="rId473" Type="http://schemas.openxmlformats.org/officeDocument/2006/relationships/slide" Target="slides/slide466.xml"/><Relationship Id="rId474" Type="http://schemas.openxmlformats.org/officeDocument/2006/relationships/slide" Target="slides/slide467.xml"/><Relationship Id="rId475" Type="http://schemas.openxmlformats.org/officeDocument/2006/relationships/slide" Target="slides/slide468.xml"/><Relationship Id="rId476" Type="http://schemas.openxmlformats.org/officeDocument/2006/relationships/slide" Target="slides/slide469.xml"/><Relationship Id="rId477" Type="http://schemas.openxmlformats.org/officeDocument/2006/relationships/slide" Target="slides/slide470.xml"/><Relationship Id="rId478" Type="http://schemas.openxmlformats.org/officeDocument/2006/relationships/slide" Target="slides/slide471.xml"/><Relationship Id="rId479" Type="http://schemas.openxmlformats.org/officeDocument/2006/relationships/slide" Target="slides/slide472.xml"/><Relationship Id="rId480" Type="http://schemas.openxmlformats.org/officeDocument/2006/relationships/slide" Target="slides/slide473.xml"/><Relationship Id="rId481" Type="http://schemas.openxmlformats.org/officeDocument/2006/relationships/slide" Target="slides/slide474.xml"/><Relationship Id="rId482" Type="http://schemas.openxmlformats.org/officeDocument/2006/relationships/slide" Target="slides/slide475.xml"/><Relationship Id="rId483" Type="http://schemas.openxmlformats.org/officeDocument/2006/relationships/slide" Target="slides/slide476.xml"/><Relationship Id="rId484" Type="http://schemas.openxmlformats.org/officeDocument/2006/relationships/slide" Target="slides/slide477.xml"/><Relationship Id="rId485" Type="http://schemas.openxmlformats.org/officeDocument/2006/relationships/slide" Target="slides/slide478.xml"/><Relationship Id="rId486" Type="http://schemas.openxmlformats.org/officeDocument/2006/relationships/slide" Target="slides/slide479.xml"/><Relationship Id="rId487" Type="http://schemas.openxmlformats.org/officeDocument/2006/relationships/slide" Target="slides/slide480.xml"/><Relationship Id="rId488" Type="http://schemas.openxmlformats.org/officeDocument/2006/relationships/slide" Target="slides/slide481.xml"/><Relationship Id="rId489" Type="http://schemas.openxmlformats.org/officeDocument/2006/relationships/slide" Target="slides/slide482.xml"/><Relationship Id="rId490" Type="http://schemas.openxmlformats.org/officeDocument/2006/relationships/slide" Target="slides/slide483.xml"/><Relationship Id="rId491" Type="http://schemas.openxmlformats.org/officeDocument/2006/relationships/slide" Target="slides/slide484.xml"/><Relationship Id="rId492" Type="http://schemas.openxmlformats.org/officeDocument/2006/relationships/slide" Target="slides/slide485.xml"/><Relationship Id="rId493" Type="http://schemas.openxmlformats.org/officeDocument/2006/relationships/slide" Target="slides/slide486.xml"/><Relationship Id="rId494" Type="http://schemas.openxmlformats.org/officeDocument/2006/relationships/slide" Target="slides/slide487.xml"/><Relationship Id="rId495" Type="http://schemas.openxmlformats.org/officeDocument/2006/relationships/slide" Target="slides/slide488.xml"/><Relationship Id="rId496" Type="http://schemas.openxmlformats.org/officeDocument/2006/relationships/slide" Target="slides/slide489.xml"/><Relationship Id="rId497" Type="http://schemas.openxmlformats.org/officeDocument/2006/relationships/slide" Target="slides/slide490.xml"/><Relationship Id="rId498" Type="http://schemas.openxmlformats.org/officeDocument/2006/relationships/slide" Target="slides/slide491.xml"/><Relationship Id="rId499" Type="http://schemas.openxmlformats.org/officeDocument/2006/relationships/slide" Target="slides/slide492.xml"/><Relationship Id="rId500" Type="http://schemas.openxmlformats.org/officeDocument/2006/relationships/slide" Target="slides/slide493.xml"/><Relationship Id="rId501" Type="http://schemas.openxmlformats.org/officeDocument/2006/relationships/slide" Target="slides/slide494.xml"/><Relationship Id="rId502" Type="http://schemas.openxmlformats.org/officeDocument/2006/relationships/slide" Target="slides/slide495.xml"/><Relationship Id="rId503" Type="http://schemas.openxmlformats.org/officeDocument/2006/relationships/slide" Target="slides/slide496.xml"/><Relationship Id="rId504" Type="http://schemas.openxmlformats.org/officeDocument/2006/relationships/slide" Target="slides/slide497.xml"/><Relationship Id="rId505" Type="http://schemas.openxmlformats.org/officeDocument/2006/relationships/slide" Target="slides/slide498.xml"/><Relationship Id="rId506" Type="http://schemas.openxmlformats.org/officeDocument/2006/relationships/slide" Target="slides/slide499.xml"/><Relationship Id="rId507" Type="http://schemas.openxmlformats.org/officeDocument/2006/relationships/slide" Target="slides/slide500.xml"/><Relationship Id="rId508" Type="http://schemas.openxmlformats.org/officeDocument/2006/relationships/slide" Target="slides/slide501.xml"/><Relationship Id="rId509" Type="http://schemas.openxmlformats.org/officeDocument/2006/relationships/slide" Target="slides/slide502.xml"/><Relationship Id="rId510" Type="http://schemas.openxmlformats.org/officeDocument/2006/relationships/slide" Target="slides/slide503.xml"/><Relationship Id="rId511" Type="http://schemas.openxmlformats.org/officeDocument/2006/relationships/slide" Target="slides/slide504.xml"/><Relationship Id="rId512" Type="http://schemas.openxmlformats.org/officeDocument/2006/relationships/slide" Target="slides/slide505.xml"/><Relationship Id="rId513" Type="http://schemas.openxmlformats.org/officeDocument/2006/relationships/slide" Target="slides/slide506.xml"/><Relationship Id="rId514" Type="http://schemas.openxmlformats.org/officeDocument/2006/relationships/slide" Target="slides/slide507.xml"/><Relationship Id="rId515" Type="http://schemas.openxmlformats.org/officeDocument/2006/relationships/slide" Target="slides/slide508.xml"/><Relationship Id="rId516" Type="http://schemas.openxmlformats.org/officeDocument/2006/relationships/slide" Target="slides/slide509.xml"/><Relationship Id="rId517" Type="http://schemas.openxmlformats.org/officeDocument/2006/relationships/slide" Target="slides/slide510.xml"/><Relationship Id="rId518" Type="http://schemas.openxmlformats.org/officeDocument/2006/relationships/slide" Target="slides/slide511.xml"/><Relationship Id="rId519" Type="http://schemas.openxmlformats.org/officeDocument/2006/relationships/slide" Target="slides/slide512.xml"/><Relationship Id="rId520" Type="http://schemas.openxmlformats.org/officeDocument/2006/relationships/slide" Target="slides/slide513.xml"/><Relationship Id="rId521" Type="http://schemas.openxmlformats.org/officeDocument/2006/relationships/slide" Target="slides/slide514.xml"/><Relationship Id="rId522" Type="http://schemas.openxmlformats.org/officeDocument/2006/relationships/slide" Target="slides/slide515.xml"/><Relationship Id="rId523" Type="http://schemas.openxmlformats.org/officeDocument/2006/relationships/slide" Target="slides/slide516.xml"/><Relationship Id="rId524" Type="http://schemas.openxmlformats.org/officeDocument/2006/relationships/slide" Target="slides/slide517.xml"/><Relationship Id="rId525" Type="http://schemas.openxmlformats.org/officeDocument/2006/relationships/slide" Target="slides/slide518.xml"/><Relationship Id="rId526" Type="http://schemas.openxmlformats.org/officeDocument/2006/relationships/slide" Target="slides/slide519.xml"/><Relationship Id="rId527" Type="http://schemas.openxmlformats.org/officeDocument/2006/relationships/slide" Target="slides/slide520.xml"/><Relationship Id="rId528" Type="http://schemas.openxmlformats.org/officeDocument/2006/relationships/slide" Target="slides/slide521.xml"/><Relationship Id="rId529" Type="http://schemas.openxmlformats.org/officeDocument/2006/relationships/slide" Target="slides/slide522.xml"/><Relationship Id="rId530" Type="http://schemas.openxmlformats.org/officeDocument/2006/relationships/slide" Target="slides/slide523.xml"/><Relationship Id="rId531" Type="http://schemas.openxmlformats.org/officeDocument/2006/relationships/slide" Target="slides/slide524.xml"/><Relationship Id="rId532" Type="http://schemas.openxmlformats.org/officeDocument/2006/relationships/slide" Target="slides/slide525.xml"/><Relationship Id="rId533" Type="http://schemas.openxmlformats.org/officeDocument/2006/relationships/slide" Target="slides/slide526.xml"/><Relationship Id="rId534" Type="http://schemas.openxmlformats.org/officeDocument/2006/relationships/slide" Target="slides/slide527.xml"/><Relationship Id="rId535" Type="http://schemas.openxmlformats.org/officeDocument/2006/relationships/slide" Target="slides/slide528.xml"/><Relationship Id="rId536" Type="http://schemas.openxmlformats.org/officeDocument/2006/relationships/slide" Target="slides/slide529.xml"/><Relationship Id="rId537" Type="http://schemas.openxmlformats.org/officeDocument/2006/relationships/slide" Target="slides/slide530.xml"/><Relationship Id="rId538" Type="http://schemas.openxmlformats.org/officeDocument/2006/relationships/slide" Target="slides/slide531.xml"/><Relationship Id="rId539" Type="http://schemas.openxmlformats.org/officeDocument/2006/relationships/slide" Target="slides/slide532.xml"/><Relationship Id="rId540" Type="http://schemas.openxmlformats.org/officeDocument/2006/relationships/slide" Target="slides/slide533.xml"/><Relationship Id="rId541" Type="http://schemas.openxmlformats.org/officeDocument/2006/relationships/slide" Target="slides/slide534.xml"/><Relationship Id="rId542" Type="http://schemas.openxmlformats.org/officeDocument/2006/relationships/slide" Target="slides/slide535.xml"/><Relationship Id="rId543" Type="http://schemas.openxmlformats.org/officeDocument/2006/relationships/slide" Target="slides/slide536.xml"/><Relationship Id="rId544" Type="http://schemas.openxmlformats.org/officeDocument/2006/relationships/slide" Target="slides/slide537.xml"/><Relationship Id="rId545" Type="http://schemas.openxmlformats.org/officeDocument/2006/relationships/slide" Target="slides/slide538.xml"/><Relationship Id="rId546" Type="http://schemas.openxmlformats.org/officeDocument/2006/relationships/slide" Target="slides/slide539.xml"/><Relationship Id="rId547" Type="http://schemas.openxmlformats.org/officeDocument/2006/relationships/slide" Target="slides/slide540.xml"/><Relationship Id="rId548" Type="http://schemas.openxmlformats.org/officeDocument/2006/relationships/slide" Target="slides/slide541.xml"/><Relationship Id="rId549" Type="http://schemas.openxmlformats.org/officeDocument/2006/relationships/slide" Target="slides/slide542.xml"/><Relationship Id="rId550" Type="http://schemas.openxmlformats.org/officeDocument/2006/relationships/slide" Target="slides/slide543.xml"/><Relationship Id="rId551" Type="http://schemas.openxmlformats.org/officeDocument/2006/relationships/slide" Target="slides/slide544.xml"/><Relationship Id="rId552" Type="http://schemas.openxmlformats.org/officeDocument/2006/relationships/slide" Target="slides/slide545.xml"/><Relationship Id="rId553" Type="http://schemas.openxmlformats.org/officeDocument/2006/relationships/slide" Target="slides/slide546.xml"/><Relationship Id="rId554" Type="http://schemas.openxmlformats.org/officeDocument/2006/relationships/slide" Target="slides/slide547.xml"/><Relationship Id="rId555" Type="http://schemas.openxmlformats.org/officeDocument/2006/relationships/slide" Target="slides/slide548.xml"/><Relationship Id="rId556" Type="http://schemas.openxmlformats.org/officeDocument/2006/relationships/slide" Target="slides/slide549.xml"/><Relationship Id="rId557" Type="http://schemas.openxmlformats.org/officeDocument/2006/relationships/slide" Target="slides/slide550.xml"/><Relationship Id="rId558" Type="http://schemas.openxmlformats.org/officeDocument/2006/relationships/slide" Target="slides/slide551.xml"/><Relationship Id="rId559" Type="http://schemas.openxmlformats.org/officeDocument/2006/relationships/slide" Target="slides/slide552.xml"/><Relationship Id="rId560" Type="http://schemas.openxmlformats.org/officeDocument/2006/relationships/slide" Target="slides/slide553.xml"/><Relationship Id="rId561" Type="http://schemas.openxmlformats.org/officeDocument/2006/relationships/slide" Target="slides/slide554.xml"/><Relationship Id="rId562" Type="http://schemas.openxmlformats.org/officeDocument/2006/relationships/slide" Target="slides/slide555.xml"/><Relationship Id="rId563" Type="http://schemas.openxmlformats.org/officeDocument/2006/relationships/slide" Target="slides/slide556.xml"/><Relationship Id="rId564" Type="http://schemas.openxmlformats.org/officeDocument/2006/relationships/slide" Target="slides/slide557.xml"/><Relationship Id="rId565" Type="http://schemas.openxmlformats.org/officeDocument/2006/relationships/slide" Target="slides/slide558.xml"/><Relationship Id="rId566" Type="http://schemas.openxmlformats.org/officeDocument/2006/relationships/slide" Target="slides/slide559.xml"/><Relationship Id="rId567" Type="http://schemas.openxmlformats.org/officeDocument/2006/relationships/slide" Target="slides/slide560.xml"/><Relationship Id="rId568" Type="http://schemas.openxmlformats.org/officeDocument/2006/relationships/slide" Target="slides/slide561.xml"/><Relationship Id="rId569" Type="http://schemas.openxmlformats.org/officeDocument/2006/relationships/slide" Target="slides/slide562.xml"/><Relationship Id="rId570" Type="http://schemas.openxmlformats.org/officeDocument/2006/relationships/slide" Target="slides/slide563.xml"/><Relationship Id="rId571" Type="http://schemas.openxmlformats.org/officeDocument/2006/relationships/slide" Target="slides/slide564.xml"/><Relationship Id="rId572" Type="http://schemas.openxmlformats.org/officeDocument/2006/relationships/slide" Target="slides/slide565.xml"/><Relationship Id="rId573" Type="http://schemas.openxmlformats.org/officeDocument/2006/relationships/slide" Target="slides/slide566.xml"/><Relationship Id="rId574" Type="http://schemas.openxmlformats.org/officeDocument/2006/relationships/slide" Target="slides/slide567.xml"/><Relationship Id="rId575" Type="http://schemas.openxmlformats.org/officeDocument/2006/relationships/slide" Target="slides/slide568.xml"/><Relationship Id="rId576" Type="http://schemas.openxmlformats.org/officeDocument/2006/relationships/slide" Target="slides/slide569.xml"/><Relationship Id="rId577" Type="http://schemas.openxmlformats.org/officeDocument/2006/relationships/slide" Target="slides/slide570.xml"/><Relationship Id="rId578" Type="http://schemas.openxmlformats.org/officeDocument/2006/relationships/slide" Target="slides/slide571.xml"/><Relationship Id="rId579" Type="http://schemas.openxmlformats.org/officeDocument/2006/relationships/slide" Target="slides/slide572.xml"/><Relationship Id="rId580" Type="http://schemas.openxmlformats.org/officeDocument/2006/relationships/slide" Target="slides/slide573.xml"/><Relationship Id="rId581" Type="http://schemas.openxmlformats.org/officeDocument/2006/relationships/slide" Target="slides/slide574.xml"/><Relationship Id="rId582" Type="http://schemas.openxmlformats.org/officeDocument/2006/relationships/slide" Target="slides/slide575.xml"/><Relationship Id="rId583" Type="http://schemas.openxmlformats.org/officeDocument/2006/relationships/slide" Target="slides/slide576.xml"/><Relationship Id="rId584" Type="http://schemas.openxmlformats.org/officeDocument/2006/relationships/slide" Target="slides/slide577.xml"/><Relationship Id="rId585" Type="http://schemas.openxmlformats.org/officeDocument/2006/relationships/slide" Target="slides/slide578.xml"/><Relationship Id="rId586" Type="http://schemas.openxmlformats.org/officeDocument/2006/relationships/slide" Target="slides/slide579.xml"/><Relationship Id="rId587" Type="http://schemas.openxmlformats.org/officeDocument/2006/relationships/slide" Target="slides/slide580.xml"/><Relationship Id="rId588" Type="http://schemas.openxmlformats.org/officeDocument/2006/relationships/slide" Target="slides/slide581.xml"/><Relationship Id="rId589" Type="http://schemas.openxmlformats.org/officeDocument/2006/relationships/slide" Target="slides/slide582.xml"/><Relationship Id="rId590" Type="http://schemas.openxmlformats.org/officeDocument/2006/relationships/slide" Target="slides/slide583.xml"/><Relationship Id="rId591" Type="http://schemas.openxmlformats.org/officeDocument/2006/relationships/slide" Target="slides/slide584.xml"/><Relationship Id="rId592" Type="http://schemas.openxmlformats.org/officeDocument/2006/relationships/slide" Target="slides/slide585.xml"/><Relationship Id="rId593" Type="http://schemas.openxmlformats.org/officeDocument/2006/relationships/slide" Target="slides/slide586.xml"/><Relationship Id="rId594" Type="http://schemas.openxmlformats.org/officeDocument/2006/relationships/slide" Target="slides/slide587.xml"/><Relationship Id="rId595" Type="http://schemas.openxmlformats.org/officeDocument/2006/relationships/slide" Target="slides/slide588.xml"/><Relationship Id="rId596" Type="http://schemas.openxmlformats.org/officeDocument/2006/relationships/slide" Target="slides/slide589.xml"/><Relationship Id="rId597" Type="http://schemas.openxmlformats.org/officeDocument/2006/relationships/slide" Target="slides/slide590.xml"/><Relationship Id="rId598" Type="http://schemas.openxmlformats.org/officeDocument/2006/relationships/slide" Target="slides/slide591.xml"/><Relationship Id="rId599" Type="http://schemas.openxmlformats.org/officeDocument/2006/relationships/slide" Target="slides/slide592.xml"/><Relationship Id="rId600" Type="http://schemas.openxmlformats.org/officeDocument/2006/relationships/slide" Target="slides/slide593.xml"/><Relationship Id="rId601" Type="http://schemas.openxmlformats.org/officeDocument/2006/relationships/slide" Target="slides/slide594.xml"/><Relationship Id="rId602" Type="http://schemas.openxmlformats.org/officeDocument/2006/relationships/slide" Target="slides/slide595.xml"/><Relationship Id="rId603" Type="http://schemas.openxmlformats.org/officeDocument/2006/relationships/slide" Target="slides/slide596.xml"/><Relationship Id="rId604" Type="http://schemas.openxmlformats.org/officeDocument/2006/relationships/slide" Target="slides/slide597.xml"/><Relationship Id="rId605" Type="http://schemas.openxmlformats.org/officeDocument/2006/relationships/slide" Target="slides/slide598.xml"/><Relationship Id="rId606" Type="http://schemas.openxmlformats.org/officeDocument/2006/relationships/slide" Target="slides/slide599.xml"/><Relationship Id="rId607" Type="http://schemas.openxmlformats.org/officeDocument/2006/relationships/slide" Target="slides/slide600.xml"/><Relationship Id="rId608" Type="http://schemas.openxmlformats.org/officeDocument/2006/relationships/slide" Target="slides/slide601.xml"/><Relationship Id="rId609" Type="http://schemas.openxmlformats.org/officeDocument/2006/relationships/slide" Target="slides/slide602.xml"/><Relationship Id="rId610" Type="http://schemas.openxmlformats.org/officeDocument/2006/relationships/slide" Target="slides/slide603.xml"/><Relationship Id="rId611" Type="http://schemas.openxmlformats.org/officeDocument/2006/relationships/slide" Target="slides/slide604.xml"/><Relationship Id="rId612" Type="http://schemas.openxmlformats.org/officeDocument/2006/relationships/slide" Target="slides/slide605.xml"/><Relationship Id="rId613" Type="http://schemas.openxmlformats.org/officeDocument/2006/relationships/slide" Target="slides/slide606.xml"/><Relationship Id="rId614" Type="http://schemas.openxmlformats.org/officeDocument/2006/relationships/slide" Target="slides/slide607.xml"/><Relationship Id="rId615" Type="http://schemas.openxmlformats.org/officeDocument/2006/relationships/slide" Target="slides/slide608.xml"/><Relationship Id="rId616" Type="http://schemas.openxmlformats.org/officeDocument/2006/relationships/slide" Target="slides/slide609.xml"/><Relationship Id="rId617" Type="http://schemas.openxmlformats.org/officeDocument/2006/relationships/slide" Target="slides/slide610.xml"/><Relationship Id="rId618" Type="http://schemas.openxmlformats.org/officeDocument/2006/relationships/slide" Target="slides/slide611.xml"/><Relationship Id="rId619" Type="http://schemas.openxmlformats.org/officeDocument/2006/relationships/slide" Target="slides/slide612.xml"/><Relationship Id="rId620" Type="http://schemas.openxmlformats.org/officeDocument/2006/relationships/slide" Target="slides/slide613.xml"/><Relationship Id="rId621" Type="http://schemas.openxmlformats.org/officeDocument/2006/relationships/slide" Target="slides/slide614.xml"/><Relationship Id="rId622" Type="http://schemas.openxmlformats.org/officeDocument/2006/relationships/slide" Target="slides/slide615.xml"/><Relationship Id="rId623" Type="http://schemas.openxmlformats.org/officeDocument/2006/relationships/slide" Target="slides/slide616.xml"/><Relationship Id="rId624" Type="http://schemas.openxmlformats.org/officeDocument/2006/relationships/slide" Target="slides/slide617.xml"/><Relationship Id="rId625" Type="http://schemas.openxmlformats.org/officeDocument/2006/relationships/slide" Target="slides/slide618.xml"/><Relationship Id="rId626" Type="http://schemas.openxmlformats.org/officeDocument/2006/relationships/slide" Target="slides/slide619.xml"/><Relationship Id="rId627" Type="http://schemas.openxmlformats.org/officeDocument/2006/relationships/slide" Target="slides/slide620.xml"/><Relationship Id="rId628" Type="http://schemas.openxmlformats.org/officeDocument/2006/relationships/slide" Target="slides/slide621.xml"/><Relationship Id="rId629" Type="http://schemas.openxmlformats.org/officeDocument/2006/relationships/slide" Target="slides/slide622.xml"/><Relationship Id="rId630" Type="http://schemas.openxmlformats.org/officeDocument/2006/relationships/slide" Target="slides/slide623.xml"/><Relationship Id="rId631" Type="http://schemas.openxmlformats.org/officeDocument/2006/relationships/slide" Target="slides/slide624.xml"/><Relationship Id="rId632" Type="http://schemas.openxmlformats.org/officeDocument/2006/relationships/slide" Target="slides/slide625.xml"/><Relationship Id="rId633" Type="http://schemas.openxmlformats.org/officeDocument/2006/relationships/slide" Target="slides/slide626.xml"/><Relationship Id="rId634" Type="http://schemas.openxmlformats.org/officeDocument/2006/relationships/slide" Target="slides/slide627.xml"/><Relationship Id="rId635" Type="http://schemas.openxmlformats.org/officeDocument/2006/relationships/slide" Target="slides/slide628.xml"/><Relationship Id="rId636" Type="http://schemas.openxmlformats.org/officeDocument/2006/relationships/slide" Target="slides/slide62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Sheet1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Weighting %</c:v>
                </c:pt>
              </c:strCache>
            </c:strRef>
          </c:tx>
          <c:spPr>
            <a:solidFill>
              <a:srgbClr val="1F6FEB"/>
            </a:solidFill>
          </c:spPr>
          <c:cat>
            <c:strRef>
              <c:f>Sheet1!$A$2:$A$7</c:f>
              <c:strCache>
                <c:ptCount val="6"/>
                <c:pt idx="0">
                  <c:v>SDLC Automation</c:v>
                </c:pt>
                <c:pt idx="1">
                  <c:v>Configuration Management and IaC</c:v>
                </c:pt>
                <c:pt idx="2">
                  <c:v>Resilient Cloud Solutions</c:v>
                </c:pt>
                <c:pt idx="3">
                  <c:v>Monitoring and Logging</c:v>
                </c:pt>
                <c:pt idx="4">
                  <c:v>Incident and Event Response</c:v>
                </c:pt>
                <c:pt idx="5">
                  <c:v>Security and Compliance</c:v>
                </c:pt>
              </c:strCache>
            </c:strRef>
          </c:cat>
          <c:val>
            <c:numRef>
              <c:f>Sheet1!$B$2:$B$7</c:f>
              <c:numCache>
                <c:formatCode>General</c:formatCode>
                <c:ptCount val="6"/>
                <c:pt idx="0">
                  <c:v>22</c:v>
                </c:pt>
                <c:pt idx="1">
                  <c:v>17</c:v>
                </c:pt>
                <c:pt idx="2">
                  <c:v>15</c:v>
                </c:pt>
                <c:pt idx="3">
                  <c:v>15</c:v>
                </c:pt>
                <c:pt idx="4">
                  <c:v>14</c:v>
                </c:pt>
                <c:pt idx="5">
                  <c:v>17</c:v>
                </c:pt>
              </c:numCache>
            </c:numRef>
          </c:val>
        </c:ser>
        <c:dLbls>
          <c:numFmt formatCode="General" sourceLinked="0"/>
          <c:txPr>
            <a:bodyPr/>
            <a:lstStyle/>
            <a:p>
              <a:pPr>
                <a:defRPr sz="1100" b="1"/>
              </a:pPr>
            </a:p>
          </c:txPr>
          <c:showLegendKey val="0"/>
          <c:showVal val="1"/>
          <c:showCatName val="0"/>
          <c:showSerName val="0"/>
          <c:showPercent val="0"/>
          <c:showBubbleSize val="0"/>
          <c:showLeaderLines val="1"/>
        </c:dLbls>
        <c:gapWidth val="8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max val="25.0"/>
        </c:scaling>
        <c:delete val="0"/>
        <c:axPos val="l"/>
        <c:majorGridlines/>
        <c:majorTickMark val="out"/>
        <c:minorTickMark val="none"/>
        <c:tickLblPos val="nextTo"/>
        <c:crossAx val="-2068027336"/>
        <c:crosses val="autoZero"/>
      </c:valAx>
    </c:plotArea>
    <c:dispBlanksAs val="gap"/>
  </c:chart>
  <c:txPr>
    <a:bodyPr/>
    <a:lstStyle/>
    <a:p>
      <a:pPr>
        <a:defRPr sz="1100">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Manual (before)</c:v>
                </c:pt>
              </c:strCache>
            </c:strRef>
          </c:tx>
          <c:spPr>
            <a:solidFill>
              <a:srgbClr val="1F6FEB"/>
            </a:solidFill>
          </c:spPr>
          <c:cat>
            <c:strRef>
              <c:f>Sheet1!$A$2:$A$5</c:f>
              <c:strCache>
                <c:ptCount val="4"/>
                <c:pt idx="0">
                  <c:v>Releases per month</c:v>
                </c:pt>
                <c:pt idx="1">
                  <c:v>Lead time (days)</c:v>
                </c:pt>
                <c:pt idx="2">
                  <c:v>Change-fail rate %</c:v>
                </c:pt>
                <c:pt idx="3">
                  <c:v>Hours to recover</c:v>
                </c:pt>
              </c:strCache>
            </c:strRef>
          </c:cat>
          <c:val>
            <c:numRef>
              <c:f>Sheet1!$B$2:$B$5</c:f>
              <c:numCache>
                <c:formatCode>General</c:formatCode>
                <c:ptCount val="4"/>
                <c:pt idx="0">
                  <c:v>2</c:v>
                </c:pt>
                <c:pt idx="1">
                  <c:v>14</c:v>
                </c:pt>
                <c:pt idx="2">
                  <c:v>30</c:v>
                </c:pt>
                <c:pt idx="3">
                  <c:v>8</c:v>
                </c:pt>
              </c:numCache>
            </c:numRef>
          </c:val>
        </c:ser>
        <c:ser>
          <c:idx val="1"/>
          <c:order val="1"/>
          <c:tx>
            <c:strRef>
              <c:f>Sheet1!$C$1</c:f>
              <c:strCache>
                <c:ptCount val="1"/>
                <c:pt idx="0">
                  <c:v>CI/CD on AWS (after)</c:v>
                </c:pt>
              </c:strCache>
            </c:strRef>
          </c:tx>
          <c:spPr>
            <a:solidFill>
              <a:srgbClr val="10B981"/>
            </a:solidFill>
          </c:spPr>
          <c:cat>
            <c:strRef>
              <c:f>Sheet1!$A$2:$A$5</c:f>
              <c:strCache>
                <c:ptCount val="4"/>
                <c:pt idx="0">
                  <c:v>Releases per month</c:v>
                </c:pt>
                <c:pt idx="1">
                  <c:v>Lead time (days)</c:v>
                </c:pt>
                <c:pt idx="2">
                  <c:v>Change-fail rate %</c:v>
                </c:pt>
                <c:pt idx="3">
                  <c:v>Hours to recover</c:v>
                </c:pt>
              </c:strCache>
            </c:strRef>
          </c:cat>
          <c:val>
            <c:numRef>
              <c:f>Sheet1!$C$2:$C$5</c:f>
              <c:numCache>
                <c:formatCode>General</c:formatCode>
                <c:ptCount val="4"/>
                <c:pt idx="0">
                  <c:v>40</c:v>
                </c:pt>
                <c:pt idx="1">
                  <c:v>1</c:v>
                </c:pt>
                <c:pt idx="2">
                  <c:v>10</c:v>
                </c:pt>
                <c:pt idx="3">
                  <c:v>1</c:v>
                </c:pt>
              </c:numCache>
            </c:numRef>
          </c:val>
        </c:ser>
        <c:gapWidth val="8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overlay val="0"/>
    </c:legend>
    <c:dispBlanksAs val="gap"/>
  </c:chart>
  <c:txPr>
    <a:bodyPr/>
    <a:lstStyle/>
    <a:p>
      <a:pPr>
        <a:defRPr sz="1100">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Blast radius (1–10)</c:v>
                </c:pt>
              </c:strCache>
            </c:strRef>
          </c:tx>
          <c:spPr>
            <a:solidFill>
              <a:srgbClr val="1F6FEB"/>
            </a:solidFill>
          </c:spPr>
          <c:cat>
            <c:strRef>
              <c:f>Sheet1!$A$2:$A$5</c:f>
              <c:strCache>
                <c:ptCount val="4"/>
                <c:pt idx="0">
                  <c:v>In-place</c:v>
                </c:pt>
                <c:pt idx="1">
                  <c:v>Rolling</c:v>
                </c:pt>
                <c:pt idx="2">
                  <c:v>Blue/Green</c:v>
                </c:pt>
                <c:pt idx="3">
                  <c:v>Canary</c:v>
                </c:pt>
              </c:strCache>
            </c:strRef>
          </c:cat>
          <c:val>
            <c:numRef>
              <c:f>Sheet1!$B$2:$B$5</c:f>
              <c:numCache>
                <c:formatCode>General</c:formatCode>
                <c:ptCount val="4"/>
                <c:pt idx="0">
                  <c:v>9</c:v>
                </c:pt>
                <c:pt idx="1">
                  <c:v>5</c:v>
                </c:pt>
                <c:pt idx="2">
                  <c:v>2</c:v>
                </c:pt>
                <c:pt idx="3">
                  <c:v>2</c:v>
                </c:pt>
              </c:numCache>
            </c:numRef>
          </c:val>
        </c:ser>
        <c:ser>
          <c:idx val="1"/>
          <c:order val="1"/>
          <c:tx>
            <c:strRef>
              <c:f>Sheet1!$C$1</c:f>
              <c:strCache>
                <c:ptCount val="1"/>
                <c:pt idx="0">
                  <c:v>Rollback speed (1–10)</c:v>
                </c:pt>
              </c:strCache>
            </c:strRef>
          </c:tx>
          <c:spPr>
            <a:solidFill>
              <a:srgbClr val="10B981"/>
            </a:solidFill>
          </c:spPr>
          <c:cat>
            <c:strRef>
              <c:f>Sheet1!$A$2:$A$5</c:f>
              <c:strCache>
                <c:ptCount val="4"/>
                <c:pt idx="0">
                  <c:v>In-place</c:v>
                </c:pt>
                <c:pt idx="1">
                  <c:v>Rolling</c:v>
                </c:pt>
                <c:pt idx="2">
                  <c:v>Blue/Green</c:v>
                </c:pt>
                <c:pt idx="3">
                  <c:v>Canary</c:v>
                </c:pt>
              </c:strCache>
            </c:strRef>
          </c:cat>
          <c:val>
            <c:numRef>
              <c:f>Sheet1!$C$2:$C$5</c:f>
              <c:numCache>
                <c:formatCode>General</c:formatCode>
                <c:ptCount val="4"/>
                <c:pt idx="0">
                  <c:v>3</c:v>
                </c:pt>
                <c:pt idx="1">
                  <c:v>5</c:v>
                </c:pt>
                <c:pt idx="2">
                  <c:v>9</c:v>
                </c:pt>
                <c:pt idx="3">
                  <c:v>8</c:v>
                </c:pt>
              </c:numCache>
            </c:numRef>
          </c:val>
        </c:ser>
        <c:gapWidth val="8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overlay val="0"/>
    </c:legend>
    <c:dispBlanksAs val="gap"/>
  </c:chart>
  <c:txPr>
    <a:bodyPr/>
    <a:lstStyle/>
    <a:p>
      <a:pPr>
        <a:defRPr sz="1100">
          <a:latin typeface="Aria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Minutes</c:v>
                </c:pt>
              </c:strCache>
            </c:strRef>
          </c:tx>
          <c:spPr>
            <a:solidFill>
              <a:srgbClr val="1F6FEB"/>
            </a:solidFill>
          </c:spPr>
          <c:cat>
            <c:strRef>
              <c:f>Sheet1!$A$2:$A$7</c:f>
              <c:strCache>
                <c:ptCount val="6"/>
                <c:pt idx="0">
                  <c:v>Source</c:v>
                </c:pt>
                <c:pt idx="1">
                  <c:v>Unit test</c:v>
                </c:pt>
                <c:pt idx="2">
                  <c:v>Integration</c:v>
                </c:pt>
                <c:pt idx="3">
                  <c:v>Deploy staging</c:v>
                </c:pt>
                <c:pt idx="4">
                  <c:v>Approval wait</c:v>
                </c:pt>
                <c:pt idx="5">
                  <c:v>Deploy prod</c:v>
                </c:pt>
              </c:strCache>
            </c:strRef>
          </c:cat>
          <c:val>
            <c:numRef>
              <c:f>Sheet1!$B$2:$B$7</c:f>
              <c:numCache>
                <c:formatCode>General</c:formatCode>
                <c:ptCount val="6"/>
                <c:pt idx="0">
                  <c:v>1</c:v>
                </c:pt>
                <c:pt idx="1">
                  <c:v>6</c:v>
                </c:pt>
                <c:pt idx="2">
                  <c:v>12</c:v>
                </c:pt>
                <c:pt idx="3">
                  <c:v>5</c:v>
                </c:pt>
                <c:pt idx="4">
                  <c:v>45</c:v>
                </c:pt>
                <c:pt idx="5">
                  <c:v>6</c:v>
                </c:pt>
              </c:numCache>
            </c:numRef>
          </c:val>
        </c:ser>
        <c:dLbls>
          <c:numFmt formatCode="General" sourceLinked="0"/>
          <c:txPr>
            <a:bodyPr/>
            <a:lstStyle/>
            <a:p>
              <a:pPr>
                <a:defRPr sz="1100" b="1"/>
              </a:pPr>
            </a:p>
          </c:txPr>
          <c:showLegendKey val="0"/>
          <c:showVal val="1"/>
          <c:showCatName val="0"/>
          <c:showSerName val="0"/>
          <c:showPercent val="0"/>
          <c:showBubbleSize val="0"/>
          <c:showLeaderLines val="1"/>
        </c:dLbls>
        <c:gapWidth val="8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100">
          <a:latin typeface="Arial"/>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Manual</c:v>
                </c:pt>
              </c:strCache>
            </c:strRef>
          </c:tx>
          <c:spPr>
            <a:solidFill>
              <a:srgbClr val="1F6FEB"/>
            </a:solidFill>
          </c:spPr>
          <c:cat>
            <c:strRef>
              <c:f>Sheet1!$A$2:$A$4</c:f>
              <c:strCache>
                <c:ptCount val="3"/>
                <c:pt idx="0">
                  <c:v>Time to build env (min)</c:v>
                </c:pt>
                <c:pt idx="1">
                  <c:v>Config errors per env</c:v>
                </c:pt>
                <c:pt idx="2">
                  <c:v>Environments in parity %</c:v>
                </c:pt>
              </c:strCache>
            </c:strRef>
          </c:cat>
          <c:val>
            <c:numRef>
              <c:f>Sheet1!$B$2:$B$4</c:f>
              <c:numCache>
                <c:formatCode>General</c:formatCode>
                <c:ptCount val="3"/>
                <c:pt idx="0">
                  <c:v>240</c:v>
                </c:pt>
                <c:pt idx="1">
                  <c:v>7</c:v>
                </c:pt>
                <c:pt idx="2">
                  <c:v>60</c:v>
                </c:pt>
              </c:numCache>
            </c:numRef>
          </c:val>
        </c:ser>
        <c:ser>
          <c:idx val="1"/>
          <c:order val="1"/>
          <c:tx>
            <c:strRef>
              <c:f>Sheet1!$C$1</c:f>
              <c:strCache>
                <c:ptCount val="1"/>
                <c:pt idx="0">
                  <c:v>CloudFormation</c:v>
                </c:pt>
              </c:strCache>
            </c:strRef>
          </c:tx>
          <c:spPr>
            <a:solidFill>
              <a:srgbClr val="10B981"/>
            </a:solidFill>
          </c:spPr>
          <c:cat>
            <c:strRef>
              <c:f>Sheet1!$A$2:$A$4</c:f>
              <c:strCache>
                <c:ptCount val="3"/>
                <c:pt idx="0">
                  <c:v>Time to build env (min)</c:v>
                </c:pt>
                <c:pt idx="1">
                  <c:v>Config errors per env</c:v>
                </c:pt>
                <c:pt idx="2">
                  <c:v>Environments in parity %</c:v>
                </c:pt>
              </c:strCache>
            </c:strRef>
          </c:cat>
          <c:val>
            <c:numRef>
              <c:f>Sheet1!$C$2:$C$4</c:f>
              <c:numCache>
                <c:formatCode>General</c:formatCode>
                <c:ptCount val="3"/>
                <c:pt idx="0">
                  <c:v>15</c:v>
                </c:pt>
                <c:pt idx="1">
                  <c:v>1</c:v>
                </c:pt>
                <c:pt idx="2">
                  <c:v>100</c:v>
                </c:pt>
              </c:numCache>
            </c:numRef>
          </c:val>
        </c:ser>
        <c:gapWidth val="8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overlay val="0"/>
    </c:legend>
    <c:dispBlanksAs val="gap"/>
  </c:chart>
  <c:txPr>
    <a:bodyPr/>
    <a:lstStyle/>
    <a:p>
      <a:pPr>
        <a:defRPr sz="1100">
          <a:latin typeface="Arial"/>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RTO (minutes)</c:v>
                </c:pt>
              </c:strCache>
            </c:strRef>
          </c:tx>
          <c:spPr>
            <a:solidFill>
              <a:srgbClr val="1F6FEB"/>
            </a:solidFill>
          </c:spPr>
          <c:cat>
            <c:strRef>
              <c:f>Sheet1!$A$2:$A$5</c:f>
              <c:strCache>
                <c:ptCount val="4"/>
                <c:pt idx="0">
                  <c:v>Backup &amp; Restore</c:v>
                </c:pt>
                <c:pt idx="1">
                  <c:v>Pilot Light</c:v>
                </c:pt>
                <c:pt idx="2">
                  <c:v>Warm Standby</c:v>
                </c:pt>
                <c:pt idx="3">
                  <c:v>Active/Active</c:v>
                </c:pt>
              </c:strCache>
            </c:strRef>
          </c:cat>
          <c:val>
            <c:numRef>
              <c:f>Sheet1!$B$2:$B$5</c:f>
              <c:numCache>
                <c:formatCode>General</c:formatCode>
                <c:ptCount val="4"/>
                <c:pt idx="0">
                  <c:v>240</c:v>
                </c:pt>
                <c:pt idx="1">
                  <c:v>30</c:v>
                </c:pt>
                <c:pt idx="2">
                  <c:v>5</c:v>
                </c:pt>
                <c:pt idx="3">
                  <c:v>1</c:v>
                </c:pt>
              </c:numCache>
            </c:numRef>
          </c:val>
        </c:ser>
        <c:dLbls>
          <c:numFmt formatCode="General" sourceLinked="0"/>
          <c:txPr>
            <a:bodyPr/>
            <a:lstStyle/>
            <a:p>
              <a:pPr>
                <a:defRPr sz="1100" b="1"/>
              </a:pPr>
            </a:p>
          </c:txPr>
          <c:showLegendKey val="0"/>
          <c:showVal val="1"/>
          <c:showCatName val="0"/>
          <c:showSerName val="0"/>
          <c:showPercent val="0"/>
          <c:showBubbleSize val="0"/>
          <c:showLeaderLines val="1"/>
        </c:dLbls>
        <c:gapWidth val="80"/>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dispBlanksAs val="gap"/>
  </c:chart>
  <c:txPr>
    <a:bodyPr/>
    <a:lstStyle/>
    <a:p>
      <a:pPr>
        <a:defRPr sz="1100">
          <a:latin typeface="Arial"/>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Downtime hrs/yr (approx)</c:v>
                </c:pt>
              </c:strCache>
            </c:strRef>
          </c:tx>
          <c:spPr>
            <a:solidFill>
              <a:srgbClr val="1F6FEB"/>
            </a:solidFill>
          </c:spPr>
          <c:cat>
            <c:strRef>
              <c:f>Sheet1!$A$2:$A$5</c:f>
              <c:strCache>
                <c:ptCount val="4"/>
                <c:pt idx="0">
                  <c:v>Single instance</c:v>
                </c:pt>
                <c:pt idx="1">
                  <c:v>Single AZ (ASG)</c:v>
                </c:pt>
                <c:pt idx="2">
                  <c:v>Two AZs (ASG+ALB)</c:v>
                </c:pt>
                <c:pt idx="3">
                  <c:v>Multi-Region</c:v>
                </c:pt>
              </c:strCache>
            </c:strRef>
          </c:cat>
          <c:val>
            <c:numRef>
              <c:f>Sheet1!$B$2:$B$5</c:f>
              <c:numCache>
                <c:formatCode>General</c:formatCode>
                <c:ptCount val="4"/>
                <c:pt idx="0">
                  <c:v>88</c:v>
                </c:pt>
                <c:pt idx="1">
                  <c:v>44</c:v>
                </c:pt>
                <c:pt idx="2">
                  <c:v>4</c:v>
                </c:pt>
                <c:pt idx="3">
                  <c:v>1</c:v>
                </c:pt>
              </c:numCache>
            </c:numRef>
          </c:val>
        </c:ser>
        <c:dLbls>
          <c:numFmt formatCode="General" sourceLinked="0"/>
          <c:txPr>
            <a:bodyPr/>
            <a:lstStyle/>
            <a:p>
              <a:pPr>
                <a:defRPr sz="1100" b="1"/>
              </a:pPr>
            </a:p>
          </c:txPr>
          <c:showLegendKey val="0"/>
          <c:showVal val="1"/>
          <c:showCatName val="0"/>
          <c:showSerName val="0"/>
          <c:showPercent val="0"/>
          <c:showBubbleSize val="0"/>
          <c:showLeaderLines val="1"/>
        </c:dLbls>
        <c:gapWidth val="8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100">
          <a:latin typeface="Arial"/>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Requests/sec</c:v>
                </c:pt>
              </c:strCache>
            </c:strRef>
          </c:tx>
          <c:spPr>
            <a:solidFill>
              <a:srgbClr val="1F6FEB"/>
            </a:solidFill>
          </c:spPr>
          <c:cat>
            <c:strRef>
              <c:f>Sheet1!$A$2:$A$7</c:f>
              <c:strCache>
                <c:ptCount val="6"/>
                <c:pt idx="0">
                  <c:v>t0</c:v>
                </c:pt>
                <c:pt idx="1">
                  <c:v>t1</c:v>
                </c:pt>
                <c:pt idx="2">
                  <c:v>t2</c:v>
                </c:pt>
                <c:pt idx="3">
                  <c:v>t3</c:v>
                </c:pt>
                <c:pt idx="4">
                  <c:v>t4</c:v>
                </c:pt>
                <c:pt idx="5">
                  <c:v>t5</c:v>
                </c:pt>
              </c:strCache>
            </c:strRef>
          </c:cat>
          <c:val>
            <c:numRef>
              <c:f>Sheet1!$B$2:$B$7</c:f>
              <c:numCache>
                <c:formatCode>General</c:formatCode>
                <c:ptCount val="6"/>
                <c:pt idx="0">
                  <c:v>100</c:v>
                </c:pt>
                <c:pt idx="1">
                  <c:v>260</c:v>
                </c:pt>
                <c:pt idx="2">
                  <c:v>540</c:v>
                </c:pt>
                <c:pt idx="3">
                  <c:v>600</c:v>
                </c:pt>
                <c:pt idx="4">
                  <c:v>300</c:v>
                </c:pt>
                <c:pt idx="5">
                  <c:v>120</c:v>
                </c:pt>
              </c:numCache>
            </c:numRef>
          </c:val>
          <c:smooth val="0"/>
        </c:ser>
        <c:ser>
          <c:idx val="1"/>
          <c:order val="1"/>
          <c:tx>
            <c:strRef>
              <c:f>Sheet1!$C$1</c:f>
              <c:strCache>
                <c:ptCount val="1"/>
                <c:pt idx="0">
                  <c:v>Instances</c:v>
                </c:pt>
              </c:strCache>
            </c:strRef>
          </c:tx>
          <c:spPr>
            <a:solidFill>
              <a:srgbClr val="10B981"/>
            </a:solidFill>
          </c:spPr>
          <c:cat>
            <c:strRef>
              <c:f>Sheet1!$A$2:$A$7</c:f>
              <c:strCache>
                <c:ptCount val="6"/>
                <c:pt idx="0">
                  <c:v>t0</c:v>
                </c:pt>
                <c:pt idx="1">
                  <c:v>t1</c:v>
                </c:pt>
                <c:pt idx="2">
                  <c:v>t2</c:v>
                </c:pt>
                <c:pt idx="3">
                  <c:v>t3</c:v>
                </c:pt>
                <c:pt idx="4">
                  <c:v>t4</c:v>
                </c:pt>
                <c:pt idx="5">
                  <c:v>t5</c:v>
                </c:pt>
              </c:strCache>
            </c:strRef>
          </c:cat>
          <c:val>
            <c:numRef>
              <c:f>Sheet1!$C$2:$C$7</c:f>
              <c:numCache>
                <c:formatCode>General</c:formatCode>
                <c:ptCount val="6"/>
                <c:pt idx="0">
                  <c:v>2</c:v>
                </c:pt>
                <c:pt idx="1">
                  <c:v>3</c:v>
                </c:pt>
                <c:pt idx="2">
                  <c:v>6</c:v>
                </c:pt>
                <c:pt idx="3">
                  <c:v>6</c:v>
                </c:pt>
                <c:pt idx="4">
                  <c:v>4</c:v>
                </c:pt>
                <c:pt idx="5">
                  <c:v>2</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legend>
      <c:legendPos val="b"/>
      <c:layout/>
      <c:overlay val="0"/>
    </c:legend>
    <c:plotVisOnly val="1"/>
    <c:dispBlanksAs val="gap"/>
    <c:showDLblsOverMax val="0"/>
  </c:chart>
  <c:txPr>
    <a:bodyPr/>
    <a:lstStyle/>
    <a:p>
      <a:pPr>
        <a:defRPr sz="1100">
          <a:latin typeface="Arial"/>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Latency ms</c:v>
                </c:pt>
              </c:strCache>
            </c:strRef>
          </c:tx>
          <c:spPr>
            <a:solidFill>
              <a:srgbClr val="1F6FEB"/>
            </a:solidFill>
          </c:spPr>
          <c:cat>
            <c:strRef>
              <c:f>Sheet1!$A$2:$A$7</c:f>
              <c:strCache>
                <c:ptCount val="6"/>
                <c:pt idx="0">
                  <c:v>t-5</c:v>
                </c:pt>
                <c:pt idx="1">
                  <c:v>t-4</c:v>
                </c:pt>
                <c:pt idx="2">
                  <c:v>t-3</c:v>
                </c:pt>
                <c:pt idx="3">
                  <c:v>t-2</c:v>
                </c:pt>
                <c:pt idx="4">
                  <c:v>t-1</c:v>
                </c:pt>
                <c:pt idx="5">
                  <c:v>now</c:v>
                </c:pt>
              </c:strCache>
            </c:strRef>
          </c:cat>
          <c:val>
            <c:numRef>
              <c:f>Sheet1!$B$2:$B$7</c:f>
              <c:numCache>
                <c:formatCode>General</c:formatCode>
                <c:ptCount val="6"/>
                <c:pt idx="0">
                  <c:v>120</c:v>
                </c:pt>
                <c:pt idx="1">
                  <c:v>130</c:v>
                </c:pt>
                <c:pt idx="2">
                  <c:v>140</c:v>
                </c:pt>
                <c:pt idx="3">
                  <c:v>320</c:v>
                </c:pt>
                <c:pt idx="4">
                  <c:v>540</c:v>
                </c:pt>
                <c:pt idx="5">
                  <c:v>720</c:v>
                </c:pt>
              </c:numCache>
            </c:numRef>
          </c:val>
          <c:smooth val="0"/>
        </c:ser>
        <c:ser>
          <c:idx val="1"/>
          <c:order val="1"/>
          <c:tx>
            <c:strRef>
              <c:f>Sheet1!$C$1</c:f>
              <c:strCache>
                <c:ptCount val="1"/>
                <c:pt idx="0">
                  <c:v>Alarm threshold</c:v>
                </c:pt>
              </c:strCache>
            </c:strRef>
          </c:tx>
          <c:spPr>
            <a:solidFill>
              <a:srgbClr val="10B981"/>
            </a:solidFill>
          </c:spPr>
          <c:cat>
            <c:strRef>
              <c:f>Sheet1!$A$2:$A$7</c:f>
              <c:strCache>
                <c:ptCount val="6"/>
                <c:pt idx="0">
                  <c:v>t-5</c:v>
                </c:pt>
                <c:pt idx="1">
                  <c:v>t-4</c:v>
                </c:pt>
                <c:pt idx="2">
                  <c:v>t-3</c:v>
                </c:pt>
                <c:pt idx="3">
                  <c:v>t-2</c:v>
                </c:pt>
                <c:pt idx="4">
                  <c:v>t-1</c:v>
                </c:pt>
                <c:pt idx="5">
                  <c:v>now</c:v>
                </c:pt>
              </c:strCache>
            </c:strRef>
          </c:cat>
          <c:val>
            <c:numRef>
              <c:f>Sheet1!$C$2:$C$7</c:f>
              <c:numCache>
                <c:formatCode>General</c:formatCode>
                <c:ptCount val="6"/>
                <c:pt idx="0">
                  <c:v>400</c:v>
                </c:pt>
                <c:pt idx="1">
                  <c:v>400</c:v>
                </c:pt>
                <c:pt idx="2">
                  <c:v>400</c:v>
                </c:pt>
                <c:pt idx="3">
                  <c:v>400</c:v>
                </c:pt>
                <c:pt idx="4">
                  <c:v>400</c:v>
                </c:pt>
                <c:pt idx="5">
                  <c:v>400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legend>
      <c:legendPos val="b"/>
      <c:layout/>
      <c:overlay val="0"/>
    </c:legend>
    <c:plotVisOnly val="1"/>
    <c:dispBlanksAs val="gap"/>
    <c:showDLblsOverMax val="0"/>
  </c:chart>
  <c:txPr>
    <a:bodyPr/>
    <a:lstStyle/>
    <a:p>
      <a:pPr>
        <a:defRPr sz="1100">
          <a:latin typeface="Arial"/>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Latency ms</c:v>
                </c:pt>
              </c:strCache>
            </c:strRef>
          </c:tx>
          <c:spPr>
            <a:solidFill>
              <a:srgbClr val="1F6FEB"/>
            </a:solidFill>
          </c:spPr>
          <c:cat>
            <c:strRef>
              <c:f>Sheet1!$A$2:$A$5</c:f>
              <c:strCache>
                <c:ptCount val="4"/>
                <c:pt idx="0">
                  <c:v>Average</c:v>
                </c:pt>
                <c:pt idx="1">
                  <c:v>p50</c:v>
                </c:pt>
                <c:pt idx="2">
                  <c:v>p90</c:v>
                </c:pt>
                <c:pt idx="3">
                  <c:v>p99</c:v>
                </c:pt>
              </c:strCache>
            </c:strRef>
          </c:cat>
          <c:val>
            <c:numRef>
              <c:f>Sheet1!$B$2:$B$5</c:f>
              <c:numCache>
                <c:formatCode>General</c:formatCode>
                <c:ptCount val="4"/>
                <c:pt idx="0">
                  <c:v>140</c:v>
                </c:pt>
                <c:pt idx="1">
                  <c:v>110</c:v>
                </c:pt>
                <c:pt idx="2">
                  <c:v>320</c:v>
                </c:pt>
                <c:pt idx="3">
                  <c:v>900</c:v>
                </c:pt>
              </c:numCache>
            </c:numRef>
          </c:val>
        </c:ser>
        <c:dLbls>
          <c:numFmt formatCode="General" sourceLinked="0"/>
          <c:txPr>
            <a:bodyPr/>
            <a:lstStyle/>
            <a:p>
              <a:pPr>
                <a:defRPr sz="1100" b="1"/>
              </a:pPr>
            </a:p>
          </c:txPr>
          <c:showLegendKey val="0"/>
          <c:showVal val="1"/>
          <c:showCatName val="0"/>
          <c:showSerName val="0"/>
          <c:showPercent val="0"/>
          <c:showBubbleSize val="0"/>
          <c:showLeaderLines val="1"/>
        </c:dLbls>
        <c:gapWidth val="8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100">
          <a:latin typeface="Arial"/>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Manual (min)</c:v>
                </c:pt>
              </c:strCache>
            </c:strRef>
          </c:tx>
          <c:spPr>
            <a:solidFill>
              <a:srgbClr val="1F6FEB"/>
            </a:solidFill>
          </c:spPr>
          <c:cat>
            <c:strRef>
              <c:f>Sheet1!$A$2:$A$5</c:f>
              <c:strCache>
                <c:ptCount val="4"/>
                <c:pt idx="0">
                  <c:v>Detect</c:v>
                </c:pt>
                <c:pt idx="1">
                  <c:v>Notify</c:v>
                </c:pt>
                <c:pt idx="2">
                  <c:v>Diagnose</c:v>
                </c:pt>
                <c:pt idx="3">
                  <c:v>Remediate</c:v>
                </c:pt>
              </c:strCache>
            </c:strRef>
          </c:cat>
          <c:val>
            <c:numRef>
              <c:f>Sheet1!$B$2:$B$5</c:f>
              <c:numCache>
                <c:formatCode>General</c:formatCode>
                <c:ptCount val="4"/>
                <c:pt idx="0">
                  <c:v>10</c:v>
                </c:pt>
                <c:pt idx="1">
                  <c:v>15</c:v>
                </c:pt>
                <c:pt idx="2">
                  <c:v>30</c:v>
                </c:pt>
                <c:pt idx="3">
                  <c:v>20</c:v>
                </c:pt>
              </c:numCache>
            </c:numRef>
          </c:val>
        </c:ser>
        <c:ser>
          <c:idx val="1"/>
          <c:order val="1"/>
          <c:tx>
            <c:strRef>
              <c:f>Sheet1!$C$1</c:f>
              <c:strCache>
                <c:ptCount val="1"/>
                <c:pt idx="0">
                  <c:v>Automated (min)</c:v>
                </c:pt>
              </c:strCache>
            </c:strRef>
          </c:tx>
          <c:spPr>
            <a:solidFill>
              <a:srgbClr val="10B981"/>
            </a:solidFill>
          </c:spPr>
          <c:cat>
            <c:strRef>
              <c:f>Sheet1!$A$2:$A$5</c:f>
              <c:strCache>
                <c:ptCount val="4"/>
                <c:pt idx="0">
                  <c:v>Detect</c:v>
                </c:pt>
                <c:pt idx="1">
                  <c:v>Notify</c:v>
                </c:pt>
                <c:pt idx="2">
                  <c:v>Diagnose</c:v>
                </c:pt>
                <c:pt idx="3">
                  <c:v>Remediate</c:v>
                </c:pt>
              </c:strCache>
            </c:strRef>
          </c:cat>
          <c:val>
            <c:numRef>
              <c:f>Sheet1!$C$2:$C$5</c:f>
              <c:numCache>
                <c:formatCode>General</c:formatCode>
                <c:ptCount val="4"/>
                <c:pt idx="0">
                  <c:v>1</c:v>
                </c:pt>
                <c:pt idx="1">
                  <c:v>1</c:v>
                </c:pt>
                <c:pt idx="2">
                  <c:v>2</c:v>
                </c:pt>
                <c:pt idx="3">
                  <c:v>3</c:v>
                </c:pt>
              </c:numCache>
            </c:numRef>
          </c:val>
        </c:ser>
        <c:gapWidth val="80"/>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legend>
      <c:legendPos val="b"/>
      <c:overlay val="0"/>
    </c:legend>
    <c:dispBlanksAs val="gap"/>
  </c:chart>
  <c:txPr>
    <a:bodyPr/>
    <a:lstStyle/>
    <a:p>
      <a:pPr>
        <a:defRPr sz="1100">
          <a:latin typeface="Arial"/>
        </a:defRPr>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Manual (min)</c:v>
                </c:pt>
              </c:strCache>
            </c:strRef>
          </c:tx>
          <c:spPr>
            <a:solidFill>
              <a:srgbClr val="1F6FEB"/>
            </a:solidFill>
          </c:spPr>
          <c:cat>
            <c:strRef>
              <c:f>Sheet1!$A$2:$A$5</c:f>
              <c:strCache>
                <c:ptCount val="4"/>
                <c:pt idx="0">
                  <c:v>Detect</c:v>
                </c:pt>
                <c:pt idx="1">
                  <c:v>Notify</c:v>
                </c:pt>
                <c:pt idx="2">
                  <c:v>Diagnose</c:v>
                </c:pt>
                <c:pt idx="3">
                  <c:v>Remediate</c:v>
                </c:pt>
              </c:strCache>
            </c:strRef>
          </c:cat>
          <c:val>
            <c:numRef>
              <c:f>Sheet1!$B$2:$B$5</c:f>
              <c:numCache>
                <c:formatCode>General</c:formatCode>
                <c:ptCount val="4"/>
                <c:pt idx="0">
                  <c:v>10</c:v>
                </c:pt>
                <c:pt idx="1">
                  <c:v>15</c:v>
                </c:pt>
                <c:pt idx="2">
                  <c:v>30</c:v>
                </c:pt>
                <c:pt idx="3">
                  <c:v>20</c:v>
                </c:pt>
              </c:numCache>
            </c:numRef>
          </c:val>
        </c:ser>
        <c:ser>
          <c:idx val="1"/>
          <c:order val="1"/>
          <c:tx>
            <c:strRef>
              <c:f>Sheet1!$C$1</c:f>
              <c:strCache>
                <c:ptCount val="1"/>
                <c:pt idx="0">
                  <c:v>Automated (min)</c:v>
                </c:pt>
              </c:strCache>
            </c:strRef>
          </c:tx>
          <c:spPr>
            <a:solidFill>
              <a:srgbClr val="10B981"/>
            </a:solidFill>
          </c:spPr>
          <c:cat>
            <c:strRef>
              <c:f>Sheet1!$A$2:$A$5</c:f>
              <c:strCache>
                <c:ptCount val="4"/>
                <c:pt idx="0">
                  <c:v>Detect</c:v>
                </c:pt>
                <c:pt idx="1">
                  <c:v>Notify</c:v>
                </c:pt>
                <c:pt idx="2">
                  <c:v>Diagnose</c:v>
                </c:pt>
                <c:pt idx="3">
                  <c:v>Remediate</c:v>
                </c:pt>
              </c:strCache>
            </c:strRef>
          </c:cat>
          <c:val>
            <c:numRef>
              <c:f>Sheet1!$C$2:$C$5</c:f>
              <c:numCache>
                <c:formatCode>General</c:formatCode>
                <c:ptCount val="4"/>
                <c:pt idx="0">
                  <c:v>1</c:v>
                </c:pt>
                <c:pt idx="1">
                  <c:v>1</c:v>
                </c:pt>
                <c:pt idx="2">
                  <c:v>3</c:v>
                </c:pt>
                <c:pt idx="3">
                  <c:v>3</c:v>
                </c:pt>
              </c:numCache>
            </c:numRef>
          </c:val>
        </c:ser>
        <c:gapWidth val="80"/>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legend>
      <c:legendPos val="b"/>
      <c:overlay val="0"/>
    </c:legend>
    <c:dispBlanksAs val="gap"/>
  </c:chart>
  <c:txPr>
    <a:bodyPr/>
    <a:lstStyle/>
    <a:p>
      <a:pPr>
        <a:defRPr sz="1100">
          <a:latin typeface="Arial"/>
        </a:defRPr>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Exposure window (hours)</c:v>
                </c:pt>
              </c:strCache>
            </c:strRef>
          </c:tx>
          <c:spPr>
            <a:solidFill>
              <a:srgbClr val="1F6FEB"/>
            </a:solidFill>
          </c:spPr>
          <c:cat>
            <c:strRef>
              <c:f>Sheet1!$A$2:$A$4</c:f>
              <c:strCache>
                <c:ptCount val="3"/>
                <c:pt idx="0">
                  <c:v>Manual quarterly audit</c:v>
                </c:pt>
                <c:pt idx="1">
                  <c:v>Weekly script</c:v>
                </c:pt>
                <c:pt idx="2">
                  <c:v>AWS Config rule</c:v>
                </c:pt>
              </c:strCache>
            </c:strRef>
          </c:cat>
          <c:val>
            <c:numRef>
              <c:f>Sheet1!$B$2:$B$4</c:f>
              <c:numCache>
                <c:formatCode>General</c:formatCode>
                <c:ptCount val="3"/>
                <c:pt idx="0">
                  <c:v>720</c:v>
                </c:pt>
                <c:pt idx="1">
                  <c:v>84</c:v>
                </c:pt>
                <c:pt idx="2">
                  <c:v>0.2</c:v>
                </c:pt>
              </c:numCache>
            </c:numRef>
          </c:val>
        </c:ser>
        <c:dLbls>
          <c:numFmt formatCode="General" sourceLinked="0"/>
          <c:txPr>
            <a:bodyPr/>
            <a:lstStyle/>
            <a:p>
              <a:pPr>
                <a:defRPr sz="1100" b="1"/>
              </a:pPr>
            </a:p>
          </c:txPr>
          <c:showLegendKey val="0"/>
          <c:showVal val="1"/>
          <c:showCatName val="0"/>
          <c:showSerName val="0"/>
          <c:showPercent val="0"/>
          <c:showBubbleSize val="0"/>
          <c:showLeaderLines val="1"/>
        </c:dLbls>
        <c:gapWidth val="80"/>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dispBlanksAs val="gap"/>
  </c:chart>
  <c:txPr>
    <a:bodyPr/>
    <a:lstStyle/>
    <a:p>
      <a:pPr>
        <a:defRPr sz="1100">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0.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2.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3.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8.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9.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0.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3.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4.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5.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6.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7.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9.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0.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1.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2.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5.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6.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7.xml"/></Relationships>
</file>

<file path=ppt/notesSlides/_rels/notesSlide3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8.xml"/></Relationships>
</file>

<file path=ppt/notesSlides/_rels/notesSlide3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9.xml"/></Relationships>
</file>

<file path=ppt/notesSlides/_rels/notesSlide3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0.xml"/></Relationships>
</file>

<file path=ppt/notesSlides/_rels/notesSlide3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1.xml"/></Relationships>
</file>

<file path=ppt/notesSlides/_rels/notesSlide3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2.xml"/></Relationships>
</file>

<file path=ppt/notesSlides/_rels/notesSlide3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3.xml"/></Relationships>
</file>

<file path=ppt/notesSlides/_rels/notesSlide3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4.xml"/></Relationships>
</file>

<file path=ppt/notesSlides/_rels/notesSlide3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5.xml"/></Relationships>
</file>

<file path=ppt/notesSlides/_rels/notesSlide3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6.xml"/></Relationships>
</file>

<file path=ppt/notesSlides/_rels/notesSlide3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7.xml"/></Relationships>
</file>

<file path=ppt/notesSlides/_rels/notesSlide3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8.xml"/></Relationships>
</file>

<file path=ppt/notesSlides/_rels/notesSlide3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9.xml"/></Relationships>
</file>

<file path=ppt/notesSlides/_rels/notesSlide3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0.xml"/></Relationships>
</file>

<file path=ppt/notesSlides/_rels/notesSlide3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1.xml"/></Relationships>
</file>

<file path=ppt/notesSlides/_rels/notesSlide3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2.xml"/></Relationships>
</file>

<file path=ppt/notesSlides/_rels/notesSlide3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3.xml"/></Relationships>
</file>

<file path=ppt/notesSlides/_rels/notesSlide3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4.xml"/></Relationships>
</file>

<file path=ppt/notesSlides/_rels/notesSlide3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5.xml"/></Relationships>
</file>

<file path=ppt/notesSlides/_rels/notesSlide3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6.xml"/></Relationships>
</file>

<file path=ppt/notesSlides/_rels/notesSlide3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7.xml"/></Relationships>
</file>

<file path=ppt/notesSlides/_rels/notesSlide3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8.xml"/></Relationships>
</file>

<file path=ppt/notesSlides/_rels/notesSlide3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9.xml"/></Relationships>
</file>

<file path=ppt/notesSlides/_rels/notesSlide3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0.xml"/></Relationships>
</file>

<file path=ppt/notesSlides/_rels/notesSlide3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1.xml"/></Relationships>
</file>

<file path=ppt/notesSlides/_rels/notesSlide3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2.xml"/></Relationships>
</file>

<file path=ppt/notesSlides/_rels/notesSlide3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3.xml"/></Relationships>
</file>

<file path=ppt/notesSlides/_rels/notesSlide3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4.xml"/></Relationships>
</file>

<file path=ppt/notesSlides/_rels/notesSlide3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5.xml"/></Relationships>
</file>

<file path=ppt/notesSlides/_rels/notesSlide3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6.xml"/></Relationships>
</file>

<file path=ppt/notesSlides/_rels/notesSlide3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8.xml"/></Relationships>
</file>

<file path=ppt/notesSlides/_rels/notesSlide3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9.xml"/></Relationships>
</file>

<file path=ppt/notesSlides/_rels/notesSlide3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2.xml"/></Relationships>
</file>

<file path=ppt/notesSlides/_rels/notesSlide3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0.xml"/></Relationships>
</file>

<file path=ppt/notesSlides/_rels/notesSlide3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1.xml"/></Relationships>
</file>

<file path=ppt/notesSlides/_rels/notesSlide3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3.xml"/></Relationships>
</file>

<file path=ppt/notesSlides/_rels/notesSlide3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4.xml"/></Relationships>
</file>

<file path=ppt/notesSlides/_rels/notesSlide3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5.xml"/></Relationships>
</file>

<file path=ppt/notesSlides/_rels/notesSlide3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6.xml"/></Relationships>
</file>

<file path=ppt/notesSlides/_rels/notesSlide3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7.xml"/></Relationships>
</file>

<file path=ppt/notesSlides/_rels/notesSlide3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8.xml"/></Relationships>
</file>

<file path=ppt/notesSlides/_rels/notesSlide3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9.xml"/></Relationships>
</file>

<file path=ppt/notesSlides/_rels/notesSlide3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0.xml"/></Relationships>
</file>

<file path=ppt/notesSlides/_rels/notesSlide3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1.xml"/></Relationships>
</file>

<file path=ppt/notesSlides/_rels/notesSlide3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2.xml"/></Relationships>
</file>

<file path=ppt/notesSlides/_rels/notesSlide3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3.xml"/></Relationships>
</file>

<file path=ppt/notesSlides/_rels/notesSlide3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4.xml"/></Relationships>
</file>

<file path=ppt/notesSlides/_rels/notesSlide3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5.xml"/></Relationships>
</file>

<file path=ppt/notesSlides/_rels/notesSlide3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6.xml"/></Relationships>
</file>

<file path=ppt/notesSlides/_rels/notesSlide3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7.xml"/></Relationships>
</file>

<file path=ppt/notesSlides/_rels/notesSlide3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8.xml"/></Relationships>
</file>

<file path=ppt/notesSlides/_rels/notesSlide3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9.xml"/></Relationships>
</file>

<file path=ppt/notesSlides/_rels/notesSlide3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0.xml"/></Relationships>
</file>

<file path=ppt/notesSlides/_rels/notesSlide3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1.xml"/></Relationships>
</file>

<file path=ppt/notesSlides/_rels/notesSlide3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2.xml"/></Relationships>
</file>

<file path=ppt/notesSlides/_rels/notesSlide3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3.xml"/></Relationships>
</file>

<file path=ppt/notesSlides/_rels/notesSlide3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4.xml"/></Relationships>
</file>

<file path=ppt/notesSlides/_rels/notesSlide3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5.xml"/></Relationships>
</file>

<file path=ppt/notesSlides/_rels/notesSlide3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6.xml"/></Relationships>
</file>

<file path=ppt/notesSlides/_rels/notesSlide3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7.xml"/></Relationships>
</file>

<file path=ppt/notesSlides/_rels/notesSlide3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8.xml"/></Relationships>
</file>

<file path=ppt/notesSlides/_rels/notesSlide3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9.xml"/></Relationships>
</file>

<file path=ppt/notesSlides/_rels/notesSlide3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0.xml"/></Relationships>
</file>

<file path=ppt/notesSlides/_rels/notesSlide3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1.xml"/></Relationships>
</file>

<file path=ppt/notesSlides/_rels/notesSlide3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2.xml"/></Relationships>
</file>

<file path=ppt/notesSlides/_rels/notesSlide3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3.xml"/></Relationships>
</file>

<file path=ppt/notesSlides/_rels/notesSlide3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4.xml"/></Relationships>
</file>

<file path=ppt/notesSlides/_rels/notesSlide3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5.xml"/></Relationships>
</file>

<file path=ppt/notesSlides/_rels/notesSlide3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6.xml"/></Relationships>
</file>

<file path=ppt/notesSlides/_rels/notesSlide3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7.xml"/></Relationships>
</file>

<file path=ppt/notesSlides/_rels/notesSlide3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8.xml"/></Relationships>
</file>

<file path=ppt/notesSlides/_rels/notesSlide3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9.xml"/></Relationships>
</file>

<file path=ppt/notesSlides/_rels/notesSlide3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0.xml"/></Relationships>
</file>

<file path=ppt/notesSlides/_rels/notesSlide3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1.xml"/></Relationships>
</file>

<file path=ppt/notesSlides/_rels/notesSlide3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2.xml"/></Relationships>
</file>

<file path=ppt/notesSlides/_rels/notesSlide3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3.xml"/></Relationships>
</file>

<file path=ppt/notesSlides/_rels/notesSlide3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4.xml"/></Relationships>
</file>

<file path=ppt/notesSlides/_rels/notesSlide3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5.xml"/></Relationships>
</file>

<file path=ppt/notesSlides/_rels/notesSlide3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6.xml"/></Relationships>
</file>

<file path=ppt/notesSlides/_rels/notesSlide3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7.xml"/></Relationships>
</file>

<file path=ppt/notesSlides/_rels/notesSlide3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8.xml"/></Relationships>
</file>

<file path=ppt/notesSlides/_rels/notesSlide3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9.xml"/></Relationships>
</file>

<file path=ppt/notesSlides/_rels/notesSlide3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0.xml"/></Relationships>
</file>

<file path=ppt/notesSlides/_rels/notesSlide3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1.xml"/></Relationships>
</file>

<file path=ppt/notesSlides/_rels/notesSlide3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2.xml"/></Relationships>
</file>

<file path=ppt/notesSlides/_rels/notesSlide3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3.xml"/></Relationships>
</file>

<file path=ppt/notesSlides/_rels/notesSlide3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4.xml"/></Relationships>
</file>

<file path=ppt/notesSlides/_rels/notesSlide3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5.xml"/></Relationships>
</file>

<file path=ppt/notesSlides/_rels/notesSlide3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6.xml"/></Relationships>
</file>

<file path=ppt/notesSlides/_rels/notesSlide3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7.xml"/></Relationships>
</file>

<file path=ppt/notesSlides/_rels/notesSlide3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8.xml"/></Relationships>
</file>

<file path=ppt/notesSlides/_rels/notesSlide3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9.xml"/></Relationships>
</file>

<file path=ppt/notesSlides/_rels/notesSlide3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0.xml"/></Relationships>
</file>

<file path=ppt/notesSlides/_rels/notesSlide3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1.xml"/></Relationships>
</file>

<file path=ppt/notesSlides/_rels/notesSlide3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2.xml"/></Relationships>
</file>

<file path=ppt/notesSlides/_rels/notesSlide3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3.xml"/></Relationships>
</file>

<file path=ppt/notesSlides/_rels/notesSlide3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4.xml"/></Relationships>
</file>

<file path=ppt/notesSlides/_rels/notesSlide3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5.xml"/></Relationships>
</file>

<file path=ppt/notesSlides/_rels/notesSlide4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6.xml"/></Relationships>
</file>

<file path=ppt/notesSlides/_rels/notesSlide4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7.xml"/></Relationships>
</file>

<file path=ppt/notesSlides/_rels/notesSlide4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8.xml"/></Relationships>
</file>

<file path=ppt/notesSlides/_rels/notesSlide4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9.xml"/></Relationships>
</file>

<file path=ppt/notesSlides/_rels/notesSlide4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0.xml"/></Relationships>
</file>

<file path=ppt/notesSlides/_rels/notesSlide4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1.xml"/></Relationships>
</file>

<file path=ppt/notesSlides/_rels/notesSlide4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2.xml"/></Relationships>
</file>

<file path=ppt/notesSlides/_rels/notesSlide4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3.xml"/></Relationships>
</file>

<file path=ppt/notesSlides/_rels/notesSlide4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4.xml"/></Relationships>
</file>

<file path=ppt/notesSlides/_rels/notesSlide4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5.xml"/></Relationships>
</file>

<file path=ppt/notesSlides/_rels/notesSlide4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6.xml"/></Relationships>
</file>

<file path=ppt/notesSlides/_rels/notesSlide4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7.xml"/></Relationships>
</file>

<file path=ppt/notesSlides/_rels/notesSlide4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8.xml"/></Relationships>
</file>

<file path=ppt/notesSlides/_rels/notesSlide4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9.xml"/></Relationships>
</file>

<file path=ppt/notesSlides/_rels/notesSlide4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0.xml"/></Relationships>
</file>

<file path=ppt/notesSlides/_rels/notesSlide4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1.xml"/></Relationships>
</file>

<file path=ppt/notesSlides/_rels/notesSlide4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2.xml"/></Relationships>
</file>

<file path=ppt/notesSlides/_rels/notesSlide4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3.xml"/></Relationships>
</file>

<file path=ppt/notesSlides/_rels/notesSlide4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4.xml"/></Relationships>
</file>

<file path=ppt/notesSlides/_rels/notesSlide4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6.xml"/></Relationships>
</file>

<file path=ppt/notesSlides/_rels/notesSlide4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9.xml"/></Relationships>
</file>

<file path=ppt/notesSlides/_rels/notesSlide4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7.xml"/></Relationships>
</file>

<file path=ppt/notesSlides/_rels/notesSlide4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8.xml"/></Relationships>
</file>

<file path=ppt/notesSlides/_rels/notesSlide4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0.xml"/></Relationships>
</file>

<file path=ppt/notesSlides/_rels/notesSlide4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1.xml"/></Relationships>
</file>

<file path=ppt/notesSlides/_rels/notesSlide4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2.xml"/></Relationships>
</file>

<file path=ppt/notesSlides/_rels/notesSlide4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3.xml"/></Relationships>
</file>

<file path=ppt/notesSlides/_rels/notesSlide4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4.xml"/></Relationships>
</file>

<file path=ppt/notesSlides/_rels/notesSlide4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5.xml"/></Relationships>
</file>

<file path=ppt/notesSlides/_rels/notesSlide4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6.xml"/></Relationships>
</file>

<file path=ppt/notesSlides/_rels/notesSlide4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7.xml"/></Relationships>
</file>

<file path=ppt/notesSlides/_rels/notesSlide4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8.xml"/></Relationships>
</file>

<file path=ppt/notesSlides/_rels/notesSlide4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9.xml"/></Relationships>
</file>

<file path=ppt/notesSlides/_rels/notesSlide4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0.xml"/></Relationships>
</file>

<file path=ppt/notesSlides/_rels/notesSlide4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1.xml"/></Relationships>
</file>

<file path=ppt/notesSlides/_rels/notesSlide4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2.xml"/></Relationships>
</file>

<file path=ppt/notesSlides/_rels/notesSlide4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3.xml"/></Relationships>
</file>

<file path=ppt/notesSlides/_rels/notesSlide4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4.xml"/></Relationships>
</file>

<file path=ppt/notesSlides/_rels/notesSlide4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5.xml"/></Relationships>
</file>

<file path=ppt/notesSlides/_rels/notesSlide4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6.xml"/></Relationships>
</file>

<file path=ppt/notesSlides/_rels/notesSlide4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7.xml"/></Relationships>
</file>

<file path=ppt/notesSlides/_rels/notesSlide4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8.xml"/></Relationships>
</file>

<file path=ppt/notesSlides/_rels/notesSlide4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9.xml"/></Relationships>
</file>

<file path=ppt/notesSlides/_rels/notesSlide4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0.xml"/></Relationships>
</file>

<file path=ppt/notesSlides/_rels/notesSlide4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1.xml"/></Relationships>
</file>

<file path=ppt/notesSlides/_rels/notesSlide4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2.xml"/></Relationships>
</file>

<file path=ppt/notesSlides/_rels/notesSlide4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3.xml"/></Relationships>
</file>

<file path=ppt/notesSlides/_rels/notesSlide4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4.xml"/></Relationships>
</file>

<file path=ppt/notesSlides/_rels/notesSlide4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5.xml"/></Relationships>
</file>

<file path=ppt/notesSlides/_rels/notesSlide4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6.xml"/></Relationships>
</file>

<file path=ppt/notesSlides/_rels/notesSlide4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7.xml"/></Relationships>
</file>

<file path=ppt/notesSlides/_rels/notesSlide4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8.xml"/></Relationships>
</file>

<file path=ppt/notesSlides/_rels/notesSlide4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9.xml"/></Relationships>
</file>

<file path=ppt/notesSlides/_rels/notesSlide4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0.xml"/></Relationships>
</file>

<file path=ppt/notesSlides/_rels/notesSlide4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1.xml"/></Relationships>
</file>

<file path=ppt/notesSlides/_rels/notesSlide4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2.xml"/></Relationships>
</file>

<file path=ppt/notesSlides/_rels/notesSlide4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3.xml"/></Relationships>
</file>

<file path=ppt/notesSlides/_rels/notesSlide4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4.xml"/></Relationships>
</file>

<file path=ppt/notesSlides/_rels/notesSlide4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5.xml"/></Relationships>
</file>

<file path=ppt/notesSlides/_rels/notesSlide4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6.xml"/></Relationships>
</file>

<file path=ppt/notesSlides/_rels/notesSlide4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7.xml"/></Relationships>
</file>

<file path=ppt/notesSlides/_rels/notesSlide4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8.xml"/></Relationships>
</file>

<file path=ppt/notesSlides/_rels/notesSlide4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9.xml"/></Relationships>
</file>

<file path=ppt/notesSlides/_rels/notesSlide4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0.xml"/></Relationships>
</file>

<file path=ppt/notesSlides/_rels/notesSlide4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1.xml"/></Relationships>
</file>

<file path=ppt/notesSlides/_rels/notesSlide4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2.xml"/></Relationships>
</file>

<file path=ppt/notesSlides/_rels/notesSlide4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3.xml"/></Relationships>
</file>

<file path=ppt/notesSlides/_rels/notesSlide4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4.xml"/></Relationships>
</file>

<file path=ppt/notesSlides/_rels/notesSlide4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5.xml"/></Relationships>
</file>

<file path=ppt/notesSlides/_rels/notesSlide4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6.xml"/></Relationships>
</file>

<file path=ppt/notesSlides/_rels/notesSlide4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7.xml"/></Relationships>
</file>

<file path=ppt/notesSlides/_rels/notesSlide4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8.xml"/></Relationships>
</file>

<file path=ppt/notesSlides/_rels/notesSlide4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9.xml"/></Relationships>
</file>

<file path=ppt/notesSlides/_rels/notesSlide4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0.xml"/></Relationships>
</file>

<file path=ppt/notesSlides/_rels/notesSlide4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1.xml"/></Relationships>
</file>

<file path=ppt/notesSlides/_rels/notesSlide4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2.xml"/></Relationships>
</file>

<file path=ppt/notesSlides/_rels/notesSlide4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3.xml"/></Relationships>
</file>

<file path=ppt/notesSlides/_rels/notesSlide4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4.xml"/></Relationships>
</file>

<file path=ppt/notesSlides/_rels/notesSlide4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5.xml"/></Relationships>
</file>

<file path=ppt/notesSlides/_rels/notesSlide4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6.xml"/></Relationships>
</file>

<file path=ppt/notesSlides/_rels/notesSlide4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7.xml"/></Relationships>
</file>

<file path=ppt/notesSlides/_rels/notesSlide4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8.xml"/></Relationships>
</file>

<file path=ppt/notesSlides/_rels/notesSlide4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9.xml"/></Relationships>
</file>

<file path=ppt/notesSlides/_rels/notesSlide4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0.xml"/></Relationships>
</file>

<file path=ppt/notesSlides/_rels/notesSlide4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1.xml"/></Relationships>
</file>

<file path=ppt/notesSlides/_rels/notesSlide4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2.xml"/></Relationships>
</file>

<file path=ppt/notesSlides/_rels/notesSlide4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3.xml"/></Relationships>
</file>

<file path=ppt/notesSlides/_rels/notesSlide4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4.xml"/></Relationships>
</file>

<file path=ppt/notesSlides/_rels/notesSlide4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5.xml"/></Relationships>
</file>

<file path=ppt/notesSlides/_rels/notesSlide4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6.xml"/></Relationships>
</file>

<file path=ppt/notesSlides/_rels/notesSlide4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7.xml"/></Relationships>
</file>

<file path=ppt/notesSlides/_rels/notesSlide4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8.xml"/></Relationships>
</file>

<file path=ppt/notesSlides/_rels/notesSlide4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9.xml"/></Relationships>
</file>

<file path=ppt/notesSlides/_rels/notesSlide4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0.xml"/></Relationships>
</file>

<file path=ppt/notesSlides/_rels/notesSlide4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1.xml"/></Relationships>
</file>

<file path=ppt/notesSlides/_rels/notesSlide4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2.xml"/></Relationships>
</file>

<file path=ppt/notesSlides/_rels/notesSlide4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3.xml"/></Relationships>
</file>

<file path=ppt/notesSlides/_rels/notesSlide4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4.xml"/></Relationships>
</file>

<file path=ppt/notesSlides/_rels/notesSlide4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5.xml"/></Relationships>
</file>

<file path=ppt/notesSlides/_rels/notesSlide4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7.xml"/></Relationships>
</file>

<file path=ppt/notesSlides/_rels/notesSlide5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8.xml"/></Relationships>
</file>

<file path=ppt/notesSlides/_rels/notesSlide5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9.xml"/></Relationships>
</file>

<file path=ppt/notesSlides/_rels/notesSlide5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0.xml"/></Relationships>
</file>

<file path=ppt/notesSlides/_rels/notesSlide5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1.xml"/></Relationships>
</file>

<file path=ppt/notesSlides/_rels/notesSlide5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2.xml"/></Relationships>
</file>

<file path=ppt/notesSlides/_rels/notesSlide5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3.xml"/></Relationships>
</file>

<file path=ppt/notesSlides/_rels/notesSlide5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4.xml"/></Relationships>
</file>

<file path=ppt/notesSlides/_rels/notesSlide5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5.xml"/></Relationships>
</file>

<file path=ppt/notesSlides/_rels/notesSlide5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6.xml"/></Relationships>
</file>

<file path=ppt/notesSlides/_rels/notesSlide5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7.xml"/></Relationships>
</file>

<file path=ppt/notesSlides/_rels/notesSlide5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8.xml"/></Relationships>
</file>

<file path=ppt/notesSlides/_rels/notesSlide5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9.xml"/></Relationships>
</file>

<file path=ppt/notesSlides/_rels/notesSlide5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0.xml"/></Relationships>
</file>

<file path=ppt/notesSlides/_rels/notesSlide5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1.xml"/></Relationships>
</file>

<file path=ppt/notesSlides/_rels/notesSlide5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2.xml"/></Relationships>
</file>

<file path=ppt/notesSlides/_rels/notesSlide5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3.xml"/></Relationships>
</file>

<file path=ppt/notesSlides/_rels/notesSlide5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4.xml"/></Relationships>
</file>

<file path=ppt/notesSlides/_rels/notesSlide5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5.xml"/></Relationships>
</file>

<file path=ppt/notesSlides/_rels/notesSlide5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6.xml"/></Relationships>
</file>

<file path=ppt/notesSlides/_rels/notesSlide5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7.xml"/></Relationships>
</file>

<file path=ppt/notesSlides/_rels/notesSlide5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8.xml"/></Relationships>
</file>

<file path=ppt/notesSlides/_rels/notesSlide5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9.xml"/></Relationships>
</file>

<file path=ppt/notesSlides/_rels/notesSlide5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0.xml"/></Relationships>
</file>

<file path=ppt/notesSlides/_rels/notesSlide5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1.xml"/></Relationships>
</file>

<file path=ppt/notesSlides/_rels/notesSlide5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2.xml"/></Relationships>
</file>

<file path=ppt/notesSlides/_rels/notesSlide5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3.xml"/></Relationships>
</file>

<file path=ppt/notesSlides/_rels/notesSlide5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4.xml"/></Relationships>
</file>

<file path=ppt/notesSlides/_rels/notesSlide5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5.xml"/></Relationships>
</file>

<file path=ppt/notesSlides/_rels/notesSlide5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6.xml"/></Relationships>
</file>

<file path=ppt/notesSlides/_rels/notesSlide5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7.xml"/></Relationships>
</file>

<file path=ppt/notesSlides/_rels/notesSlide5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8.xml"/></Relationships>
</file>

<file path=ppt/notesSlides/_rels/notesSlide5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9.xml"/></Relationships>
</file>

<file path=ppt/notesSlides/_rels/notesSlide5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0.xml"/></Relationships>
</file>

<file path=ppt/notesSlides/_rels/notesSlide5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1.xml"/></Relationships>
</file>

<file path=ppt/notesSlides/_rels/notesSlide5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2.xml"/></Relationships>
</file>

<file path=ppt/notesSlides/_rels/notesSlide5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3.xml"/></Relationships>
</file>

<file path=ppt/notesSlides/_rels/notesSlide5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4.xml"/></Relationships>
</file>

<file path=ppt/notesSlides/_rels/notesSlide5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5.xml"/></Relationships>
</file>

<file path=ppt/notesSlides/_rels/notesSlide5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6.xml"/></Relationships>
</file>

<file path=ppt/notesSlides/_rels/notesSlide5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7.xml"/></Relationships>
</file>

<file path=ppt/notesSlides/_rels/notesSlide5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8.xml"/></Relationships>
</file>

<file path=ppt/notesSlides/_rels/notesSlide5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9.xml"/></Relationships>
</file>

<file path=ppt/notesSlides/_rels/notesSlide5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0.xml"/></Relationships>
</file>

<file path=ppt/notesSlides/_rels/notesSlide5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1.xml"/></Relationships>
</file>

<file path=ppt/notesSlides/_rels/notesSlide5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2.xml"/></Relationships>
</file>

<file path=ppt/notesSlides/_rels/notesSlide5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3.xml"/></Relationships>
</file>

<file path=ppt/notesSlides/_rels/notesSlide5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4.xml"/></Relationships>
</file>

<file path=ppt/notesSlides/_rels/notesSlide5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5.xml"/></Relationships>
</file>

<file path=ppt/notesSlides/_rels/notesSlide5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6.xml"/></Relationships>
</file>

<file path=ppt/notesSlides/_rels/notesSlide5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7.xml"/></Relationships>
</file>

<file path=ppt/notesSlides/_rels/notesSlide5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8.xml"/></Relationships>
</file>

<file path=ppt/notesSlides/_rels/notesSlide5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9.xml"/></Relationships>
</file>

<file path=ppt/notesSlides/_rels/notesSlide5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0.xml"/></Relationships>
</file>

<file path=ppt/notesSlides/_rels/notesSlide5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1.xml"/></Relationships>
</file>

<file path=ppt/notesSlides/_rels/notesSlide5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2.xml"/></Relationships>
</file>

<file path=ppt/notesSlides/_rels/notesSlide5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3.xml"/></Relationships>
</file>

<file path=ppt/notesSlides/_rels/notesSlide5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4.xml"/></Relationships>
</file>

<file path=ppt/notesSlides/_rels/notesSlide5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5.xml"/></Relationships>
</file>

<file path=ppt/notesSlides/_rels/notesSlide5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6.xml"/></Relationships>
</file>

<file path=ppt/notesSlides/_rels/notesSlide5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7.xml"/></Relationships>
</file>

<file path=ppt/notesSlides/_rels/notesSlide5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8.xml"/></Relationships>
</file>

<file path=ppt/notesSlides/_rels/notesSlide5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9.xml"/></Relationships>
</file>

<file path=ppt/notesSlides/_rels/notesSlide5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0.xml"/></Relationships>
</file>

<file path=ppt/notesSlides/_rels/notesSlide5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1.xml"/></Relationships>
</file>

<file path=ppt/notesSlides/_rels/notesSlide5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2.xml"/></Relationships>
</file>

<file path=ppt/notesSlides/_rels/notesSlide5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3.xml"/></Relationships>
</file>

<file path=ppt/notesSlides/_rels/notesSlide5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4.xml"/></Relationships>
</file>

<file path=ppt/notesSlides/_rels/notesSlide5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5.xml"/></Relationships>
</file>

<file path=ppt/notesSlides/_rels/notesSlide5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6.xml"/></Relationships>
</file>

<file path=ppt/notesSlides/_rels/notesSlide5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7.xml"/></Relationships>
</file>

<file path=ppt/notesSlides/_rels/notesSlide5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8.xml"/></Relationships>
</file>

<file path=ppt/notesSlides/_rels/notesSlide5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9.xml"/></Relationships>
</file>

<file path=ppt/notesSlides/_rels/notesSlide5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0.xml"/></Relationships>
</file>

<file path=ppt/notesSlides/_rels/notesSlide5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1.xml"/></Relationships>
</file>

<file path=ppt/notesSlides/_rels/notesSlide5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2.xml"/></Relationships>
</file>

<file path=ppt/notesSlides/_rels/notesSlide5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3.xml"/></Relationships>
</file>

<file path=ppt/notesSlides/_rels/notesSlide5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4.xml"/></Relationships>
</file>

<file path=ppt/notesSlides/_rels/notesSlide5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5.xml"/></Relationships>
</file>

<file path=ppt/notesSlides/_rels/notesSlide5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6.xml"/></Relationships>
</file>

<file path=ppt/notesSlides/_rels/notesSlide5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7.xml"/></Relationships>
</file>

<file path=ppt/notesSlides/_rels/notesSlide5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8.xml"/></Relationships>
</file>

<file path=ppt/notesSlides/_rels/notesSlide5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9.xml"/></Relationships>
</file>

<file path=ppt/notesSlides/_rels/notesSlide5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0.xml"/></Relationships>
</file>

<file path=ppt/notesSlides/_rels/notesSlide5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1.xml"/></Relationships>
</file>

<file path=ppt/notesSlides/_rels/notesSlide5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2.xml"/></Relationships>
</file>

<file path=ppt/notesSlides/_rels/notesSlide5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3.xml"/></Relationships>
</file>

<file path=ppt/notesSlides/_rels/notesSlide5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4.xml"/></Relationships>
</file>

<file path=ppt/notesSlides/_rels/notesSlide5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5.xml"/></Relationships>
</file>

<file path=ppt/notesSlides/_rels/notesSlide5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6.xml"/></Relationships>
</file>

<file path=ppt/notesSlides/_rels/notesSlide5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8.xml"/></Relationships>
</file>

<file path=ppt/notesSlides/_rels/notesSlide5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9.xml"/></Relationships>
</file>

<file path=ppt/notesSlides/_rels/notesSlide5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0.xml"/></Relationships>
</file>

<file path=ppt/notesSlides/_rels/notesSlide5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1.xml"/></Relationships>
</file>

<file path=ppt/notesSlides/_rels/notesSlide5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2.xml"/></Relationships>
</file>

<file path=ppt/notesSlides/_rels/notesSlide5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slide.</a:t>
            </a:r>
          </a:p>
          <a:p>
            <a:r>
              <a:t>Cover hero illustration created for this course with AI image generation (ImageGen).</a:t>
            </a:r>
          </a:p>
          <a:p/>
          <a:p>
            <a:r>
              <a:t>[Sources]</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Digital attendance (TRAQOM / SSG). Mandatory AM, PM and Assessment attendance for WSQ-funded courses.</a:t>
            </a:r>
          </a:p>
          <a:p>
            <a:r>
              <a:t>The trainer displays the live QR from the SSG portal; the on-slide QR is an illustrative placeholder.</a:t>
            </a:r>
          </a:p>
          <a:p>
            <a:r>
              <a:t>A minimum of 75% attendance is required for assessment and funding.</a:t>
            </a:r>
          </a:p>
          <a:p/>
          <a:p>
            <a:r>
              <a:t>[Sources]</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AWS DevOps Toolchain. CodePipeline orchestrates the top row; IaC, monitoring and security wrap the whole lifecycle.</a:t>
            </a:r>
          </a:p>
          <a:p>
            <a:r>
              <a:t>Editable reference architecture drawn as native PowerPoint shapes.</a:t>
            </a:r>
          </a:p>
          <a:p/>
          <a:p>
            <a:r>
              <a:t>[Sources]</a:t>
            </a:r>
          </a:p>
          <a:p>
            <a:r>
              <a:t>- AWS Certified DevOps Engineer – Professional (DOP-C02) Exam Guide (docs.aws.amazon.com/pdfs/aws-certification/latest/devops-engineer-professional-02).</a:t>
            </a:r>
          </a:p>
          <a:p>
            <a:r>
              <a:t>- Legacy course deck: WSQ Master Trainer Slides — DevOps Engineering on AWS (v7).</a:t>
            </a:r>
          </a:p>
          <a:p>
            <a:r>
              <a:t>- AWS Developer Tools Documentation (docs.aws.amazon.com/codepipeline).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 / Skills Domain Weightings. What the data shows: SDLC Automation (22%) and the two 17% domains — IaC and Security &amp; Compliance — carry the most weight; plan revision time accordingly.</a:t>
            </a:r>
          </a:p>
          <a:p>
            <a:r>
              <a:t>Figures are illustrative teaching values to convey the relationship, not measured benchmarks.</a:t>
            </a:r>
          </a:p>
          <a:p/>
          <a:p>
            <a:r>
              <a:t>[Sources]</a:t>
            </a:r>
          </a:p>
          <a:p>
            <a:r>
              <a:t>- AWS Certified DevOps Engineer – Professional (DOP-C02) Exam Guide (docs.aws.amazon.com/pdfs/aws-certification/latest/devops-engineer-professional-02).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CI/CD — Release Frequency &amp; Lead Time. What the data shows: Automating the pipeline turns a few risky monthly releases into many small, low-risk ones that recover in hours, not days.</a:t>
            </a:r>
          </a:p>
          <a:p>
            <a:r>
              <a:t>Figures are illustrative teaching values to convey the relationship, not measured benchmarks.</a:t>
            </a:r>
          </a:p>
          <a:p/>
          <a:p>
            <a:r>
              <a:t>[Sources]</a:t>
            </a:r>
          </a:p>
          <a:p>
            <a:r>
              <a:t>- DORA / Google Cloud, Accelerate State of DevOps (dora.dev).</a:t>
            </a:r>
          </a:p>
          <a:p>
            <a:r>
              <a:t>- AWS Certified DevOps Engineer – Professional (DOP-C02) Exam Guide (docs.aws.amazon.com/pdfs/aws-certification/latest/devops-engineer-professional-02).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DORA's four metrics pair speed with stability so 'go faster' never means 'break more'.</a:t>
            </a:r>
          </a:p>
          <a:p/>
          <a:p>
            <a:r>
              <a:t>[Sources]</a:t>
            </a:r>
          </a:p>
          <a:p>
            <a:r>
              <a:t>- DORA / Google Cloud, Accelerate State of DevOps (dora.dev).</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Trunk-based development plus feature flags is the pattern that makes continuous integration real.</a:t>
            </a:r>
          </a:p>
          <a:p/>
          <a:p>
            <a:r>
              <a:t>[Sources]</a:t>
            </a:r>
          </a:p>
          <a:p>
            <a:r>
              <a:t>- DORA / Google Cloud, Accelerate State of DevOps (dora.dev).</a:t>
            </a:r>
          </a:p>
          <a:p>
            <a:r>
              <a:t>- AWS Certified DevOps Engineer – Professional (DOP-C02) Exam Guide (docs.aws.amazon.com/pdfs/aws-certification/latest/devops-engineer-professional-02).</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versioned artifact is promoted through environments; only configuration differs — so what you tested is what you ship.</a:t>
            </a:r>
          </a:p>
          <a:p/>
          <a:p>
            <a:r>
              <a:t>[Sources]</a:t>
            </a:r>
          </a:p>
          <a:p>
            <a:r>
              <a:t>- AWS Certified DevOps Engineer – Professional (DOP-C02) Exam Guide (docs.aws.amazon.com/pdfs/aws-certification/latest/devops-engineer-professional-02).</a:t>
            </a:r>
          </a:p>
          <a:p>
            <a:r>
              <a:t>- AWS CodePipeline Documentation (docs.aws.amazon.com/codepipeline).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labs use GitHub through CodeConnections as the primary source path; CodeCommit is discussed as an AWS-native option only.</a:t>
            </a:r>
          </a:p>
          <a:p/>
          <a:p>
            <a:r>
              <a:t>[Sources]</a:t>
            </a:r>
          </a:p>
          <a:p>
            <a:r>
              <a:t>- AWS Certified DevOps Engineer – Professional (DOP-C02) Exam Guide (docs.aws.amazon.com/pdfs/aws-certification/latest/devops-engineer-professional-02).</a:t>
            </a:r>
          </a:p>
          <a:p>
            <a:r>
              <a:t>- AWS CodeConnections Documentation (docs.aws.amazon.com/dtconsole/latest/userguide/welcome-connections.html).</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Immutable infrastructure removes whole classes of drift and 'works on that box' failures.</a:t>
            </a:r>
          </a:p>
          <a:p/>
          <a:p>
            <a:r>
              <a:t>[Sources]</a:t>
            </a:r>
          </a:p>
          <a:p>
            <a:r>
              <a:t>- AWS Well-Architected Framework (docs.aws.amazon.com/wellarchitected).</a:t>
            </a:r>
          </a:p>
          <a:p>
            <a:r>
              <a:t>- AWS Certified DevOps Engineer – Professional (DOP-C02) Exam Guide (docs.aws.amazon.com/pdfs/aws-certification/latest/devops-engineer-professional-02).</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 is a first-class operational metric — the same automation that builds resources should clean them up.</a:t>
            </a:r>
          </a:p>
          <a:p/>
          <a:p>
            <a:r>
              <a:t>[Sources]</a:t>
            </a:r>
          </a:p>
          <a:p>
            <a:r>
              <a:t>- AWS Well-Architected Framework (docs.aws.amazon.com/wellarchitected).</a:t>
            </a:r>
          </a:p>
          <a:p>
            <a:r>
              <a:t>- AWS Certified DevOps Engineer – Professional (DOP-C02) Exam Guide (docs.aws.amazon.com/pdfs/aws-certification/latest/devops-engineer-professional-02).</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DevSecOps folds security into every stage rather than bolting it on before release.</a:t>
            </a:r>
          </a:p>
          <a:p/>
          <a:p>
            <a:r>
              <a:t>[Sources]</a:t>
            </a:r>
          </a:p>
          <a:p>
            <a:r>
              <a:t>- AWS Well-Architected Framework (docs.aws.amazon.com/wellarchitected).</a:t>
            </a:r>
          </a:p>
          <a:p>
            <a:r>
              <a:t>- AWS Certified DevOps Engineer – Professional (DOP-C02) Exam Guide (docs.aws.amazon.com/pdfs/aws-certification/latest/devops-engineer-professional-02).</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Comparison — Choosing Compute — EC2 vs ECS/EKS vs Lambda.</a:t>
            </a:r>
          </a:p>
          <a:p/>
          <a:p>
            <a:r>
              <a:t>[Sources]</a:t>
            </a:r>
          </a:p>
          <a:p>
            <a:r>
              <a:t>- AWS Certified DevOps Engineer – Professional (DOP-C02) Exam Guide (docs.aws.amazon.com/pdfs/aws-certification/latest/devops-engineer-professional-02).</a:t>
            </a:r>
          </a:p>
          <a:p>
            <a:r>
              <a:t>- AWS Well-Architected Framework (docs.aws.amazon.com/wellarchitected).</a:t>
            </a:r>
          </a:p>
          <a:p>
            <a:r>
              <a:t>- AWS Compute Documentation (docs.aws.amazon.com/whitepapers/latest/aws-overview/compute-services.html).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Automating the software-delivery lifecycle on AWS</a:t>
            </a:r>
          </a:p>
          <a:p>
            <a:r>
              <a:t>Illustration created for this course with AI image generation (ImageGen).</a:t>
            </a:r>
          </a:p>
          <a:p/>
          <a:p>
            <a:r>
              <a:t>[Sources]</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concepts for Domain 01 — SDLC Automation.</a:t>
            </a:r>
          </a:p>
          <a:p>
            <a:r>
              <a:t>Continuous Integration: Developers push often; CodeBuild runs the build and tests on every commit so bugs are found early, not at release.</a:t>
            </a:r>
          </a:p>
          <a:p>
            <a:r>
              <a:t>Continuous Delivery / Deployment: Every green build is releasable; CodePipeline and CodeDeploy move it through dev → test → prod with approvals.</a:t>
            </a:r>
          </a:p>
          <a:p>
            <a:r>
              <a:t>The AWS developer tools: CodeCommit / CodeBuild / CodeDeploy / CodePipeline / CodeArtifact / CodeGuru compose the managed CI/CD toolchain.</a:t>
            </a:r>
          </a:p>
          <a:p>
            <a:r>
              <a:t>buildspec &amp; appspec: buildspec.yml tells CodeBuild what to build and test; appspec.yml tells CodeDeploy what and how to deploy.</a:t>
            </a:r>
          </a:p>
          <a:p>
            <a:r>
              <a:t>Deployment strategies: In-place, rolling, blue/green and canary trade release speed against blast radius and rollback safety.</a:t>
            </a:r>
          </a:p>
          <a:p>
            <a:r>
              <a:t>Artifacts: Build outputs are versioned in S3 / CodeArtifact so any release is reproducible and traceable.</a:t>
            </a:r>
          </a:p>
          <a:p/>
          <a:p>
            <a:r>
              <a:t>[Sources]</a:t>
            </a:r>
          </a:p>
          <a:p>
            <a:r>
              <a:t>- AWS Certified DevOps Engineer – Professional (DOP-C02) Exam Guide (docs.aws.amazon.com/pdfs/aws-certification/latest/devops-engineer-professional-02).</a:t>
            </a:r>
          </a:p>
          <a:p>
            <a:r>
              <a:t>- AWS CodePipeline Documentation (docs.aws.amazon.com/codepipeline).</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Deployment Strategy — Blast Radius vs Rollback Speed. What the data shows: Blue/green and canary minimise how many users a bad release can affect and let you roll back fastest.</a:t>
            </a:r>
          </a:p>
          <a:p>
            <a:r>
              <a:t>Figures are illustrative teaching values to convey the relationship, not measured benchmarks.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01 deep dive — SDLC Automation. Editable AWS-native diagram/table/chart.</a:t>
            </a:r>
          </a:p>
          <a:p/>
          <a:p>
            <a:r>
              <a:t>[Sources]</a:t>
            </a:r>
          </a:p>
          <a:p>
            <a:r>
              <a:t>- AWS Certified DevOps Engineer – Professional (DOP-C02) Exam Guide (docs.aws.amazon.com/pdfs/aws-certification/latest/devops-engineer-professional-02).</a:t>
            </a:r>
          </a:p>
          <a:p>
            <a:r>
              <a:t>- AWS CodePipeline Documentation (docs.aws.amazon.com/codepipeline).</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01 deep dive — SDLC Automation. Editable AWS-native diagram/table/chart.</a:t>
            </a:r>
          </a:p>
          <a:p/>
          <a:p>
            <a:r>
              <a:t>[Sources]</a:t>
            </a:r>
          </a:p>
          <a:p>
            <a:r>
              <a:t>- AWS Certified DevOps Engineer – Professional (DOP-C02) Exam Guide (docs.aws.amazon.com/pdfs/aws-certification/latest/devops-engineer-professional-02).</a:t>
            </a:r>
          </a:p>
          <a:p>
            <a:r>
              <a:t>- AWS CodePipeline Documentation (docs.aws.amazon.com/codepipeline).</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01 deep dive — SDLC Automation. Editable AWS-native diagram/table/chart.</a:t>
            </a:r>
          </a:p>
          <a:p/>
          <a:p>
            <a:r>
              <a:t>[Sources]</a:t>
            </a:r>
          </a:p>
          <a:p>
            <a:r>
              <a:t>- AWS Certified DevOps Engineer – Professional (DOP-C02) Exam Guide (docs.aws.amazon.com/pdfs/aws-certification/latest/devops-engineer-professional-02).</a:t>
            </a:r>
          </a:p>
          <a:p>
            <a:r>
              <a:t>- AWS CodePipeline Documentation (docs.aws.amazon.com/codepipeline).</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01 deep dive — SDLC Automation. Editable AWS-native diagram/table/chart.</a:t>
            </a:r>
          </a:p>
          <a:p/>
          <a:p>
            <a:r>
              <a:t>[Sources]</a:t>
            </a:r>
          </a:p>
          <a:p>
            <a:r>
              <a:t>- AWS Certified DevOps Engineer – Professional (DOP-C02) Exam Guide (docs.aws.amazon.com/pdfs/aws-certification/latest/devops-engineer-professional-02).</a:t>
            </a:r>
          </a:p>
          <a:p>
            <a:r>
              <a:t>- AWS CodePipeline Documentation (docs.aws.amazon.com/codepipeline).</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01 deep dive — SDLC Automation. Editable AWS-native diagram/table/chart.</a:t>
            </a:r>
          </a:p>
          <a:p/>
          <a:p>
            <a:r>
              <a:t>[Sources]</a:t>
            </a:r>
          </a:p>
          <a:p>
            <a:r>
              <a:t>- AWS Certified DevOps Engineer – Professional (DOP-C02) Exam Guide (docs.aws.amazon.com/pdfs/aws-certification/latest/devops-engineer-professional-02).</a:t>
            </a:r>
          </a:p>
          <a:p>
            <a:r>
              <a:t>- AWS CodePipeline Documentation (docs.aws.amazon.com/codepipeline).</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01 deep dive — SDLC Automation. Editable AWS-native diagram/table/chart.</a:t>
            </a:r>
          </a:p>
          <a:p/>
          <a:p>
            <a:r>
              <a:t>[Sources]</a:t>
            </a:r>
          </a:p>
          <a:p>
            <a:r>
              <a:t>- AWS Certified DevOps Engineer – Professional (DOP-C02) Exam Guide (docs.aws.amazon.com/pdfs/aws-certification/latest/devops-engineer-professional-02).</a:t>
            </a:r>
          </a:p>
          <a:p>
            <a:r>
              <a:t>- AWS CodePipeline Documentation (docs.aws.amazon.com/codepipeline).</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Continuous Integration — mechanics, not just merging.</a:t>
            </a:r>
          </a:p>
          <a:p>
            <a:r>
              <a:t>Why it matters: Small, frequent integrations keep the merge delta tiny, so defects are cheap to locate and revert — the opposite of a painful 'big-bang' integration before release.</a:t>
            </a:r>
          </a:p>
          <a:p>
            <a:r>
              <a:t>Failure mode: Long-lived feature branches that integrate weekly recreate the very merge-hell CI exists to prevent; the build stays green only because nothing is really being integrated.</a:t>
            </a:r>
          </a:p>
          <a:p>
            <a:r>
              <a:t>Trade-off: Faster feedback needs fast builds — split slow suites into parallel CodeBuild batches or later pipeline stages so the commit-stage stays under ~10 minutes.</a:t>
            </a:r>
          </a:p>
          <a:p/>
          <a:p>
            <a:r>
              <a:t>[Sources]</a:t>
            </a:r>
          </a:p>
          <a:p>
            <a:r>
              <a:t>- AWS Certified DevOps Engineer – Professional (DOP-C02) Exam Guide (docs.aws.amazon.com/pdfs/aws-certification/latest/devops-engineer-professional-02).</a:t>
            </a:r>
          </a:p>
          <a:p>
            <a:r>
              <a:t>- AWS CodeBuild Documentation (docs.aws.amazon.com/codebuild).</a:t>
            </a:r>
          </a:p>
          <a:p>
            <a:r>
              <a:t>- DORA / Google Cloud, Accelerate State of DevOps (dora.dev).</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Continuous Delivery vs Continuous Deployment.</a:t>
            </a:r>
          </a:p>
          <a:p>
            <a:r>
              <a:t>Why it matters: Delivery gives regulated or high-blast-radius teams a control point; Deployment gives high-trust teams maximum flow once automated tests and progressive rollout make failures cheap.</a:t>
            </a:r>
          </a:p>
          <a:p>
            <a:r>
              <a:t>Failure mode: Adopting Continuous Deployment before you have strong automated tests and fast rollback turns the pipeline into an automated way to ship bugs to customers.</a:t>
            </a:r>
          </a:p>
          <a:p>
            <a:r>
              <a:t>Trade-off: An approval gate adds safety but also queueing delay and 'rubber-stamp' risk — reserve manual approval for genuinely irreversible or compliance-driven steps.</a:t>
            </a:r>
          </a:p>
          <a:p/>
          <a:p>
            <a:r>
              <a:t>[Sources]</a:t>
            </a:r>
          </a:p>
          <a:p>
            <a:r>
              <a:t>- AWS Certified DevOps Engineer – Professional (DOP-C02) Exam Guide (docs.aws.amazon.com/pdfs/aws-certification/latest/devops-engineer-professional-02).</a:t>
            </a:r>
          </a:p>
          <a:p>
            <a:r>
              <a:t>- AWS CodePipeline Documentation (docs.aws.amazon.com/codepipeline).</a:t>
            </a:r>
          </a:p>
          <a:p>
            <a:r>
              <a:t>- DORA / Google Cloud, Accelerate State of DevOps (dora.dev).</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control as the pipeline trigger — GitHub via CodeConnections.</a:t>
            </a:r>
          </a:p>
          <a:p>
            <a:r>
              <a:t>Why it matters: CodeConnections removes long-lived Git credentials from the pipeline and lets teams keep their existing GitHub workflow, reviews and branch protection.</a:t>
            </a:r>
          </a:p>
          <a:p>
            <a:r>
              <a:t>Failure mode: Polling a repository instead of using the connection's webhook adds minutes of latency and can miss rapid successive commits.</a:t>
            </a:r>
          </a:p>
          <a:p>
            <a:r>
              <a:t>Trade-off: Managed connections centralise trust in one integration — scope its permissions and monitor CodeConnections access as part of your security posture.</a:t>
            </a:r>
          </a:p>
          <a:p/>
          <a:p>
            <a:r>
              <a:t>[Sources]</a:t>
            </a:r>
          </a:p>
          <a:p>
            <a:r>
              <a:t>- AWS Certified DevOps Engineer – Professional (DOP-C02) Exam Guide (docs.aws.amazon.com/pdfs/aws-certification/latest/devops-engineer-professional-02).</a:t>
            </a:r>
          </a:p>
          <a:p>
            <a:r>
              <a:t>- AWS CodeConnections Documentation (docs.aws.amazon.com/dtconsole/latest/userguide/welcome-connections.html).</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buildspec.yml — teaching CodeBuild your build.</a:t>
            </a:r>
          </a:p>
          <a:p>
            <a:r>
              <a:t>Why it matters: A declarative build spec makes the build reproducible and reviewable in code review, and identical across every developer and the pipeline.</a:t>
            </a:r>
          </a:p>
          <a:p>
            <a:r>
              <a:t>Failure mode: Baking credentials or environment-specific values into buildspec.yml couples the artifact to one environment and leaks secrets into logs.</a:t>
            </a:r>
          </a:p>
          <a:p>
            <a:r>
              <a:t>Trade-off: Rich caching (dependencies, layers) speeds builds but can hide dependency drift — pin versions and periodically build clean.</a:t>
            </a:r>
          </a:p>
          <a:p/>
          <a:p>
            <a:r>
              <a:t>[Sources]</a:t>
            </a:r>
          </a:p>
          <a:p>
            <a:r>
              <a:t>- AWS CodeBuild buildspec Documentation (docs.aws.amazon.com/codebuild/latest/userguide/build-spec-ref.html).</a:t>
            </a:r>
          </a:p>
          <a:p>
            <a:r>
              <a:t>- AWS Certified DevOps Engineer – Professional (DOP-C02) Exam Guide (docs.aws.amazon.com/pdfs/aws-certification/latest/devops-engineer-professional-02).</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appspec + deployment lifecycle hooks.</a:t>
            </a:r>
          </a:p>
          <a:p>
            <a:r>
              <a:t>Why it matters: Lifecycle hooks turn 'copy files' into a safe, verifiable release with an explicit go/no-go check before the deployment is declared successful.</a:t>
            </a:r>
          </a:p>
          <a:p>
            <a:r>
              <a:t>Failure mode: A ValidateService hook that always exits 0 defeats automated rollback — a broken release is reported as healthy.</a:t>
            </a:r>
          </a:p>
          <a:p>
            <a:r>
              <a:t>Trade-off: Longer validation windows catch more problems but slow each deployment and hold the fleet in a mixed-version state.</a:t>
            </a:r>
          </a:p>
          <a:p/>
          <a:p>
            <a:r>
              <a:t>[Sources]</a:t>
            </a:r>
          </a:p>
          <a:p>
            <a:r>
              <a:t>- AWS CodeDeploy appspec Documentation (docs.aws.amazon.com/codedeploy/latest/userguide/reference-appspec-file.html).</a:t>
            </a:r>
          </a:p>
          <a:p>
            <a:r>
              <a:t>- AWS Certified DevOps Engineer – Professional (DOP-C02) Exam Guide (docs.aws.amazon.com/pdfs/aws-certification/latest/devops-engineer-professional-02).</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Artifacts, versioning and traceability.</a:t>
            </a:r>
          </a:p>
          <a:p>
            <a:r>
              <a:t>Why it matters: Immutable, versioned artifacts make releases reproducible and auditable — essential for incident forensics and compliance evidence.</a:t>
            </a:r>
          </a:p>
          <a:p>
            <a:r>
              <a:t>Failure mode: Rebuilding from source on rollback can pull newer dependencies and reintroduce or mask the very fault you are rolling back from.</a:t>
            </a:r>
          </a:p>
          <a:p>
            <a:r>
              <a:t>Trade-off: Retaining every artifact aids traceability but grows storage cost — apply S3 lifecycle rules to age out old, unreferenced builds.</a:t>
            </a:r>
          </a:p>
          <a:p/>
          <a:p>
            <a:r>
              <a:t>[Sources]</a:t>
            </a:r>
          </a:p>
          <a:p>
            <a:r>
              <a:t>- AWS CodeArtifact Documentation (docs.aws.amazon.com/codeartifact).</a:t>
            </a:r>
          </a:p>
          <a:p>
            <a:r>
              <a:t>- AWS S3 versioning Documentation (docs.aws.amazon.com/AmazonS3/latest/userguide/Versioning.html).</a:t>
            </a:r>
          </a:p>
          <a:p>
            <a:r>
              <a:t>- AWS Certified DevOps Engineer – Professional (DOP-C02) Exam Guide (docs.aws.amazon.com/pdfs/aws-certification/latest/devops-engineer-professional-02).</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Automated testing and quality gates in the pipeline.</a:t>
            </a:r>
          </a:p>
          <a:p>
            <a:r>
              <a:t>Why it matters: Shifting testing left catches defects when they are cheapest to fix and keeps the mainline releasable at all times.</a:t>
            </a:r>
          </a:p>
          <a:p>
            <a:r>
              <a:t>Failure mode: Flaky tests train the team to ignore red builds; a pipeline everyone overrides provides no protection at all.</a:t>
            </a:r>
          </a:p>
          <a:p>
            <a:r>
              <a:t>Trade-off: More gates raise confidence but lengthen lead time — order them fast-to-slow and fail fast on the cheapest checks.</a:t>
            </a:r>
          </a:p>
          <a:p/>
          <a:p>
            <a:r>
              <a:t>[Sources]</a:t>
            </a:r>
          </a:p>
          <a:p>
            <a:r>
              <a:t>- AWS CodeGuru Documentation (docs.aws.amazon.com/codeguru).</a:t>
            </a:r>
          </a:p>
          <a:p>
            <a:r>
              <a:t>- DORA / Google Cloud, Accelerate State of DevOps (dora.dev).</a:t>
            </a:r>
          </a:p>
          <a:p>
            <a:r>
              <a:t>- AWS Certified DevOps Engineer – Professional (DOP-C02) Exam Guide (docs.aws.amazon.com/pdfs/aws-certification/latest/devops-engineer-professional-02).</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Choosing a deployment strategy by blast radius.</a:t>
            </a:r>
          </a:p>
          <a:p>
            <a:r>
              <a:t>Why it matters: Matching the strategy to the change's risk lets you trade release speed against how many users a bad release can touch.</a:t>
            </a:r>
          </a:p>
          <a:p>
            <a:r>
              <a:t>Failure mode: Blue/green without draining connections or warming caches can still cause a visible blip at cut-over.</a:t>
            </a:r>
          </a:p>
          <a:p>
            <a:r>
              <a:t>Trade-off: Blue/green needs roughly double capacity during the shift; canary needs good metrics and automated alarms to be safe.</a:t>
            </a:r>
          </a:p>
          <a:p/>
          <a:p>
            <a:r>
              <a:t>[Sources]</a:t>
            </a:r>
          </a:p>
          <a:p>
            <a:r>
              <a:t>- AWS CodeDeploy deployment configs Documentation (docs.aws.amazon.com/codedeploy/latest/userguide/deployment-configurations.html).</a:t>
            </a:r>
          </a:p>
          <a:p>
            <a:r>
              <a:t>- AWS Certified DevOps Engineer – Professional (DOP-C02) Exam Guide (docs.aws.amazon.com/pdfs/aws-certification/latest/devops-engineer-professional-02).</a:t>
            </a:r>
          </a:p>
          <a:p>
            <a:r>
              <a:t>- AWS Well-Architected Framework (docs.aws.amazon.com/wellarchitected).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Pipeline structure — stages, actions and promotion.</a:t>
            </a:r>
          </a:p>
          <a:p>
            <a:r>
              <a:t>Why it matters: Modelling promotion explicitly gives a single, auditable path to production and prevents 'works in staging, different build in prod' drift.</a:t>
            </a:r>
          </a:p>
          <a:p>
            <a:r>
              <a:t>Failure mode: Rebuilding per environment breaks the guarantee that what you tested is what you shipped.</a:t>
            </a:r>
          </a:p>
          <a:p>
            <a:r>
              <a:t>Trade-off: More environments raise confidence but add cost and lead time — keep pre-prod as production-like as budget allows.</a:t>
            </a:r>
          </a:p>
          <a:p/>
          <a:p>
            <a:r>
              <a:t>[Sources]</a:t>
            </a:r>
          </a:p>
          <a:p>
            <a:r>
              <a:t>- AWS CodePipeline structure Documentation (docs.aws.amazon.com/codepipeline/latest/userguide/reference-pipeline-structure.html).</a:t>
            </a:r>
          </a:p>
          <a:p>
            <a:r>
              <a:t>- AWS Certified DevOps Engineer – Professional (DOP-C02) Exam Guide (docs.aws.amazon.com/pdfs/aws-certification/latest/devops-engineer-professional-02).</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Comparison — CI/CD Toolchain — AWS-native vs external.</a:t>
            </a:r>
          </a:p>
          <a:p/>
          <a:p>
            <a:r>
              <a:t>[Sources]</a:t>
            </a:r>
          </a:p>
          <a:p>
            <a:r>
              <a:t>- AWS CodeConnections Documentation (docs.aws.amazon.com/dtconsole/latest/userguide/welcome-connections.html).</a:t>
            </a:r>
          </a:p>
          <a:p>
            <a:r>
              <a:t>- AWS Certified DevOps Engineer – Professional (DOP-C02) Exam Guide (docs.aws.amazon.com/pdfs/aws-certification/latest/devops-engineer-professional-02).</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Pipeline Lead Time by Stage — Where the Minutes Go. What the data shows: Manual approval dominates lead time here — automate the checks it waits on so approval is a formality, not a bottleneck.</a:t>
            </a:r>
          </a:p>
          <a:p>
            <a:r>
              <a:t>Figures are illustrative teaching values to convey the relationship, not measured benchmarks.</a:t>
            </a:r>
          </a:p>
          <a:p/>
          <a:p>
            <a:r>
              <a:t>[Sources]</a:t>
            </a:r>
          </a:p>
          <a:p>
            <a:r>
              <a:t>- DORA / Google Cloud, Accelerate State of DevOps (dora.dev).</a:t>
            </a:r>
          </a:p>
          <a:p>
            <a:r>
              <a:t>- AWS Certified DevOps Engineer – Professional (DOP-C02) Exam Guide (docs.aws.amazon.com/pdfs/aws-certification/latest/devops-engineer-professional-02).</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CI/CD Failure Modes &amp; Anti-Patterns.</a:t>
            </a:r>
          </a:p>
          <a:p>
            <a:r>
              <a:t>Snowflake build agents — Builds pass locally, fail in CodeBuild → pin runtime-versions and build in clean containers.</a:t>
            </a:r>
          </a:p>
          <a:p>
            <a:r>
              <a:t>Secrets in source/logs — Keys committed or echoed → pull from Secrets Manager/SSM at build time; mask in logs.</a:t>
            </a:r>
          </a:p>
          <a:p>
            <a:r>
              <a:t>Flaky tests ignored — Red builds routinely overridden → quarantine and fix flaky tests; a gate you bypass is no gate.</a:t>
            </a:r>
          </a:p>
          <a:p>
            <a:r>
              <a:t>Rebuild on promotion — Different artifact per environment → build once, promote the same artifact.</a:t>
            </a:r>
          </a:p>
          <a:p>
            <a:r>
              <a:t>No automated rollback — Bad deploy needs a human at 2am → alarm-based rollback on CodeDeploy.</a:t>
            </a:r>
          </a:p>
          <a:p>
            <a:r>
              <a:t>Polling instead of webhooks — Slow, missed triggers → use the CodeConnections webhook.</a:t>
            </a:r>
          </a:p>
          <a:p/>
          <a:p>
            <a:r>
              <a:t>[Sources]</a:t>
            </a:r>
          </a:p>
          <a:p>
            <a:r>
              <a:t>- AWS Certified DevOps Engineer – Professional (DOP-C02) Exam Guide (docs.aws.amazon.com/pdfs/aws-certification/latest/devops-engineer-professional-02).</a:t>
            </a:r>
          </a:p>
          <a:p>
            <a:r>
              <a:t>- AWS CodeBuild Documentation (docs.aws.amazon.com/codebuild).</a:t>
            </a:r>
          </a:p>
          <a:p>
            <a:r>
              <a:t>- DORA / Google Cloud, Accelerate State of DevOps (dora.dev).</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Delivery Patterns Worth Adopting.</a:t>
            </a:r>
          </a:p>
          <a:p>
            <a:r>
              <a:t>Trunk-based development — Short-lived branches merged to trunk daily keep integration continuous.</a:t>
            </a:r>
          </a:p>
          <a:p>
            <a:r>
              <a:t>Build once, deploy many — One immutable artifact promoted across environments.</a:t>
            </a:r>
          </a:p>
          <a:p>
            <a:r>
              <a:t>Progressive delivery — Canary/blue-green with automated metric analysis before full rollout.</a:t>
            </a:r>
          </a:p>
          <a:p>
            <a:r>
              <a:t>Pipeline as code — Define the pipeline in CloudFormation/CDK so it is versioned and reviewable.</a:t>
            </a:r>
          </a:p>
          <a:p>
            <a:r>
              <a:t>Fail fast — Cheapest, fastest checks first; stop the line on first failure.</a:t>
            </a:r>
          </a:p>
          <a:p>
            <a:r>
              <a:t>Immutable infrastructure — Replace, don't patch, running servers.</a:t>
            </a:r>
          </a:p>
          <a:p/>
          <a:p>
            <a:r>
              <a:t>[Sources]</a:t>
            </a:r>
          </a:p>
          <a:p>
            <a:r>
              <a:t>- DORA / Google Cloud, Accelerate State of DevOps (dora.dev).</a:t>
            </a:r>
          </a:p>
          <a:p>
            <a:r>
              <a:t>- AWS Well-Architected Framework (docs.aws.amazon.com/wellarchitected).</a:t>
            </a:r>
          </a:p>
          <a:p>
            <a:r>
              <a:t>- AWS Certified DevOps Engineer – Professional (DOP-C02) Exam Guide (docs.aws.amazon.com/pdfs/aws-certification/latest/devops-engineer-professional-02).</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Architecture Decision — Approval Gate or Not?.</a:t>
            </a:r>
          </a:p>
          <a:p>
            <a:r>
              <a:t>Option A — Manual approval before prod: Regulated change, irreversible action, or immature test suite. Adds a control point and audit record — at the cost of queueing delay.</a:t>
            </a:r>
          </a:p>
          <a:p>
            <a:r>
              <a:t>Option B — Automated to prod: High test coverage, fast rollback and progressive rollout in place. Maximises flow — requires strong alarms and canary analysis.</a:t>
            </a:r>
          </a:p>
          <a:p>
            <a:r>
              <a:t>Option C — Hybrid: Auto-deploy low-risk services; gate high-blast-radius or data-migration changes. The common enterprise middle ground.</a:t>
            </a:r>
          </a:p>
          <a:p/>
          <a:p>
            <a:r>
              <a:t>[Sources]</a:t>
            </a:r>
          </a:p>
          <a:p>
            <a:r>
              <a:t>- AWS Certified DevOps Engineer – Professional (DOP-C02) Exam Guide (docs.aws.amazon.com/pdfs/aws-certification/latest/devops-engineer-professional-02).</a:t>
            </a:r>
          </a:p>
          <a:p>
            <a:r>
              <a:t>- DORA / Google Cloud, Accelerate State of DevOps (dora.dev).</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Scenario: A deployment passes all pipeline stages, but error rates climb 3 minutes after it reaches production.</a:t>
            </a:r>
          </a:p>
          <a:p>
            <a:r>
              <a:t>The build and unit tests were green, so the fault is environment- or scale-specific — exactly what canary analysis is designed to catch.</a:t>
            </a:r>
          </a:p>
          <a:p>
            <a:r>
              <a:t>Because releases use immutable, versioned artifacts, the last known-good build is one redeploy away.</a:t>
            </a:r>
          </a:p>
          <a:p>
            <a:r>
              <a:t>A CloudWatch alarm on error rate can trigger CodeDeploy's automatic rollback without waiting for a human.</a:t>
            </a:r>
          </a:p>
          <a:p>
            <a:r>
              <a:t>Decision: Wire an error-rate alarm to CodeDeploy auto-rollback and move this service to a canary configuration so the next bad change is caught at 5% of traffic, not 100%.</a:t>
            </a:r>
          </a:p>
          <a:p/>
          <a:p>
            <a:r>
              <a:t>[Sources]</a:t>
            </a:r>
          </a:p>
          <a:p>
            <a:r>
              <a:t>- AWS Certified DevOps Engineer – Professional (DOP-C02) Exam Guide (docs.aws.amazon.com/pdfs/aws-certification/latest/devops-engineer-professional-02).</a:t>
            </a:r>
          </a:p>
          <a:p>
            <a:r>
              <a:t>- AWS CodeDeploy rollback Documentation (docs.aws.amazon.com/codedeploy/latest/userguide/deployments-rollback-and-redeploy.html).</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Scenario: The commit-stage build takes 25 minutes; developers batch changes to avoid the wait, so integrations get large and risky.</a:t>
            </a:r>
          </a:p>
          <a:p>
            <a:r>
              <a:t>Slow feedback is pushing the team back towards big-bang integration — the DORA lead-time and batch-size signals both degrade.</a:t>
            </a:r>
          </a:p>
          <a:p>
            <a:r>
              <a:t>Test suites can be split and run in parallel CodeBuild projects; dependency caching removes repeated downloads.</a:t>
            </a:r>
          </a:p>
          <a:p>
            <a:r>
              <a:t>Slow end-to-end tests can move to a later stage so the commit stage stays fast.</a:t>
            </a:r>
          </a:p>
          <a:p>
            <a:r>
              <a:t>Decision: Target a sub-10-minute commit stage: parallelise tests, cache dependencies, and defer slow suites downstream so small, frequent merges become painless again.</a:t>
            </a:r>
          </a:p>
          <a:p/>
          <a:p>
            <a:r>
              <a:t>[Sources]</a:t>
            </a:r>
          </a:p>
          <a:p>
            <a:r>
              <a:t>- DORA / Google Cloud, Accelerate State of DevOps (dora.dev).</a:t>
            </a:r>
          </a:p>
          <a:p>
            <a:r>
              <a:t>- AWS CodeBuild Documentation (docs.aws.amazon.com/codebuild).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Worked Analysis — Sizing the Impact of CI/CD.</a:t>
            </a:r>
          </a:p>
          <a:p>
            <a:r>
              <a:t>Before: 2 releases/month, 14-day lead time — Large batches; each release bundles ~150 changes, so failures are hard to isolate.</a:t>
            </a:r>
          </a:p>
          <a:p>
            <a:r>
              <a:t>After: 40 releases/month, ~1-day lead time — Small batches; each release is ~7 changes, so a regression is trivially bisected.</a:t>
            </a:r>
          </a:p>
          <a:p>
            <a:r>
              <a:t>Change-failure rate 30% → 10% — Automated gates catch defects pre-prod; progressive rollout limits blast radius.</a:t>
            </a:r>
          </a:p>
          <a:p>
            <a:r>
              <a:t>MTTR 8h → 1h — Versioned artifacts + alarm-based rollback make recovery a redeploy, not a rebuild.</a:t>
            </a:r>
          </a:p>
          <a:p>
            <a:r>
              <a:t>Takeaway: The gain is not just speed — smaller batches make every DORA metric move together: deploy more often, recover faster, fail less.</a:t>
            </a:r>
          </a:p>
          <a:p/>
          <a:p>
            <a:r>
              <a:t>[Sources]</a:t>
            </a:r>
          </a:p>
          <a:p>
            <a:r>
              <a:t>- DORA / Google Cloud, Accelerate State of DevOps (dora.dev).</a:t>
            </a:r>
          </a:p>
          <a:p>
            <a:r>
              <a:t>- AWS Certified DevOps Engineer – Professional (DOP-C02) Exam Guide (docs.aws.amazon.com/pdfs/aws-certification/latest/devops-engineer-professional-02).</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 foundations: Source and package governance.</a:t>
            </a:r>
          </a:p>
          <a:p>
            <a:r>
              <a:t>PURPOSE: Control how source, dependencies and container images enter the delivery system.</a:t>
            </a:r>
          </a:p>
          <a:p>
            <a:r>
              <a:t>FEATURE 1: Repository events and protected branches trigger delivery without long-lived credentials.</a:t>
            </a:r>
          </a:p>
          <a:p>
            <a:r>
              <a:t>FEATURE 2: CodeArtifact domains and repositories proxy, version and retain language packages.</a:t>
            </a:r>
          </a:p>
          <a:p>
            <a:r>
              <a:t>FEATURE 3: ECR stores immutable image digests, supports lifecycle rules and exposes scan findings.</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and package governance: selection and controls.</a:t>
            </a:r>
          </a:p>
          <a:p>
            <a:r>
              <a:t>CHOOSE WHEN: Use source connections for event-driven repository access, CodeArtifact for governed packages, and ECR for OCI images.</a:t>
            </a:r>
          </a:p>
          <a:p>
            <a:r>
              <a:t>DEVOPS ENGINEERING: Pin versions/digests, enforce review, generate an SBOM where required and promote the same artifact between environments.</a:t>
            </a:r>
          </a:p>
          <a:p>
            <a:r>
              <a:t>FAILURE MODE: Mutable tags, unpinned dependencies or broad repository tokens break provenance and repeatability.</a:t>
            </a:r>
          </a:p>
          <a:p>
            <a:r>
              <a:t>EVIDENCE: Commit SHA, approval, package version, image digest, scan result and promotion record.</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 foundations: Build and pipeline orchestration.</a:t>
            </a:r>
          </a:p>
          <a:p>
            <a:r>
              <a:t>PURPOSE: Turn a source revision into tested, signed and traceable release artifacts.</a:t>
            </a:r>
          </a:p>
          <a:p>
            <a:r>
              <a:t>FEATURE 1: CodePipeline sequences source, build, test, approval and deploy actions with stage transitions.</a:t>
            </a:r>
          </a:p>
          <a:p>
            <a:r>
              <a:t>FEATURE 2: CodeBuild uses ephemeral environments, buildspec phases, reports, caches and exported variables.</a:t>
            </a:r>
          </a:p>
          <a:p>
            <a:r>
              <a:t>FEATURE 3: Versioned/encrypted S3 artifact stores preserve hand-offs between pipeline actions.</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 and pipeline orchestration: selection and controls.</a:t>
            </a:r>
          </a:p>
          <a:p>
            <a:r>
              <a:t>CHOOSE WHEN: Use CodePipeline for managed orchestration and CodeBuild when a reproducible build/test environment is needed.</a:t>
            </a:r>
          </a:p>
          <a:p>
            <a:r>
              <a:t>DEVOPS ENGINEERING: Fail fast on test/security gates, isolate service roles, encrypt artifacts and make rollback reference an immutable build.</a:t>
            </a:r>
          </a:p>
          <a:p>
            <a:r>
              <a:t>FAILURE MODE: A green pipeline that does not retain test evidence or artifact identity cannot prove what was deployed.</a:t>
            </a:r>
          </a:p>
          <a:p>
            <a:r>
              <a:t>EVIDENCE: Pipeline execution ID, build logs, test report, artifact checksum, approval and deployment ID.</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 foundations: Deployment services.</a:t>
            </a:r>
          </a:p>
          <a:p>
            <a:r>
              <a:t>PURPOSE: Release applications with a strategy matched to compute model, capacity and user-impact tolerance.</a:t>
            </a:r>
          </a:p>
          <a:p>
            <a:r>
              <a:t>FEATURE 1: CodeDeploy coordinates in-place or blue/green deployments and lifecycle hooks.</a:t>
            </a:r>
          </a:p>
          <a:p>
            <a:r>
              <a:t>FEATURE 2: Elastic Beanstalk manages application environments, versions, health and platform updates.</a:t>
            </a:r>
          </a:p>
          <a:p>
            <a:r>
              <a:t>FEATURE 3: ECS services and Lambda aliases support rolling, blue/green or weighted traffic strategies.</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Deployment services: selection and controls.</a:t>
            </a:r>
          </a:p>
          <a:p>
            <a:r>
              <a:t>CHOOSE WHEN: Choose the target-native mechanism, then select all-at-once, rolling, linear, canary or blue/green from the recovery objective.</a:t>
            </a:r>
          </a:p>
          <a:p>
            <a:r>
              <a:t>DEVOPS ENGINEERING: Define health checks, minimum healthy capacity, alarms, hook timeouts and automatic rollback before promotion.</a:t>
            </a:r>
          </a:p>
          <a:p>
            <a:r>
              <a:t>FAILURE MODE: Traffic shifting without representative health signals can promote a release that is technically alive but unusable.</a:t>
            </a:r>
          </a:p>
          <a:p>
            <a:r>
              <a:t>EVIDENCE: Deployment configuration, target health, alarm state, hook logs, traffic weights and rollback event.</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 foundations: Serverless and container delivery.</a:t>
            </a:r>
          </a:p>
          <a:p>
            <a:r>
              <a:t>PURPOSE: Package and operate event-driven functions or container workloads with consistent release evidence.</a:t>
            </a:r>
          </a:p>
          <a:p>
            <a:r>
              <a:t>FEATURE 1: Lambda versions and aliases give immutable function revisions and weighted routing.</a:t>
            </a:r>
          </a:p>
          <a:p>
            <a:r>
              <a:t>FEATURE 2: SAM expands serverless resources and deployment preferences through CloudFormation.</a:t>
            </a:r>
          </a:p>
          <a:p>
            <a:r>
              <a:t>FEATURE 3: ECS/Fargate reduces host management; EKS provides Kubernetes APIs with greater operational responsibility.</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Serverless and container delivery: selection and controls.</a:t>
            </a:r>
          </a:p>
          <a:p>
            <a:r>
              <a:t>CHOOSE WHEN: Prefer Lambda for short event-driven execution, ECS/Fargate for managed container orchestration, and EKS when Kubernetes compatibility is a real requirement.</a:t>
            </a:r>
          </a:p>
          <a:p>
            <a:r>
              <a:t>DEVOPS ENGINEERING: Scan images, pin digests, externalise configuration, constrain task/function roles and test startup, readiness and rollback.</a:t>
            </a:r>
          </a:p>
          <a:p>
            <a:r>
              <a:t>FAILURE MODE: Selecting EKS only for portability can add control-plane, add-on and upgrade burden without business value.</a:t>
            </a:r>
          </a:p>
          <a:p>
            <a:r>
              <a:t>EVIDENCE: Function version/image digest, task definition, policy diff, deployment state, health metrics and rollback proof.</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Developer deep dive: AWS CLI and SDK execution model.</a:t>
            </a:r>
          </a:p>
          <a:p>
            <a:r>
              <a:t>PURPOSE: Automate AWS API calls without embedding permanent credentials or hiding retry, pagination and regional behavior.</a:t>
            </a:r>
          </a:p>
          <a:p>
            <a:r>
              <a:t>SERVICE BOUNDARY: AWS CLI v2 · AWS SDKs · STS · IAM Identity Center</a:t>
            </a:r>
          </a:p>
          <a:p>
            <a:r>
              <a:t>PRIMARY DESIGN DECISION: Use named SSO profiles locally and a CodeBuild service role in CI; resolve account/Region at runtime and log request IDs without logging credentials.</a:t>
            </a:r>
          </a:p>
          <a:p>
            <a:r>
              <a:t>FAILURE BOUNDARY: An implicit default profile can deploy to the wrong account, while unbounded retries can duplicate non-idempotent changes.</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 CLI and SDK execution model: how it works.</a:t>
            </a:r>
          </a:p>
          <a:p>
            <a:r>
              <a:t>MECHANIC 1: The credential provider chain searches explicit configuration, environment, shared profiles, container or instance roles; production code should normally end at a workload role.</a:t>
            </a:r>
          </a:p>
          <a:p>
            <a:r>
              <a:t>MECHANIC 2: A client is Region-specific and signs each request with SigV4; the Region therefore affects endpoint, resource availability and the authorization scope.</a:t>
            </a:r>
          </a:p>
          <a:p>
            <a:r>
              <a:t>MECHANIC 3: SDK paginators, waiters and retry modes handle common distributed-system behavior, but applications must still set timeouts and make mutating operations idempotent.</a:t>
            </a:r>
          </a:p>
          <a:p>
            <a:r>
              <a:t>MECHANIC 4: CloudTrail records supported API activity, allowing a command, assumed-role session and resulting resource change to be correlated.</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 CLI and SDK execution model: operating flow.</a:t>
            </a:r>
          </a:p>
          <a:p>
            <a:r>
              <a:t>Resolve profile or role</a:t>
            </a:r>
          </a:p>
          <a:p>
            <a:r>
              <a:t>Obtain temporary session</a:t>
            </a:r>
          </a:p>
          <a:p>
            <a:r>
              <a:t>Create regional client</a:t>
            </a:r>
          </a:p>
          <a:p>
            <a:r>
              <a:t>Call and paginate</a:t>
            </a:r>
          </a:p>
          <a:p>
            <a:r>
              <a:t>Record result and request ID</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 CLI and SDK execution model: configuration decisions.</a:t>
            </a:r>
          </a:p>
          <a:p>
            <a:r>
              <a:t>AUTHENTICATION: Use IAM Identity Center for workforce access and role credentials for workloads; reserve static keys for exceptional legacy cases.</a:t>
            </a:r>
          </a:p>
          <a:p>
            <a:r>
              <a:t>RETRIES: Use standard or adaptive retry behavior with bounded attempts, jitter and service-specific handling for throttling.</a:t>
            </a:r>
          </a:p>
          <a:p>
            <a:r>
              <a:t>PAGINATION: Consume every page or deliberately cap results; a first-page-only inventory creates false compliance evidence.</a:t>
            </a:r>
          </a:p>
          <a:p>
            <a:r>
              <a:t>IDEMPOTENCY: Supply client tokens where supported and design repeatable state checks before retrying a write.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 CLI and SDK execution model: worked architecture decision.</a:t>
            </a:r>
          </a:p>
          <a:p>
            <a:r>
              <a:t>SCENARIO: A deployment utility must work from a developer laptop and CodeBuild while producing the same account and Region evidence.</a:t>
            </a:r>
          </a:p>
          <a:p>
            <a:r>
              <a:t>DESIGN DECISION: Use named SSO profiles locally and a CodeBuild service role in CI; resolve account/Region at runtime and log request IDs without logging credentials.</a:t>
            </a:r>
          </a:p>
          <a:p>
            <a:r>
              <a:t>FAILURE TO AVOID: An implicit default profile can deploy to the wrong account, while unbounded retries can duplicate non-idempotent changes.</a:t>
            </a:r>
          </a:p>
          <a:p>
            <a:r>
              <a:t>ACCEPTANCE EVIDENCE: Caller identity, selected Region, assumed-role ARN, API request ID, retry count and final resource state.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Developer deep dive: Package and image governance.</a:t>
            </a:r>
          </a:p>
          <a:p>
            <a:r>
              <a:t>PURPOSE: Create a trusted supply chain for language packages and container images, then promote immutable versions across environments.</a:t>
            </a:r>
          </a:p>
          <a:p>
            <a:r>
              <a:t>SERVICE BOUNDARY: CodeArtifact · ECR · KMS · Inspector</a:t>
            </a:r>
          </a:p>
          <a:p>
            <a:r>
              <a:t>PRIMARY DESIGN DECISION: Build once in the tooling account, scan the digest, grant scoped cross-account pull access and promote the same digest through environment manifests.</a:t>
            </a:r>
          </a:p>
          <a:p>
            <a:r>
              <a:t>FAILURE BOUNDARY: Mutable tags can silently replace the reviewed artifact; aggressive lifecycle rules can remove the rollback image.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Package and image governance: how it works.</a:t>
            </a:r>
          </a:p>
          <a:p>
            <a:r>
              <a:t>MECHANIC 1: CodeArtifact domains group repositories and can deduplicate package assets; upstream repositories proxy internal or public sources through a controlled path.</a:t>
            </a:r>
          </a:p>
          <a:p>
            <a:r>
              <a:t>MECHANIC 2: Authentication tokens are temporary and should be requested at build time, never committed to package-manager configuration.</a:t>
            </a:r>
          </a:p>
          <a:p>
            <a:r>
              <a:t>MECHANIC 3: ECR stores OCI images by tag and digest; deployment references should use immutable tags or, preferably, the resolved digest.</a:t>
            </a:r>
          </a:p>
          <a:p>
            <a:r>
              <a:t>MECHANIC 4: Lifecycle policies control retention, while enhanced scanning can surface operating-system and language-package vulnerabilities through Inspector.</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Package and image governance: operating flow.</a:t>
            </a:r>
          </a:p>
          <a:p>
            <a:r>
              <a:t>Resolve approved dependency</a:t>
            </a:r>
          </a:p>
          <a:p>
            <a:r>
              <a:t>Build and test</a:t>
            </a:r>
          </a:p>
          <a:p>
            <a:r>
              <a:t>Publish version or image</a:t>
            </a:r>
          </a:p>
          <a:p>
            <a:r>
              <a:t>Scan and sign evidence</a:t>
            </a:r>
          </a:p>
          <a:p>
            <a:r>
              <a:t>Promote immutable digest</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Package and image governance: configuration decisions.</a:t>
            </a:r>
          </a:p>
          <a:p>
            <a:r>
              <a:t>REPOSITORY POLICY: Separate publisher and consumer permissions; restrict cross-account pulls with repository and identity policies.</a:t>
            </a:r>
          </a:p>
          <a:p>
            <a:r>
              <a:t>VERSIONING: Reject overwrites where supported and give every release a unique package version or image digest.</a:t>
            </a:r>
          </a:p>
          <a:p>
            <a:r>
              <a:t>SCANNING: Define severity thresholds and exception ownership; a scan with no release decision is only telemetry.</a:t>
            </a:r>
          </a:p>
          <a:p>
            <a:r>
              <a:t>RETENTION: Keep releases required for rollback and audit while expiring untagged or superseded artifacts safely.</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Package and image governance: worked architecture decision.</a:t>
            </a:r>
          </a:p>
          <a:p>
            <a:r>
              <a:t>SCENARIO: Twenty accounts must deploy the identical reviewed container without rebuilding or granting broad registry access.</a:t>
            </a:r>
          </a:p>
          <a:p>
            <a:r>
              <a:t>DESIGN DECISION: Build once in the tooling account, scan the digest, grant scoped cross-account pull access and promote the same digest through environment manifests.</a:t>
            </a:r>
          </a:p>
          <a:p>
            <a:r>
              <a:t>FAILURE TO AVOID: Mutable tags can silently replace the reviewed artifact; aggressive lifecycle rules can remove the rollback image.</a:t>
            </a:r>
          </a:p>
          <a:p>
            <a:r>
              <a:t>ACCEPTANCE EVIDENCE: Package version, repository policy, image digest, scan finding disposition, promotion record and successful cross-account pull.</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Developer deep dive: CodeBuild build environments and quality gates.</a:t>
            </a:r>
          </a:p>
          <a:p>
            <a:r>
              <a:t>PURPOSE: Turn source into reproducible artifacts while making tests, security checks and provenance part of the pipeline decision.</a:t>
            </a:r>
          </a:p>
          <a:p>
            <a:r>
              <a:t>SERVICE BOUNDARY: CodeBuild · buildspec · report groups · S3 cache</a:t>
            </a:r>
          </a:p>
          <a:p>
            <a:r>
              <a:t>PRIMARY DESIGN DECISION: Pin the runtime image, run deterministic installs, publish JUnit/coverage reports and create a manifest containing commit SHA and artifact checksum.</a:t>
            </a:r>
          </a:p>
          <a:p>
            <a:r>
              <a:t>FAILURE BOUNDARY: A shell command followed by another successful command can hide a failed test unless exit handling is explicit.</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CodeBuild build environments and quality gates: how it works.</a:t>
            </a:r>
          </a:p>
          <a:p>
            <a:r>
              <a:t>MECHANIC 1: A buildspec separates install, pre_build, build and post_build phases; finally blocks can preserve diagnostics even after a phase fails.</a:t>
            </a:r>
          </a:p>
          <a:p>
            <a:r>
              <a:t>MECHANIC 2: Managed images simplify patching, while custom images provide tool control and must themselves be versioned and scanned.</a:t>
            </a:r>
          </a:p>
          <a:p>
            <a:r>
              <a:t>MECHANIC 3: Privileged mode is mainly required for Docker daemon workflows and materially increases build-container authority.</a:t>
            </a:r>
          </a:p>
          <a:p>
            <a:r>
              <a:t>MECHANIC 4: Report groups retain test or coverage results; artifacts and exported variables pass controlled outputs to later pipeline actions.</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CodeBuild build environments and quality gates: operating flow.</a:t>
            </a:r>
          </a:p>
          <a:p>
            <a:r>
              <a:t>Provision ephemeral environment</a:t>
            </a:r>
          </a:p>
          <a:p>
            <a:r>
              <a:t>Install pinned tools</a:t>
            </a:r>
          </a:p>
          <a:p>
            <a:r>
              <a:t>Test and scan</a:t>
            </a:r>
          </a:p>
          <a:p>
            <a:r>
              <a:t>Package immutable output</a:t>
            </a:r>
          </a:p>
          <a:p>
            <a:r>
              <a:t>Publish reports and artifact</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CodeBuild build environments and quality gates: configuration decisions.</a:t>
            </a:r>
          </a:p>
          <a:p>
            <a:r>
              <a:t>COMPUTE: Select architecture, size and timeout from measured build demand; avoid oversized always-on assumptions.</a:t>
            </a:r>
          </a:p>
          <a:p>
            <a:r>
              <a:t>NETWORK: Use VPC attachment only when private dependencies require it, and provide routes/endpoints for every required service.</a:t>
            </a:r>
          </a:p>
          <a:p>
            <a:r>
              <a:t>CACHE: Cache dependencies for speed, but key the cache so stale libraries cannot bypass lock-file changes.</a:t>
            </a:r>
          </a:p>
          <a:p>
            <a:r>
              <a:t>SECRETS: Retrieve secrets at runtime from managed stores and mask output; never place secret values in buildspec source.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CodeBuild build environments and quality gates: worked architecture decision.</a:t>
            </a:r>
          </a:p>
          <a:p>
            <a:r>
              <a:t>SCENARIO: A Python service must stop promotion if tests fail, coverage drops below policy, or the artifact cannot be traced to its source revision.</a:t>
            </a:r>
          </a:p>
          <a:p>
            <a:r>
              <a:t>DESIGN DECISION: Pin the runtime image, run deterministic installs, publish JUnit/coverage reports and create a manifest containing commit SHA and artifact checksum.</a:t>
            </a:r>
          </a:p>
          <a:p>
            <a:r>
              <a:t>FAILURE TO AVOID: A shell command followed by another successful command can hide a failed test unless exit handling is explicit.</a:t>
            </a:r>
          </a:p>
          <a:p>
            <a:r>
              <a:t>ACCEPTANCE EVIDENCE: Build ARN, source version, image identifier, test report, coverage threshold, checksum and phase logs.</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Developer deep dive: CodePipeline orchestration and approvals.</a:t>
            </a:r>
          </a:p>
          <a:p>
            <a:r>
              <a:t>PURPOSE: Coordinate source, validation, approval and deployment stages while preserving artifact identity and execution context.</a:t>
            </a:r>
          </a:p>
          <a:p>
            <a:r>
              <a:t>SERVICE BOUNDARY: CodePipeline · CodeConnections · CodeBuild · Lambda actions</a:t>
            </a:r>
          </a:p>
          <a:p>
            <a:r>
              <a:t>PRIMARY DESIGN DECISION: Keep build resources in a tooling account, promote an immutable artifact, assume per-environment roles and require an approval owned outside the developer role.</a:t>
            </a:r>
          </a:p>
          <a:p>
            <a:r>
              <a:t>FAILURE BOUNDARY: Rebuilding for production changes the artifact under review; parallel executions can race against shared CloudFormation state.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CodePipeline orchestration and approvals: how it works.</a:t>
            </a:r>
          </a:p>
          <a:p>
            <a:r>
              <a:t>MECHANIC 1: A pipeline execution moves named artifacts between actions through an encrypted artifact store; each action receives declared inputs and emits declared outputs.</a:t>
            </a:r>
          </a:p>
          <a:p>
            <a:r>
              <a:t>MECHANIC 2: Execution modes determine how concurrent revisions behave: superseding, queueing or running in parallel must match the deployment target's safety model.</a:t>
            </a:r>
          </a:p>
          <a:p>
            <a:r>
              <a:t>MECHANIC 3: Manual approvals pause execution and should present change, test, risk and rollback evidence rather than a context-free button.</a:t>
            </a:r>
          </a:p>
          <a:p>
            <a:r>
              <a:t>MECHANIC 4: Variables and namespaces pass small metadata values; release artifacts belong in governed stores, not pipeline variables.</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CodePipeline orchestration and approvals: operating flow.</a:t>
            </a:r>
          </a:p>
          <a:p>
            <a:r>
              <a:t>Receive trusted source event</a:t>
            </a:r>
          </a:p>
          <a:p>
            <a:r>
              <a:t>Build immutable revision</a:t>
            </a:r>
          </a:p>
          <a:p>
            <a:r>
              <a:t>Run parallel gates</a:t>
            </a:r>
          </a:p>
          <a:p>
            <a:r>
              <a:t>Approve with context</a:t>
            </a:r>
          </a:p>
          <a:p>
            <a:r>
              <a:t>Deploy and observe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CodePipeline orchestration and approvals: configuration decisions.</a:t>
            </a:r>
          </a:p>
          <a:p>
            <a:r>
              <a:t>TRIGGER: Filter repository events so pull requests validate while only accepted branches or tags reach deployment.</a:t>
            </a:r>
          </a:p>
          <a:p>
            <a:r>
              <a:t>CONCURRENCY: Use queued execution for shared environments and parallel execution only when targets and state are isolated.</a:t>
            </a:r>
          </a:p>
          <a:p>
            <a:r>
              <a:t>CROSS-ACCOUNT: Assume narrow deployment roles and use KMS/artifact policies that explicitly permit the required account path.</a:t>
            </a:r>
          </a:p>
          <a:p>
            <a:r>
              <a:t>FAILURE: Stop stage transitions, retain the failed execution and automate rollback from the last-known-good artifact.</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CodePipeline orchestration and approvals: worked architecture decision.</a:t>
            </a:r>
          </a:p>
          <a:p>
            <a:r>
              <a:t>SCENARIO: A multi-account pipeline must deploy the same revision to test and production, with separation of duties at production approval.</a:t>
            </a:r>
          </a:p>
          <a:p>
            <a:r>
              <a:t>DESIGN DECISION: Keep build resources in a tooling account, promote an immutable artifact, assume per-environment roles and require an approval owned outside the developer role.</a:t>
            </a:r>
          </a:p>
          <a:p>
            <a:r>
              <a:t>FAILURE TO AVOID: Rebuilding for production changes the artifact under review; parallel executions can race against shared CloudFormation state.</a:t>
            </a:r>
          </a:p>
          <a:p>
            <a:r>
              <a:t>ACCEPTANCE EVIDENCE: Pipeline execution ID, artifact digest, gate reports, approval identity/comment, assumed role and deployment result.</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Developer deep dive: CodeDeploy lifecycle, traffic shifting and rollback.</a:t>
            </a:r>
          </a:p>
          <a:p>
            <a:r>
              <a:t>PURPOSE: Select lifecycle hooks and deployment configurations that expose failures before they reach the full user population.</a:t>
            </a:r>
          </a:p>
          <a:p>
            <a:r>
              <a:t>SERVICE BOUNDARY: CodeDeploy · EC2/On-Premises · ECS · Lambda</a:t>
            </a:r>
          </a:p>
          <a:p>
            <a:r>
              <a:t>PRIMARY DESIGN DECISION: Deploy an immutable version behind an alias, shift a small weight, bind a transaction-error alarm and retain the previous alias target for rollback.</a:t>
            </a:r>
          </a:p>
          <a:p>
            <a:r>
              <a:t>FAILURE BOUNDARY: Infrastructure health alone may stay green while business transactions fail; an alarm that evaluates too slowly misses the canary window.</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CodeDeploy lifecycle, traffic shifting and rollback: how it works.</a:t>
            </a:r>
          </a:p>
          <a:p>
            <a:r>
              <a:t>MECHANIC 1: EC2/on-premises deployments use an AppSpec file to map files and lifecycle scripts; scripts must be idempotent because replacement or retry can rerun them.</a:t>
            </a:r>
          </a:p>
          <a:p>
            <a:r>
              <a:t>MECHANIC 2: ECS blue/green deployments create a replacement task set and move listener traffic after validation through CodeDeploy-controlled hooks.</a:t>
            </a:r>
          </a:p>
          <a:p>
            <a:r>
              <a:t>MECHANIC 3: Lambda deployments shift an alias between immutable versions using canary or linear increments and optional validation hooks.</a:t>
            </a:r>
          </a:p>
          <a:p>
            <a:r>
              <a:t>MECHANIC 4: Automatic rollback can react to deployment failure, stop requests or CloudWatch alarms, but only if alarms represent real release health.</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CodeDeploy lifecycle, traffic shifting and rollback: operating flow.</a:t>
            </a:r>
          </a:p>
          <a:p>
            <a:r>
              <a:t>Create revision</a:t>
            </a:r>
          </a:p>
          <a:p>
            <a:r>
              <a:t>Provision replacement</a:t>
            </a:r>
          </a:p>
          <a:p>
            <a:r>
              <a:t>Run pre-traffic validation</a:t>
            </a:r>
          </a:p>
          <a:p>
            <a:r>
              <a:t>Shift traffic</a:t>
            </a:r>
          </a:p>
          <a:p>
            <a:r>
              <a:t>Observe or roll back</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CodeDeploy lifecycle, traffic shifting and rollback: configuration decisions.</a:t>
            </a:r>
          </a:p>
          <a:p>
            <a:r>
              <a:t>IN-PLACE: Lower capacity cost but shares the original environment and normally has a slower recovery path.</a:t>
            </a:r>
          </a:p>
          <a:p>
            <a:r>
              <a:t>BLUE/GREEN: Keeps old capacity for rapid rollback but requires duplicate capacity and compatible data changes.</a:t>
            </a:r>
          </a:p>
          <a:p>
            <a:r>
              <a:t>CANARY/LINEAR: Limits early exposure and needs statistically useful traffic plus alarms that react within the interval.</a:t>
            </a:r>
          </a:p>
          <a:p>
            <a:r>
              <a:t>HOOKS: Use hooks for deterministic validation, not long-running hidden configuration management.</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CodeDeploy lifecycle, traffic shifting and rollback: worked architecture decision.</a:t>
            </a:r>
          </a:p>
          <a:p>
            <a:r>
              <a:t>SCENARIO: A payment API needs a small production canary and automatic restoration of the prior version when transaction errors rise.</a:t>
            </a:r>
          </a:p>
          <a:p>
            <a:r>
              <a:t>DESIGN DECISION: Deploy an immutable version behind an alias, shift a small weight, bind a transaction-error alarm and retain the previous alias target for rollback.</a:t>
            </a:r>
          </a:p>
          <a:p>
            <a:r>
              <a:t>FAILURE TO AVOID: Infrastructure health alone may stay green while business transactions fail; an alarm that evaluates too slowly misses the canary window.</a:t>
            </a:r>
          </a:p>
          <a:p>
            <a:r>
              <a:t>ACCEPTANCE EVIDENCE: Revision/version, hook output, target health, traffic weights, alarm history, rollback event and post-rollback transaction check.</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Developer deep dive: Elastic Beanstalk managed application platforms.</a:t>
            </a:r>
          </a:p>
          <a:p>
            <a:r>
              <a:t>PURPOSE: Operate web applications through managed platform versions, environment configuration and deployment policies without losing architectural control.</a:t>
            </a:r>
          </a:p>
          <a:p>
            <a:r>
              <a:t>SERVICE BOUNDARY: Elastic Beanstalk · Auto Scaling · ELB · RDS</a:t>
            </a:r>
          </a:p>
          <a:p>
            <a:r>
              <a:t>PRIMARY DESIGN DECISION: Use a supported platform branch, separate the database lifecycle, choose immutable or rolling-with-batch deployment and test managed updates in a clone.</a:t>
            </a:r>
          </a:p>
          <a:p>
            <a:r>
              <a:t>FAILURE BOUNDARY: Embedding a production database in the environment couples data lifecycle to application replacement; platform hooks can drift when undocumented.</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Elastic Beanstalk managed application platforms: how it works.</a:t>
            </a:r>
          </a:p>
          <a:p>
            <a:r>
              <a:t>MECHANIC 1: An application contains versions and environments; an environment creates resources such as instances, an Auto Scaling group and a load balancer from configuration options.</a:t>
            </a:r>
          </a:p>
          <a:p>
            <a:r>
              <a:t>MECHANIC 2: Platform branches and versions define operating system, runtime, proxy and supported lifecycle; managed platform updates reduce but do not remove upgrade testing.</a:t>
            </a:r>
          </a:p>
          <a:p>
            <a:r>
              <a:t>MECHANIC 3: Saved configurations and environment properties support repeatability, while `.ebextensions` and platform hooks apply controlled customisation.</a:t>
            </a:r>
          </a:p>
          <a:p>
            <a:r>
              <a:t>MECHANIC 4: Application health combines resource and request signals; enhanced health exposes instance and deployment-level status.</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Elastic Beanstalk managed application platforms: operating flow.</a:t>
            </a:r>
          </a:p>
          <a:p>
            <a:r>
              <a:t>Package application version</a:t>
            </a:r>
          </a:p>
          <a:p>
            <a:r>
              <a:t>Validate configuration</a:t>
            </a:r>
          </a:p>
          <a:p>
            <a:r>
              <a:t>Create replacement capacity</a:t>
            </a:r>
          </a:p>
          <a:p>
            <a:r>
              <a:t>Deploy by policy</a:t>
            </a:r>
          </a:p>
          <a:p>
            <a:r>
              <a:t>Read health and retain rollback</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Elastic Beanstalk managed application platforms: configuration decisions.</a:t>
            </a:r>
          </a:p>
          <a:p>
            <a:r>
              <a:t>ALL AT ONCE: Fast and cheap, but introduces downtime or full-fleet risk.</a:t>
            </a:r>
          </a:p>
          <a:p>
            <a:r>
              <a:t>ROLLING: Updates batches while reducing available capacity during the deployment.</a:t>
            </a:r>
          </a:p>
          <a:p>
            <a:r>
              <a:t>ROLLING WITH BATCH: Adds temporary capacity to preserve service level at higher short-term cost.</a:t>
            </a:r>
          </a:p>
          <a:p>
            <a:r>
              <a:t>IMMUTABLE: Launches a fresh group for strong isolation and quick environment-level recovery.</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Elastic Beanstalk managed application platforms: worked architecture decision.</a:t>
            </a:r>
          </a:p>
          <a:p>
            <a:r>
              <a:t>SCENARIO: A legacy web service needs managed runtime patching but cannot accept reduced capacity during release.</a:t>
            </a:r>
          </a:p>
          <a:p>
            <a:r>
              <a:t>DESIGN DECISION: Use a supported platform branch, separate the database lifecycle, choose immutable or rolling-with-batch deployment and test managed updates in a clone.</a:t>
            </a:r>
          </a:p>
          <a:p>
            <a:r>
              <a:t>FAILURE TO AVOID: Embedding a production database in the environment couples data lifecycle to application replacement; platform hooks can drift when undocumented.</a:t>
            </a:r>
          </a:p>
          <a:p>
            <a:r>
              <a:t>ACCEPTANCE EVIDENCE: Application version, configuration template, platform version, enhanced-health events, deployment policy and rollback environment.</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Continuous delivery operating model.</a:t>
            </a:r>
          </a:p>
          <a:p>
            <a:r>
              <a:t>OUTCOME: Turn every accepted change into a repeatable, observable release candidate.</a:t>
            </a:r>
          </a:p>
          <a:p>
            <a:r>
              <a:t>ARCHITECTURE: Separate source, build, test, approval and deploy concerns; promote immutable artifacts rather than rebuilding per environment.</a:t>
            </a:r>
          </a:p>
          <a:p>
            <a:r>
              <a:t>FAILURE MODE: Hidden manual steps create configuration variance and weak rollback evidence.</a:t>
            </a:r>
          </a:p>
          <a:p>
            <a:r>
              <a:t>EVIDENCE: Commit SHA, test report, artifact digest, approval identity and deployment outcome form the release record.</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Continuous delivery operating model: operating flow.</a:t>
            </a:r>
          </a:p>
          <a:p>
            <a:r>
              <a:t>Commit</a:t>
            </a:r>
          </a:p>
          <a:p>
            <a:r>
              <a:t>Build once</a:t>
            </a:r>
          </a:p>
          <a:p>
            <a:r>
              <a:t>Test and scan</a:t>
            </a:r>
          </a:p>
          <a:p>
            <a:r>
              <a:t>Approve</a:t>
            </a:r>
          </a:p>
          <a:p>
            <a:r>
              <a:t>Promote</a:t>
            </a:r>
          </a:p>
          <a:p>
            <a:r>
              <a:t>Observe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Continuous delivery operating model: design decision.</a:t>
            </a:r>
          </a:p>
          <a:p>
            <a:r>
              <a:t>SCENARIO: A regulated team needs fast releases without allowing developers to deploy directly to production.</a:t>
            </a:r>
          </a:p>
          <a:p>
            <a:r>
              <a:t>DESIGN RESPONSE: Separate source, build, test, approval and deploy concerns; promote immutable artifacts rather than rebuilding per environment.</a:t>
            </a:r>
          </a:p>
          <a:p>
            <a:r>
              <a:t>PRIMARY SERVICES: GitHub · CodePipeline · CodeBuild · CodeDeploy</a:t>
            </a:r>
          </a:p>
          <a:p>
            <a:r>
              <a:t>FAILURE MODE: Hidden manual steps create configuration variance and weak rollback evidence.</a:t>
            </a:r>
          </a:p>
          <a:p>
            <a:r>
              <a:t>PROOF: Commit SHA, test report, artifact digest, approval identity and deployment outcome form the release record.</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Continuous delivery operating model: failure diagnostic.</a:t>
            </a:r>
          </a:p>
          <a:p>
            <a:r>
              <a:t>RECOGNISE: Observable failure condition: Hidden manual steps create configuration variance and weak rollback evidence.</a:t>
            </a:r>
          </a:p>
          <a:p>
            <a:r>
              <a:t>CONTAIN: Pause promotion, preserve evidence and reduce impact without destroying diagnostic state.</a:t>
            </a:r>
          </a:p>
          <a:p>
            <a:r>
              <a:t>DIAGNOSE: Trace the workflow from Commit through Observe; compare intended configuration with runtime state.</a:t>
            </a:r>
          </a:p>
          <a:p>
            <a:r>
              <a:t>RECOVER: Restore the last known-good state, then prove recovery with Commit SHA, test report, artifact digest, approval identity and deployment outcome form the release record.</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Continuous delivery operating model: worked decision.</a:t>
            </a:r>
          </a:p>
          <a:p>
            <a:r>
              <a:t>CONSTRAINT: A regulated team needs fast releases without allowing developers to deploy directly to production.</a:t>
            </a:r>
          </a:p>
          <a:p>
            <a:r>
              <a:t>DECISION: Separate source, build, test, approval and deploy concerns; promote immutable artifacts rather than rebuilding per environment.</a:t>
            </a:r>
          </a:p>
          <a:p>
            <a:r>
              <a:t>WHY ALTERNATIVES LOSE: Reject options that do not change the stated failure boundary: Hidden manual steps create configuration variance and weak rollback evidence.</a:t>
            </a:r>
          </a:p>
          <a:p>
            <a:r>
              <a:t>ACCEPTANCE TEST: The decision is complete only when this proof exists: Commit SHA, test report, artifact digest, approval identity and deployment outcome form the release record.</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Pipeline triggers and source governance.</a:t>
            </a:r>
          </a:p>
          <a:p>
            <a:r>
              <a:t>OUTCOME: Start the right pipeline from an authenticated source event while protecting mainline quality.</a:t>
            </a:r>
          </a:p>
          <a:p>
            <a:r>
              <a:t>ARCHITECTURE: Use pull-request checks, protected branches, signed connections and event filters; avoid broad polling and shared credentials.</a:t>
            </a:r>
          </a:p>
          <a:p>
            <a:r>
              <a:t>FAILURE MODE: A trigger that accepts unreviewed branches can promote untrusted code.</a:t>
            </a:r>
          </a:p>
          <a:p>
            <a:r>
              <a:t>EVIDENCE: Repository event, branch rule, connection ARN, trigger filter and execution correlation ID.</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Pipeline triggers and source governance: operating flow.</a:t>
            </a:r>
          </a:p>
          <a:p>
            <a:r>
              <a:t>Pull request</a:t>
            </a:r>
          </a:p>
          <a:p>
            <a:r>
              <a:t>Policy checks</a:t>
            </a:r>
          </a:p>
          <a:p>
            <a:r>
              <a:t>Merge event</a:t>
            </a:r>
          </a:p>
          <a:p>
            <a:r>
              <a:t>Trigger filter</a:t>
            </a:r>
          </a:p>
          <a:p>
            <a:r>
              <a:t>Pipeline execution</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Pipeline triggers and source governance: design decision.</a:t>
            </a:r>
          </a:p>
          <a:p>
            <a:r>
              <a:t>SCENARIO: Feature branches must run tests, but only reviewed merges to main may enter the release pipeline.</a:t>
            </a:r>
          </a:p>
          <a:p>
            <a:r>
              <a:t>DESIGN RESPONSE: Use pull-request checks, protected branches, signed connections and event filters; avoid broad polling and shared credentials.</a:t>
            </a:r>
          </a:p>
          <a:p>
            <a:r>
              <a:t>PRIMARY SERVICES: GitHub · EventBridge · CodeConnections</a:t>
            </a:r>
          </a:p>
          <a:p>
            <a:r>
              <a:t>FAILURE MODE: A trigger that accepts unreviewed branches can promote untrusted code.</a:t>
            </a:r>
          </a:p>
          <a:p>
            <a:r>
              <a:t>PROOF: Repository event, branch rule, connection ARN, trigger filter and execution correlation ID.</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Pipeline triggers and source governance: failure diagnostic.</a:t>
            </a:r>
          </a:p>
          <a:p>
            <a:r>
              <a:t>RECOGNISE: Observable failure condition: A trigger that accepts unreviewed branches can promote untrusted code.</a:t>
            </a:r>
          </a:p>
          <a:p>
            <a:r>
              <a:t>CONTAIN: Pause promotion, preserve evidence and reduce impact without destroying diagnostic state.</a:t>
            </a:r>
          </a:p>
          <a:p>
            <a:r>
              <a:t>DIAGNOSE: Trace the workflow from Pull request through Pipeline execution; compare intended configuration with runtime state.</a:t>
            </a:r>
          </a:p>
          <a:p>
            <a:r>
              <a:t>RECOVER: Restore the last known-good state, then prove recovery with Repository event, branch rule, connection ARN, trigger filter and execution correlation ID.</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Pipeline triggers and source governance: worked decision.</a:t>
            </a:r>
          </a:p>
          <a:p>
            <a:r>
              <a:t>CONSTRAINT: Feature branches must run tests, but only reviewed merges to main may enter the release pipeline.</a:t>
            </a:r>
          </a:p>
          <a:p>
            <a:r>
              <a:t>DECISION: Use pull-request checks, protected branches, signed connections and event filters; avoid broad polling and shared credentials.</a:t>
            </a:r>
          </a:p>
          <a:p>
            <a:r>
              <a:t>WHY ALTERNATIVES LOSE: Reject options that do not change the stated failure boundary: A trigger that accepts unreviewed branches can promote untrusted code.</a:t>
            </a:r>
          </a:p>
          <a:p>
            <a:r>
              <a:t>ACCEPTANCE TEST: The decision is complete only when this proof exists: Repository event, branch rule, connection ARN, trigger filter and execution correlation ID.</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CodeBuild and automated quality gates.</a:t>
            </a:r>
          </a:p>
          <a:p>
            <a:r>
              <a:t>OUTCOME: Make build success mean more than compilation by enforcing test, security and quality thresholds.</a:t>
            </a:r>
          </a:p>
          <a:p>
            <a:r>
              <a:t>ARCHITECTURE: Pin runtime images and dependencies, isolate privileged builds, publish reports, and fail on explicit exit codes.</a:t>
            </a:r>
          </a:p>
          <a:p>
            <a:r>
              <a:t>FAILURE MODE: A green build with ignored test failures is a false control.</a:t>
            </a:r>
          </a:p>
          <a:p>
            <a:r>
              <a:t>EVIDENCE: buildspec version, resolved image digest, report group, coverage result and exported variables.</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CodeBuild and automated quality gates: operating flow.</a:t>
            </a:r>
          </a:p>
          <a:p>
            <a:r>
              <a:t>Install</a:t>
            </a:r>
          </a:p>
          <a:p>
            <a:r>
              <a:t>Compile</a:t>
            </a:r>
          </a:p>
          <a:p>
            <a:r>
              <a:t>Unit test</a:t>
            </a:r>
          </a:p>
          <a:p>
            <a:r>
              <a:t>Security scan</a:t>
            </a:r>
          </a:p>
          <a:p>
            <a:r>
              <a:t>Package</a:t>
            </a:r>
          </a:p>
          <a:p>
            <a:r>
              <a:t>Publish report</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CodeBuild and automated quality gates: design decision.</a:t>
            </a:r>
          </a:p>
          <a:p>
            <a:r>
              <a:t>SCENARIO: A Python service must fail the pipeline below 85% coverage or when a high-severity dependency finding appears.</a:t>
            </a:r>
          </a:p>
          <a:p>
            <a:r>
              <a:t>DESIGN RESPONSE: Pin runtime images and dependencies, isolate privileged builds, publish reports, and fail on explicit exit codes.</a:t>
            </a:r>
          </a:p>
          <a:p>
            <a:r>
              <a:t>PRIMARY SERVICES: CodeBuild · CodeGuru · test reports · coverage</a:t>
            </a:r>
          </a:p>
          <a:p>
            <a:r>
              <a:t>FAILURE MODE: A green build with ignored test failures is a false control.</a:t>
            </a:r>
          </a:p>
          <a:p>
            <a:r>
              <a:t>PROOF: buildspec version, resolved image digest, report group, coverage result and exported variables.</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CodeBuild and automated quality gates: failure diagnostic.</a:t>
            </a:r>
          </a:p>
          <a:p>
            <a:r>
              <a:t>RECOGNISE: Observable failure condition: A green build with ignored test failures is a false control.</a:t>
            </a:r>
          </a:p>
          <a:p>
            <a:r>
              <a:t>CONTAIN: Pause promotion, preserve evidence and reduce impact without destroying diagnostic state.</a:t>
            </a:r>
          </a:p>
          <a:p>
            <a:r>
              <a:t>DIAGNOSE: Trace the workflow from Install through Publish report; compare intended configuration with runtime state.</a:t>
            </a:r>
          </a:p>
          <a:p>
            <a:r>
              <a:t>RECOVER: Restore the last known-good state, then prove recovery with buildspec version, resolved image digest, report group, coverage result and exported variables.</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CodeBuild and automated quality gates: worked decision.</a:t>
            </a:r>
          </a:p>
          <a:p>
            <a:r>
              <a:t>CONSTRAINT: A Python service must fail the pipeline below 85% coverage or when a high-severity dependency finding appears.</a:t>
            </a:r>
          </a:p>
          <a:p>
            <a:r>
              <a:t>DECISION: Pin runtime images and dependencies, isolate privileged builds, publish reports, and fail on explicit exit codes.</a:t>
            </a:r>
          </a:p>
          <a:p>
            <a:r>
              <a:t>WHY ALTERNATIVES LOSE: Reject options that do not change the stated failure boundary: A green build with ignored test failures is a false control.</a:t>
            </a:r>
          </a:p>
          <a:p>
            <a:r>
              <a:t>ACCEPTANCE TEST: The decision is complete only when this proof exists: buildspec version, resolved image digest, report group, coverage result and exported variables.</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Artifact integrity and lifecycle.</a:t>
            </a:r>
          </a:p>
          <a:p>
            <a:r>
              <a:t>OUTCOME: Create traceable, encrypted and retention-managed artifacts for every deployment target.</a:t>
            </a:r>
          </a:p>
          <a:p>
            <a:r>
              <a:t>ARCHITECTURE: Version packages immutably, scan images, sign or checksum outputs, encrypt repositories and expire superseded artifacts deliberately.</a:t>
            </a:r>
          </a:p>
          <a:p>
            <a:r>
              <a:t>FAILURE MODE: Mutable tags such as latest can deploy different bytes under the same release label.</a:t>
            </a:r>
          </a:p>
          <a:p>
            <a:r>
              <a:t>EVIDENCE: Package version, digest, scan status, KMS key, repository policy and retention action.</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Artifact integrity and lifecycle: operating flow.</a:t>
            </a:r>
          </a:p>
          <a:p>
            <a:r>
              <a:t>Build artifact</a:t>
            </a:r>
          </a:p>
          <a:p>
            <a:r>
              <a:t>Hash and scan</a:t>
            </a:r>
          </a:p>
          <a:p>
            <a:r>
              <a:t>Store</a:t>
            </a:r>
          </a:p>
          <a:p>
            <a:r>
              <a:t>Authorize</a:t>
            </a:r>
          </a:p>
          <a:p>
            <a:r>
              <a:t>Promote by digest</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Artifact integrity and lifecycle: design decision.</a:t>
            </a:r>
          </a:p>
          <a:p>
            <a:r>
              <a:t>SCENARIO: Teams share a container image across accounts and Regions while auditors require proof of exactly what ran.</a:t>
            </a:r>
          </a:p>
          <a:p>
            <a:r>
              <a:t>DESIGN RESPONSE: Version packages immutably, scan images, sign or checksum outputs, encrypt repositories and expire superseded artifacts deliberately.</a:t>
            </a:r>
          </a:p>
          <a:p>
            <a:r>
              <a:t>PRIMARY SERVICES: CodeArtifact · ECR · S3 · KMS · Image Builder</a:t>
            </a:r>
          </a:p>
          <a:p>
            <a:r>
              <a:t>FAILURE MODE: Mutable tags such as latest can deploy different bytes under the same release label.</a:t>
            </a:r>
          </a:p>
          <a:p>
            <a:r>
              <a:t>PROOF: Package version, digest, scan status, KMS key, repository policy and retention action.</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Artifact integrity and lifecycle: failure diagnostic.</a:t>
            </a:r>
          </a:p>
          <a:p>
            <a:r>
              <a:t>RECOGNISE: Observable failure condition: Mutable tags such as latest can deploy different bytes under the same release label.</a:t>
            </a:r>
          </a:p>
          <a:p>
            <a:r>
              <a:t>CONTAIN: Pause promotion, preserve evidence and reduce impact without destroying diagnostic state.</a:t>
            </a:r>
          </a:p>
          <a:p>
            <a:r>
              <a:t>DIAGNOSE: Trace the workflow from Build artifact through Promote by digest; compare intended configuration with runtime state.</a:t>
            </a:r>
          </a:p>
          <a:p>
            <a:r>
              <a:t>RECOVER: Restore the last known-good state, then prove recovery with Package version, digest, scan status, KMS key, repository policy and retention action.</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Artifact integrity and lifecycle: worked decision.</a:t>
            </a:r>
          </a:p>
          <a:p>
            <a:r>
              <a:t>CONSTRAINT: Teams share a container image across accounts and Regions while auditors require proof of exactly what ran.</a:t>
            </a:r>
          </a:p>
          <a:p>
            <a:r>
              <a:t>DECISION: Version packages immutably, scan images, sign or checksum outputs, encrypt repositories and expire superseded artifacts deliberately.</a:t>
            </a:r>
          </a:p>
          <a:p>
            <a:r>
              <a:t>WHY ALTERNATIVES LOSE: Reject options that do not change the stated failure boundary: Mutable tags such as latest can deploy different bytes under the same release label.</a:t>
            </a:r>
          </a:p>
          <a:p>
            <a:r>
              <a:t>ACCEPTANCE TEST: The decision is complete only when this proof exists: Package version, digest, scan status, KMS key, repository policy and retention action.</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CodeDeploy lifecycle and rollback.</a:t>
            </a:r>
          </a:p>
          <a:p>
            <a:r>
              <a:t>OUTCOME: Deploy safely to fleets with lifecycle hooks, health checks and a deterministic rollback path.</a:t>
            </a:r>
          </a:p>
          <a:p>
            <a:r>
              <a:t>ARCHITECTURE: Match AppSpec hooks to deployment topology; use load-balancer health and alarms to halt or roll back unhealthy revisions.</a:t>
            </a:r>
          </a:p>
          <a:p>
            <a:r>
              <a:t>FAILURE MODE: A successful file copy does not prove the application is healthy.</a:t>
            </a:r>
          </a:p>
          <a:p>
            <a:r>
              <a:t>EVIDENCE: Revision ID, lifecycle-hook log, deployment configuration, alarm state and rollback deployment ID.</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CodeDeploy lifecycle and rollback: operating flow.</a:t>
            </a:r>
          </a:p>
          <a:p>
            <a:r>
              <a:t>Provision target</a:t>
            </a:r>
          </a:p>
          <a:p>
            <a:r>
              <a:t>Before Install</a:t>
            </a:r>
          </a:p>
          <a:p>
            <a:r>
              <a:t>Install</a:t>
            </a:r>
          </a:p>
          <a:p>
            <a:r>
              <a:t>Validate Service</a:t>
            </a:r>
          </a:p>
          <a:p>
            <a:r>
              <a:t>Shift traffic</a:t>
            </a:r>
          </a:p>
          <a:p>
            <a:r>
              <a:t>Rollback if alarmed</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CodeDeploy lifecycle and rollback: design decision.</a:t>
            </a:r>
          </a:p>
          <a:p>
            <a:r>
              <a:t>SCENARIO: An in-place EC2 deployment leaves half the fleet serving incompatible API versions.</a:t>
            </a:r>
          </a:p>
          <a:p>
            <a:r>
              <a:t>DESIGN RESPONSE: Match AppSpec hooks to deployment topology; use load-balancer health and alarms to halt or roll back unhealthy revisions.</a:t>
            </a:r>
          </a:p>
          <a:p>
            <a:r>
              <a:t>PRIMARY SERVICES: CodeDeploy · EC2 · Auto Scaling · ALB</a:t>
            </a:r>
          </a:p>
          <a:p>
            <a:r>
              <a:t>FAILURE MODE: A successful file copy does not prove the application is healthy.</a:t>
            </a:r>
          </a:p>
          <a:p>
            <a:r>
              <a:t>PROOF: Revision ID, lifecycle-hook log, deployment configuration, alarm state and rollback deployment ID.</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CodeDeploy lifecycle and rollback: failure diagnostic.</a:t>
            </a:r>
          </a:p>
          <a:p>
            <a:r>
              <a:t>RECOGNISE: Observable failure condition: A successful file copy does not prove the application is healthy.</a:t>
            </a:r>
          </a:p>
          <a:p>
            <a:r>
              <a:t>CONTAIN: Pause promotion, preserve evidence and reduce impact without destroying diagnostic state.</a:t>
            </a:r>
          </a:p>
          <a:p>
            <a:r>
              <a:t>DIAGNOSE: Trace the workflow from Provision target through Rollback if alarmed; compare intended configuration with runtime state.</a:t>
            </a:r>
          </a:p>
          <a:p>
            <a:r>
              <a:t>RECOVER: Restore the last known-good state, then prove recovery with Revision ID, lifecycle-hook log, deployment configuration, alarm state and rollback deployment ID.</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CodeDeploy lifecycle and rollback: worked decision.</a:t>
            </a:r>
          </a:p>
          <a:p>
            <a:r>
              <a:t>CONSTRAINT: An in-place EC2 deployment leaves half the fleet serving incompatible API versions.</a:t>
            </a:r>
          </a:p>
          <a:p>
            <a:r>
              <a:t>DECISION: Match AppSpec hooks to deployment topology; use load-balancer health and alarms to halt or roll back unhealthy revisions.</a:t>
            </a:r>
          </a:p>
          <a:p>
            <a:r>
              <a:t>WHY ALTERNATIVES LOSE: Reject options that do not change the stated failure boundary: A successful file copy does not prove the application is healthy.</a:t>
            </a:r>
          </a:p>
          <a:p>
            <a:r>
              <a:t>ACCEPTANCE TEST: The decision is complete only when this proof exists: Revision ID, lifecycle-hook log, deployment configuration, alarm state and rollback deployment ID.</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Container and serverless deployment strategies.</a:t>
            </a:r>
          </a:p>
          <a:p>
            <a:r>
              <a:t>OUTCOME: Select canary, linear or all-at-once traffic shifting based on blast radius and recovery needs.</a:t>
            </a:r>
          </a:p>
          <a:p>
            <a:r>
              <a:t>ARCHITECTURE: Pair weighted traffic with pre/post hooks, alarms and versioned task definitions or Lambda aliases.</a:t>
            </a:r>
          </a:p>
          <a:p>
            <a:r>
              <a:t>FAILURE MODE: Traffic shifts without representative health signals can amplify failure gradually but silently.</a:t>
            </a:r>
          </a:p>
          <a:p>
            <a:r>
              <a:t>EVIDENCE: Task-definition revision or Lambda version, traffic weights, hook results, alarms and rollback state.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Container and serverless deployment strategies: operating flow.</a:t>
            </a:r>
          </a:p>
          <a:p>
            <a:r>
              <a:t>Publish version</a:t>
            </a:r>
          </a:p>
          <a:p>
            <a:r>
              <a:t>Pre-traffic test</a:t>
            </a:r>
          </a:p>
          <a:p>
            <a:r>
              <a:t>Shift fraction</a:t>
            </a:r>
          </a:p>
          <a:p>
            <a:r>
              <a:t>Observe</a:t>
            </a:r>
          </a:p>
          <a:p>
            <a:r>
              <a:t>Complete or roll back</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Container and serverless deployment strategies: design decision.</a:t>
            </a:r>
          </a:p>
          <a:p>
            <a:r>
              <a:t>SCENARIO: A customer API requires zero-downtime releases and automatic rollback within five minutes.</a:t>
            </a:r>
          </a:p>
          <a:p>
            <a:r>
              <a:t>DESIGN RESPONSE: Pair weighted traffic with pre/post hooks, alarms and versioned task definitions or Lambda aliases.</a:t>
            </a:r>
          </a:p>
          <a:p>
            <a:r>
              <a:t>PRIMARY SERVICES: ECS · Lambda · CodeDeploy · SAM</a:t>
            </a:r>
          </a:p>
          <a:p>
            <a:r>
              <a:t>FAILURE MODE: Traffic shifts without representative health signals can amplify failure gradually but silently.</a:t>
            </a:r>
          </a:p>
          <a:p>
            <a:r>
              <a:t>PROOF: Task-definition revision or Lambda version, traffic weights, hook results, alarms and rollback state.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Container and serverless deployment strategies: failure diagnostic.</a:t>
            </a:r>
          </a:p>
          <a:p>
            <a:r>
              <a:t>RECOGNISE: Observable failure condition: Traffic shifts without representative health signals can amplify failure gradually but silently.</a:t>
            </a:r>
          </a:p>
          <a:p>
            <a:r>
              <a:t>CONTAIN: Pause promotion, preserve evidence and reduce impact without destroying diagnostic state.</a:t>
            </a:r>
          </a:p>
          <a:p>
            <a:r>
              <a:t>DIAGNOSE: Trace the workflow from Publish version through Complete or roll back; compare intended configuration with runtime state.</a:t>
            </a:r>
          </a:p>
          <a:p>
            <a:r>
              <a:t>RECOVER: Restore the last known-good state, then prove recovery with Task-definition revision or Lambda version, traffic weights, hook results, alarms and rollback state.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Container and serverless deployment strategies: worked decision.</a:t>
            </a:r>
          </a:p>
          <a:p>
            <a:r>
              <a:t>CONSTRAINT: A customer API requires zero-downtime releases and automatic rollback within five minutes.</a:t>
            </a:r>
          </a:p>
          <a:p>
            <a:r>
              <a:t>DECISION: Pair weighted traffic with pre/post hooks, alarms and versioned task definitions or Lambda aliases.</a:t>
            </a:r>
          </a:p>
          <a:p>
            <a:r>
              <a:t>WHY ALTERNATIVES LOSE: Reject options that do not change the stated failure boundary: Traffic shifts without representative health signals can amplify failure gradually but silently.</a:t>
            </a:r>
          </a:p>
          <a:p>
            <a:r>
              <a:t>ACCEPTANCE TEST: The decision is complete only when this proof exists: Task-definition revision or Lambda version, traffic weights, hook results, alarms and rollback state.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Multi-account and multi-Region delivery.</a:t>
            </a:r>
          </a:p>
          <a:p>
            <a:r>
              <a:t>OUTCOME: Promote one release across governed accounts and Regions without duplicating build logic.</a:t>
            </a:r>
          </a:p>
          <a:p>
            <a:r>
              <a:t>ARCHITECTURE: Use cross-account roles, Region-specific artifact stores and keys, ordered waves, approval boundaries and central evidence.</a:t>
            </a:r>
          </a:p>
          <a:p>
            <a:r>
              <a:t>FAILURE MODE: Missing KMS or trust-policy permissions often appear only at the first cross-account action.</a:t>
            </a:r>
          </a:p>
          <a:p>
            <a:r>
              <a:t>EVIDENCE: Role assumption, regional artifact copy, StackSet operation, wave status and approval record.</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Multi-account and multi-Region delivery: operating flow.</a:t>
            </a:r>
          </a:p>
          <a:p>
            <a:r>
              <a:t>Build centrally</a:t>
            </a:r>
          </a:p>
          <a:p>
            <a:r>
              <a:t>Replicate artifact</a:t>
            </a:r>
          </a:p>
          <a:p>
            <a:r>
              <a:t>Assume deploy role</a:t>
            </a:r>
          </a:p>
          <a:p>
            <a:r>
              <a:t>Deploy wave</a:t>
            </a:r>
          </a:p>
          <a:p>
            <a:r>
              <a:t>Verify Region</a:t>
            </a:r>
          </a:p>
          <a:p>
            <a:r>
              <a:t>Continue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Multi-account and multi-Region delivery: design decision.</a:t>
            </a:r>
          </a:p>
          <a:p>
            <a:r>
              <a:t>SCENARIO: A platform team releases to development, staging and two production Regions from one governed pipeline.</a:t>
            </a:r>
          </a:p>
          <a:p>
            <a:r>
              <a:t>DESIGN RESPONSE: Use cross-account roles, Region-specific artifact stores and keys, ordered waves, approval boundaries and central evidence.</a:t>
            </a:r>
          </a:p>
          <a:p>
            <a:r>
              <a:t>PRIMARY SERVICES: CodePipeline · CloudFormation StackSets · KMS · IAM</a:t>
            </a:r>
          </a:p>
          <a:p>
            <a:r>
              <a:t>FAILURE MODE: Missing KMS or trust-policy permissions often appear only at the first cross-account action.</a:t>
            </a:r>
          </a:p>
          <a:p>
            <a:r>
              <a:t>PROOF: Role assumption, regional artifact copy, StackSet operation, wave status and approval record.</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Multi-account and multi-Region delivery: failure diagnostic.</a:t>
            </a:r>
          </a:p>
          <a:p>
            <a:r>
              <a:t>RECOGNISE: Observable failure condition: Missing KMS or trust-policy permissions often appear only at the first cross-account action.</a:t>
            </a:r>
          </a:p>
          <a:p>
            <a:r>
              <a:t>CONTAIN: Pause promotion, preserve evidence and reduce impact without destroying diagnostic state.</a:t>
            </a:r>
          </a:p>
          <a:p>
            <a:r>
              <a:t>DIAGNOSE: Trace the workflow from Build centrally through Continue; compare intended configuration with runtime state.</a:t>
            </a:r>
          </a:p>
          <a:p>
            <a:r>
              <a:t>RECOVER: Restore the last known-good state, then prove recovery with Role assumption, regional artifact copy, StackSet operation, wave status and approval record.</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Multi-account and multi-Region delivery: worked decision.</a:t>
            </a:r>
          </a:p>
          <a:p>
            <a:r>
              <a:t>CONSTRAINT: A platform team releases to development, staging and two production Regions from one governed pipeline.</a:t>
            </a:r>
          </a:p>
          <a:p>
            <a:r>
              <a:t>DECISION: Use cross-account roles, Region-specific artifact stores and keys, ordered waves, approval boundaries and central evidence.</a:t>
            </a:r>
          </a:p>
          <a:p>
            <a:r>
              <a:t>WHY ALTERNATIVES LOSE: Reject options that do not change the stated failure boundary: Missing KMS or trust-policy permissions often appear only at the first cross-account action.</a:t>
            </a:r>
          </a:p>
          <a:p>
            <a:r>
              <a:t>ACCEPTANCE TEST: The decision is complete only when this proof exists: Role assumption, regional artifact copy, StackSet operation, wave status and approval record.</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Continuous delivery operating model: architecture map.</a:t>
            </a:r>
          </a:p>
          <a:p>
            <a:r>
              <a:t>TRIGGER / INPUT: Commit</a:t>
            </a:r>
          </a:p>
          <a:p>
            <a:r>
              <a:t>CONTROL PLANE: Separate source, build, test, approval and deploy concerns; promote immutable artifacts rather than rebuilding per environment.</a:t>
            </a:r>
          </a:p>
          <a:p>
            <a:r>
              <a:t>AWS SERVICES: GitHub · CodePipeline · CodeBuild · CodeDeploy</a:t>
            </a:r>
          </a:p>
          <a:p>
            <a:r>
              <a:t>EVIDENCE BOUNDARY: Commit SHA, test report, artifact digest, approval identity and deployment outcome form the release record.</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Pipeline triggers and source governance: architecture map.</a:t>
            </a:r>
          </a:p>
          <a:p>
            <a:r>
              <a:t>TRIGGER / INPUT: Pull request</a:t>
            </a:r>
          </a:p>
          <a:p>
            <a:r>
              <a:t>CONTROL PLANE: Use pull-request checks, protected branches, signed connections and event filters; avoid broad polling and shared credentials.</a:t>
            </a:r>
          </a:p>
          <a:p>
            <a:r>
              <a:t>AWS SERVICES: GitHub · EventBridge · CodeConnections</a:t>
            </a:r>
          </a:p>
          <a:p>
            <a:r>
              <a:t>EVIDENCE BOUNDARY: Repository event, branch rule, connection ARN, trigger filter and execution correlation ID.</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CodeBuild and automated quality gates: architecture map.</a:t>
            </a:r>
          </a:p>
          <a:p>
            <a:r>
              <a:t>TRIGGER / INPUT: Install</a:t>
            </a:r>
          </a:p>
          <a:p>
            <a:r>
              <a:t>CONTROL PLANE: Pin runtime images and dependencies, isolate privileged builds, publish reports, and fail on explicit exit codes.</a:t>
            </a:r>
          </a:p>
          <a:p>
            <a:r>
              <a:t>AWS SERVICES: CodeBuild · CodeGuru · test reports · coverage</a:t>
            </a:r>
          </a:p>
          <a:p>
            <a:r>
              <a:t>EVIDENCE BOUNDARY: buildspec version, resolved image digest, report group, coverage result and exported variables.</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Artifact integrity and lifecycle: architecture map.</a:t>
            </a:r>
          </a:p>
          <a:p>
            <a:r>
              <a:t>TRIGGER / INPUT: Build artifact</a:t>
            </a:r>
          </a:p>
          <a:p>
            <a:r>
              <a:t>CONTROL PLANE: Version packages immutably, scan images, sign or checksum outputs, encrypt repositories and expire superseded artifacts deliberately.</a:t>
            </a:r>
          </a:p>
          <a:p>
            <a:r>
              <a:t>AWS SERVICES: CodeArtifact · ECR · S3 · KMS · Image Builder</a:t>
            </a:r>
          </a:p>
          <a:p>
            <a:r>
              <a:t>EVIDENCE BOUNDARY: Package version, digest, scan status, KMS key, repository policy and retention action.</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CodeDeploy lifecycle and rollback: architecture map.</a:t>
            </a:r>
          </a:p>
          <a:p>
            <a:r>
              <a:t>TRIGGER / INPUT: Provision target</a:t>
            </a:r>
          </a:p>
          <a:p>
            <a:r>
              <a:t>CONTROL PLANE: Match AppSpec hooks to deployment topology; use load-balancer health and alarms to halt or roll back unhealthy revisions.</a:t>
            </a:r>
          </a:p>
          <a:p>
            <a:r>
              <a:t>AWS SERVICES: CodeDeploy · EC2 · Auto Scaling · ALB</a:t>
            </a:r>
          </a:p>
          <a:p>
            <a:r>
              <a:t>EVIDENCE BOUNDARY: Revision ID, lifecycle-hook log, deployment configuration, alarm state and rollback deployment ID.</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Container and serverless deployment strategies: architecture map.</a:t>
            </a:r>
          </a:p>
          <a:p>
            <a:r>
              <a:t>TRIGGER / INPUT: Publish version</a:t>
            </a:r>
          </a:p>
          <a:p>
            <a:r>
              <a:t>CONTROL PLANE: Pair weighted traffic with pre/post hooks, alarms and versioned task definitions or Lambda aliases.</a:t>
            </a:r>
          </a:p>
          <a:p>
            <a:r>
              <a:t>AWS SERVICES: ECS · Lambda · CodeDeploy · SAM</a:t>
            </a:r>
          </a:p>
          <a:p>
            <a:r>
              <a:t>EVIDENCE BOUNDARY: Task-definition revision or Lambda version, traffic weights, hook results, alarms and rollback state.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Multi-account and multi-Region delivery: architecture map.</a:t>
            </a:r>
          </a:p>
          <a:p>
            <a:r>
              <a:t>TRIGGER / INPUT: Build centrally</a:t>
            </a:r>
          </a:p>
          <a:p>
            <a:r>
              <a:t>CONTROL PLANE: Use cross-account roles, Region-specific artifact stores and keys, ordered waves, approval boundaries and central evidence.</a:t>
            </a:r>
          </a:p>
          <a:p>
            <a:r>
              <a:t>AWS SERVICES: CodePipeline · CloudFormation StackSets · KMS · IAM</a:t>
            </a:r>
          </a:p>
          <a:p>
            <a:r>
              <a:t>EVIDENCE BOUNDARY: Role assumption, regional artifact copy, StackSet operation, wave status and approval record.</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1 overview — Stand up a least-privilege AWS CLI/Git workspace and confirm your identity.</a:t>
            </a:r>
          </a:p>
          <a:p>
            <a:r>
              <a:t>Concept-led briefing only. The full detailed procedure, commands, expected outputs, validation and cleanup live in the Learner Guide and the lab README (not on the slides).</a:t>
            </a:r>
          </a:p>
          <a:p>
            <a:r>
              <a:t>Reference architecture: course-generated diagram for Lab 1.</a:t>
            </a:r>
          </a:p>
          <a:p/>
          <a:p>
            <a:r>
              <a:t>[Sources]</a:t>
            </a:r>
          </a:p>
          <a:p>
            <a:r>
              <a:t>- AWS Certified DevOps Engineer – Professional (DOP-C02) Exam Guide (docs.aws.amazon.com/pdfs/aws-certification/latest/devops-engineer-professional-02).</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2 overview — Adopt a trunk-based Git workflow and connect the repository to AWS with CodeConnections.</a:t>
            </a:r>
          </a:p>
          <a:p>
            <a:r>
              <a:t>Concept-led briefing only. The full detailed procedure, commands, expected outputs, validation and cleanup live in the Learner Guide and the lab README (not on the slides).</a:t>
            </a:r>
          </a:p>
          <a:p>
            <a:r>
              <a:t>Reference architecture: course-generated diagram for Lab 2.</a:t>
            </a:r>
          </a:p>
          <a:p/>
          <a:p>
            <a:r>
              <a:t>[Sources]</a:t>
            </a:r>
          </a:p>
          <a:p>
            <a:r>
              <a:t>- AWS Certified DevOps Engineer – Professional (DOP-C02) Exam Guide (docs.aws.amazon.com/pdfs/aws-certification/latest/devops-engineer-professional-02).</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3 overview — Author a buildspec and a CodeBuild project that automatically lints and tests the app.</a:t>
            </a:r>
          </a:p>
          <a:p>
            <a:r>
              <a:t>Concept-led briefing only. The full detailed procedure, commands, expected outputs, validation and cleanup live in the Learner Guide and the lab README (not on the slides).</a:t>
            </a:r>
          </a:p>
          <a:p>
            <a:r>
              <a:t>Reference architecture: course-generated diagram for Lab 3.</a:t>
            </a:r>
          </a:p>
          <a:p/>
          <a:p>
            <a:r>
              <a:t>[Sources]</a:t>
            </a:r>
          </a:p>
          <a:p>
            <a:r>
              <a:t>- AWS Certified DevOps Engineer – Professional (DOP-C02) Exam Guide (docs.aws.amazon.com/pdfs/aws-certification/latest/devops-engineer-professional-02).</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4 overview — Extend the buildspec to package versioned artifacts and store them in an encrypted, versioned bucket.</a:t>
            </a:r>
          </a:p>
          <a:p>
            <a:r>
              <a:t>Concept-led briefing only. The full detailed procedure, commands, expected outputs, validation and cleanup live in the Learner Guide and the lab README (not on the slides).</a:t>
            </a:r>
          </a:p>
          <a:p>
            <a:r>
              <a:t>Reference architecture: course-generated diagram for Lab 4.</a:t>
            </a:r>
          </a:p>
          <a:p/>
          <a:p>
            <a:r>
              <a:t>[Sources]</a:t>
            </a:r>
          </a:p>
          <a:p>
            <a:r>
              <a:t>- AWS Certified DevOps Engineer – Professional (DOP-C02) Exam Guide (docs.aws.amazon.com/pdfs/aws-certification/latest/devops-engineer-professional-02).</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5 overview — Wire an end-to-end pipeline with a manual approval gate, a deployment strategy and auto-rollback.</a:t>
            </a:r>
          </a:p>
          <a:p>
            <a:r>
              <a:t>Concept-led briefing only. The full detailed procedure, commands, expected outputs, validation and cleanup live in the Learner Guide and the lab README (not on the slides).</a:t>
            </a:r>
          </a:p>
          <a:p>
            <a:r>
              <a:t>Reference architecture: course-generated diagram for Lab 5.</a:t>
            </a:r>
          </a:p>
          <a:p/>
          <a:p>
            <a:r>
              <a:t>[Sources]</a:t>
            </a:r>
          </a:p>
          <a:p>
            <a:r>
              <a:t>- AWS Certified DevOps Engineer – Professional (DOP-C02) Exam Guide (docs.aws.amazon.com/pdfs/aws-certification/latest/devops-engineer-professional-02).</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 of Domain 01 — SDLC Automation.</a:t>
            </a:r>
          </a:p>
          <a:p/>
          <a:p>
            <a:r>
              <a:t>[Sources]</a:t>
            </a:r>
          </a:p>
          <a:p>
            <a:r>
              <a:t>- AWS Certified DevOps Engineer – Professional (DOP-C02) Exam Guide (docs.aws.amazon.com/pdfs/aws-certification/latest/devops-engineer-professional-02).</a:t>
            </a:r>
          </a:p>
          <a:p>
            <a:r>
              <a:t>- AWS CodePipeline Documentation (docs.aws.amazon.com/codepipeline).</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concepts for Domain 02 — Configuration Management and IaC.</a:t>
            </a:r>
          </a:p>
          <a:p>
            <a:r>
              <a:t>Infrastructure as Code: Declare infrastructure in version-controlled templates so environments are repeatable, reviewable and disposable.</a:t>
            </a:r>
          </a:p>
          <a:p>
            <a:r>
              <a:t>CloudFormation: Declarative JSON/YAML stacks with parameters, mappings, outputs, change sets, drift detection and automatic rollback.</a:t>
            </a:r>
          </a:p>
          <a:p>
            <a:r>
              <a:t>Reusable components: Nested stacks and modules parameterise a pattern once and reuse it across teams and Regions.</a:t>
            </a:r>
          </a:p>
          <a:p>
            <a:r>
              <a:t>CDK vs CloudFormation vs Terraform: CDK generates CloudFormation from real code; Terraform is multi-cloud — all describe desired state.</a:t>
            </a:r>
          </a:p>
          <a:p>
            <a:r>
              <a:t>Configuration management: Systems Manager (State Manager, Automation, Parameter Store) keeps running instances in their desired configuration.</a:t>
            </a:r>
          </a:p>
          <a:p>
            <a:r>
              <a:t>Multi-account &amp; multi-Region: Organizations, StackSets and Control Tower create, onboard and secure accounts at scale.</a:t>
            </a:r>
          </a:p>
          <a:p/>
          <a:p>
            <a:r>
              <a:t>[Sources]</a:t>
            </a:r>
          </a:p>
          <a:p>
            <a:r>
              <a:t>- AWS Certified DevOps Engineer – Professional (DOP-C02) Exam Guide (docs.aws.amazon.com/pdfs/aws-certification/latest/devops-engineer-professional-02).</a:t>
            </a:r>
          </a:p>
          <a:p>
            <a:r>
              <a:t>- AWS CloudFormation Documentation (docs.aws.amazon.com/cloudformation).</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02 deep dive — Configuration Management and IaC. Editable AWS-native diagram/table/chart.</a:t>
            </a:r>
          </a:p>
          <a:p/>
          <a:p>
            <a:r>
              <a:t>[Sources]</a:t>
            </a:r>
          </a:p>
          <a:p>
            <a:r>
              <a:t>- AWS Certified DevOps Engineer – Professional (DOP-C02) Exam Guide (docs.aws.amazon.com/pdfs/aws-certification/latest/devops-engineer-professional-02).</a:t>
            </a:r>
          </a:p>
          <a:p>
            <a:r>
              <a:t>- AWS CloudFormation Documentation (docs.aws.amazon.com/cloudformation).</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02 deep dive — Configuration Management and IaC. Editable AWS-native diagram/table/chart.</a:t>
            </a:r>
          </a:p>
          <a:p/>
          <a:p>
            <a:r>
              <a:t>[Sources]</a:t>
            </a:r>
          </a:p>
          <a:p>
            <a:r>
              <a:t>- AWS Certified DevOps Engineer – Professional (DOP-C02) Exam Guide (docs.aws.amazon.com/pdfs/aws-certification/latest/devops-engineer-professional-02).</a:t>
            </a:r>
          </a:p>
          <a:p>
            <a:r>
              <a:t>- AWS CloudFormation Documentation (docs.aws.amazon.com/cloudformation).</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02 deep dive — Configuration Management and IaC. Editable AWS-native diagram/table/chart.</a:t>
            </a:r>
          </a:p>
          <a:p/>
          <a:p>
            <a:r>
              <a:t>[Sources]</a:t>
            </a:r>
          </a:p>
          <a:p>
            <a:r>
              <a:t>- AWS Certified DevOps Engineer – Professional (DOP-C02) Exam Guide (docs.aws.amazon.com/pdfs/aws-certification/latest/devops-engineer-professional-02).</a:t>
            </a:r>
          </a:p>
          <a:p>
            <a:r>
              <a:t>- AWS CloudFormation Documentation (docs.aws.amazon.com/cloudformation).</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02 deep dive — Configuration Management and IaC. Editable AWS-native diagram/table/chart.</a:t>
            </a:r>
          </a:p>
          <a:p/>
          <a:p>
            <a:r>
              <a:t>[Sources]</a:t>
            </a:r>
          </a:p>
          <a:p>
            <a:r>
              <a:t>- AWS Certified DevOps Engineer – Professional (DOP-C02) Exam Guide (docs.aws.amazon.com/pdfs/aws-certification/latest/devops-engineer-professional-02).</a:t>
            </a:r>
          </a:p>
          <a:p>
            <a:r>
              <a:t>- AWS CloudFormation Documentation (docs.aws.amazon.com/cloudformation).</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02 deep dive — Configuration Management and IaC. Editable AWS-native diagram/table/chart.</a:t>
            </a:r>
          </a:p>
          <a:p/>
          <a:p>
            <a:r>
              <a:t>[Sources]</a:t>
            </a:r>
          </a:p>
          <a:p>
            <a:r>
              <a:t>- AWS Certified DevOps Engineer – Professional (DOP-C02) Exam Guide (docs.aws.amazon.com/pdfs/aws-certification/latest/devops-engineer-professional-02).</a:t>
            </a:r>
          </a:p>
          <a:p>
            <a:r>
              <a:t>- AWS CloudFormation Documentation (docs.aws.amazon.com/cloudformation).</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02 deep dive — Configuration Management and IaC. Editable AWS-native diagram/table/chart.</a:t>
            </a:r>
          </a:p>
          <a:p/>
          <a:p>
            <a:r>
              <a:t>[Sources]</a:t>
            </a:r>
          </a:p>
          <a:p>
            <a:r>
              <a:t>- AWS Certified DevOps Engineer – Professional (DOP-C02) Exam Guide (docs.aws.amazon.com/pdfs/aws-certification/latest/devops-engineer-professional-02).</a:t>
            </a:r>
          </a:p>
          <a:p>
            <a:r>
              <a:t>- AWS CloudFormation Documentation (docs.aws.amazon.com/cloudformation).</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Infrastructure as Code — declarative desired state.</a:t>
            </a:r>
          </a:p>
          <a:p>
            <a:r>
              <a:t>Why it matters: Repeatable, reviewable, disposable environments eliminate configuration drift and the 'it works on that server' class of failure.</a:t>
            </a:r>
          </a:p>
          <a:p>
            <a:r>
              <a:t>Failure mode: Mixing manual console changes with IaC creates drift the template no longer describes — the next deploy can revert or clash with them.</a:t>
            </a:r>
          </a:p>
          <a:p>
            <a:r>
              <a:t>Trade-off: Declarative IaC is safe and auditable but less flexible than imperative scripts — use change sets and modules to regain expressiveness.</a:t>
            </a:r>
          </a:p>
          <a:p/>
          <a:p>
            <a:r>
              <a:t>[Sources]</a:t>
            </a:r>
          </a:p>
          <a:p>
            <a:r>
              <a:t>- AWS Certified DevOps Engineer – Professional (DOP-C02) Exam Guide (docs.aws.amazon.com/pdfs/aws-certification/latest/devops-engineer-professional-02).</a:t>
            </a:r>
          </a:p>
          <a:p>
            <a:r>
              <a:t>- AWS CloudFormation Documentation (docs.aws.amazon.com/cloudformation).</a:t>
            </a:r>
          </a:p>
          <a:p>
            <a:r>
              <a:t>- AWS Well-Architected Framework (docs.aws.amazon.com/wellarchitected).</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CloudFormation stacks, change sets and rollback.</a:t>
            </a:r>
          </a:p>
          <a:p>
            <a:r>
              <a:t>Why it matters: Preview-then-apply plus automatic rollback make infrastructure changes as safe and reversible as a code deployment.</a:t>
            </a:r>
          </a:p>
          <a:p>
            <a:r>
              <a:t>Failure mode: A resource that must be replaced (not updated in place) can cause downtime or data loss if you don't read the change set's Replacement column.</a:t>
            </a:r>
          </a:p>
          <a:p>
            <a:r>
              <a:t>Trade-off: Automatic rollback protects you but can mask the real error — always read the stack Events for the first failing resource.</a:t>
            </a:r>
          </a:p>
          <a:p/>
          <a:p>
            <a:r>
              <a:t>[Sources]</a:t>
            </a:r>
          </a:p>
          <a:p>
            <a:r>
              <a:t>- AWS CloudFormation change sets Documentation (docs.aws.amazon.com/AWSCloudFormation/latest/UserGuide/using-cfn-updating-stacks-changesets.html).</a:t>
            </a:r>
          </a:p>
          <a:p>
            <a:r>
              <a:t>- AWS Certified DevOps Engineer – Professional (DOP-C02) Exam Guide (docs.aws.amazon.com/pdfs/aws-certification/latest/devops-engineer-professional-02).</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Template anatomy — parameters, mappings, conditions, outputs.</a:t>
            </a:r>
          </a:p>
          <a:p>
            <a:r>
              <a:t>Why it matters: A well-structured template is a reusable product, not a one-off script — one artifact serves many teams and Regions.</a:t>
            </a:r>
          </a:p>
          <a:p>
            <a:r>
              <a:t>Failure mode: Hard-coded AMI IDs, account numbers or Region strings make a template that only works in the account it was written in.</a:t>
            </a:r>
          </a:p>
          <a:p>
            <a:r>
              <a:t>Trade-off: Heavy parameterisation increases flexibility but reduces readability — prefer sensible defaults and SSM public parameters.</a:t>
            </a:r>
          </a:p>
          <a:p/>
          <a:p>
            <a:r>
              <a:t>[Sources]</a:t>
            </a:r>
          </a:p>
          <a:p>
            <a:r>
              <a:t>- AWS CloudFormation template anatomy Documentation (docs.aws.amazon.com/AWSCloudFormation/latest/UserGuide/template-anatomy.html).</a:t>
            </a:r>
          </a:p>
          <a:p>
            <a:r>
              <a:t>- AWS Certified DevOps Engineer – Professional (DOP-C02) Exam Guide (docs.aws.amazon.com/pdfs/aws-certification/latest/devops-engineer-professional-02).</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Reuse — nested stacks, modules and StackSets.</a:t>
            </a:r>
          </a:p>
          <a:p>
            <a:r>
              <a:t>Why it matters: Reuse turns a proven design into an organisational standard, so every team gets the same secure, compliant baseline.</a:t>
            </a:r>
          </a:p>
          <a:p>
            <a:r>
              <a:t>Failure mode: Over-nesting creates tightly coupled stacks where one change forces wide, slow updates and hard-to-debug failures.</a:t>
            </a:r>
          </a:p>
          <a:p>
            <a:r>
              <a:t>Trade-off: Central StackSets enforce consistency but need governance so account teams aren't blocked waiting on the platform team.</a:t>
            </a:r>
          </a:p>
          <a:p/>
          <a:p>
            <a:r>
              <a:t>[Sources]</a:t>
            </a:r>
          </a:p>
          <a:p>
            <a:r>
              <a:t>- AWS StackSets Documentation (docs.aws.amazon.com/AWSCloudFormation/latest/UserGuide/what-is-cfnstacksets.html).</a:t>
            </a:r>
          </a:p>
          <a:p>
            <a:r>
              <a:t>- AWS Certified DevOps Engineer – Professional (DOP-C02) Exam Guide (docs.aws.amazon.com/pdfs/aws-certification/latest/devops-engineer-professional-02).</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CDK, SAM and Terraform — when to reach for each.</a:t>
            </a:r>
          </a:p>
          <a:p>
            <a:r>
              <a:t>Why it matters: Choosing the right tool matches the team's skills and estate — real code for testable constructs, SAM for serverless, Terraform for multi-cloud.</a:t>
            </a:r>
          </a:p>
          <a:p>
            <a:r>
              <a:t>Failure mode: Adopting CDK without CloudFormation literacy hides what is really deployed and makes drift and failures harder to reason about.</a:t>
            </a:r>
          </a:p>
          <a:p>
            <a:r>
              <a:t>Trade-off: Higher-level abstractions boost productivity but add a layer to debug when the generated template misbehaves.</a:t>
            </a:r>
          </a:p>
          <a:p/>
          <a:p>
            <a:r>
              <a:t>[Sources]</a:t>
            </a:r>
          </a:p>
          <a:p>
            <a:r>
              <a:t>- AWS CDK Documentation (docs.aws.amazon.com/cdk).</a:t>
            </a:r>
          </a:p>
          <a:p>
            <a:r>
              <a:t>- AWS SAM Documentation (docs.aws.amazon.com/serverless-application-model).</a:t>
            </a:r>
          </a:p>
          <a:p>
            <a:r>
              <a:t>- AWS Certified DevOps Engineer – Professional (DOP-C02) Exam Guide (docs.aws.amazon.com/pdfs/aws-certification/latest/devops-engineer-professional-02).</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Configuration management with Systems Manager.</a:t>
            </a:r>
          </a:p>
          <a:p>
            <a:r>
              <a:t>Why it matters: Config management closes the gap between 'provisioned' and 'correctly configured and maintained over time'.</a:t>
            </a:r>
          </a:p>
          <a:p>
            <a:r>
              <a:t>Failure mode: Treating servers as pets you SSH into and hand-tune reintroduces drift that no template can track.</a:t>
            </a:r>
          </a:p>
          <a:p>
            <a:r>
              <a:t>Trade-off: Agent-based management adds an agent to run and secure, but removes bastion hosts and standing SSH access.</a:t>
            </a:r>
          </a:p>
          <a:p/>
          <a:p>
            <a:r>
              <a:t>[Sources]</a:t>
            </a:r>
          </a:p>
          <a:p>
            <a:r>
              <a:t>- AWS Systems Manager Documentation (docs.aws.amazon.com/systems-manager).</a:t>
            </a:r>
          </a:p>
          <a:p>
            <a:r>
              <a:t>- AWS Certified DevOps Engineer – Professional (DOP-C02) Exam Guide (docs.aws.amazon.com/pdfs/aws-certification/latest/devops-engineer-professional-02).</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Drift detection and remediation.</a:t>
            </a:r>
          </a:p>
          <a:p>
            <a:r>
              <a:t>Why it matters: Detecting drift early prevents the slow divergence that eventually makes a stack un-updatable.</a:t>
            </a:r>
          </a:p>
          <a:p>
            <a:r>
              <a:t>Failure mode: Ignoring drift until an urgent change is needed means your 'safe' update now collides with undocumented manual edits.</a:t>
            </a:r>
          </a:p>
          <a:p>
            <a:r>
              <a:t>Trade-off: Strict no-drift policies improve auditability but can slow emergency fixes — provide a documented break-glass path.</a:t>
            </a:r>
          </a:p>
          <a:p/>
          <a:p>
            <a:r>
              <a:t>[Sources]</a:t>
            </a:r>
          </a:p>
          <a:p>
            <a:r>
              <a:t>- AWS CloudFormation drift Documentation (docs.aws.amazon.com/AWSCloudFormation/latest/UserGuide/using-cfn-stack-drift.html).</a:t>
            </a:r>
          </a:p>
          <a:p>
            <a:r>
              <a:t>- AWS Certified DevOps Engineer – Professional (DOP-C02) Exam Guide (docs.aws.amazon.com/pdfs/aws-certification/latest/devops-engineer-professional-02).</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Multi-account governance — Organizations, Control Tower, SCPs.</a:t>
            </a:r>
          </a:p>
          <a:p>
            <a:r>
              <a:t>Why it matters: Account-level isolation plus org-wide guardrails give strong blast-radius control and a consistent, auditable baseline.</a:t>
            </a:r>
          </a:p>
          <a:p>
            <a:r>
              <a:t>Failure mode: A single shared account for everything makes least-privilege impossible and one mistake blast-radius huge.</a:t>
            </a:r>
          </a:p>
          <a:p>
            <a:r>
              <a:t>Trade-off: More accounts improve isolation but add networking and operational overhead — automate account vending to keep it manageable.</a:t>
            </a:r>
          </a:p>
          <a:p/>
          <a:p>
            <a:r>
              <a:t>[Sources]</a:t>
            </a:r>
          </a:p>
          <a:p>
            <a:r>
              <a:t>- AWS Organizations Documentation (docs.aws.amazon.com/organizations).</a:t>
            </a:r>
          </a:p>
          <a:p>
            <a:r>
              <a:t>- AWS Control Tower Documentation (docs.aws.amazon.com/controltower).</a:t>
            </a:r>
          </a:p>
          <a:p>
            <a:r>
              <a:t>- AWS Certified DevOps Engineer – Professional (DOP-C02) Exam Guide (docs.aws.amazon.com/pdfs/aws-certification/latest/devops-engineer-professional-02).</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Secrets &amp; configuration — Parameter Store vs Secrets Manager.</a:t>
            </a:r>
          </a:p>
          <a:p>
            <a:r>
              <a:t>Why it matters: Externalising configuration and secrets lets one immutable artifact run safely in every environment.</a:t>
            </a:r>
          </a:p>
          <a:p>
            <a:r>
              <a:t>Failure mode: Baking a database password into a template or AMI leaks it into every copy and every log line.</a:t>
            </a:r>
          </a:p>
          <a:p>
            <a:r>
              <a:t>Trade-off: Automatic rotation is safest but must be tested — a rotation that apps don't reload can cause outages.</a:t>
            </a:r>
          </a:p>
          <a:p/>
          <a:p>
            <a:r>
              <a:t>[Sources]</a:t>
            </a:r>
          </a:p>
          <a:p>
            <a:r>
              <a:t>- AWS Secrets Manager Documentation (docs.aws.amazon.com/secretsmanager).</a:t>
            </a:r>
          </a:p>
          <a:p>
            <a:r>
              <a:t>- AWS SSM Parameter Store Documentation (docs.aws.amazon.com/systems-manager/latest/userguide/systems-manager-parameter-store.html).</a:t>
            </a:r>
          </a:p>
          <a:p>
            <a:r>
              <a:t>- AWS Certified DevOps Engineer – Professional (DOP-C02) Exam Guide (docs.aws.amazon.com/pdfs/aws-certification/latest/devops-engineer-professional-02).</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Comparison — Change Set Replacement — Read Before You Execute.</a:t>
            </a:r>
          </a:p>
          <a:p/>
          <a:p>
            <a:r>
              <a:t>[Sources]</a:t>
            </a:r>
          </a:p>
          <a:p>
            <a:r>
              <a:t>- AWS CloudFormation update behaviors Documentation (docs.aws.amazon.com/AWSCloudFormation/latest/UserGuide/using-cfn-updating-stacks-update-behaviors.html).</a:t>
            </a:r>
          </a:p>
          <a:p>
            <a:r>
              <a:t>- AWS Certified DevOps Engineer – Professional (DOP-C02) Exam Guide (docs.aws.amazon.com/pdfs/aws-certification/latest/devops-engineer-professional-02).</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Environment Provisioning — Manual vs IaC. What the data shows: IaC collapses environment build time and errors and — most importantly — makes every environment identical, so tests actually predict production.</a:t>
            </a:r>
          </a:p>
          <a:p>
            <a:r>
              <a:t>Figures are illustrative teaching values to convey the relationship, not measured benchmarks.</a:t>
            </a:r>
          </a:p>
          <a:p/>
          <a:p>
            <a:r>
              <a:t>[Sources]</a:t>
            </a:r>
          </a:p>
          <a:p>
            <a:r>
              <a:t>- AWS Certified DevOps Engineer – Professional (DOP-C02) Exam Guide (docs.aws.amazon.com/pdfs/aws-certification/latest/devops-engineer-professional-02).</a:t>
            </a:r>
          </a:p>
          <a:p>
            <a:r>
              <a:t>- AWS Well-Architected Framework (docs.aws.amazon.com/wellarchitected).</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IaC Failure Modes &amp; Anti-Patterns.</a:t>
            </a:r>
          </a:p>
          <a:p>
            <a:r>
              <a:t>Out-of-band console edits — Drift the template can't see → detect drift; make console read-only in prod.</a:t>
            </a:r>
          </a:p>
          <a:p>
            <a:r>
              <a:t>Hard-coded IDs/Regions — Template only works in one account → parameters + SSM public parameters.</a:t>
            </a:r>
          </a:p>
          <a:p>
            <a:r>
              <a:t>Giant monolith stack — Slow, risky updates → split by lifecycle and blast radius.</a:t>
            </a:r>
          </a:p>
          <a:p>
            <a:r>
              <a:t>No change-set review — Surprise replacements → always preview before execute.</a:t>
            </a:r>
          </a:p>
          <a:p>
            <a:r>
              <a:t>Secrets in templates — Leaked credentials → Secrets Manager / SSM SecureString.</a:t>
            </a:r>
          </a:p>
          <a:p>
            <a:r>
              <a:t>Copy-paste per environment — Divergent envs → one template, many parameter sets.</a:t>
            </a:r>
          </a:p>
          <a:p/>
          <a:p>
            <a:r>
              <a:t>[Sources]</a:t>
            </a:r>
          </a:p>
          <a:p>
            <a:r>
              <a:t>- AWS Certified DevOps Engineer – Professional (DOP-C02) Exam Guide (docs.aws.amazon.com/pdfs/aws-certification/latest/devops-engineer-professional-02).</a:t>
            </a:r>
          </a:p>
          <a:p>
            <a:r>
              <a:t>- AWS CloudFormation Documentation (docs.aws.amazon.com/cloudformation).</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IaC Patterns Worth Adopting.</a:t>
            </a:r>
          </a:p>
          <a:p>
            <a:r>
              <a:t>Layered stacks — Separate network, platform and app stacks by change rate.</a:t>
            </a:r>
          </a:p>
          <a:p>
            <a:r>
              <a:t>Landing zone — Control Tower baseline + guardrails for every account.</a:t>
            </a:r>
          </a:p>
          <a:p>
            <a:r>
              <a:t>Immutable AMIs — Bake with a pipeline (e.g. EC2 Image Builder); replace, don't patch.</a:t>
            </a:r>
          </a:p>
          <a:p>
            <a:r>
              <a:t>Public SSM parameters — Reference latest AMIs without hard-coding IDs.</a:t>
            </a:r>
          </a:p>
          <a:p>
            <a:r>
              <a:t>Policy as code — Guardrails via SCPs and Config rules, versioned like IaC.</a:t>
            </a:r>
          </a:p>
          <a:p>
            <a:r>
              <a:t>Pipeline-deployed stacks — No manual stack updates in production.</a:t>
            </a:r>
          </a:p>
          <a:p/>
          <a:p>
            <a:r>
              <a:t>[Sources]</a:t>
            </a:r>
          </a:p>
          <a:p>
            <a:r>
              <a:t>- AWS Well-Architected Framework (docs.aws.amazon.com/wellarchitected).</a:t>
            </a:r>
          </a:p>
          <a:p>
            <a:r>
              <a:t>- AWS Certified DevOps Engineer – Professional (DOP-C02) Exam Guide (docs.aws.amazon.com/pdfs/aws-certification/latest/devops-engineer-professional-02).</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Architecture Decision — One Big Stack or Many?.</a:t>
            </a:r>
          </a:p>
          <a:p>
            <a:r>
              <a:t>Option A — Single stack: Small app, one team, one lifecycle. Simple to reason about — but every change risks the whole system and updates get slow as it grows.</a:t>
            </a:r>
          </a:p>
          <a:p>
            <a:r>
              <a:t>Option B — Layered stacks: Separate network / platform / app by change rate and owner. Smaller blast radius and faster updates — needs disciplined exports/imports.</a:t>
            </a:r>
          </a:p>
          <a:p>
            <a:r>
              <a:t>Option C — StackSets across accounts: Same baseline in many accounts/Regions. Enforces consistency at scale — requires central governance and account-team coordination.</a:t>
            </a:r>
          </a:p>
          <a:p/>
          <a:p>
            <a:r>
              <a:t>[Sources]</a:t>
            </a:r>
          </a:p>
          <a:p>
            <a:r>
              <a:t>- AWS Certified DevOps Engineer – Professional (DOP-C02) Exam Guide (docs.aws.amazon.com/pdfs/aws-certification/latest/devops-engineer-professional-02).</a:t>
            </a:r>
          </a:p>
          <a:p>
            <a:r>
              <a:t>- AWS Well-Architected Framework (docs.aws.amazon.com/wellarchitected).</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Scenario: An engineer widens a security group in the console during an incident. Two weeks later, a routine stack update fails or silently reverts the fix.</a:t>
            </a:r>
          </a:p>
          <a:p>
            <a:r>
              <a:t>The live resource no longer matches the template, so CloudFormation's view of desired state is wrong.</a:t>
            </a:r>
          </a:p>
          <a:p>
            <a:r>
              <a:t>Drift detection would have flagged this the same day; Config rules could have alarmed on the open port immediately.</a:t>
            </a:r>
          </a:p>
          <a:p>
            <a:r>
              <a:t>The durable fix is to encode the change in the template and re-apply, not to keep patching by hand.</a:t>
            </a:r>
          </a:p>
          <a:p>
            <a:r>
              <a:t>Decision: Run drift detection on a schedule, alarm on security-group drift via Config, and require that emergency console changes are back-ported into the template within the incident's follow-up.</a:t>
            </a:r>
          </a:p>
          <a:p/>
          <a:p>
            <a:r>
              <a:t>[Sources]</a:t>
            </a:r>
          </a:p>
          <a:p>
            <a:r>
              <a:t>- AWS CloudFormation drift Documentation (docs.aws.amazon.com/AWSCloudFormation/latest/UserGuide/using-cfn-stack-drift.html).</a:t>
            </a:r>
          </a:p>
          <a:p>
            <a:r>
              <a:t>- AWS Config Documentation (docs.aws.amazon.com/config).</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Scenario: A new business unit needs an AWS account that already meets the company's security, logging and network standards on day one.</a:t>
            </a:r>
          </a:p>
          <a:p>
            <a:r>
              <a:t>Hand-building the account is slow and error-prone and guarantees it drifts from the standard.</a:t>
            </a:r>
          </a:p>
          <a:p>
            <a:r>
              <a:t>Control Tower's account factory vends accounts pre-wired to guardrails and centralised logging.</a:t>
            </a:r>
          </a:p>
          <a:p>
            <a:r>
              <a:t>StackSets push the standard network and security stacks into the new account automatically.</a:t>
            </a:r>
          </a:p>
          <a:p>
            <a:r>
              <a:t>Decision: Vend the account through Control Tower and apply the baseline via StackSets, so 'compliant by default' is the path of least resistance rather than a later audit finding.</a:t>
            </a:r>
          </a:p>
          <a:p/>
          <a:p>
            <a:r>
              <a:t>[Sources]</a:t>
            </a:r>
          </a:p>
          <a:p>
            <a:r>
              <a:t>- AWS Control Tower Documentation (docs.aws.amazon.com/controltower).</a:t>
            </a:r>
          </a:p>
          <a:p>
            <a:r>
              <a:t>- AWS StackSets Documentation (docs.aws.amazon.com/AWSCloudFormation/latest/UserGuide/what-is-cfnstacksets.html).</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Worked Analysis — Parameterising One Template for Three Environments.</a:t>
            </a:r>
          </a:p>
          <a:p>
            <a:r>
              <a:t>Instance size by env — dev t3.micro, staging t3.small, prod m5.large — a single InstanceType parameter.</a:t>
            </a:r>
          </a:p>
          <a:p>
            <a:r>
              <a:t>High availability by env — A Condition creates the Multi-AZ standby and NAT redundancy only when EnvName = prod.</a:t>
            </a:r>
          </a:p>
          <a:p>
            <a:r>
              <a:t>AMI without hard-coding — An SSM public parameter resolves the latest patched Amazon Linux AMI at deploy time.</a:t>
            </a:r>
          </a:p>
          <a:p>
            <a:r>
              <a:t>Secrets by env — Each environment references its own Secrets Manager secret; none appear in the template.</a:t>
            </a:r>
          </a:p>
          <a:p>
            <a:r>
              <a:t>Takeaway: The differences between environments become a short parameter file — the template itself is identical, so staging genuinely predicts production.</a:t>
            </a:r>
          </a:p>
          <a:p/>
          <a:p>
            <a:r>
              <a:t>[Sources]</a:t>
            </a:r>
          </a:p>
          <a:p>
            <a:r>
              <a:t>- AWS Certified DevOps Engineer – Professional (DOP-C02) Exam Guide (docs.aws.amazon.com/pdfs/aws-certification/latest/devops-engineer-professional-02).</a:t>
            </a:r>
          </a:p>
          <a:p>
            <a:r>
              <a:t>- AWS CloudFormation Documentation (docs.aws.amazon.com/cloudformation).</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 foundations: Infrastructure as code engines.</a:t>
            </a:r>
          </a:p>
          <a:p>
            <a:r>
              <a:t>PURPOSE: Model infrastructure as reviewable desired state and apply it through controlled change sets.</a:t>
            </a:r>
          </a:p>
          <a:p>
            <a:r>
              <a:t>FEATURE 1: CloudFormation manages dependency order, rollback, drift detection, stack policies and change sets.</a:t>
            </a:r>
          </a:p>
          <a:p>
            <a:r>
              <a:t>FEATURE 2: CDK synthesises familiar programming constructs into CloudFormation templates.</a:t>
            </a:r>
          </a:p>
          <a:p>
            <a:r>
              <a:t>FEATURE 3: SAM adds serverless shorthand while retaining CloudFormation deployment semantics.</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Infrastructure as code engines: selection and controls.</a:t>
            </a:r>
          </a:p>
          <a:p>
            <a:r>
              <a:t>CHOOSE WHEN: Use CloudFormation as the deployment contract; choose CDK for reusable programmatic constructs and SAM for serverless-focused applications.</a:t>
            </a:r>
          </a:p>
          <a:p>
            <a:r>
              <a:t>DEVOPS ENGINEERING: Lint, synthesize, test, create a change set, review replacement impact, deploy and detect drift.</a:t>
            </a:r>
          </a:p>
          <a:p>
            <a:r>
              <a:t>FAILURE MODE: Generated IaC does not remove the need to review IAM expansion, data replacement and destructive removal policies.</a:t>
            </a:r>
          </a:p>
          <a:p>
            <a:r>
              <a:t>EVIDENCE: Template digest, test output, change set, approval, stack event, drift status and rollback result.</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 foundations: Multi-account provisioning.</a:t>
            </a:r>
          </a:p>
          <a:p>
            <a:r>
              <a:t>PURPOSE: Apply repeatable baselines across accounts and Regions while separating governance from workload delivery.</a:t>
            </a:r>
          </a:p>
          <a:p>
            <a:r>
              <a:t>FEATURE 1: Organizations groups accounts in OUs and applies policies at hierarchical boundaries.</a:t>
            </a:r>
          </a:p>
          <a:p>
            <a:r>
              <a:t>FEATURE 2: StackSets deploys CloudFormation stacks across target accounts/Regions with concurrency and failure controls.</a:t>
            </a:r>
          </a:p>
          <a:p>
            <a:r>
              <a:t>FEATURE 3: Control Tower adds landing-zone guardrails, account vending and drift visibility.</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Multi-account provisioning: selection and controls.</a:t>
            </a:r>
          </a:p>
          <a:p>
            <a:r>
              <a:t>CHOOSE WHEN: Use StackSets for repeatable resources and Control Tower when managed landing-zone governance and account lifecycle are needed.</a:t>
            </a:r>
          </a:p>
          <a:p>
            <a:r>
              <a:t>DEVOPS ENGINEERING: Pilot in one OU, bound concurrency/failure tolerance, preserve delegated administration and verify every target instance.</a:t>
            </a:r>
          </a:p>
          <a:p>
            <a:r>
              <a:t>FAILURE MODE: A broad organization rollout can multiply one template or policy defect across the estate.</a:t>
            </a:r>
          </a:p>
          <a:p>
            <a:r>
              <a:t>EVIDENCE: OU target list, stack-instance status, failed-account list, policy version and drift record.</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 foundations: Fleet configuration and patching.</a:t>
            </a:r>
          </a:p>
          <a:p>
            <a:r>
              <a:t>PURPOSE: Operate heterogeneous compute without inbound administrative ports or manual host-by-host changes.</a:t>
            </a:r>
          </a:p>
          <a:p>
            <a:r>
              <a:t>FEATURE 1: Managed nodes use the SSM Agent and an instance/hybrid activation identity.</a:t>
            </a:r>
          </a:p>
          <a:p>
            <a:r>
              <a:t>FEATURE 2: State Manager enforces associations; Patch Manager evaluates baselines and compliance.</a:t>
            </a:r>
          </a:p>
          <a:p>
            <a:r>
              <a:t>FEATURE 3: Automation runbooks compose AWS API actions, commands, approvals, branching and rollback.</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Fleet configuration and patching: selection and controls.</a:t>
            </a:r>
          </a:p>
          <a:p>
            <a:r>
              <a:t>CHOOSE WHEN: Use State Manager for desired configuration, Patch Manager for patch compliance and Automation for multi-step operational workflows.</a:t>
            </a:r>
          </a:p>
          <a:p>
            <a:r>
              <a:t>DEVOPS ENGINEERING: Target by tags/resource groups, use MaxConcurrency/MaxErrors, canary first and keep parameters out of scripts.</a:t>
            </a:r>
          </a:p>
          <a:p>
            <a:r>
              <a:t>FAILURE MODE: A command that targets all instances at once can turn routine remediation into a fleet-wide outage.</a:t>
            </a:r>
          </a:p>
          <a:p>
            <a:r>
              <a:t>EVIDENCE: Target query, association/runbook version, command output, compliance state, error threshold and rollback.</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 foundations: Workflow and event automation.</a:t>
            </a:r>
          </a:p>
          <a:p>
            <a:r>
              <a:t>PURPOSE: Decouple operational events from durable, observable automation workflows.</a:t>
            </a:r>
          </a:p>
          <a:p>
            <a:r>
              <a:t>FEATURE 1: EventBridge rules and event buses route matched events between producers and targets.</a:t>
            </a:r>
          </a:p>
          <a:p>
            <a:r>
              <a:t>FEATURE 2: Step Functions models state, retries, catches, parallelism, waits and human approval.</a:t>
            </a:r>
          </a:p>
          <a:p>
            <a:r>
              <a:t>FEATURE 3: SQS buffers work and provides visibility timeouts, redrive and dead-letter queues.</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Workflow and event automation: selection and controls.</a:t>
            </a:r>
          </a:p>
          <a:p>
            <a:r>
              <a:t>CHOOSE WHEN: Use EventBridge for routing, Step Functions for stateful orchestration and SQS when buffering/back-pressure are required.</a:t>
            </a:r>
          </a:p>
          <a:p>
            <a:r>
              <a:t>DEVOPS ENGINEERING: Design idempotent tasks, bounded retries with jitter/backoff, explicit timeouts and dead-letter handling.</a:t>
            </a:r>
          </a:p>
          <a:p>
            <a:r>
              <a:t>FAILURE MODE: Unlimited retry or non-idempotent recovery can amplify failure and duplicate side effects.</a:t>
            </a:r>
          </a:p>
          <a:p>
            <a:r>
              <a:t>EVIDENCE: Event ID, rule match, execution history, retry count, DLQ depth and final state.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Developer deep dive: CloudFormation template and stack lifecycle.</a:t>
            </a:r>
          </a:p>
          <a:p>
            <a:r>
              <a:t>PURPOSE: Represent infrastructure as desired state, preview resource impact and preserve data through controlled lifecycle policies.</a:t>
            </a:r>
          </a:p>
          <a:p>
            <a:r>
              <a:t>SERVICE BOUNDARY: CloudFormation · change sets · drift detection · hooks</a:t>
            </a:r>
          </a:p>
          <a:p>
            <a:r>
              <a:t>PRIMARY DESIGN DECISION: Generate a change set, inspect replacement flags, snapshot or migrate data explicitly, apply retention policies and rehearse the recovery path.</a:t>
            </a:r>
          </a:p>
          <a:p>
            <a:r>
              <a:t>FAILURE BOUNDARY: Treating every stack update as in-place can delete or orphan stateful resources; drift can make the preview incomplete.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CloudFormation template and stack lifecycle: how it works.</a:t>
            </a:r>
          </a:p>
          <a:p>
            <a:r>
              <a:t>MECHANIC 1: Parameters provide deployment-time values, mappings hold known lookup data and conditions control resource inclusion without duplicating templates.</a:t>
            </a:r>
          </a:p>
          <a:p>
            <a:r>
              <a:t>MECHANIC 2: References and `Fn::GetAtt` build dependency edges; explicit `DependsOn` is reserved for dependencies CloudFormation cannot infer.</a:t>
            </a:r>
          </a:p>
          <a:p>
            <a:r>
              <a:t>MECHANIC 3: Update and replacement behavior is resource-property specific, so a change set must be read for replacement, deletion and import consequences.</a:t>
            </a:r>
          </a:p>
          <a:p>
            <a:r>
              <a:t>MECHANIC 4: DeletionPolicy and UpdateReplacePolicy govern retained data; stack policies and hooks protect or validate sensitive changes.</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CloudFormation template and stack lifecycle: operating flow.</a:t>
            </a:r>
          </a:p>
          <a:p>
            <a:r>
              <a:t>Lint and test template</a:t>
            </a:r>
          </a:p>
          <a:p>
            <a:r>
              <a:t>Create change set</a:t>
            </a:r>
          </a:p>
          <a:p>
            <a:r>
              <a:t>Review IAM and replacement</a:t>
            </a:r>
          </a:p>
          <a:p>
            <a:r>
              <a:t>Execute monitored update</a:t>
            </a:r>
          </a:p>
          <a:p>
            <a:r>
              <a:t>Detect drift and retain events</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CloudFormation template and stack lifecycle: configuration decisions.</a:t>
            </a:r>
          </a:p>
          <a:p>
            <a:r>
              <a:t>NESTED STACKS: Compose separately owned templates but manage update order and exported dependencies deliberately.</a:t>
            </a:r>
          </a:p>
          <a:p>
            <a:r>
              <a:t>MODULES: Package reusable resource patterns while retaining native CloudFormation semantics.</a:t>
            </a:r>
          </a:p>
          <a:p>
            <a:r>
              <a:t>IMPORTS: Bring existing resources under management only after identifiers and property compatibility are verified.</a:t>
            </a:r>
          </a:p>
          <a:p>
            <a:r>
              <a:t>ROLLBACK: Use stack events and continue-update-rollback carefully; never delete diagnostic evidence first.</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CloudFormation template and stack lifecycle: worked architecture decision.</a:t>
            </a:r>
          </a:p>
          <a:p>
            <a:r>
              <a:t>SCENARIO: A database encryption change may replace a resource holding production data and must be proven safe before execution.</a:t>
            </a:r>
          </a:p>
          <a:p>
            <a:r>
              <a:t>DESIGN DECISION: Generate a change set, inspect replacement flags, snapshot or migrate data explicitly, apply retention policies and rehearse the recovery path.</a:t>
            </a:r>
          </a:p>
          <a:p>
            <a:r>
              <a:t>FAILURE TO AVOID: Treating every stack update as in-place can delete or orphan stateful resources; drift can make the preview incomplete.</a:t>
            </a:r>
          </a:p>
          <a:p>
            <a:r>
              <a:t>ACCEPTANCE EVIDENCE: Template digest, validation output, change set, policy review, stack events, retained snapshot and drift status.</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Developer deep dive: AWS CDK and SAM synthesis boundaries.</a:t>
            </a:r>
          </a:p>
          <a:p>
            <a:r>
              <a:t>PURPOSE: Use higher-level authoring tools without skipping review of the CloudFormation contract they generate.</a:t>
            </a:r>
          </a:p>
          <a:p>
            <a:r>
              <a:t>SERVICE BOUNDARY: AWS CDK · constructs · SAM · CloudFormation</a:t>
            </a:r>
          </a:p>
          <a:p>
            <a:r>
              <a:t>PRIMARY DESIGN DECISION: Add policy assertions, narrow grants, parameterise environment behavior and require retention in production before publishing the construct version.</a:t>
            </a:r>
          </a:p>
          <a:p>
            <a:r>
              <a:t>FAILURE BOUNDARY: High-level constructs can hide resources, IAM expansion and destructive defaults; a successful synth is not a security review.</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 CDK and SAM synthesis boundaries: how it works.</a:t>
            </a:r>
          </a:p>
          <a:p>
            <a:r>
              <a:t>MECHANIC 1: CDK constructs range from low-level resource mappings to opinionated patterns; all synthesize into CloudFormation resources and IAM statements.</a:t>
            </a:r>
          </a:p>
          <a:p>
            <a:r>
              <a:t>MECHANIC 2: Context values, feature flags and asset hashes affect synthesis, so toolchain versions and context files must be controlled.</a:t>
            </a:r>
          </a:p>
          <a:p>
            <a:r>
              <a:t>MECHANIC 3: CDK bootstrap resources support asset publishing and deployment roles; modern bootstrap trust must be scoped to intended accounts.</a:t>
            </a:r>
          </a:p>
          <a:p>
            <a:r>
              <a:t>MECHANIC 4: SAM transforms concise serverless resources into CloudFormation and can attach deployment preferences, API events and policies.</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 CDK and SAM synthesis boundaries: operating flow.</a:t>
            </a:r>
          </a:p>
          <a:p>
            <a:r>
              <a:t>Define construct or SAM resource</a:t>
            </a:r>
          </a:p>
          <a:p>
            <a:r>
              <a:t>Run unit assertions</a:t>
            </a:r>
          </a:p>
          <a:p>
            <a:r>
              <a:t>Synthesise template</a:t>
            </a:r>
          </a:p>
          <a:p>
            <a:r>
              <a:t>Review IAM/change set</a:t>
            </a:r>
          </a:p>
          <a:p>
            <a:r>
              <a:t>Deploy and detect drift</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 CDK and SAM synthesis boundaries: configuration decisions.</a:t>
            </a:r>
          </a:p>
          <a:p>
            <a:r>
              <a:t>L1/L2/L3: Choose low-level control, intent-based resource abstractions or complete patterns according to ownership and audit needs.</a:t>
            </a:r>
          </a:p>
          <a:p>
            <a:r>
              <a:t>ASSETS: Pin dependencies and publish deterministic assets; do not let a local path silently change production content.</a:t>
            </a:r>
          </a:p>
          <a:p>
            <a:r>
              <a:t>POLICY GENERATION: Inspect generated IAM permissions and replace broad convenience grants with resource/action constraints.</a:t>
            </a:r>
          </a:p>
          <a:p>
            <a:r>
              <a:t>REMOVAL: Set retention or destruction behavior explicitly for every stateful resource and environment.</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 CDK and SAM synthesis boundaries: worked architecture decision.</a:t>
            </a:r>
          </a:p>
          <a:p>
            <a:r>
              <a:t>SCENARIO: A reusable construct speeds delivery but currently creates wildcard permissions and destroys a bucket when a test stack is removed.</a:t>
            </a:r>
          </a:p>
          <a:p>
            <a:r>
              <a:t>DESIGN DECISION: Add policy assertions, narrow grants, parameterise environment behavior and require retention in production before publishing the construct version.</a:t>
            </a:r>
          </a:p>
          <a:p>
            <a:r>
              <a:t>FAILURE TO AVOID: High-level constructs can hide resources, IAM expansion and destructive defaults; a successful synth is not a security review.</a:t>
            </a:r>
          </a:p>
          <a:p>
            <a:r>
              <a:t>ACCEPTANCE EVIDENCE: Toolchain lock, synth output, assertion tests, IAM diff, asset digest, change set and stack state.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Developer deep dive: Runtime configuration and safe feature release.</a:t>
            </a:r>
          </a:p>
          <a:p>
            <a:r>
              <a:t>PURPOSE: Separate deployable code from environment configuration and change high-risk values through validation and progressive rollout.</a:t>
            </a:r>
          </a:p>
          <a:p>
            <a:r>
              <a:t>SERVICE BOUNDARY: AppConfig · Parameter Store · Secrets Manager · Lambda extensions</a:t>
            </a:r>
          </a:p>
          <a:p>
            <a:r>
              <a:t>PRIMARY DESIGN DECISION: Store the flag in AppConfig, validate its schema, deploy gradually, bind a latency alarm and use the local agent for cached retrieval.</a:t>
            </a:r>
          </a:p>
          <a:p>
            <a:r>
              <a:t>FAILURE BOUNDARY: Reading a parameter on every request can create throttling and latency; logging resolved values can expose secrets.</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Runtime configuration and safe feature release: how it works.</a:t>
            </a:r>
          </a:p>
          <a:p>
            <a:r>
              <a:t>MECHANIC 1: Parameter Store supports hierarchical values, versions and SecureString encryption; it is suited to configuration that does not require managed rotation.</a:t>
            </a:r>
          </a:p>
          <a:p>
            <a:r>
              <a:t>MECHANIC 2: Secrets Manager manages secret versions and staging labels and can coordinate rotation through a Lambda function.</a:t>
            </a:r>
          </a:p>
          <a:p>
            <a:r>
              <a:t>MECHANIC 3: AppConfig profiles can source hosted or external configuration, validate content and deploy through linear, canary or exponential strategies.</a:t>
            </a:r>
          </a:p>
          <a:p>
            <a:r>
              <a:t>MECHANIC 4: The AppConfig agent or Lambda extension caches configuration locally, reducing API calls and providing controlled retrieval behavior.</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Runtime configuration and safe feature release: operating flow.</a:t>
            </a:r>
          </a:p>
          <a:p>
            <a:r>
              <a:t>Author versioned configuration</a:t>
            </a:r>
          </a:p>
          <a:p>
            <a:r>
              <a:t>Validate schema or policy</a:t>
            </a:r>
          </a:p>
          <a:p>
            <a:r>
              <a:t>Deploy to small segment</a:t>
            </a:r>
          </a:p>
          <a:p>
            <a:r>
              <a:t>Watch alarms</a:t>
            </a:r>
          </a:p>
          <a:p>
            <a:r>
              <a:t>Bake or roll back</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Runtime configuration and safe feature release: configuration decisions.</a:t>
            </a:r>
          </a:p>
          <a:p>
            <a:r>
              <a:t>PARAMETER: Use for non-secret or encrypted configuration with hierarchy and straightforward versioning.</a:t>
            </a:r>
          </a:p>
          <a:p>
            <a:r>
              <a:t>SECRET: Use when credential rotation, secret staging and secret-specific access are required.</a:t>
            </a:r>
          </a:p>
          <a:p>
            <a:r>
              <a:t>APPCONFIG: Use when validation, progressive rollout and automatic rollback are required independently of code deployment.</a:t>
            </a:r>
          </a:p>
          <a:p>
            <a:r>
              <a:t>CACHING: Define refresh and stale-value behavior so a temporary control-plane issue does not overload or stop the application.</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Runtime configuration and safe feature release: worked architecture decision.</a:t>
            </a:r>
          </a:p>
          <a:p>
            <a:r>
              <a:t>SCENARIO: A feature flag can increase database load and must be reversed automatically if latency crosses the release threshold.</a:t>
            </a:r>
          </a:p>
          <a:p>
            <a:r>
              <a:t>DESIGN DECISION: Store the flag in AppConfig, validate its schema, deploy gradually, bind a latency alarm and use the local agent for cached retrieval.</a:t>
            </a:r>
          </a:p>
          <a:p>
            <a:r>
              <a:t>FAILURE TO AVOID: Reading a parameter on every request can create throttling and latency; logging resolved values can expose secrets.</a:t>
            </a:r>
          </a:p>
          <a:p>
            <a:r>
              <a:t>ACCEPTANCE EVIDENCE: Configuration version, validator result, deployment strategy, retrieval version, alarm state and rollback event.</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Developer deep dive: Step Functions orchestration semantics.</a:t>
            </a:r>
          </a:p>
          <a:p>
            <a:r>
              <a:t>PURPOSE: Model stateful workflows with explicit data flow, timeout, retry and compensation behavior instead of hiding orchestration in code.</a:t>
            </a:r>
          </a:p>
          <a:p>
            <a:r>
              <a:t>SERVICE BOUNDARY: Step Functions Standard · Express · service integrations</a:t>
            </a:r>
          </a:p>
          <a:p>
            <a:r>
              <a:t>PRIMARY DESIGN DECISION: Persist an idempotency key, retry only transient errors, catch business rejection separately and compensate completed steps before terminal failure.</a:t>
            </a:r>
          </a:p>
          <a:p>
            <a:r>
              <a:t>FAILURE BOUNDARY: A catch-all retry can repeat permanent errors or duplicate side effects; missing timeouts leave executions indefinitely open.</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Functions orchestration semantics: how it works.</a:t>
            </a:r>
          </a:p>
          <a:p>
            <a:r>
              <a:t>MECHANIC 1: InputPath, Parameters, ResultSelector, ResultPath and OutputPath shape JSON between states; uncontrolled payload growth can breach limits and obscure contracts.</a:t>
            </a:r>
          </a:p>
          <a:p>
            <a:r>
              <a:t>MECHANIC 2: Retry policies match error names and apply interval, backoff and maximum attempts; Catch transitions to recovery or terminal states.</a:t>
            </a:r>
          </a:p>
          <a:p>
            <a:r>
              <a:t>MECHANIC 3: Standard workflows provide durable, exactly-once workflow execution semantics for long-running auditable flows; Express targets high-rate short workflows with different delivery semantics.</a:t>
            </a:r>
          </a:p>
          <a:p>
            <a:r>
              <a:t>MECHANIC 4: Optimized service integrations can call AWS APIs, run jobs or wait for callback task tokens without custom polling Lambda functions.</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Functions orchestration semantics: operating flow.</a:t>
            </a:r>
          </a:p>
          <a:p>
            <a:r>
              <a:t>Validate input contract</a:t>
            </a:r>
          </a:p>
          <a:p>
            <a:r>
              <a:t>Invoke integrated task</a:t>
            </a:r>
          </a:p>
          <a:p>
            <a:r>
              <a:t>Retry transient failure</a:t>
            </a:r>
          </a:p>
          <a:p>
            <a:r>
              <a:t>Catch and compensate</a:t>
            </a:r>
          </a:p>
          <a:p>
            <a:r>
              <a:t>Publish terminal evidence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Functions orchestration semantics: configuration decisions.</a:t>
            </a:r>
          </a:p>
          <a:p>
            <a:r>
              <a:t>STANDARD: Choose for durable history, long waits, human approval or non-idempotent workflow coordination.</a:t>
            </a:r>
          </a:p>
          <a:p>
            <a:r>
              <a:t>EXPRESS: Choose for high-volume, short, idempotent processing with logging configured for required evidence.</a:t>
            </a:r>
          </a:p>
          <a:p>
            <a:r>
              <a:t>MAP: Use inline or distributed map based on item count, concurrency, payload source and isolation requirements.</a:t>
            </a:r>
          </a:p>
          <a:p>
            <a:r>
              <a:t>CALLBACK: Use task tokens for external approval or asynchronous work and set a heartbeat/timeout to avoid stuck executions.</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Functions orchestration semantics: worked architecture decision.</a:t>
            </a:r>
          </a:p>
          <a:p>
            <a:r>
              <a:t>SCENARIO: An order workflow calls an unreliable partner and must not charge twice when a response is lost.</a:t>
            </a:r>
          </a:p>
          <a:p>
            <a:r>
              <a:t>DESIGN DECISION: Persist an idempotency key, retry only transient errors, catch business rejection separately and compensate completed steps before terminal failure.</a:t>
            </a:r>
          </a:p>
          <a:p>
            <a:r>
              <a:t>FAILURE TO AVOID: A catch-all retry can repeat permanent errors or duplicate side effects; missing timeouts leave executions indefinitely open.</a:t>
            </a:r>
          </a:p>
          <a:p>
            <a:r>
              <a:t>ACCEPTANCE EVIDENCE: Execution ARN, input version, state transitions, retry count, idempotency record, compensation result and terminal status.</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CloudFormation lifecycle.</a:t>
            </a:r>
          </a:p>
          <a:p>
            <a:r>
              <a:t>OUTCOME: Treat infrastructure changes as reviewed, previewable and recoverable releases.</a:t>
            </a:r>
          </a:p>
          <a:p>
            <a:r>
              <a:t>ARCHITECTURE: Validate templates, create change sets, inspect replacements, execute with a service role and capture stack events.</a:t>
            </a:r>
          </a:p>
          <a:p>
            <a:r>
              <a:t>FAILURE MODE: Unexpected replacement of a stateful resource can turn a routine change into data loss.</a:t>
            </a:r>
          </a:p>
          <a:p>
            <a:r>
              <a:t>EVIDENCE: Template digest, parameters, change-set diff, execution role and stack event timeline.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CloudFormation lifecycle: operating flow.</a:t>
            </a:r>
          </a:p>
          <a:p>
            <a:r>
              <a:t>Author</a:t>
            </a:r>
          </a:p>
          <a:p>
            <a:r>
              <a:t>Lint</a:t>
            </a:r>
          </a:p>
          <a:p>
            <a:r>
              <a:t>Preview change set</a:t>
            </a:r>
          </a:p>
          <a:p>
            <a:r>
              <a:t>Approve</a:t>
            </a:r>
          </a:p>
          <a:p>
            <a:r>
              <a:t>Execute</a:t>
            </a:r>
          </a:p>
          <a:p>
            <a:r>
              <a:t>Observe events</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CloudFormation lifecycle: design decision.</a:t>
            </a:r>
          </a:p>
          <a:p>
            <a:r>
              <a:t>SCENARIO: A database parameter update may replace a resource; the team needs proof before execution.</a:t>
            </a:r>
          </a:p>
          <a:p>
            <a:r>
              <a:t>DESIGN RESPONSE: Validate templates, create change sets, inspect replacements, execute with a service role and capture stack events.</a:t>
            </a:r>
          </a:p>
          <a:p>
            <a:r>
              <a:t>PRIMARY SERVICES: CloudFormation · Change Sets · CloudTrail</a:t>
            </a:r>
          </a:p>
          <a:p>
            <a:r>
              <a:t>FAILURE MODE: Unexpected replacement of a stateful resource can turn a routine change into data loss.</a:t>
            </a:r>
          </a:p>
          <a:p>
            <a:r>
              <a:t>PROOF: Template digest, parameters, change-set diff, execution role and stack event timeline.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CloudFormation lifecycle: failure diagnostic.</a:t>
            </a:r>
          </a:p>
          <a:p>
            <a:r>
              <a:t>RECOGNISE: Observable failure condition: Unexpected replacement of a stateful resource can turn a routine change into data loss.</a:t>
            </a:r>
          </a:p>
          <a:p>
            <a:r>
              <a:t>CONTAIN: Pause promotion, preserve evidence and reduce impact without destroying diagnostic state.</a:t>
            </a:r>
          </a:p>
          <a:p>
            <a:r>
              <a:t>DIAGNOSE: Trace the workflow from Author through Observe events; compare intended configuration with runtime state.</a:t>
            </a:r>
          </a:p>
          <a:p>
            <a:r>
              <a:t>RECOVER: Restore the last known-good state, then prove recovery with Template digest, parameters, change-set diff, execution role and stack event timeline.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CloudFormation lifecycle: worked decision.</a:t>
            </a:r>
          </a:p>
          <a:p>
            <a:r>
              <a:t>CONSTRAINT: A database parameter update may replace a resource; the team needs proof before execution.</a:t>
            </a:r>
          </a:p>
          <a:p>
            <a:r>
              <a:t>DECISION: Validate templates, create change sets, inspect replacements, execute with a service role and capture stack events.</a:t>
            </a:r>
          </a:p>
          <a:p>
            <a:r>
              <a:t>WHY ALTERNATIVES LOSE: Reject options that do not change the stated failure boundary: Unexpected replacement of a stateful resource can turn a routine change into data loss.</a:t>
            </a:r>
          </a:p>
          <a:p>
            <a:r>
              <a:t>ACCEPTANCE TEST: The decision is complete only when this proof exists: Template digest, parameters, change-set diff, execution role and stack event timeline.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Reusable infrastructure components.</a:t>
            </a:r>
          </a:p>
          <a:p>
            <a:r>
              <a:t>OUTCOME: Create governed building blocks that teams can reuse without copying templates.</a:t>
            </a:r>
          </a:p>
          <a:p>
            <a:r>
              <a:t>ARCHITECTURE: Define stable interfaces, semantic versions, ownership, safe defaults and deprecation paths for components.</a:t>
            </a:r>
          </a:p>
          <a:p>
            <a:r>
              <a:t>FAILURE MODE: Copy-and-edit templates fork controls and make security fixes inconsistent.</a:t>
            </a:r>
          </a:p>
          <a:p>
            <a:r>
              <a:t>EVIDENCE: Component version, input contract, output contract, policy checks and consuming stacks.</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Reusable infrastructure components: operating flow.</a:t>
            </a:r>
          </a:p>
          <a:p>
            <a:r>
              <a:t>Define interface</a:t>
            </a:r>
          </a:p>
          <a:p>
            <a:r>
              <a:t>Implement component</a:t>
            </a:r>
          </a:p>
          <a:p>
            <a:r>
              <a:t>Test</a:t>
            </a:r>
          </a:p>
          <a:p>
            <a:r>
              <a:t>Publish version</a:t>
            </a:r>
          </a:p>
          <a:p>
            <a:r>
              <a:t>Consume</a:t>
            </a:r>
          </a:p>
          <a:p>
            <a:r>
              <a:t>Deprecate safely</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Reusable infrastructure components: design decision.</a:t>
            </a:r>
          </a:p>
          <a:p>
            <a:r>
              <a:t>SCENARIO: Twenty application teams need the same encrypted logging bucket with centrally managed controls.</a:t>
            </a:r>
          </a:p>
          <a:p>
            <a:r>
              <a:t>DESIGN RESPONSE: Define stable interfaces, semantic versions, ownership, safe defaults and deprecation paths for components.</a:t>
            </a:r>
          </a:p>
          <a:p>
            <a:r>
              <a:t>PRIMARY SERVICES: Nested stacks · Modules · CDK constructs · Service Catalog</a:t>
            </a:r>
          </a:p>
          <a:p>
            <a:r>
              <a:t>FAILURE MODE: Copy-and-edit templates fork controls and make security fixes inconsistent.</a:t>
            </a:r>
          </a:p>
          <a:p>
            <a:r>
              <a:t>PROOF: Component version, input contract, output contract, policy checks and consuming stacks.</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Reusable infrastructure components: failure diagnostic.</a:t>
            </a:r>
          </a:p>
          <a:p>
            <a:r>
              <a:t>RECOGNISE: Observable failure condition: Copy-and-edit templates fork controls and make security fixes inconsistent.</a:t>
            </a:r>
          </a:p>
          <a:p>
            <a:r>
              <a:t>CONTAIN: Pause promotion, preserve evidence and reduce impact without destroying diagnostic state.</a:t>
            </a:r>
          </a:p>
          <a:p>
            <a:r>
              <a:t>DIAGNOSE: Trace the workflow from Define interface through Deprecate safely; compare intended configuration with runtime state.</a:t>
            </a:r>
          </a:p>
          <a:p>
            <a:r>
              <a:t>RECOVER: Restore the last known-good state, then prove recovery with Component version, input contract, output contract, policy checks and consuming stacks.</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Reusable infrastructure components: worked decision.</a:t>
            </a:r>
          </a:p>
          <a:p>
            <a:r>
              <a:t>CONSTRAINT: Twenty application teams need the same encrypted logging bucket with centrally managed controls.</a:t>
            </a:r>
          </a:p>
          <a:p>
            <a:r>
              <a:t>DECISION: Define stable interfaces, semantic versions, ownership, safe defaults and deprecation paths for components.</a:t>
            </a:r>
          </a:p>
          <a:p>
            <a:r>
              <a:t>WHY ALTERNATIVES LOSE: Reject options that do not change the stated failure boundary: Copy-and-edit templates fork controls and make security fixes inconsistent.</a:t>
            </a:r>
          </a:p>
          <a:p>
            <a:r>
              <a:t>ACCEPTANCE TEST: The decision is complete only when this proof exists: Component version, input contract, output contract, policy checks and consuming stacks.</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Parameters, mappings and dynamic references.</a:t>
            </a:r>
          </a:p>
          <a:p>
            <a:r>
              <a:t>OUTCOME: Separate environment configuration and secrets from reusable infrastructure code.</a:t>
            </a:r>
          </a:p>
          <a:p>
            <a:r>
              <a:t>ARCHITECTURE: Use parameters for deployment choices, mappings for curated constants and dynamic references for secret values.</a:t>
            </a:r>
          </a:p>
          <a:p>
            <a:r>
              <a:t>FAILURE MODE: Embedding secrets in templates, outputs or pipeline logs creates durable exposure.</a:t>
            </a:r>
          </a:p>
          <a:p>
            <a:r>
              <a:t>EVIDENCE: Parameter type, allowed values, secret ARN/version, access policy and redacted execution logs.</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Parameters, mappings and dynamic references: operating flow.</a:t>
            </a:r>
          </a:p>
          <a:p>
            <a:r>
              <a:t>Declare input</a:t>
            </a:r>
          </a:p>
          <a:p>
            <a:r>
              <a:t>Validate</a:t>
            </a:r>
          </a:p>
          <a:p>
            <a:r>
              <a:t>Resolve secure value</a:t>
            </a:r>
          </a:p>
          <a:p>
            <a:r>
              <a:t>Deploy</a:t>
            </a:r>
          </a:p>
          <a:p>
            <a:r>
              <a:t>Rotate independently</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Parameters, mappings and dynamic references: design decision.</a:t>
            </a:r>
          </a:p>
          <a:p>
            <a:r>
              <a:t>SCENARIO: One template serves three environments while database credentials rotate every 30 days.</a:t>
            </a:r>
          </a:p>
          <a:p>
            <a:r>
              <a:t>DESIGN RESPONSE: Use parameters for deployment choices, mappings for curated constants and dynamic references for secret values.</a:t>
            </a:r>
          </a:p>
          <a:p>
            <a:r>
              <a:t>PRIMARY SERVICES: CloudFormation · Parameter Store · Secrets Manager</a:t>
            </a:r>
          </a:p>
          <a:p>
            <a:r>
              <a:t>FAILURE MODE: Embedding secrets in templates, outputs or pipeline logs creates durable exposure.</a:t>
            </a:r>
          </a:p>
          <a:p>
            <a:r>
              <a:t>PROOF: Parameter type, allowed values, secret ARN/version, access policy and redacted execution logs.</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Parameters, mappings and dynamic references: failure diagnostic.</a:t>
            </a:r>
          </a:p>
          <a:p>
            <a:r>
              <a:t>RECOGNISE: Observable failure condition: Embedding secrets in templates, outputs or pipeline logs creates durable exposure.</a:t>
            </a:r>
          </a:p>
          <a:p>
            <a:r>
              <a:t>CONTAIN: Pause promotion, preserve evidence and reduce impact without destroying diagnostic state.</a:t>
            </a:r>
          </a:p>
          <a:p>
            <a:r>
              <a:t>DIAGNOSE: Trace the workflow from Declare input through Rotate independently; compare intended configuration with runtime state.</a:t>
            </a:r>
          </a:p>
          <a:p>
            <a:r>
              <a:t>RECOVER: Restore the last known-good state, then prove recovery with Parameter type, allowed values, secret ARN/version, access policy and redacted execution logs.</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Parameters, mappings and dynamic references: worked decision.</a:t>
            </a:r>
          </a:p>
          <a:p>
            <a:r>
              <a:t>CONSTRAINT: One template serves three environments while database credentials rotate every 30 days.</a:t>
            </a:r>
          </a:p>
          <a:p>
            <a:r>
              <a:t>DECISION: Use parameters for deployment choices, mappings for curated constants and dynamic references for secret values.</a:t>
            </a:r>
          </a:p>
          <a:p>
            <a:r>
              <a:t>WHY ALTERNATIVES LOSE: Reject options that do not change the stated failure boundary: Embedding secrets in templates, outputs or pipeline logs creates durable exposure.</a:t>
            </a:r>
          </a:p>
          <a:p>
            <a:r>
              <a:t>ACCEPTANCE TEST: The decision is complete only when this proof exists: Parameter type, allowed values, secret ARN/version, access policy and redacted execution logs.</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Drift, change control and rollback.</a:t>
            </a:r>
          </a:p>
          <a:p>
            <a:r>
              <a:t>OUTCOME: Detect unmanaged changes and return resources to an approved state without masking the cause.</a:t>
            </a:r>
          </a:p>
          <a:p>
            <a:r>
              <a:t>ARCHITECTURE: Schedule drift detection, triage intent, import legitimate changes into code or remediate unauthorized variance.</a:t>
            </a:r>
          </a:p>
          <a:p>
            <a:r>
              <a:t>FAILURE MODE: Blindly reapplying a stack can overwrite an emergency repair before it is understood.</a:t>
            </a:r>
          </a:p>
          <a:p>
            <a:r>
              <a:t>EVIDENCE: Drift result, actor from CloudTrail, approved exception, change set and post-remediation state.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Drift, change control and rollback: operating flow.</a:t>
            </a:r>
          </a:p>
          <a:p>
            <a:r>
              <a:t>Detect drift</a:t>
            </a:r>
          </a:p>
          <a:p>
            <a:r>
              <a:t>Identify actor</a:t>
            </a:r>
          </a:p>
          <a:p>
            <a:r>
              <a:t>Classify intent</a:t>
            </a:r>
          </a:p>
          <a:p>
            <a:r>
              <a:t>Update code or remediate</a:t>
            </a:r>
          </a:p>
          <a:p>
            <a:r>
              <a:t>Recheck</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Drift, change control and rollback: design decision.</a:t>
            </a:r>
          </a:p>
          <a:p>
            <a:r>
              <a:t>SCENARIO: An operator changes a security group during an incident and forgets to restore it.</a:t>
            </a:r>
          </a:p>
          <a:p>
            <a:r>
              <a:t>DESIGN RESPONSE: Schedule drift detection, triage intent, import legitimate changes into code or remediate unauthorized variance.</a:t>
            </a:r>
          </a:p>
          <a:p>
            <a:r>
              <a:t>PRIMARY SERVICES: CloudFormation Drift · Config · Change Sets</a:t>
            </a:r>
          </a:p>
          <a:p>
            <a:r>
              <a:t>FAILURE MODE: Blindly reapplying a stack can overwrite an emergency repair before it is understood.</a:t>
            </a:r>
          </a:p>
          <a:p>
            <a:r>
              <a:t>PROOF: Drift result, actor from CloudTrail, approved exception, change set and post-remediation state.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Drift, change control and rollback: failure diagnostic.</a:t>
            </a:r>
          </a:p>
          <a:p>
            <a:r>
              <a:t>RECOGNISE: Observable failure condition: Blindly reapplying a stack can overwrite an emergency repair before it is understood.</a:t>
            </a:r>
          </a:p>
          <a:p>
            <a:r>
              <a:t>CONTAIN: Pause promotion, preserve evidence and reduce impact without destroying diagnostic state.</a:t>
            </a:r>
          </a:p>
          <a:p>
            <a:r>
              <a:t>DIAGNOSE: Trace the workflow from Detect drift through Recheck; compare intended configuration with runtime state.</a:t>
            </a:r>
          </a:p>
          <a:p>
            <a:r>
              <a:t>RECOVER: Restore the last known-good state, then prove recovery with Drift result, actor from CloudTrail, approved exception, change set and post-remediation state.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Drift, change control and rollback: worked decision.</a:t>
            </a:r>
          </a:p>
          <a:p>
            <a:r>
              <a:t>CONSTRAINT: An operator changes a security group during an incident and forgets to restore it.</a:t>
            </a:r>
          </a:p>
          <a:p>
            <a:r>
              <a:t>DECISION: Schedule drift detection, triage intent, import legitimate changes into code or remediate unauthorized variance.</a:t>
            </a:r>
          </a:p>
          <a:p>
            <a:r>
              <a:t>WHY ALTERNATIVES LOSE: Reject options that do not change the stated failure boundary: Blindly reapplying a stack can overwrite an emergency repair before it is understood.</a:t>
            </a:r>
          </a:p>
          <a:p>
            <a:r>
              <a:t>ACCEPTANCE TEST: The decision is complete only when this proof exists: Drift result, actor from CloudTrail, approved exception, change set and post-remediation state.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StackSets and account vending.</a:t>
            </a:r>
          </a:p>
          <a:p>
            <a:r>
              <a:t>OUTCOME: Deploy mandatory baselines consistently as accounts and Regions are created.</a:t>
            </a:r>
          </a:p>
          <a:p>
            <a:r>
              <a:t>ARCHITECTURE: Use organizational units, delegated administration, automatic deployment and controlled failure tolerance.</a:t>
            </a:r>
          </a:p>
          <a:p>
            <a:r>
              <a:t>FAILURE MODE: An aggressive concurrent rollout can spread a faulty baseline across the organization.</a:t>
            </a:r>
          </a:p>
          <a:p>
            <a:r>
              <a:t>EVIDENCE: OU target, permission model, operation preferences, per-account status and drift result.</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StackSets and account vending: operating flow.</a:t>
            </a:r>
          </a:p>
          <a:p>
            <a:r>
              <a:t>Create account</a:t>
            </a:r>
          </a:p>
          <a:p>
            <a:r>
              <a:t>Place in OU</a:t>
            </a:r>
          </a:p>
          <a:p>
            <a:r>
              <a:t>Apply baseline Stack Set</a:t>
            </a:r>
          </a:p>
          <a:p>
            <a:r>
              <a:t>Verify guardrails</a:t>
            </a:r>
          </a:p>
          <a:p>
            <a:r>
              <a:t>Hand over</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StackSets and account vending: design decision.</a:t>
            </a:r>
          </a:p>
          <a:p>
            <a:r>
              <a:t>SCENARIO: A new production account must receive logging, security roles and Config before application access.</a:t>
            </a:r>
          </a:p>
          <a:p>
            <a:r>
              <a:t>DESIGN RESPONSE: Use organizational units, delegated administration, automatic deployment and controlled failure tolerance.</a:t>
            </a:r>
          </a:p>
          <a:p>
            <a:r>
              <a:t>PRIMARY SERVICES: Organizations · StackSets · Control Tower · Account Factory</a:t>
            </a:r>
          </a:p>
          <a:p>
            <a:r>
              <a:t>FAILURE MODE: An aggressive concurrent rollout can spread a faulty baseline across the organization.</a:t>
            </a:r>
          </a:p>
          <a:p>
            <a:r>
              <a:t>PROOF: OU target, permission model, operation preferences, per-account status and drift result.</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StackSets and account vending: failure diagnostic.</a:t>
            </a:r>
          </a:p>
          <a:p>
            <a:r>
              <a:t>RECOGNISE: Observable failure condition: An aggressive concurrent rollout can spread a faulty baseline across the organization.</a:t>
            </a:r>
          </a:p>
          <a:p>
            <a:r>
              <a:t>CONTAIN: Pause promotion, preserve evidence and reduce impact without destroying diagnostic state.</a:t>
            </a:r>
          </a:p>
          <a:p>
            <a:r>
              <a:t>DIAGNOSE: Trace the workflow from Create account through Hand over; compare intended configuration with runtime state.</a:t>
            </a:r>
          </a:p>
          <a:p>
            <a:r>
              <a:t>RECOVER: Restore the last known-good state, then prove recovery with OU target, permission model, operation preferences, per-account status and drift result.</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StackSets and account vending: worked decision.</a:t>
            </a:r>
          </a:p>
          <a:p>
            <a:r>
              <a:t>CONSTRAINT: A new production account must receive logging, security roles and Config before application access.</a:t>
            </a:r>
          </a:p>
          <a:p>
            <a:r>
              <a:t>DECISION: Use organizational units, delegated administration, automatic deployment and controlled failure tolerance.</a:t>
            </a:r>
          </a:p>
          <a:p>
            <a:r>
              <a:t>WHY ALTERNATIVES LOSE: Reject options that do not change the stated failure boundary: An aggressive concurrent rollout can spread a faulty baseline across the organization.</a:t>
            </a:r>
          </a:p>
          <a:p>
            <a:r>
              <a:t>ACCEPTANCE TEST: The decision is complete only when this proof exists: OU target, permission model, operation preferences, per-account status and drift result.</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Systems Manager fleet automation.</a:t>
            </a:r>
          </a:p>
          <a:p>
            <a:r>
              <a:t>OUTCOME: Operate hybrid and EC2 fleets without inbound administrative ports or unmanaged scripts.</a:t>
            </a:r>
          </a:p>
          <a:p>
            <a:r>
              <a:t>ARCHITECTURE: Use tags, documents, maintenance windows, rate controls, concurrency limits and command output encryption.</a:t>
            </a:r>
          </a:p>
          <a:p>
            <a:r>
              <a:t>FAILURE MODE: A fleet-wide command without error thresholds can create a synchronized outage.</a:t>
            </a:r>
          </a:p>
          <a:p>
            <a:r>
              <a:t>EVIDENCE: Target query, document version, invocation output, compliance result and exception record.</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Systems Manager fleet automation: operating flow.</a:t>
            </a:r>
          </a:p>
          <a:p>
            <a:r>
              <a:t>Select by tag</a:t>
            </a:r>
          </a:p>
          <a:p>
            <a:r>
              <a:t>Run canary</a:t>
            </a:r>
          </a:p>
          <a:p>
            <a:r>
              <a:t>Check output</a:t>
            </a:r>
          </a:p>
          <a:p>
            <a:r>
              <a:t>Expand concurrency</a:t>
            </a:r>
          </a:p>
          <a:p>
            <a:r>
              <a:t>Record compliance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Systems Manager fleet automation: design decision.</a:t>
            </a:r>
          </a:p>
          <a:p>
            <a:r>
              <a:t>SCENARIO: A monthly patch cycle must update hundreds of instances while limiting simultaneous disruption.</a:t>
            </a:r>
          </a:p>
          <a:p>
            <a:r>
              <a:t>DESIGN RESPONSE: Use tags, documents, maintenance windows, rate controls, concurrency limits and command output encryption.</a:t>
            </a:r>
          </a:p>
          <a:p>
            <a:r>
              <a:t>PRIMARY SERVICES: Systems Manager · Run Command · Automation · Patch Manager</a:t>
            </a:r>
          </a:p>
          <a:p>
            <a:r>
              <a:t>FAILURE MODE: A fleet-wide command without error thresholds can create a synchronized outage.</a:t>
            </a:r>
          </a:p>
          <a:p>
            <a:r>
              <a:t>PROOF: Target query, document version, invocation output, compliance result and exception record.</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Systems Manager fleet automation: failure diagnostic.</a:t>
            </a:r>
          </a:p>
          <a:p>
            <a:r>
              <a:t>RECOGNISE: Observable failure condition: A fleet-wide command without error thresholds can create a synchronized outage.</a:t>
            </a:r>
          </a:p>
          <a:p>
            <a:r>
              <a:t>CONTAIN: Pause promotion, preserve evidence and reduce impact without destroying diagnostic state.</a:t>
            </a:r>
          </a:p>
          <a:p>
            <a:r>
              <a:t>DIAGNOSE: Trace the workflow from Select by tag through Record compliance; compare intended configuration with runtime state.</a:t>
            </a:r>
          </a:p>
          <a:p>
            <a:r>
              <a:t>RECOVER: Restore the last known-good state, then prove recovery with Target query, document version, invocation output, compliance result and exception record.</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Systems Manager fleet automation: worked decision.</a:t>
            </a:r>
          </a:p>
          <a:p>
            <a:r>
              <a:t>CONSTRAINT: A monthly patch cycle must update hundreds of instances while limiting simultaneous disruption.</a:t>
            </a:r>
          </a:p>
          <a:p>
            <a:r>
              <a:t>DECISION: Use tags, documents, maintenance windows, rate controls, concurrency limits and command output encryption.</a:t>
            </a:r>
          </a:p>
          <a:p>
            <a:r>
              <a:t>WHY ALTERNATIVES LOSE: Reject options that do not change the stated failure boundary: A fleet-wide command without error thresholds can create a synchronized outage.</a:t>
            </a:r>
          </a:p>
          <a:p>
            <a:r>
              <a:t>ACCEPTANCE TEST: The decision is complete only when this proof exists: Target query, document version, invocation output, compliance result and exception record.</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CDK, SAM and workflow orchestration.</a:t>
            </a:r>
          </a:p>
          <a:p>
            <a:r>
              <a:t>OUTCOME: Choose the right abstraction while preserving reviewable infrastructure output and safe runtime change.</a:t>
            </a:r>
          </a:p>
          <a:p>
            <a:r>
              <a:t>ARCHITECTURE: Synthesize templates, test constructs, separate build-time from runtime configuration, and orchestrate retries explicitly.</a:t>
            </a:r>
          </a:p>
          <a:p>
            <a:r>
              <a:t>FAILURE MODE: High-level abstractions can hide IAM expansion or replacement behavior unless synthesized output is reviewed.</a:t>
            </a:r>
          </a:p>
          <a:p>
            <a:r>
              <a:t>EVIDENCE: Synthesized template, assertions, state-machine history, configuration version and deployment strategy.</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CDK, SAM and workflow orchestration: operating flow.</a:t>
            </a:r>
          </a:p>
          <a:p>
            <a:r>
              <a:t>Model</a:t>
            </a:r>
          </a:p>
          <a:p>
            <a:r>
              <a:t>Synthesize</a:t>
            </a:r>
          </a:p>
          <a:p>
            <a:r>
              <a:t>Test policy</a:t>
            </a:r>
          </a:p>
          <a:p>
            <a:r>
              <a:t>Deploy</a:t>
            </a:r>
          </a:p>
          <a:p>
            <a:r>
              <a:t>Release config</a:t>
            </a:r>
          </a:p>
          <a:p>
            <a:r>
              <a:t>Observe execution</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CDK, SAM and workflow orchestration: design decision.</a:t>
            </a:r>
          </a:p>
          <a:p>
            <a:r>
              <a:t>SCENARIO: A serverless workflow needs bounded retries and a feature flag that can be rolled back independently.</a:t>
            </a:r>
          </a:p>
          <a:p>
            <a:r>
              <a:t>DESIGN RESPONSE: Synthesize templates, test constructs, separate build-time from runtime configuration, and orchestrate retries explicitly.</a:t>
            </a:r>
          </a:p>
          <a:p>
            <a:r>
              <a:t>PRIMARY SERVICES: CDK · SAM · Step Functions · AppConfig</a:t>
            </a:r>
          </a:p>
          <a:p>
            <a:r>
              <a:t>FAILURE MODE: High-level abstractions can hide IAM expansion or replacement behavior unless synthesized output is reviewed.</a:t>
            </a:r>
          </a:p>
          <a:p>
            <a:r>
              <a:t>PROOF: Synthesized template, assertions, state-machine history, configuration version and deployment strategy.</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CDK, SAM and workflow orchestration: failure diagnostic.</a:t>
            </a:r>
          </a:p>
          <a:p>
            <a:r>
              <a:t>RECOGNISE: Observable failure condition: High-level abstractions can hide IAM expansion or replacement behavior unless synthesized output is reviewed.</a:t>
            </a:r>
          </a:p>
          <a:p>
            <a:r>
              <a:t>CONTAIN: Pause promotion, preserve evidence and reduce impact without destroying diagnostic state.</a:t>
            </a:r>
          </a:p>
          <a:p>
            <a:r>
              <a:t>DIAGNOSE: Trace the workflow from Model through Observe execution; compare intended configuration with runtime state.</a:t>
            </a:r>
          </a:p>
          <a:p>
            <a:r>
              <a:t>RECOVER: Restore the last known-good state, then prove recovery with Synthesized template, assertions, state-machine history, configuration version and deployment strategy.</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CDK, SAM and workflow orchestration: worked decision.</a:t>
            </a:r>
          </a:p>
          <a:p>
            <a:r>
              <a:t>CONSTRAINT: A serverless workflow needs bounded retries and a feature flag that can be rolled back independently.</a:t>
            </a:r>
          </a:p>
          <a:p>
            <a:r>
              <a:t>DECISION: Synthesize templates, test constructs, separate build-time from runtime configuration, and orchestrate retries explicitly.</a:t>
            </a:r>
          </a:p>
          <a:p>
            <a:r>
              <a:t>WHY ALTERNATIVES LOSE: Reject options that do not change the stated failure boundary: High-level abstractions can hide IAM expansion or replacement behavior unless synthesized output is reviewed.</a:t>
            </a:r>
          </a:p>
          <a:p>
            <a:r>
              <a:t>ACCEPTANCE TEST: The decision is complete only when this proof exists: Synthesized template, assertions, state-machine history, configuration version and deployment strategy.</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CloudFormation lifecycle: architecture map.</a:t>
            </a:r>
          </a:p>
          <a:p>
            <a:r>
              <a:t>TRIGGER / INPUT: Author</a:t>
            </a:r>
          </a:p>
          <a:p>
            <a:r>
              <a:t>CONTROL PLANE: Validate templates, create change sets, inspect replacements, execute with a service role and capture stack events.</a:t>
            </a:r>
          </a:p>
          <a:p>
            <a:r>
              <a:t>AWS SERVICES: CloudFormation · Change Sets · CloudTrail</a:t>
            </a:r>
          </a:p>
          <a:p>
            <a:r>
              <a:t>EVIDENCE BOUNDARY: Template digest, parameters, change-set diff, execution role and stack event timeline.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Reusable infrastructure components: architecture map.</a:t>
            </a:r>
          </a:p>
          <a:p>
            <a:r>
              <a:t>TRIGGER / INPUT: Define interface</a:t>
            </a:r>
          </a:p>
          <a:p>
            <a:r>
              <a:t>CONTROL PLANE: Define stable interfaces, semantic versions, ownership, safe defaults and deprecation paths for components.</a:t>
            </a:r>
          </a:p>
          <a:p>
            <a:r>
              <a:t>AWS SERVICES: Nested stacks · Modules · CDK constructs · Service Catalog</a:t>
            </a:r>
          </a:p>
          <a:p>
            <a:r>
              <a:t>EVIDENCE BOUNDARY: Component version, input contract, output contract, policy checks and consuming stacks.</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Parameters, mappings and dynamic references: architecture map.</a:t>
            </a:r>
          </a:p>
          <a:p>
            <a:r>
              <a:t>TRIGGER / INPUT: Declare input</a:t>
            </a:r>
          </a:p>
          <a:p>
            <a:r>
              <a:t>CONTROL PLANE: Use parameters for deployment choices, mappings for curated constants and dynamic references for secret values.</a:t>
            </a:r>
          </a:p>
          <a:p>
            <a:r>
              <a:t>AWS SERVICES: CloudFormation · Parameter Store · Secrets Manager</a:t>
            </a:r>
          </a:p>
          <a:p>
            <a:r>
              <a:t>EVIDENCE BOUNDARY: Parameter type, allowed values, secret ARN/version, access policy and redacted execution logs.</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Drift, change control and rollback: architecture map.</a:t>
            </a:r>
          </a:p>
          <a:p>
            <a:r>
              <a:t>TRIGGER / INPUT: Detect drift</a:t>
            </a:r>
          </a:p>
          <a:p>
            <a:r>
              <a:t>CONTROL PLANE: Schedule drift detection, triage intent, import legitimate changes into code or remediate unauthorized variance.</a:t>
            </a:r>
          </a:p>
          <a:p>
            <a:r>
              <a:t>AWS SERVICES: CloudFormation Drift · Config · Change Sets</a:t>
            </a:r>
          </a:p>
          <a:p>
            <a:r>
              <a:t>EVIDENCE BOUNDARY: Drift result, actor from CloudTrail, approved exception, change set and post-remediation state.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StackSets and account vending: architecture map.</a:t>
            </a:r>
          </a:p>
          <a:p>
            <a:r>
              <a:t>TRIGGER / INPUT: Create account</a:t>
            </a:r>
          </a:p>
          <a:p>
            <a:r>
              <a:t>CONTROL PLANE: Use organizational units, delegated administration, automatic deployment and controlled failure tolerance.</a:t>
            </a:r>
          </a:p>
          <a:p>
            <a:r>
              <a:t>AWS SERVICES: Organizations · StackSets · Control Tower · Account Factory</a:t>
            </a:r>
          </a:p>
          <a:p>
            <a:r>
              <a:t>EVIDENCE BOUNDARY: OU target, permission model, operation preferences, per-account status and drift result.</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Systems Manager fleet automation: architecture map.</a:t>
            </a:r>
          </a:p>
          <a:p>
            <a:r>
              <a:t>TRIGGER / INPUT: Select by tag</a:t>
            </a:r>
          </a:p>
          <a:p>
            <a:r>
              <a:t>CONTROL PLANE: Use tags, documents, maintenance windows, rate controls, concurrency limits and command output encryption.</a:t>
            </a:r>
          </a:p>
          <a:p>
            <a:r>
              <a:t>AWS SERVICES: Systems Manager · Run Command · Automation · Patch Manager</a:t>
            </a:r>
          </a:p>
          <a:p>
            <a:r>
              <a:t>EVIDENCE BOUNDARY: Target query, document version, invocation output, compliance result and exception record.</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CDK, SAM and workflow orchestration: architecture map.</a:t>
            </a:r>
          </a:p>
          <a:p>
            <a:r>
              <a:t>TRIGGER / INPUT: Model</a:t>
            </a:r>
          </a:p>
          <a:p>
            <a:r>
              <a:t>CONTROL PLANE: Synthesize templates, test constructs, separate build-time from runtime configuration, and orchestrate retries explicitly.</a:t>
            </a:r>
          </a:p>
          <a:p>
            <a:r>
              <a:t>AWS SERVICES: CDK · SAM · Step Functions · AppConfig</a:t>
            </a:r>
          </a:p>
          <a:p>
            <a:r>
              <a:t>EVIDENCE BOUNDARY: Synthesized template, assertions, state-machine history, configuration version and deployment strategy.</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6 overview — Author, validate and deploy a reusable VPC network baseline with CloudFormation and publish cross-stack exports (LO2, K3, A3).</a:t>
            </a:r>
          </a:p>
          <a:p>
            <a:r>
              <a:t>Concept-led briefing only. The full detailed procedure, commands, expected outputs, validation and cleanup live in the Learner Guide and the lab README (not on the slides).</a:t>
            </a:r>
          </a:p>
          <a:p>
            <a:r>
              <a:t>Reference architecture: course-generated diagram for Lab 6.</a:t>
            </a:r>
          </a:p>
          <a:p/>
          <a:p>
            <a:r>
              <a:t>[Sources]</a:t>
            </a:r>
          </a:p>
          <a:p>
            <a:r>
              <a:t>- AWS Certified DevOps Engineer – Professional (DOP-C02) Exam Guide (docs.aws.amazon.com/pdfs/aws-certification/latest/devops-engineer-professional-02).</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7 overview — Deploy a parameterized application stack that consumes cross-stack exports and reuse it for dev and test via parameter files (LO2, K3, A3).</a:t>
            </a:r>
          </a:p>
          <a:p>
            <a:r>
              <a:t>Concept-led briefing only. The full detailed procedure, commands, expected outputs, validation and cleanup live in the Learner Guide and the lab README (not on the slides).</a:t>
            </a:r>
          </a:p>
          <a:p>
            <a:r>
              <a:t>Reference architecture: course-generated diagram for Lab 7.</a:t>
            </a:r>
          </a:p>
          <a:p/>
          <a:p>
            <a:r>
              <a:t>[Sources]</a:t>
            </a:r>
          </a:p>
          <a:p>
            <a:r>
              <a:t>- AWS Certified DevOps Engineer – Professional (DOP-C02) Exam Guide (docs.aws.amazon.com/pdfs/aws-certification/latest/devops-engineer-professional-02).</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8 overview — Preview a stack modification safely with a change set before executing, then detect out-of-band drift and reconcile it (LO2, K3, A3).</a:t>
            </a:r>
          </a:p>
          <a:p>
            <a:r>
              <a:t>Concept-led briefing only. The full detailed procedure, commands, expected outputs, validation and cleanup live in the Learner Guide and the lab README (not on the slides).</a:t>
            </a:r>
          </a:p>
          <a:p>
            <a:r>
              <a:t>Reference architecture: course-generated diagram for Lab 8.</a:t>
            </a:r>
          </a:p>
          <a:p/>
          <a:p>
            <a:r>
              <a:t>[Sources]</a:t>
            </a:r>
          </a:p>
          <a:p>
            <a:r>
              <a:t>- AWS Certified DevOps Engineer – Professional (DOP-C02) Exam Guide (docs.aws.amazon.com/pdfs/aws-certification/latest/devops-engineer-professional-02).</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9 overview — Externalize application configuration into SSM Parameter Store (String and SecureString), read it at runtime, and compare Parameter Store with Secrets Manager (LO2, K3, A3).</a:t>
            </a:r>
          </a:p>
          <a:p>
            <a:r>
              <a:t>Concept-led briefing only. The full detailed procedure, commands, expected outputs, validation and cleanup live in the Learner Guide and the lab README (not on the slides).</a:t>
            </a:r>
          </a:p>
          <a:p>
            <a:r>
              <a:t>Reference architecture: course-generated diagram for Lab 9.</a:t>
            </a:r>
          </a:p>
          <a:p/>
          <a:p>
            <a:r>
              <a:t>[Sources]</a:t>
            </a:r>
          </a:p>
          <a:p>
            <a:r>
              <a:t>- AWS Certified DevOps Engineer – Professional (DOP-C02) Exam Guide (docs.aws.amazon.com/pdfs/aws-certification/latest/devops-engineer-professional-02).</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10 overview — Design and deploy a multi-account, multi-Region guardrail using CloudFormation StackSets with AWS Organizations service-managed permissions, and express a preventive guardrail as an SCP (LO2, K3, A3).</a:t>
            </a:r>
          </a:p>
          <a:p>
            <a:r>
              <a:t>Concept-led briefing only. The full detailed procedure, commands, expected outputs, validation and cleanup live in the Learner Guide and the lab README (not on the slides).</a:t>
            </a:r>
          </a:p>
          <a:p>
            <a:r>
              <a:t>Reference architecture: course-generated diagram for Lab 10.</a:t>
            </a:r>
          </a:p>
          <a:p/>
          <a:p>
            <a:r>
              <a:t>[Sources]</a:t>
            </a:r>
          </a:p>
          <a:p>
            <a:r>
              <a:t>- AWS Certified DevOps Engineer – Professional (DOP-C02) Exam Guide (docs.aws.amazon.com/pdfs/aws-certification/latest/devops-engineer-professional-02).</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 of Domain 02 — Configuration Management and IaC.</a:t>
            </a:r>
          </a:p>
          <a:p/>
          <a:p>
            <a:r>
              <a:t>[Sources]</a:t>
            </a:r>
          </a:p>
          <a:p>
            <a:r>
              <a:t>- AWS Certified DevOps Engineer – Professional (DOP-C02) Exam Guide (docs.aws.amazon.com/pdfs/aws-certification/latest/devops-engineer-professional-02).</a:t>
            </a:r>
          </a:p>
          <a:p>
            <a:r>
              <a:t>- AWS CloudFormation Documentation (docs.aws.amazon.com/cloudformation).</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concepts for Domain 03 — Resilient Cloud Solutions.</a:t>
            </a:r>
          </a:p>
          <a:p>
            <a:r>
              <a:t>High availability: Spread compute across multiple Availability Zones behind an Elastic Load Balancer so one AZ failure is survivable.</a:t>
            </a:r>
          </a:p>
          <a:p>
            <a:r>
              <a:t>Elasticity &amp; Auto Scaling: Auto Scaling groups add and remove capacity on demand using target-tracking and step scaling policies.</a:t>
            </a:r>
          </a:p>
          <a:p>
            <a:r>
              <a:t>Decoupling: SQS, SNS and EventBridge decouple producers from consumers so components fail and scale independently.</a:t>
            </a:r>
          </a:p>
          <a:p>
            <a:r>
              <a:t>RTO &amp; RPO: Recovery Time / Point Objectives drive the DR pattern: backup &amp; restore, pilot light, warm standby or multi-site active/active.</a:t>
            </a:r>
          </a:p>
          <a:p>
            <a:r>
              <a:t>Data durability: Multi-AZ RDS, DynamoDB global tables, S3 cross-Region replication and automated snapshots protect state.</a:t>
            </a:r>
          </a:p>
          <a:p>
            <a:r>
              <a:t>Automated recovery: EC2 auto-recovery, ASG health checks and Route 53 health-check failover restore service without human action.</a:t>
            </a:r>
          </a:p>
          <a:p/>
          <a:p>
            <a:r>
              <a:t>[Sources]</a:t>
            </a:r>
          </a:p>
          <a:p>
            <a:r>
              <a:t>- AWS Certified DevOps Engineer – Professional (DOP-C02) Exam Guide (docs.aws.amazon.com/pdfs/aws-certification/latest/devops-engineer-professional-02).</a:t>
            </a:r>
          </a:p>
          <a:p>
            <a:r>
              <a:t>- AWS Well-Architected Framework (docs.aws.amazon.com/wellarchitected).</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 Patterns — Approximate Recovery Time (RTO). What the data shows: As you move from backup/restore to active/active, RTO falls from hours to near-zero — at rising cost.</a:t>
            </a:r>
          </a:p>
          <a:p>
            <a:r>
              <a:t>Figures are illustrative teaching values to convey the relationship, not measured benchmarks.</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03 deep dive — Resilient Cloud Solutions. Editable AWS-native diagram/table/chart.</a:t>
            </a:r>
          </a:p>
          <a:p/>
          <a:p>
            <a:r>
              <a:t>[Sources]</a:t>
            </a:r>
          </a:p>
          <a:p>
            <a:r>
              <a:t>- AWS Certified DevOps Engineer – Professional (DOP-C02) Exam Guide (docs.aws.amazon.com/pdfs/aws-certification/latest/devops-engineer-professional-02).</a:t>
            </a:r>
          </a:p>
          <a:p>
            <a:r>
              <a:t>- AWS Well-Architected Framework (docs.aws.amazon.com/wellarchitected).</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03 deep dive — Resilient Cloud Solutions. Editable AWS-native diagram/table/chart.</a:t>
            </a:r>
          </a:p>
          <a:p/>
          <a:p>
            <a:r>
              <a:t>[Sources]</a:t>
            </a:r>
          </a:p>
          <a:p>
            <a:r>
              <a:t>- AWS Certified DevOps Engineer – Professional (DOP-C02) Exam Guide (docs.aws.amazon.com/pdfs/aws-certification/latest/devops-engineer-professional-02).</a:t>
            </a:r>
          </a:p>
          <a:p>
            <a:r>
              <a:t>- AWS Well-Architected Framework (docs.aws.amazon.com/wellarchitected).</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03 deep dive — Resilient Cloud Solutions. Editable AWS-native diagram/table/chart.</a:t>
            </a:r>
          </a:p>
          <a:p/>
          <a:p>
            <a:r>
              <a:t>[Sources]</a:t>
            </a:r>
          </a:p>
          <a:p>
            <a:r>
              <a:t>- AWS Certified DevOps Engineer – Professional (DOP-C02) Exam Guide (docs.aws.amazon.com/pdfs/aws-certification/latest/devops-engineer-professional-02).</a:t>
            </a:r>
          </a:p>
          <a:p>
            <a:r>
              <a:t>- AWS Well-Architected Framework (docs.aws.amazon.com/wellarchitected).</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03 deep dive — Resilient Cloud Solutions. Editable AWS-native diagram/table/chart.</a:t>
            </a:r>
          </a:p>
          <a:p/>
          <a:p>
            <a:r>
              <a:t>[Sources]</a:t>
            </a:r>
          </a:p>
          <a:p>
            <a:r>
              <a:t>- AWS Certified DevOps Engineer – Professional (DOP-C02) Exam Guide (docs.aws.amazon.com/pdfs/aws-certification/latest/devops-engineer-professional-02).</a:t>
            </a:r>
          </a:p>
          <a:p>
            <a:r>
              <a:t>- AWS Well-Architected Framework (docs.aws.amazon.com/wellarchitected).</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03 deep dive — Resilient Cloud Solutions. Editable AWS-native diagram/table/chart.</a:t>
            </a:r>
          </a:p>
          <a:p/>
          <a:p>
            <a:r>
              <a:t>[Sources]</a:t>
            </a:r>
          </a:p>
          <a:p>
            <a:r>
              <a:t>- AWS Certified DevOps Engineer – Professional (DOP-C02) Exam Guide (docs.aws.amazon.com/pdfs/aws-certification/latest/devops-engineer-professional-02).</a:t>
            </a:r>
          </a:p>
          <a:p>
            <a:r>
              <a:t>- AWS Well-Architected Framework (docs.aws.amazon.com/wellarchitected).</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03 deep dive — Resilient Cloud Solutions. Editable AWS-native diagram/table/chart.</a:t>
            </a:r>
          </a:p>
          <a:p/>
          <a:p>
            <a:r>
              <a:t>[Sources]</a:t>
            </a:r>
          </a:p>
          <a:p>
            <a:r>
              <a:t>- AWS Certified DevOps Engineer – Professional (DOP-C02) Exam Guide (docs.aws.amazon.com/pdfs/aws-certification/latest/devops-engineer-professional-02).</a:t>
            </a:r>
          </a:p>
          <a:p>
            <a:r>
              <a:t>- AWS Well-Architected Framework (docs.aws.amazon.com/wellarchitected).</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 availability across Availability Zones.</a:t>
            </a:r>
          </a:p>
          <a:p>
            <a:r>
              <a:t>Why it matters: Multi-AZ is the cheapest, highest-leverage resilience decision — most real outages are single-AZ or single-instance, both survivable.</a:t>
            </a:r>
          </a:p>
          <a:p>
            <a:r>
              <a:t>Failure mode: A single-AZ deployment, or a stateful session pinned to one instance, turns a routine hardware failure into a customer-visible outage.</a:t>
            </a:r>
          </a:p>
          <a:p>
            <a:r>
              <a:t>Trade-off: Cross-AZ traffic incurs latency and data-transfer cost — a fair price for surviving an AZ loss.</a:t>
            </a:r>
          </a:p>
          <a:p/>
          <a:p>
            <a:r>
              <a:t>[Sources]</a:t>
            </a:r>
          </a:p>
          <a:p>
            <a:r>
              <a:t>- AWS Certified DevOps Engineer – Professional (DOP-C02) Exam Guide (docs.aws.amazon.com/pdfs/aws-certification/latest/devops-engineer-professional-02).</a:t>
            </a:r>
          </a:p>
          <a:p>
            <a:r>
              <a:t>- AWS Well-Architected Framework (docs.aws.amazon.com/wellarchitected).</a:t>
            </a:r>
          </a:p>
          <a:p>
            <a:r>
              <a:t>- AWS Regions and AZs Documentation (docs.aws.amazon.com/AWSEC2/latest/UserGuide/using-regions-availability-zones.html).</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Elasticity and Auto Scaling.</a:t>
            </a:r>
          </a:p>
          <a:p>
            <a:r>
              <a:t>Why it matters: Elasticity matches cost to demand and provides self-healing — a terminated instance is silently replaced.</a:t>
            </a:r>
          </a:p>
          <a:p>
            <a:r>
              <a:t>Failure mode: Scaling on the wrong metric (CPU for an I/O-bound app) leaves you slow under load and over-provisioned when idle.</a:t>
            </a:r>
          </a:p>
          <a:p>
            <a:r>
              <a:t>Trade-off: Aggressive scaling reacts fast but can thrash — tune cooldowns and warm-up so the group settles.</a:t>
            </a:r>
          </a:p>
          <a:p/>
          <a:p>
            <a:r>
              <a:t>[Sources]</a:t>
            </a:r>
          </a:p>
          <a:p>
            <a:r>
              <a:t>- AWS EC2 Auto Scaling Documentation (docs.aws.amazon.com/autoscaling).</a:t>
            </a:r>
          </a:p>
          <a:p>
            <a:r>
              <a:t>- AWS Certified DevOps Engineer – Professional (DOP-C02) Exam Guide (docs.aws.amazon.com/pdfs/aws-certification/latest/devops-engineer-professional-02).</a:t>
            </a:r>
          </a:p>
          <a:p>
            <a:r>
              <a:t>- AWS Well-Architected Framework (docs.aws.amazon.com/wellarchitected).</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Load balancer types and when to use them.</a:t>
            </a:r>
          </a:p>
          <a:p>
            <a:r>
              <a:t>Why it matters: Choosing the right layer-7 or layer-4 balancer shapes routing, TLS termination, latency and cost.</a:t>
            </a:r>
          </a:p>
          <a:p>
            <a:r>
              <a:t>Failure mode: Forcing an L7 ALB where you need raw TCP throughput or a static IP adds latency and misses the requirement.</a:t>
            </a:r>
          </a:p>
          <a:p>
            <a:r>
              <a:t>Trade-off: ALB gives rich routing at higher per-request processing; NLB gives raw speed with fewer features.</a:t>
            </a:r>
          </a:p>
          <a:p/>
          <a:p>
            <a:r>
              <a:t>[Sources]</a:t>
            </a:r>
          </a:p>
          <a:p>
            <a:r>
              <a:t>- AWS Elastic Load Balancing Documentation (docs.aws.amazon.com/elasticloadbalancing).</a:t>
            </a:r>
          </a:p>
          <a:p>
            <a:r>
              <a:t>- AWS Certified DevOps Engineer – Professional (DOP-C02) Exam Guide (docs.aws.amazon.com/pdfs/aws-certification/latest/devops-engineer-professional-02).</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Decoupling with queues, topics and events.</a:t>
            </a:r>
          </a:p>
          <a:p>
            <a:r>
              <a:t>Why it matters: Loose coupling converts synchronous, cascading failures into asynchronous backlogs the system can recover from.</a:t>
            </a:r>
          </a:p>
          <a:p>
            <a:r>
              <a:t>Failure mode: A synchronous call chain means one slow downstream service ties up threads and cascades into a full outage.</a:t>
            </a:r>
          </a:p>
          <a:p>
            <a:r>
              <a:t>Trade-off: Asynchronous designs add eventual-consistency and idempotency concerns — consumers must handle duplicates and out-of-order delivery.</a:t>
            </a:r>
          </a:p>
          <a:p/>
          <a:p>
            <a:r>
              <a:t>[Sources]</a:t>
            </a:r>
          </a:p>
          <a:p>
            <a:r>
              <a:t>- AWS SQS Documentation (docs.aws.amazon.com/AWSSimpleQueueService).</a:t>
            </a:r>
          </a:p>
          <a:p>
            <a:r>
              <a:t>- AWS EventBridge Documentation (docs.aws.amazon.com/eventbridge).</a:t>
            </a:r>
          </a:p>
          <a:p>
            <a:r>
              <a:t>- AWS Well-Architected Framework (docs.aws.amazon.com/wellarchitected).</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RTO and RPO drive the DR pattern.</a:t>
            </a:r>
          </a:p>
          <a:p>
            <a:r>
              <a:t>Why it matters: Naming RTO/RPO turns 'make it resilient' into a concrete, testable and budgetable design target.</a:t>
            </a:r>
          </a:p>
          <a:p>
            <a:r>
              <a:t>Failure mode: Buying active/active for a back-office app wastes money; choosing backup-and-restore for a payment system risks the business.</a:t>
            </a:r>
          </a:p>
          <a:p>
            <a:r>
              <a:t>Trade-off: Lower RTO/RPO means more running (and paid-for) standby capacity — match spend to the revenue at risk.</a:t>
            </a:r>
          </a:p>
          <a:p/>
          <a:p>
            <a:r>
              <a:t>[Sources]</a:t>
            </a:r>
          </a:p>
          <a:p>
            <a:r>
              <a:t>- AWS Disaster Recovery Documentation (docs.aws.amazon.com/whitepapers/latest/disaster-recovery-workloads-on-aws).</a:t>
            </a:r>
          </a:p>
          <a:p>
            <a:r>
              <a:t>- AWS Certified DevOps Engineer – Professional (DOP-C02) Exam Guide (docs.aws.amazon.com/pdfs/aws-certification/latest/devops-engineer-professional-02).</a:t>
            </a:r>
          </a:p>
          <a:p>
            <a:r>
              <a:t>- AWS Well-Architected Framework (docs.aws.amazon.com/wellarchitected).</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durability and multi-Region protection.</a:t>
            </a:r>
          </a:p>
          <a:p>
            <a:r>
              <a:t>Why it matters: Compute is replaceable; data is not — durable, recoverable state is the foundation everything else rebuilds on.</a:t>
            </a:r>
          </a:p>
          <a:p>
            <a:r>
              <a:t>Failure mode: A single-AZ database or un-tested backups mean the app tier can be perfectly redundant yet still lose the business's data.</a:t>
            </a:r>
          </a:p>
          <a:p>
            <a:r>
              <a:t>Trade-off: Synchronous replication protects data but adds write latency; cross-Region copies add cost and lag.</a:t>
            </a:r>
          </a:p>
          <a:p/>
          <a:p>
            <a:r>
              <a:t>[Sources]</a:t>
            </a:r>
          </a:p>
          <a:p>
            <a:r>
              <a:t>- AWS RDS Multi-AZ Documentation (docs.aws.amazon.com/AmazonRDS/latest/UserGuide/Concepts.MultiAZ.html).</a:t>
            </a:r>
          </a:p>
          <a:p>
            <a:r>
              <a:t>- AWS DynamoDB global tables Documentation (docs.aws.amazon.com/amazondynamodb/latest/developerguide/GlobalTables.html).</a:t>
            </a:r>
          </a:p>
          <a:p>
            <a:r>
              <a:t>- AWS Certified DevOps Engineer – Professional (DOP-C02) Exam Guide (docs.aws.amazon.com/pdfs/aws-certification/latest/devops-engineer-professional-02).</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Automated recovery and self-healing.</a:t>
            </a:r>
          </a:p>
          <a:p>
            <a:r>
              <a:t>Why it matters: Automating recovery shrinks MTTR toward zero for the common failures and frees humans for the novel ones.</a:t>
            </a:r>
          </a:p>
          <a:p>
            <a:r>
              <a:t>Failure mode: Manual failover runbooks that are never rehearsed fail exactly when you need them, under incident pressure.</a:t>
            </a:r>
          </a:p>
          <a:p>
            <a:r>
              <a:t>Trade-off: Automated failover must guard against flapping and split-brain — tune thresholds and use health checks carefully.</a:t>
            </a:r>
          </a:p>
          <a:p/>
          <a:p>
            <a:r>
              <a:t>[Sources]</a:t>
            </a:r>
          </a:p>
          <a:p>
            <a:r>
              <a:t>- AWS Route 53 health checks Documentation (docs.aws.amazon.com/Route53/latest/DeveloperGuide/dns-failover.html).</a:t>
            </a:r>
          </a:p>
          <a:p>
            <a:r>
              <a:t>- AWS Certified DevOps Engineer – Professional (DOP-C02) Exam Guide (docs.aws.amazon.com/pdfs/aws-certification/latest/devops-engineer-professional-02).</a:t>
            </a:r>
          </a:p>
          <a:p>
            <a:r>
              <a:t>- AWS Well-Architected Framework (docs.aws.amazon.com/wellarchitected).</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Designing for graceful degradation.</a:t>
            </a:r>
          </a:p>
          <a:p>
            <a:r>
              <a:t>Why it matters: Graceful degradation keeps the most important user journeys working even when parts of the system are unhealthy.</a:t>
            </a:r>
          </a:p>
          <a:p>
            <a:r>
              <a:t>Failure mode: Unbounded retries during an incident create a retry storm that turns a brownout into a full outage.</a:t>
            </a:r>
          </a:p>
          <a:p>
            <a:r>
              <a:t>Trade-off: Serving degraded responses reduces functionality temporarily to preserve availability — usually the right call.</a:t>
            </a:r>
          </a:p>
          <a:p/>
          <a:p>
            <a:r>
              <a:t>[Sources]</a:t>
            </a:r>
          </a:p>
          <a:p>
            <a:r>
              <a:t>- AWS Well-Architected Framework (docs.aws.amazon.com/wellarchitected).</a:t>
            </a:r>
          </a:p>
          <a:p>
            <a:r>
              <a:t>- AWS Builders' Library Documentation (docs.aws.amazon.com/builders-library).</a:t>
            </a:r>
          </a:p>
          <a:p>
            <a:r>
              <a:t>- AWS Certified DevOps Engineer – Professional (DOP-C02) Exam Guide (docs.aws.amazon.com/pdfs/aws-certification/latest/devops-engineer-professional-02).</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Comparison — Disaster Recovery Patterns — Cost vs Recovery.</a:t>
            </a:r>
          </a:p>
          <a:p/>
          <a:p>
            <a:r>
              <a:t>[Sources]</a:t>
            </a:r>
          </a:p>
          <a:p>
            <a:r>
              <a:t>- AWS Disaster Recovery Documentation (docs.aws.amazon.com/whitepapers/latest/disaster-recovery-workloads-on-aws).</a:t>
            </a:r>
          </a:p>
          <a:p>
            <a:r>
              <a:t>- AWS Certified DevOps Engineer – Professional (DOP-C02) Exam Guide (docs.aws.amazon.com/pdfs/aws-certification/latest/devops-engineer-professional-02).</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Availability Math — Adding a Second AZ. What the data shows: Most availability gain comes from the first jump to multi-AZ; multi-Region adds resilience against rare Region events at much higher cost.</a:t>
            </a:r>
          </a:p>
          <a:p>
            <a:r>
              <a:t>Figures are illustrative teaching values to convey the relationship, not measured benchmarks.</a:t>
            </a:r>
          </a:p>
          <a:p/>
          <a:p>
            <a:r>
              <a:t>[Sources]</a:t>
            </a:r>
          </a:p>
          <a:p>
            <a:r>
              <a:t>- AWS Well-Architected Framework (docs.aws.amazon.com/wellarchitected).</a:t>
            </a:r>
          </a:p>
          <a:p>
            <a:r>
              <a:t>- AWS Certified DevOps Engineer – Professional (DOP-C02) Exam Guide (docs.aws.amazon.com/pdfs/aws-certification/latest/devops-engineer-professional-02).</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 Scaling Under a Load Spike. What the data shows: Target tracking follows demand up and back down, so capacity tracks load — you pay for peak only while the peak lasts.</a:t>
            </a:r>
          </a:p>
          <a:p>
            <a:r>
              <a:t>Figures are illustrative teaching values to convey the relationship, not measured benchmarks.</a:t>
            </a:r>
          </a:p>
          <a:p/>
          <a:p>
            <a:r>
              <a:t>[Sources]</a:t>
            </a:r>
          </a:p>
          <a:p>
            <a:r>
              <a:t>- AWS EC2 Auto Scaling Documentation (docs.aws.amazon.com/autoscaling).</a:t>
            </a:r>
          </a:p>
          <a:p>
            <a:r>
              <a:t>- AWS Certified DevOps Engineer – Professional (DOP-C02) Exam Guide (docs.aws.amazon.com/pdfs/aws-certification/latest/devops-engineer-professional-02).</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Resilience Failure Modes &amp; Anti-Patterns.</a:t>
            </a:r>
          </a:p>
          <a:p>
            <a:r>
              <a:t>Single-AZ database — App tier redundant, data tier isn't → Multi-AZ RDS / global tables.</a:t>
            </a:r>
          </a:p>
          <a:p>
            <a:r>
              <a:t>Sticky in-memory sessions — One instance loss logs everyone out → externalise session state.</a:t>
            </a:r>
          </a:p>
          <a:p>
            <a:r>
              <a:t>Retry storms — Unbounded retries amplify an outage → backoff + jitter + circuit breakers.</a:t>
            </a:r>
          </a:p>
          <a:p>
            <a:r>
              <a:t>Untested failover — Runbook fails under pressure → game-days and automated failover.</a:t>
            </a:r>
          </a:p>
          <a:p>
            <a:r>
              <a:t>Scaling on wrong metric — Slow under load, wasteful when idle → scale on the true constraint.</a:t>
            </a:r>
          </a:p>
          <a:p>
            <a:r>
              <a:t>No health-check depth — LB routes to a process that's up but broken → deep health checks.</a:t>
            </a:r>
          </a:p>
          <a:p/>
          <a:p>
            <a:r>
              <a:t>[Sources]</a:t>
            </a:r>
          </a:p>
          <a:p>
            <a:r>
              <a:t>- AWS Well-Architected Framework (docs.aws.amazon.com/wellarchitected).</a:t>
            </a:r>
          </a:p>
          <a:p>
            <a:r>
              <a:t>- AWS Certified DevOps Engineer – Professional (DOP-C02) Exam Guide (docs.aws.amazon.com/pdfs/aws-certification/latest/devops-engineer-professional-02).</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Resilience Patterns Worth Adopting.</a:t>
            </a:r>
          </a:p>
          <a:p>
            <a:r>
              <a:t>Multi-AZ by default — Never depend on a single Availability Zone.</a:t>
            </a:r>
          </a:p>
          <a:p>
            <a:r>
              <a:t>Stateless tiers — Push state to RDS/DynamoDB/ElastiCache so any instance is disposable.</a:t>
            </a:r>
          </a:p>
          <a:p>
            <a:r>
              <a:t>Backoff with jitter — Spread retries to avoid synchronised load.</a:t>
            </a:r>
          </a:p>
          <a:p>
            <a:r>
              <a:t>Circuit breaker — Stop calling a failing dependency; fail fast and recover.</a:t>
            </a:r>
          </a:p>
          <a:p>
            <a:r>
              <a:t>Health-check failover — Route 53 / ELB route around unhealthy targets.</a:t>
            </a:r>
          </a:p>
          <a:p>
            <a:r>
              <a:t>Game-days — Rehearse failure so recovery is routine, not heroic.</a:t>
            </a:r>
          </a:p>
          <a:p/>
          <a:p>
            <a:r>
              <a:t>[Sources]</a:t>
            </a:r>
          </a:p>
          <a:p>
            <a:r>
              <a:t>- AWS Well-Architected Framework (docs.aws.amazon.com/wellarchitected).</a:t>
            </a:r>
          </a:p>
          <a:p>
            <a:r>
              <a:t>- AWS Builders' Library Documentation (docs.aws.amazon.com/builders-library).</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Architecture Decision — Which DR Pattern?.</a:t>
            </a:r>
          </a:p>
          <a:p>
            <a:r>
              <a:t>Option A — Backup &amp; Restore: Non-critical or easily rebuilt workloads. Cheapest — but recovery takes hours and loses recent data.</a:t>
            </a:r>
          </a:p>
          <a:p>
            <a:r>
              <a:t>Option B — Pilot Light / Warm Standby: Important workloads needing minutes-scale recovery. A scaled-down copy runs ready to promote — moderate standing cost.</a:t>
            </a:r>
          </a:p>
          <a:p>
            <a:r>
              <a:t>Option C — Multi-site Active/Active: Revenue-critical systems that can't be down. Near-zero RTO/RPO — at roughly double the running cost and real complexity.</a:t>
            </a:r>
          </a:p>
          <a:p/>
          <a:p>
            <a:r>
              <a:t>[Sources]</a:t>
            </a:r>
          </a:p>
          <a:p>
            <a:r>
              <a:t>- AWS Disaster Recovery Documentation (docs.aws.amazon.com/whitepapers/latest/disaster-recovery-workloads-on-aws).</a:t>
            </a:r>
          </a:p>
          <a:p>
            <a:r>
              <a:t>- AWS Certified DevOps Engineer – Professional (DOP-C02) Exam Guide (docs.aws.amazon.com/pdfs/aws-certification/latest/devops-engineer-professional-02).</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Scenario: An AZ becomes impaired. Half the fleet is there, and the primary database node runs in it.</a:t>
            </a:r>
          </a:p>
          <a:p>
            <a:r>
              <a:t>Because compute is stateless behind an ALB across two AZs, the load balancer simply stops routing to the failed AZ.</a:t>
            </a:r>
          </a:p>
          <a:p>
            <a:r>
              <a:t>The Auto Scaling group launches replacement instances in the healthy AZ to restore capacity.</a:t>
            </a:r>
          </a:p>
          <a:p>
            <a:r>
              <a:t>Multi-AZ RDS fails over to the synchronous standby in the other AZ automatically.</a:t>
            </a:r>
          </a:p>
          <a:p>
            <a:r>
              <a:t>Decision: No human action is required for the common case — the design absorbs an AZ loss. Confirm capacity headroom so the healthy AZ can carry full load during the event.</a:t>
            </a:r>
          </a:p>
          <a:p/>
          <a:p>
            <a:r>
              <a:t>[Sources]</a:t>
            </a:r>
          </a:p>
          <a:p>
            <a:r>
              <a:t>- AWS Well-Architected Framework (docs.aws.amazon.com/wellarchitected).</a:t>
            </a:r>
          </a:p>
          <a:p>
            <a:r>
              <a:t>- AWS RDS Multi-AZ Documentation (docs.aws.amazon.com/AmazonRDS/latest/UserGuide/Concepts.MultiAZ.html).</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Scenario: Traffic will rise 6x for a few hours during a sale, then return to normal.</a:t>
            </a:r>
          </a:p>
          <a:p>
            <a:r>
              <a:t>Fixed capacity sized for the peak wastes money the other 360 days; sized for normal, it falls over during the sale.</a:t>
            </a:r>
          </a:p>
          <a:p>
            <a:r>
              <a:t>Scheduled scaling pre-warms capacity just before the known event; target tracking then follows real demand.</a:t>
            </a:r>
          </a:p>
          <a:p>
            <a:r>
              <a:t>Decoupling checkout with SQS lets bursts queue instead of failing when a downstream service saturates.</a:t>
            </a:r>
          </a:p>
          <a:p>
            <a:r>
              <a:t>Decision: Combine scheduled pre-scaling for the known start time with target-tracking for the actual curve, and buffer spiky writes through a queue so load is absorbed as backlog.</a:t>
            </a:r>
          </a:p>
          <a:p/>
          <a:p>
            <a:r>
              <a:t>[Sources]</a:t>
            </a:r>
          </a:p>
          <a:p>
            <a:r>
              <a:t>- AWS EC2 Auto Scaling Documentation (docs.aws.amazon.com/autoscaling).</a:t>
            </a:r>
          </a:p>
          <a:p>
            <a:r>
              <a:t>- AWS SQS Documentation (docs.aws.amazon.com/AWSSimpleQueueService).</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Worked Analysis — Reading an RTO/RPO Requirement.</a:t>
            </a:r>
          </a:p>
          <a:p>
            <a:r>
              <a:t>'Restore within 15 minutes' (RTO) — Rules out backup &amp; restore (hours). Warm standby or pilot light needed.</a:t>
            </a:r>
          </a:p>
          <a:p>
            <a:r>
              <a:t>'Lose at most a few seconds' (RPO) — Requires synchronous or near-real-time replication — Multi-AZ RDS or global tables.</a:t>
            </a:r>
          </a:p>
          <a:p>
            <a:r>
              <a:t>'Survive a Region event' — Forces a cross-Region strategy, not just multi-AZ.</a:t>
            </a:r>
          </a:p>
          <a:p>
            <a:r>
              <a:t>Budget is limited — Pilot light: minimal always-on footprint, scaled up on failover — a pragmatic middle.</a:t>
            </a:r>
          </a:p>
          <a:p>
            <a:r>
              <a:t>Takeaway: Each phrase in the requirement eliminates patterns until one fits — resilience design is requirement-driven, not taste-driven.</a:t>
            </a:r>
          </a:p>
          <a:p/>
          <a:p>
            <a:r>
              <a:t>[Sources]</a:t>
            </a:r>
          </a:p>
          <a:p>
            <a:r>
              <a:t>- AWS Disaster Recovery Documentation (docs.aws.amazon.com/whitepapers/latest/disaster-recovery-workloads-on-aws).</a:t>
            </a:r>
          </a:p>
          <a:p>
            <a:r>
              <a:t>- AWS Certified DevOps Engineer – Professional (DOP-C02) Exam Guide (docs.aws.amazon.com/pdfs/aws-certification/latest/devops-engineer-professional-02).</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 foundations: Compute and elasticity.</a:t>
            </a:r>
          </a:p>
          <a:p>
            <a:r>
              <a:t>PURPOSE: Match execution model and scaling behaviour to availability, latency, control and operational-effort requirements.</a:t>
            </a:r>
          </a:p>
          <a:p>
            <a:r>
              <a:t>FEATURE 1: EC2 exposes instance families, purchase models, launch templates and full operating-system control.</a:t>
            </a:r>
          </a:p>
          <a:p>
            <a:r>
              <a:t>FEATURE 2: Auto Scaling replaces unhealthy capacity and changes desired capacity from metrics or schedules.</a:t>
            </a:r>
          </a:p>
          <a:p>
            <a:r>
              <a:t>FEATURE 3: ALB routes HTTP by host/path; NLB provides high-performance Layer 4 routing and static IP options.</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Compute and elasticity: selection and controls.</a:t>
            </a:r>
          </a:p>
          <a:p>
            <a:r>
              <a:t>CHOOSE WHEN: Use EC2 for host-level control, Lambda for event-driven short execution, and Fargate when containers are wanted without host management.</a:t>
            </a:r>
          </a:p>
          <a:p>
            <a:r>
              <a:t>DEVOPS ENGINEERING: Spread across AZs, use health checks and warm-up, scale on a demand-correlated signal and test replacement capacity.</a:t>
            </a:r>
          </a:p>
          <a:p>
            <a:r>
              <a:t>FAILURE MODE: CPU-only scaling can miss queue depth, concurrency, connection or downstream bottlenecks.</a:t>
            </a:r>
          </a:p>
          <a:p>
            <a:r>
              <a:t>EVIDENCE: Launch-template version, healthy-host count, scaling activity, target latency, saturation and replacement test.</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 foundations: Storage services.</a:t>
            </a:r>
          </a:p>
          <a:p>
            <a:r>
              <a:t>PURPOSE: Select durable object, block or shared-file storage with lifecycle and recovery controls matched to the workload.</a:t>
            </a:r>
          </a:p>
          <a:p>
            <a:r>
              <a:t>FEATURE 1: S3 provides regional object durability, versioning, lifecycle tiers, replication and event notifications.</a:t>
            </a:r>
          </a:p>
          <a:p>
            <a:r>
              <a:t>FEATURE 2: EBS is AZ-scoped block storage with volume types, snapshots and encryption.</a:t>
            </a:r>
          </a:p>
          <a:p>
            <a:r>
              <a:t>FEATURE 3: EFS is elastic regional NFS; FSx supplies managed file systems such as Windows, Lustre, NetApp ONTAP and OpenZFS.</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Storage services: selection and controls.</a:t>
            </a:r>
          </a:p>
          <a:p>
            <a:r>
              <a:t>CHOOSE WHEN: Choose from access protocol, latency/throughput, sharing scope, AZ/Region boundary, retention and recovery objectives.</a:t>
            </a:r>
          </a:p>
          <a:p>
            <a:r>
              <a:t>DEVOPS ENGINEERING: Encrypt, version, block public access, automate backup/copy, test restore and separate backup administration.</a:t>
            </a:r>
          </a:p>
          <a:p>
            <a:r>
              <a:t>FAILURE MODE: Replication improves availability but can replicate corruption or deletion; it is not automatically a backup.</a:t>
            </a:r>
          </a:p>
          <a:p>
            <a:r>
              <a:t>EVIDENCE: Storage class/volume type, encryption key, version/snapshot, replication status, restore test and recovery age.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 foundations: Databases and data durability.</a:t>
            </a:r>
          </a:p>
          <a:p>
            <a:r>
              <a:t>PURPOSE: Provide transactional or key-value persistence with availability, scaling and recovery appropriate to data access patterns.</a:t>
            </a:r>
          </a:p>
          <a:p>
            <a:r>
              <a:t>FEATURE 1: RDS Multi-AZ provides synchronous standby/failover; read replicas primarily scale reads.</a:t>
            </a:r>
          </a:p>
          <a:p>
            <a:r>
              <a:t>FEATURE 2: Aurora separates compute/storage, supports reader endpoints and Global Database options.</a:t>
            </a:r>
          </a:p>
          <a:p>
            <a:r>
              <a:t>FEATURE 3: DynamoDB offers partitioned key-value/document storage, on-demand/provisioned capacity, PITR, Streams and global tables.</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Databases and data durability: selection and controls.</a:t>
            </a:r>
          </a:p>
          <a:p>
            <a:r>
              <a:t>CHOOSE WHEN: Choose relational services for joins/transactions and DynamoDB for known key-access patterns at elastic scale; cache only where stale-data semantics are acceptable.</a:t>
            </a:r>
          </a:p>
          <a:p>
            <a:r>
              <a:t>DEVOPS ENGINEERING: Enable backups/PITR, test failover/restore, monitor connections/lag/throttling and version schema changes.</a:t>
            </a:r>
          </a:p>
          <a:p>
            <a:r>
              <a:t>FAILURE MODE: Confusing a read replica with a synchronous standby can produce an incorrect recovery design.</a:t>
            </a:r>
          </a:p>
          <a:p>
            <a:r>
              <a:t>EVIDENCE: Backup/PITR state, replication lag, failover time, throttles, query latency and restore validation.</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 foundations: Networking and global delivery.</a:t>
            </a:r>
          </a:p>
          <a:p>
            <a:r>
              <a:t>PURPOSE: Create isolated network boundaries, predictable routing and resilient regional/global traffic paths.</a:t>
            </a:r>
          </a:p>
          <a:p>
            <a:r>
              <a:t>FEATURE 1: VPC subnets are AZ-scoped; route tables, gateways, security groups and NACLs shape connectivity.</a:t>
            </a:r>
          </a:p>
          <a:p>
            <a:r>
              <a:t>FEATURE 2: Transit Gateway provides hub-and-spoke routing across VPCs and on-premises connections.</a:t>
            </a:r>
          </a:p>
          <a:p>
            <a:r>
              <a:t>FEATURE 3: Route 53 uses DNS policies/health checks; CloudFront caches HTTP content; Global Accelerator uses anycast static IPs over the AWS network.</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Networking and global delivery: selection and controls.</a:t>
            </a:r>
          </a:p>
          <a:p>
            <a:r>
              <a:t>CHOOSE WHEN: Choose DNS routing for endpoint selection, CloudFront for cacheable edge delivery and Global Accelerator for fast failover/static global entry points.</a:t>
            </a:r>
          </a:p>
          <a:p>
            <a:r>
              <a:t>DEVOPS ENGINEERING: Design CIDRs and routes centrally, use private endpoints where appropriate, test health-check perspective and log network decisions.</a:t>
            </a:r>
          </a:p>
          <a:p>
            <a:r>
              <a:t>FAILURE MODE: A healthy load balancer check may not prove dependencies, data freshness or the user transaction is healthy.</a:t>
            </a:r>
          </a:p>
          <a:p>
            <a:r>
              <a:t>EVIDENCE: Route table, security-group diff, flow log, endpoint policy, DNS answer, edge metric and failover measurement.</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Developer deep dive: EC2, Auto Scaling and Elastic Load Balancing.</a:t>
            </a:r>
          </a:p>
          <a:p>
            <a:r>
              <a:t>PURPOSE: Build replaceable compute fleets whose capacity, routing and health behavior reflect the actual workload bottleneck.</a:t>
            </a:r>
          </a:p>
          <a:p>
            <a:r>
              <a:t>SERVICE BOUNDARY: EC2 · launch templates · Auto Scaling · ALB/NLB/GWLB</a:t>
            </a:r>
          </a:p>
          <a:p>
            <a:r>
              <a:t>PRIMARY DESIGN DECISION: Scale from backlog per instance, cap maximum capacity from database throughput, warm instances before service and test Spot interruption handling.</a:t>
            </a:r>
          </a:p>
          <a:p>
            <a:r>
              <a:t>FAILURE BOUNDARY: CPU target tracking never reacts to the true bottleneck; immediate termination can abandon in-flight messages.</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EC2, Auto Scaling and Elastic Load Balancing: how it works.</a:t>
            </a:r>
          </a:p>
          <a:p>
            <a:r>
              <a:t>MECHANIC 1: Launch templates version AMI, instance type, IAM profile, network and user data; Auto Scaling groups should reference a controlled version rather than an accidental latest value.</a:t>
            </a:r>
          </a:p>
          <a:p>
            <a:r>
              <a:t>MECHANIC 2: Target-tracking, step, predictive and scheduled scaling solve different demand patterns and must account for warm-up and downstream capacity.</a:t>
            </a:r>
          </a:p>
          <a:p>
            <a:r>
              <a:t>MECHANIC 3: ALB routes HTTP/HTTPS using host, path and headers; NLB handles Layer 4 flows and static addresses; GWLB inserts compatible network appliances.</a:t>
            </a:r>
          </a:p>
          <a:p>
            <a:r>
              <a:t>MECHANIC 4: EC2, load-balancer and custom health checks serve different purposes; replacement should use the signal that best represents serviceability.</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EC2, Auto Scaling and Elastic Load Balancing: operating flow.</a:t>
            </a:r>
          </a:p>
          <a:p>
            <a:r>
              <a:t>Publish immutable AMI</a:t>
            </a:r>
          </a:p>
          <a:p>
            <a:r>
              <a:t>Create launch-template version</a:t>
            </a:r>
          </a:p>
          <a:p>
            <a:r>
              <a:t>Start multi-AZ capacity</a:t>
            </a:r>
          </a:p>
          <a:p>
            <a:r>
              <a:t>Register healthy targets</a:t>
            </a:r>
          </a:p>
          <a:p>
            <a:r>
              <a:t>Scale from demand signal</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EC2, Auto Scaling and Elastic Load Balancing: configuration decisions.</a:t>
            </a:r>
          </a:p>
          <a:p>
            <a:r>
              <a:t>PURCHASE: Combine On-Demand, Spot and commitments from interruption tolerance and baseline demand, not from unit price alone.</a:t>
            </a:r>
          </a:p>
          <a:p>
            <a:r>
              <a:t>SCALING METRIC: Use request count, queue depth or concurrency when CPU does not track the true saturation point.</a:t>
            </a:r>
          </a:p>
          <a:p>
            <a:r>
              <a:t>REFRESH: Use instance refresh with checkpoints and minimum healthy percentage for controlled fleet replacement.</a:t>
            </a:r>
          </a:p>
          <a:p>
            <a:r>
              <a:t>CONNECTION HANDLING: Set deregistration delay and application shutdown so in-flight work completes during replacement.</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EC2, Auto Scaling and Elastic Load Balancing: worked architecture decision.</a:t>
            </a:r>
          </a:p>
          <a:p>
            <a:r>
              <a:t>SCENARIO: A queue worker fleet has low CPU but an increasing backlog and must recover without overwhelming the database.</a:t>
            </a:r>
          </a:p>
          <a:p>
            <a:r>
              <a:t>DESIGN DECISION: Scale from backlog per instance, cap maximum capacity from database throughput, warm instances before service and test Spot interruption handling.</a:t>
            </a:r>
          </a:p>
          <a:p>
            <a:r>
              <a:t>FAILURE TO AVOID: CPU target tracking never reacts to the true bottleneck; immediate termination can abandon in-flight messages.</a:t>
            </a:r>
          </a:p>
          <a:p>
            <a:r>
              <a:t>ACCEPTANCE EVIDENCE: Launch-template version, healthy targets, scaling activity, backlog age, database saturation and graceful termination evidence.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Developer deep dive: S3, EBS and shared file storage.</a:t>
            </a:r>
          </a:p>
          <a:p>
            <a:r>
              <a:t>PURPOSE: Choose object, block or file semantics from access pattern, failure boundary, performance and recovery requirements.</a:t>
            </a:r>
          </a:p>
          <a:p>
            <a:r>
              <a:t>SERVICE BOUNDARY: S3 · EBS · EFS · FSx · AWS Backup</a:t>
            </a:r>
          </a:p>
          <a:p>
            <a:r>
              <a:t>PRIMARY DESIGN DECISION: Use regional EFS with mount targets across application AZs, encrypted transit/storage and independent AWS Backup policy with restore testing.</a:t>
            </a:r>
          </a:p>
          <a:p>
            <a:r>
              <a:t>FAILURE BOUNDARY: An EBS volume cannot attach across AZs as shared NFS; replication alone may reproduce deletion or corruption.</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S3, EBS and shared file storage: how it works.</a:t>
            </a:r>
          </a:p>
          <a:p>
            <a:r>
              <a:t>MECHANIC 1: S3 stores objects in regional buckets with versioning, lifecycle, replication, event notification and multiple storage classes; consistency does not remove application concurrency concerns.</a:t>
            </a:r>
          </a:p>
          <a:p>
            <a:r>
              <a:t>MECHANIC 2: EBS is AZ-scoped block storage; gp3 separates baseline size from provisioned IOPS/throughput, while io2 targets sustained high IOPS and durability requirements.</a:t>
            </a:r>
          </a:p>
          <a:p>
            <a:r>
              <a:t>MECHANIC 3: EFS provides regional NFS with mount targets and performance/throughput modes; access points isolate application paths and POSIX identities.</a:t>
            </a:r>
          </a:p>
          <a:p>
            <a:r>
              <a:t>MECHANIC 4: FSx families expose workload-specific file protocols and performance, while AWS Backup centralizes policy, vault and copy workflows across supported services.</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S3, EBS and shared file storage: operating flow.</a:t>
            </a:r>
          </a:p>
          <a:p>
            <a:r>
              <a:t>Classify protocol and sharing</a:t>
            </a:r>
          </a:p>
          <a:p>
            <a:r>
              <a:t>Select performance tier</a:t>
            </a:r>
          </a:p>
          <a:p>
            <a:r>
              <a:t>Encrypt and version</a:t>
            </a:r>
          </a:p>
          <a:p>
            <a:r>
              <a:t>Automate lifecycle or backup</a:t>
            </a:r>
          </a:p>
          <a:p>
            <a:r>
              <a:t>Restore and measure RPO/RTO</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S3, EBS and shared file storage: configuration decisions.</a:t>
            </a:r>
          </a:p>
          <a:p>
            <a:r>
              <a:t>S3 PROTECTION: Enable Block Public Access, least-privilege bucket policy, versioning and Object Lock where retention requires immutability.</a:t>
            </a:r>
          </a:p>
          <a:p>
            <a:r>
              <a:t>EBS RECOVERY: Use application-consistent snapshots where necessary and copy/encrypt across account or Region for isolation.</a:t>
            </a:r>
          </a:p>
          <a:p>
            <a:r>
              <a:t>EFS DESIGN: Create mount targets in required AZs, secure NFS traffic and choose lifecycle policies from measured access.</a:t>
            </a:r>
          </a:p>
          <a:p>
            <a:r>
              <a:t>BACKUP: Separate backup administration and vault permissions so workload compromise cannot delete every recovery point.</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S3, EBS and shared file storage: worked architecture decision.</a:t>
            </a:r>
          </a:p>
          <a:p>
            <a:r>
              <a:t>SCENARIO: A shared application volume must survive one AZ failure and retain recoverable versions against accidental deletion.</a:t>
            </a:r>
          </a:p>
          <a:p>
            <a:r>
              <a:t>DESIGN DECISION: Use regional EFS with mount targets across application AZs, encrypted transit/storage and independent AWS Backup policy with restore testing.</a:t>
            </a:r>
          </a:p>
          <a:p>
            <a:r>
              <a:t>FAILURE TO AVOID: An EBS volume cannot attach across AZs as shared NFS; replication alone may reproduce deletion or corruption.</a:t>
            </a:r>
          </a:p>
          <a:p>
            <a:r>
              <a:t>ACCEPTANCE EVIDENCE: Storage configuration, encryption key, version/snapshot, backup job, vault policy, restore checksum and recovery timing.</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2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Developer deep dive: RDS, Aurora and ElastiCache data tiers.</a:t>
            </a:r>
          </a:p>
          <a:p>
            <a:r>
              <a:t>PURPOSE: Provide transactional persistence and caching while distinguishing availability, read scaling, connection management and disaster recovery.</a:t>
            </a:r>
          </a:p>
          <a:p>
            <a:r>
              <a:t>SERVICE BOUNDARY: RDS · Aurora · RDS Proxy · ElastiCache</a:t>
            </a:r>
          </a:p>
          <a:p>
            <a:r>
              <a:t>PRIMARY DESIGN DECISION: Keep writes on the relational writer, add RDS Proxy for pooled connections, direct safe reads to replicas and cache only explicitly stale-tolerant data.</a:t>
            </a:r>
          </a:p>
          <a:p>
            <a:r>
              <a:t>FAILURE BOUNDARY: Caching transaction state or treating replica reads as immediately current creates correctness defects hidden by low latency.</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2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RDS, Aurora and ElastiCache data tiers: how it works.</a:t>
            </a:r>
          </a:p>
          <a:p>
            <a:r>
              <a:t>MECHANIC 1: RDS Multi-AZ deployments provide synchronous standby behavior for availability; read replicas are asynchronous and primarily serve read scaling or DR patterns.</a:t>
            </a:r>
          </a:p>
          <a:p>
            <a:r>
              <a:t>MECHANIC 2: Aurora separates distributed storage from compute, exposes writer and reader endpoints and can add Global Database for cross-Region read and recovery designs.</a:t>
            </a:r>
          </a:p>
          <a:p>
            <a:r>
              <a:t>MECHANIC 3: RDS Proxy pools connections and can protect databases from serverless connection storms while integrating with IAM or Secrets Manager authentication.</a:t>
            </a:r>
          </a:p>
          <a:p>
            <a:r>
              <a:t>MECHANIC 4: ElastiCache for Redis/Valkey or Memcached changes latency and load but introduces eviction, expiry and stale-data semantics that the application must own.</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2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RDS, Aurora and ElastiCache data tiers: operating flow.</a:t>
            </a:r>
          </a:p>
          <a:p>
            <a:r>
              <a:t>Model transaction and read pattern</a:t>
            </a:r>
          </a:p>
          <a:p>
            <a:r>
              <a:t>Select HA topology</a:t>
            </a:r>
          </a:p>
          <a:p>
            <a:r>
              <a:t>Control connections</a:t>
            </a:r>
          </a:p>
          <a:p>
            <a:r>
              <a:t>Add cache deliberately</a:t>
            </a:r>
          </a:p>
          <a:p>
            <a:r>
              <a:t>Back up, fail over and restore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2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RDS, Aurora and ElastiCache data tiers: configuration decisions.</a:t>
            </a:r>
          </a:p>
          <a:p>
            <a:r>
              <a:t>STANDBY VS REPLICA: Use Multi-AZ for service continuity and replicas for read capacity; do not claim a replica is synchronous unless the selected architecture provides it.</a:t>
            </a:r>
          </a:p>
          <a:p>
            <a:r>
              <a:t>CREDENTIALS: Store and rotate database secrets or use IAM authentication where supported; keep credentials out of application packages.</a:t>
            </a:r>
          </a:p>
          <a:p>
            <a:r>
              <a:t>CACHE POLICY: Choose cache-aside, write-through or other behavior with explicit TTL, invalidation and failure fallback.</a:t>
            </a:r>
          </a:p>
          <a:p>
            <a:r>
              <a:t>SCHEMA CHANGE: Use backward-compatible expansion and contraction so application and database versions can overlap during deployment.</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RDS, Aurora and ElastiCache data tiers: worked architecture decision.</a:t>
            </a:r>
          </a:p>
          <a:p>
            <a:r>
              <a:t>SCENARIO: A Lambda workload causes connection spikes and read latency during release, but writes must remain strongly transactional.</a:t>
            </a:r>
          </a:p>
          <a:p>
            <a:r>
              <a:t>DESIGN DECISION: Keep writes on the relational writer, add RDS Proxy for pooled connections, direct safe reads to replicas and cache only explicitly stale-tolerant data.</a:t>
            </a:r>
          </a:p>
          <a:p>
            <a:r>
              <a:t>FAILURE TO AVOID: Caching transaction state or treating replica reads as immediately current creates correctness defects hidden by low latency.</a:t>
            </a:r>
          </a:p>
          <a:p>
            <a:r>
              <a:t>ACCEPTANCE EVIDENCE: Connection count, replica lag, failover event, cache hit/eviction, query latency, backup status and restore validation.</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Developer deep dive: DynamoDB keys, capacity and change streams.</a:t>
            </a:r>
          </a:p>
          <a:p>
            <a:r>
              <a:t>PURPOSE: Design key-value workloads from access patterns, partition distribution and consistency requirements before writing application code.</a:t>
            </a:r>
          </a:p>
          <a:p>
            <a:r>
              <a:t>SERVICE BOUNDARY: DynamoDB · Streams · DAX · global tables</a:t>
            </a:r>
          </a:p>
          <a:p>
            <a:r>
              <a:t>PRIMARY DESIGN DECISION: Increase partition-key cardinality with a controlled shard suffix, retain tenant/time queryability through an index or aggregation path and add jittered retries.</a:t>
            </a:r>
          </a:p>
          <a:p>
            <a:r>
              <a:t>FAILURE BOUNDARY: Raising total capacity alone does not redistribute a single hot logical key; blind retries can amplify throttling.</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DynamoDB keys, capacity and change streams: how it works.</a:t>
            </a:r>
          </a:p>
          <a:p>
            <a:r>
              <a:t>MECHANIC 1: Partition and optional sort keys define item placement and query order; scans read broadly and are not a substitute for a missing access pattern.</a:t>
            </a:r>
          </a:p>
          <a:p>
            <a:r>
              <a:t>MECHANIC 2: Global secondary indexes add alternate partition/sort keys and their own capacity behavior; local secondary indexes share the base partition key and must be created with the table.</a:t>
            </a:r>
          </a:p>
          <a:p>
            <a:r>
              <a:t>MECHANIC 3: On-demand capacity absorbs variable traffic, while provisioned capacity and auto scaling fit predictable demand; both can throttle hot partitions.</a:t>
            </a:r>
          </a:p>
          <a:p>
            <a:r>
              <a:t>MECHANIC 4: Streams capture item-level changes for time-bounded processing; TTL expiration, transactions, conditional writes and global tables solve different lifecycle and concurrency problems.</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DynamoDB keys, capacity and change streams: operating flow.</a:t>
            </a:r>
          </a:p>
          <a:p>
            <a:r>
              <a:t>List access patterns</a:t>
            </a:r>
          </a:p>
          <a:p>
            <a:r>
              <a:t>Choose high-cardinality key</a:t>
            </a:r>
          </a:p>
          <a:p>
            <a:r>
              <a:t>Add only required indexes</a:t>
            </a:r>
          </a:p>
          <a:p>
            <a:r>
              <a:t>Handle throttling/idempotency</a:t>
            </a:r>
          </a:p>
          <a:p>
            <a:r>
              <a:t>Process stream and monitor lag</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DynamoDB keys, capacity and change streams: configuration decisions.</a:t>
            </a:r>
          </a:p>
          <a:p>
            <a:r>
              <a:t>CONSISTENCY: Strongly consistent reads are available only on supported base-table/index paths and cost more read capacity; global replication remains asynchronous.</a:t>
            </a:r>
          </a:p>
          <a:p>
            <a:r>
              <a:t>CONCURRENCY: Use condition expressions or transactions to prevent lost updates and duplicate state transitions.</a:t>
            </a:r>
          </a:p>
          <a:p>
            <a:r>
              <a:t>LARGE OBJECTS: Store large payloads in S3 and keep an object reference plus integrity metadata in the item.</a:t>
            </a:r>
          </a:p>
          <a:p>
            <a:r>
              <a:t>HOT KEYS: Write-shard only after understanding the required read aggregation and operational complexity.</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DynamoDB keys, capacity and change streams: worked architecture decision.</a:t>
            </a:r>
          </a:p>
          <a:p>
            <a:r>
              <a:t>SCENARIO: An event-ingestion table throttles one tenant even though overall capacity is below the configured total.</a:t>
            </a:r>
          </a:p>
          <a:p>
            <a:r>
              <a:t>DESIGN DECISION: Increase partition-key cardinality with a controlled shard suffix, retain tenant/time queryability through an index or aggregation path and add jittered retries.</a:t>
            </a:r>
          </a:p>
          <a:p>
            <a:r>
              <a:t>FAILURE TO AVOID: Raising total capacity alone does not redistribute a single hot logical key; blind retries can amplify throttling.</a:t>
            </a:r>
          </a:p>
          <a:p>
            <a:r>
              <a:t>ACCEPTANCE EVIDENCE: Consumed capacity by operation, throttled requests, key distribution sample, index metrics, stream iterator age and conditional-write failures.</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Developer deep dive: VPC, DNS and global content delivery.</a:t>
            </a:r>
          </a:p>
          <a:p>
            <a:r>
              <a:t>PURPOSE: Control application reachability and global user paths across routing, security, name resolution, caching and failover layers.</a:t>
            </a:r>
          </a:p>
          <a:p>
            <a:r>
              <a:t>SERVICE BOUNDARY: VPC · PrivateLink · Route 53 · CloudFront · Global Accelerator</a:t>
            </a:r>
          </a:p>
          <a:p>
            <a:r>
              <a:t>PRIMARY DESIGN DECISION: Use a private API endpoint with interface endpoints or controlled network connectivity, private DNS and layered endpoint/resource policies.</a:t>
            </a:r>
          </a:p>
          <a:p>
            <a:r>
              <a:t>FAILURE BOUNDARY: A private subnet label provides no isolation by itself; missing routes or broad endpoint policies can defeat the intended boundary.</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VPC, DNS and global content delivery: how it works.</a:t>
            </a:r>
          </a:p>
          <a:p>
            <a:r>
              <a:t>MECHANIC 1: Subnets are AZ-scoped, route tables choose next hops, security groups are stateful and NACLs are stateless; each layer answers a different connectivity question.</a:t>
            </a:r>
          </a:p>
          <a:p>
            <a:r>
              <a:t>MECHANIC 2: Gateway and interface VPC endpoints keep supported service traffic on AWS networks and can apply endpoint policies as an additional authorization boundary.</a:t>
            </a:r>
          </a:p>
          <a:p>
            <a:r>
              <a:t>MECHANIC 3: Route 53 policies choose DNS answers from health, latency, geography, weights or failover; TTL controls how quickly resolvers can observe changes.</a:t>
            </a:r>
          </a:p>
          <a:p>
            <a:r>
              <a:t>MECHANIC 4: CloudFront caches HTTP content at the edge using cache and origin-request policies, while Global Accelerator provides static anycast entry addresses and fast endpoint routing.</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VPC, DNS and global content delivery: operating flow.</a:t>
            </a:r>
          </a:p>
          <a:p>
            <a:r>
              <a:t>Resolve name</a:t>
            </a:r>
          </a:p>
          <a:p>
            <a:r>
              <a:t>Route to edge or Region</a:t>
            </a:r>
          </a:p>
          <a:p>
            <a:r>
              <a:t>Evaluate network policy</a:t>
            </a:r>
          </a:p>
          <a:p>
            <a:r>
              <a:t>Reach healthy origin</a:t>
            </a:r>
          </a:p>
          <a:p>
            <a:r>
              <a:t>Log and measure user path</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VPC, DNS and global content delivery: configuration decisions.</a:t>
            </a:r>
          </a:p>
          <a:p>
            <a:r>
              <a:t>PRIVATE ACCESS: Use endpoints and private DNS for service APIs where egress control matters; verify endpoint and resource policies together.</a:t>
            </a:r>
          </a:p>
          <a:p>
            <a:r>
              <a:t>CACHING: Build cache keys only from values that change the response and protect private content with signed access patterns.</a:t>
            </a:r>
          </a:p>
          <a:p>
            <a:r>
              <a:t>FAILOVER: Health checks must represent the user transaction and account for DNS caching or connection persistence.</a:t>
            </a:r>
          </a:p>
          <a:p>
            <a:r>
              <a:t>TROUBLESHOOTING: Check DNS, routes, security groups, NACL return paths, endpoint policy, target health and application logs in order.</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2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VPC, DNS and global content delivery: worked architecture decision.</a:t>
            </a:r>
          </a:p>
          <a:p>
            <a:r>
              <a:t>SCENARIO: A private API must be consumed by workloads in several VPCs and expose no public internet path.</a:t>
            </a:r>
          </a:p>
          <a:p>
            <a:r>
              <a:t>DESIGN DECISION: Use a private API endpoint with interface endpoints or controlled network connectivity, private DNS and layered endpoint/resource policies.</a:t>
            </a:r>
          </a:p>
          <a:p>
            <a:r>
              <a:t>FAILURE TO AVOID: A private subnet label provides no isolation by itself; missing routes or broad endpoint policies can defeat the intended boundary.</a:t>
            </a:r>
          </a:p>
          <a:p>
            <a:r>
              <a:t>ACCEPTANCE EVIDENCE: DNS response, route path, endpoint ID/policy, flow log, target health, access log and reachability analysis.</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2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Availability requirements and failure modes.</a:t>
            </a:r>
          </a:p>
          <a:p>
            <a:r>
              <a:t>OUTCOME: Translate business impact into explicit availability, recovery and dependency requirements.</a:t>
            </a:r>
          </a:p>
          <a:p>
            <a:r>
              <a:t>ARCHITECTURE: Model component failure domains, remove single points of failure and test degraded modes before selecting services.</a:t>
            </a:r>
          </a:p>
          <a:p>
            <a:r>
              <a:t>FAILURE MODE: Adding replicas does not help when they share the same failure domain or control-plane dependency.</a:t>
            </a:r>
          </a:p>
          <a:p>
            <a:r>
              <a:t>EVIDENCE: Availability target, dependency map, failure-mode analysis, resilience recommendation and test result.</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2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Availability requirements and failure modes: operating flow.</a:t>
            </a:r>
          </a:p>
          <a:p>
            <a:r>
              <a:t>Define impact</a:t>
            </a:r>
          </a:p>
          <a:p>
            <a:r>
              <a:t>Map dependencies</a:t>
            </a:r>
          </a:p>
          <a:p>
            <a:r>
              <a:t>Identify failure domains</a:t>
            </a:r>
          </a:p>
          <a:p>
            <a:r>
              <a:t>Design controls</a:t>
            </a:r>
          </a:p>
          <a:p>
            <a:r>
              <a:t>Test failure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2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Availability requirements and failure modes: design decision.</a:t>
            </a:r>
          </a:p>
          <a:p>
            <a:r>
              <a:t>SCENARIO: An order service must remain available through an Availability Zone outage.</a:t>
            </a:r>
          </a:p>
          <a:p>
            <a:r>
              <a:t>DESIGN RESPONSE: Model component failure domains, remove single points of failure and test degraded modes before selecting services.</a:t>
            </a:r>
          </a:p>
          <a:p>
            <a:r>
              <a:t>PRIMARY SERVICES: Multi-AZ · AWS Resilience Hub · Well-Architected Tool</a:t>
            </a:r>
          </a:p>
          <a:p>
            <a:r>
              <a:t>FAILURE MODE: Adding replicas does not help when they share the same failure domain or control-plane dependency.</a:t>
            </a:r>
          </a:p>
          <a:p>
            <a:r>
              <a:t>PROOF: Availability target, dependency map, failure-mode analysis, resilience recommendation and test result.</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2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Availability requirements and failure modes: failure diagnostic.</a:t>
            </a:r>
          </a:p>
          <a:p>
            <a:r>
              <a:t>RECOGNISE: Observable failure condition: Adding replicas does not help when they share the same failure domain or control-plane dependency.</a:t>
            </a:r>
          </a:p>
          <a:p>
            <a:r>
              <a:t>CONTAIN: Pause promotion, preserve evidence and reduce impact without destroying diagnostic state.</a:t>
            </a:r>
          </a:p>
          <a:p>
            <a:r>
              <a:t>DIAGNOSE: Trace the workflow from Define impact through Test failure; compare intended configuration with runtime state.</a:t>
            </a:r>
          </a:p>
          <a:p>
            <a:r>
              <a:t>RECOVER: Restore the last known-good state, then prove recovery with Availability target, dependency map, failure-mode analysis, resilience recommendation and test result.</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2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Availability requirements and failure modes: worked decision.</a:t>
            </a:r>
          </a:p>
          <a:p>
            <a:r>
              <a:t>CONSTRAINT: An order service must remain available through an Availability Zone outage.</a:t>
            </a:r>
          </a:p>
          <a:p>
            <a:r>
              <a:t>DECISION: Model component failure domains, remove single points of failure and test degraded modes before selecting services.</a:t>
            </a:r>
          </a:p>
          <a:p>
            <a:r>
              <a:t>WHY ALTERNATIVES LOSE: Reject options that do not change the stated failure boundary: Adding replicas does not help when they share the same failure domain or control-plane dependency.</a:t>
            </a:r>
          </a:p>
          <a:p>
            <a:r>
              <a:t>ACCEPTANCE TEST: The decision is complete only when this proof exists: Availability target, dependency map, failure-mode analysis, resilience recommendation and test result.</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2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Elastic compute and load distribution.</a:t>
            </a:r>
          </a:p>
          <a:p>
            <a:r>
              <a:t>OUTCOME: Match scaling signals, capacity buffers and load-balancer health to workload behavior.</a:t>
            </a:r>
          </a:p>
          <a:p>
            <a:r>
              <a:t>ARCHITECTURE: Use target tracking where possible, warm-up periods, lifecycle hooks, multiple AZs and meaningful health checks.</a:t>
            </a:r>
          </a:p>
          <a:p>
            <a:r>
              <a:t>FAILURE MODE: CPU is a poor scaling signal for queue-driven or latency-bound workloads.</a:t>
            </a:r>
          </a:p>
          <a:p>
            <a:r>
              <a:t>EVIDENCE: Scaling policy, metric math, warm-up, lifecycle state, target health and capacity event.</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2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Elastic compute and load distribution: operating flow.</a:t>
            </a:r>
          </a:p>
          <a:p>
            <a:r>
              <a:t>Measure demand</a:t>
            </a:r>
          </a:p>
          <a:p>
            <a:r>
              <a:t>Scale target</a:t>
            </a:r>
          </a:p>
          <a:p>
            <a:r>
              <a:t>Launch</a:t>
            </a:r>
          </a:p>
          <a:p>
            <a:r>
              <a:t>Warm and validate</a:t>
            </a:r>
          </a:p>
          <a:p>
            <a:r>
              <a:t>Register</a:t>
            </a:r>
          </a:p>
          <a:p>
            <a:r>
              <a:t>Rebalance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2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Elastic compute and load distribution: design decision.</a:t>
            </a:r>
          </a:p>
          <a:p>
            <a:r>
              <a:t>SCENARIO: Traffic spikes arrive in ten minutes, but new instances need eight minutes to become healthy.</a:t>
            </a:r>
          </a:p>
          <a:p>
            <a:r>
              <a:t>DESIGN RESPONSE: Use target tracking where possible, warm-up periods, lifecycle hooks, multiple AZs and meaningful health checks.</a:t>
            </a:r>
          </a:p>
          <a:p>
            <a:r>
              <a:t>PRIMARY SERVICES: Auto Scaling · ALB · NLB · EC2 Fleet</a:t>
            </a:r>
          </a:p>
          <a:p>
            <a:r>
              <a:t>FAILURE MODE: CPU is a poor scaling signal for queue-driven or latency-bound workloads.</a:t>
            </a:r>
          </a:p>
          <a:p>
            <a:r>
              <a:t>PROOF: Scaling policy, metric math, warm-up, lifecycle state, target health and capacity event.</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2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Elastic compute and load distribution: failure diagnostic.</a:t>
            </a:r>
          </a:p>
          <a:p>
            <a:r>
              <a:t>RECOGNISE: Observable failure condition: CPU is a poor scaling signal for queue-driven or latency-bound workloads.</a:t>
            </a:r>
          </a:p>
          <a:p>
            <a:r>
              <a:t>CONTAIN: Pause promotion, preserve evidence and reduce impact without destroying diagnostic state.</a:t>
            </a:r>
          </a:p>
          <a:p>
            <a:r>
              <a:t>DIAGNOSE: Trace the workflow from Measure demand through Rebalance; compare intended configuration with runtime state.</a:t>
            </a:r>
          </a:p>
          <a:p>
            <a:r>
              <a:t>RECOVER: Restore the last known-good state, then prove recovery with Scaling policy, metric math, warm-up, lifecycle state, target health and capacity event.</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2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Elastic compute and load distribution: worked decision.</a:t>
            </a:r>
          </a:p>
          <a:p>
            <a:r>
              <a:t>CONSTRAINT: Traffic spikes arrive in ten minutes, but new instances need eight minutes to become healthy.</a:t>
            </a:r>
          </a:p>
          <a:p>
            <a:r>
              <a:t>DECISION: Use target tracking where possible, warm-up periods, lifecycle hooks, multiple AZs and meaningful health checks.</a:t>
            </a:r>
          </a:p>
          <a:p>
            <a:r>
              <a:t>WHY ALTERNATIVES LOSE: Reject options that do not change the stated failure boundary: CPU is a poor scaling signal for queue-driven or latency-bound workloads.</a:t>
            </a:r>
          </a:p>
          <a:p>
            <a:r>
              <a:t>ACCEPTANCE TEST: The decision is complete only when this proof exists: Scaling policy, metric math, warm-up, lifecycle state, target health and capacity event.</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2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DNS and multi-Region traffic control.</a:t>
            </a:r>
          </a:p>
          <a:p>
            <a:r>
              <a:t>OUTCOME: Route users according to health, latency, geography and recovery objectives.</a:t>
            </a:r>
          </a:p>
          <a:p>
            <a:r>
              <a:t>ARCHITECTURE: Combine endpoint health with failover or latency policies; understand DNS caching and use anycast when convergence must be faster.</a:t>
            </a:r>
          </a:p>
          <a:p>
            <a:r>
              <a:t>FAILURE MODE: A low TTL cannot force clients or resolvers to refresh immediately.</a:t>
            </a:r>
          </a:p>
          <a:p>
            <a:r>
              <a:t>EVIDENCE: Routing policy, health-check state, TTL, endpoint weight and observed failover time.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2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DNS and multi-Region traffic control: operating flow.</a:t>
            </a:r>
          </a:p>
          <a:p>
            <a:r>
              <a:t>Probe endpoint</a:t>
            </a:r>
          </a:p>
          <a:p>
            <a:r>
              <a:t>Evaluate policy</a:t>
            </a:r>
          </a:p>
          <a:p>
            <a:r>
              <a:t>Return target</a:t>
            </a:r>
          </a:p>
          <a:p>
            <a:r>
              <a:t>Observe health</a:t>
            </a:r>
          </a:p>
          <a:p>
            <a:r>
              <a:t>Fail over</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2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DNS and multi-Region traffic control: design decision.</a:t>
            </a:r>
          </a:p>
          <a:p>
            <a:r>
              <a:t>SCENARIO: A global API needs regional failover within one minute with stable client endpoints.</a:t>
            </a:r>
          </a:p>
          <a:p>
            <a:r>
              <a:t>DESIGN RESPONSE: Combine endpoint health with failover or latency policies; understand DNS caching and use anycast when convergence must be faster.</a:t>
            </a:r>
          </a:p>
          <a:p>
            <a:r>
              <a:t>PRIMARY SERVICES: Route 53 · Global Accelerator · CloudFront</a:t>
            </a:r>
          </a:p>
          <a:p>
            <a:r>
              <a:t>FAILURE MODE: A low TTL cannot force clients or resolvers to refresh immediately.</a:t>
            </a:r>
          </a:p>
          <a:p>
            <a:r>
              <a:t>PROOF: Routing policy, health-check state, TTL, endpoint weight and observed failover time.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2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DNS and multi-Region traffic control: failure diagnostic.</a:t>
            </a:r>
          </a:p>
          <a:p>
            <a:r>
              <a:t>RECOGNISE: Observable failure condition: A low TTL cannot force clients or resolvers to refresh immediately.</a:t>
            </a:r>
          </a:p>
          <a:p>
            <a:r>
              <a:t>CONTAIN: Pause promotion, preserve evidence and reduce impact without destroying diagnostic state.</a:t>
            </a:r>
          </a:p>
          <a:p>
            <a:r>
              <a:t>DIAGNOSE: Trace the workflow from Probe endpoint through Fail over; compare intended configuration with runtime state.</a:t>
            </a:r>
          </a:p>
          <a:p>
            <a:r>
              <a:t>RECOVER: Restore the last known-good state, then prove recovery with Routing policy, health-check state, TTL, endpoint weight and observed failover time.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2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DNS and multi-Region traffic control: worked decision.</a:t>
            </a:r>
          </a:p>
          <a:p>
            <a:r>
              <a:t>CONSTRAINT: A global API needs regional failover within one minute with stable client endpoints.</a:t>
            </a:r>
          </a:p>
          <a:p>
            <a:r>
              <a:t>DECISION: Combine endpoint health with failover or latency policies; understand DNS caching and use anycast when convergence must be faster.</a:t>
            </a:r>
          </a:p>
          <a:p>
            <a:r>
              <a:t>WHY ALTERNATIVES LOSE: Reject options that do not change the stated failure boundary: A low TTL cannot force clients or resolvers to refresh immediately.</a:t>
            </a:r>
          </a:p>
          <a:p>
            <a:r>
              <a:t>ACCEPTANCE TEST: The decision is complete only when this proof exists: Routing policy, health-check state, TTL, endpoint weight and observed failover time.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2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Resilient data stores.</a:t>
            </a:r>
          </a:p>
          <a:p>
            <a:r>
              <a:t>OUTCOME: Select replication and failover mechanisms that meet consistency, RPO and RTO requirements.</a:t>
            </a:r>
          </a:p>
          <a:p>
            <a:r>
              <a:t>ARCHITECTURE: Distinguish read scaling from high availability, test failover, plan write ownership and monitor replication lag.</a:t>
            </a:r>
          </a:p>
          <a:p>
            <a:r>
              <a:t>FAILURE MODE: A read replica is not automatically a synchronous standby or a complete DR strategy.</a:t>
            </a:r>
          </a:p>
          <a:p>
            <a:r>
              <a:t>EVIDENCE: Topology, replication mode, lag metric, backup status, failover test and recovery evidence.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3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Resilient data stores: operating flow.</a:t>
            </a:r>
          </a:p>
          <a:p>
            <a:r>
              <a:t>Write</a:t>
            </a:r>
          </a:p>
          <a:p>
            <a:r>
              <a:t>Replicate</a:t>
            </a:r>
          </a:p>
          <a:p>
            <a:r>
              <a:t>Detect failure</a:t>
            </a:r>
          </a:p>
          <a:p>
            <a:r>
              <a:t>Promote or redirect</a:t>
            </a:r>
          </a:p>
          <a:p>
            <a:r>
              <a:t>Reconcile</a:t>
            </a:r>
          </a:p>
          <a:p>
            <a:r>
              <a:t>Verify</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3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Resilient data stores: design decision.</a:t>
            </a:r>
          </a:p>
          <a:p>
            <a:r>
              <a:t>SCENARIO: A payment datastore needs near-zero data loss and a tested cross-Region recovery path.</a:t>
            </a:r>
          </a:p>
          <a:p>
            <a:r>
              <a:t>DESIGN RESPONSE: Distinguish read scaling from high availability, test failover, plan write ownership and monitor replication lag.</a:t>
            </a:r>
          </a:p>
          <a:p>
            <a:r>
              <a:t>PRIMARY SERVICES: RDS Multi-AZ · Aurora Global Database · DynamoDB Global Tables</a:t>
            </a:r>
          </a:p>
          <a:p>
            <a:r>
              <a:t>FAILURE MODE: A read replica is not automatically a synchronous standby or a complete DR strategy.</a:t>
            </a:r>
          </a:p>
          <a:p>
            <a:r>
              <a:t>PROOF: Topology, replication mode, lag metric, backup status, failover test and recovery evidence.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3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Resilient data stores: failure diagnostic.</a:t>
            </a:r>
          </a:p>
          <a:p>
            <a:r>
              <a:t>RECOGNISE: Observable failure condition: A read replica is not automatically a synchronous standby or a complete DR strategy.</a:t>
            </a:r>
          </a:p>
          <a:p>
            <a:r>
              <a:t>CONTAIN: Pause promotion, preserve evidence and reduce impact without destroying diagnostic state.</a:t>
            </a:r>
          </a:p>
          <a:p>
            <a:r>
              <a:t>DIAGNOSE: Trace the workflow from Write through Verify; compare intended configuration with runtime state.</a:t>
            </a:r>
          </a:p>
          <a:p>
            <a:r>
              <a:t>RECOVER: Restore the last known-good state, then prove recovery with Topology, replication mode, lag metric, backup status, failover test and recovery evidence.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3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Resilient data stores: worked decision.</a:t>
            </a:r>
          </a:p>
          <a:p>
            <a:r>
              <a:t>CONSTRAINT: A payment datastore needs near-zero data loss and a tested cross-Region recovery path.</a:t>
            </a:r>
          </a:p>
          <a:p>
            <a:r>
              <a:t>DECISION: Distinguish read scaling from high availability, test failover, plan write ownership and monitor replication lag.</a:t>
            </a:r>
          </a:p>
          <a:p>
            <a:r>
              <a:t>WHY ALTERNATIVES LOSE: Reject options that do not change the stated failure boundary: A read replica is not automatically a synchronous standby or a complete DR strategy.</a:t>
            </a:r>
          </a:p>
          <a:p>
            <a:r>
              <a:t>ACCEPTANCE TEST: The decision is complete only when this proof exists: Topology, replication mode, lag metric, backup status, failover test and recovery evidence.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3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Serverless resilience.</a:t>
            </a:r>
          </a:p>
          <a:p>
            <a:r>
              <a:t>OUTCOME: Control concurrency, retries, idempotency and failure destinations in event-driven workloads.</a:t>
            </a:r>
          </a:p>
          <a:p>
            <a:r>
              <a:t>ARCHITECTURE: Use queues for buffering, partial batch response, reserved concurrency, DLQs and idempotency keys.</a:t>
            </a:r>
          </a:p>
          <a:p>
            <a:r>
              <a:t>FAILURE MODE: Unbounded retries can multiply load and duplicate side effects during partial failure.</a:t>
            </a:r>
          </a:p>
          <a:p>
            <a:r>
              <a:t>EVIDENCE: Request ID, retry count, idempotency record, queue age, DLQ message and concurrency metric.</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3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Serverless resilience: operating flow.</a:t>
            </a:r>
          </a:p>
          <a:p>
            <a:r>
              <a:t>Accept event</a:t>
            </a:r>
          </a:p>
          <a:p>
            <a:r>
              <a:t>Validate idempotency</a:t>
            </a:r>
          </a:p>
          <a:p>
            <a:r>
              <a:t>Process</a:t>
            </a:r>
          </a:p>
          <a:p>
            <a:r>
              <a:t>Retry with backoff</a:t>
            </a:r>
          </a:p>
          <a:p>
            <a:r>
              <a:t>Quarantine failure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3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Serverless resilience: design decision.</a:t>
            </a:r>
          </a:p>
          <a:p>
            <a:r>
              <a:t>SCENARIO: A batch consumer occasionally times out after charging a card but before acknowledging the message.</a:t>
            </a:r>
          </a:p>
          <a:p>
            <a:r>
              <a:t>DESIGN RESPONSE: Use queues for buffering, partial batch response, reserved concurrency, DLQs and idempotency keys.</a:t>
            </a:r>
          </a:p>
          <a:p>
            <a:r>
              <a:t>PRIMARY SERVICES: Lambda · API Gateway · SQS · Step Functions</a:t>
            </a:r>
          </a:p>
          <a:p>
            <a:r>
              <a:t>FAILURE MODE: Unbounded retries can multiply load and duplicate side effects during partial failure.</a:t>
            </a:r>
          </a:p>
          <a:p>
            <a:r>
              <a:t>PROOF: Request ID, retry count, idempotency record, queue age, DLQ message and concurrency metric.</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3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Serverless resilience: failure diagnostic.</a:t>
            </a:r>
          </a:p>
          <a:p>
            <a:r>
              <a:t>RECOGNISE: Observable failure condition: Unbounded retries can multiply load and duplicate side effects during partial failure.</a:t>
            </a:r>
          </a:p>
          <a:p>
            <a:r>
              <a:t>CONTAIN: Pause promotion, preserve evidence and reduce impact without destroying diagnostic state.</a:t>
            </a:r>
          </a:p>
          <a:p>
            <a:r>
              <a:t>DIAGNOSE: Trace the workflow from Accept event through Quarantine failure; compare intended configuration with runtime state.</a:t>
            </a:r>
          </a:p>
          <a:p>
            <a:r>
              <a:t>RECOVER: Restore the last known-good state, then prove recovery with Request ID, retry count, idempotency record, queue age, DLQ message and concurrency metric.</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3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Serverless resilience: worked decision.</a:t>
            </a:r>
          </a:p>
          <a:p>
            <a:r>
              <a:t>CONSTRAINT: A batch consumer occasionally times out after charging a card but before acknowledging the message.</a:t>
            </a:r>
          </a:p>
          <a:p>
            <a:r>
              <a:t>DECISION: Use queues for buffering, partial batch response, reserved concurrency, DLQs and idempotency keys.</a:t>
            </a:r>
          </a:p>
          <a:p>
            <a:r>
              <a:t>WHY ALTERNATIVES LOSE: Reject options that do not change the stated failure boundary: Unbounded retries can multiply load and duplicate side effects during partial failure.</a:t>
            </a:r>
          </a:p>
          <a:p>
            <a:r>
              <a:t>ACCEPTANCE TEST: The decision is complete only when this proof exists: Request ID, retry count, idempotency record, queue age, DLQ message and concurrency metric.</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3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Container workload resilience.</a:t>
            </a:r>
          </a:p>
          <a:p>
            <a:r>
              <a:t>OUTCOME: Keep container services available through node, task and deployment failures.</a:t>
            </a:r>
          </a:p>
          <a:p>
            <a:r>
              <a:t>ARCHITECTURE: Spread tasks, set disruption budgets, use readiness checks, pin image digests and scale both service and capacity.</a:t>
            </a:r>
          </a:p>
          <a:p>
            <a:r>
              <a:t>FAILURE MODE: Scaling tasks without underlying capacity leaves workloads pending.</a:t>
            </a:r>
          </a:p>
          <a:p>
            <a:r>
              <a:t>EVIDENCE: Task placement, readiness state, image digest, service events, capacity-provider metric and deployment circuit breaker.</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3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Container workload resilience: operating flow.</a:t>
            </a:r>
          </a:p>
          <a:p>
            <a:r>
              <a:t>Pull signed image</a:t>
            </a:r>
          </a:p>
          <a:p>
            <a:r>
              <a:t>Start task</a:t>
            </a:r>
          </a:p>
          <a:p>
            <a:r>
              <a:t>Pass readiness</a:t>
            </a:r>
          </a:p>
          <a:p>
            <a:r>
              <a:t>Receive traffic</a:t>
            </a:r>
          </a:p>
          <a:p>
            <a:r>
              <a:t>Replace unhealthy task</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3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Container workload resilience: design decision.</a:t>
            </a:r>
          </a:p>
          <a:p>
            <a:r>
              <a:t>SCENARIO: An ECS service needs blue/green deployment and automatic rollback when error rate rises.</a:t>
            </a:r>
          </a:p>
          <a:p>
            <a:r>
              <a:t>DESIGN RESPONSE: Spread tasks, set disruption budgets, use readiness checks, pin image digests and scale both service and capacity.</a:t>
            </a:r>
          </a:p>
          <a:p>
            <a:r>
              <a:t>PRIMARY SERVICES: ECS · EKS · ECR · Application Auto Scaling</a:t>
            </a:r>
          </a:p>
          <a:p>
            <a:r>
              <a:t>FAILURE MODE: Scaling tasks without underlying capacity leaves workloads pending.</a:t>
            </a:r>
          </a:p>
          <a:p>
            <a:r>
              <a:t>PROOF: Task placement, readiness state, image digest, service events, capacity-provider metric and deployment circuit breaker.</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3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Container workload resilience: failure diagnostic.</a:t>
            </a:r>
          </a:p>
          <a:p>
            <a:r>
              <a:t>RECOGNISE: Observable failure condition: Scaling tasks without underlying capacity leaves workloads pending.</a:t>
            </a:r>
          </a:p>
          <a:p>
            <a:r>
              <a:t>CONTAIN: Pause promotion, preserve evidence and reduce impact without destroying diagnostic state.</a:t>
            </a:r>
          </a:p>
          <a:p>
            <a:r>
              <a:t>DIAGNOSE: Trace the workflow from Pull signed image through Replace unhealthy task; compare intended configuration with runtime state.</a:t>
            </a:r>
          </a:p>
          <a:p>
            <a:r>
              <a:t>RECOVER: Restore the last known-good state, then prove recovery with Task placement, readiness state, image digest, service events, capacity-provider metric and deployment circuit breaker.</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3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Container workload resilience: worked decision.</a:t>
            </a:r>
          </a:p>
          <a:p>
            <a:r>
              <a:t>CONSTRAINT: An ECS service needs blue/green deployment and automatic rollback when error rate rises.</a:t>
            </a:r>
          </a:p>
          <a:p>
            <a:r>
              <a:t>DECISION: Spread tasks, set disruption budgets, use readiness checks, pin image digests and scale both service and capacity.</a:t>
            </a:r>
          </a:p>
          <a:p>
            <a:r>
              <a:t>WHY ALTERNATIVES LOSE: Reject options that do not change the stated failure boundary: Scaling tasks without underlying capacity leaves workloads pending.</a:t>
            </a:r>
          </a:p>
          <a:p>
            <a:r>
              <a:t>ACCEPTANCE TEST: The decision is complete only when this proof exists: Task placement, readiness state, image digest, service events, capacity-provider metric and deployment circuit breaker.</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3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Disaster recovery and automated recovery.</a:t>
            </a:r>
          </a:p>
          <a:p>
            <a:r>
              <a:t>OUTCOME: Choose and test backup/restore, pilot-light, warm-standby or multi-site strategies against business objectives.</a:t>
            </a:r>
          </a:p>
          <a:p>
            <a:r>
              <a:t>ARCHITECTURE: Map each workload to RTO/RPO, automate backups and copies, document dependencies and conduct game days.</a:t>
            </a:r>
          </a:p>
          <a:p>
            <a:r>
              <a:t>FAILURE MODE: A backup job marked successful does not prove the application can be restored coherently.</a:t>
            </a:r>
          </a:p>
          <a:p>
            <a:r>
              <a:t>EVIDENCE: Recovery-point age, restore-test outcome, runbook duration, dependency validation and actual RTO/RPO.</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3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Disaster recovery and automated recovery: operating flow.</a:t>
            </a:r>
          </a:p>
          <a:p>
            <a:r>
              <a:t>Protect data</a:t>
            </a:r>
          </a:p>
          <a:p>
            <a:r>
              <a:t>Detect disaster</a:t>
            </a:r>
          </a:p>
          <a:p>
            <a:r>
              <a:t>Declare</a:t>
            </a:r>
          </a:p>
          <a:p>
            <a:r>
              <a:t>Restore or promote</a:t>
            </a:r>
          </a:p>
          <a:p>
            <a:r>
              <a:t>Redirect</a:t>
            </a:r>
          </a:p>
          <a:p>
            <a:r>
              <a:t>Validate business service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3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Disaster recovery and automated recovery: design decision.</a:t>
            </a:r>
          </a:p>
          <a:p>
            <a:r>
              <a:t>SCENARIO: A regional disruption requires the customer portal to recover within 60 minutes with at most 15 minutes of data loss.</a:t>
            </a:r>
          </a:p>
          <a:p>
            <a:r>
              <a:t>DESIGN RESPONSE: Map each workload to RTO/RPO, automate backups and copies, document dependencies and conduct game days.</a:t>
            </a:r>
          </a:p>
          <a:p>
            <a:r>
              <a:t>PRIMARY SERVICES: AWS Backup · Elastic Disaster Recovery · Route 53</a:t>
            </a:r>
          </a:p>
          <a:p>
            <a:r>
              <a:t>FAILURE MODE: A backup job marked successful does not prove the application can be restored coherently.</a:t>
            </a:r>
          </a:p>
          <a:p>
            <a:r>
              <a:t>PROOF: Recovery-point age, restore-test outcome, runbook duration, dependency validation and actual RTO/RPO.</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3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Disaster recovery and automated recovery: failure diagnostic.</a:t>
            </a:r>
          </a:p>
          <a:p>
            <a:r>
              <a:t>RECOGNISE: Observable failure condition: A backup job marked successful does not prove the application can be restored coherently.</a:t>
            </a:r>
          </a:p>
          <a:p>
            <a:r>
              <a:t>CONTAIN: Pause promotion, preserve evidence and reduce impact without destroying diagnostic state.</a:t>
            </a:r>
          </a:p>
          <a:p>
            <a:r>
              <a:t>DIAGNOSE: Trace the workflow from Protect data through Validate business service; compare intended configuration with runtime state.</a:t>
            </a:r>
          </a:p>
          <a:p>
            <a:r>
              <a:t>RECOVER: Restore the last known-good state, then prove recovery with Recovery-point age, restore-test outcome, runbook duration, dependency validation and actual RTO/RPO.</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3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Disaster recovery and automated recovery: worked decision.</a:t>
            </a:r>
          </a:p>
          <a:p>
            <a:r>
              <a:t>CONSTRAINT: A regional disruption requires the customer portal to recover within 60 minutes with at most 15 minutes of data loss.</a:t>
            </a:r>
          </a:p>
          <a:p>
            <a:r>
              <a:t>DECISION: Map each workload to RTO/RPO, automate backups and copies, document dependencies and conduct game days.</a:t>
            </a:r>
          </a:p>
          <a:p>
            <a:r>
              <a:t>WHY ALTERNATIVES LOSE: Reject options that do not change the stated failure boundary: A backup job marked successful does not prove the application can be restored coherently.</a:t>
            </a:r>
          </a:p>
          <a:p>
            <a:r>
              <a:t>ACCEPTANCE TEST: The decision is complete only when this proof exists: Recovery-point age, restore-test outcome, runbook duration, dependency validation and actual RTO/RPO.</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3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Availability requirements and failure modes: architecture map.</a:t>
            </a:r>
          </a:p>
          <a:p>
            <a:r>
              <a:t>TRIGGER / INPUT: Define impact</a:t>
            </a:r>
          </a:p>
          <a:p>
            <a:r>
              <a:t>CONTROL PLANE: Model component failure domains, remove single points of failure and test degraded modes before selecting services.</a:t>
            </a:r>
          </a:p>
          <a:p>
            <a:r>
              <a:t>AWS SERVICES: Multi-AZ · AWS Resilience Hub · Well-Architected Tool</a:t>
            </a:r>
          </a:p>
          <a:p>
            <a:r>
              <a:t>EVIDENCE BOUNDARY: Availability target, dependency map, failure-mode analysis, resilience recommendation and test result.</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3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Elastic compute and load distribution: architecture map.</a:t>
            </a:r>
          </a:p>
          <a:p>
            <a:r>
              <a:t>TRIGGER / INPUT: Measure demand</a:t>
            </a:r>
          </a:p>
          <a:p>
            <a:r>
              <a:t>CONTROL PLANE: Use target tracking where possible, warm-up periods, lifecycle hooks, multiple AZs and meaningful health checks.</a:t>
            </a:r>
          </a:p>
          <a:p>
            <a:r>
              <a:t>AWS SERVICES: Auto Scaling · ALB · NLB · EC2 Fleet</a:t>
            </a:r>
          </a:p>
          <a:p>
            <a:r>
              <a:t>EVIDENCE BOUNDARY: Scaling policy, metric math, warm-up, lifecycle state, target health and capacity event.</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3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DNS and multi-Region traffic control: architecture map.</a:t>
            </a:r>
          </a:p>
          <a:p>
            <a:r>
              <a:t>TRIGGER / INPUT: Probe endpoint</a:t>
            </a:r>
          </a:p>
          <a:p>
            <a:r>
              <a:t>CONTROL PLANE: Combine endpoint health with failover or latency policies; understand DNS caching and use anycast when convergence must be faster.</a:t>
            </a:r>
          </a:p>
          <a:p>
            <a:r>
              <a:t>AWS SERVICES: Route 53 · Global Accelerator · CloudFront</a:t>
            </a:r>
          </a:p>
          <a:p>
            <a:r>
              <a:t>EVIDENCE BOUNDARY: Routing policy, health-check state, TTL, endpoint weight and observed failover time.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3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Resilient data stores: architecture map.</a:t>
            </a:r>
          </a:p>
          <a:p>
            <a:r>
              <a:t>TRIGGER / INPUT: Write</a:t>
            </a:r>
          </a:p>
          <a:p>
            <a:r>
              <a:t>CONTROL PLANE: Distinguish read scaling from high availability, test failover, plan write ownership and monitor replication lag.</a:t>
            </a:r>
          </a:p>
          <a:p>
            <a:r>
              <a:t>AWS SERVICES: RDS Multi-AZ · Aurora Global Database · DynamoDB Global Tables</a:t>
            </a:r>
          </a:p>
          <a:p>
            <a:r>
              <a:t>EVIDENCE BOUNDARY: Topology, replication mode, lag metric, backup status, failover test and recovery evidence.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3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Serverless resilience: architecture map.</a:t>
            </a:r>
          </a:p>
          <a:p>
            <a:r>
              <a:t>TRIGGER / INPUT: Accept event</a:t>
            </a:r>
          </a:p>
          <a:p>
            <a:r>
              <a:t>CONTROL PLANE: Use queues for buffering, partial batch response, reserved concurrency, DLQs and idempotency keys.</a:t>
            </a:r>
          </a:p>
          <a:p>
            <a:r>
              <a:t>AWS SERVICES: Lambda · API Gateway · SQS · Step Functions</a:t>
            </a:r>
          </a:p>
          <a:p>
            <a:r>
              <a:t>EVIDENCE BOUNDARY: Request ID, retry count, idempotency record, queue age, DLQ message and concurrency metric.</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3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Container workload resilience: architecture map.</a:t>
            </a:r>
          </a:p>
          <a:p>
            <a:r>
              <a:t>TRIGGER / INPUT: Pull signed image</a:t>
            </a:r>
          </a:p>
          <a:p>
            <a:r>
              <a:t>CONTROL PLANE: Spread tasks, set disruption budgets, use readiness checks, pin image digests and scale both service and capacity.</a:t>
            </a:r>
          </a:p>
          <a:p>
            <a:r>
              <a:t>AWS SERVICES: ECS · EKS · ECR · Application Auto Scaling</a:t>
            </a:r>
          </a:p>
          <a:p>
            <a:r>
              <a:t>EVIDENCE BOUNDARY: Task placement, readiness state, image digest, service events, capacity-provider metric and deployment circuit breaker.</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3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Disaster recovery and automated recovery: architecture map.</a:t>
            </a:r>
          </a:p>
          <a:p>
            <a:r>
              <a:t>TRIGGER / INPUT: Protect data</a:t>
            </a:r>
          </a:p>
          <a:p>
            <a:r>
              <a:t>CONTROL PLANE: Map each workload to RTO/RPO, automate backups and copies, document dependencies and conduct game days.</a:t>
            </a:r>
          </a:p>
          <a:p>
            <a:r>
              <a:t>AWS SERVICES: AWS Backup · Elastic Disaster Recovery · Route 53</a:t>
            </a:r>
          </a:p>
          <a:p>
            <a:r>
              <a:t>EVIDENCE BOUNDARY: Recovery-point age, restore-test outcome, runbook duration, dependency validation and actual RTO/RPO.</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3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11 overview — Deploy a highly available multi-AZ Application Load Balancer fronting an Auto Scaling group and prove requests are served from both Availability Zones (LO3, K2, K4, A2).</a:t>
            </a:r>
          </a:p>
          <a:p>
            <a:r>
              <a:t>Concept-led briefing only. The full detailed procedure, commands, expected outputs, validation and cleanup live in the Learner Guide and the lab README (not on the slides).</a:t>
            </a:r>
          </a:p>
          <a:p>
            <a:r>
              <a:t>Reference architecture: course-generated diagram for Lab 11.</a:t>
            </a:r>
          </a:p>
          <a:p/>
          <a:p>
            <a:r>
              <a:t>[Sources]</a:t>
            </a:r>
          </a:p>
          <a:p>
            <a:r>
              <a:t>- AWS Certified DevOps Engineer – Professional (DOP-C02) Exam Guide (docs.aws.amazon.com/pdfs/aws-certification/latest/devops-engineer-professional-02).</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3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12 overview — Attach a target-tracking scaling policy to an Auto Scaling group and validate automatic scale-out under generated load and scale-in when the load stops (LO3, K2, K4, A2).</a:t>
            </a:r>
          </a:p>
          <a:p>
            <a:r>
              <a:t>Concept-led briefing only. The full detailed procedure, commands, expected outputs, validation and cleanup live in the Learner Guide and the lab README (not on the slides).</a:t>
            </a:r>
          </a:p>
          <a:p>
            <a:r>
              <a:t>Reference architecture: course-generated diagram for Lab 12.</a:t>
            </a:r>
          </a:p>
          <a:p/>
          <a:p>
            <a:r>
              <a:t>[Sources]</a:t>
            </a:r>
          </a:p>
          <a:p>
            <a:r>
              <a:t>- AWS Certified DevOps Engineer – Professional (DOP-C02) Exam Guide (docs.aws.amazon.com/pdfs/aws-certification/latest/devops-engineer-professional-02).</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3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13 overview — Compare the four AWS disaster-recovery strategies against RTO/RPO targets, select an appropriate pattern, and implement a pilot-light skeleton in a second Region (LO3, K2, K4, A2).</a:t>
            </a:r>
          </a:p>
          <a:p>
            <a:r>
              <a:t>Concept-led briefing only. The full detailed procedure, commands, expected outputs, validation and cleanup live in the Learner Guide and the lab README (not on the slides).</a:t>
            </a:r>
          </a:p>
          <a:p>
            <a:r>
              <a:t>Reference architecture: course-generated diagram for Lab 13.</a:t>
            </a:r>
          </a:p>
          <a:p/>
          <a:p>
            <a:r>
              <a:t>[Sources]</a:t>
            </a:r>
          </a:p>
          <a:p>
            <a:r>
              <a:t>- AWS Certified DevOps Engineer – Professional (DOP-C02) Exam Guide (docs.aws.amazon.com/pdfs/aws-certification/latest/devops-engineer-professional-02).</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3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14 overview — Automate centralized backups with AWS Backup (plan + tag-based selection), test a restore, and add S3 versioning with cross-Region replication and RDS automated snapshots for defense in depth (LO3, K2, K4, A2).</a:t>
            </a:r>
          </a:p>
          <a:p>
            <a:r>
              <a:t>Concept-led briefing only. The full detailed procedure, commands, expected outputs, validation and cleanup live in the Learner Guide and the lab README (not on the slides).</a:t>
            </a:r>
          </a:p>
          <a:p>
            <a:r>
              <a:t>Reference architecture: course-generated diagram for Lab 14.</a:t>
            </a:r>
          </a:p>
          <a:p/>
          <a:p>
            <a:r>
              <a:t>[Sources]</a:t>
            </a:r>
          </a:p>
          <a:p>
            <a:r>
              <a:t>- AWS Certified DevOps Engineer – Professional (DOP-C02) Exam Guide (docs.aws.amazon.com/pdfs/aws-certification/latest/devops-engineer-professional-02).</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3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15 overview — Prove the multi-AZ tier self-heals by terminating an instance and watching the Auto Scaling group replace it, then run an AWS FIS experiment and confirm the ALB routes around the impaired instances (LO3, K2, K4, A2).</a:t>
            </a:r>
          </a:p>
          <a:p>
            <a:r>
              <a:t>Concept-led briefing only. The full detailed procedure, commands, expected outputs, validation and cleanup live in the Learner Guide and the lab README (not on the slides).</a:t>
            </a:r>
          </a:p>
          <a:p>
            <a:r>
              <a:t>Reference architecture: course-generated diagram for Lab 15.</a:t>
            </a:r>
          </a:p>
          <a:p/>
          <a:p>
            <a:r>
              <a:t>[Sources]</a:t>
            </a:r>
          </a:p>
          <a:p>
            <a:r>
              <a:t>- AWS Certified DevOps Engineer – Professional (DOP-C02) Exam Guide (docs.aws.amazon.com/pdfs/aws-certification/latest/devops-engineer-professional-02).</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3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 of Domain 03 — Resilient Cloud Solutions.</a:t>
            </a:r>
          </a:p>
          <a:p/>
          <a:p>
            <a:r>
              <a:t>[Sources]</a:t>
            </a:r>
          </a:p>
          <a:p>
            <a:r>
              <a:t>- AWS Certified DevOps Engineer – Professional (DOP-C02) Exam Guide (docs.aws.amazon.com/pdfs/aws-certification/latest/devops-engineer-professional-02).</a:t>
            </a:r>
          </a:p>
          <a:p>
            <a:r>
              <a:t>- AWS Well-Architected Framework (docs.aws.amazon.com/wellarchitected).</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3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Resilience and observability working together to keep services healthy</a:t>
            </a:r>
          </a:p>
          <a:p>
            <a:r>
              <a:t>Illustration created for this course with AI image generation (ImageGen).</a:t>
            </a:r>
          </a:p>
          <a:p/>
          <a:p>
            <a:r>
              <a:t>[Sources]</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3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concepts for Domain 04 — Monitoring and Logging.</a:t>
            </a:r>
          </a:p>
          <a:p>
            <a:r>
              <a:t>CloudWatch metrics: Namespaces, dimensions and custom metrics measure system and application health over time.</a:t>
            </a:r>
          </a:p>
          <a:p>
            <a:r>
              <a:t>CloudWatch Logs: Log groups, streams, subscription filters and metric filters turn raw logs into searchable, alertable signals.</a:t>
            </a:r>
          </a:p>
          <a:p>
            <a:r>
              <a:t>Dashboards: A single pane of glass correlates metrics, logs and alarms for fast troubleshooting.</a:t>
            </a:r>
          </a:p>
          <a:p>
            <a:r>
              <a:t>Alarms &amp; composite alarms: Thresholds and anomaly detection notify SNS or trigger auto-remediation before users are affected.</a:t>
            </a:r>
          </a:p>
          <a:p>
            <a:r>
              <a:t>Tracing &amp; insights: X-Ray traces distributed requests; CloudWatch Logs Insights and Container/Lambda Insights find the root cause.</a:t>
            </a:r>
          </a:p>
          <a:p>
            <a:r>
              <a:t>Aggregation at scale: Cross-account observability, the CloudWatch agent and OpenTelemetry centralise telemetry from many sources.</a:t>
            </a:r>
          </a:p>
          <a:p/>
          <a:p>
            <a:r>
              <a:t>[Sources]</a:t>
            </a:r>
          </a:p>
          <a:p>
            <a:r>
              <a:t>- AWS Certified DevOps Engineer – Professional (DOP-C02) Exam Guide (docs.aws.amazon.com/pdfs/aws-certification/latest/devops-engineer-professional-02).</a:t>
            </a:r>
          </a:p>
          <a:p>
            <a:r>
              <a:t>- AWS CloudWatch Documentation (docs.aws.amazon.com/AmazonCloudWatch).</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3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Alarm Thresholds — Healthy vs Incident. What the data shows: When p90 latency crosses the alarm threshold, CloudWatch fires and the automated response kicks in.</a:t>
            </a:r>
          </a:p>
          <a:p>
            <a:r>
              <a:t>Figures are illustrative teaching values to convey the relationship, not measured benchmarks.</a:t>
            </a:r>
          </a:p>
        </p:txBody>
      </p:sp>
      <p:sp>
        <p:nvSpPr>
          <p:cNvPr id="4" name="Slide Number Placeholder 3"/>
          <p:cNvSpPr>
            <a:spLocks noGrp="1"/>
          </p:cNvSpPr>
          <p:nvPr>
            <p:ph type="sldNum" idx="5" sz="quarter"/>
          </p:nvPr>
        </p:nvSpPr>
        <p:spPr/>
      </p:sp>
    </p:spTree>
  </p:cSld>
  <p:clrMapOvr>
    <a:masterClrMapping/>
  </p:clrMapOvr>
</p:notes>
</file>

<file path=ppt/notesSlides/notesSlide3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04 deep dive — Monitoring and Logging. Editable AWS-native diagram/table/chart.</a:t>
            </a:r>
          </a:p>
          <a:p/>
          <a:p>
            <a:r>
              <a:t>[Sources]</a:t>
            </a:r>
          </a:p>
          <a:p>
            <a:r>
              <a:t>- AWS Certified DevOps Engineer – Professional (DOP-C02) Exam Guide (docs.aws.amazon.com/pdfs/aws-certification/latest/devops-engineer-professional-02).</a:t>
            </a:r>
          </a:p>
          <a:p>
            <a:r>
              <a:t>- AWS CloudWatch Documentation (docs.aws.amazon.com/AmazonCloudWatch).</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3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04 deep dive — Monitoring and Logging. Editable AWS-native diagram/table/chart.</a:t>
            </a:r>
          </a:p>
          <a:p/>
          <a:p>
            <a:r>
              <a:t>[Sources]</a:t>
            </a:r>
          </a:p>
          <a:p>
            <a:r>
              <a:t>- AWS Certified DevOps Engineer – Professional (DOP-C02) Exam Guide (docs.aws.amazon.com/pdfs/aws-certification/latest/devops-engineer-professional-02).</a:t>
            </a:r>
          </a:p>
          <a:p>
            <a:r>
              <a:t>- AWS CloudWatch Documentation (docs.aws.amazon.com/AmazonCloudWatch).</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3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04 deep dive — Monitoring and Logging. Editable AWS-native diagram/table/chart.</a:t>
            </a:r>
          </a:p>
          <a:p/>
          <a:p>
            <a:r>
              <a:t>[Sources]</a:t>
            </a:r>
          </a:p>
          <a:p>
            <a:r>
              <a:t>- AWS Certified DevOps Engineer – Professional (DOP-C02) Exam Guide (docs.aws.amazon.com/pdfs/aws-certification/latest/devops-engineer-professional-02).</a:t>
            </a:r>
          </a:p>
          <a:p>
            <a:r>
              <a:t>- AWS CloudWatch Documentation (docs.aws.amazon.com/AmazonCloudWatch).</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3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04 deep dive — Monitoring and Logging. Editable AWS-native diagram/table/chart.</a:t>
            </a:r>
          </a:p>
          <a:p/>
          <a:p>
            <a:r>
              <a:t>[Sources]</a:t>
            </a:r>
          </a:p>
          <a:p>
            <a:r>
              <a:t>- AWS Certified DevOps Engineer – Professional (DOP-C02) Exam Guide (docs.aws.amazon.com/pdfs/aws-certification/latest/devops-engineer-professional-02).</a:t>
            </a:r>
          </a:p>
          <a:p>
            <a:r>
              <a:t>- AWS CloudWatch Documentation (docs.aws.amazon.com/AmazonCloudWatch).</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3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04 deep dive — Monitoring and Logging. Editable AWS-native diagram/table/chart.</a:t>
            </a:r>
          </a:p>
          <a:p/>
          <a:p>
            <a:r>
              <a:t>[Sources]</a:t>
            </a:r>
          </a:p>
          <a:p>
            <a:r>
              <a:t>- AWS Certified DevOps Engineer – Professional (DOP-C02) Exam Guide (docs.aws.amazon.com/pdfs/aws-certification/latest/devops-engineer-professional-02).</a:t>
            </a:r>
          </a:p>
          <a:p>
            <a:r>
              <a:t>- AWS CloudWatch Documentation (docs.aws.amazon.com/AmazonCloudWatch).</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3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pillars — metrics, logs, traces.</a:t>
            </a:r>
          </a:p>
          <a:p>
            <a:r>
              <a:t>Why it matters: Each pillar answers a different question — 'is it broken?', 'why?', and 'where?' — and you need all three to troubleshoot fast.</a:t>
            </a:r>
          </a:p>
          <a:p>
            <a:r>
              <a:t>Failure mode: Logging everything but graphing nothing leaves you searching text during an outage instead of seeing the problem at a glance.</a:t>
            </a:r>
          </a:p>
          <a:p>
            <a:r>
              <a:t>Trade-off: High-cardinality metrics and verbose logs cost money and can slow queries — sample and aggregate deliberately.</a:t>
            </a:r>
          </a:p>
          <a:p/>
          <a:p>
            <a:r>
              <a:t>[Sources]</a:t>
            </a:r>
          </a:p>
          <a:p>
            <a:r>
              <a:t>- AWS CloudWatch Documentation (docs.aws.amazon.com/AmazonCloudWatch).</a:t>
            </a:r>
          </a:p>
          <a:p>
            <a:r>
              <a:t>- AWS X-Ray Documentation (docs.aws.amazon.com/xray).</a:t>
            </a:r>
          </a:p>
          <a:p>
            <a:r>
              <a:t>- AWS Certified DevOps Engineer – Professional (DOP-C02) Exam Guide (docs.aws.amazon.com/pdfs/aws-certification/latest/devops-engineer-professional-02).</a:t>
            </a:r>
          </a:p>
        </p:txBody>
      </p:sp>
      <p:sp>
        <p:nvSpPr>
          <p:cNvPr id="4" name="Slide Number Placeholder 3"/>
          <p:cNvSpPr>
            <a:spLocks noGrp="1"/>
          </p:cNvSpPr>
          <p:nvPr>
            <p:ph type="sldNum" idx="5" sz="quarter"/>
          </p:nvPr>
        </p:nvSpPr>
        <p:spPr/>
      </p:sp>
    </p:spTree>
  </p:cSld>
  <p:clrMapOvr>
    <a:masterClrMapping/>
  </p:clrMapOvr>
</p:notes>
</file>

<file path=ppt/notesSlides/notesSlide3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CloudWatch metrics model — namespaces, dimensions, statistics.</a:t>
            </a:r>
          </a:p>
          <a:p>
            <a:r>
              <a:t>Why it matters: Understanding dimensions and percentiles is what separates 'average looks fine' from seeing the p99 pain real users feel.</a:t>
            </a:r>
          </a:p>
          <a:p>
            <a:r>
              <a:t>Failure mode: Alarming on Average hides tail latency — the average is healthy while your slowest 1% of users are timing out.</a:t>
            </a:r>
          </a:p>
          <a:p>
            <a:r>
              <a:t>Trade-off: Percentiles and high-resolution metrics cost more but reveal problems averages mask.</a:t>
            </a:r>
          </a:p>
          <a:p/>
          <a:p>
            <a:r>
              <a:t>[Sources]</a:t>
            </a:r>
          </a:p>
          <a:p>
            <a:r>
              <a:t>- AWS CloudWatch metrics Documentation (docs.aws.amazon.com/AmazonCloudWatch/latest/monitoring/working_with_metrics.html).</a:t>
            </a:r>
          </a:p>
          <a:p>
            <a:r>
              <a:t>- AWS Certified DevOps Engineer – Professional (DOP-C02) Exam Guide (docs.aws.amazon.com/pdfs/aws-certification/latest/devops-engineer-professional-02).</a:t>
            </a:r>
          </a:p>
        </p:txBody>
      </p:sp>
      <p:sp>
        <p:nvSpPr>
          <p:cNvPr id="4" name="Slide Number Placeholder 3"/>
          <p:cNvSpPr>
            <a:spLocks noGrp="1"/>
          </p:cNvSpPr>
          <p:nvPr>
            <p:ph type="sldNum" idx="5" sz="quarter"/>
          </p:nvPr>
        </p:nvSpPr>
        <p:spPr/>
      </p:sp>
    </p:spTree>
  </p:cSld>
  <p:clrMapOvr>
    <a:masterClrMapping/>
  </p:clrMapOvr>
</p:notes>
</file>

<file path=ppt/notesSlides/notesSlide3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Turning logs into signals.</a:t>
            </a:r>
          </a:p>
          <a:p>
            <a:r>
              <a:t>Why it matters: A metric filter converts unsearchable text into an alarmable metric, so logs drive automated response, not just post-hoc reading.</a:t>
            </a:r>
          </a:p>
          <a:p>
            <a:r>
              <a:t>Failure mode: Relying on humans to eyeball logs means problems are found only after users complain.</a:t>
            </a:r>
          </a:p>
          <a:p>
            <a:r>
              <a:t>Trade-off: Extracting many metrics from logs adds cost and complexity — extract the few that drive alarms and dashboards.</a:t>
            </a:r>
          </a:p>
          <a:p/>
          <a:p>
            <a:r>
              <a:t>[Sources]</a:t>
            </a:r>
          </a:p>
          <a:p>
            <a:r>
              <a:t>- AWS CloudWatch Logs Documentation (docs.aws.amazon.com/AmazonCloudWatch/latest/logs/WhatIsCloudWatchLogs.html).</a:t>
            </a:r>
          </a:p>
          <a:p>
            <a:r>
              <a:t>- AWS Certified DevOps Engineer – Professional (DOP-C02) Exam Guide (docs.aws.amazon.com/pdfs/aws-certification/latest/devops-engineer-professional-02).</a:t>
            </a:r>
          </a:p>
        </p:txBody>
      </p:sp>
      <p:sp>
        <p:nvSpPr>
          <p:cNvPr id="4" name="Slide Number Placeholder 3"/>
          <p:cNvSpPr>
            <a:spLocks noGrp="1"/>
          </p:cNvSpPr>
          <p:nvPr>
            <p:ph type="sldNum" idx="5" sz="quarter"/>
          </p:nvPr>
        </p:nvSpPr>
        <p:spPr/>
      </p:sp>
    </p:spTree>
  </p:cSld>
  <p:clrMapOvr>
    <a:masterClrMapping/>
  </p:clrMapOvr>
</p:notes>
</file>

<file path=ppt/notesSlides/notesSlide3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Alarms, composite alarms and anomaly detection.</a:t>
            </a:r>
          </a:p>
          <a:p>
            <a:r>
              <a:t>Why it matters: Well-designed alarms notify on real, actionable conditions and feed the automated incident response in Domain 5.</a:t>
            </a:r>
          </a:p>
          <a:p>
            <a:r>
              <a:t>Failure mode: Too many noisy single-metric alarms cause alert fatigue; responders learn to ignore the pager.</a:t>
            </a:r>
          </a:p>
          <a:p>
            <a:r>
              <a:t>Trade-off: Anomaly detection reduces false alarms but needs a learning period and can miss slow, gradual regressions.</a:t>
            </a:r>
          </a:p>
          <a:p/>
          <a:p>
            <a:r>
              <a:t>[Sources]</a:t>
            </a:r>
          </a:p>
          <a:p>
            <a:r>
              <a:t>- AWS CloudWatch alarms Documentation (docs.aws.amazon.com/AmazonCloudWatch/latest/monitoring/AlarmThatSendsEmail.html).</a:t>
            </a:r>
          </a:p>
          <a:p>
            <a:r>
              <a:t>- AWS Certified DevOps Engineer – Professional (DOP-C02) Exam Guide (docs.aws.amazon.com/pdfs/aws-certification/latest/devops-engineer-professional-02).</a:t>
            </a:r>
          </a:p>
        </p:txBody>
      </p:sp>
      <p:sp>
        <p:nvSpPr>
          <p:cNvPr id="4" name="Slide Number Placeholder 3"/>
          <p:cNvSpPr>
            <a:spLocks noGrp="1"/>
          </p:cNvSpPr>
          <p:nvPr>
            <p:ph type="sldNum" idx="5" sz="quarter"/>
          </p:nvPr>
        </p:nvSpPr>
        <p:spPr/>
      </p:sp>
    </p:spTree>
  </p:cSld>
  <p:clrMapOvr>
    <a:masterClrMapping/>
  </p:clrMapOvr>
</p:notes>
</file>

<file path=ppt/notesSlides/notesSlide3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Dashboards and the single pane of glass.</a:t>
            </a:r>
          </a:p>
          <a:p>
            <a:r>
              <a:t>Why it matters: During an incident a good dashboard turns minutes of hunting into seconds of seeing — it is a force multiplier for MTTR.</a:t>
            </a:r>
          </a:p>
          <a:p>
            <a:r>
              <a:t>Failure mode: A wall of 200 unlabelled graphs is as useless as none — no one can spot the anomaly under pressure.</a:t>
            </a:r>
          </a:p>
          <a:p>
            <a:r>
              <a:t>Trade-off: Curated dashboards need maintenance as the system changes — stale dashboards mislead.</a:t>
            </a:r>
          </a:p>
          <a:p/>
          <a:p>
            <a:r>
              <a:t>[Sources]</a:t>
            </a:r>
          </a:p>
          <a:p>
            <a:r>
              <a:t>- AWS CloudWatch dashboards Documentation (docs.aws.amazon.com/AmazonCloudWatch/latest/monitoring/CloudWatch_Dashboards.html).</a:t>
            </a:r>
          </a:p>
          <a:p>
            <a:r>
              <a:t>- AWS Certified DevOps Engineer – Professional (DOP-C02) Exam Guide (docs.aws.amazon.com/pdfs/aws-certification/latest/devops-engineer-professional-02).</a:t>
            </a:r>
          </a:p>
        </p:txBody>
      </p:sp>
      <p:sp>
        <p:nvSpPr>
          <p:cNvPr id="4" name="Slide Number Placeholder 3"/>
          <p:cNvSpPr>
            <a:spLocks noGrp="1"/>
          </p:cNvSpPr>
          <p:nvPr>
            <p:ph type="sldNum" idx="5" sz="quarter"/>
          </p:nvPr>
        </p:nvSpPr>
        <p:spPr/>
      </p:sp>
    </p:spTree>
  </p:cSld>
  <p:clrMapOvr>
    <a:masterClrMapping/>
  </p:clrMapOvr>
</p:notes>
</file>

<file path=ppt/notesSlides/notesSlide3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Distributed tracing with X-Ray.</a:t>
            </a:r>
          </a:p>
          <a:p>
            <a:r>
              <a:t>Why it matters: In microservices, a symptom (slow checkout) and its cause (a slow third-party call three hops away) are far apart — tracing connects them.</a:t>
            </a:r>
          </a:p>
          <a:p>
            <a:r>
              <a:t>Failure mode: Without tracing, teams blame each other's services because no one can see the end-to-end request path.</a:t>
            </a:r>
          </a:p>
          <a:p>
            <a:r>
              <a:t>Trade-off: Full tracing is expensive at scale — sampling trades completeness for affordable, representative visibility.</a:t>
            </a:r>
          </a:p>
          <a:p/>
          <a:p>
            <a:r>
              <a:t>[Sources]</a:t>
            </a:r>
          </a:p>
          <a:p>
            <a:r>
              <a:t>- AWS X-Ray Documentation (docs.aws.amazon.com/xray/latest/devguide).</a:t>
            </a:r>
          </a:p>
          <a:p>
            <a:r>
              <a:t>- AWS Certified DevOps Engineer – Professional (DOP-C02) Exam Guide (docs.aws.amazon.com/pdfs/aws-certification/latest/devops-engineer-professional-02).</a:t>
            </a:r>
          </a:p>
        </p:txBody>
      </p:sp>
      <p:sp>
        <p:nvSpPr>
          <p:cNvPr id="4" name="Slide Number Placeholder 3"/>
          <p:cNvSpPr>
            <a:spLocks noGrp="1"/>
          </p:cNvSpPr>
          <p:nvPr>
            <p:ph type="sldNum" idx="5" sz="quarter"/>
          </p:nvPr>
        </p:nvSpPr>
        <p:spPr/>
      </p:sp>
    </p:spTree>
  </p:cSld>
  <p:clrMapOvr>
    <a:masterClrMapping/>
  </p:clrMapOvr>
</p:notes>
</file>

<file path=ppt/notesSlides/notesSlide3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Observability at scale — agents, OpenTelemetry, cross-account.</a:t>
            </a:r>
          </a:p>
          <a:p>
            <a:r>
              <a:t>Why it matters: A consistent collection standard across a large estate makes telemetry comparable and centrally queryable.</a:t>
            </a:r>
          </a:p>
          <a:p>
            <a:r>
              <a:t>Failure mode: Every team inventing its own metrics and log formats makes cross-service correlation impossible.</a:t>
            </a:r>
          </a:p>
          <a:p>
            <a:r>
              <a:t>Trade-off: Centralisation eases correlation but concentrates cost and access — govern the monitoring account carefully.</a:t>
            </a:r>
          </a:p>
          <a:p/>
          <a:p>
            <a:r>
              <a:t>[Sources]</a:t>
            </a:r>
          </a:p>
          <a:p>
            <a:r>
              <a:t>- AWS CloudWatch agent Documentation (docs.aws.amazon.com/AmazonCloudWatch/latest/monitoring/Install-CloudWatch-Agent.html).</a:t>
            </a:r>
          </a:p>
          <a:p>
            <a:r>
              <a:t>- AWS OpenTelemetry (ADOT) Documentation (docs.aws.amazon.com/otel).</a:t>
            </a:r>
          </a:p>
          <a:p>
            <a:r>
              <a:t>- AWS Certified DevOps Engineer – Professional (DOP-C02) Exam Guide (docs.aws.amazon.com/pdfs/aws-certification/latest/devops-engineer-professional-02).</a:t>
            </a:r>
          </a:p>
        </p:txBody>
      </p:sp>
      <p:sp>
        <p:nvSpPr>
          <p:cNvPr id="4" name="Slide Number Placeholder 3"/>
          <p:cNvSpPr>
            <a:spLocks noGrp="1"/>
          </p:cNvSpPr>
          <p:nvPr>
            <p:ph type="sldNum" idx="5" sz="quarter"/>
          </p:nvPr>
        </p:nvSpPr>
        <p:spPr/>
      </p:sp>
    </p:spTree>
  </p:cSld>
  <p:clrMapOvr>
    <a:masterClrMapping/>
  </p:clrMapOvr>
</p:notes>
</file>

<file path=ppt/notesSlides/notesSlide3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golden signals and SLOs.</a:t>
            </a:r>
          </a:p>
          <a:p>
            <a:r>
              <a:t>Why it matters: Tying monitoring to SLOs focuses attention on what users actually experience and gives an objective 'are we healthy?' answer.</a:t>
            </a:r>
          </a:p>
          <a:p>
            <a:r>
              <a:t>Failure mode: Alerting on CPU while the SLO quietly burns means you page on non-issues and miss the user-facing failure.</a:t>
            </a:r>
          </a:p>
          <a:p>
            <a:r>
              <a:t>Trade-off: Strict SLOs drive reliability work but can slow feature delivery — the error budget is the negotiated balance.</a:t>
            </a:r>
          </a:p>
          <a:p/>
          <a:p>
            <a:r>
              <a:t>[Sources]</a:t>
            </a:r>
          </a:p>
          <a:p>
            <a:r>
              <a:t>- AWS Well-Architected Framework (docs.aws.amazon.com/wellarchitected).</a:t>
            </a:r>
          </a:p>
          <a:p>
            <a:r>
              <a:t>- DORA / Google Cloud, Accelerate State of DevOps (dora.dev).</a:t>
            </a:r>
          </a:p>
          <a:p>
            <a:r>
              <a:t>- AWS CloudWatch Documentation (docs.aws.amazon.com/AmazonCloudWatch).</a:t>
            </a:r>
          </a:p>
        </p:txBody>
      </p:sp>
      <p:sp>
        <p:nvSpPr>
          <p:cNvPr id="4" name="Slide Number Placeholder 3"/>
          <p:cNvSpPr>
            <a:spLocks noGrp="1"/>
          </p:cNvSpPr>
          <p:nvPr>
            <p:ph type="sldNum" idx="5" sz="quarter"/>
          </p:nvPr>
        </p:nvSpPr>
        <p:spPr/>
      </p:sp>
    </p:spTree>
  </p:cSld>
  <p:clrMapOvr>
    <a:masterClrMapping/>
  </p:clrMapOvr>
</p:notes>
</file>

<file path=ppt/notesSlides/notesSlide3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Comparison — CloudWatch Insight Tools — Pick the Right Lens.</a:t>
            </a:r>
          </a:p>
          <a:p/>
          <a:p>
            <a:r>
              <a:t>[Sources]</a:t>
            </a:r>
          </a:p>
          <a:p>
            <a:r>
              <a:t>- AWS CloudWatch Documentation (docs.aws.amazon.com/AmazonCloudWatch).</a:t>
            </a:r>
          </a:p>
          <a:p>
            <a:r>
              <a:t>- AWS X-Ray Documentation (docs.aws.amazon.com/xray).</a:t>
            </a:r>
          </a:p>
          <a:p>
            <a:r>
              <a:t>- AWS Certified DevOps Engineer – Professional (DOP-C02) Exam Guide (docs.aws.amazon.com/pdfs/aws-certification/latest/devops-engineer-professional-02).</a:t>
            </a:r>
          </a:p>
        </p:txBody>
      </p:sp>
      <p:sp>
        <p:nvSpPr>
          <p:cNvPr id="4" name="Slide Number Placeholder 3"/>
          <p:cNvSpPr>
            <a:spLocks noGrp="1"/>
          </p:cNvSpPr>
          <p:nvPr>
            <p:ph type="sldNum" idx="5" sz="quarter"/>
          </p:nvPr>
        </p:nvSpPr>
        <p:spPr/>
      </p:sp>
    </p:spTree>
  </p:cSld>
  <p:clrMapOvr>
    <a:masterClrMapping/>
  </p:clrMapOvr>
</p:notes>
</file>

<file path=ppt/notesSlides/notesSlide3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Average Hides the Tail — Latency Percentiles. What the data shows: The average looks healthy at 140ms while the p99 user waits nearly a second — always alarm on the percentile your users feel.</a:t>
            </a:r>
          </a:p>
          <a:p>
            <a:r>
              <a:t>Figures are illustrative teaching values to convey the relationship, not measured benchmarks.</a:t>
            </a:r>
          </a:p>
          <a:p/>
          <a:p>
            <a:r>
              <a:t>[Sources]</a:t>
            </a:r>
          </a:p>
          <a:p>
            <a:r>
              <a:t>- AWS CloudWatch metrics Documentation (docs.aws.amazon.com/AmazonCloudWatch/latest/monitoring/working_with_metrics.html).</a:t>
            </a:r>
          </a:p>
          <a:p>
            <a:r>
              <a:t>- AWS Well-Architected Framework (docs.aws.amazon.com/wellarchitected).</a:t>
            </a:r>
          </a:p>
        </p:txBody>
      </p:sp>
      <p:sp>
        <p:nvSpPr>
          <p:cNvPr id="4" name="Slide Number Placeholder 3"/>
          <p:cNvSpPr>
            <a:spLocks noGrp="1"/>
          </p:cNvSpPr>
          <p:nvPr>
            <p:ph type="sldNum" idx="5" sz="quarter"/>
          </p:nvPr>
        </p:nvSpPr>
        <p:spPr/>
      </p:sp>
    </p:spTree>
  </p:cSld>
  <p:clrMapOvr>
    <a:masterClrMapping/>
  </p:clrMapOvr>
</p:notes>
</file>

<file path=ppt/notesSlides/notesSlide3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Monitoring Failure Modes &amp; Anti-Patterns.</a:t>
            </a:r>
          </a:p>
          <a:p>
            <a:r>
              <a:t>Alarm on average — Tail latency hidden → alarm on p90/p99.</a:t>
            </a:r>
          </a:p>
          <a:p>
            <a:r>
              <a:t>Alert fatigue — Noisy alarms ignored → composite alarms, SLO-based alerting.</a:t>
            </a:r>
          </a:p>
          <a:p>
            <a:r>
              <a:t>Logs but no metrics — Manual searching in incidents → metric filters + dashboards.</a:t>
            </a:r>
          </a:p>
          <a:p>
            <a:r>
              <a:t>No traces in microservices — Cross-team blame → adopt X-Ray/OTel.</a:t>
            </a:r>
          </a:p>
          <a:p>
            <a:r>
              <a:t>Vanity dashboards — 200 graphs, no signal → golden-signals layout.</a:t>
            </a:r>
          </a:p>
          <a:p>
            <a:r>
              <a:t>Unmonitored dependencies — Third-party outage invisible → synthetic canaries.</a:t>
            </a:r>
          </a:p>
          <a:p/>
          <a:p>
            <a:r>
              <a:t>[Sources]</a:t>
            </a:r>
          </a:p>
          <a:p>
            <a:r>
              <a:t>- AWS Well-Architected Framework (docs.aws.amazon.com/wellarchitected).</a:t>
            </a:r>
          </a:p>
          <a:p>
            <a:r>
              <a:t>- AWS Certified DevOps Engineer – Professional (DOP-C02) Exam Guide (docs.aws.amazon.com/pdfs/aws-certification/latest/devops-engineer-professional-02).</a:t>
            </a:r>
          </a:p>
        </p:txBody>
      </p:sp>
      <p:sp>
        <p:nvSpPr>
          <p:cNvPr id="4" name="Slide Number Placeholder 3"/>
          <p:cNvSpPr>
            <a:spLocks noGrp="1"/>
          </p:cNvSpPr>
          <p:nvPr>
            <p:ph type="sldNum" idx="5" sz="quarter"/>
          </p:nvPr>
        </p:nvSpPr>
        <p:spPr/>
      </p:sp>
    </p:spTree>
  </p:cSld>
  <p:clrMapOvr>
    <a:masterClrMapping/>
  </p:clrMapOvr>
</p:notes>
</file>

<file path=ppt/notesSlides/notesSlide3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Observability Patterns Worth Adopting.</a:t>
            </a:r>
          </a:p>
          <a:p>
            <a:r>
              <a:t>Golden-signals dashboards — Latency, traffic, errors, saturation per service.</a:t>
            </a:r>
          </a:p>
          <a:p>
            <a:r>
              <a:t>SLOs + error budgets — Objective health and a delivery/reliability balance.</a:t>
            </a:r>
          </a:p>
          <a:p>
            <a:r>
              <a:t>Structured logging — JSON logs with correlation IDs for Logs Insights.</a:t>
            </a:r>
          </a:p>
          <a:p>
            <a:r>
              <a:t>Synthetic canaries — Probe key journeys before real users hit failures.</a:t>
            </a:r>
          </a:p>
          <a:p>
            <a:r>
              <a:t>Metric filters → alarms — Turn log events into automated response.</a:t>
            </a:r>
          </a:p>
          <a:p>
            <a:r>
              <a:t>Centralised observability — Cross-account monitoring account.</a:t>
            </a:r>
          </a:p>
          <a:p/>
          <a:p>
            <a:r>
              <a:t>[Sources]</a:t>
            </a:r>
          </a:p>
          <a:p>
            <a:r>
              <a:t>- AWS Well-Architected Framework (docs.aws.amazon.com/wellarchitected).</a:t>
            </a:r>
          </a:p>
          <a:p>
            <a:r>
              <a:t>- DORA / Google Cloud, Accelerate State of DevOps (dora.dev).</a:t>
            </a:r>
          </a:p>
          <a:p>
            <a:r>
              <a:t>- AWS CloudWatch Synthetics Documentation (docs.aws.amazon.com/AmazonCloudWatch/latest/monitoring/CloudWatch_Synthetics_Canaries.html).</a:t>
            </a:r>
          </a:p>
        </p:txBody>
      </p:sp>
      <p:sp>
        <p:nvSpPr>
          <p:cNvPr id="4" name="Slide Number Placeholder 3"/>
          <p:cNvSpPr>
            <a:spLocks noGrp="1"/>
          </p:cNvSpPr>
          <p:nvPr>
            <p:ph type="sldNum" idx="5" sz="quarter"/>
          </p:nvPr>
        </p:nvSpPr>
        <p:spPr/>
      </p:sp>
    </p:spTree>
  </p:cSld>
  <p:clrMapOvr>
    <a:masterClrMapping/>
  </p:clrMapOvr>
</p:notes>
</file>

<file path=ppt/notesSlides/notesSlide3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Architecture Decision — What Should Page a Human?.</a:t>
            </a:r>
          </a:p>
          <a:p>
            <a:r>
              <a:t>Option A — Page immediately: SLO-burning, user-facing symptoms (error rate, latency breach). Actionable now — keep these few and trustworthy.</a:t>
            </a:r>
          </a:p>
          <a:p>
            <a:r>
              <a:t>Option B — Ticket / review later: Trends and capacity signals (rising saturation). Important but not urgent — dashboards and weekly review.</a:t>
            </a:r>
          </a:p>
          <a:p>
            <a:r>
              <a:t>Option C — Auto-remediate, don't page: Known, safe fixes (restart, scale, isolate). Let EventBridge + Lambda handle it and notify, not wake, the team.</a:t>
            </a:r>
          </a:p>
          <a:p/>
          <a:p>
            <a:r>
              <a:t>[Sources]</a:t>
            </a:r>
          </a:p>
          <a:p>
            <a:r>
              <a:t>- AWS Well-Architected Framework (docs.aws.amazon.com/wellarchitected).</a:t>
            </a:r>
          </a:p>
          <a:p>
            <a:r>
              <a:t>- AWS Certified DevOps Engineer – Professional (DOP-C02) Exam Guide (docs.aws.amazon.com/pdfs/aws-certification/latest/devops-engineer-professional-02).</a:t>
            </a:r>
          </a:p>
        </p:txBody>
      </p:sp>
      <p:sp>
        <p:nvSpPr>
          <p:cNvPr id="4" name="Slide Number Placeholder 3"/>
          <p:cNvSpPr>
            <a:spLocks noGrp="1"/>
          </p:cNvSpPr>
          <p:nvPr>
            <p:ph type="sldNum" idx="5" sz="quarter"/>
          </p:nvPr>
        </p:nvSpPr>
        <p:spPr/>
      </p:sp>
    </p:spTree>
  </p:cSld>
  <p:clrMapOvr>
    <a:masterClrMapping/>
  </p:clrMapOvr>
</p:notes>
</file>

<file path=ppt/notesSlides/notesSlide3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Scenario: Dashboards show CPU and memory healthy, yet support reports slow checkouts.</a:t>
            </a:r>
          </a:p>
          <a:p>
            <a:r>
              <a:t>Resource metrics are averages and miss the user-facing symptom; the SLO is about request latency, not CPU.</a:t>
            </a:r>
          </a:p>
          <a:p>
            <a:r>
              <a:t>A p99 latency metric and a Logs Insights query on the checkout path would reveal the slow requests.</a:t>
            </a:r>
          </a:p>
          <a:p>
            <a:r>
              <a:t>An X-Ray service map would localise the slow downstream call.</a:t>
            </a:r>
          </a:p>
          <a:p>
            <a:r>
              <a:t>Decision: Re-orient alerting around the golden signals and the SLO (p99 latency, error rate), and add tracing so the next 'green but slow' is visible and localisable in seconds.</a:t>
            </a:r>
          </a:p>
          <a:p/>
          <a:p>
            <a:r>
              <a:t>[Sources]</a:t>
            </a:r>
          </a:p>
          <a:p>
            <a:r>
              <a:t>- AWS X-Ray Documentation (docs.aws.amazon.com/xray).</a:t>
            </a:r>
          </a:p>
          <a:p>
            <a:r>
              <a:t>- AWS CloudWatch Documentation (docs.aws.amazon.com/AmazonCloudWatch).</a:t>
            </a:r>
          </a:p>
        </p:txBody>
      </p:sp>
      <p:sp>
        <p:nvSpPr>
          <p:cNvPr id="4" name="Slide Number Placeholder 3"/>
          <p:cNvSpPr>
            <a:spLocks noGrp="1"/>
          </p:cNvSpPr>
          <p:nvPr>
            <p:ph type="sldNum" idx="5" sz="quarter"/>
          </p:nvPr>
        </p:nvSpPr>
        <p:spPr/>
      </p:sp>
    </p:spTree>
  </p:cSld>
  <p:clrMapOvr>
    <a:masterClrMapping/>
  </p:clrMapOvr>
</p:notes>
</file>

<file path=ppt/notesSlides/notesSlide3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Scenario: A single database blip fires 40 alarms across dependent services and the on-call mutes the channel.</a:t>
            </a:r>
          </a:p>
          <a:p>
            <a:r>
              <a:t>Many single-metric alarms describe the same root cause, creating noise and fatigue.</a:t>
            </a:r>
          </a:p>
          <a:p>
            <a:r>
              <a:t>A composite alarm can express 'DB unhealthy AND app errors rising' and suppress the downstream chatter.</a:t>
            </a:r>
          </a:p>
          <a:p>
            <a:r>
              <a:t>SLO-based alerting pages on user impact, not on every correlated resource wobble.</a:t>
            </a:r>
          </a:p>
          <a:p>
            <a:r>
              <a:t>Decision: Consolidate with composite alarms and alert on SLO burn, so one meaningful page fires instead of forty — restoring trust in the pager.</a:t>
            </a:r>
          </a:p>
          <a:p/>
          <a:p>
            <a:r>
              <a:t>[Sources]</a:t>
            </a:r>
          </a:p>
          <a:p>
            <a:r>
              <a:t>- AWS Composite alarms Documentation (docs.aws.amazon.com/AmazonCloudWatch/latest/monitoring/Create_Composite_Alarm.html).</a:t>
            </a:r>
          </a:p>
          <a:p>
            <a:r>
              <a:t>- AWS Well-Architected Framework (docs.aws.amazon.com/wellarchitected).</a:t>
            </a:r>
          </a:p>
        </p:txBody>
      </p:sp>
      <p:sp>
        <p:nvSpPr>
          <p:cNvPr id="4" name="Slide Number Placeholder 3"/>
          <p:cNvSpPr>
            <a:spLocks noGrp="1"/>
          </p:cNvSpPr>
          <p:nvPr>
            <p:ph type="sldNum" idx="5" sz="quarter"/>
          </p:nvPr>
        </p:nvSpPr>
        <p:spPr/>
      </p:sp>
    </p:spTree>
  </p:cSld>
  <p:clrMapOvr>
    <a:masterClrMapping/>
  </p:clrMapOvr>
</p:notes>
</file>

<file path=ppt/notesSlides/notesSlide3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Worked Analysis — From Log Line to Alarm.</a:t>
            </a:r>
          </a:p>
          <a:p>
            <a:r>
              <a:t>Raw log: 'ERROR checkout timeout' — Unstructured text — invisible to metrics and alarms as-is.</a:t>
            </a:r>
          </a:p>
          <a:p>
            <a:r>
              <a:t>Metric filter extracts AppErrorCount — A numeric metric now exists in a custom namespace.</a:t>
            </a:r>
          </a:p>
          <a:p>
            <a:r>
              <a:t>Alarm: Sum &gt; 5 in 1 minute — The metric becomes an actionable state change.</a:t>
            </a:r>
          </a:p>
          <a:p>
            <a:r>
              <a:t>Alarm → SNS/EventBridge — Notifies responders and can trigger auto-remediation (Domain 5).</a:t>
            </a:r>
          </a:p>
          <a:p>
            <a:r>
              <a:t>Takeaway: Observability is a pipeline: capture → extract → alarm → act. Each stage turns raw data into faster recovery.</a:t>
            </a:r>
          </a:p>
          <a:p/>
          <a:p>
            <a:r>
              <a:t>[Sources]</a:t>
            </a:r>
          </a:p>
          <a:p>
            <a:r>
              <a:t>- AWS CloudWatch Logs metric filters Documentation (docs.aws.amazon.com/AmazonCloudWatch/latest/logs/MonitoringLogData.html).</a:t>
            </a:r>
          </a:p>
          <a:p>
            <a:r>
              <a:t>- AWS Certified DevOps Engineer – Professional (DOP-C02) Exam Guide (docs.aws.amazon.com/pdfs/aws-certification/latest/devops-engineer-professional-02).</a:t>
            </a:r>
          </a:p>
        </p:txBody>
      </p:sp>
      <p:sp>
        <p:nvSpPr>
          <p:cNvPr id="4" name="Slide Number Placeholder 3"/>
          <p:cNvSpPr>
            <a:spLocks noGrp="1"/>
          </p:cNvSpPr>
          <p:nvPr>
            <p:ph type="sldNum" idx="5" sz="quarter"/>
          </p:nvPr>
        </p:nvSpPr>
        <p:spPr/>
      </p:sp>
    </p:spTree>
  </p:cSld>
  <p:clrMapOvr>
    <a:masterClrMapping/>
  </p:clrMapOvr>
</p:notes>
</file>

<file path=ppt/notesSlides/notesSlide3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 foundations: Metrics, logs and alarms.</a:t>
            </a:r>
          </a:p>
          <a:p>
            <a:r>
              <a:t>PURPOSE: Turn workload and deployment signals into actionable views, alarms and release decisions.</a:t>
            </a:r>
          </a:p>
          <a:p>
            <a:r>
              <a:t>FEATURE 1: Metrics are time-series values with dimensions; high-cardinality dimensions can increase cost and fragmentation.</a:t>
            </a:r>
          </a:p>
          <a:p>
            <a:r>
              <a:t>FEATURE 2: Logs supports structured ingestion, retention, subscriptions and Logs Insights queries.</a:t>
            </a:r>
          </a:p>
          <a:p>
            <a:r>
              <a:t>FEATURE 3: Metric math, anomaly detection and composite alarms reduce noisy single-signal decisions.</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3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Metrics, logs and alarms: selection and controls.</a:t>
            </a:r>
          </a:p>
          <a:p>
            <a:r>
              <a:t>CHOOSE WHEN: Use metrics for numeric trends/alarms, logs for event detail and composite/SLO signals for user impact.</a:t>
            </a:r>
          </a:p>
          <a:p>
            <a:r>
              <a:t>DEVOPS ENGINEERING: Standardise dimensions, correlate release IDs, set retention, treat missing data deliberately and test alarm actions.</a:t>
            </a:r>
          </a:p>
          <a:p>
            <a:r>
              <a:t>FAILURE MODE: A low-level alarm without an owner, action or user-impact relationship creates noise rather than observability.</a:t>
            </a:r>
          </a:p>
          <a:p>
            <a:r>
              <a:t>EVIDENCE: Dashboard, query, alarm history, notification, release annotation and operator response.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3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 foundations: Tracing and service health.</a:t>
            </a:r>
          </a:p>
          <a:p>
            <a:r>
              <a:t>PURPOSE: Correlate a user request across services and identify latency, faults, errors and dependency bottlenecks.</a:t>
            </a:r>
          </a:p>
          <a:p>
            <a:r>
              <a:t>FEATURE 1: Trace segments/subsegments represent service work and downstream calls.</a:t>
            </a:r>
          </a:p>
          <a:p>
            <a:r>
              <a:t>FEATURE 2: Sampling limits cost while preserving representative traces; annotations support indexed filtering.</a:t>
            </a:r>
          </a:p>
          <a:p>
            <a:r>
              <a:t>FEATURE 3: Application Signals adds service, operation and SLO-oriented telemetry for supported workloads.</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3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Tracing and service health: selection and controls.</a:t>
            </a:r>
          </a:p>
          <a:p>
            <a:r>
              <a:t>CHOOSE WHEN: Use distributed tracing when logs alone cannot explain cross-service latency or failure propagation.</a:t>
            </a:r>
          </a:p>
          <a:p>
            <a:r>
              <a:t>DEVOPS ENGINEERING: Propagate trace context, avoid sensitive annotations, correlate trace/release IDs and define service-level objectives.</a:t>
            </a:r>
          </a:p>
          <a:p>
            <a:r>
              <a:t>FAILURE MODE: Unsampled rare failures or missing context propagation create misleading service maps.</a:t>
            </a:r>
          </a:p>
          <a:p>
            <a:r>
              <a:t>EVIDENCE: Trace ID, service map, fault/latency segment, correlated log, SLO burn and release identifier.</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3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 foundations: Telemetry analytics.</a:t>
            </a:r>
          </a:p>
          <a:p>
            <a:r>
              <a:t>PURPOSE: Search, retain and visualise operational telemetry using tools matched to log, metric and dashboard workloads.</a:t>
            </a:r>
          </a:p>
          <a:p>
            <a:r>
              <a:t>FEATURE 1: OpenSearch indexes/searches documents and can visualise log/event data.</a:t>
            </a:r>
          </a:p>
          <a:p>
            <a:r>
              <a:t>FEATURE 2: Managed Prometheus provides PromQL-compatible metric ingestion/query for container ecosystems.</a:t>
            </a:r>
          </a:p>
          <a:p>
            <a:r>
              <a:t>FEATURE 3: Managed Grafana federates dashboards across approved data sources.</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3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Telemetry analytics: selection and controls.</a:t>
            </a:r>
          </a:p>
          <a:p>
            <a:r>
              <a:t>CHOOSE WHEN: Use native CloudWatch first for AWS-integrated operations; add OpenSearch or Prometheus/Grafana when search/query or ecosystem requirements justify them.</a:t>
            </a:r>
          </a:p>
          <a:p>
            <a:r>
              <a:t>DEVOPS ENGINEERING: Control tenancy, encryption, retention, shard/cardinality growth and dashboard access through federation.</a:t>
            </a:r>
          </a:p>
          <a:p>
            <a:r>
              <a:t>FAILURE MODE: Unbounded log indexing or metric labels can create cost and performance failures.</a:t>
            </a:r>
          </a:p>
          <a:p>
            <a:r>
              <a:t>EVIDENCE: Index policy, ingestion lag, query latency, series count, dashboard ownership and access log.</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3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 foundations: Streaming and data engineering signals.</a:t>
            </a:r>
          </a:p>
          <a:p>
            <a:r>
              <a:t>PURPOSE: Move high-volume operational events into durable streams, delivery destinations and queryable evidence stores.</a:t>
            </a:r>
          </a:p>
          <a:p>
            <a:r>
              <a:t>FEATURE 1: Kinesis Data Streams partitions records by key and exposes shard/consumer lag and retention controls.</a:t>
            </a:r>
          </a:p>
          <a:p>
            <a:r>
              <a:t>FEATURE 2: Firehose buffers, optionally transforms and delivers data to destinations such as S3/OpenSearch.</a:t>
            </a:r>
          </a:p>
          <a:p>
            <a:r>
              <a:t>FEATURE 3: Glue Catalog describes datasets; Athena queries data in S3 and benefits from partitioning and columnar formats.</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3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Streaming and data engineering signals: selection and controls.</a:t>
            </a:r>
          </a:p>
          <a:p>
            <a:r>
              <a:t>CHOOSE WHEN: Use Streams for custom low-latency consumers/replay, Firehose for managed delivery, and S3/Glue/Athena for economical historical analysis.</a:t>
            </a:r>
          </a:p>
          <a:p>
            <a:r>
              <a:t>DEVOPS ENGINEERING: Choose partition keys carefully, monitor iterator age, design replay/idempotency, encrypt records and control schema evolution.</a:t>
            </a:r>
          </a:p>
          <a:p>
            <a:r>
              <a:t>FAILURE MODE: A hot partition throttles one shard even when the stream has unused capacity elsewhere.</a:t>
            </a:r>
          </a:p>
          <a:p>
            <a:r>
              <a:t>EVIDENCE: Put-record result, shard distribution, iterator age, delivery error, catalog version, query and retention policy.</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3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Developer deep dive: CloudWatch metrics, logs and alarm engineering.</a:t>
            </a:r>
          </a:p>
          <a:p>
            <a:r>
              <a:t>PURPOSE: Create actionable observability from service, application and business signals instead of accumulating unowned telemetry.</a:t>
            </a:r>
          </a:p>
          <a:p>
            <a:r>
              <a:t>SERVICE BOUNDARY: CloudWatch Metrics · Logs · alarms · Logs Insights</a:t>
            </a:r>
          </a:p>
          <a:p>
            <a:r>
              <a:t>PRIMARY DESIGN DECISION: Emit transaction success/failure and latency, annotate releases, alarm on error-rate/SLO burn and use a composite signal for rollback.</a:t>
            </a:r>
          </a:p>
          <a:p>
            <a:r>
              <a:t>FAILURE BOUNDARY: CPU is not a user outcome; unbounded tenant IDs as dimensions can create excessive custom time series.</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3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CloudWatch metrics, logs and alarm engineering: how it works.</a:t>
            </a:r>
          </a:p>
          <a:p>
            <a:r>
              <a:t>MECHANIC 1: Metrics combine namespace, name, dimensions, timestamp and value; every new dimension combination creates a distinct time series with cost and cardinality implications.</a:t>
            </a:r>
          </a:p>
          <a:p>
            <a:r>
              <a:t>MECHANIC 2: Embedded Metric Format extracts metrics from structured logs, allowing a single event to retain detail and contribute numeric signals.</a:t>
            </a:r>
          </a:p>
          <a:p>
            <a:r>
              <a:t>MECHANIC 3: Log groups define retention and encryption; subscription filters stream matching events to supported destinations for central analysis.</a:t>
            </a:r>
          </a:p>
          <a:p>
            <a:r>
              <a:t>MECHANIC 4: Metric math, anomaly detection and composite alarms combine signals, while missing-data treatment changes whether absence is healthy, breaching or unknown.</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3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CloudWatch metrics, logs and alarm engineering: operating flow.</a:t>
            </a:r>
          </a:p>
          <a:p>
            <a:r>
              <a:t>Emit structured telemetry</a:t>
            </a:r>
          </a:p>
          <a:p>
            <a:r>
              <a:t>Apply dimensions and retention</a:t>
            </a:r>
          </a:p>
          <a:p>
            <a:r>
              <a:t>Query and correlate release</a:t>
            </a:r>
          </a:p>
          <a:p>
            <a:r>
              <a:t>Evaluate SLO signal</a:t>
            </a:r>
          </a:p>
          <a:p>
            <a:r>
              <a:t>Notify owner or automate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3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CloudWatch metrics, logs and alarm engineering: configuration decisions.</a:t>
            </a:r>
          </a:p>
          <a:p>
            <a:r>
              <a:t>SIGNAL: Prefer request, error, duration and saturation indicators plus business outcomes over infrastructure-only dashboards.</a:t>
            </a:r>
          </a:p>
          <a:p>
            <a:r>
              <a:t>ALARM: Define owner, severity, action, evaluation window and recovery behavior; test alarm transitions deliberately.</a:t>
            </a:r>
          </a:p>
          <a:p>
            <a:r>
              <a:t>LOGS: Use structured fields and correlation IDs, redact secrets and set retention from operational/legal need.</a:t>
            </a:r>
          </a:p>
          <a:p>
            <a:r>
              <a:t>COST: Control custom metric cardinality, log volume, ingestion class and query scan range.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3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CloudWatch metrics, logs and alarm engineering: worked architecture decision.</a:t>
            </a:r>
          </a:p>
          <a:p>
            <a:r>
              <a:t>SCENARIO: A deployment increases checkout failures without raising CPU, so the existing fleet alarm remains green.</a:t>
            </a:r>
          </a:p>
          <a:p>
            <a:r>
              <a:t>DESIGN DECISION: Emit transaction success/failure and latency, annotate releases, alarm on error-rate/SLO burn and use a composite signal for rollback.</a:t>
            </a:r>
          </a:p>
          <a:p>
            <a:r>
              <a:t>FAILURE TO AVOID: CPU is not a user outcome; unbounded tenant IDs as dimensions can create excessive custom time series.</a:t>
            </a:r>
          </a:p>
          <a:p>
            <a:r>
              <a:t>ACCEPTANCE EVIDENCE: Metric schema, sample structured log, dashboard, query, alarm history, release annotation and operator action.</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3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Developer deep dive: Distributed tracing with X-Ray and OpenTelemetry.</a:t>
            </a:r>
          </a:p>
          <a:p>
            <a:r>
              <a:t>PURPOSE: Follow requests across service boundaries and connect latency or faults to dependency, release and log evidence.</a:t>
            </a:r>
          </a:p>
          <a:p>
            <a:r>
              <a:t>SERVICE BOUNDARY: AWS X-Ray · ADOT · Application Signals · ServiceLens</a:t>
            </a:r>
          </a:p>
          <a:p>
            <a:r>
              <a:t>PRIMARY DESIGN DECISION: Propagate trace context, instrument SDK/dependency calls, retain message correlation and compare queue delay with processing duration.</a:t>
            </a:r>
          </a:p>
          <a:p>
            <a:r>
              <a:t>FAILURE BOUNDARY: A trace covering only the first Lambda misattributes queue time and hides downstream throttling.</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3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Distributed tracing with X-Ray and OpenTelemetry: how it works.</a:t>
            </a:r>
          </a:p>
          <a:p>
            <a:r>
              <a:t>MECHANIC 1: Trace context propagates a trace identifier and sampling decision; each service contributes spans or X-Ray segments/subsegments describing timed work.</a:t>
            </a:r>
          </a:p>
          <a:p>
            <a:r>
              <a:t>MECHANIC 2: Sampling reduces telemetry volume and must preserve enough rare or high-value failures for diagnosis; head and tail sampling have different visibility trade-offs.</a:t>
            </a:r>
          </a:p>
          <a:p>
            <a:r>
              <a:t>MECHANIC 3: Annotations are indexed fields for trace filtering, while metadata stores unindexed context; neither should contain secrets or regulated payloads.</a:t>
            </a:r>
          </a:p>
          <a:p>
            <a:r>
              <a:t>MECHANIC 4: AWS Distro for OpenTelemetry collects standard traces and metrics and can export to supported AWS or third-party backends.</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3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Distributed tracing with X-Ray and OpenTelemetry: operating flow.</a:t>
            </a:r>
          </a:p>
          <a:p>
            <a:r>
              <a:t>Receive trace context</a:t>
            </a:r>
          </a:p>
          <a:p>
            <a:r>
              <a:t>Create server span</a:t>
            </a:r>
          </a:p>
          <a:p>
            <a:r>
              <a:t>Instrument dependency call</a:t>
            </a:r>
          </a:p>
          <a:p>
            <a:r>
              <a:t>Export sampled telemetry</a:t>
            </a:r>
          </a:p>
          <a:p>
            <a:r>
              <a:t>Correlate map, logs and release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3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Distributed tracing with X-Ray and OpenTelemetry: configuration decisions.</a:t>
            </a:r>
          </a:p>
          <a:p>
            <a:r>
              <a:t>PROPAGATION: Instrument every protocol boundary or explicitly bridge trace headers; one missing hop fragments the service map.</a:t>
            </a:r>
          </a:p>
          <a:p>
            <a:r>
              <a:t>SAMPLING: Set rules by service/path/value and monitor cost; preserve critical errors through appropriate sampling strategy.</a:t>
            </a:r>
          </a:p>
          <a:p>
            <a:r>
              <a:t>ASYNC WORK: Link producer and consumer context without pretending queued time is synchronous processing.</a:t>
            </a:r>
          </a:p>
          <a:p>
            <a:r>
              <a:t>PRIVACY: Record identifiers needed for correlation but exclude credentials, tokens and sensitive payloads.</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3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Distributed tracing with X-Ray and OpenTelemetry: worked architecture decision.</a:t>
            </a:r>
          </a:p>
          <a:p>
            <a:r>
              <a:t>SCENARIO: A serverless request is fast at the API edge but intermittently slow after two asynchronous downstream steps.</a:t>
            </a:r>
          </a:p>
          <a:p>
            <a:r>
              <a:t>DESIGN DECISION: Propagate trace context, instrument SDK/dependency calls, retain message correlation and compare queue delay with processing duration.</a:t>
            </a:r>
          </a:p>
          <a:p>
            <a:r>
              <a:t>FAILURE TO AVOID: A trace covering only the first Lambda misattributes queue time and hides downstream throttling.</a:t>
            </a:r>
          </a:p>
          <a:p>
            <a:r>
              <a:t>ACCEPTANCE EVIDENCE: Trace ID, sampled spans, service map, fault/latency segment, correlated log/request ID and deployment version.</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3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Developer deep dive: Kinesis, Firehose and queryable event lakes.</a:t>
            </a:r>
          </a:p>
          <a:p>
            <a:r>
              <a:t>PURPOSE: Ingest, replay, deliver and query high-volume operational events while controlling partition balance, lag and schema evolution.</a:t>
            </a:r>
          </a:p>
          <a:p>
            <a:r>
              <a:t>SERVICE BOUNDARY: Kinesis Data Streams · Firehose · Glue · Athena</a:t>
            </a:r>
          </a:p>
          <a:p>
            <a:r>
              <a:t>PRIMARY DESIGN DECISION: Redesign the partition key with controlled distribution, preserve customer queryability in record fields and scale consumers from measured lag.</a:t>
            </a:r>
          </a:p>
          <a:p>
            <a:r>
              <a:t>FAILURE BOUNDARY: Adding shards does not fix an unchanged hot key; retrying failed records without checkpoints can duplicate downstream work.</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3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Kinesis, Firehose and queryable event lakes: how it works.</a:t>
            </a:r>
          </a:p>
          <a:p>
            <a:r>
              <a:t>MECHANIC 1: Data Streams assigns records to shards from the partition key; consumer lag and hot shards are therefore functions of key distribution and per-shard throughput.</a:t>
            </a:r>
          </a:p>
          <a:p>
            <a:r>
              <a:t>MECHANIC 2: Enhanced fan-out gives registered consumers dedicated read throughput, while shared polling consumers compete within shard limits.</a:t>
            </a:r>
          </a:p>
          <a:p>
            <a:r>
              <a:t>MECHANIC 3: Firehose buffers by size/time, can transform records and delivers to destinations with backup/error prefixes for failed data.</a:t>
            </a:r>
          </a:p>
          <a:p>
            <a:r>
              <a:t>MECHANIC 4: S3 partitioning, Glue catalog metadata and columnar formats such as Parquet reduce Athena scan volume and make historical evidence economical.</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3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Kinesis, Firehose and queryable event lakes: operating flow.</a:t>
            </a:r>
          </a:p>
          <a:p>
            <a:r>
              <a:t>Choose partition key</a:t>
            </a:r>
          </a:p>
          <a:p>
            <a:r>
              <a:t>Write with retry and ordering</a:t>
            </a:r>
          </a:p>
          <a:p>
            <a:r>
              <a:t>Consume/checkpoint</a:t>
            </a:r>
          </a:p>
          <a:p>
            <a:r>
              <a:t>Deliver and catalog</a:t>
            </a:r>
          </a:p>
          <a:p>
            <a:r>
              <a:t>Query lag, errors and history</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3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Kinesis, Firehose and queryable event lakes: configuration decisions.</a:t>
            </a:r>
          </a:p>
          <a:p>
            <a:r>
              <a:t>STREAMS: Choose when custom consumers, replay, ordering within a shard or low-latency processing are required.</a:t>
            </a:r>
          </a:p>
          <a:p>
            <a:r>
              <a:t>FIREHOSE: Choose for managed buffered delivery where application-controlled replay/consumer logic is not required.</a:t>
            </a:r>
          </a:p>
          <a:p>
            <a:r>
              <a:t>SCHEMA: Version records compatibly and quarantine malformed events instead of blocking an entire consumer shard.</a:t>
            </a:r>
          </a:p>
          <a:p>
            <a:r>
              <a:t>SECURITY: Encrypt in transit/at rest, scope producer/consumer roles and protect destination prefixes/catalog access.</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3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Kinesis, Firehose and queryable event lakes: worked architecture decision.</a:t>
            </a:r>
          </a:p>
          <a:p>
            <a:r>
              <a:t>SCENARIO: One customer ID dominates the stream and causes high iterator age while other shards remain idle.</a:t>
            </a:r>
          </a:p>
          <a:p>
            <a:r>
              <a:t>DESIGN DECISION: Redesign the partition key with controlled distribution, preserve customer queryability in record fields and scale consumers from measured lag.</a:t>
            </a:r>
          </a:p>
          <a:p>
            <a:r>
              <a:t>FAILURE TO AVOID: Adding shards does not fix an unchanged hot key; retrying failed records without checkpoints can duplicate downstream work.</a:t>
            </a:r>
          </a:p>
          <a:p>
            <a:r>
              <a:t>ACCEPTANCE EVIDENCE: Put-record responses, per-shard throughput, iterator age, checkpoint, delivery errors, catalog version and Athena query result.</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3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Metrics, dimensions and service objectives.</a:t>
            </a:r>
          </a:p>
          <a:p>
            <a:r>
              <a:t>OUTCOME: Measure user outcomes and resource behavior with metrics that support decisions.</a:t>
            </a:r>
          </a:p>
          <a:p>
            <a:r>
              <a:t>ARCHITECTURE: Define SLIs and thresholds, use dimensions carefully, aggregate intentionally and avoid high-cardinality custom metrics.</a:t>
            </a:r>
          </a:p>
          <a:p>
            <a:r>
              <a:t>FAILURE MODE: Averages can hide tail latency and a small population of severe failures.</a:t>
            </a:r>
          </a:p>
          <a:p>
            <a:r>
              <a:t>EVIDENCE: Metric namespace, dimensions, statistic, period, percentile, SLO and alarm history.</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3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Metrics, dimensions and service objectives: operating flow.</a:t>
            </a:r>
          </a:p>
          <a:p>
            <a:r>
              <a:t>Instrument</a:t>
            </a:r>
          </a:p>
          <a:p>
            <a:r>
              <a:t>Publish</a:t>
            </a:r>
          </a:p>
          <a:p>
            <a:r>
              <a:t>Aggregate</a:t>
            </a:r>
          </a:p>
          <a:p>
            <a:r>
              <a:t>Compare to objective</a:t>
            </a:r>
          </a:p>
          <a:p>
            <a:r>
              <a:t>Alert or review</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3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Metrics, dimensions and service objectives: design decision.</a:t>
            </a:r>
          </a:p>
          <a:p>
            <a:r>
              <a:t>SCENARIO: An API meets average-latency targets but its slowest five percent of requests breach the user promise.</a:t>
            </a:r>
          </a:p>
          <a:p>
            <a:r>
              <a:t>DESIGN RESPONSE: Define SLIs and thresholds, use dimensions carefully, aggregate intentionally and avoid high-cardinality custom metrics.</a:t>
            </a:r>
          </a:p>
          <a:p>
            <a:r>
              <a:t>PRIMARY SERVICES: CloudWatch Metrics · Metric Math · Application Signals</a:t>
            </a:r>
          </a:p>
          <a:p>
            <a:r>
              <a:t>FAILURE MODE: Averages can hide tail latency and a small population of severe failures.</a:t>
            </a:r>
          </a:p>
          <a:p>
            <a:r>
              <a:t>PROOF: Metric namespace, dimensions, statistic, period, percentile, SLO and alarm history.</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3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Metrics, dimensions and service objectives: failure diagnostic.</a:t>
            </a:r>
          </a:p>
          <a:p>
            <a:r>
              <a:t>RECOGNISE: Observable failure condition: Averages can hide tail latency and a small population of severe failures.</a:t>
            </a:r>
          </a:p>
          <a:p>
            <a:r>
              <a:t>CONTAIN: Pause promotion, preserve evidence and reduce impact without destroying diagnostic state.</a:t>
            </a:r>
          </a:p>
          <a:p>
            <a:r>
              <a:t>DIAGNOSE: Trace the workflow from Instrument through Alert or review; compare intended configuration with runtime state.</a:t>
            </a:r>
          </a:p>
          <a:p>
            <a:r>
              <a:t>RECOVER: Restore the last known-good state, then prove recovery with Metric namespace, dimensions, statistic, period, percentile, SLO and alarm history.</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3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Metrics, dimensions and service objectives: worked decision.</a:t>
            </a:r>
          </a:p>
          <a:p>
            <a:r>
              <a:t>CONSTRAINT: An API meets average-latency targets but its slowest five percent of requests breach the user promise.</a:t>
            </a:r>
          </a:p>
          <a:p>
            <a:r>
              <a:t>DECISION: Define SLIs and thresholds, use dimensions carefully, aggregate intentionally and avoid high-cardinality custom metrics.</a:t>
            </a:r>
          </a:p>
          <a:p>
            <a:r>
              <a:t>WHY ALTERNATIVES LOSE: Reject options that do not change the stated failure boundary: Averages can hide tail latency and a small population of severe failures.</a:t>
            </a:r>
          </a:p>
          <a:p>
            <a:r>
              <a:t>ACCEPTANCE TEST: The decision is complete only when this proof exists: Metric namespace, dimensions, statistic, period, percentile, SLO and alarm history.</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3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Centralized log architecture.</a:t>
            </a:r>
          </a:p>
          <a:p>
            <a:r>
              <a:t>OUTCOME: Collect searchable logs across accounts and Regions while meeting retention and access requirements.</a:t>
            </a:r>
          </a:p>
          <a:p>
            <a:r>
              <a:t>ARCHITECTURE: Standardize structure, encrypt log groups, centralize subscriptions, partition archives and prevent recursive delivery.</a:t>
            </a:r>
          </a:p>
          <a:p>
            <a:r>
              <a:t>FAILURE MODE: Centralization without account/Region context makes incident correlation harder.</a:t>
            </a:r>
          </a:p>
          <a:p>
            <a:r>
              <a:t>EVIDENCE: Log-group policy, subscription filter, destination policy, archive partition and retention setting.</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3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Centralized log architecture: operating flow.</a:t>
            </a:r>
          </a:p>
          <a:p>
            <a:r>
              <a:t>Emit structured log</a:t>
            </a:r>
          </a:p>
          <a:p>
            <a:r>
              <a:t>Collect</a:t>
            </a:r>
          </a:p>
          <a:p>
            <a:r>
              <a:t>Filter</a:t>
            </a:r>
          </a:p>
          <a:p>
            <a:r>
              <a:t>Stream</a:t>
            </a:r>
          </a:p>
          <a:p>
            <a:r>
              <a:t>Archive</a:t>
            </a:r>
          </a:p>
          <a:p>
            <a:r>
              <a:t>Query</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3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Centralized log architecture: design decision.</a:t>
            </a:r>
          </a:p>
          <a:p>
            <a:r>
              <a:t>SCENARIO: Security operations needs a central account for application and audit logs from every workload account.</a:t>
            </a:r>
          </a:p>
          <a:p>
            <a:r>
              <a:t>DESIGN RESPONSE: Standardize structure, encrypt log groups, centralize subscriptions, partition archives and prevent recursive delivery.</a:t>
            </a:r>
          </a:p>
          <a:p>
            <a:r>
              <a:t>PRIMARY SERVICES: CloudWatch Logs · Kinesis Data Firehose · S3 · OpenSearch</a:t>
            </a:r>
          </a:p>
          <a:p>
            <a:r>
              <a:t>FAILURE MODE: Centralization without account/Region context makes incident correlation harder.</a:t>
            </a:r>
          </a:p>
          <a:p>
            <a:r>
              <a:t>PROOF: Log-group policy, subscription filter, destination policy, archive partition and retention setting.</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3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Centralized log architecture: failure diagnostic.</a:t>
            </a:r>
          </a:p>
          <a:p>
            <a:r>
              <a:t>RECOGNISE: Observable failure condition: Centralization without account/Region context makes incident correlation harder.</a:t>
            </a:r>
          </a:p>
          <a:p>
            <a:r>
              <a:t>CONTAIN: Pause promotion, preserve evidence and reduce impact without destroying diagnostic state.</a:t>
            </a:r>
          </a:p>
          <a:p>
            <a:r>
              <a:t>DIAGNOSE: Trace the workflow from Emit structured log through Query; compare intended configuration with runtime state.</a:t>
            </a:r>
          </a:p>
          <a:p>
            <a:r>
              <a:t>RECOVER: Restore the last known-good state, then prove recovery with Log-group policy, subscription filter, destination policy, archive partition and retention setting.</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3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Centralized log architecture: worked decision.</a:t>
            </a:r>
          </a:p>
          <a:p>
            <a:r>
              <a:t>CONSTRAINT: Security operations needs a central account for application and audit logs from every workload account.</a:t>
            </a:r>
          </a:p>
          <a:p>
            <a:r>
              <a:t>DECISION: Standardize structure, encrypt log groups, centralize subscriptions, partition archives and prevent recursive delivery.</a:t>
            </a:r>
          </a:p>
          <a:p>
            <a:r>
              <a:t>WHY ALTERNATIVES LOSE: Reject options that do not change the stated failure boundary: Centralization without account/Region context makes incident correlation harder.</a:t>
            </a:r>
          </a:p>
          <a:p>
            <a:r>
              <a:t>ACCEPTANCE TEST: The decision is complete only when this proof exists: Log-group policy, subscription filter, destination policy, archive partition and retention setting.</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3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Agents and custom telemetry.</a:t>
            </a:r>
          </a:p>
          <a:p>
            <a:r>
              <a:t>OUTCOME: Capture operating-system, application and business signals not emitted by managed services.</a:t>
            </a:r>
          </a:p>
          <a:p>
            <a:r>
              <a:t>ARCHITECTURE: Deploy versioned agent configuration, use least privilege, buffer safely and validate time synchronization.</a:t>
            </a:r>
          </a:p>
          <a:p>
            <a:r>
              <a:t>FAILURE MODE: A broken agent rollout can remove visibility exactly when a change is being evaluated.</a:t>
            </a:r>
          </a:p>
          <a:p>
            <a:r>
              <a:t>EVIDENCE: Agent config version, collection status, dropped records, IAM policy and sample telemetry.</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3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Agents and custom telemetry: operating flow.</a:t>
            </a:r>
          </a:p>
          <a:p>
            <a:r>
              <a:t>Configure receiver</a:t>
            </a:r>
          </a:p>
          <a:p>
            <a:r>
              <a:t>Collect</a:t>
            </a:r>
          </a:p>
          <a:p>
            <a:r>
              <a:t>Enrich</a:t>
            </a:r>
          </a:p>
          <a:p>
            <a:r>
              <a:t>Batch</a:t>
            </a:r>
          </a:p>
          <a:p>
            <a:r>
              <a:t>Export</a:t>
            </a:r>
          </a:p>
          <a:p>
            <a:r>
              <a:t>Verify</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3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Agents and custom telemetry: design decision.</a:t>
            </a:r>
          </a:p>
          <a:p>
            <a:r>
              <a:t>SCENARIO: A hybrid fleet must publish memory utilization, application latency and deployment version consistently.</a:t>
            </a:r>
          </a:p>
          <a:p>
            <a:r>
              <a:t>DESIGN RESPONSE: Deploy versioned agent configuration, use least privilege, buffer safely and validate time synchronization.</a:t>
            </a:r>
          </a:p>
          <a:p>
            <a:r>
              <a:t>PRIMARY SERVICES: CloudWatch Agent · OpenTelemetry Collector · Embedded Metric Format</a:t>
            </a:r>
          </a:p>
          <a:p>
            <a:r>
              <a:t>FAILURE MODE: A broken agent rollout can remove visibility exactly when a change is being evaluated.</a:t>
            </a:r>
          </a:p>
          <a:p>
            <a:r>
              <a:t>PROOF: Agent config version, collection status, dropped records, IAM policy and sample telemetry.</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3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Agents and custom telemetry: failure diagnostic.</a:t>
            </a:r>
          </a:p>
          <a:p>
            <a:r>
              <a:t>RECOGNISE: Observable failure condition: A broken agent rollout can remove visibility exactly when a change is being evaluated.</a:t>
            </a:r>
          </a:p>
          <a:p>
            <a:r>
              <a:t>CONTAIN: Pause promotion, preserve evidence and reduce impact without destroying diagnostic state.</a:t>
            </a:r>
          </a:p>
          <a:p>
            <a:r>
              <a:t>DIAGNOSE: Trace the workflow from Configure receiver through Verify; compare intended configuration with runtime state.</a:t>
            </a:r>
          </a:p>
          <a:p>
            <a:r>
              <a:t>RECOVER: Restore the last known-good state, then prove recovery with Agent config version, collection status, dropped records, IAM policy and sample telemetry.</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3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Agents and custom telemetry: worked decision.</a:t>
            </a:r>
          </a:p>
          <a:p>
            <a:r>
              <a:t>CONSTRAINT: A hybrid fleet must publish memory utilization, application latency and deployment version consistently.</a:t>
            </a:r>
          </a:p>
          <a:p>
            <a:r>
              <a:t>DECISION: Deploy versioned agent configuration, use least privilege, buffer safely and validate time synchronization.</a:t>
            </a:r>
          </a:p>
          <a:p>
            <a:r>
              <a:t>WHY ALTERNATIVES LOSE: Reject options that do not change the stated failure boundary: A broken agent rollout can remove visibility exactly when a change is being evaluated.</a:t>
            </a:r>
          </a:p>
          <a:p>
            <a:r>
              <a:t>ACCEPTANCE TEST: The decision is complete only when this proof exists: Agent config version, collection status, dropped records, IAM policy and sample telemetry.</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3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Alarms, anomaly detection and composite signals.</a:t>
            </a:r>
          </a:p>
          <a:p>
            <a:r>
              <a:t>OUTCOME: Trigger action only when evidence is meaningful enough to justify interruption or automation.</a:t>
            </a:r>
          </a:p>
          <a:p>
            <a:r>
              <a:t>ARCHITECTURE: Tune evaluation periods and missing-data behavior; combine symptoms to reduce noise and attach runbook context.</a:t>
            </a:r>
          </a:p>
          <a:p>
            <a:r>
              <a:t>FAILURE MODE: One noisy metric can cause alert fatigue or repeated automated recovery.</a:t>
            </a:r>
          </a:p>
          <a:p>
            <a:r>
              <a:t>EVIDENCE: Alarm configuration, state transition, contributing alarms, notification payload and operator action.</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3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Alarms, anomaly detection and composite signals: operating flow.</a:t>
            </a:r>
          </a:p>
          <a:p>
            <a:r>
              <a:t>Evaluate datapoint</a:t>
            </a:r>
          </a:p>
          <a:p>
            <a:r>
              <a:t>Apply threshold</a:t>
            </a:r>
          </a:p>
          <a:p>
            <a:r>
              <a:t>Correlate</a:t>
            </a:r>
          </a:p>
          <a:p>
            <a:r>
              <a:t>Change state</a:t>
            </a:r>
          </a:p>
          <a:p>
            <a:r>
              <a:t>Notify or act</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3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Alarms, anomaly detection and composite signals: design decision.</a:t>
            </a:r>
          </a:p>
          <a:p>
            <a:r>
              <a:t>SCENARIO: Operations wants a page only when latency is high and the error rate indicates customer impact.</a:t>
            </a:r>
          </a:p>
          <a:p>
            <a:r>
              <a:t>DESIGN RESPONSE: Tune evaluation periods and missing-data behavior; combine symptoms to reduce noise and attach runbook context.</a:t>
            </a:r>
          </a:p>
          <a:p>
            <a:r>
              <a:t>PRIMARY SERVICES: CloudWatch Alarms · Composite Alarms · SNS</a:t>
            </a:r>
          </a:p>
          <a:p>
            <a:r>
              <a:t>FAILURE MODE: One noisy metric can cause alert fatigue or repeated automated recovery.</a:t>
            </a:r>
          </a:p>
          <a:p>
            <a:r>
              <a:t>PROOF: Alarm configuration, state transition, contributing alarms, notification payload and operator action.</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3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Alarms, anomaly detection and composite signals: failure diagnostic.</a:t>
            </a:r>
          </a:p>
          <a:p>
            <a:r>
              <a:t>RECOGNISE: Observable failure condition: One noisy metric can cause alert fatigue or repeated automated recovery.</a:t>
            </a:r>
          </a:p>
          <a:p>
            <a:r>
              <a:t>CONTAIN: Pause promotion, preserve evidence and reduce impact without destroying diagnostic state.</a:t>
            </a:r>
          </a:p>
          <a:p>
            <a:r>
              <a:t>DIAGNOSE: Trace the workflow from Evaluate datapoint through Notify or act; compare intended configuration with runtime state.</a:t>
            </a:r>
          </a:p>
          <a:p>
            <a:r>
              <a:t>RECOVER: Restore the last known-good state, then prove recovery with Alarm configuration, state transition, contributing alarms, notification payload and operator action.</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3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Alarms, anomaly detection and composite signals: worked decision.</a:t>
            </a:r>
          </a:p>
          <a:p>
            <a:r>
              <a:t>CONSTRAINT: Operations wants a page only when latency is high and the error rate indicates customer impact.</a:t>
            </a:r>
          </a:p>
          <a:p>
            <a:r>
              <a:t>DECISION: Tune evaluation periods and missing-data behavior; combine symptoms to reduce noise and attach runbook context.</a:t>
            </a:r>
          </a:p>
          <a:p>
            <a:r>
              <a:t>WHY ALTERNATIVES LOSE: Reject options that do not change the stated failure boundary: One noisy metric can cause alert fatigue or repeated automated recovery.</a:t>
            </a:r>
          </a:p>
          <a:p>
            <a:r>
              <a:t>ACCEPTANCE TEST: The decision is complete only when this proof exists: Alarm configuration, state transition, contributing alarms, notification payload and operator action.</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3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Distributed tracing and service maps.</a:t>
            </a:r>
          </a:p>
          <a:p>
            <a:r>
              <a:t>OUTCOME: Trace a request across services to locate latency, faults and dependency behavior.</a:t>
            </a:r>
          </a:p>
          <a:p>
            <a:r>
              <a:t>ARCHITECTURE: Propagate trace context, sample intentionally, protect sensitive attributes and correlate traces with logs and metrics.</a:t>
            </a:r>
          </a:p>
          <a:p>
            <a:r>
              <a:t>FAILURE MODE: Missing context propagation creates disconnected traces and incorrect service maps.</a:t>
            </a:r>
          </a:p>
          <a:p>
            <a:r>
              <a:t>EVIDENCE: Trace ID, segment/subsegment, annotation, sampling rule, fault edge and correlated log event.</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Distributed tracing and service maps: operating flow.</a:t>
            </a:r>
          </a:p>
          <a:p>
            <a:r>
              <a:t>Receive trace context</a:t>
            </a:r>
          </a:p>
          <a:p>
            <a:r>
              <a:t>Create span</a:t>
            </a:r>
          </a:p>
          <a:p>
            <a:r>
              <a:t>Call dependency</a:t>
            </a:r>
          </a:p>
          <a:p>
            <a:r>
              <a:t>Propagate</a:t>
            </a:r>
          </a:p>
          <a:p>
            <a:r>
              <a:t>Export</a:t>
            </a:r>
          </a:p>
          <a:p>
            <a:r>
              <a:t>Analyze path</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Distributed tracing and service maps: design decision.</a:t>
            </a:r>
          </a:p>
          <a:p>
            <a:r>
              <a:t>SCENARIO: A request is slow only when it crosses an asynchronous worker and a third-party dependency.</a:t>
            </a:r>
          </a:p>
          <a:p>
            <a:r>
              <a:t>DESIGN RESPONSE: Propagate trace context, sample intentionally, protect sensitive attributes and correlate traces with logs and metrics.</a:t>
            </a:r>
          </a:p>
          <a:p>
            <a:r>
              <a:t>PRIMARY SERVICES: AWS X-Ray · ADOT · CloudWatch ServiceLens</a:t>
            </a:r>
          </a:p>
          <a:p>
            <a:r>
              <a:t>FAILURE MODE: Missing context propagation creates disconnected traces and incorrect service maps.</a:t>
            </a:r>
          </a:p>
          <a:p>
            <a:r>
              <a:t>PROOF: Trace ID, segment/subsegment, annotation, sampling rule, fault edge and correlated log event.</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Distributed tracing and service maps: failure diagnostic.</a:t>
            </a:r>
          </a:p>
          <a:p>
            <a:r>
              <a:t>RECOGNISE: Observable failure condition: Missing context propagation creates disconnected traces and incorrect service maps.</a:t>
            </a:r>
          </a:p>
          <a:p>
            <a:r>
              <a:t>CONTAIN: Pause promotion, preserve evidence and reduce impact without destroying diagnostic state.</a:t>
            </a:r>
          </a:p>
          <a:p>
            <a:r>
              <a:t>DIAGNOSE: Trace the workflow from Receive trace context through Analyze path; compare intended configuration with runtime state.</a:t>
            </a:r>
          </a:p>
          <a:p>
            <a:r>
              <a:t>RECOVER: Restore the last known-good state, then prove recovery with Trace ID, segment/subsegment, annotation, sampling rule, fault edge and correlated log event.</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Distributed tracing and service maps: worked decision.</a:t>
            </a:r>
          </a:p>
          <a:p>
            <a:r>
              <a:t>CONSTRAINT: A request is slow only when it crosses an asynchronous worker and a third-party dependency.</a:t>
            </a:r>
          </a:p>
          <a:p>
            <a:r>
              <a:t>DECISION: Propagate trace context, sample intentionally, protect sensitive attributes and correlate traces with logs and metrics.</a:t>
            </a:r>
          </a:p>
          <a:p>
            <a:r>
              <a:t>WHY ALTERNATIVES LOSE: Reject options that do not change the stated failure boundary: Missing context propagation creates disconnected traces and incorrect service maps.</a:t>
            </a:r>
          </a:p>
          <a:p>
            <a:r>
              <a:t>ACCEPTANCE TEST: The decision is complete only when this proof exists: Trace ID, segment/subsegment, annotation, sampling rule, fault edge and correlated log event.</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Operational analysis and review.</a:t>
            </a:r>
          </a:p>
          <a:p>
            <a:r>
              <a:t>OUTCOME: Turn telemetry into repeatable system reviews and prioritized modifications.</a:t>
            </a:r>
          </a:p>
          <a:p>
            <a:r>
              <a:t>ARCHITECTURE: Build hypothesis-driven queries, compare deploy markers, keep dashboards audience-specific and record decisions.</a:t>
            </a:r>
          </a:p>
          <a:p>
            <a:r>
              <a:t>FAILURE MODE: A dashboard with many graphs but no decision threshold becomes decorative monitoring.</a:t>
            </a:r>
          </a:p>
          <a:p>
            <a:r>
              <a:t>EVIDENCE: Saved query, dashboard version, deployment annotation, review finding, owner and verified improvement.</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Operational analysis and review: operating flow.</a:t>
            </a:r>
          </a:p>
          <a:p>
            <a:r>
              <a:t>Observe change</a:t>
            </a:r>
          </a:p>
          <a:p>
            <a:r>
              <a:t>Form hypothesis</a:t>
            </a:r>
          </a:p>
          <a:p>
            <a:r>
              <a:t>Query evidence</a:t>
            </a:r>
          </a:p>
          <a:p>
            <a:r>
              <a:t>Decide</a:t>
            </a:r>
          </a:p>
          <a:p>
            <a:r>
              <a:t>Modify</a:t>
            </a:r>
          </a:p>
          <a:p>
            <a:r>
              <a:t>Measure again</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Operational analysis and review: design decision.</a:t>
            </a:r>
          </a:p>
          <a:p>
            <a:r>
              <a:t>SCENARIO: A weekly architecture review must explain rising throttles and recommend a measurable corrective action.</a:t>
            </a:r>
          </a:p>
          <a:p>
            <a:r>
              <a:t>DESIGN RESPONSE: Build hypothesis-driven queries, compare deploy markers, keep dashboards audience-specific and record decisions.</a:t>
            </a:r>
          </a:p>
          <a:p>
            <a:r>
              <a:t>PRIMARY SERVICES: Logs Insights · Dashboards · Contributor Insights · Metrics Streams</a:t>
            </a:r>
          </a:p>
          <a:p>
            <a:r>
              <a:t>FAILURE MODE: A dashboard with many graphs but no decision threshold becomes decorative monitoring.</a:t>
            </a:r>
          </a:p>
          <a:p>
            <a:r>
              <a:t>PROOF: Saved query, dashboard version, deployment annotation, review finding, owner and verified improvement.</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Operational analysis and review: failure diagnostic.</a:t>
            </a:r>
          </a:p>
          <a:p>
            <a:r>
              <a:t>RECOGNISE: Observable failure condition: A dashboard with many graphs but no decision threshold becomes decorative monitoring.</a:t>
            </a:r>
          </a:p>
          <a:p>
            <a:r>
              <a:t>CONTAIN: Pause promotion, preserve evidence and reduce impact without destroying diagnostic state.</a:t>
            </a:r>
          </a:p>
          <a:p>
            <a:r>
              <a:t>DIAGNOSE: Trace the workflow from Observe change through Measure again; compare intended configuration with runtime state.</a:t>
            </a:r>
          </a:p>
          <a:p>
            <a:r>
              <a:t>RECOVER: Restore the last known-good state, then prove recovery with Saved query, dashboard version, deployment annotation, review finding, owner and verified improvement.</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Operational analysis and review: worked decision.</a:t>
            </a:r>
          </a:p>
          <a:p>
            <a:r>
              <a:t>CONSTRAINT: A weekly architecture review must explain rising throttles and recommend a measurable corrective action.</a:t>
            </a:r>
          </a:p>
          <a:p>
            <a:r>
              <a:t>DECISION: Build hypothesis-driven queries, compare deploy markers, keep dashboards audience-specific and record decisions.</a:t>
            </a:r>
          </a:p>
          <a:p>
            <a:r>
              <a:t>WHY ALTERNATIVES LOSE: Reject options that do not change the stated failure boundary: A dashboard with many graphs but no decision threshold becomes decorative monitoring.</a:t>
            </a:r>
          </a:p>
          <a:p>
            <a:r>
              <a:t>ACCEPTANCE TEST: The decision is complete only when this proof exists: Saved query, dashboard version, deployment annotation, review finding, owner and verified improvement.</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Metrics to service objectives: architecture map.</a:t>
            </a:r>
          </a:p>
          <a:p>
            <a:r>
              <a:t>TRIGGER / INPUT: Instrument</a:t>
            </a:r>
          </a:p>
          <a:p>
            <a:r>
              <a:t>CONTROL PLANE: Define SLIs and thresholds, use dimensions carefully, aggregate intentionally and avoid high-cardinality custom metrics.</a:t>
            </a:r>
          </a:p>
          <a:p>
            <a:r>
              <a:t>AWS SERVICES: CloudWatch Metrics · Metric Math · Application Signals</a:t>
            </a:r>
          </a:p>
          <a:p>
            <a:r>
              <a:t>EVIDENCE BOUNDARY: Metric namespace, dimensions, statistic, period, percentile, SLO and alarm history.</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Centralized log architecture: architecture map.</a:t>
            </a:r>
          </a:p>
          <a:p>
            <a:r>
              <a:t>TRIGGER / INPUT: Emit structured log</a:t>
            </a:r>
          </a:p>
          <a:p>
            <a:r>
              <a:t>CONTROL PLANE: Standardize structure, encrypt log groups, centralize subscriptions, partition archives and prevent recursive delivery.</a:t>
            </a:r>
          </a:p>
          <a:p>
            <a:r>
              <a:t>AWS SERVICES: CloudWatch Logs · Kinesis Data Firehose · S3 · OpenSearch</a:t>
            </a:r>
          </a:p>
          <a:p>
            <a:r>
              <a:t>EVIDENCE BOUNDARY: Log-group policy, subscription filter, destination policy, archive partition and retention setting.</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Agents and custom telemetry: architecture map.</a:t>
            </a:r>
          </a:p>
          <a:p>
            <a:r>
              <a:t>TRIGGER / INPUT: Configure receiver</a:t>
            </a:r>
          </a:p>
          <a:p>
            <a:r>
              <a:t>CONTROL PLANE: Deploy versioned agent configuration, use least privilege, buffer safely and validate time synchronization.</a:t>
            </a:r>
          </a:p>
          <a:p>
            <a:r>
              <a:t>AWS SERVICES: CloudWatch Agent · OpenTelemetry Collector · Embedded Metric Format</a:t>
            </a:r>
          </a:p>
          <a:p>
            <a:r>
              <a:t>EVIDENCE BOUNDARY: Agent config version, collection status, dropped records, IAM policy and sample telemetry.</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Alarms, anomaly detection and composite signals: architecture map.</a:t>
            </a:r>
          </a:p>
          <a:p>
            <a:r>
              <a:t>TRIGGER / INPUT: Evaluate datapoint</a:t>
            </a:r>
          </a:p>
          <a:p>
            <a:r>
              <a:t>CONTROL PLANE: Tune evaluation periods and missing-data behavior; combine symptoms to reduce noise and attach runbook context.</a:t>
            </a:r>
          </a:p>
          <a:p>
            <a:r>
              <a:t>AWS SERVICES: CloudWatch Alarms · Composite Alarms · SNS</a:t>
            </a:r>
          </a:p>
          <a:p>
            <a:r>
              <a:t>EVIDENCE BOUNDARY: Alarm configuration, state transition, contributing alarms, notification payload and operator action.</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Distributed tracing and service maps: architecture map.</a:t>
            </a:r>
          </a:p>
          <a:p>
            <a:r>
              <a:t>TRIGGER / INPUT: Receive trace context</a:t>
            </a:r>
          </a:p>
          <a:p>
            <a:r>
              <a:t>CONTROL PLANE: Propagate trace context, sample intentionally, protect sensitive attributes and correlate traces with logs and metrics.</a:t>
            </a:r>
          </a:p>
          <a:p>
            <a:r>
              <a:t>AWS SERVICES: AWS X-Ray · ADOT · CloudWatch ServiceLens</a:t>
            </a:r>
          </a:p>
          <a:p>
            <a:r>
              <a:t>EVIDENCE BOUNDARY: Trace ID, segment/subsegment, annotation, sampling rule, fault edge and correlated log event.</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Operational analysis and review: architecture map.</a:t>
            </a:r>
          </a:p>
          <a:p>
            <a:r>
              <a:t>TRIGGER / INPUT: Observe change</a:t>
            </a:r>
          </a:p>
          <a:p>
            <a:r>
              <a:t>CONTROL PLANE: Build hypothesis-driven queries, compare deploy markers, keep dashboards audience-specific and record decisions.</a:t>
            </a:r>
          </a:p>
          <a:p>
            <a:r>
              <a:t>AWS SERVICES: Logs Insights · Dashboards · Contributor Insights · Metrics Streams</a:t>
            </a:r>
          </a:p>
          <a:p>
            <a:r>
              <a:t>EVIDENCE BOUNDARY: Saved query, dashboard version, deployment annotation, review finding, owner and verified improvement.</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16 overview — Instrument an EC2 workload with memory/disk and application metrics, then visualise CPU, latency, errors and request count on a CloudWatch dashboard (LO4, K5, A6).</a:t>
            </a:r>
          </a:p>
          <a:p>
            <a:r>
              <a:t>Concept-led briefing only. The full detailed procedure, commands, expected outputs, validation and cleanup live in the Learner Guide and the lab README (not on the slides).</a:t>
            </a:r>
          </a:p>
          <a:p>
            <a:r>
              <a:t>Reference architecture: course-generated diagram for Lab 16.</a:t>
            </a:r>
          </a:p>
          <a:p/>
          <a:p>
            <a:r>
              <a:t>[Sources]</a:t>
            </a:r>
          </a:p>
          <a:p>
            <a:r>
              <a:t>- AWS Certified DevOps Engineer – Professional (DOP-C02) Exam Guide (docs.aws.amazon.com/pdfs/aws-certification/latest/devops-engineer-professional-02).</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4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17 overview — Ship application and system logs into CloudWatch Logs with retention, then use Logs Insights queries to find the slowest and most error-prone requests (LO4, K5, A6).</a:t>
            </a:r>
          </a:p>
          <a:p>
            <a:r>
              <a:t>Concept-led briefing only. The full detailed procedure, commands, expected outputs, validation and cleanup live in the Learner Guide and the lab README (not on the slides).</a:t>
            </a:r>
          </a:p>
          <a:p>
            <a:r>
              <a:t>Reference architecture: course-generated diagram for Lab 17.</a:t>
            </a:r>
          </a:p>
          <a:p/>
          <a:p>
            <a:r>
              <a:t>[Sources]</a:t>
            </a:r>
          </a:p>
          <a:p>
            <a:r>
              <a:t>- AWS Certified DevOps Engineer – Professional (DOP-C02) Exam Guide (docs.aws.amazon.com/pdfs/aws-certification/latest/devops-engineer-professional-02).</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4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18 overview — Create a metric filter that counts ERROR log lines, alarm on that metric and on high CPU, and notify an on-call engineer by email via SNS (LO4, K5, A6).</a:t>
            </a:r>
          </a:p>
          <a:p>
            <a:r>
              <a:t>Concept-led briefing only. The full detailed procedure, commands, expected outputs, validation and cleanup live in the Learner Guide and the lab README (not on the slides).</a:t>
            </a:r>
          </a:p>
          <a:p>
            <a:r>
              <a:t>Reference architecture: course-generated diagram for Lab 18.</a:t>
            </a:r>
          </a:p>
          <a:p/>
          <a:p>
            <a:r>
              <a:t>[Sources]</a:t>
            </a:r>
          </a:p>
          <a:p>
            <a:r>
              <a:t>- AWS Certified DevOps Engineer – Professional (DOP-C02) Exam Guide (docs.aws.amazon.com/pdfs/aws-certification/latest/devops-engineer-professional-02).</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4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 of Domain 04 — Monitoring and Logging.</a:t>
            </a:r>
          </a:p>
          <a:p/>
          <a:p>
            <a:r>
              <a:t>[Sources]</a:t>
            </a:r>
          </a:p>
          <a:p>
            <a:r>
              <a:t>- AWS Certified DevOps Engineer – Professional (DOP-C02) Exam Guide (docs.aws.amazon.com/pdfs/aws-certification/latest/devops-engineer-professional-02).</a:t>
            </a:r>
          </a:p>
          <a:p>
            <a:r>
              <a:t>- AWS CloudWatch Documentation (docs.aws.amazon.com/AmazonCloudWatch).</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4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concepts for Domain 05 — Incident and Event Response.</a:t>
            </a:r>
          </a:p>
          <a:p>
            <a:r>
              <a:t>Event-driven operations: EventBridge routes events from AWS services and applications to targets that act automatically.</a:t>
            </a:r>
          </a:p>
          <a:p>
            <a:r>
              <a:t>Notify &amp; act: SNS notifies people; Lambda, Systems Manager Automation and Step Functions take the remediating action.</a:t>
            </a:r>
          </a:p>
          <a:p>
            <a:r>
              <a:t>Auto-remediation: AWS Config rules and EventBridge patterns detect drift and fix it — tag, isolate, restart or roll back.</a:t>
            </a:r>
          </a:p>
          <a:p>
            <a:r>
              <a:t>Runbooks &amp; playbooks: Systems Manager documents codify the response so incidents are handled consistently and fast.</a:t>
            </a:r>
          </a:p>
          <a:p>
            <a:r>
              <a:t>Deployment failure response: CloudWatch alarms roll back CodeDeploy; pipeline stages stop and alert on failure.</a:t>
            </a:r>
          </a:p>
          <a:p>
            <a:r>
              <a:t>Troubleshooting: Correlate metrics, logs, traces and CloudTrail events to find and fix system and application failures.</a:t>
            </a:r>
          </a:p>
          <a:p/>
          <a:p>
            <a:r>
              <a:t>[Sources]</a:t>
            </a:r>
          </a:p>
          <a:p>
            <a:r>
              <a:t>- AWS Certified DevOps Engineer – Professional (DOP-C02) Exam Guide (docs.aws.amazon.com/pdfs/aws-certification/latest/devops-engineer-professional-02).</a:t>
            </a:r>
          </a:p>
          <a:p>
            <a:r>
              <a:t>- AWS EventBridge Documentation (docs.aws.amazon.com/eventbridge).</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4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Automation Cuts Mean Time To Recover. What the data shows: Event-driven automation collapses MTTR from over an hour to a few minutes across every phase.</a:t>
            </a:r>
          </a:p>
          <a:p>
            <a:r>
              <a:t>Figures are illustrative teaching values to convey the relationship, not measured benchmarks.</a:t>
            </a:r>
          </a:p>
        </p:txBody>
      </p:sp>
      <p:sp>
        <p:nvSpPr>
          <p:cNvPr id="4" name="Slide Number Placeholder 3"/>
          <p:cNvSpPr>
            <a:spLocks noGrp="1"/>
          </p:cNvSpPr>
          <p:nvPr>
            <p:ph type="sldNum" idx="5" sz="quarter"/>
          </p:nvPr>
        </p:nvSpPr>
        <p:spPr/>
      </p:sp>
    </p:spTree>
  </p:cSld>
  <p:clrMapOvr>
    <a:masterClrMapping/>
  </p:clrMapOvr>
</p:notes>
</file>

<file path=ppt/notesSlides/notesSlide4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05 deep dive — Incident and Event Response. Editable AWS-native diagram/table/chart.</a:t>
            </a:r>
          </a:p>
          <a:p/>
          <a:p>
            <a:r>
              <a:t>[Sources]</a:t>
            </a:r>
          </a:p>
          <a:p>
            <a:r>
              <a:t>- AWS Certified DevOps Engineer – Professional (DOP-C02) Exam Guide (docs.aws.amazon.com/pdfs/aws-certification/latest/devops-engineer-professional-02).</a:t>
            </a:r>
          </a:p>
          <a:p>
            <a:r>
              <a:t>- AWS EventBridge Documentation (docs.aws.amazon.com/eventbridge).</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4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05 deep dive — Incident and Event Response. Editable AWS-native diagram/table/chart.</a:t>
            </a:r>
          </a:p>
          <a:p/>
          <a:p>
            <a:r>
              <a:t>[Sources]</a:t>
            </a:r>
          </a:p>
          <a:p>
            <a:r>
              <a:t>- AWS Certified DevOps Engineer – Professional (DOP-C02) Exam Guide (docs.aws.amazon.com/pdfs/aws-certification/latest/devops-engineer-professional-02).</a:t>
            </a:r>
          </a:p>
          <a:p>
            <a:r>
              <a:t>- AWS EventBridge Documentation (docs.aws.amazon.com/eventbridge).</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4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05 deep dive — Incident and Event Response. Editable AWS-native diagram/table/chart.</a:t>
            </a:r>
          </a:p>
          <a:p/>
          <a:p>
            <a:r>
              <a:t>[Sources]</a:t>
            </a:r>
          </a:p>
          <a:p>
            <a:r>
              <a:t>- AWS Certified DevOps Engineer – Professional (DOP-C02) Exam Guide (docs.aws.amazon.com/pdfs/aws-certification/latest/devops-engineer-professional-02).</a:t>
            </a:r>
          </a:p>
          <a:p>
            <a:r>
              <a:t>- AWS EventBridge Documentation (docs.aws.amazon.com/eventbridge).</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4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05 deep dive — Incident and Event Response. Editable AWS-native diagram/table/chart.</a:t>
            </a:r>
          </a:p>
          <a:p/>
          <a:p>
            <a:r>
              <a:t>[Sources]</a:t>
            </a:r>
          </a:p>
          <a:p>
            <a:r>
              <a:t>- AWS Certified DevOps Engineer – Professional (DOP-C02) Exam Guide (docs.aws.amazon.com/pdfs/aws-certification/latest/devops-engineer-professional-02).</a:t>
            </a:r>
          </a:p>
          <a:p>
            <a:r>
              <a:t>- AWS EventBridge Documentation (docs.aws.amazon.com/eventbridge).</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4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05 deep dive — Incident and Event Response. Editable AWS-native diagram/table/chart.</a:t>
            </a:r>
          </a:p>
          <a:p/>
          <a:p>
            <a:r>
              <a:t>[Sources]</a:t>
            </a:r>
          </a:p>
          <a:p>
            <a:r>
              <a:t>- AWS Certified DevOps Engineer – Professional (DOP-C02) Exam Guide (docs.aws.amazon.com/pdfs/aws-certification/latest/devops-engineer-professional-02).</a:t>
            </a:r>
          </a:p>
          <a:p>
            <a:r>
              <a:t>- AWS EventBridge Documentation (docs.aws.amazon.com/eventbridge).</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4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Event-driven operations with EventBridge.</a:t>
            </a:r>
          </a:p>
          <a:p>
            <a:r>
              <a:t>Why it matters: Events let operations react the instant something changes, instead of polling or waiting for a human to notice.</a:t>
            </a:r>
          </a:p>
          <a:p>
            <a:r>
              <a:t>Failure mode: Over-broad event patterns match far more than intended and trigger remediation on benign events.</a:t>
            </a:r>
          </a:p>
          <a:p>
            <a:r>
              <a:t>Trade-off: Fine-grained rules are precise but numerous to manage; broad rules are simple but risk false triggers.</a:t>
            </a:r>
          </a:p>
          <a:p/>
          <a:p>
            <a:r>
              <a:t>[Sources]</a:t>
            </a:r>
          </a:p>
          <a:p>
            <a:r>
              <a:t>- AWS EventBridge Documentation (docs.aws.amazon.com/eventbridge/latest/userguide).</a:t>
            </a:r>
          </a:p>
          <a:p>
            <a:r>
              <a:t>- AWS Certified DevOps Engineer – Professional (DOP-C02) Exam Guide (docs.aws.amazon.com/pdfs/aws-certification/latest/devops-engineer-professional-02).</a:t>
            </a:r>
          </a:p>
        </p:txBody>
      </p:sp>
      <p:sp>
        <p:nvSpPr>
          <p:cNvPr id="4" name="Slide Number Placeholder 3"/>
          <p:cNvSpPr>
            <a:spLocks noGrp="1"/>
          </p:cNvSpPr>
          <p:nvPr>
            <p:ph type="sldNum" idx="5" sz="quarter"/>
          </p:nvPr>
        </p:nvSpPr>
        <p:spPr/>
      </p:sp>
    </p:spTree>
  </p:cSld>
  <p:clrMapOvr>
    <a:masterClrMapping/>
  </p:clrMapOvr>
</p:notes>
</file>

<file path=ppt/notesSlides/notesSlide4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Notify people, trigger machines.</a:t>
            </a:r>
          </a:p>
          <a:p>
            <a:r>
              <a:t>Why it matters: Separating 'notify' from 'act' means the automated fix starts immediately while humans stay informed and can intervene.</a:t>
            </a:r>
          </a:p>
          <a:p>
            <a:r>
              <a:t>Failure mode: Notifying without automating leaves recovery gated on human reaction time at 3am.</a:t>
            </a:r>
          </a:p>
          <a:p>
            <a:r>
              <a:t>Trade-off: Automating actions demands tight IAM scoping and validation so a bad event can't trigger a harmful action.</a:t>
            </a:r>
          </a:p>
          <a:p/>
          <a:p>
            <a:r>
              <a:t>[Sources]</a:t>
            </a:r>
          </a:p>
          <a:p>
            <a:r>
              <a:t>- AWS SNS Documentation (docs.aws.amazon.com/sns).</a:t>
            </a:r>
          </a:p>
          <a:p>
            <a:r>
              <a:t>- AWS Systems Manager Automation Documentation (docs.aws.amazon.com/systems-manager/latest/userguide/systems-manager-automation.html).</a:t>
            </a:r>
          </a:p>
          <a:p>
            <a:r>
              <a:t>- AWS Certified DevOps Engineer – Professional (DOP-C02) Exam Guide (docs.aws.amazon.com/pdfs/aws-certification/latest/devops-engineer-professional-02).</a:t>
            </a:r>
          </a:p>
        </p:txBody>
      </p:sp>
      <p:sp>
        <p:nvSpPr>
          <p:cNvPr id="4" name="Slide Number Placeholder 3"/>
          <p:cNvSpPr>
            <a:spLocks noGrp="1"/>
          </p:cNvSpPr>
          <p:nvPr>
            <p:ph type="sldNum" idx="5" sz="quarter"/>
          </p:nvPr>
        </p:nvSpPr>
        <p:spPr/>
      </p:sp>
    </p:spTree>
  </p:cSld>
  <p:clrMapOvr>
    <a:masterClrMapping/>
  </p:clrMapOvr>
</p:notes>
</file>

<file path=ppt/notesSlides/notesSlide4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Auto-remediation with Config and Automation.</a:t>
            </a:r>
          </a:p>
          <a:p>
            <a:r>
              <a:t>Why it matters: Continuous detection plus automated remediation keeps the environment compliant without waiting for a human review cycle.</a:t>
            </a:r>
          </a:p>
          <a:p>
            <a:r>
              <a:t>Failure mode: Auto-remediating without guardrails can fight a legitimate change or mask a deeper problem instead of fixing it.</a:t>
            </a:r>
          </a:p>
          <a:p>
            <a:r>
              <a:t>Trade-off: Immediate auto-fix is fast but can hide recurring root causes — track remediation frequency as a signal.</a:t>
            </a:r>
          </a:p>
          <a:p/>
          <a:p>
            <a:r>
              <a:t>[Sources]</a:t>
            </a:r>
          </a:p>
          <a:p>
            <a:r>
              <a:t>- AWS Config remediation Documentation (docs.aws.amazon.com/config/latest/developerguide/remediation.html).</a:t>
            </a:r>
          </a:p>
          <a:p>
            <a:r>
              <a:t>- AWS Certified DevOps Engineer – Professional (DOP-C02) Exam Guide (docs.aws.amazon.com/pdfs/aws-certification/latest/devops-engineer-professional-02).</a:t>
            </a:r>
          </a:p>
        </p:txBody>
      </p:sp>
      <p:sp>
        <p:nvSpPr>
          <p:cNvPr id="4" name="Slide Number Placeholder 3"/>
          <p:cNvSpPr>
            <a:spLocks noGrp="1"/>
          </p:cNvSpPr>
          <p:nvPr>
            <p:ph type="sldNum" idx="5" sz="quarter"/>
          </p:nvPr>
        </p:nvSpPr>
        <p:spPr/>
      </p:sp>
    </p:spTree>
  </p:cSld>
  <p:clrMapOvr>
    <a:masterClrMapping/>
  </p:clrMapOvr>
</p:notes>
</file>

<file path=ppt/notesSlides/notesSlide4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Runbooks and playbooks.</a:t>
            </a:r>
          </a:p>
          <a:p>
            <a:r>
              <a:t>Why it matters: Runbooks turn hard-won incident knowledge into repeatable automation; playbooks coordinate the human response to the unknown.</a:t>
            </a:r>
          </a:p>
          <a:p>
            <a:r>
              <a:t>Failure mode: Tribal knowledge in one engineer's head fails the moment that person is on leave during an incident.</a:t>
            </a:r>
          </a:p>
          <a:p>
            <a:r>
              <a:t>Trade-off: Automated runbooks must be maintained as the system changes, or they confidently do the wrong thing.</a:t>
            </a:r>
          </a:p>
          <a:p/>
          <a:p>
            <a:r>
              <a:t>[Sources]</a:t>
            </a:r>
          </a:p>
          <a:p>
            <a:r>
              <a:t>- AWS Systems Manager runbooks Documentation (docs.aws.amazon.com/systems-manager/latest/userguide/automation-documents.html).</a:t>
            </a:r>
          </a:p>
          <a:p>
            <a:r>
              <a:t>- AWS Certified DevOps Engineer – Professional (DOP-C02) Exam Guide (docs.aws.amazon.com/pdfs/aws-certification/latest/devops-engineer-professional-02).</a:t>
            </a:r>
          </a:p>
        </p:txBody>
      </p:sp>
      <p:sp>
        <p:nvSpPr>
          <p:cNvPr id="4" name="Slide Number Placeholder 3"/>
          <p:cNvSpPr>
            <a:spLocks noGrp="1"/>
          </p:cNvSpPr>
          <p:nvPr>
            <p:ph type="sldNum" idx="5" sz="quarter"/>
          </p:nvPr>
        </p:nvSpPr>
        <p:spPr/>
      </p:sp>
    </p:spTree>
  </p:cSld>
  <p:clrMapOvr>
    <a:masterClrMapping/>
  </p:clrMapOvr>
</p:notes>
</file>

<file path=ppt/notesSlides/notesSlide4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Deployment-failure response.</a:t>
            </a:r>
          </a:p>
          <a:p>
            <a:r>
              <a:t>Why it matters: Wiring release health into automated rollback keeps a bad deployment from becoming a prolonged outage.</a:t>
            </a:r>
          </a:p>
          <a:p>
            <a:r>
              <a:t>Failure mode: Deployments with no health signal or rollback path require a manual, stressful, error-prone recovery.</a:t>
            </a:r>
          </a:p>
          <a:p>
            <a:r>
              <a:t>Trade-off: Fast auto-rollback is safe but can oscillate if the health signal is noisy — tune alarm sensitivity.</a:t>
            </a:r>
          </a:p>
          <a:p/>
          <a:p>
            <a:r>
              <a:t>[Sources]</a:t>
            </a:r>
          </a:p>
          <a:p>
            <a:r>
              <a:t>- AWS CodeDeploy rollback Documentation (docs.aws.amazon.com/codedeploy/latest/userguide/deployments-rollback-and-redeploy.html).</a:t>
            </a:r>
          </a:p>
          <a:p>
            <a:r>
              <a:t>- AWS ECS circuit breaker Documentation (docs.aws.amazon.com/AmazonECS/latest/developerguide/deployment-circuit-breaker.html).</a:t>
            </a:r>
          </a:p>
          <a:p>
            <a:r>
              <a:t>- AWS Certified DevOps Engineer – Professional (DOP-C02) Exam Guide (docs.aws.amazon.com/pdfs/aws-certification/latest/devops-engineer-professional-02).</a:t>
            </a:r>
          </a:p>
        </p:txBody>
      </p:sp>
      <p:sp>
        <p:nvSpPr>
          <p:cNvPr id="4" name="Slide Number Placeholder 3"/>
          <p:cNvSpPr>
            <a:spLocks noGrp="1"/>
          </p:cNvSpPr>
          <p:nvPr>
            <p:ph type="sldNum" idx="5" sz="quarter"/>
          </p:nvPr>
        </p:nvSpPr>
        <p:spPr/>
      </p:sp>
    </p:spTree>
  </p:cSld>
  <p:clrMapOvr>
    <a:masterClrMapping/>
  </p:clrMapOvr>
</p:notes>
</file>

<file path=ppt/notesSlides/notesSlide4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Troubleshooting methodically across signals.</a:t>
            </a:r>
          </a:p>
          <a:p>
            <a:r>
              <a:t>Why it matters: A disciplined, signal-driven method finds root cause faster than guessing and prevents fixing symptoms only.</a:t>
            </a:r>
          </a:p>
          <a:p>
            <a:r>
              <a:t>Failure mode: Restarting things at random during an incident can clear the symptom while leaving the cause to recur.</a:t>
            </a:r>
          </a:p>
          <a:p>
            <a:r>
              <a:t>Trade-off: Thorough diagnosis takes minutes you may feel you don't have — but mis-diagnosis costs more.</a:t>
            </a:r>
          </a:p>
          <a:p/>
          <a:p>
            <a:r>
              <a:t>[Sources]</a:t>
            </a:r>
          </a:p>
          <a:p>
            <a:r>
              <a:t>- AWS CloudTrail Documentation (docs.aws.amazon.com/awscloudtrail).</a:t>
            </a:r>
          </a:p>
          <a:p>
            <a:r>
              <a:t>- AWS CloudWatch Documentation (docs.aws.amazon.com/AmazonCloudWatch).</a:t>
            </a:r>
          </a:p>
          <a:p>
            <a:r>
              <a:t>- AWS Certified DevOps Engineer – Professional (DOP-C02) Exam Guide (docs.aws.amazon.com/pdfs/aws-certification/latest/devops-engineer-professional-02).</a:t>
            </a:r>
          </a:p>
        </p:txBody>
      </p:sp>
      <p:sp>
        <p:nvSpPr>
          <p:cNvPr id="4" name="Slide Number Placeholder 3"/>
          <p:cNvSpPr>
            <a:spLocks noGrp="1"/>
          </p:cNvSpPr>
          <p:nvPr>
            <p:ph type="sldNum" idx="5" sz="quarter"/>
          </p:nvPr>
        </p:nvSpPr>
        <p:spPr/>
      </p:sp>
    </p:spTree>
  </p:cSld>
  <p:clrMapOvr>
    <a:masterClrMapping/>
  </p:clrMapOvr>
</p:notes>
</file>

<file path=ppt/notesSlides/notesSlide4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Blameless post-incident review.</a:t>
            </a:r>
          </a:p>
          <a:p>
            <a:r>
              <a:t>Why it matters: Treating incidents as learning — not fault — turns each outage into durable resilience and better automation.</a:t>
            </a:r>
          </a:p>
          <a:p>
            <a:r>
              <a:t>Failure mode: Blaming individuals drives problems underground; people stop reporting near-misses and the system stops improving.</a:t>
            </a:r>
          </a:p>
          <a:p>
            <a:r>
              <a:t>Trade-off: Reviews cost time and candour — the payoff is compounding reliability over many incidents.</a:t>
            </a:r>
          </a:p>
          <a:p/>
          <a:p>
            <a:r>
              <a:t>[Sources]</a:t>
            </a:r>
          </a:p>
          <a:p>
            <a:r>
              <a:t>- DORA / Google Cloud, Accelerate State of DevOps (dora.dev).</a:t>
            </a:r>
          </a:p>
          <a:p>
            <a:r>
              <a:t>- AWS Well-Architected Framework (docs.aws.amazon.com/wellarchitected).</a:t>
            </a:r>
          </a:p>
          <a:p>
            <a:r>
              <a:t>- AWS Builders' Library Documentation (docs.aws.amazon.com/builders-library).</a:t>
            </a:r>
          </a:p>
        </p:txBody>
      </p:sp>
      <p:sp>
        <p:nvSpPr>
          <p:cNvPr id="4" name="Slide Number Placeholder 3"/>
          <p:cNvSpPr>
            <a:spLocks noGrp="1"/>
          </p:cNvSpPr>
          <p:nvPr>
            <p:ph type="sldNum" idx="5" sz="quarter"/>
          </p:nvPr>
        </p:nvSpPr>
        <p:spPr/>
      </p:sp>
    </p:spTree>
  </p:cSld>
  <p:clrMapOvr>
    <a:masterClrMapping/>
  </p:clrMapOvr>
</p:notes>
</file>

<file path=ppt/notesSlides/notesSlide4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Orchestrating complex responses with Step Functions.</a:t>
            </a:r>
          </a:p>
          <a:p>
            <a:r>
              <a:t>Why it matters: Some incidents need a workflow, not a single action — orchestration gives reliable, observable, multi-step recovery.</a:t>
            </a:r>
          </a:p>
          <a:p>
            <a:r>
              <a:t>Failure mode: A tangle of Lambdas invoking Lambdas becomes impossible to trace or safely modify.</a:t>
            </a:r>
          </a:p>
          <a:p>
            <a:r>
              <a:t>Trade-off: Orchestration adds a service to design and cost, justified when the response has real branching and steps.</a:t>
            </a:r>
          </a:p>
          <a:p/>
          <a:p>
            <a:r>
              <a:t>[Sources]</a:t>
            </a:r>
          </a:p>
          <a:p>
            <a:r>
              <a:t>- AWS Step Functions Documentation (docs.aws.amazon.com/step-functions).</a:t>
            </a:r>
          </a:p>
          <a:p>
            <a:r>
              <a:t>- AWS Certified DevOps Engineer – Professional (DOP-C02) Exam Guide (docs.aws.amazon.com/pdfs/aws-certification/latest/devops-engineer-professional-02).</a:t>
            </a:r>
          </a:p>
        </p:txBody>
      </p:sp>
      <p:sp>
        <p:nvSpPr>
          <p:cNvPr id="4" name="Slide Number Placeholder 3"/>
          <p:cNvSpPr>
            <a:spLocks noGrp="1"/>
          </p:cNvSpPr>
          <p:nvPr>
            <p:ph type="sldNum" idx="5" sz="quarter"/>
          </p:nvPr>
        </p:nvSpPr>
        <p:spPr/>
      </p:sp>
    </p:spTree>
  </p:cSld>
  <p:clrMapOvr>
    <a:masterClrMapping/>
  </p:clrMapOvr>
</p:notes>
</file>

<file path=ppt/notesSlides/notesSlide4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Comparison — Runbook vs Playbook — Know the Difference.</a:t>
            </a:r>
          </a:p>
          <a:p/>
          <a:p>
            <a:r>
              <a:t>[Sources]</a:t>
            </a:r>
          </a:p>
          <a:p>
            <a:r>
              <a:t>- AWS Systems Manager Documentation (docs.aws.amazon.com/systems-manager).</a:t>
            </a:r>
          </a:p>
          <a:p>
            <a:r>
              <a:t>- AWS Certified DevOps Engineer – Professional (DOP-C02) Exam Guide (docs.aws.amazon.com/pdfs/aws-certification/latest/devops-engineer-professional-02).</a:t>
            </a:r>
          </a:p>
        </p:txBody>
      </p:sp>
      <p:sp>
        <p:nvSpPr>
          <p:cNvPr id="4" name="Slide Number Placeholder 3"/>
          <p:cNvSpPr>
            <a:spLocks noGrp="1"/>
          </p:cNvSpPr>
          <p:nvPr>
            <p:ph type="sldNum" idx="5" sz="quarter"/>
          </p:nvPr>
        </p:nvSpPr>
        <p:spPr/>
      </p:sp>
    </p:spTree>
  </p:cSld>
  <p:clrMapOvr>
    <a:masterClrMapping/>
  </p:clrMapOvr>
</p:notes>
</file>

<file path=ppt/notesSlides/notesSlide4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Automation Cuts MTTR Across Every Phase. What the data shows: Event-driven automation collapses mean-time-to-recover from over an hour to a few minutes — most of the saving is in detection and remediation.</a:t>
            </a:r>
          </a:p>
          <a:p>
            <a:r>
              <a:t>Figures are illustrative teaching values to convey the relationship, not measured benchmarks.</a:t>
            </a:r>
          </a:p>
          <a:p/>
          <a:p>
            <a:r>
              <a:t>[Sources]</a:t>
            </a:r>
          </a:p>
          <a:p>
            <a:r>
              <a:t>- DORA / Google Cloud, Accelerate State of DevOps (dora.dev).</a:t>
            </a:r>
          </a:p>
          <a:p>
            <a:r>
              <a:t>- AWS Certified DevOps Engineer – Professional (DOP-C02) Exam Guide (docs.aws.amazon.com/pdfs/aws-certification/latest/devops-engineer-professional-02).</a:t>
            </a:r>
          </a:p>
        </p:txBody>
      </p:sp>
      <p:sp>
        <p:nvSpPr>
          <p:cNvPr id="4" name="Slide Number Placeholder 3"/>
          <p:cNvSpPr>
            <a:spLocks noGrp="1"/>
          </p:cNvSpPr>
          <p:nvPr>
            <p:ph type="sldNum" idx="5" sz="quarter"/>
          </p:nvPr>
        </p:nvSpPr>
        <p:spPr/>
      </p:sp>
    </p:spTree>
  </p:cSld>
  <p:clrMapOvr>
    <a:masterClrMapping/>
  </p:clrMapOvr>
</p:notes>
</file>

<file path=ppt/notesSlides/notesSlide4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Incident-Response Failure Modes &amp; Anti-Patterns.</a:t>
            </a:r>
          </a:p>
          <a:p>
            <a:r>
              <a:t>Over-broad event patterns — Remediation on benign events → precise patterns, test them.</a:t>
            </a:r>
          </a:p>
          <a:p>
            <a:r>
              <a:t>Notify-only, no automation — Recovery gated on human reaction → wire the fix.</a:t>
            </a:r>
          </a:p>
          <a:p>
            <a:r>
              <a:t>Unscoped remediation IAM — A bad event does damage → least-privilege action roles.</a:t>
            </a:r>
          </a:p>
          <a:p>
            <a:r>
              <a:t>Tribal knowledge — Fix lives in one head → codify runbooks.</a:t>
            </a:r>
          </a:p>
          <a:p>
            <a:r>
              <a:t>Random restarts — Symptom cleared, cause remains → signal-driven diagnosis.</a:t>
            </a:r>
          </a:p>
          <a:p>
            <a:r>
              <a:t>No post-incident learning — Same outage recurs → blameless review + action items.</a:t>
            </a:r>
          </a:p>
          <a:p/>
          <a:p>
            <a:r>
              <a:t>[Sources]</a:t>
            </a:r>
          </a:p>
          <a:p>
            <a:r>
              <a:t>- AWS Certified DevOps Engineer – Professional (DOP-C02) Exam Guide (docs.aws.amazon.com/pdfs/aws-certification/latest/devops-engineer-professional-02).</a:t>
            </a:r>
          </a:p>
          <a:p>
            <a:r>
              <a:t>- AWS EventBridge Documentation (docs.aws.amazon.com/eventbridge).</a:t>
            </a:r>
          </a:p>
        </p:txBody>
      </p:sp>
      <p:sp>
        <p:nvSpPr>
          <p:cNvPr id="4" name="Slide Number Placeholder 3"/>
          <p:cNvSpPr>
            <a:spLocks noGrp="1"/>
          </p:cNvSpPr>
          <p:nvPr>
            <p:ph type="sldNum" idx="5" sz="quarter"/>
          </p:nvPr>
        </p:nvSpPr>
        <p:spPr/>
      </p:sp>
    </p:spTree>
  </p:cSld>
  <p:clrMapOvr>
    <a:masterClrMapping/>
  </p:clrMapOvr>
</p:notes>
</file>

<file path=ppt/notesSlides/notesSlide4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Response Patterns Worth Adopting.</a:t>
            </a:r>
          </a:p>
          <a:p>
            <a:r>
              <a:t>Detect → route → notify+act — EventBridge fans out to people and automation.</a:t>
            </a:r>
          </a:p>
          <a:p>
            <a:r>
              <a:t>Alarm-based rollback — Release health auto-reverts bad deploys.</a:t>
            </a:r>
          </a:p>
          <a:p>
            <a:r>
              <a:t>Automated runbooks — SSM Automation for known fixes.</a:t>
            </a:r>
          </a:p>
          <a:p>
            <a:r>
              <a:t>Guarded auto-remediation — Config → remediation with approval for risky actions.</a:t>
            </a:r>
          </a:p>
          <a:p>
            <a:r>
              <a:t>Orchestrated recovery — Step Functions for multi-step responses.</a:t>
            </a:r>
          </a:p>
          <a:p>
            <a:r>
              <a:t>Blameless reviews — Every incident hardens the system.</a:t>
            </a:r>
          </a:p>
          <a:p/>
          <a:p>
            <a:r>
              <a:t>[Sources]</a:t>
            </a:r>
          </a:p>
          <a:p>
            <a:r>
              <a:t>- AWS Well-Architected Framework (docs.aws.amazon.com/wellarchitected).</a:t>
            </a:r>
          </a:p>
          <a:p>
            <a:r>
              <a:t>- AWS Certified DevOps Engineer – Professional (DOP-C02) Exam Guide (docs.aws.amazon.com/pdfs/aws-certification/latest/devops-engineer-professional-02).</a:t>
            </a:r>
          </a:p>
        </p:txBody>
      </p:sp>
      <p:sp>
        <p:nvSpPr>
          <p:cNvPr id="4" name="Slide Number Placeholder 3"/>
          <p:cNvSpPr>
            <a:spLocks noGrp="1"/>
          </p:cNvSpPr>
          <p:nvPr>
            <p:ph type="sldNum" idx="5" sz="quarter"/>
          </p:nvPr>
        </p:nvSpPr>
        <p:spPr/>
      </p:sp>
    </p:spTree>
  </p:cSld>
  <p:clrMapOvr>
    <a:masterClrMapping/>
  </p:clrMapOvr>
</p:notes>
</file>

<file path=ppt/notesSlides/notesSlide4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Architecture Decision — Automate the Fix or Page a Human?.</a:t>
            </a:r>
          </a:p>
          <a:p>
            <a:r>
              <a:t>Option A — Fully automate: Known cause, safe and reversible fix, frequent occurrence. Fastest recovery — needs tight IAM and validation.</a:t>
            </a:r>
          </a:p>
          <a:p>
            <a:r>
              <a:t>Option B — Automate with approval: Higher-risk action or ambiguous trigger. Step Functions pauses for a human yes/no before acting.</a:t>
            </a:r>
          </a:p>
          <a:p>
            <a:r>
              <a:t>Option C — Notify only: Novel or unclear incidents. Page the on-call with rich context; automation isn't safe until the pattern is understood.</a:t>
            </a:r>
          </a:p>
          <a:p/>
          <a:p>
            <a:r>
              <a:t>[Sources]</a:t>
            </a:r>
          </a:p>
          <a:p>
            <a:r>
              <a:t>- AWS Certified DevOps Engineer – Professional (DOP-C02) Exam Guide (docs.aws.amazon.com/pdfs/aws-certification/latest/devops-engineer-professional-02).</a:t>
            </a:r>
          </a:p>
          <a:p>
            <a:r>
              <a:t>- AWS Step Functions Documentation (docs.aws.amazon.com/step-functions).</a:t>
            </a:r>
          </a:p>
        </p:txBody>
      </p:sp>
      <p:sp>
        <p:nvSpPr>
          <p:cNvPr id="4" name="Slide Number Placeholder 3"/>
          <p:cNvSpPr>
            <a:spLocks noGrp="1"/>
          </p:cNvSpPr>
          <p:nvPr>
            <p:ph type="sldNum" idx="5" sz="quarter"/>
          </p:nvPr>
        </p:nvSpPr>
        <p:spPr/>
      </p:sp>
    </p:spTree>
  </p:cSld>
  <p:clrMapOvr>
    <a:masterClrMapping/>
  </p:clrMapOvr>
</p:notes>
</file>

<file path=ppt/notesSlides/notesSlide4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Scenario: Someone changes a bucket to public. Data exposure risk is immediate; no engineer is awake.</a:t>
            </a:r>
          </a:p>
          <a:p>
            <a:r>
              <a:t>AWS Config's s3-bucket-public-read-prohibited rule detects the non-compliant state within minutes.</a:t>
            </a:r>
          </a:p>
          <a:p>
            <a:r>
              <a:t>An EventBridge rule on the Config compliance-change event can trigger an SSM Automation remediation.</a:t>
            </a:r>
          </a:p>
          <a:p>
            <a:r>
              <a:t>The remediation re-applies Block Public Access and SNS notifies the security channel.</a:t>
            </a:r>
          </a:p>
          <a:p>
            <a:r>
              <a:t>Decision: Wire Config → EventBridge → SSM Automation to auto-remediate and notify, so the exposure window is minutes and unattended — with the action logged for the morning review.</a:t>
            </a:r>
          </a:p>
          <a:p/>
          <a:p>
            <a:r>
              <a:t>[Sources]</a:t>
            </a:r>
          </a:p>
          <a:p>
            <a:r>
              <a:t>- AWS Config remediation Documentation (docs.aws.amazon.com/config/latest/developerguide/remediation.html).</a:t>
            </a:r>
          </a:p>
          <a:p>
            <a:r>
              <a:t>- AWS EventBridge Documentation (docs.aws.amazon.com/eventbridge).</a:t>
            </a:r>
          </a:p>
        </p:txBody>
      </p:sp>
      <p:sp>
        <p:nvSpPr>
          <p:cNvPr id="4" name="Slide Number Placeholder 3"/>
          <p:cNvSpPr>
            <a:spLocks noGrp="1"/>
          </p:cNvSpPr>
          <p:nvPr>
            <p:ph type="sldNum" idx="5" sz="quarter"/>
          </p:nvPr>
        </p:nvSpPr>
        <p:spPr/>
      </p:sp>
    </p:spTree>
  </p:cSld>
  <p:clrMapOvr>
    <a:masterClrMapping/>
  </p:clrMapOvr>
</p:notes>
</file>

<file path=ppt/notesSlides/notesSlide4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Scenario: Minutes after a rollout, the error-rate alarm crosses threshold.</a:t>
            </a:r>
          </a:p>
          <a:p>
            <a:r>
              <a:t>The alarm can be an automatic rollback trigger for the CodeDeploy deployment, no human needed.</a:t>
            </a:r>
          </a:p>
          <a:p>
            <a:r>
              <a:t>EventBridge can also notify the team and open an incident record for context.</a:t>
            </a:r>
          </a:p>
          <a:p>
            <a:r>
              <a:t>A post-incident action is to move the service to canary so 5% catches this next time.</a:t>
            </a:r>
          </a:p>
          <a:p>
            <a:r>
              <a:t>Decision: Bind the error-rate alarm to CodeDeploy auto-rollback and notify in parallel; recovery becomes automatic and the follow-up hardens the pipeline.</a:t>
            </a:r>
          </a:p>
          <a:p/>
          <a:p>
            <a:r>
              <a:t>[Sources]</a:t>
            </a:r>
          </a:p>
          <a:p>
            <a:r>
              <a:t>- AWS CodeDeploy rollback Documentation (docs.aws.amazon.com/codedeploy/latest/userguide/deployments-rollback-and-redeploy.html).</a:t>
            </a:r>
          </a:p>
          <a:p>
            <a:r>
              <a:t>- AWS Certified DevOps Engineer – Professional (DOP-C02) Exam Guide (docs.aws.amazon.com/pdfs/aws-certification/latest/devops-engineer-professional-02).</a:t>
            </a:r>
          </a:p>
        </p:txBody>
      </p:sp>
      <p:sp>
        <p:nvSpPr>
          <p:cNvPr id="4" name="Slide Number Placeholder 3"/>
          <p:cNvSpPr>
            <a:spLocks noGrp="1"/>
          </p:cNvSpPr>
          <p:nvPr>
            <p:ph type="sldNum" idx="5" sz="quarter"/>
          </p:nvPr>
        </p:nvSpPr>
        <p:spPr/>
      </p:sp>
    </p:spTree>
  </p:cSld>
  <p:clrMapOvr>
    <a:masterClrMapping/>
  </p:clrMapOvr>
</p:notes>
</file>

<file path=ppt/notesSlides/notesSlide4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Worked Analysis — Anatomy of an Automated Response.</a:t>
            </a:r>
          </a:p>
          <a:p>
            <a:r>
              <a:t>Signal — CloudWatch alarm / Config finding / service event fires.</a:t>
            </a:r>
          </a:p>
          <a:p>
            <a:r>
              <a:t>Route — EventBridge rule matches the event pattern precisely.</a:t>
            </a:r>
          </a:p>
          <a:p>
            <a:r>
              <a:t>Notify — SNS informs responders with context — they watch, not scramble.</a:t>
            </a:r>
          </a:p>
          <a:p>
            <a:r>
              <a:t>Act &amp; verify — Lambda/SSM runbook remediates; a follow-up check confirms healthy state, else escalates.</a:t>
            </a:r>
          </a:p>
          <a:p>
            <a:r>
              <a:t>Takeaway: A good response is a small, testable pipeline — precise trigger, parallel notify-and-act, and a verification step that escalates if the fix didn't hold.</a:t>
            </a:r>
          </a:p>
          <a:p/>
          <a:p>
            <a:r>
              <a:t>[Sources]</a:t>
            </a:r>
          </a:p>
          <a:p>
            <a:r>
              <a:t>- AWS EventBridge Documentation (docs.aws.amazon.com/eventbridge).</a:t>
            </a:r>
          </a:p>
          <a:p>
            <a:r>
              <a:t>- AWS Systems Manager Automation Documentation (docs.aws.amazon.com/systems-manager/latest/userguide/systems-manager-automation.html).</a:t>
            </a:r>
          </a:p>
          <a:p>
            <a:r>
              <a:t>- AWS Certified DevOps Engineer – Professional (DOP-C02) Exam Guide (docs.aws.amazon.com/pdfs/aws-certification/latest/devops-engineer-professional-02).</a:t>
            </a:r>
          </a:p>
        </p:txBody>
      </p:sp>
      <p:sp>
        <p:nvSpPr>
          <p:cNvPr id="4" name="Slide Number Placeholder 3"/>
          <p:cNvSpPr>
            <a:spLocks noGrp="1"/>
          </p:cNvSpPr>
          <p:nvPr>
            <p:ph type="sldNum" idx="5" sz="quarter"/>
          </p:nvPr>
        </p:nvSpPr>
        <p:spPr/>
      </p:sp>
    </p:spTree>
  </p:cSld>
  <p:clrMapOvr>
    <a:masterClrMapping/>
  </p:clrMapOvr>
</p:notes>
</file>

<file path=ppt/notesSlides/notesSlide4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 foundations: Event-driven incident response.</a:t>
            </a:r>
          </a:p>
          <a:p>
            <a:r>
              <a:t>PURPOSE: Route precise operational state changes to people and automation with buffering and failure isolation.</a:t>
            </a:r>
          </a:p>
          <a:p>
            <a:r>
              <a:t>FEATURE 1: EventBridge filters structured events and supports archives/replay for event buses.</a:t>
            </a:r>
          </a:p>
          <a:p>
            <a:r>
              <a:t>FEATURE 2: SNS fans out notifications; SQS buffers consumer work and supports DLQs.</a:t>
            </a:r>
          </a:p>
          <a:p>
            <a:r>
              <a:t>FEATURE 3: Lambda performs short response actions under a scoped execution role.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Event-driven incident response: selection and controls.</a:t>
            </a:r>
          </a:p>
          <a:p>
            <a:r>
              <a:t>CHOOSE WHEN: Use EventBridge for content routing, SNS for fan-out and SQS when consumers need durable buffering/back-pressure.</a:t>
            </a:r>
          </a:p>
          <a:p>
            <a:r>
              <a:t>DEVOPS ENGINEERING: Match exact fields, make actions idempotent, add DLQs, cap retries and require approval for high-impact remediation.</a:t>
            </a:r>
          </a:p>
          <a:p>
            <a:r>
              <a:t>FAILURE MODE: A broad event pattern or overprivileged responder can automate the wrong containment action.</a:t>
            </a:r>
          </a:p>
          <a:p>
            <a:r>
              <a:t>EVIDENCE: Matched event, delivery attempts, DLQ depth, function request ID, changed resource and approval.</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 foundations: Operations and remediation.</a:t>
            </a:r>
          </a:p>
          <a:p>
            <a:r>
              <a:t>PURPOSE: Aggregate operational issues, attach context and run controlled investigation or remediation workflows.</a:t>
            </a:r>
          </a:p>
          <a:p>
            <a:r>
              <a:t>FEATURE 1: OpsItems connect an issue to resources, related events, runbooks and ownership.</a:t>
            </a:r>
          </a:p>
          <a:p>
            <a:r>
              <a:t>FEATURE 2: Automation executes auditable steps with branching, approvals and AWS API integrations.</a:t>
            </a:r>
          </a:p>
          <a:p>
            <a:r>
              <a:t>FEATURE 3: Explorer aggregates operational/compliance data across configured accounts and Regions.</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Operations and remediation: selection and controls.</a:t>
            </a:r>
          </a:p>
          <a:p>
            <a:r>
              <a:t>CHOOSE WHEN: Use Automation for repeatable remediation and OpsCenter when issues need lifecycle, ownership and evidence.</a:t>
            </a:r>
          </a:p>
          <a:p>
            <a:r>
              <a:t>DEVOPS ENGINEERING: Start with read-only diagnosis, canary the change, bound targets/errors and preserve before/after state.</a:t>
            </a:r>
          </a:p>
          <a:p>
            <a:r>
              <a:t>FAILURE MODE: Automation that deletes diagnostic state before collection can make the incident unexplainable.</a:t>
            </a:r>
          </a:p>
          <a:p>
            <a:r>
              <a:t>EVIDENCE: OpsItem, execution steps, approver, target set, output, resource diff and post-check.</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 foundations: Audit and configuration diagnosis.</a:t>
            </a:r>
          </a:p>
          <a:p>
            <a:r>
              <a:t>PURPOSE: Separate who changed what from what configuration exists now and what desired state declares.</a:t>
            </a:r>
          </a:p>
          <a:p>
            <a:r>
              <a:t>FEATURE 1: CloudTrail records control-plane/API activity and identity context; data events require explicit configuration.</a:t>
            </a:r>
          </a:p>
          <a:p>
            <a:r>
              <a:t>FEATURE 2: Config records supported resource configuration/history and evaluates rules.</a:t>
            </a:r>
          </a:p>
          <a:p>
            <a:r>
              <a:t>FEATURE 3: CloudFormation drift compares supported actual properties with the stack template.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Audit and configuration diagnosis: selection and controls.</a:t>
            </a:r>
          </a:p>
          <a:p>
            <a:r>
              <a:t>CHOOSE WHEN: Use CloudTrail for actor/API evidence, Config for resource history/compliance and drift for IaC divergence.</a:t>
            </a:r>
          </a:p>
          <a:p>
            <a:r>
              <a:t>DEVOPS ENGINEERING: Centralise trails, protect logs, scope selectors deliberately, aggregate Config and investigate before remediation.</a:t>
            </a:r>
          </a:p>
          <a:p>
            <a:r>
              <a:t>FAILURE MODE: No event may mean the trail did not capture that event category—not that no change occurred.</a:t>
            </a:r>
          </a:p>
          <a:p>
            <a:r>
              <a:t>EVIDENCE: Event time/identity/request, configuration timeline, compliance evaluation, drift detail and remediation record.</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 foundations: Network troubleshooting.</a:t>
            </a:r>
          </a:p>
          <a:p>
            <a:r>
              <a:t>PURPOSE: Diagnose connectivity by distinguishing route, policy, name-resolution, load-balancer and application failures.</a:t>
            </a:r>
          </a:p>
          <a:p>
            <a:r>
              <a:t>FEATURE 1: Flow Logs show accepted/rejected network-flow metadata, not packet contents.</a:t>
            </a:r>
          </a:p>
          <a:p>
            <a:r>
              <a:t>FEATURE 2: Reachability Analyzer evaluates a modeled path through supported network configuration.</a:t>
            </a:r>
          </a:p>
          <a:p>
            <a:r>
              <a:t>FEATURE 3: Resolver query logs reveal DNS questions/responses from configured VPCs.</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Network troubleshooting: selection and controls.</a:t>
            </a:r>
          </a:p>
          <a:p>
            <a:r>
              <a:t>CHOOSE WHEN: Use configuration path analysis first, then flow/DNS/load-balancer evidence to locate the failed layer.</a:t>
            </a:r>
          </a:p>
          <a:p>
            <a:r>
              <a:t>DEVOPS ENGINEERING: Check source/destination, DNS, route both ways, security groups, NACLs, endpoints, target health and application listener.</a:t>
            </a:r>
          </a:p>
          <a:p>
            <a:r>
              <a:t>FAILURE MODE: Treating every timeout as a security-group issue leads to random changes and larger blast radius.</a:t>
            </a:r>
          </a:p>
          <a:p>
            <a:r>
              <a:t>EVIDENCE: Path result, flow-log action, DNS response, route, target health, application log and corrected control.</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Developer deep dive: SQS buffering, ordering and dead-letter handling.</a:t>
            </a:r>
          </a:p>
          <a:p>
            <a:r>
              <a:t>PURPOSE: Decouple producers from consumers while making delivery, visibility, idempotency and poison-message behavior explicit.</a:t>
            </a:r>
          </a:p>
          <a:p>
            <a:r>
              <a:t>SERVICE BOUNDARY: SQS Standard · FIFO · dead-letter queues</a:t>
            </a:r>
          </a:p>
          <a:p>
            <a:r>
              <a:t>PRIMARY DESIGN DECISION: Make the charge operation idempotent, extend visibility while healthy, cap retry attempts and isolate permanent failures in a DLQ.</a:t>
            </a:r>
          </a:p>
          <a:p>
            <a:r>
              <a:t>FAILURE BOUNDARY: Increasing visibility indefinitely hides stuck work; relying only on FIFO deduplication does not protect downstream side effects forever.</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SQS buffering, ordering and dead-letter handling: how it works.</a:t>
            </a:r>
          </a:p>
          <a:p>
            <a:r>
              <a:t>MECHANIC 1: Standard queues scale broadly with at-least-once delivery and best-effort ordering; consumers must tolerate duplicate and reordered messages.</a:t>
            </a:r>
          </a:p>
          <a:p>
            <a:r>
              <a:t>MECHANIC 2: FIFO queues preserve order within a message group and deduplicate within the supported window, but throughput and group design still matter.</a:t>
            </a:r>
          </a:p>
          <a:p>
            <a:r>
              <a:t>MECHANIC 3: Visibility timeout hides a received message while processing; it must exceed normal work or be extended through a heartbeat.</a:t>
            </a:r>
          </a:p>
          <a:p>
            <a:r>
              <a:t>MECHANIC 4: Long polling reduces empty receives, while redrive policies move repeatedly failing messages to a DLQ for inspection and controlled replay.</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SQS buffering, ordering and dead-letter handling: operating flow.</a:t>
            </a:r>
          </a:p>
          <a:p>
            <a:r>
              <a:t>Send durable message</a:t>
            </a:r>
          </a:p>
          <a:p>
            <a:r>
              <a:t>Long-poll receive</a:t>
            </a:r>
          </a:p>
          <a:p>
            <a:r>
              <a:t>Acquire visibility lease</a:t>
            </a:r>
          </a:p>
          <a:p>
            <a:r>
              <a:t>Process idempotently</a:t>
            </a:r>
          </a:p>
          <a:p>
            <a:r>
              <a:t>Delete or redrive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SQS buffering, ordering and dead-letter handling: configuration decisions.</a:t>
            </a:r>
          </a:p>
          <a:p>
            <a:r>
              <a:t>QUEUE TYPE: Choose FIFO only when ordered groups/deduplication are real requirements; Standard remains the default for independent work.</a:t>
            </a:r>
          </a:p>
          <a:p>
            <a:r>
              <a:t>BATCHING: Batch send/receive/delete for efficiency, but handle per-entry success and failure independently.</a:t>
            </a:r>
          </a:p>
          <a:p>
            <a:r>
              <a:t>DLQ: Set max receives from real retry behavior and monitor age/depth; a DLQ is an investigation queue, not a disposal bin.</a:t>
            </a:r>
          </a:p>
          <a:p>
            <a:r>
              <a:t>SECURITY: Use queue policies for producer access, KMS where required and VPC endpoints for controlled private API paths.</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SQS buffering, ordering and dead-letter handling: worked architecture decision.</a:t>
            </a:r>
          </a:p>
          <a:p>
            <a:r>
              <a:t>SCENARIO: A worker occasionally exceeds the visibility timeout, causing two instances to charge the same order.</a:t>
            </a:r>
          </a:p>
          <a:p>
            <a:r>
              <a:t>DESIGN DECISION: Make the charge operation idempotent, extend visibility while healthy, cap retry attempts and isolate permanent failures in a DLQ.</a:t>
            </a:r>
          </a:p>
          <a:p>
            <a:r>
              <a:t>FAILURE TO AVOID: Increasing visibility indefinitely hides stuck work; relying only on FIFO deduplication does not protect downstream side effects forever.</a:t>
            </a:r>
          </a:p>
          <a:p>
            <a:r>
              <a:t>ACCEPTANCE EVIDENCE: Message ID/group, receive count, processing heartbeat, idempotency record, deletion result, DLQ age and redrive record.</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Developer deep dive: SNS, EventBridge and API event contracts.</a:t>
            </a:r>
          </a:p>
          <a:p>
            <a:r>
              <a:t>PURPOSE: Select fan-out, event routing or synchronous API integration from contract, delivery and consumer-isolation requirements.</a:t>
            </a:r>
          </a:p>
          <a:p>
            <a:r>
              <a:t>SERVICE BOUNDARY: SNS · EventBridge · API Gateway · Lambda</a:t>
            </a:r>
          </a:p>
          <a:p>
            <a:r>
              <a:t>PRIMARY DESIGN DECISION: Publish a versioned domain event to EventBridge, filter to per-consumer queues and let each consumer own retry/DLQ behavior.</a:t>
            </a:r>
          </a:p>
          <a:p>
            <a:r>
              <a:t>FAILURE BOUNDARY: Direct synchronous calls couple availability and release schedules; a broad event pattern can invoke the wrong automation.</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SNS, EventBridge and API event contracts: how it works.</a:t>
            </a:r>
          </a:p>
          <a:p>
            <a:r>
              <a:t>MECHANIC 1: SNS publishes one message to multiple subscriptions and supports filtering, retries and protocol-specific delivery behavior.</a:t>
            </a:r>
          </a:p>
          <a:p>
            <a:r>
              <a:t>MECHANIC 2: EventBridge routes structured events by content across buses, supports schemas, archives/replay and SaaS or cross-account integration patterns.</a:t>
            </a:r>
          </a:p>
          <a:p>
            <a:r>
              <a:t>MECHANIC 3: API Gateway exposes REST, HTTP or WebSocket APIs with stages, integrations, authorization, throttling, logging and deployment controls.</a:t>
            </a:r>
          </a:p>
          <a:p>
            <a:r>
              <a:t>MECHANIC 4: Lambda proxy integrations pass a defined event envelope; non-proxy mappings can transform and validate requests before reaching the backend.</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SNS, EventBridge and API event contracts: operating flow.</a:t>
            </a:r>
          </a:p>
          <a:p>
            <a:r>
              <a:t>Define versioned contract</a:t>
            </a:r>
          </a:p>
          <a:p>
            <a:r>
              <a:t>Authenticate producer</a:t>
            </a:r>
          </a:p>
          <a:p>
            <a:r>
              <a:t>Filter or validate</a:t>
            </a:r>
          </a:p>
          <a:p>
            <a:r>
              <a:t>Deliver to isolated consumer</a:t>
            </a:r>
          </a:p>
          <a:p>
            <a:r>
              <a:t>Handle failure and observe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SNS, EventBridge and API event contracts: configuration decisions.</a:t>
            </a:r>
          </a:p>
          <a:p>
            <a:r>
              <a:t>SNS: Choose for push-based fan-out where subscribers receive the same publication through supported protocols.</a:t>
            </a:r>
          </a:p>
          <a:p>
            <a:r>
              <a:t>EVENTBRIDGE: Choose for content-based routing, account decoupling, event discovery and replayable operational events.</a:t>
            </a:r>
          </a:p>
          <a:p>
            <a:r>
              <a:t>API GATEWAY: Choose for managed synchronous HTTP/WebSocket entry with authorization, quotas and request/response controls.</a:t>
            </a:r>
          </a:p>
          <a:p>
            <a:r>
              <a:t>BUFFER: Place SQS between routing and slow consumers when back-pressure and independent retry are required.</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SNS, EventBridge and API event contracts: worked architecture decision.</a:t>
            </a:r>
          </a:p>
          <a:p>
            <a:r>
              <a:t>SCENARIO: An order event must reach billing, analytics and notification teams without the producer knowing their endpoints or failure state.</a:t>
            </a:r>
          </a:p>
          <a:p>
            <a:r>
              <a:t>DESIGN DECISION: Publish a versioned domain event to EventBridge, filter to per-consumer queues and let each consumer own retry/DLQ behavior.</a:t>
            </a:r>
          </a:p>
          <a:p>
            <a:r>
              <a:t>FAILURE TO AVOID: Direct synchronous calls couple availability and release schedules; a broad event pattern can invoke the wrong automation.</a:t>
            </a:r>
          </a:p>
          <a:p>
            <a:r>
              <a:t>ACCEPTANCE EVIDENCE: Schema/version, producer identity, matched rule, delivery attempts, consumer queue depth, DLQ record and correlation ID.</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Event-driven operations.</a:t>
            </a:r>
          </a:p>
          <a:p>
            <a:r>
              <a:t>OUTCOME: Route operational events to the right automated or human response with explicit contracts.</a:t>
            </a:r>
          </a:p>
          <a:p>
            <a:r>
              <a:t>ARCHITECTURE: Use precise event patterns, schemas, input transformation, retries, DLQs and archive/replay where required.</a:t>
            </a:r>
          </a:p>
          <a:p>
            <a:r>
              <a:t>FAILURE MODE: An overly broad rule can invoke expensive or destructive automation for unrelated events.</a:t>
            </a:r>
          </a:p>
          <a:p>
            <a:r>
              <a:t>EVIDENCE: Event pattern, matched sample, target role, retry policy, DLQ and replay record.</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Event-driven operations: operating flow.</a:t>
            </a:r>
          </a:p>
          <a:p>
            <a:r>
              <a:t>Source event</a:t>
            </a:r>
          </a:p>
          <a:p>
            <a:r>
              <a:t>Match pattern</a:t>
            </a:r>
          </a:p>
          <a:p>
            <a:r>
              <a:t>Transform</a:t>
            </a:r>
          </a:p>
          <a:p>
            <a:r>
              <a:t>Invoke target</a:t>
            </a:r>
          </a:p>
          <a:p>
            <a:r>
              <a:t>Retry or quarantine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Event-driven operations: design decision.</a:t>
            </a:r>
          </a:p>
          <a:p>
            <a:r>
              <a:t>SCENARIO: Only failed production deployments should create an incident and trigger rollback diagnostics.</a:t>
            </a:r>
          </a:p>
          <a:p>
            <a:r>
              <a:t>DESIGN RESPONSE: Use precise event patterns, schemas, input transformation, retries, DLQs and archive/replay where required.</a:t>
            </a:r>
          </a:p>
          <a:p>
            <a:r>
              <a:t>PRIMARY SERVICES: EventBridge · Pipes · Scheduler · Lambda</a:t>
            </a:r>
          </a:p>
          <a:p>
            <a:r>
              <a:t>FAILURE MODE: An overly broad rule can invoke expensive or destructive automation for unrelated events.</a:t>
            </a:r>
          </a:p>
          <a:p>
            <a:r>
              <a:t>PROOF: Event pattern, matched sample, target role, retry policy, DLQ and replay record.</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Event-driven operations: failure diagnostic.</a:t>
            </a:r>
          </a:p>
          <a:p>
            <a:r>
              <a:t>RECOGNISE: Observable failure condition: An overly broad rule can invoke expensive or destructive automation for unrelated events.</a:t>
            </a:r>
          </a:p>
          <a:p>
            <a:r>
              <a:t>CONTAIN: Pause promotion, preserve evidence and reduce impact without destroying diagnostic state.</a:t>
            </a:r>
          </a:p>
          <a:p>
            <a:r>
              <a:t>DIAGNOSE: Trace the workflow from Source event through Retry or quarantine; compare intended configuration with runtime state.</a:t>
            </a:r>
          </a:p>
          <a:p>
            <a:r>
              <a:t>RECOVER: Restore the last known-good state, then prove recovery with Event pattern, matched sample, target role, retry policy, DLQ and replay record.</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Event-driven operations: worked decision.</a:t>
            </a:r>
          </a:p>
          <a:p>
            <a:r>
              <a:t>CONSTRAINT: Only failed production deployments should create an incident and trigger rollback diagnostics.</a:t>
            </a:r>
          </a:p>
          <a:p>
            <a:r>
              <a:t>DECISION: Use precise event patterns, schemas, input transformation, retries, DLQs and archive/replay where required.</a:t>
            </a:r>
          </a:p>
          <a:p>
            <a:r>
              <a:t>WHY ALTERNATIVES LOSE: Reject options that do not change the stated failure boundary: An overly broad rule can invoke expensive or destructive automation for unrelated events.</a:t>
            </a:r>
          </a:p>
          <a:p>
            <a:r>
              <a:t>ACCEPTANCE TEST: The decision is complete only when this proof exists: Event pattern, matched sample, target role, retry policy, DLQ and replay record.</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Health and audit event correlation.</a:t>
            </a:r>
          </a:p>
          <a:p>
            <a:r>
              <a:t>OUTCOME: Distinguish provider events, configuration changes and workload symptoms during an incident.</a:t>
            </a:r>
          </a:p>
          <a:p>
            <a:r>
              <a:t>ARCHITECTURE: Correlate Health events with API history and resource telemetry using account, Region, resource and time.</a:t>
            </a:r>
          </a:p>
          <a:p>
            <a:r>
              <a:t>FAILURE MODE: Treating every symptom as an application defect delays response to service or control-plane events.</a:t>
            </a:r>
          </a:p>
          <a:p>
            <a:r>
              <a:t>EVIDENCE: Health event ARN, CloudTrail event ID, affected entities, timeline and correlated alarm.</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Health and audit event correlation: operating flow.</a:t>
            </a:r>
          </a:p>
          <a:p>
            <a:r>
              <a:t>Detect symptom</a:t>
            </a:r>
          </a:p>
          <a:p>
            <a:r>
              <a:t>Check Health</a:t>
            </a:r>
          </a:p>
          <a:p>
            <a:r>
              <a:t>Query API history</a:t>
            </a:r>
          </a:p>
          <a:p>
            <a:r>
              <a:t>Correlate resource</a:t>
            </a:r>
          </a:p>
          <a:p>
            <a:r>
              <a:t>Choose response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Health and audit event correlation: design decision.</a:t>
            </a:r>
          </a:p>
          <a:p>
            <a:r>
              <a:t>SCENARIO: Instances fail in one Region after a maintenance event while a deployment occurred minutes earlier.</a:t>
            </a:r>
          </a:p>
          <a:p>
            <a:r>
              <a:t>DESIGN RESPONSE: Correlate Health events with API history and resource telemetry using account, Region, resource and time.</a:t>
            </a:r>
          </a:p>
          <a:p>
            <a:r>
              <a:t>PRIMARY SERVICES: AWS Health · CloudTrail · EventBridge</a:t>
            </a:r>
          </a:p>
          <a:p>
            <a:r>
              <a:t>FAILURE MODE: Treating every symptom as an application defect delays response to service or control-plane events.</a:t>
            </a:r>
          </a:p>
          <a:p>
            <a:r>
              <a:t>PROOF: Health event ARN, CloudTrail event ID, affected entities, timeline and correlated alarm.</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Health and audit event correlation: failure diagnostic.</a:t>
            </a:r>
          </a:p>
          <a:p>
            <a:r>
              <a:t>RECOGNISE: Observable failure condition: Treating every symptom as an application defect delays response to service or control-plane events.</a:t>
            </a:r>
          </a:p>
          <a:p>
            <a:r>
              <a:t>CONTAIN: Pause promotion, preserve evidence and reduce impact without destroying diagnostic state.</a:t>
            </a:r>
          </a:p>
          <a:p>
            <a:r>
              <a:t>DIAGNOSE: Trace the workflow from Detect symptom through Choose response; compare intended configuration with runtime state.</a:t>
            </a:r>
          </a:p>
          <a:p>
            <a:r>
              <a:t>RECOVER: Restore the last known-good state, then prove recovery with Health event ARN, CloudTrail event ID, affected entities, timeline and correlated alarm.</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Health and audit event correlation: worked decision.</a:t>
            </a:r>
          </a:p>
          <a:p>
            <a:r>
              <a:t>CONSTRAINT: Instances fail in one Region after a maintenance event while a deployment occurred minutes earlier.</a:t>
            </a:r>
          </a:p>
          <a:p>
            <a:r>
              <a:t>DECISION: Correlate Health events with API history and resource telemetry using account, Region, resource and time.</a:t>
            </a:r>
          </a:p>
          <a:p>
            <a:r>
              <a:t>WHY ALTERNATIVES LOSE: Reject options that do not change the stated failure boundary: Treating every symptom as an application defect delays response to service or control-plane events.</a:t>
            </a:r>
          </a:p>
          <a:p>
            <a:r>
              <a:t>ACCEPTANCE TEST: The decision is complete only when this proof exists: Health event ARN, CloudTrail event ID, affected entities, timeline and correlated alarm.</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Queues, dead-letter queues and redrive.</a:t>
            </a:r>
          </a:p>
          <a:p>
            <a:r>
              <a:t>OUTCOME: Contain poison messages, preserve evidence and restore flow without replaying successful work.</a:t>
            </a:r>
          </a:p>
          <a:p>
            <a:r>
              <a:t>ARCHITECTURE: Set max receives from retry cost, alarm on age and DLQ depth, inspect safely and redrive in controlled batches.</a:t>
            </a:r>
          </a:p>
          <a:p>
            <a:r>
              <a:t>FAILURE MODE: Redriving an uncorrected poison message recreates the incident.</a:t>
            </a:r>
          </a:p>
          <a:p>
            <a:r>
              <a:t>EVIDENCE: Message ID, receive count, failure reason, DLQ age, fix version and redrive result.</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Queues, dead-letter queues and redrive: operating flow.</a:t>
            </a:r>
          </a:p>
          <a:p>
            <a:r>
              <a:t>Consume</a:t>
            </a:r>
          </a:p>
          <a:p>
            <a:r>
              <a:t>Fail</a:t>
            </a:r>
          </a:p>
          <a:p>
            <a:r>
              <a:t>Retry</a:t>
            </a:r>
          </a:p>
          <a:p>
            <a:r>
              <a:t>Move to DLQ</a:t>
            </a:r>
          </a:p>
          <a:p>
            <a:r>
              <a:t>Diagnose</a:t>
            </a:r>
          </a:p>
          <a:p>
            <a:r>
              <a:t>Redrive after fix</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Queues, dead-letter queues and redrive: design decision.</a:t>
            </a:r>
          </a:p>
          <a:p>
            <a:r>
              <a:t>SCENARIO: A malformed event blocks a consumer while valid orders accumulate behind it.</a:t>
            </a:r>
          </a:p>
          <a:p>
            <a:r>
              <a:t>DESIGN RESPONSE: Set max receives from retry cost, alarm on age and DLQ depth, inspect safely and redrive in controlled batches.</a:t>
            </a:r>
          </a:p>
          <a:p>
            <a:r>
              <a:t>PRIMARY SERVICES: SQS · SNS · Lambda</a:t>
            </a:r>
          </a:p>
          <a:p>
            <a:r>
              <a:t>FAILURE MODE: Redriving an uncorrected poison message recreates the incident.</a:t>
            </a:r>
          </a:p>
          <a:p>
            <a:r>
              <a:t>PROOF: Message ID, receive count, failure reason, DLQ age, fix version and redrive result.</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Queues, dead-letter queues and redrive: failure diagnostic.</a:t>
            </a:r>
          </a:p>
          <a:p>
            <a:r>
              <a:t>RECOGNISE: Observable failure condition: Redriving an uncorrected poison message recreates the incident.</a:t>
            </a:r>
          </a:p>
          <a:p>
            <a:r>
              <a:t>CONTAIN: Pause promotion, preserve evidence and reduce impact without destroying diagnostic state.</a:t>
            </a:r>
          </a:p>
          <a:p>
            <a:r>
              <a:t>DIAGNOSE: Trace the workflow from Consume through Redrive after fix; compare intended configuration with runtime state.</a:t>
            </a:r>
          </a:p>
          <a:p>
            <a:r>
              <a:t>RECOVER: Restore the last known-good state, then prove recovery with Message ID, receive count, failure reason, DLQ age, fix version and redrive result.</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Queues, dead-letter queues and redrive: worked decision.</a:t>
            </a:r>
          </a:p>
          <a:p>
            <a:r>
              <a:t>CONSTRAINT: A malformed event blocks a consumer while valid orders accumulate behind it.</a:t>
            </a:r>
          </a:p>
          <a:p>
            <a:r>
              <a:t>DECISION: Set max receives from retry cost, alarm on age and DLQ depth, inspect safely and redrive in controlled batches.</a:t>
            </a:r>
          </a:p>
          <a:p>
            <a:r>
              <a:t>WHY ALTERNATIVES LOSE: Reject options that do not change the stated failure boundary: Redriving an uncorrected poison message recreates the incident.</a:t>
            </a:r>
          </a:p>
          <a:p>
            <a:r>
              <a:t>ACCEPTANCE TEST: The decision is complete only when this proof exists: Message ID, receive count, failure reason, DLQ age, fix version and redrive result.</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Automated remediation.</a:t>
            </a:r>
          </a:p>
          <a:p>
            <a:r>
              <a:t>OUTCOME: Correct known, bounded failure modes quickly while preserving safety and auditability.</a:t>
            </a:r>
          </a:p>
          <a:p>
            <a:r>
              <a:t>ARCHITECTURE: Validate preconditions, scope targets, use approvals for high-risk steps, enforce rate controls and verify postconditions.</a:t>
            </a:r>
          </a:p>
          <a:p>
            <a:r>
              <a:t>FAILURE MODE: Automation that acts on uncertain diagnosis can deepen an outage.</a:t>
            </a:r>
          </a:p>
          <a:p>
            <a:r>
              <a:t>EVIDENCE: Trigger evidence, automation execution, approvals, step output, rollback and postcondition check.</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Automated remediation: operating flow.</a:t>
            </a:r>
          </a:p>
          <a:p>
            <a:r>
              <a:t>Detect known condition</a:t>
            </a:r>
          </a:p>
          <a:p>
            <a:r>
              <a:t>Validate</a:t>
            </a:r>
          </a:p>
          <a:p>
            <a:r>
              <a:t>Approve if required</a:t>
            </a:r>
          </a:p>
          <a:p>
            <a:r>
              <a:t>Remediate canary</a:t>
            </a:r>
          </a:p>
          <a:p>
            <a:r>
              <a:t>Expand</a:t>
            </a:r>
          </a:p>
          <a:p>
            <a:r>
              <a:t>Verify</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Automated remediation: design decision.</a:t>
            </a:r>
          </a:p>
          <a:p>
            <a:r>
              <a:t>SCENARIO: A public security group rule must be removed automatically without touching approved exceptions.</a:t>
            </a:r>
          </a:p>
          <a:p>
            <a:r>
              <a:t>DESIGN RESPONSE: Validate preconditions, scope targets, use approvals for high-risk steps, enforce rate controls and verify postconditions.</a:t>
            </a:r>
          </a:p>
          <a:p>
            <a:r>
              <a:t>PRIMARY SERVICES: Systems Manager Automation · Config · Lambda</a:t>
            </a:r>
          </a:p>
          <a:p>
            <a:r>
              <a:t>FAILURE MODE: Automation that acts on uncertain diagnosis can deepen an outage.</a:t>
            </a:r>
          </a:p>
          <a:p>
            <a:r>
              <a:t>PROOF: Trigger evidence, automation execution, approvals, step output, rollback and postcondition check.</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Automated remediation: failure diagnostic.</a:t>
            </a:r>
          </a:p>
          <a:p>
            <a:r>
              <a:t>RECOGNISE: Observable failure condition: Automation that acts on uncertain diagnosis can deepen an outage.</a:t>
            </a:r>
          </a:p>
          <a:p>
            <a:r>
              <a:t>CONTAIN: Pause promotion, preserve evidence and reduce impact without destroying diagnostic state.</a:t>
            </a:r>
          </a:p>
          <a:p>
            <a:r>
              <a:t>DIAGNOSE: Trace the workflow from Detect known condition through Verify; compare intended configuration with runtime state.</a:t>
            </a:r>
          </a:p>
          <a:p>
            <a:r>
              <a:t>RECOVER: Restore the last known-good state, then prove recovery with Trigger evidence, automation execution, approvals, step output, rollback and postcondition check.</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Automated remediation: worked decision.</a:t>
            </a:r>
          </a:p>
          <a:p>
            <a:r>
              <a:t>CONSTRAINT: A public security group rule must be removed automatically without touching approved exceptions.</a:t>
            </a:r>
          </a:p>
          <a:p>
            <a:r>
              <a:t>DECISION: Validate preconditions, scope targets, use approvals for high-risk steps, enforce rate controls and verify postconditions.</a:t>
            </a:r>
          </a:p>
          <a:p>
            <a:r>
              <a:t>WHY ALTERNATIVES LOSE: Reject options that do not change the stated failure boundary: Automation that acts on uncertain diagnosis can deepen an outage.</a:t>
            </a:r>
          </a:p>
          <a:p>
            <a:r>
              <a:t>ACCEPTANCE TEST: The decision is complete only when this proof exists: Trigger evidence, automation execution, approvals, step output, rollback and postcondition check.</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Incident coordination and runbooks.</a:t>
            </a:r>
          </a:p>
          <a:p>
            <a:r>
              <a:t>OUTCOME: Create a shared timeline, ownership model and executable response path during incidents.</a:t>
            </a:r>
          </a:p>
          <a:p>
            <a:r>
              <a:t>ARCHITECTURE: Define severity, response plans, contacts, escalation, runbooks and post-incident actions before failure.</a:t>
            </a:r>
          </a:p>
          <a:p>
            <a:r>
              <a:t>FAILURE MODE: A technically correct fix can still fail when ownership and communication are unclear.</a:t>
            </a:r>
          </a:p>
          <a:p>
            <a:r>
              <a:t>EVIDENCE: Incident record, responder engagement, timeline, runbook execution, decision log and action items.</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Incident coordination and runbooks: operating flow.</a:t>
            </a:r>
          </a:p>
          <a:p>
            <a:r>
              <a:t>Declare</a:t>
            </a:r>
          </a:p>
          <a:p>
            <a:r>
              <a:t>Engage owners</a:t>
            </a:r>
          </a:p>
          <a:p>
            <a:r>
              <a:t>Stabilize</a:t>
            </a:r>
          </a:p>
          <a:p>
            <a:r>
              <a:t>Diagnose</a:t>
            </a:r>
          </a:p>
          <a:p>
            <a:r>
              <a:t>Recover</a:t>
            </a:r>
          </a:p>
          <a:p>
            <a:r>
              <a:t>Learn</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Incident coordination and runbooks: design decision.</a:t>
            </a:r>
          </a:p>
          <a:p>
            <a:r>
              <a:t>SCENARIO: A critical API outage requires application, platform, security and business responders to coordinate.</a:t>
            </a:r>
          </a:p>
          <a:p>
            <a:r>
              <a:t>DESIGN RESPONSE: Define severity, response plans, contacts, escalation, runbooks and post-incident actions before failure.</a:t>
            </a:r>
          </a:p>
          <a:p>
            <a:r>
              <a:t>PRIMARY SERVICES: Incident Manager · OpsCenter · Chatbot</a:t>
            </a:r>
          </a:p>
          <a:p>
            <a:r>
              <a:t>FAILURE MODE: A technically correct fix can still fail when ownership and communication are unclear.</a:t>
            </a:r>
          </a:p>
          <a:p>
            <a:r>
              <a:t>PROOF: Incident record, responder engagement, timeline, runbook execution, decision log and action items.</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Incident coordination and runbooks: failure diagnostic.</a:t>
            </a:r>
          </a:p>
          <a:p>
            <a:r>
              <a:t>RECOGNISE: Observable failure condition: A technically correct fix can still fail when ownership and communication are unclear.</a:t>
            </a:r>
          </a:p>
          <a:p>
            <a:r>
              <a:t>CONTAIN: Pause promotion, preserve evidence and reduce impact without destroying diagnostic state.</a:t>
            </a:r>
          </a:p>
          <a:p>
            <a:r>
              <a:t>DIAGNOSE: Trace the workflow from Declare through Learn; compare intended configuration with runtime state.</a:t>
            </a:r>
          </a:p>
          <a:p>
            <a:r>
              <a:t>RECOVER: Restore the last known-good state, then prove recovery with Incident record, responder engagement, timeline, runbook execution, decision log and action items.</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Incident coordination and runbooks: worked decision.</a:t>
            </a:r>
          </a:p>
          <a:p>
            <a:r>
              <a:t>CONSTRAINT: A critical API outage requires application, platform, security and business responders to coordinate.</a:t>
            </a:r>
          </a:p>
          <a:p>
            <a:r>
              <a:t>DECISION: Define severity, response plans, contacts, escalation, runbooks and post-incident actions before failure.</a:t>
            </a:r>
          </a:p>
          <a:p>
            <a:r>
              <a:t>WHY ALTERNATIVES LOSE: Reject options that do not change the stated failure boundary: A technically correct fix can still fail when ownership and communication are unclear.</a:t>
            </a:r>
          </a:p>
          <a:p>
            <a:r>
              <a:t>ACCEPTANCE TEST: The decision is complete only when this proof exists: Incident record, responder engagement, timeline, runbook execution, decision log and action items.</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Structured troubleshooting.</a:t>
            </a:r>
          </a:p>
          <a:p>
            <a:r>
              <a:t>OUTCOME: Reduce mean time to recovery through hypothesis-driven diagnosis and controlled changes.</a:t>
            </a:r>
          </a:p>
          <a:p>
            <a:r>
              <a:t>ARCHITECTURE: Start from user impact, check recent changes, narrow by dependency, compare healthy baselines and change one variable at a time.</a:t>
            </a:r>
          </a:p>
          <a:p>
            <a:r>
              <a:t>FAILURE MODE: Random changes destroy evidence and create new failure modes.</a:t>
            </a:r>
          </a:p>
          <a:p>
            <a:r>
              <a:t>EVIDENCE: Impact statement, timeline, hypotheses, evidence, change record, recovery metric and root cause.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Structured troubleshooting: operating flow.</a:t>
            </a:r>
          </a:p>
          <a:p>
            <a:r>
              <a:t>Define impact</a:t>
            </a:r>
          </a:p>
          <a:p>
            <a:r>
              <a:t>Build timeline</a:t>
            </a:r>
          </a:p>
          <a:p>
            <a:r>
              <a:t>Rank hypotheses</a:t>
            </a:r>
          </a:p>
          <a:p>
            <a:r>
              <a:t>Test safely</a:t>
            </a:r>
          </a:p>
          <a:p>
            <a:r>
              <a:t>Recover</a:t>
            </a:r>
          </a:p>
          <a:p>
            <a:r>
              <a:t>Validate and document</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Structured troubleshooting: design decision.</a:t>
            </a:r>
          </a:p>
          <a:p>
            <a:r>
              <a:t>SCENARIO: Latency rises after a deployment, but only for requests using one downstream dependency.</a:t>
            </a:r>
          </a:p>
          <a:p>
            <a:r>
              <a:t>DESIGN RESPONSE: Start from user impact, check recent changes, narrow by dependency, compare healthy baselines and change one variable at a time.</a:t>
            </a:r>
          </a:p>
          <a:p>
            <a:r>
              <a:t>PRIMARY SERVICES: CloudWatch · X-Ray · CloudTrail · Systems Manager</a:t>
            </a:r>
          </a:p>
          <a:p>
            <a:r>
              <a:t>FAILURE MODE: Random changes destroy evidence and create new failure modes.</a:t>
            </a:r>
          </a:p>
          <a:p>
            <a:r>
              <a:t>PROOF: Impact statement, timeline, hypotheses, evidence, change record, recovery metric and root cause.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Structured troubleshooting: failure diagnostic.</a:t>
            </a:r>
          </a:p>
          <a:p>
            <a:r>
              <a:t>RECOGNISE: Observable failure condition: Random changes destroy evidence and create new failure modes.</a:t>
            </a:r>
          </a:p>
          <a:p>
            <a:r>
              <a:t>CONTAIN: Pause promotion, preserve evidence and reduce impact without destroying diagnostic state.</a:t>
            </a:r>
          </a:p>
          <a:p>
            <a:r>
              <a:t>DIAGNOSE: Trace the workflow from Define impact through Validate and document; compare intended configuration with runtime state.</a:t>
            </a:r>
          </a:p>
          <a:p>
            <a:r>
              <a:t>RECOVER: Restore the last known-good state, then prove recovery with Impact statement, timeline, hypotheses, evidence, change record, recovery metric and root cause.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Structured troubleshooting: worked decision.</a:t>
            </a:r>
          </a:p>
          <a:p>
            <a:r>
              <a:t>CONSTRAINT: Latency rises after a deployment, but only for requests using one downstream dependency.</a:t>
            </a:r>
          </a:p>
          <a:p>
            <a:r>
              <a:t>DECISION: Start from user impact, check recent changes, narrow by dependency, compare healthy baselines and change one variable at a time.</a:t>
            </a:r>
          </a:p>
          <a:p>
            <a:r>
              <a:t>WHY ALTERNATIVES LOSE: Reject options that do not change the stated failure boundary: Random changes destroy evidence and create new failure modes.</a:t>
            </a:r>
          </a:p>
          <a:p>
            <a:r>
              <a:t>ACCEPTANCE TEST: The decision is complete only when this proof exists: Impact statement, timeline, hypotheses, evidence, change record, recovery metric and root cause.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Event-driven operations: architecture map.</a:t>
            </a:r>
          </a:p>
          <a:p>
            <a:r>
              <a:t>TRIGGER / INPUT: Source event</a:t>
            </a:r>
          </a:p>
          <a:p>
            <a:r>
              <a:t>CONTROL PLANE: Use precise event patterns, schemas, input transformation, retries, DLQs and archive/replay where required.</a:t>
            </a:r>
          </a:p>
          <a:p>
            <a:r>
              <a:t>AWS SERVICES: EventBridge · Pipes · Scheduler · Lambda</a:t>
            </a:r>
          </a:p>
          <a:p>
            <a:r>
              <a:t>EVIDENCE BOUNDARY: Event pattern, matched sample, target role, retry policy, DLQ and replay record.</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Health and audit event correlation: architecture map.</a:t>
            </a:r>
          </a:p>
          <a:p>
            <a:r>
              <a:t>TRIGGER / INPUT: Detect symptom</a:t>
            </a:r>
          </a:p>
          <a:p>
            <a:r>
              <a:t>CONTROL PLANE: Correlate Health events with API history and resource telemetry using account, Region, resource and time.</a:t>
            </a:r>
          </a:p>
          <a:p>
            <a:r>
              <a:t>AWS SERVICES: AWS Health · CloudTrail · EventBridge</a:t>
            </a:r>
          </a:p>
          <a:p>
            <a:r>
              <a:t>EVIDENCE BOUNDARY: Health event ARN, CloudTrail event ID, affected entities, timeline and correlated alarm.</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Queues, dead-letter queues and redrive: architecture map.</a:t>
            </a:r>
          </a:p>
          <a:p>
            <a:r>
              <a:t>TRIGGER / INPUT: Consume</a:t>
            </a:r>
          </a:p>
          <a:p>
            <a:r>
              <a:t>CONTROL PLANE: Set max receives from retry cost, alarm on age and DLQ depth, inspect safely and redrive in controlled batches.</a:t>
            </a:r>
          </a:p>
          <a:p>
            <a:r>
              <a:t>AWS SERVICES: SQS · SNS · Lambda</a:t>
            </a:r>
          </a:p>
          <a:p>
            <a:r>
              <a:t>EVIDENCE BOUNDARY: Message ID, receive count, failure reason, DLQ age, fix version and redrive result.</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Automated remediation: architecture map.</a:t>
            </a:r>
          </a:p>
          <a:p>
            <a:r>
              <a:t>TRIGGER / INPUT: Detect known condition</a:t>
            </a:r>
          </a:p>
          <a:p>
            <a:r>
              <a:t>CONTROL PLANE: Validate preconditions, scope targets, use approvals for high-risk steps, enforce rate controls and verify postconditions.</a:t>
            </a:r>
          </a:p>
          <a:p>
            <a:r>
              <a:t>AWS SERVICES: Systems Manager Automation · Config · Lambda</a:t>
            </a:r>
          </a:p>
          <a:p>
            <a:r>
              <a:t>EVIDENCE BOUNDARY: Trigger evidence, automation execution, approvals, step output, rollback and postcondition check.</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Incident coordination and runbooks: architecture map.</a:t>
            </a:r>
          </a:p>
          <a:p>
            <a:r>
              <a:t>TRIGGER / INPUT: Declare</a:t>
            </a:r>
          </a:p>
          <a:p>
            <a:r>
              <a:t>CONTROL PLANE: Define severity, response plans, contacts, escalation, runbooks and post-incident actions before failure.</a:t>
            </a:r>
          </a:p>
          <a:p>
            <a:r>
              <a:t>AWS SERVICES: Incident Manager · OpsCenter · Chatbot</a:t>
            </a:r>
          </a:p>
          <a:p>
            <a:r>
              <a:t>EVIDENCE BOUNDARY: Incident record, responder engagement, timeline, runbook execution, decision log and action items.</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Structured troubleshooting: architecture map.</a:t>
            </a:r>
          </a:p>
          <a:p>
            <a:r>
              <a:t>TRIGGER / INPUT: Define impact</a:t>
            </a:r>
          </a:p>
          <a:p>
            <a:r>
              <a:t>CONTROL PLANE: Start from user impact, check recent changes, narrow by dependency, compare healthy baselines and change one variable at a time.</a:t>
            </a:r>
          </a:p>
          <a:p>
            <a:r>
              <a:t>AWS SERVICES: CloudWatch · X-Ray · CloudTrail · Systems Manager</a:t>
            </a:r>
          </a:p>
          <a:p>
            <a:r>
              <a:t>EVIDENCE BOUNDARY: Impact statement, timeline, hypotheses, evidence, change record, recovery metric and root cause.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4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19 overview — Build an EventBridge rule that matches incident signals and fans them out to notify and log targets (LO5, K7, A5).</a:t>
            </a:r>
          </a:p>
          <a:p>
            <a:r>
              <a:t>Concept-led briefing only. The full detailed procedure, commands, expected outputs, validation and cleanup live in the Learner Guide and the lab README (not on the slides).</a:t>
            </a:r>
          </a:p>
          <a:p>
            <a:r>
              <a:t>Reference architecture: course-generated diagram for Lab 19.</a:t>
            </a:r>
          </a:p>
          <a:p/>
          <a:p>
            <a:r>
              <a:t>[Sources]</a:t>
            </a:r>
          </a:p>
          <a:p>
            <a:r>
              <a:t>- AWS Certified DevOps Engineer – Professional (DOP-C02) Exam Guide (docs.aws.amazon.com/pdfs/aws-certification/latest/devops-engineer-professional-02).</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4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20 overview — Wire an EventBridge target to a least-privilege Lambda that triggers an SSM Automation runbook so an unhealthy resource self-heals (LO5, K7, A5).</a:t>
            </a:r>
          </a:p>
          <a:p>
            <a:r>
              <a:t>Concept-led briefing only. The full detailed procedure, commands, expected outputs, validation and cleanup live in the Learner Guide and the lab README (not on the slides).</a:t>
            </a:r>
          </a:p>
          <a:p>
            <a:r>
              <a:t>Reference architecture: course-generated diagram for Lab 20.</a:t>
            </a:r>
          </a:p>
          <a:p/>
          <a:p>
            <a:r>
              <a:t>[Sources]</a:t>
            </a:r>
          </a:p>
          <a:p>
            <a:r>
              <a:t>- AWS Certified DevOps Engineer – Professional (DOP-C02) Exam Guide (docs.aws.amazon.com/pdfs/aws-certification/latest/devops-engineer-professional-02).</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4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 of Domain 05 — Incident and Event Response.</a:t>
            </a:r>
          </a:p>
          <a:p/>
          <a:p>
            <a:r>
              <a:t>[Sources]</a:t>
            </a:r>
          </a:p>
          <a:p>
            <a:r>
              <a:t>- AWS Certified DevOps Engineer – Professional (DOP-C02) Exam Guide (docs.aws.amazon.com/pdfs/aws-certification/latest/devops-engineer-professional-02).</a:t>
            </a:r>
          </a:p>
          <a:p>
            <a:r>
              <a:t>- AWS EventBridge Documentation (docs.aws.amazon.com/eventbridge).</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4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and compliance as continuous, automated guardrails</a:t>
            </a:r>
          </a:p>
          <a:p>
            <a:r>
              <a:t>Illustration created for this course with AI image generation (ImageGen).</a:t>
            </a:r>
          </a:p>
          <a:p/>
          <a:p>
            <a:r>
              <a:t>[Sources]</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5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concepts for Domain 06 — Security and Compliance.</a:t>
            </a:r>
          </a:p>
          <a:p>
            <a:r>
              <a:t>Identity &amp; access management: IAM users, roles, policies and permission boundaries enforce least privilege; roles beat long-lived keys.</a:t>
            </a:r>
          </a:p>
          <a:p>
            <a:r>
              <a:t>IAM at scale: Organizations SCPs, IAM Identity Center and federation manage access across many accounts.</a:t>
            </a:r>
          </a:p>
          <a:p>
            <a:r>
              <a:t>Data protection: KMS encryption, Secrets Manager, S3 Block Public Access and TLS protect data at rest and in transit.</a:t>
            </a:r>
          </a:p>
          <a:p>
            <a:r>
              <a:t>Detective controls: CloudTrail, AWS Config, GuardDuty and Security Hub record, assess and score the account's posture.</a:t>
            </a:r>
          </a:p>
          <a:p>
            <a:r>
              <a:t>Automated compliance: Config rules and conformance packs continuously check resources against a technical blueprint.</a:t>
            </a:r>
          </a:p>
          <a:p>
            <a:r>
              <a:t>Governance blueprint: A landing zone plus guardrails give a documented, auditable security and compliance baseline.</a:t>
            </a:r>
          </a:p>
          <a:p/>
          <a:p>
            <a:r>
              <a:t>[Sources]</a:t>
            </a:r>
          </a:p>
          <a:p>
            <a:r>
              <a:t>- AWS Certified DevOps Engineer – Professional (DOP-C02) Exam Guide (docs.aws.amazon.com/pdfs/aws-certification/latest/devops-engineer-professional-02).</a:t>
            </a:r>
          </a:p>
          <a:p>
            <a:r>
              <a:t>- AWS IAM Documentation (docs.aws.amazon.com/IAM/latest/UserGuide).</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5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06 deep dive — Security and Compliance. Editable AWS-native diagram/table/chart.</a:t>
            </a:r>
          </a:p>
          <a:p/>
          <a:p>
            <a:r>
              <a:t>[Sources]</a:t>
            </a:r>
          </a:p>
          <a:p>
            <a:r>
              <a:t>- AWS Certified DevOps Engineer – Professional (DOP-C02) Exam Guide (docs.aws.amazon.com/pdfs/aws-certification/latest/devops-engineer-professional-02).</a:t>
            </a:r>
          </a:p>
          <a:p>
            <a:r>
              <a:t>- AWS IAM Documentation (docs.aws.amazon.com/IAM/latest/UserGuide).</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5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06 deep dive — Security and Compliance. Editable AWS-native diagram/table/chart.</a:t>
            </a:r>
          </a:p>
          <a:p/>
          <a:p>
            <a:r>
              <a:t>[Sources]</a:t>
            </a:r>
          </a:p>
          <a:p>
            <a:r>
              <a:t>- AWS Certified DevOps Engineer – Professional (DOP-C02) Exam Guide (docs.aws.amazon.com/pdfs/aws-certification/latest/devops-engineer-professional-02).</a:t>
            </a:r>
          </a:p>
          <a:p>
            <a:r>
              <a:t>- AWS IAM Documentation (docs.aws.amazon.com/IAM/latest/UserGuide).</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5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06 deep dive — Security and Compliance. Editable AWS-native diagram/table/chart.</a:t>
            </a:r>
          </a:p>
          <a:p/>
          <a:p>
            <a:r>
              <a:t>[Sources]</a:t>
            </a:r>
          </a:p>
          <a:p>
            <a:r>
              <a:t>- AWS Certified DevOps Engineer – Professional (DOP-C02) Exam Guide (docs.aws.amazon.com/pdfs/aws-certification/latest/devops-engineer-professional-02).</a:t>
            </a:r>
          </a:p>
          <a:p>
            <a:r>
              <a:t>- AWS IAM Documentation (docs.aws.amazon.com/IAM/latest/UserGuide).</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5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06 deep dive — Security and Compliance. Editable AWS-native diagram/table/chart.</a:t>
            </a:r>
          </a:p>
          <a:p/>
          <a:p>
            <a:r>
              <a:t>[Sources]</a:t>
            </a:r>
          </a:p>
          <a:p>
            <a:r>
              <a:t>- AWS Certified DevOps Engineer – Professional (DOP-C02) Exam Guide (docs.aws.amazon.com/pdfs/aws-certification/latest/devops-engineer-professional-02).</a:t>
            </a:r>
          </a:p>
          <a:p>
            <a:r>
              <a:t>- AWS IAM Documentation (docs.aws.amazon.com/IAM/latest/UserGuide).</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5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06 deep dive — Security and Compliance. Editable AWS-native diagram/table/chart.</a:t>
            </a:r>
          </a:p>
          <a:p/>
          <a:p>
            <a:r>
              <a:t>[Sources]</a:t>
            </a:r>
          </a:p>
          <a:p>
            <a:r>
              <a:t>- AWS Certified DevOps Engineer – Professional (DOP-C02) Exam Guide (docs.aws.amazon.com/pdfs/aws-certification/latest/devops-engineer-professional-02).</a:t>
            </a:r>
          </a:p>
          <a:p>
            <a:r>
              <a:t>- AWS IAM Documentation (docs.aws.amazon.com/IAM/latest/UserGuide).</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5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06 deep dive — Security and Compliance. Editable AWS-native diagram/table/chart.</a:t>
            </a:r>
          </a:p>
          <a:p/>
          <a:p>
            <a:r>
              <a:t>[Sources]</a:t>
            </a:r>
          </a:p>
          <a:p>
            <a:r>
              <a:t>- AWS Certified DevOps Engineer – Professional (DOP-C02) Exam Guide (docs.aws.amazon.com/pdfs/aws-certification/latest/devops-engineer-professional-02).</a:t>
            </a:r>
          </a:p>
          <a:p>
            <a:r>
              <a:t>- AWS IAM Documentation (docs.aws.amazon.com/IAM/latest/UserGuide).</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5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Identity and access — least privilege by design.</a:t>
            </a:r>
          </a:p>
          <a:p>
            <a:r>
              <a:t>Why it matters: Least privilege limits the blast radius of any compromised credential or mistaken policy to exactly what was needed.</a:t>
            </a:r>
          </a:p>
          <a:p>
            <a:r>
              <a:t>Failure mode: A wildcard 'Action: *' policy or shared long-lived keys turn one leaked secret into full account compromise.</a:t>
            </a:r>
          </a:p>
          <a:p>
            <a:r>
              <a:t>Trade-off: Tight policies take more effort to author and maintain — Access Analyzer and policy generation reduce that cost.</a:t>
            </a:r>
          </a:p>
          <a:p/>
          <a:p>
            <a:r>
              <a:t>[Sources]</a:t>
            </a:r>
          </a:p>
          <a:p>
            <a:r>
              <a:t>- AWS IAM Documentation (docs.aws.amazon.com/IAM/latest/UserGuide).</a:t>
            </a:r>
          </a:p>
          <a:p>
            <a:r>
              <a:t>- AWS Certified DevOps Engineer – Professional (DOP-C02) Exam Guide (docs.aws.amazon.com/pdfs/aws-certification/latest/devops-engineer-professional-02).</a:t>
            </a:r>
          </a:p>
          <a:p>
            <a:r>
              <a:t>- AWS Well-Architected Framework (docs.aws.amazon.com/wellarchitected).</a:t>
            </a:r>
          </a:p>
        </p:txBody>
      </p:sp>
      <p:sp>
        <p:nvSpPr>
          <p:cNvPr id="4" name="Slide Number Placeholder 3"/>
          <p:cNvSpPr>
            <a:spLocks noGrp="1"/>
          </p:cNvSpPr>
          <p:nvPr>
            <p:ph type="sldNum" idx="5" sz="quarter"/>
          </p:nvPr>
        </p:nvSpPr>
        <p:spPr/>
      </p:sp>
    </p:spTree>
  </p:cSld>
  <p:clrMapOvr>
    <a:masterClrMapping/>
  </p:clrMapOvr>
</p:notes>
</file>

<file path=ppt/notesSlides/notesSlide5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Identity at scale — Identity Center, federation, SCPs.</a:t>
            </a:r>
          </a:p>
          <a:p>
            <a:r>
              <a:t>Why it matters: Central identity plus org guardrails make access consistent, auditable and revocable across a whole organisation.</a:t>
            </a:r>
          </a:p>
          <a:p>
            <a:r>
              <a:t>Failure mode: Per-account IAM users multiply credentials to rotate and audit and inevitably drift out of least privilege.</a:t>
            </a:r>
          </a:p>
          <a:p>
            <a:r>
              <a:t>Trade-off: Central control needs governance so it doesn't become a bottleneck for teams needing new access.</a:t>
            </a:r>
          </a:p>
          <a:p/>
          <a:p>
            <a:r>
              <a:t>[Sources]</a:t>
            </a:r>
          </a:p>
          <a:p>
            <a:r>
              <a:t>- AWS IAM Identity Center Documentation (docs.aws.amazon.com/singlesignon).</a:t>
            </a:r>
          </a:p>
          <a:p>
            <a:r>
              <a:t>- AWS Organizations SCPs Documentation (docs.aws.amazon.com/organizations/latest/userguide/orgs_manage_policies_scps.html).</a:t>
            </a:r>
          </a:p>
          <a:p>
            <a:r>
              <a:t>- AWS Certified DevOps Engineer – Professional (DOP-C02) Exam Guide (docs.aws.amazon.com/pdfs/aws-certification/latest/devops-engineer-professional-02).</a:t>
            </a:r>
          </a:p>
        </p:txBody>
      </p:sp>
      <p:sp>
        <p:nvSpPr>
          <p:cNvPr id="4" name="Slide Number Placeholder 3"/>
          <p:cNvSpPr>
            <a:spLocks noGrp="1"/>
          </p:cNvSpPr>
          <p:nvPr>
            <p:ph type="sldNum" idx="5" sz="quarter"/>
          </p:nvPr>
        </p:nvSpPr>
        <p:spPr/>
      </p:sp>
    </p:spTree>
  </p:cSld>
  <p:clrMapOvr>
    <a:masterClrMapping/>
  </p:clrMapOvr>
</p:notes>
</file>

<file path=ppt/notesSlides/notesSlide5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protection — encryption and secrets.</a:t>
            </a:r>
          </a:p>
          <a:p>
            <a:r>
              <a:t>Why it matters: Encrypting everywhere and centralising key and secret governance protect data even if another control fails.</a:t>
            </a:r>
          </a:p>
          <a:p>
            <a:r>
              <a:t>Failure mode: An unencrypted volume or a public bucket exposes data regardless of how strong the network perimeter is.</a:t>
            </a:r>
          </a:p>
          <a:p>
            <a:r>
              <a:t>Trade-off: Customer-managed keys give control and auditability but add key-management responsibility and cost.</a:t>
            </a:r>
          </a:p>
          <a:p/>
          <a:p>
            <a:r>
              <a:t>[Sources]</a:t>
            </a:r>
          </a:p>
          <a:p>
            <a:r>
              <a:t>- AWS KMS Documentation (docs.aws.amazon.com/kms).</a:t>
            </a:r>
          </a:p>
          <a:p>
            <a:r>
              <a:t>- AWS Secrets Manager Documentation (docs.aws.amazon.com/secretsmanager).</a:t>
            </a:r>
          </a:p>
          <a:p>
            <a:r>
              <a:t>- AWS Certified DevOps Engineer – Professional (DOP-C02) Exam Guide (docs.aws.amazon.com/pdfs/aws-certification/latest/devops-engineer-professional-02).</a:t>
            </a:r>
          </a:p>
        </p:txBody>
      </p:sp>
      <p:sp>
        <p:nvSpPr>
          <p:cNvPr id="4" name="Slide Number Placeholder 3"/>
          <p:cNvSpPr>
            <a:spLocks noGrp="1"/>
          </p:cNvSpPr>
          <p:nvPr>
            <p:ph type="sldNum" idx="5" sz="quarter"/>
          </p:nvPr>
        </p:nvSpPr>
        <p:spPr/>
      </p:sp>
    </p:spTree>
  </p:cSld>
  <p:clrMapOvr>
    <a:masterClrMapping/>
  </p:clrMapOvr>
</p:notes>
</file>

<file path=ppt/notesSlides/notesSlide5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Detective controls — the audit trail.</a:t>
            </a:r>
          </a:p>
          <a:p>
            <a:r>
              <a:t>Why it matters: Detective controls provide the evidence for incident forensics, audits and continuous compliance scoring.</a:t>
            </a:r>
          </a:p>
          <a:p>
            <a:r>
              <a:t>Failure mode: No CloudTrail (or a trail without log-file validation) means an incident can't be reconstructed and audits fail.</a:t>
            </a:r>
          </a:p>
          <a:p>
            <a:r>
              <a:t>Trade-off: Full logging and threat detection cost money and generate findings to triage — tune and prioritise by severity.</a:t>
            </a:r>
          </a:p>
          <a:p/>
          <a:p>
            <a:r>
              <a:t>[Sources]</a:t>
            </a:r>
          </a:p>
          <a:p>
            <a:r>
              <a:t>- AWS CloudTrail Documentation (docs.aws.amazon.com/awscloudtrail).</a:t>
            </a:r>
          </a:p>
          <a:p>
            <a:r>
              <a:t>- AWS GuardDuty Documentation (docs.aws.amazon.com/guardduty).</a:t>
            </a:r>
          </a:p>
          <a:p>
            <a:r>
              <a:t>- AWS Security Hub Documentation (docs.aws.amazon.com/securityhub).</a:t>
            </a:r>
          </a:p>
          <a:p>
            <a:r>
              <a:t>- AWS Certified DevOps Engineer – Professional (DOP-C02) Exam Guide (docs.aws.amazon.com/pdfs/aws-certification/latest/devops-engineer-professional-02).</a:t>
            </a:r>
          </a:p>
        </p:txBody>
      </p:sp>
      <p:sp>
        <p:nvSpPr>
          <p:cNvPr id="4" name="Slide Number Placeholder 3"/>
          <p:cNvSpPr>
            <a:spLocks noGrp="1"/>
          </p:cNvSpPr>
          <p:nvPr>
            <p:ph type="sldNum" idx="5" sz="quarter"/>
          </p:nvPr>
        </p:nvSpPr>
        <p:spPr/>
      </p:sp>
    </p:spTree>
  </p:cSld>
  <p:clrMapOvr>
    <a:masterClrMapping/>
  </p:clrMapOvr>
</p:notes>
</file>

<file path=ppt/notesSlides/notesSlide5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Automated compliance — Config rules and conformance packs.</a:t>
            </a:r>
          </a:p>
          <a:p>
            <a:r>
              <a:t>Why it matters: Continuous, codified compliance replaces point-in-time audits with always-on assurance and evidence.</a:t>
            </a:r>
          </a:p>
          <a:p>
            <a:r>
              <a:t>Failure mode: Manual quarterly audits miss the days-to-weeks a resource sits non-compliant between checks.</a:t>
            </a:r>
          </a:p>
          <a:p>
            <a:r>
              <a:t>Trade-off: Strict conformance packs improve posture but can generate noise — phase in rules and remediations.</a:t>
            </a:r>
          </a:p>
          <a:p/>
          <a:p>
            <a:r>
              <a:t>[Sources]</a:t>
            </a:r>
          </a:p>
          <a:p>
            <a:r>
              <a:t>- AWS Config conformance packs Documentation (docs.aws.amazon.com/config/latest/developerguide/conformance-packs.html).</a:t>
            </a:r>
          </a:p>
          <a:p>
            <a:r>
              <a:t>- AWS Certified DevOps Engineer – Professional (DOP-C02) Exam Guide (docs.aws.amazon.com/pdfs/aws-certification/latest/devops-engineer-professional-02).</a:t>
            </a:r>
          </a:p>
        </p:txBody>
      </p:sp>
      <p:sp>
        <p:nvSpPr>
          <p:cNvPr id="4" name="Slide Number Placeholder 3"/>
          <p:cNvSpPr>
            <a:spLocks noGrp="1"/>
          </p:cNvSpPr>
          <p:nvPr>
            <p:ph type="sldNum" idx="5" sz="quarter"/>
          </p:nvPr>
        </p:nvSpPr>
        <p:spPr/>
      </p:sp>
    </p:spTree>
  </p:cSld>
  <p:clrMapOvr>
    <a:masterClrMapping/>
  </p:clrMapOvr>
</p:notes>
</file>

<file path=ppt/notesSlides/notesSlide5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Preventive controls and defence in depth.</a:t>
            </a:r>
          </a:p>
          <a:p>
            <a:r>
              <a:t>Why it matters: Defence in depth ensures that when one layer fails — and layers do fail — others still protect the data.</a:t>
            </a:r>
          </a:p>
          <a:p>
            <a:r>
              <a:t>Failure mode: Relying on a single perimeter (a firewall) fails completely the moment that one control is bypassed.</a:t>
            </a:r>
          </a:p>
          <a:p>
            <a:r>
              <a:t>Trade-off: More layers add complexity and can impede legitimate traffic — design them to be observable and testable.</a:t>
            </a:r>
          </a:p>
          <a:p/>
          <a:p>
            <a:r>
              <a:t>[Sources]</a:t>
            </a:r>
          </a:p>
          <a:p>
            <a:r>
              <a:t>- AWS Well-Architected Framework (docs.aws.amazon.com/wellarchitected).</a:t>
            </a:r>
          </a:p>
          <a:p>
            <a:r>
              <a:t>- AWS WAF Documentation (docs.aws.amazon.com/waf).</a:t>
            </a:r>
          </a:p>
          <a:p>
            <a:r>
              <a:t>- AWS Certified DevOps Engineer – Professional (DOP-C02) Exam Guide (docs.aws.amazon.com/pdfs/aws-certification/latest/devops-engineer-professional-02).</a:t>
            </a:r>
          </a:p>
        </p:txBody>
      </p:sp>
      <p:sp>
        <p:nvSpPr>
          <p:cNvPr id="4" name="Slide Number Placeholder 3"/>
          <p:cNvSpPr>
            <a:spLocks noGrp="1"/>
          </p:cNvSpPr>
          <p:nvPr>
            <p:ph type="sldNum" idx="5" sz="quarter"/>
          </p:nvPr>
        </p:nvSpPr>
        <p:spPr/>
      </p:sp>
    </p:spTree>
  </p:cSld>
  <p:clrMapOvr>
    <a:masterClrMapping/>
  </p:clrMapOvr>
</p:notes>
</file>

<file path=ppt/notesSlides/notesSlide5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Governance blueprint — landing zone and guardrails.</a:t>
            </a:r>
          </a:p>
          <a:p>
            <a:r>
              <a:t>Why it matters: A governance blueprint makes 'secure and compliant' the default state of every account, not a per-project effort.</a:t>
            </a:r>
          </a:p>
          <a:p>
            <a:r>
              <a:t>Failure mode: Ad-hoc, per-project security guarantees nothing is consistent and every audit re-discovers the same gaps.</a:t>
            </a:r>
          </a:p>
          <a:p>
            <a:r>
              <a:t>Trade-off: A central blueprint needs a platform team and change process — the payoff is org-wide, provable compliance.</a:t>
            </a:r>
          </a:p>
          <a:p/>
          <a:p>
            <a:r>
              <a:t>[Sources]</a:t>
            </a:r>
          </a:p>
          <a:p>
            <a:r>
              <a:t>- AWS Control Tower Documentation (docs.aws.amazon.com/controltower).</a:t>
            </a:r>
          </a:p>
          <a:p>
            <a:r>
              <a:t>- AWS Well-Architected Framework (docs.aws.amazon.com/wellarchitected).</a:t>
            </a:r>
          </a:p>
          <a:p>
            <a:r>
              <a:t>- AWS Certified DevOps Engineer – Professional (DOP-C02) Exam Guide (docs.aws.amazon.com/pdfs/aws-certification/latest/devops-engineer-professional-02).</a:t>
            </a:r>
          </a:p>
        </p:txBody>
      </p:sp>
      <p:sp>
        <p:nvSpPr>
          <p:cNvPr id="4" name="Slide Number Placeholder 3"/>
          <p:cNvSpPr>
            <a:spLocks noGrp="1"/>
          </p:cNvSpPr>
          <p:nvPr>
            <p:ph type="sldNum" idx="5" sz="quarter"/>
          </p:nvPr>
        </p:nvSpPr>
        <p:spPr/>
      </p:sp>
    </p:spTree>
  </p:cSld>
  <p:clrMapOvr>
    <a:masterClrMapping/>
  </p:clrMapOvr>
</p:notes>
</file>

<file path=ppt/notesSlides/notesSlide5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Securing the pipeline itself (DevSecOps).</a:t>
            </a:r>
          </a:p>
          <a:p>
            <a:r>
              <a:t>Why it matters: The pipeline has powerful credentials and touches production — a compromised pipeline is a compromised environment.</a:t>
            </a:r>
          </a:p>
          <a:p>
            <a:r>
              <a:t>Failure mode: A pipeline role with broad permissions and secrets in the repo is a direct path from a code leak to full compromise.</a:t>
            </a:r>
          </a:p>
          <a:p>
            <a:r>
              <a:t>Trade-off: Security gates add build time — order them fast-to-slow and fail fast to keep the pipeline usable.</a:t>
            </a:r>
          </a:p>
          <a:p/>
          <a:p>
            <a:r>
              <a:t>[Sources]</a:t>
            </a:r>
          </a:p>
          <a:p>
            <a:r>
              <a:t>- AWS Well-Architected Framework (docs.aws.amazon.com/wellarchitected).</a:t>
            </a:r>
          </a:p>
          <a:p>
            <a:r>
              <a:t>- AWS Certified DevOps Engineer – Professional (DOP-C02) Exam Guide (docs.aws.amazon.com/pdfs/aws-certification/latest/devops-engineer-professional-02).</a:t>
            </a:r>
          </a:p>
          <a:p>
            <a:r>
              <a:t>- AWS CodeGuru Documentation (docs.aws.amazon.com/codeguru).</a:t>
            </a:r>
          </a:p>
        </p:txBody>
      </p:sp>
      <p:sp>
        <p:nvSpPr>
          <p:cNvPr id="4" name="Slide Number Placeholder 3"/>
          <p:cNvSpPr>
            <a:spLocks noGrp="1"/>
          </p:cNvSpPr>
          <p:nvPr>
            <p:ph type="sldNum" idx="5" sz="quarter"/>
          </p:nvPr>
        </p:nvSpPr>
        <p:spPr/>
      </p:sp>
    </p:spTree>
  </p:cSld>
  <p:clrMapOvr>
    <a:masterClrMapping/>
  </p:clrMapOvr>
</p:notes>
</file>

<file path=ppt/notesSlides/notesSlide5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Comparison — IAM — Users vs Roles vs Federation.</a:t>
            </a:r>
          </a:p>
          <a:p/>
          <a:p>
            <a:r>
              <a:t>[Sources]</a:t>
            </a:r>
          </a:p>
          <a:p>
            <a:r>
              <a:t>- AWS IAM Documentation (docs.aws.amazon.com/IAM/latest/UserGuide).</a:t>
            </a:r>
          </a:p>
          <a:p>
            <a:r>
              <a:t>- AWS Certified DevOps Engineer – Professional (DOP-C02) Exam Guide (docs.aws.amazon.com/pdfs/aws-certification/latest/devops-engineer-professional-02).</a:t>
            </a:r>
          </a:p>
        </p:txBody>
      </p:sp>
      <p:sp>
        <p:nvSpPr>
          <p:cNvPr id="4" name="Slide Number Placeholder 3"/>
          <p:cNvSpPr>
            <a:spLocks noGrp="1"/>
          </p:cNvSpPr>
          <p:nvPr>
            <p:ph type="sldNum" idx="5" sz="quarter"/>
          </p:nvPr>
        </p:nvSpPr>
        <p:spPr/>
      </p:sp>
    </p:spTree>
  </p:cSld>
  <p:clrMapOvr>
    <a:masterClrMapping/>
  </p:clrMapOvr>
</p:notes>
</file>

<file path=ppt/notesSlides/notesSlide5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Time-to-Detect a Public Bucket — Manual vs Continuous. What the data shows: Continuous Config evaluation shrinks the exposure window from months to minutes — the difference between a finding and a breach.</a:t>
            </a:r>
          </a:p>
          <a:p>
            <a:r>
              <a:t>Figures are illustrative teaching values to convey the relationship, not measured benchmarks.</a:t>
            </a:r>
          </a:p>
          <a:p/>
          <a:p>
            <a:r>
              <a:t>[Sources]</a:t>
            </a:r>
          </a:p>
          <a:p>
            <a:r>
              <a:t>- AWS Config Documentation (docs.aws.amazon.com/config).</a:t>
            </a:r>
          </a:p>
          <a:p>
            <a:r>
              <a:t>- AWS Certified DevOps Engineer – Professional (DOP-C02) Exam Guide (docs.aws.amazon.com/pdfs/aws-certification/latest/devops-engineer-professional-02).</a:t>
            </a:r>
          </a:p>
        </p:txBody>
      </p:sp>
      <p:sp>
        <p:nvSpPr>
          <p:cNvPr id="4" name="Slide Number Placeholder 3"/>
          <p:cNvSpPr>
            <a:spLocks noGrp="1"/>
          </p:cNvSpPr>
          <p:nvPr>
            <p:ph type="sldNum" idx="5" sz="quarter"/>
          </p:nvPr>
        </p:nvSpPr>
        <p:spPr/>
      </p:sp>
    </p:spTree>
  </p:cSld>
  <p:clrMapOvr>
    <a:masterClrMapping/>
  </p:clrMapOvr>
</p:notes>
</file>

<file path=ppt/notesSlides/notesSlide5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Failure Modes &amp; Anti-Patterns.</a:t>
            </a:r>
          </a:p>
          <a:p>
            <a:r>
              <a:t>Wildcard IAM policies — One leaked key = full access → least privilege + Access Analyzer.</a:t>
            </a:r>
          </a:p>
          <a:p>
            <a:r>
              <a:t>Long-lived access keys — Hard to rotate/audit → roles and federation.</a:t>
            </a:r>
          </a:p>
          <a:p>
            <a:r>
              <a:t>Public S3 / open SGs — Accidental exposure → Block Public Access, Config rules.</a:t>
            </a:r>
          </a:p>
          <a:p>
            <a:r>
              <a:t>No CloudTrail / validation — Incidents unauditable → org trail + log-file validation.</a:t>
            </a:r>
          </a:p>
          <a:p>
            <a:r>
              <a:t>Secrets in code — Leak on repo access → Secrets Manager/SSM.</a:t>
            </a:r>
          </a:p>
          <a:p>
            <a:r>
              <a:t>Over-privileged pipeline — Code leak → prod compromise → scope deploy roles.</a:t>
            </a:r>
          </a:p>
          <a:p/>
          <a:p>
            <a:r>
              <a:t>[Sources]</a:t>
            </a:r>
          </a:p>
          <a:p>
            <a:r>
              <a:t>- AWS Certified DevOps Engineer – Professional (DOP-C02) Exam Guide (docs.aws.amazon.com/pdfs/aws-certification/latest/devops-engineer-professional-02).</a:t>
            </a:r>
          </a:p>
          <a:p>
            <a:r>
              <a:t>- AWS IAM Documentation (docs.aws.amazon.com/IAM/latest/UserGuide).</a:t>
            </a:r>
          </a:p>
          <a:p>
            <a:r>
              <a:t>- AWS Well-Architected Framework (docs.aws.amazon.com/wellarchitected).</a:t>
            </a:r>
          </a:p>
        </p:txBody>
      </p:sp>
      <p:sp>
        <p:nvSpPr>
          <p:cNvPr id="4" name="Slide Number Placeholder 3"/>
          <p:cNvSpPr>
            <a:spLocks noGrp="1"/>
          </p:cNvSpPr>
          <p:nvPr>
            <p:ph type="sldNum" idx="5" sz="quarter"/>
          </p:nvPr>
        </p:nvSpPr>
        <p:spPr/>
      </p:sp>
    </p:spTree>
  </p:cSld>
  <p:clrMapOvr>
    <a:masterClrMapping/>
  </p:clrMapOvr>
</p:notes>
</file>

<file path=ppt/notesSlides/notesSlide5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Patterns Worth Adopting.</a:t>
            </a:r>
          </a:p>
          <a:p>
            <a:r>
              <a:t>Least privilege everywhere — Roles, boundaries, scoped policies, no wildcards.</a:t>
            </a:r>
          </a:p>
          <a:p>
            <a:r>
              <a:t>Encrypt at rest and in transit — KMS + TLS by default on every store.</a:t>
            </a:r>
          </a:p>
          <a:p>
            <a:r>
              <a:t>Continuous compliance — Config rules + conformance packs, auto-remediate.</a:t>
            </a:r>
          </a:p>
          <a:p>
            <a:r>
              <a:t>Central logging account — Immutable CloudTrail + Security Hub aggregation.</a:t>
            </a:r>
          </a:p>
          <a:p>
            <a:r>
              <a:t>Guardrails by SCP — Prevent whole action classes org-wide.</a:t>
            </a:r>
          </a:p>
          <a:p>
            <a:r>
              <a:t>DevSecOps — Scan code, deps and IaC in the pipeline.</a:t>
            </a:r>
          </a:p>
          <a:p/>
          <a:p>
            <a:r>
              <a:t>[Sources]</a:t>
            </a:r>
          </a:p>
          <a:p>
            <a:r>
              <a:t>- AWS Well-Architected Framework (docs.aws.amazon.com/wellarchitected).</a:t>
            </a:r>
          </a:p>
          <a:p>
            <a:r>
              <a:t>- AWS Certified DevOps Engineer – Professional (DOP-C02) Exam Guide (docs.aws.amazon.com/pdfs/aws-certification/latest/devops-engineer-professional-02).</a:t>
            </a:r>
          </a:p>
        </p:txBody>
      </p:sp>
      <p:sp>
        <p:nvSpPr>
          <p:cNvPr id="4" name="Slide Number Placeholder 3"/>
          <p:cNvSpPr>
            <a:spLocks noGrp="1"/>
          </p:cNvSpPr>
          <p:nvPr>
            <p:ph type="sldNum" idx="5" sz="quarter"/>
          </p:nvPr>
        </p:nvSpPr>
        <p:spPr/>
      </p:sp>
    </p:spTree>
  </p:cSld>
  <p:clrMapOvr>
    <a:masterClrMapping/>
  </p:clrMapOvr>
</p:notes>
</file>

<file path=ppt/notesSlides/notesSlide5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Architecture Decision — Where Do Compliance Controls Live?.</a:t>
            </a:r>
          </a:p>
          <a:p>
            <a:r>
              <a:t>Option A — Preventive (SCP / policy): Stop the action from ever happening org-wide. Strongest — but blunt; can block legitimate edge cases.</a:t>
            </a:r>
          </a:p>
          <a:p>
            <a:r>
              <a:t>Option B — Detective (Config / GuardDuty): Allow, but continuously detect and score. Flexible and auditable — leaves a (short) exposure window.</a:t>
            </a:r>
          </a:p>
          <a:p>
            <a:r>
              <a:t>Option C — Automated remediation: Detect then auto-fix (Config → SSM). Closes the window fast — needs careful scoping and logging.</a:t>
            </a:r>
          </a:p>
          <a:p/>
          <a:p>
            <a:r>
              <a:t>[Sources]</a:t>
            </a:r>
          </a:p>
          <a:p>
            <a:r>
              <a:t>- AWS Certified DevOps Engineer – Professional (DOP-C02) Exam Guide (docs.aws.amazon.com/pdfs/aws-certification/latest/devops-engineer-professional-02).</a:t>
            </a:r>
          </a:p>
          <a:p>
            <a:r>
              <a:t>- AWS Config Documentation (docs.aws.amazon.com/config).</a:t>
            </a:r>
          </a:p>
        </p:txBody>
      </p:sp>
      <p:sp>
        <p:nvSpPr>
          <p:cNvPr id="4" name="Slide Number Placeholder 3"/>
          <p:cNvSpPr>
            <a:spLocks noGrp="1"/>
          </p:cNvSpPr>
          <p:nvPr>
            <p:ph type="sldNum" idx="5" sz="quarter"/>
          </p:nvPr>
        </p:nvSpPr>
        <p:spPr/>
      </p:sp>
    </p:spTree>
  </p:cSld>
  <p:clrMapOvr>
    <a:masterClrMapping/>
  </p:clrMapOvr>
</p:notes>
</file>

<file path=ppt/notesSlides/notesSlide5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Scenario: An auditor asks you to prove that all volumes are encrypted and no bucket is public, historically and now.</a:t>
            </a:r>
          </a:p>
          <a:p>
            <a:r>
              <a:t>Point-in-time console screenshots don't prove continuous compliance over the audit period.</a:t>
            </a:r>
          </a:p>
          <a:p>
            <a:r>
              <a:t>AWS Config records configuration history and rule-compliance over time — that history is the evidence.</a:t>
            </a:r>
          </a:p>
          <a:p>
            <a:r>
              <a:t>CloudTrail with log-file validation proves the audit record itself wasn't tampered with.</a:t>
            </a:r>
          </a:p>
          <a:p>
            <a:r>
              <a:t>Decision: Present Config compliance history and conformance-pack results as continuous evidence, backed by a validated CloudTrail — turning audit from a scramble into a query.</a:t>
            </a:r>
          </a:p>
          <a:p/>
          <a:p>
            <a:r>
              <a:t>[Sources]</a:t>
            </a:r>
          </a:p>
          <a:p>
            <a:r>
              <a:t>- AWS Config Documentation (docs.aws.amazon.com/config).</a:t>
            </a:r>
          </a:p>
          <a:p>
            <a:r>
              <a:t>- AWS CloudTrail Documentation (docs.aws.amazon.com/awscloudtrail).</a:t>
            </a:r>
          </a:p>
        </p:txBody>
      </p:sp>
      <p:sp>
        <p:nvSpPr>
          <p:cNvPr id="4" name="Slide Number Placeholder 3"/>
          <p:cNvSpPr>
            <a:spLocks noGrp="1"/>
          </p:cNvSpPr>
          <p:nvPr>
            <p:ph type="sldNum" idx="5" sz="quarter"/>
          </p:nvPr>
        </p:nvSpPr>
        <p:spPr/>
      </p:sp>
    </p:spTree>
  </p:cSld>
  <p:clrMapOvr>
    <a:masterClrMapping/>
  </p:clrMapOvr>
</p:notes>
</file>

<file path=ppt/notesSlides/notesSlide5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Scenario: A service fails with AccessDenied writing to a new S3 prefix. The quick fix is to grant s3:* on all buckets.</a:t>
            </a:r>
          </a:p>
          <a:p>
            <a:r>
              <a:t>A wildcard grant fixes the error but massively widens blast radius if the role is ever compromised.</a:t>
            </a:r>
          </a:p>
          <a:p>
            <a:r>
              <a:t>IAM Access Analyzer can generate a policy scoped to exactly the actions and resources the app used.</a:t>
            </a:r>
          </a:p>
          <a:p>
            <a:r>
              <a:t>The correct grant is s3:PutObject on that specific bucket/prefix, nothing more.</a:t>
            </a:r>
          </a:p>
          <a:p>
            <a:r>
              <a:t>Decision: Grant the single scoped permission the app actually needs (not a wildcard), using Access Analyzer to right-size the policy — keeping least privilege intact under time pressure.</a:t>
            </a:r>
          </a:p>
          <a:p/>
          <a:p>
            <a:r>
              <a:t>[Sources]</a:t>
            </a:r>
          </a:p>
          <a:p>
            <a:r>
              <a:t>- AWS IAM Access Analyzer Documentation (docs.aws.amazon.com/IAM/latest/UserGuide/what-is-access-analyzer.html).</a:t>
            </a:r>
          </a:p>
          <a:p>
            <a:r>
              <a:t>- AWS Certified DevOps Engineer – Professional (DOP-C02) Exam Guide (docs.aws.amazon.com/pdfs/aws-certification/latest/devops-engineer-professional-02).</a:t>
            </a:r>
          </a:p>
        </p:txBody>
      </p:sp>
      <p:sp>
        <p:nvSpPr>
          <p:cNvPr id="4" name="Slide Number Placeholder 3"/>
          <p:cNvSpPr>
            <a:spLocks noGrp="1"/>
          </p:cNvSpPr>
          <p:nvPr>
            <p:ph type="sldNum" idx="5" sz="quarter"/>
          </p:nvPr>
        </p:nvSpPr>
        <p:spPr/>
      </p:sp>
    </p:spTree>
  </p:cSld>
  <p:clrMapOvr>
    <a:masterClrMapping/>
  </p:clrMapOvr>
</p:notes>
</file>

<file path=ppt/notesSlides/notesSlide5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Worked Analysis — Building a Compliance Blueprint.</a:t>
            </a:r>
          </a:p>
          <a:p>
            <a:r>
              <a:t>Requirement: encrypt all data at rest — Config rule encrypted-volumes + S3 default encryption; KMS keys with scoped policies.</a:t>
            </a:r>
          </a:p>
          <a:p>
            <a:r>
              <a:t>Requirement: no public data — S3 Block Public Access org-wide + s3-bucket-public-read-prohibited rule.</a:t>
            </a:r>
          </a:p>
          <a:p>
            <a:r>
              <a:t>Requirement: full audit trail — Org CloudTrail to an encrypted, access-controlled logging account with validation.</a:t>
            </a:r>
          </a:p>
          <a:p>
            <a:r>
              <a:t>Requirement: least-privilege identity — Roles + Identity Center + permission boundaries + Access Analyzer reviews.</a:t>
            </a:r>
          </a:p>
          <a:p>
            <a:r>
              <a:t>Takeaway: A compliance blueprint maps each written requirement to a concrete, testable AWS control — so 'we are compliant' is something you can prove, continuously.</a:t>
            </a:r>
          </a:p>
          <a:p/>
          <a:p>
            <a:r>
              <a:t>[Sources]</a:t>
            </a:r>
          </a:p>
          <a:p>
            <a:r>
              <a:t>- AWS Well-Architected Framework (docs.aws.amazon.com/wellarchitected).</a:t>
            </a:r>
          </a:p>
          <a:p>
            <a:r>
              <a:t>- AWS Config Documentation (docs.aws.amazon.com/config).</a:t>
            </a:r>
          </a:p>
          <a:p>
            <a:r>
              <a:t>- AWS Certified DevOps Engineer – Professional (DOP-C02) Exam Guide (docs.aws.amazon.com/pdfs/aws-certification/latest/devops-engineer-professional-02).</a:t>
            </a:r>
          </a:p>
        </p:txBody>
      </p:sp>
      <p:sp>
        <p:nvSpPr>
          <p:cNvPr id="4" name="Slide Number Placeholder 3"/>
          <p:cNvSpPr>
            <a:spLocks noGrp="1"/>
          </p:cNvSpPr>
          <p:nvPr>
            <p:ph type="sldNum" idx="5" sz="quarter"/>
          </p:nvPr>
        </p:nvSpPr>
        <p:spPr/>
      </p:sp>
    </p:spTree>
  </p:cSld>
  <p:clrMapOvr>
    <a:masterClrMapping/>
  </p:clrMapOvr>
</p:notes>
</file>

<file path=ppt/notesSlides/notesSlide5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 foundations: Identity and temporary access.</a:t>
            </a:r>
          </a:p>
          <a:p>
            <a:r>
              <a:t>PURPOSE: Grant human and workload access through least privilege, federation and short-lived sessions.</a:t>
            </a:r>
          </a:p>
          <a:p>
            <a:r>
              <a:t>FEATURE 1: Identity policies, resource policies, permission boundaries and SCPs intersect to determine effective access.</a:t>
            </a:r>
          </a:p>
          <a:p>
            <a:r>
              <a:t>FEATURE 2: STS issues temporary credentials for roles and federation.</a:t>
            </a:r>
          </a:p>
          <a:p>
            <a:r>
              <a:t>FEATURE 3: IAM Identity Center assigns workforce access across accounts/applications using permission sets.</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5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Identity and temporary access: selection and controls.</a:t>
            </a:r>
          </a:p>
          <a:p>
            <a:r>
              <a:t>CHOOSE WHEN: Use roles and federation for humans/workloads; use resource policies for cross-principal resource access where supported.</a:t>
            </a:r>
          </a:p>
          <a:p>
            <a:r>
              <a:t>DEVOPS ENGINEERING: Constrain trust policies, require context such as ExternalId/tags where appropriate, analyse access and remove unused permission.</a:t>
            </a:r>
          </a:p>
          <a:p>
            <a:r>
              <a:t>FAILURE MODE: An Allow can still be blocked by an explicit deny, permission boundary, session policy or SCP.</a:t>
            </a:r>
          </a:p>
          <a:p>
            <a:r>
              <a:t>EVIDENCE: Principal/session, evaluated policy layers, Access Analyzer finding, CloudTrail event and last-accessed data.</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5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 foundations: Encryption and secrets.</a:t>
            </a:r>
          </a:p>
          <a:p>
            <a:r>
              <a:t>PURPOSE: Protect data and credentials through governed keys, rotation and workload-time retrieval.</a:t>
            </a:r>
          </a:p>
          <a:p>
            <a:r>
              <a:t>FEATURE 1: KMS keys enforce cryptographic permissions through key and IAM policies and emit CloudTrail evidence.</a:t>
            </a:r>
          </a:p>
          <a:p>
            <a:r>
              <a:t>FEATURE 2: Secrets Manager stores/rotates secrets and versions; Parameter Store manages hierarchical parameters and SecureString values.</a:t>
            </a:r>
          </a:p>
          <a:p>
            <a:r>
              <a:t>FEATURE 3: ACM provisions and renews supported public/private certificates for integrated services.</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5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Encryption and secrets: selection and controls.</a:t>
            </a:r>
          </a:p>
          <a:p>
            <a:r>
              <a:t>CHOOSE WHEN: Use Secrets Manager for rotating credentials, Parameter Store for configuration/parameters and KMS for control of encryption keys.</a:t>
            </a:r>
          </a:p>
          <a:p>
            <a:r>
              <a:t>DEVOPS ENGINEERING: Use envelope encryption, scope decrypt by key/context, retrieve at runtime, rotate and never log secret values.</a:t>
            </a:r>
          </a:p>
          <a:p>
            <a:r>
              <a:t>FAILURE MODE: Encrypting data does not help if broad principals can decrypt it or plaintext is copied into pipeline logs.</a:t>
            </a:r>
          </a:p>
          <a:p>
            <a:r>
              <a:t>EVIDENCE: Key policy/grant, encryption context, rotation/version stage, access event and failed-decrypt alert.</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5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 foundations: Preventive governance.</a:t>
            </a:r>
          </a:p>
          <a:p>
            <a:r>
              <a:t>PURPOSE: Set permission ceilings and mandatory account controls while leaving workload teams clear deployment paths.</a:t>
            </a:r>
          </a:p>
          <a:p>
            <a:r>
              <a:t>FEATURE 1: SCPs limit available permissions but do not grant permissions.</a:t>
            </a:r>
          </a:p>
          <a:p>
            <a:r>
              <a:t>FEATURE 2: Control Tower preventive/proactive/detective controls apply managed governance patterns.</a:t>
            </a:r>
          </a:p>
          <a:p>
            <a:r>
              <a:t>FEATURE 3: Config rules evaluate resource configuration and can trigger scoped remediation.</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5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Preventive governance: selection and controls.</a:t>
            </a:r>
          </a:p>
          <a:p>
            <a:r>
              <a:t>CHOOSE WHEN: Use preventive controls for actions that must never occur and detective controls where context or exception handling is required.</a:t>
            </a:r>
          </a:p>
          <a:p>
            <a:r>
              <a:t>DEVOPS ENGINEERING: Test in a canary OU, protect break-glass paths, document exemptions and monitor policy/control drift.</a:t>
            </a:r>
          </a:p>
          <a:p>
            <a:r>
              <a:t>FAILURE MODE: A deny deployed at the root without testing can block security and recovery operations across all accounts.</a:t>
            </a:r>
          </a:p>
          <a:p>
            <a:r>
              <a:t>EVIDENCE: Policy version, target hierarchy, simulation/test, exception, Config evaluation and remediation result.</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5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 foundations: Threat detection and edge protection.</a:t>
            </a:r>
          </a:p>
          <a:p>
            <a:r>
              <a:t>PURPOSE: Detect suspicious activity, vulnerabilities and sensitive-data exposure, then apply consistent edge/network protections.</a:t>
            </a:r>
          </a:p>
          <a:p>
            <a:r>
              <a:t>FEATURE 1: GuardDuty analyses AWS data sources for threats; Inspector scans supported compute/container functions for vulnerabilities.</a:t>
            </a:r>
          </a:p>
          <a:p>
            <a:r>
              <a:t>FEATURE 2: Macie discovers sensitive data in S3; Security Hub normalises/aggregates findings and workflow status.</a:t>
            </a:r>
          </a:p>
          <a:p>
            <a:r>
              <a:t>FEATURE 3: WAF filters Layer 7 requests, Shield mitigates DDoS, and Firewall Manager applies policies across accounts.</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5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Threat detection and edge protection: selection and controls.</a:t>
            </a:r>
          </a:p>
          <a:p>
            <a:r>
              <a:t>CHOOSE WHEN: Select the control from threat surface: identity/network behaviour, vulnerable software, sensitive data, application requests or organization-wide policy.</a:t>
            </a:r>
          </a:p>
          <a:p>
            <a:r>
              <a:t>DEVOPS ENGINEERING: Delegate administration, tune findings/rules, enrich ownership, automate only well-understood containment and preserve evidence.</a:t>
            </a:r>
          </a:p>
          <a:p>
            <a:r>
              <a:t>FAILURE MODE: Enabling every managed rule in block mode without observation can create a security-induced outage.</a:t>
            </a:r>
          </a:p>
          <a:p>
            <a:r>
              <a:t>EVIDENCE: Finding ID/severity, affected resource, rule sample, workflow status, owner, containment and closure evidence.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5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Developer deep dive: IAM, STS and Cognito authorization boundaries.</a:t>
            </a:r>
          </a:p>
          <a:p>
            <a:r>
              <a:t>PURPOSE: Separate workforce, workload and customer identity while reasoning through every policy layer that shapes effective permission.</a:t>
            </a:r>
          </a:p>
          <a:p>
            <a:r>
              <a:t>SERVICE BOUNDARY: IAM · STS · IAM Identity Center · Cognito</a:t>
            </a:r>
          </a:p>
          <a:p>
            <a:r>
              <a:t>PRIMARY DESIGN DECISION: Create a customer role with narrow S3 permissions, a vendor principal in the trust policy and a unique ExternalId condition; log every assumed session.</a:t>
            </a:r>
          </a:p>
          <a:p>
            <a:r>
              <a:t>FAILURE BOUNDARY: Granting the vendor identity directly across resources is hard to revoke and audit; a trust policy alone grants no S3 action.</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5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IAM, STS and Cognito authorization boundaries: how it works.</a:t>
            </a:r>
          </a:p>
          <a:p>
            <a:r>
              <a:t>MECHANIC 1: IAM evaluation combines identity and resource policies, with explicit denies, permission boundaries, session policies and SCPs limiting the final result.</a:t>
            </a:r>
          </a:p>
          <a:p>
            <a:r>
              <a:t>MECHANIC 2: A role trust policy controls who may assume the role; the role permission policy controls what the resulting session may do.</a:t>
            </a:r>
          </a:p>
          <a:p>
            <a:r>
              <a:t>MECHANIC 3: STS sessions are temporary and can carry session tags for attribute-based access; ExternalId helps mitigate confused-deputy risk in third-party access.</a:t>
            </a:r>
          </a:p>
          <a:p>
            <a:r>
              <a:t>MECHANIC 4: Cognito user pools authenticate application users, while identity pools exchange supported identities for scoped AWS credentials.</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5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IAM, STS and Cognito authorization boundaries: operating flow.</a:t>
            </a:r>
          </a:p>
          <a:p>
            <a:r>
              <a:t>Authenticate identity</a:t>
            </a:r>
          </a:p>
          <a:p>
            <a:r>
              <a:t>Evaluate trust</a:t>
            </a:r>
          </a:p>
          <a:p>
            <a:r>
              <a:t>Issue temporary session</a:t>
            </a:r>
          </a:p>
          <a:p>
            <a:r>
              <a:t>Evaluate effective policies</a:t>
            </a:r>
          </a:p>
          <a:p>
            <a:r>
              <a:t>Record and review access</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5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IAM, STS and Cognito authorization boundaries: configuration decisions.</a:t>
            </a:r>
          </a:p>
          <a:p>
            <a:r>
              <a:t>WORKFORCE: Use IAM Identity Center and account permission sets for centrally managed employee access.</a:t>
            </a:r>
          </a:p>
          <a:p>
            <a:r>
              <a:t>WORKLOAD: Attach roles to compute and restrict trust to the intended service, account and conditions.</a:t>
            </a:r>
          </a:p>
          <a:p>
            <a:r>
              <a:t>CUSTOMER: Use user pools for application authentication and identity pools only when clients need scoped AWS credentials.</a:t>
            </a:r>
          </a:p>
          <a:p>
            <a:r>
              <a:t>ANALYSIS: Use policy simulation, Access Analyzer and last-accessed data to validate and reduce permissions.</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5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IAM, STS and Cognito authorization boundaries: worked architecture decision.</a:t>
            </a:r>
          </a:p>
          <a:p>
            <a:r>
              <a:t>SCENARIO: A SaaS vendor needs read access to one customer prefix without receiving reusable customer credentials.</a:t>
            </a:r>
          </a:p>
          <a:p>
            <a:r>
              <a:t>DESIGN DECISION: Create a customer role with narrow S3 permissions, a vendor principal in the trust policy and a unique ExternalId condition; log every assumed session.</a:t>
            </a:r>
          </a:p>
          <a:p>
            <a:r>
              <a:t>FAILURE TO AVOID: Granting the vendor identity directly across resources is hard to revoke and audit; a trust policy alone grants no S3 action.</a:t>
            </a:r>
          </a:p>
          <a:p>
            <a:r>
              <a:t>ACCEPTANCE EVIDENCE: Trust policy, permission policy, ExternalId control, session ARN/tags, Access Analyzer result and CloudTrail AssumeRole event.</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5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Developer deep dive: KMS, secrets and application-edge protection.</a:t>
            </a:r>
          </a:p>
          <a:p>
            <a:r>
              <a:t>PURPOSE: Protect data, credentials and public application paths with controls whose permissions, rotation and failure behavior are observable.</a:t>
            </a:r>
          </a:p>
          <a:p>
            <a:r>
              <a:t>SERVICE BOUNDARY: KMS · Secrets Manager · ACM · WAF · Shield</a:t>
            </a:r>
          </a:p>
          <a:p>
            <a:r>
              <a:t>PRIMARY DESIGN DECISION: Use staged secret rotation with connection refresh, encrypt under a scoped key, deploy WAF in count mode first and promote the validated rule to block.</a:t>
            </a:r>
          </a:p>
          <a:p>
            <a:r>
              <a:t>FAILURE BOUNDARY: A key policy that excludes recovery administrators can lock out data; immediate blocking can create a security-induced outage.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5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KMS, secrets and application-edge protection: how it works.</a:t>
            </a:r>
          </a:p>
          <a:p>
            <a:r>
              <a:t>MECHANIC 1: KMS performs cryptographic operations under key and IAM policies; envelope encryption keeps large data operations outside KMS while protecting data keys.</a:t>
            </a:r>
          </a:p>
          <a:p>
            <a:r>
              <a:t>MECHANIC 2: Encryption context can bind decrypt permission to non-secret request attributes and is recorded with supported audit events.</a:t>
            </a:r>
          </a:p>
          <a:p>
            <a:r>
              <a:t>MECHANIC 3: Secrets Manager stores versioned secret values with staging labels and can automate rotation; applications should cache retrieval and handle rotation overlap.</a:t>
            </a:r>
          </a:p>
          <a:p>
            <a:r>
              <a:t>MECHANIC 4: ACM manages supported certificates, WAF evaluates Layer 7 rules and Shield provides DDoS protections; Firewall Manager applies policies across governed accounts.</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5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KMS, secrets and application-edge protection: operating flow.</a:t>
            </a:r>
          </a:p>
          <a:p>
            <a:r>
              <a:t>Classify data and threat</a:t>
            </a:r>
          </a:p>
          <a:p>
            <a:r>
              <a:t>Select key/secret ownership</a:t>
            </a:r>
          </a:p>
          <a:p>
            <a:r>
              <a:t>Authorize runtime retrieval</a:t>
            </a:r>
          </a:p>
          <a:p>
            <a:r>
              <a:t>Inspect edge request</a:t>
            </a:r>
          </a:p>
          <a:p>
            <a:r>
              <a:t>Rotate, alert and retain evidence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5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KMS, secrets and application-edge protection: configuration decisions.</a:t>
            </a:r>
          </a:p>
          <a:p>
            <a:r>
              <a:t>KEY OWNERSHIP: Choose AWS-owned, AWS-managed or customer-managed keys from policy, separation, rotation and cross-account requirements.</a:t>
            </a:r>
          </a:p>
          <a:p>
            <a:r>
              <a:t>GRANTS: Use grants for delegated service use where appropriate and retire them with the consuming resource lifecycle.</a:t>
            </a:r>
          </a:p>
          <a:p>
            <a:r>
              <a:t>ROTATION: Support overlapping credential versions and test both rotation and emergency revocation paths.</a:t>
            </a:r>
          </a:p>
          <a:p>
            <a:r>
              <a:t>WAF ROLLOUT: Observe managed rules in count mode, inspect sampled requests and introduce blocking with exception ownership.</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5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KMS, secrets and application-edge protection: worked architecture decision.</a:t>
            </a:r>
          </a:p>
          <a:p>
            <a:r>
              <a:t>SCENARIO: A public API must rotate its database secret without downtime and block a new malicious request pattern safely.</a:t>
            </a:r>
          </a:p>
          <a:p>
            <a:r>
              <a:t>DESIGN DECISION: Use staged secret rotation with connection refresh, encrypt under a scoped key, deploy WAF in count mode first and promote the validated rule to block.</a:t>
            </a:r>
          </a:p>
          <a:p>
            <a:r>
              <a:t>FAILURE TO AVOID: A key policy that excludes recovery administrators can lock out data; immediate blocking can create a security-induced outage.</a:t>
            </a:r>
          </a:p>
          <a:p>
            <a:r>
              <a:t>ACCEPTANCE EVIDENCE: Key policy/grant, encryption-context event, secret version stages, rotation result, WAF samples, blocked-rate metric and exception record.</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5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Identity at scale.</a:t>
            </a:r>
          </a:p>
          <a:p>
            <a:r>
              <a:t>OUTCOME: Provide workforce and workload access through federation, short-lived credentials and least privilege.</a:t>
            </a:r>
          </a:p>
          <a:p>
            <a:r>
              <a:t>ARCHITECTURE: Use permission sets, roles, session controls and access analysis; avoid long-lived IAM user keys.</a:t>
            </a:r>
          </a:p>
          <a:p>
            <a:r>
              <a:t>FAILURE MODE: Broad shared roles erase accountability and expand blast radius.</a:t>
            </a:r>
          </a:p>
          <a:p>
            <a:r>
              <a:t>EVIDENCE: Identity source, permission-set version, role session, access finding and CloudTrail principal.</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5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Identity at scale: operating flow.</a:t>
            </a:r>
          </a:p>
          <a:p>
            <a:r>
              <a:t>Authenticate</a:t>
            </a:r>
          </a:p>
          <a:p>
            <a:r>
              <a:t>Assign permission set</a:t>
            </a:r>
          </a:p>
          <a:p>
            <a:r>
              <a:t>Assume role</a:t>
            </a:r>
          </a:p>
          <a:p>
            <a:r>
              <a:t>Authorize</a:t>
            </a:r>
          </a:p>
          <a:p>
            <a:r>
              <a:t>Record session</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5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Identity at scale: design decision.</a:t>
            </a:r>
          </a:p>
          <a:p>
            <a:r>
              <a:t>SCENARIO: Engineers need auditable access to development and production accounts with different privileges.</a:t>
            </a:r>
          </a:p>
          <a:p>
            <a:r>
              <a:t>DESIGN RESPONSE: Use permission sets, roles, session controls and access analysis; avoid long-lived IAM user keys.</a:t>
            </a:r>
          </a:p>
          <a:p>
            <a:r>
              <a:t>PRIMARY SERVICES: IAM Identity Center · IAM · STS</a:t>
            </a:r>
          </a:p>
          <a:p>
            <a:r>
              <a:t>FAILURE MODE: Broad shared roles erase accountability and expand blast radius.</a:t>
            </a:r>
          </a:p>
          <a:p>
            <a:r>
              <a:t>PROOF: Identity source, permission-set version, role session, access finding and CloudTrail principal.</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5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Identity at scale: failure diagnostic.</a:t>
            </a:r>
          </a:p>
          <a:p>
            <a:r>
              <a:t>RECOGNISE: Observable failure condition: Broad shared roles erase accountability and expand blast radius.</a:t>
            </a:r>
          </a:p>
          <a:p>
            <a:r>
              <a:t>CONTAIN: Pause promotion, preserve evidence and reduce impact without destroying diagnostic state.</a:t>
            </a:r>
          </a:p>
          <a:p>
            <a:r>
              <a:t>DIAGNOSE: Trace the workflow from Authenticate through Record session; compare intended configuration with runtime state.</a:t>
            </a:r>
          </a:p>
          <a:p>
            <a:r>
              <a:t>RECOVER: Restore the last known-good state, then prove recovery with Identity source, permission-set version, role session, access finding and CloudTrail principal.</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5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Identity at scale: worked decision.</a:t>
            </a:r>
          </a:p>
          <a:p>
            <a:r>
              <a:t>CONSTRAINT: Engineers need auditable access to development and production accounts with different privileges.</a:t>
            </a:r>
          </a:p>
          <a:p>
            <a:r>
              <a:t>DECISION: Use permission sets, roles, session controls and access analysis; avoid long-lived IAM user keys.</a:t>
            </a:r>
          </a:p>
          <a:p>
            <a:r>
              <a:t>WHY ALTERNATIVES LOSE: Reject options that do not change the stated failure boundary: Broad shared roles erase accountability and expand blast radius.</a:t>
            </a:r>
          </a:p>
          <a:p>
            <a:r>
              <a:t>ACCEPTANCE TEST: The decision is complete only when this proof exists: Identity source, permission-set version, role session, access finding and CloudTrail principal.</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5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Organizations and preventive guardrails.</a:t>
            </a:r>
          </a:p>
          <a:p>
            <a:r>
              <a:t>OUTCOME: Set organization-wide permission boundaries while preserving account autonomy inside approved limits.</a:t>
            </a:r>
          </a:p>
          <a:p>
            <a:r>
              <a:t>ARCHITECTURE: Design OU structure from governance needs, test SCP impact, use deny guardrails carefully and keep break-glass access.</a:t>
            </a:r>
          </a:p>
          <a:p>
            <a:r>
              <a:t>FAILURE MODE: An SCP does not grant permission; it limits what identity and resource policies may allow.</a:t>
            </a:r>
          </a:p>
          <a:p>
            <a:r>
              <a:t>EVIDENCE: OU hierarchy, SCP version, policy simulator result, exception and affected-account inventory.</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5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Organizations and preventive guardrails: operating flow.</a:t>
            </a:r>
          </a:p>
          <a:p>
            <a:r>
              <a:t>Classify account</a:t>
            </a:r>
          </a:p>
          <a:p>
            <a:r>
              <a:t>Attach baseline</a:t>
            </a:r>
          </a:p>
          <a:p>
            <a:r>
              <a:t>Evaluate effective permission</a:t>
            </a:r>
          </a:p>
          <a:p>
            <a:r>
              <a:t>Test workload</a:t>
            </a:r>
          </a:p>
          <a:p>
            <a:r>
              <a:t>Monitor exceptions</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5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Organizations and preventive guardrails: design decision.</a:t>
            </a:r>
          </a:p>
          <a:p>
            <a:r>
              <a:t>SCENARIO: Production accounts must never disable CloudTrail or create unencrypted storage.</a:t>
            </a:r>
          </a:p>
          <a:p>
            <a:r>
              <a:t>DESIGN RESPONSE: Design OU structure from governance needs, test SCP impact, use deny guardrails carefully and keep break-glass access.</a:t>
            </a:r>
          </a:p>
          <a:p>
            <a:r>
              <a:t>PRIMARY SERVICES: Organizations · SCPs · Control Tower</a:t>
            </a:r>
          </a:p>
          <a:p>
            <a:r>
              <a:t>FAILURE MODE: An SCP does not grant permission; it limits what identity and resource policies may allow.</a:t>
            </a:r>
          </a:p>
          <a:p>
            <a:r>
              <a:t>PROOF: OU hierarchy, SCP version, policy simulator result, exception and affected-account inventory.</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5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Organizations and preventive guardrails: failure diagnostic.</a:t>
            </a:r>
          </a:p>
          <a:p>
            <a:r>
              <a:t>RECOGNISE: Observable failure condition: An SCP does not grant permission; it limits what identity and resource policies may allow.</a:t>
            </a:r>
          </a:p>
          <a:p>
            <a:r>
              <a:t>CONTAIN: Pause promotion, preserve evidence and reduce impact without destroying diagnostic state.</a:t>
            </a:r>
          </a:p>
          <a:p>
            <a:r>
              <a:t>DIAGNOSE: Trace the workflow from Classify account through Monitor exceptions; compare intended configuration with runtime state.</a:t>
            </a:r>
          </a:p>
          <a:p>
            <a:r>
              <a:t>RECOVER: Restore the last known-good state, then prove recovery with OU hierarchy, SCP version, policy simulator result, exception and affected-account inventory.</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5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Organizations and preventive guardrails: worked decision.</a:t>
            </a:r>
          </a:p>
          <a:p>
            <a:r>
              <a:t>CONSTRAINT: Production accounts must never disable CloudTrail or create unencrypted storage.</a:t>
            </a:r>
          </a:p>
          <a:p>
            <a:r>
              <a:t>DECISION: Design OU structure from governance needs, test SCP impact, use deny guardrails carefully and keep break-glass access.</a:t>
            </a:r>
          </a:p>
          <a:p>
            <a:r>
              <a:t>WHY ALTERNATIVES LOSE: Reject options that do not change the stated failure boundary: An SCP does not grant permission; it limits what identity and resource policies may allow.</a:t>
            </a:r>
          </a:p>
          <a:p>
            <a:r>
              <a:t>ACCEPTANCE TEST: The decision is complete only when this proof exists: OU hierarchy, SCP version, policy simulator result, exception and affected-account inventory.</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5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Secrets, keys and data protection.</a:t>
            </a:r>
          </a:p>
          <a:p>
            <a:r>
              <a:t>OUTCOME: Protect data and credentials through encryption, controlled key use and automated rotation.</a:t>
            </a:r>
          </a:p>
          <a:p>
            <a:r>
              <a:t>ARCHITECTURE: Separate key administration from use, scope resource policies, rotate secrets safely and plan multi-Region recovery.</a:t>
            </a:r>
          </a:p>
          <a:p>
            <a:r>
              <a:t>FAILURE MODE: Encrypting with a key that the recovery account cannot use makes backups operationally unavailable.</a:t>
            </a:r>
          </a:p>
          <a:p>
            <a:r>
              <a:t>EVIDENCE: Key policy, grant, encryption context, secret version stages, rotation result and access trail.</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5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Secrets, keys and data protection: operating flow.</a:t>
            </a:r>
          </a:p>
          <a:p>
            <a:r>
              <a:t>Generate or store secret</a:t>
            </a:r>
          </a:p>
          <a:p>
            <a:r>
              <a:t>Authorize workload</a:t>
            </a:r>
          </a:p>
          <a:p>
            <a:r>
              <a:t>Encrypt</a:t>
            </a:r>
          </a:p>
          <a:p>
            <a:r>
              <a:t>Use</a:t>
            </a:r>
          </a:p>
          <a:p>
            <a:r>
              <a:t>Rotate</a:t>
            </a:r>
          </a:p>
          <a:p>
            <a:r>
              <a:t>Audit</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5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Secrets, keys and data protection: design decision.</a:t>
            </a:r>
          </a:p>
          <a:p>
            <a:r>
              <a:t>SCENARIO: A database credential must rotate without downtime and remain recoverable in the DR Region.</a:t>
            </a:r>
          </a:p>
          <a:p>
            <a:r>
              <a:t>DESIGN RESPONSE: Separate key administration from use, scope resource policies, rotate secrets safely and plan multi-Region recovery.</a:t>
            </a:r>
          </a:p>
          <a:p>
            <a:r>
              <a:t>PRIMARY SERVICES: KMS · Secrets Manager · Parameter Store · ACM</a:t>
            </a:r>
          </a:p>
          <a:p>
            <a:r>
              <a:t>FAILURE MODE: Encrypting with a key that the recovery account cannot use makes backups operationally unavailable.</a:t>
            </a:r>
          </a:p>
          <a:p>
            <a:r>
              <a:t>PROOF: Key policy, grant, encryption context, secret version stages, rotation result and access trail.</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5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Secrets, keys and data protection: failure diagnostic.</a:t>
            </a:r>
          </a:p>
          <a:p>
            <a:r>
              <a:t>RECOGNISE: Observable failure condition: Encrypting with a key that the recovery account cannot use makes backups operationally unavailable.</a:t>
            </a:r>
          </a:p>
          <a:p>
            <a:r>
              <a:t>CONTAIN: Pause promotion, preserve evidence and reduce impact without destroying diagnostic state.</a:t>
            </a:r>
          </a:p>
          <a:p>
            <a:r>
              <a:t>DIAGNOSE: Trace the workflow from Generate or store secret through Audit; compare intended configuration with runtime state.</a:t>
            </a:r>
          </a:p>
          <a:p>
            <a:r>
              <a:t>RECOVER: Restore the last known-good state, then prove recovery with Key policy, grant, encryption context, secret version stages, rotation result and access trail.</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5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Secrets, keys and data protection: worked decision.</a:t>
            </a:r>
          </a:p>
          <a:p>
            <a:r>
              <a:t>CONSTRAINT: A database credential must rotate without downtime and remain recoverable in the DR Region.</a:t>
            </a:r>
          </a:p>
          <a:p>
            <a:r>
              <a:t>DECISION: Separate key administration from use, scope resource policies, rotate secrets safely and plan multi-Region recovery.</a:t>
            </a:r>
          </a:p>
          <a:p>
            <a:r>
              <a:t>WHY ALTERNATIVES LOSE: Reject options that do not change the stated failure boundary: Encrypting with a key that the recovery account cannot use makes backups operationally unavailable.</a:t>
            </a:r>
          </a:p>
          <a:p>
            <a:r>
              <a:t>ACCEPTANCE TEST: The decision is complete only when this proof exists: Key policy, grant, encryption context, secret version stages, rotation result and access trail.</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5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 rules and conformance.</a:t>
            </a:r>
          </a:p>
          <a:p>
            <a:r>
              <a:t>OUTCOME: Continuously evaluate resource configuration against explicit controls and remediate safely.</a:t>
            </a:r>
          </a:p>
          <a:p>
            <a:r>
              <a:t>ARCHITECTURE: Use managed/custom rules, aggregators, evidence retention and remediation with exception tagging.</a:t>
            </a:r>
          </a:p>
          <a:p>
            <a:r>
              <a:t>FAILURE MODE: A compliant snapshot is not proof that the resource stayed compliant between evaluations.</a:t>
            </a:r>
          </a:p>
          <a:p>
            <a:r>
              <a:t>EVIDENCE: Configuration timeline, rule evaluation, conformance score, exception, remediation execution and recheck.</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5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 rules and conformance: operating flow.</a:t>
            </a:r>
          </a:p>
          <a:p>
            <a:r>
              <a:t>Record configuration</a:t>
            </a:r>
          </a:p>
          <a:p>
            <a:r>
              <a:t>Evaluate rule</a:t>
            </a:r>
          </a:p>
          <a:p>
            <a:r>
              <a:t>Aggregate</a:t>
            </a:r>
          </a:p>
          <a:p>
            <a:r>
              <a:t>Notify</a:t>
            </a:r>
          </a:p>
          <a:p>
            <a:r>
              <a:t>Remediate</a:t>
            </a:r>
          </a:p>
          <a:p>
            <a:r>
              <a:t>Re-evaluate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5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 rules and conformance: design decision.</a:t>
            </a:r>
          </a:p>
          <a:p>
            <a:r>
              <a:t>SCENARIO: Auditors require evidence that all production buckets remained encrypted and blocked public access.</a:t>
            </a:r>
          </a:p>
          <a:p>
            <a:r>
              <a:t>DESIGN RESPONSE: Use managed/custom rules, aggregators, evidence retention and remediation with exception tagging.</a:t>
            </a:r>
          </a:p>
          <a:p>
            <a:r>
              <a:t>PRIMARY SERVICES: AWS Config · Conformance Packs · Systems Manager</a:t>
            </a:r>
          </a:p>
          <a:p>
            <a:r>
              <a:t>FAILURE MODE: A compliant snapshot is not proof that the resource stayed compliant between evaluations.</a:t>
            </a:r>
          </a:p>
          <a:p>
            <a:r>
              <a:t>PROOF: Configuration timeline, rule evaluation, conformance score, exception, remediation execution and recheck.</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5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 rules and conformance: failure diagnostic.</a:t>
            </a:r>
          </a:p>
          <a:p>
            <a:r>
              <a:t>RECOGNISE: Observable failure condition: A compliant snapshot is not proof that the resource stayed compliant between evaluations.</a:t>
            </a:r>
          </a:p>
          <a:p>
            <a:r>
              <a:t>CONTAIN: Pause promotion, preserve evidence and reduce impact without destroying diagnostic state.</a:t>
            </a:r>
          </a:p>
          <a:p>
            <a:r>
              <a:t>DIAGNOSE: Trace the workflow from Record configuration through Re-evaluate; compare intended configuration with runtime state.</a:t>
            </a:r>
          </a:p>
          <a:p>
            <a:r>
              <a:t>RECOVER: Restore the last known-good state, then prove recovery with Configuration timeline, rule evaluation, conformance score, exception, remediation execution and recheck.</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5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 rules and conformance: worked decision.</a:t>
            </a:r>
          </a:p>
          <a:p>
            <a:r>
              <a:t>CONSTRAINT: Auditors require evidence that all production buckets remained encrypted and blocked public access.</a:t>
            </a:r>
          </a:p>
          <a:p>
            <a:r>
              <a:t>DECISION: Use managed/custom rules, aggregators, evidence retention and remediation with exception tagging.</a:t>
            </a:r>
          </a:p>
          <a:p>
            <a:r>
              <a:t>WHY ALTERNATIVES LOSE: Reject options that do not change the stated failure boundary: A compliant snapshot is not proof that the resource stayed compliant between evaluations.</a:t>
            </a:r>
          </a:p>
          <a:p>
            <a:r>
              <a:t>ACCEPTANCE TEST: The decision is complete only when this proof exists: Configuration timeline, rule evaluation, conformance score, exception, remediation execution and recheck.</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5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Threat detection and investigation.</a:t>
            </a:r>
          </a:p>
          <a:p>
            <a:r>
              <a:t>OUTCOME: Combine findings, vulnerability context and behavior graphs to prioritize credible threats.</a:t>
            </a:r>
          </a:p>
          <a:p>
            <a:r>
              <a:t>ARCHITECTURE: Delegate administration, centralize findings, normalize severity, enrich with ownership and automate only well-understood responses.</a:t>
            </a:r>
          </a:p>
          <a:p>
            <a:r>
              <a:t>FAILURE MODE: A high volume of unowned findings becomes an unworkable compliance queue.</a:t>
            </a:r>
          </a:p>
          <a:p>
            <a:r>
              <a:t>EVIDENCE: Finding ID, affected resource, severity, vulnerability, graph evidence, workflow status and response.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5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Threat detection and investigation: operating flow.</a:t>
            </a:r>
          </a:p>
          <a:p>
            <a:r>
              <a:t>Detect</a:t>
            </a:r>
          </a:p>
          <a:p>
            <a:r>
              <a:t>Normalize</a:t>
            </a:r>
          </a:p>
          <a:p>
            <a:r>
              <a:t>Enrich</a:t>
            </a:r>
          </a:p>
          <a:p>
            <a:r>
              <a:t>Prioritize</a:t>
            </a:r>
          </a:p>
          <a:p>
            <a:r>
              <a:t>Investigate</a:t>
            </a:r>
          </a:p>
          <a:p>
            <a:r>
              <a:t>Contain</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5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Threat detection and investigation: design decision.</a:t>
            </a:r>
          </a:p>
          <a:p>
            <a:r>
              <a:t>SCENARIO: An exposed instance shows anomalous network activity and a critical package vulnerability.</a:t>
            </a:r>
          </a:p>
          <a:p>
            <a:r>
              <a:t>DESIGN RESPONSE: Delegate administration, centralize findings, normalize severity, enrich with ownership and automate only well-understood responses.</a:t>
            </a:r>
          </a:p>
          <a:p>
            <a:r>
              <a:t>PRIMARY SERVICES: GuardDuty · Security Hub · Detective · Inspector</a:t>
            </a:r>
          </a:p>
          <a:p>
            <a:r>
              <a:t>FAILURE MODE: A high volume of unowned findings becomes an unworkable compliance queue.</a:t>
            </a:r>
          </a:p>
          <a:p>
            <a:r>
              <a:t>PROOF: Finding ID, affected resource, severity, vulnerability, graph evidence, workflow status and response.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5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Threat detection and investigation: failure diagnostic.</a:t>
            </a:r>
          </a:p>
          <a:p>
            <a:r>
              <a:t>RECOGNISE: Observable failure condition: A high volume of unowned findings becomes an unworkable compliance queue.</a:t>
            </a:r>
          </a:p>
          <a:p>
            <a:r>
              <a:t>CONTAIN: Pause promotion, preserve evidence and reduce impact without destroying diagnostic state.</a:t>
            </a:r>
          </a:p>
          <a:p>
            <a:r>
              <a:t>DIAGNOSE: Trace the workflow from Detect through Contain; compare intended configuration with runtime state.</a:t>
            </a:r>
          </a:p>
          <a:p>
            <a:r>
              <a:t>RECOVER: Restore the last known-good state, then prove recovery with Finding ID, affected resource, severity, vulnerability, graph evidence, workflow status and response.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5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Threat detection and investigation: worked decision.</a:t>
            </a:r>
          </a:p>
          <a:p>
            <a:r>
              <a:t>CONSTRAINT: An exposed instance shows anomalous network activity and a critical package vulnerability.</a:t>
            </a:r>
          </a:p>
          <a:p>
            <a:r>
              <a:t>DECISION: Delegate administration, centralize findings, normalize severity, enrich with ownership and automate only well-understood responses.</a:t>
            </a:r>
          </a:p>
          <a:p>
            <a:r>
              <a:t>WHY ALTERNATIVES LOSE: Reject options that do not change the stated failure boundary: A high volume of unowned findings becomes an unworkable compliance queue.</a:t>
            </a:r>
          </a:p>
          <a:p>
            <a:r>
              <a:t>ACCEPTANCE TEST: The decision is complete only when this proof exists: Finding ID, affected resource, severity, vulnerability, graph evidence, workflow status and response.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5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Edge and network protection.</a:t>
            </a:r>
          </a:p>
          <a:p>
            <a:r>
              <a:t>OUTCOME: Apply consistent layered protection to public endpoints and network paths.</a:t>
            </a:r>
          </a:p>
          <a:p>
            <a:r>
              <a:t>ARCHITECTURE: Use managed rules in count mode first, central policies, rate limits, logging and exception workflows.</a:t>
            </a:r>
          </a:p>
          <a:p>
            <a:r>
              <a:t>FAILURE MODE: Blocking without observing false positives can turn a security control into an outage.</a:t>
            </a:r>
          </a:p>
          <a:p>
            <a:r>
              <a:t>EVIDENCE: Policy version, sampled request, rule action, log destination, exception and rollout scope.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5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Edge and network protection: operating flow.</a:t>
            </a:r>
          </a:p>
          <a:p>
            <a:r>
              <a:t>Observe traffic</a:t>
            </a:r>
          </a:p>
          <a:p>
            <a:r>
              <a:t>Evaluate rule</a:t>
            </a:r>
          </a:p>
          <a:p>
            <a:r>
              <a:t>Count</a:t>
            </a:r>
          </a:p>
          <a:p>
            <a:r>
              <a:t>Tune exception</a:t>
            </a:r>
          </a:p>
          <a:p>
            <a:r>
              <a:t>Block</a:t>
            </a:r>
          </a:p>
          <a:p>
            <a:r>
              <a:t>Monitor</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5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Edge and network protection: design decision.</a:t>
            </a:r>
          </a:p>
          <a:p>
            <a:r>
              <a:t>SCENARIO: A company must deploy baseline WAF controls to every internet-facing application across accounts.</a:t>
            </a:r>
          </a:p>
          <a:p>
            <a:r>
              <a:t>DESIGN RESPONSE: Use managed rules in count mode first, central policies, rate limits, logging and exception workflows.</a:t>
            </a:r>
          </a:p>
          <a:p>
            <a:r>
              <a:t>PRIMARY SERVICES: WAF · Firewall Manager · Shield · Network Firewall</a:t>
            </a:r>
          </a:p>
          <a:p>
            <a:r>
              <a:t>FAILURE MODE: Blocking without observing false positives can turn a security control into an outage.</a:t>
            </a:r>
          </a:p>
          <a:p>
            <a:r>
              <a:t>PROOF: Policy version, sampled request, rule action, log destination, exception and rollout scope.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5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Edge and network protection: failure diagnostic.</a:t>
            </a:r>
          </a:p>
          <a:p>
            <a:r>
              <a:t>RECOGNISE: Observable failure condition: Blocking without observing false positives can turn a security control into an outage.</a:t>
            </a:r>
          </a:p>
          <a:p>
            <a:r>
              <a:t>CONTAIN: Pause promotion, preserve evidence and reduce impact without destroying diagnostic state.</a:t>
            </a:r>
          </a:p>
          <a:p>
            <a:r>
              <a:t>DIAGNOSE: Trace the workflow from Observe traffic through Monitor; compare intended configuration with runtime state.</a:t>
            </a:r>
          </a:p>
          <a:p>
            <a:r>
              <a:t>RECOVER: Restore the last known-good state, then prove recovery with Policy version, sampled request, rule action, log destination, exception and rollout scope.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5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Edge and network protection: worked decision.</a:t>
            </a:r>
          </a:p>
          <a:p>
            <a:r>
              <a:t>CONSTRAINT: A company must deploy baseline WAF controls to every internet-facing application across accounts.</a:t>
            </a:r>
          </a:p>
          <a:p>
            <a:r>
              <a:t>DECISION: Use managed rules in count mode first, central policies, rate limits, logging and exception workflows.</a:t>
            </a:r>
          </a:p>
          <a:p>
            <a:r>
              <a:t>WHY ALTERNATIVES LOSE: Reject options that do not change the stated failure boundary: Blocking without observing false positives can turn a security control into an outage.</a:t>
            </a:r>
          </a:p>
          <a:p>
            <a:r>
              <a:t>ACCEPTANCE TEST: The decision is complete only when this proof exists: Policy version, sampled request, rule action, log destination, exception and rollout scope.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5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blueprint and audit evidence.</a:t>
            </a:r>
          </a:p>
          <a:p>
            <a:r>
              <a:t>OUTCOME: Translate risk and compliance obligations into components, controls, ownership and evidence flows.</a:t>
            </a:r>
          </a:p>
          <a:p>
            <a:r>
              <a:t>ARCHITECTURE: Document trust boundaries, data classification, preventive/detective controls, logging, retention and incident responsibilities.</a:t>
            </a:r>
          </a:p>
          <a:p>
            <a:r>
              <a:t>FAILURE MODE: A service list without data flows, control intent and ownership is not an actionable blueprint.</a:t>
            </a:r>
          </a:p>
          <a:p>
            <a:r>
              <a:t>EVIDENCE: Architecture diagram, control matrix, evidence source, owner, retention rule, exception and review cadence.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5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blueprint and audit evidence: operating flow.</a:t>
            </a:r>
          </a:p>
          <a:p>
            <a:r>
              <a:t>Classify data</a:t>
            </a:r>
          </a:p>
          <a:p>
            <a:r>
              <a:t>Map trust boundaries</a:t>
            </a:r>
          </a:p>
          <a:p>
            <a:r>
              <a:t>Select controls</a:t>
            </a:r>
          </a:p>
          <a:p>
            <a:r>
              <a:t>Assign owners</a:t>
            </a:r>
          </a:p>
          <a:p>
            <a:r>
              <a:t>Collect evidence</a:t>
            </a:r>
          </a:p>
          <a:p>
            <a:r>
              <a:t>Review</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5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blueprint and audit evidence: design decision.</a:t>
            </a:r>
          </a:p>
          <a:p>
            <a:r>
              <a:t>SCENARIO: A regulated workload needs a technical blueprint that developers, security and auditors can all execute.</a:t>
            </a:r>
          </a:p>
          <a:p>
            <a:r>
              <a:t>DESIGN RESPONSE: Document trust boundaries, data classification, preventive/detective controls, logging, retention and incident responsibilities.</a:t>
            </a:r>
          </a:p>
          <a:p>
            <a:r>
              <a:t>PRIMARY SERVICES: Security Hub · Audit Manager · Artifact · Tagging</a:t>
            </a:r>
          </a:p>
          <a:p>
            <a:r>
              <a:t>FAILURE MODE: A service list without data flows, control intent and ownership is not an actionable blueprint.</a:t>
            </a:r>
          </a:p>
          <a:p>
            <a:r>
              <a:t>PROOF: Architecture diagram, control matrix, evidence source, owner, retention rule, exception and review cadence.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5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blueprint and audit evidence: failure diagnostic.</a:t>
            </a:r>
          </a:p>
          <a:p>
            <a:r>
              <a:t>RECOGNISE: Observable failure condition: A service list without data flows, control intent and ownership is not an actionable blueprint.</a:t>
            </a:r>
          </a:p>
          <a:p>
            <a:r>
              <a:t>CONTAIN: Pause promotion, preserve evidence and reduce impact without destroying diagnostic state.</a:t>
            </a:r>
          </a:p>
          <a:p>
            <a:r>
              <a:t>DIAGNOSE: Trace the workflow from Classify data through Review; compare intended configuration with runtime state.</a:t>
            </a:r>
          </a:p>
          <a:p>
            <a:r>
              <a:t>RECOVER: Restore the last known-good state, then prove recovery with Architecture diagram, control matrix, evidence source, owner, retention rule, exception and review cadence.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5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blueprint and audit evidence: worked decision.</a:t>
            </a:r>
          </a:p>
          <a:p>
            <a:r>
              <a:t>CONSTRAINT: A regulated workload needs a technical blueprint that developers, security and auditors can all execute.</a:t>
            </a:r>
          </a:p>
          <a:p>
            <a:r>
              <a:t>DECISION: Document trust boundaries, data classification, preventive/detective controls, logging, retention and incident responsibilities.</a:t>
            </a:r>
          </a:p>
          <a:p>
            <a:r>
              <a:t>WHY ALTERNATIVES LOSE: Reject options that do not change the stated failure boundary: A service list without data flows, control intent and ownership is not an actionable blueprint.</a:t>
            </a:r>
          </a:p>
          <a:p>
            <a:r>
              <a:t>ACCEPTANCE TEST: The decision is complete only when this proof exists: Architecture diagram, control matrix, evidence source, owner, retention rule, exception and review cadence.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5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Identity at scale: architecture map.</a:t>
            </a:r>
          </a:p>
          <a:p>
            <a:r>
              <a:t>TRIGGER / INPUT: Authenticate</a:t>
            </a:r>
          </a:p>
          <a:p>
            <a:r>
              <a:t>CONTROL PLANE: Use permission sets, roles, session controls and access analysis; avoid long-lived IAM user keys.</a:t>
            </a:r>
          </a:p>
          <a:p>
            <a:r>
              <a:t>AWS SERVICES: IAM Identity Center · IAM · STS</a:t>
            </a:r>
          </a:p>
          <a:p>
            <a:r>
              <a:t>EVIDENCE BOUNDARY: Identity source, permission-set version, role session, access finding and CloudTrail principal.</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5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Organizations and preventive guardrails: architecture map.</a:t>
            </a:r>
          </a:p>
          <a:p>
            <a:r>
              <a:t>TRIGGER / INPUT: Classify account</a:t>
            </a:r>
          </a:p>
          <a:p>
            <a:r>
              <a:t>CONTROL PLANE: Design OU structure from governance needs, test SCP impact, use deny guardrails carefully and keep break-glass access.</a:t>
            </a:r>
          </a:p>
          <a:p>
            <a:r>
              <a:t>AWS SERVICES: Organizations · SCPs · Control Tower</a:t>
            </a:r>
          </a:p>
          <a:p>
            <a:r>
              <a:t>EVIDENCE BOUNDARY: OU hierarchy, SCP version, policy simulator result, exception and affected-account inventory.</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5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Secrets, keys and data protection: architecture map.</a:t>
            </a:r>
          </a:p>
          <a:p>
            <a:r>
              <a:t>TRIGGER / INPUT: Generate or store secret</a:t>
            </a:r>
          </a:p>
          <a:p>
            <a:r>
              <a:t>CONTROL PLANE: Separate key administration from use, scope resource policies, rotate secrets safely and plan multi-Region recovery.</a:t>
            </a:r>
          </a:p>
          <a:p>
            <a:r>
              <a:t>AWS SERVICES: KMS · Secrets Manager · Parameter Store · ACM</a:t>
            </a:r>
          </a:p>
          <a:p>
            <a:r>
              <a:t>EVIDENCE BOUNDARY: Key policy, grant, encryption context, secret version stages, rotation result and access trail.</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5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 rules and conformance: architecture map.</a:t>
            </a:r>
          </a:p>
          <a:p>
            <a:r>
              <a:t>TRIGGER / INPUT: Record configuration</a:t>
            </a:r>
          </a:p>
          <a:p>
            <a:r>
              <a:t>CONTROL PLANE: Use managed/custom rules, aggregators, evidence retention and remediation with exception tagging.</a:t>
            </a:r>
          </a:p>
          <a:p>
            <a:r>
              <a:t>AWS SERVICES: AWS Config · Conformance Packs · Systems Manager</a:t>
            </a:r>
          </a:p>
          <a:p>
            <a:r>
              <a:t>EVIDENCE BOUNDARY: Configuration timeline, rule evaluation, conformance score, exception, remediation execution and recheck.</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5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Threat detection and investigation: architecture map.</a:t>
            </a:r>
          </a:p>
          <a:p>
            <a:r>
              <a:t>TRIGGER / INPUT: Detect</a:t>
            </a:r>
          </a:p>
          <a:p>
            <a:r>
              <a:t>CONTROL PLANE: Delegate administration, centralize findings, normalize severity, enrich with ownership and automate only well-understood responses.</a:t>
            </a:r>
          </a:p>
          <a:p>
            <a:r>
              <a:t>AWS SERVICES: GuardDuty · Security Hub · Detective · Inspector</a:t>
            </a:r>
          </a:p>
          <a:p>
            <a:r>
              <a:t>EVIDENCE BOUNDARY: Finding ID, affected resource, severity, vulnerability, graph evidence, workflow status and response.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5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Edge and network protection: architecture map.</a:t>
            </a:r>
          </a:p>
          <a:p>
            <a:r>
              <a:t>TRIGGER / INPUT: Observe traffic</a:t>
            </a:r>
          </a:p>
          <a:p>
            <a:r>
              <a:t>CONTROL PLANE: Use managed rules in count mode first, central policies, rate limits, logging and exception workflows.</a:t>
            </a:r>
          </a:p>
          <a:p>
            <a:r>
              <a:t>AWS SERVICES: WAF · Firewall Manager · Shield · Network Firewall</a:t>
            </a:r>
          </a:p>
          <a:p>
            <a:r>
              <a:t>EVIDENCE BOUNDARY: Policy version, sampled request, rule action, log destination, exception and rollout scope.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5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blueprint and audit evidence: architecture map.</a:t>
            </a:r>
          </a:p>
          <a:p>
            <a:r>
              <a:t>TRIGGER / INPUT: Classify data</a:t>
            </a:r>
          </a:p>
          <a:p>
            <a:r>
              <a:t>CONTROL PLANE: Document trust boundaries, data classification, preventive/detective controls, logging, retention and incident responsibilities.</a:t>
            </a:r>
          </a:p>
          <a:p>
            <a:r>
              <a:t>AWS SERVICES: Security Hub · Audit Manager · Artifact · Tagging</a:t>
            </a:r>
          </a:p>
          <a:p>
            <a:r>
              <a:t>EVIDENCE BOUNDARY: Architecture diagram, control matrix, evidence source, owner, retention rule, exception and review cadence.</a:t>
            </a:r>
          </a:p>
          <a:p/>
          <a:p>
            <a:r>
              <a:t>[Sources]</a:t>
            </a:r>
          </a:p>
          <a:p>
            <a:r>
              <a:t>- AWS Certified DevOps Engineer – Professional (DOP-C02) Exam Guide (docs.aws.amazon.com/pdfs/aws-certification/latest/devops-engineer-professional-02).</a:t>
            </a:r>
          </a:p>
          <a:p>
            <a:r>
              <a:t>- TertiaryCourses AWS DevOps certification course repository, v10 (591 slides)</a:t>
            </a:r>
          </a:p>
        </p:txBody>
      </p:sp>
      <p:sp>
        <p:nvSpPr>
          <p:cNvPr id="4" name="Slide Number Placeholder 3"/>
          <p:cNvSpPr>
            <a:spLocks noGrp="1"/>
          </p:cNvSpPr>
          <p:nvPr>
            <p:ph type="sldNum" idx="5" sz="quarter"/>
          </p:nvPr>
        </p:nvSpPr>
        <p:spPr/>
      </p:sp>
    </p:spTree>
  </p:cSld>
  <p:clrMapOvr>
    <a:masterClrMapping/>
  </p:clrMapOvr>
</p:notes>
</file>

<file path=ppt/notesSlides/notesSlide5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21 overview — Write a scoped IAM policy, cap it with a permission boundary, and prove least privilege with IAM Access Analyzer.</a:t>
            </a:r>
          </a:p>
          <a:p>
            <a:r>
              <a:t>Concept-led briefing only. The full detailed procedure, commands, expected outputs, validation and cleanup live in the Learner Guide and the lab README (not on the slides).</a:t>
            </a:r>
          </a:p>
          <a:p>
            <a:r>
              <a:t>Reference architecture: course-generated diagram for Lab 21.</a:t>
            </a:r>
          </a:p>
          <a:p/>
          <a:p>
            <a:r>
              <a:t>[Sources]</a:t>
            </a:r>
          </a:p>
          <a:p>
            <a:r>
              <a:t>- AWS Certified DevOps Engineer – Professional (DOP-C02) Exam Guide (docs.aws.amazon.com/pdfs/aws-certification/latest/devops-engineer-professional-02).</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5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22 overview — Create a customer-managed KMS key with a key policy, store a secret with rotation, and enforce encryption on S3.</a:t>
            </a:r>
          </a:p>
          <a:p>
            <a:r>
              <a:t>Concept-led briefing only. The full detailed procedure, commands, expected outputs, validation and cleanup live in the Learner Guide and the lab README (not on the slides).</a:t>
            </a:r>
          </a:p>
          <a:p>
            <a:r>
              <a:t>Reference architecture: course-generated diagram for Lab 22.</a:t>
            </a:r>
          </a:p>
          <a:p/>
          <a:p>
            <a:r>
              <a:t>[Sources]</a:t>
            </a:r>
          </a:p>
          <a:p>
            <a:r>
              <a:t>- AWS Certified DevOps Engineer – Professional (DOP-C02) Exam Guide (docs.aws.amazon.com/pdfs/aws-certification/latest/devops-engineer-professional-02).</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5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23 overview — Stand up a multi-Region CloudTrail with log-file validation and query it to export audit evidence.</a:t>
            </a:r>
          </a:p>
          <a:p>
            <a:r>
              <a:t>Concept-led briefing only. The full detailed procedure, commands, expected outputs, validation and cleanup live in the Learner Guide and the lab README (not on the slides).</a:t>
            </a:r>
          </a:p>
          <a:p>
            <a:r>
              <a:t>Reference architecture: course-generated diagram for Lab 23.</a:t>
            </a:r>
          </a:p>
          <a:p/>
          <a:p>
            <a:r>
              <a:t>[Sources]</a:t>
            </a:r>
          </a:p>
          <a:p>
            <a:r>
              <a:t>- AWS Certified DevOps Engineer – Professional (DOP-C02) Exam Guide (docs.aws.amazon.com/pdfs/aws-certification/latest/devops-engineer-professional-02).</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5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24 overview — Enable AWS Config managed rules and Security Hub standards, inject a violation and remediate to COMPLIANT.</a:t>
            </a:r>
          </a:p>
          <a:p>
            <a:r>
              <a:t>Concept-led briefing only. The full detailed procedure, commands, expected outputs, validation and cleanup live in the Learner Guide and the lab README (not on the slides).</a:t>
            </a:r>
          </a:p>
          <a:p>
            <a:r>
              <a:t>Reference architecture: course-generated diagram for Lab 24.</a:t>
            </a:r>
          </a:p>
          <a:p/>
          <a:p>
            <a:r>
              <a:t>[Sources]</a:t>
            </a:r>
          </a:p>
          <a:p>
            <a:r>
              <a:t>- AWS Certified DevOps Engineer – Professional (DOP-C02) Exam Guide (docs.aws.amazon.com/pdfs/aws-certification/latest/devops-engineer-professional-02).</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5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25 overview — Synthesise Labs 1–24 into one secured, resilient, observable delivery system with a blueprint, an operational review and an evidence pack.</a:t>
            </a:r>
          </a:p>
          <a:p>
            <a:r>
              <a:t>Concept-led briefing only. The full detailed procedure, commands, expected outputs, validation and cleanup live in the Learner Guide and the lab README (not on the slides).</a:t>
            </a:r>
          </a:p>
          <a:p>
            <a:r>
              <a:t>Reference architecture: course-generated diagram for Lab 25.</a:t>
            </a:r>
          </a:p>
          <a:p/>
          <a:p>
            <a:r>
              <a:t>[Sources]</a:t>
            </a:r>
          </a:p>
          <a:p>
            <a:r>
              <a:t>- AWS Certified DevOps Engineer – Professional (DOP-C02) Exam Guide (docs.aws.amazon.com/pdfs/aws-certification/latest/devops-engineer-professional-02).</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5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 of Domain 06 — Security and Compliance.</a:t>
            </a:r>
          </a:p>
          <a:p/>
          <a:p>
            <a:r>
              <a:t>[Sources]</a:t>
            </a:r>
          </a:p>
          <a:p>
            <a:r>
              <a:t>- AWS Certified DevOps Engineer – Professional (DOP-C02) Exam Guide (docs.aws.amazon.com/pdfs/aws-certification/latest/devops-engineer-professional-02).</a:t>
            </a:r>
          </a:p>
          <a:p>
            <a:r>
              <a:t>- AWS IAM Documentation (docs.aws.amazon.com/IAM/latest/UserGuide).</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5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Sample Application, End to End. Domains 1–6 map onto one delivery-to-operations loop: build it (1), codify it (2), make it resilient (3), watch it (4), respond (5) and secure it (6).</a:t>
            </a:r>
          </a:p>
          <a:p>
            <a:r>
              <a:t>Editable reference architecture drawn as native PowerPoint shapes.</a:t>
            </a:r>
          </a:p>
          <a:p/>
          <a:p>
            <a:r>
              <a:t>[Sources]</a:t>
            </a:r>
          </a:p>
          <a:p>
            <a:r>
              <a:t>- AWS Certified DevOps Engineer – Professional (DOP-C02) Exam Guide (docs.aws.amazon.com/pdfs/aws-certification/latest/devops-engineer-professional-02).</a:t>
            </a:r>
          </a:p>
          <a:p>
            <a:r>
              <a:t>- AWS Well-Architected Framework (docs.aws.amazon.com/wellarchitected).</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5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25 labs form one delivery-to-operations system — five connected labs per day building the same sample application end to end.</a:t>
            </a:r>
          </a:p>
          <a:p/>
          <a:p>
            <a:r>
              <a:t>[Sources]</a:t>
            </a:r>
          </a:p>
          <a:p>
            <a:r>
              <a:t>- AWS Certified DevOps Engineer – Professional (DOP-C02) Exam Guide (docs.aws.amazon.com/pdfs/aws-certification/latest/devops-engineer-professional-02).</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notesSlides/notesSlide5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Scenario: A developer merges a change that passes tests but degrades checkout latency once at production scale.</a:t>
            </a:r>
          </a:p>
          <a:p>
            <a:r>
              <a:t>Domain 1: the pipeline built and promoted an immutable artifact with a canary stage.</a:t>
            </a:r>
          </a:p>
          <a:p>
            <a:r>
              <a:t>Domain 3/4: canary p99 latency breaches the SLO; the CloudWatch alarm fires within minutes.</a:t>
            </a:r>
          </a:p>
          <a:p>
            <a:r>
              <a:t>Domain 5: the alarm triggers CodeDeploy auto-rollback and notifies the on-call via EventBridge/SNS.</a:t>
            </a:r>
          </a:p>
          <a:p>
            <a:r>
              <a:t>Domain 6: CloudTrail records exactly who changed what, feeding the blameless review.</a:t>
            </a:r>
          </a:p>
          <a:p>
            <a:r>
              <a:t>Domain 2: the durable fix is encoded in the template/config and re-applied, not hand-patched.</a:t>
            </a:r>
          </a:p>
          <a:p>
            <a:r>
              <a:t>Decision: No 2am heroics: the system detects, rolls back and records the event automatically. The follow-up hardens the canary threshold and adds a regression test.</a:t>
            </a:r>
          </a:p>
          <a:p/>
          <a:p>
            <a:r>
              <a:t>[Sources]</a:t>
            </a:r>
          </a:p>
          <a:p>
            <a:r>
              <a:t>- AWS Certified DevOps Engineer – Professional (DOP-C02) Exam Guide (docs.aws.amazon.com/pdfs/aws-certification/latest/devops-engineer-professional-02).</a:t>
            </a:r>
          </a:p>
          <a:p>
            <a:r>
              <a:t>- AWS Well-Architected Framework (docs.aws.amazon.com/wellarchitected).</a:t>
            </a:r>
          </a:p>
        </p:txBody>
      </p:sp>
      <p:sp>
        <p:nvSpPr>
          <p:cNvPr id="4" name="Slide Number Placeholder 3"/>
          <p:cNvSpPr>
            <a:spLocks noGrp="1"/>
          </p:cNvSpPr>
          <p:nvPr>
            <p:ph type="sldNum" idx="5" sz="quarter"/>
          </p:nvPr>
        </p:nvSpPr>
        <p:spPr/>
      </p:sp>
    </p:spTree>
  </p:cSld>
  <p:clrMapOvr>
    <a:masterClrMapping/>
  </p:clrMapOvr>
</p:notes>
</file>

<file path=ppt/notesSlides/notesSlide5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Business Requirement to Six-Domain Design.</a:t>
            </a:r>
          </a:p>
          <a:p>
            <a:r>
              <a:t>'Ship weekly without downtime' — Domain 1 CI/CD + blue/green; Domain 3 multi-AZ so releases don't drop traffic.</a:t>
            </a:r>
          </a:p>
          <a:p>
            <a:r>
              <a:t>'Recover an AZ loss in minutes' — Domain 3 Multi-AZ ASG + RDS failover; Domain 4 alarms to confirm health.</a:t>
            </a:r>
          </a:p>
          <a:p>
            <a:r>
              <a:t>'Know within a minute when it breaks' — Domain 4 golden-signal alarms; Domain 5 event-driven notify + remediate.</a:t>
            </a:r>
          </a:p>
          <a:p>
            <a:r>
              <a:t>'Prove we are compliant' — Domain 6 Config + CloudTrail; Domain 2 guardrails as code in every account.</a:t>
            </a:r>
          </a:p>
          <a:p>
            <a:r>
              <a:t>Takeaway: Real requirements cut across domains — a competent DevOps engineer composes controls from all six into one coherent design.</a:t>
            </a:r>
          </a:p>
          <a:p/>
          <a:p>
            <a:r>
              <a:t>[Sources]</a:t>
            </a:r>
          </a:p>
          <a:p>
            <a:r>
              <a:t>- AWS Certified DevOps Engineer – Professional (DOP-C02) Exam Guide (docs.aws.amazon.com/pdfs/aws-certification/latest/devops-engineer-professional-02).</a:t>
            </a:r>
          </a:p>
          <a:p>
            <a:r>
              <a:t>- AWS Well-Architected Framework (docs.aws.amazon.com/wellarchitected).</a:t>
            </a:r>
          </a:p>
        </p:txBody>
      </p:sp>
      <p:sp>
        <p:nvSpPr>
          <p:cNvPr id="4" name="Slide Number Placeholder 3"/>
          <p:cNvSpPr>
            <a:spLocks noGrp="1"/>
          </p:cNvSpPr>
          <p:nvPr>
            <p:ph type="sldNum" idx="5" sz="quarter"/>
          </p:nvPr>
        </p:nvSpPr>
        <p:spPr/>
      </p:sp>
    </p:spTree>
  </p:cSld>
  <p:clrMapOvr>
    <a:masterClrMapping/>
  </p:clrMapOvr>
</p:notes>
</file>

<file path=ppt/notesSlides/notesSlide5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Decision — Build It Yourself or Use a Managed Service?.</a:t>
            </a:r>
          </a:p>
          <a:p>
            <a:r>
              <a:t>Option A — Managed service: Default choice. Less undifferentiated heavy lifting (e.g. RDS vs self-run DB) — at higher unit cost and less control.</a:t>
            </a:r>
          </a:p>
          <a:p>
            <a:r>
              <a:t>Option B — Self-managed on EC2: Only when you need control the managed option can't give (custom kernel, licensing). More ops burden and patching you own.</a:t>
            </a:r>
          </a:p>
          <a:p>
            <a:r>
              <a:t>Option C — Serverless-first: For spiky, event-driven work. Pay-per-use and minimal ops — within the service's limits and cold-start profile.</a:t>
            </a:r>
          </a:p>
          <a:p/>
          <a:p>
            <a:r>
              <a:t>[Sources]</a:t>
            </a:r>
          </a:p>
          <a:p>
            <a:r>
              <a:t>- AWS Well-Architected Framework (docs.aws.amazon.com/wellarchitected).</a:t>
            </a:r>
          </a:p>
          <a:p>
            <a:r>
              <a:t>- AWS Certified DevOps Engineer – Professional (DOP-C02) Exam Guide (docs.aws.amazon.com/pdfs/aws-certification/latest/devops-engineer-professional-02).</a:t>
            </a:r>
          </a:p>
        </p:txBody>
      </p:sp>
      <p:sp>
        <p:nvSpPr>
          <p:cNvPr id="4" name="Slide Number Placeholder 3"/>
          <p:cNvSpPr>
            <a:spLocks noGrp="1"/>
          </p:cNvSpPr>
          <p:nvPr>
            <p:ph type="sldNum" idx="5" sz="quarter"/>
          </p:nvPr>
        </p:nvSpPr>
        <p:spPr/>
      </p:sp>
    </p:spTree>
  </p:cSld>
  <p:clrMapOvr>
    <a:masterClrMapping/>
  </p:clrMapOvr>
</p:notes>
</file>

<file path=ppt/notesSlides/notesSlide5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Digital attendance (TRAQOM / SSG). Mandatory AM, PM and Assessment attendance for WSQ-funded courses.</a:t>
            </a:r>
          </a:p>
          <a:p>
            <a:r>
              <a:t>The trainer displays the live QR from the SSG portal; the on-slide QR is an illustrative placeholder.</a:t>
            </a:r>
          </a:p>
          <a:p>
            <a:r>
              <a:t>A minimum of 75% attendance is required for assessment and funding.</a:t>
            </a:r>
          </a:p>
          <a:p/>
          <a:p>
            <a:r>
              <a:t>[Sources]</a:t>
            </a:r>
          </a:p>
          <a:p>
            <a:r>
              <a:t>- Legacy course deck: WSQ Master Trainer Slides — DevOps Engineering on AWS (v7).</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1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notesSlide" Target="../notesSlides/notesSlide3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20.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21.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2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23.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24.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notesSlide" Target="../notesSlides/notesSlide143.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220.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221.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222.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223.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224.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6.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8.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9.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 Id="rId3" Type="http://schemas.openxmlformats.org/officeDocument/2006/relationships/notesSlide" Target="../notesSlides/notesSlide22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0.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2.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3.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4.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5.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8.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9.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0.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1.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 Id="rId3" Type="http://schemas.openxmlformats.org/officeDocument/2006/relationships/notesSlide" Target="../notesSlides/notesSlide243.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 Id="rId3" Type="http://schemas.openxmlformats.org/officeDocument/2006/relationships/notesSlide" Target="../notesSlides/notesSlide244.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1.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4.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5.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6.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8.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9.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0.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1.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2.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3.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4.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5.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6.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7.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8.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9.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0.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1.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2.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3.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4.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5.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6.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7.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8.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9.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0.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1.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2.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3.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4.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5.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6.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7.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8.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9.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0.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1.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2.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3.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4.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5.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6.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7.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8.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9.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0.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1.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2.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3.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4.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5.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6.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7.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8.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9.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0.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1.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2.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3.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4.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5.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6.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7.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8.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9.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0.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1.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2.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3.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4.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5.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326.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327.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328.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329.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330.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1.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332.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3.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5.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6.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 Id="rId3" Type="http://schemas.openxmlformats.org/officeDocument/2006/relationships/notesSlide" Target="../notesSlides/notesSlide334.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7.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8.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9.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0.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1.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2.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3.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4.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5.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6.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7.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8.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 Id="rId3" Type="http://schemas.openxmlformats.org/officeDocument/2006/relationships/notesSlide" Target="../notesSlides/notesSlide349.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0.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1.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2.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3.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4.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5.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6.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7.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8.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9.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0.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1.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2.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3.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4.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5.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6.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7.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8.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9.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0.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1.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2.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3.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4.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5.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6.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7.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8.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9.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0.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1.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2.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3.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4.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5.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6.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7.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8.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9.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0.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1.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2.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3.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4.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5.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6.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7.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8.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9.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0.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1.xm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2.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3.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4.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5.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6.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7.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8.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9.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0.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1.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2.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3.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4.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415.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416.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417.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8.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9.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1.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2.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1.xml"/><Relationship Id="rId3" Type="http://schemas.openxmlformats.org/officeDocument/2006/relationships/notesSlide" Target="../notesSlides/notesSlide420.xml"/></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3.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4.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5.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6.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7.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8.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9.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0.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1.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2.xml"/></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3.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4.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2.xml"/><Relationship Id="rId3" Type="http://schemas.openxmlformats.org/officeDocument/2006/relationships/notesSlide" Target="../notesSlides/notesSlide435.xml"/></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6.xm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7.xm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8.xml"/></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9.xm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0.xml"/></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1.xml"/></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2.xm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3.xml"/></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4.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5.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6.xml"/></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7.xm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8.xml"/></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9.xml"/></Relationships>
</file>

<file path=ppt/slides/_rels/slide4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0.xml"/></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1.xm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2.xml"/></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3.xml"/></Relationships>
</file>

<file path=ppt/slides/_rels/slide4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4.xml"/></Relationships>
</file>

<file path=ppt/slides/_rels/slide4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5.xml"/></Relationships>
</file>

<file path=ppt/slides/_rels/slide4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6.xml"/></Relationships>
</file>

<file path=ppt/slides/_rels/slide4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7.xml"/></Relationships>
</file>

<file path=ppt/slides/_rels/slide4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8.xml"/></Relationships>
</file>

<file path=ppt/slides/_rels/slide4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9.xml"/></Relationships>
</file>

<file path=ppt/slides/_rels/slide4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0.xml"/></Relationships>
</file>

<file path=ppt/slides/_rels/slide4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1.xml"/></Relationships>
</file>

<file path=ppt/slides/_rels/slide4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2.xml"/></Relationships>
</file>

<file path=ppt/slides/_rels/slide4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3.xml"/></Relationships>
</file>

<file path=ppt/slides/_rels/slide4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4.xml"/></Relationships>
</file>

<file path=ppt/slides/_rels/slide4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5.xml"/></Relationships>
</file>

<file path=ppt/slides/_rels/slide4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6.xml"/></Relationships>
</file>

<file path=ppt/slides/_rels/slide4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7.xml"/></Relationships>
</file>

<file path=ppt/slides/_rels/slide4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8.xml"/></Relationships>
</file>

<file path=ppt/slides/_rels/slide4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9.xml"/></Relationships>
</file>

<file path=ppt/slides/_rels/slide4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0.xml"/></Relationships>
</file>

<file path=ppt/slides/_rels/slide4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1.xml"/></Relationships>
</file>

<file path=ppt/slides/_rels/slide4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2.xml"/></Relationships>
</file>

<file path=ppt/slides/_rels/slide5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3.xml"/></Relationships>
</file>

<file path=ppt/slides/_rels/slide5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4.xml"/></Relationships>
</file>

<file path=ppt/slides/_rels/slide5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5.xml"/></Relationships>
</file>

<file path=ppt/slides/_rels/slide5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6.xml"/></Relationships>
</file>

<file path=ppt/slides/_rels/slide5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7.xml"/></Relationships>
</file>

<file path=ppt/slides/_rels/slide5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8.xml"/></Relationships>
</file>

<file path=ppt/slides/_rels/slide5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9.xml"/></Relationships>
</file>

<file path=ppt/slides/_rels/slide5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0.xml"/></Relationships>
</file>

<file path=ppt/slides/_rels/slide5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1.xml"/></Relationships>
</file>

<file path=ppt/slides/_rels/slide5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2.xml"/></Relationships>
</file>

<file path=ppt/slides/_rels/slide5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3.xml"/></Relationships>
</file>

<file path=ppt/slides/_rels/slide5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4.xml"/></Relationships>
</file>

<file path=ppt/slides/_rels/slide5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5.xml"/></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6.xml"/></Relationships>
</file>

<file path=ppt/slides/_rels/slide5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7.xml"/></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8.xml"/></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9.xml"/></Relationships>
</file>

<file path=ppt/slides/_rels/slide5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0.xm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1.xml"/></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2.xml"/></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3.xml"/></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4.xml"/></Relationships>
</file>

<file path=ppt/slides/_rels/slide5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5.xml"/></Relationships>
</file>

<file path=ppt/slides/_rels/slide5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496.xml"/></Relationships>
</file>

<file path=ppt/slides/_rels/slide5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497.xml"/></Relationships>
</file>

<file path=ppt/slides/_rels/slide5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8.xml"/></Relationships>
</file>

<file path=ppt/slides/_rels/slide5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499.xml"/></Relationships>
</file>

<file path=ppt/slides/_rels/slide5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0.xml"/></Relationships>
</file>

<file path=ppt/slides/_rels/slide5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1.xml"/></Relationships>
</file>

<file path=ppt/slides/_rels/slide5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2.xml"/></Relationships>
</file>

<file path=ppt/slides/_rels/slide5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3.xml"/></Relationships>
</file>

<file path=ppt/slides/_rels/slide5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4.xml"/></Relationships>
</file>

<file path=ppt/slides/_rels/slide5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5.xml"/></Relationships>
</file>

<file path=ppt/slides/_rels/slide5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6.xml"/></Relationships>
</file>

<file path=ppt/slides/_rels/slide5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7.xml"/></Relationships>
</file>

<file path=ppt/slides/_rels/slide5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8.xml"/></Relationships>
</file>

<file path=ppt/slides/_rels/slide5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9.xml"/></Relationships>
</file>

<file path=ppt/slides/_rels/slide5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0.xml"/></Relationships>
</file>

<file path=ppt/slides/_rels/slide5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1.xml"/></Relationships>
</file>

<file path=ppt/slides/_rels/slide5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2.xml"/></Relationships>
</file>

<file path=ppt/slides/_rels/slide5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3.xml"/></Relationships>
</file>

<file path=ppt/slides/_rels/slide5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4.xml"/></Relationships>
</file>

<file path=ppt/slides/_rels/slide5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5.xml"/></Relationships>
</file>

<file path=ppt/slides/_rels/slide5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3.xml"/><Relationship Id="rId3" Type="http://schemas.openxmlformats.org/officeDocument/2006/relationships/notesSlide" Target="../notesSlides/notesSlide516.xml"/></Relationships>
</file>

<file path=ppt/slides/_rels/slide5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7.xml"/></Relationships>
</file>

<file path=ppt/slides/_rels/slide5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8.xml"/></Relationships>
</file>

<file path=ppt/slides/_rels/slide5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9.xml"/></Relationships>
</file>

<file path=ppt/slides/_rels/slide5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0.xml"/></Relationships>
</file>

<file path=ppt/slides/_rels/slide5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1.xml"/></Relationships>
</file>

<file path=ppt/slides/_rels/slide5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2.xml"/></Relationships>
</file>

<file path=ppt/slides/_rels/slide5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3.xml"/></Relationships>
</file>

<file path=ppt/slides/_rels/slide5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4.xml"/></Relationships>
</file>

<file path=ppt/slides/_rels/slide5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5.xml"/></Relationships>
</file>

<file path=ppt/slides/_rels/slide5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6.xml"/></Relationships>
</file>

<file path=ppt/slides/_rels/slide5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7.xml"/></Relationships>
</file>

<file path=ppt/slides/_rels/slide5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8.xml"/></Relationships>
</file>

<file path=ppt/slides/_rels/slide5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9.xml"/></Relationships>
</file>

<file path=ppt/slides/_rels/slide5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0.xml"/></Relationships>
</file>

<file path=ppt/slides/_rels/slide5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1.xml"/></Relationships>
</file>

<file path=ppt/slides/_rels/slide5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2.xml"/></Relationships>
</file>

<file path=ppt/slides/_rels/slide5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3.xml"/></Relationships>
</file>

<file path=ppt/slides/_rels/slide5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4.xml"/></Relationships>
</file>

<file path=ppt/slides/_rels/slide5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5.xml"/></Relationships>
</file>

<file path=ppt/slides/_rels/slide5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6.xml"/></Relationships>
</file>

<file path=ppt/slides/_rels/slide5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7.xml"/></Relationships>
</file>

<file path=ppt/slides/_rels/slide5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8.xml"/></Relationships>
</file>

<file path=ppt/slides/_rels/slide5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9.xml"/></Relationships>
</file>

<file path=ppt/slides/_rels/slide5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0.xml"/></Relationships>
</file>

<file path=ppt/slides/_rels/slide5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1.xml"/></Relationships>
</file>

<file path=ppt/slides/_rels/slide5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2.xml"/></Relationships>
</file>

<file path=ppt/slides/_rels/slide5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3.xml"/></Relationships>
</file>

<file path=ppt/slides/_rels/slide5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4.xml"/></Relationships>
</file>

<file path=ppt/slides/_rels/slide5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5.xml"/></Relationships>
</file>

<file path=ppt/slides/_rels/slide5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6.xml"/></Relationships>
</file>

<file path=ppt/slides/_rels/slide5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7.xml"/></Relationships>
</file>

<file path=ppt/slides/_rels/slide5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8.xml"/></Relationships>
</file>

<file path=ppt/slides/_rels/slide5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9.xml"/></Relationships>
</file>

<file path=ppt/slides/_rels/slide5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0.xml"/></Relationships>
</file>

<file path=ppt/slides/_rels/slide5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1.xml"/></Relationships>
</file>

<file path=ppt/slides/_rels/slide5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2.xml"/></Relationships>
</file>

<file path=ppt/slides/_rels/slide5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3.xml"/></Relationships>
</file>

<file path=ppt/slides/_rels/slide5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4.xml"/></Relationships>
</file>

<file path=ppt/slides/_rels/slide5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5.xml"/></Relationships>
</file>

<file path=ppt/slides/_rels/slide5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6.xml"/></Relationships>
</file>

<file path=ppt/slides/_rels/slide5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7.xml"/></Relationships>
</file>

<file path=ppt/slides/_rels/slide5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8.xml"/></Relationships>
</file>

<file path=ppt/slides/_rels/slide5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9.xml"/></Relationships>
</file>

<file path=ppt/slides/_rels/slide5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0.xml"/></Relationships>
</file>

<file path=ppt/slides/_rels/slide5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1.xml"/></Relationships>
</file>

<file path=ppt/slides/_rels/slide5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2.xml"/></Relationships>
</file>

<file path=ppt/slides/_rels/slide5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3.xml"/></Relationships>
</file>

<file path=ppt/slides/_rels/slide5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4.xml"/></Relationships>
</file>

<file path=ppt/slides/_rels/slide5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5.xml"/></Relationships>
</file>

<file path=ppt/slides/_rels/slide5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6.xml"/></Relationships>
</file>

<file path=ppt/slides/_rels/slide5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7.xml"/></Relationships>
</file>

<file path=ppt/slides/_rels/slide5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8.xml"/></Relationships>
</file>

<file path=ppt/slides/_rels/slide5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9.xml"/></Relationships>
</file>

<file path=ppt/slides/_rels/slide5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0.xml"/></Relationships>
</file>

<file path=ppt/slides/_rels/slide5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1.xml"/></Relationships>
</file>

<file path=ppt/slides/_rels/slide6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2.xml"/></Relationships>
</file>

<file path=ppt/slides/_rels/slide6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3.xml"/></Relationships>
</file>

<file path=ppt/slides/_rels/slide6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4.xml"/></Relationships>
</file>

<file path=ppt/slides/_rels/slide6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5.xml"/></Relationships>
</file>

<file path=ppt/slides/_rels/slide6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6.xml"/></Relationships>
</file>

<file path=ppt/slides/_rels/slide6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7.xml"/></Relationships>
</file>

<file path=ppt/slides/_rels/slide6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8.xml"/></Relationships>
</file>

<file path=ppt/slides/_rels/slide6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9.xml"/></Relationships>
</file>

<file path=ppt/slides/_rels/slide6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0.xml"/></Relationships>
</file>

<file path=ppt/slides/_rels/slide6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1.xml"/></Relationships>
</file>

<file path=ppt/slides/_rels/slide6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2.xml"/></Relationships>
</file>

<file path=ppt/slides/_rels/slide6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583.xml"/></Relationships>
</file>

<file path=ppt/slides/_rels/slide6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584.xml"/></Relationships>
</file>

<file path=ppt/slides/_rels/slide6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585.xml"/></Relationships>
</file>

<file path=ppt/slides/_rels/slide6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586.xml"/></Relationships>
</file>

<file path=ppt/slides/_rels/slide6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587.xml"/></Relationships>
</file>

<file path=ppt/slides/_rels/slide6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8.xml"/></Relationships>
</file>

<file path=ppt/slides/_rels/slide6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9.xml"/></Relationships>
</file>

<file path=ppt/slides/_rels/slide6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0.xml"/></Relationships>
</file>

<file path=ppt/slides/_rels/slide6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1.xml"/></Relationships>
</file>

<file path=ppt/slides/_rels/slide6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2.xml"/></Relationships>
</file>

<file path=ppt/slides/_rels/slide6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3.xml"/></Relationships>
</file>

<file path=ppt/slides/_rels/slide6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4.xml"/></Relationships>
</file>

<file path=ppt/slides/_rels/slide6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0" y="0"/>
            <a:ext cx="5330952" cy="6858000"/>
          </a:xfrm>
          <a:prstGeom prst="rect">
            <a:avLst/>
          </a:prstGeom>
          <a:solidFill>
            <a:srgbClr val="0B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vops-aws-cover-hero.png"/>
          <p:cNvPicPr>
            <a:picLocks noChangeAspect="1"/>
          </p:cNvPicPr>
          <p:nvPr/>
        </p:nvPicPr>
        <p:blipFill>
          <a:blip r:embed="rId2"/>
          <a:stretch>
            <a:fillRect/>
          </a:stretch>
        </p:blipFill>
        <p:spPr>
          <a:xfrm>
            <a:off x="6858000" y="1600200"/>
            <a:ext cx="5330952" cy="3000255"/>
          </a:xfrm>
          <a:prstGeom prst="rect">
            <a:avLst/>
          </a:prstGeom>
        </p:spPr>
      </p:pic>
      <p:sp>
        <p:nvSpPr>
          <p:cNvPr id="5" name="Rectangle 4"/>
          <p:cNvSpPr/>
          <p:nvPr/>
        </p:nvSpPr>
        <p:spPr>
          <a:xfrm>
            <a:off x="0" y="0"/>
            <a:ext cx="694944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tertiary-infotech-logo.png"/>
          <p:cNvPicPr>
            <a:picLocks noChangeAspect="1"/>
          </p:cNvPicPr>
          <p:nvPr/>
        </p:nvPicPr>
        <p:blipFill>
          <a:blip r:embed="rId3"/>
          <a:stretch>
            <a:fillRect/>
          </a:stretch>
        </p:blipFill>
        <p:spPr>
          <a:xfrm>
            <a:off x="777240" y="640080"/>
            <a:ext cx="914400" cy="914400"/>
          </a:xfrm>
          <a:prstGeom prst="rect">
            <a:avLst/>
          </a:prstGeom>
        </p:spPr>
      </p:pic>
      <p:sp>
        <p:nvSpPr>
          <p:cNvPr id="9" name="Rounded Rectangle 8"/>
          <p:cNvSpPr/>
          <p:nvPr/>
        </p:nvSpPr>
        <p:spPr>
          <a:xfrm>
            <a:off x="10104120" y="457200"/>
            <a:ext cx="1691640" cy="1024128"/>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104120" y="457200"/>
            <a:ext cx="169164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104120" y="658368"/>
            <a:ext cx="1691640" cy="411480"/>
          </a:xfrm>
          <a:prstGeom prst="rect">
            <a:avLst/>
          </a:prstGeom>
          <a:noFill/>
        </p:spPr>
        <p:txBody>
          <a:bodyPr wrap="square" anchor="t">
            <a:spAutoFit/>
          </a:bodyPr>
          <a:lstStyle/>
          <a:p>
            <a:pPr algn="ctr">
              <a:spcAft>
                <a:spcPts val="400"/>
              </a:spcAft>
            </a:pPr>
            <a:r>
              <a:rPr sz="1900" b="1">
                <a:solidFill>
                  <a:srgbClr val="FFFFFF"/>
                </a:solidFill>
                <a:latin typeface="Arial"/>
              </a:rPr>
              <a:t>DOP-C02</a:t>
            </a:r>
          </a:p>
        </p:txBody>
      </p:sp>
      <p:sp>
        <p:nvSpPr>
          <p:cNvPr id="12" name="Rectangle 11"/>
          <p:cNvSpPr/>
          <p:nvPr/>
        </p:nvSpPr>
        <p:spPr>
          <a:xfrm>
            <a:off x="10565892" y="1078992"/>
            <a:ext cx="768096" cy="952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104120" y="1133856"/>
            <a:ext cx="1691640" cy="292608"/>
          </a:xfrm>
          <a:prstGeom prst="rect">
            <a:avLst/>
          </a:prstGeom>
          <a:noFill/>
        </p:spPr>
        <p:txBody>
          <a:bodyPr wrap="square" anchor="t">
            <a:spAutoFit/>
          </a:bodyPr>
          <a:lstStyle/>
          <a:p>
            <a:pPr algn="ctr">
              <a:spcAft>
                <a:spcPts val="400"/>
              </a:spcAft>
            </a:pPr>
            <a:r>
              <a:rPr sz="950" b="1">
                <a:solidFill>
                  <a:srgbClr val="FFFFFF"/>
                </a:solidFill>
                <a:latin typeface="Arial"/>
              </a:rPr>
              <a:t>DEVOPS ENGINEER</a:t>
            </a:r>
          </a:p>
        </p:txBody>
      </p:sp>
      <p:sp>
        <p:nvSpPr>
          <p:cNvPr id="14" name="TextBox 13"/>
          <p:cNvSpPr txBox="1"/>
          <p:nvPr/>
        </p:nvSpPr>
        <p:spPr>
          <a:xfrm>
            <a:off x="822960" y="1965960"/>
            <a:ext cx="5852160" cy="548640"/>
          </a:xfrm>
          <a:prstGeom prst="rect">
            <a:avLst/>
          </a:prstGeom>
          <a:noFill/>
        </p:spPr>
        <p:txBody>
          <a:bodyPr wrap="square" anchor="t">
            <a:spAutoFit/>
          </a:bodyPr>
          <a:lstStyle/>
          <a:p>
            <a:pPr algn="l">
              <a:spcAft>
                <a:spcPts val="400"/>
              </a:spcAft>
            </a:pPr>
            <a:r>
              <a:rPr sz="1500" b="1">
                <a:solidFill>
                  <a:srgbClr val="1F6FEB"/>
                </a:solidFill>
                <a:latin typeface="Arial"/>
              </a:rPr>
              <a:t>COURSE SLIDES  ·  WSQ</a:t>
            </a:r>
          </a:p>
        </p:txBody>
      </p:sp>
      <p:sp>
        <p:nvSpPr>
          <p:cNvPr id="15" name="TextBox 14"/>
          <p:cNvSpPr txBox="1"/>
          <p:nvPr/>
        </p:nvSpPr>
        <p:spPr>
          <a:xfrm>
            <a:off x="822960" y="2423160"/>
            <a:ext cx="5943600" cy="1828800"/>
          </a:xfrm>
          <a:prstGeom prst="rect">
            <a:avLst/>
          </a:prstGeom>
          <a:noFill/>
        </p:spPr>
        <p:txBody>
          <a:bodyPr wrap="square" anchor="t">
            <a:spAutoFit/>
          </a:bodyPr>
          <a:lstStyle/>
          <a:p>
            <a:pPr algn="l">
              <a:spcAft>
                <a:spcPts val="400"/>
              </a:spcAft>
            </a:pPr>
            <a:r>
              <a:rPr sz="4000" b="1">
                <a:solidFill>
                  <a:srgbClr val="161B26"/>
                </a:solidFill>
                <a:latin typeface="Arial"/>
              </a:rPr>
              <a:t>DevOps Engineering on AWS</a:t>
            </a:r>
          </a:p>
        </p:txBody>
      </p:sp>
      <p:sp>
        <p:nvSpPr>
          <p:cNvPr id="16" name="Rectangle 15"/>
          <p:cNvSpPr/>
          <p:nvPr/>
        </p:nvSpPr>
        <p:spPr>
          <a:xfrm>
            <a:off x="841248" y="3977639"/>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4206240"/>
            <a:ext cx="5852160" cy="1097280"/>
          </a:xfrm>
          <a:prstGeom prst="rect">
            <a:avLst/>
          </a:prstGeom>
          <a:noFill/>
        </p:spPr>
        <p:txBody>
          <a:bodyPr wrap="square" anchor="t">
            <a:spAutoFit/>
          </a:bodyPr>
          <a:lstStyle/>
          <a:p>
            <a:pPr algn="l">
              <a:spcAft>
                <a:spcPts val="500"/>
              </a:spcAft>
            </a:pPr>
            <a:r>
              <a:rPr sz="1500" b="0">
                <a:solidFill>
                  <a:srgbClr val="5B6372"/>
                </a:solidFill>
                <a:latin typeface="Arial"/>
              </a:rPr>
              <a:t>WSQ Course Code: TGS-2023040474</a:t>
            </a:r>
          </a:p>
          <a:p>
            <a:pPr algn="l">
              <a:spcAft>
                <a:spcPts val="500"/>
              </a:spcAft>
            </a:pPr>
            <a:r>
              <a:rPr sz="1300" b="0">
                <a:solidFill>
                  <a:srgbClr val="5B6372"/>
                </a:solidFill>
                <a:latin typeface="Arial"/>
              </a:rPr>
              <a:t>Conducted by Tertiary Infotech Academy Pte Ltd</a:t>
            </a:r>
          </a:p>
          <a:p>
            <a:pPr algn="l">
              <a:spcAft>
                <a:spcPts val="500"/>
              </a:spcAft>
            </a:pPr>
            <a:r>
              <a:rPr sz="1300" b="0">
                <a:solidFill>
                  <a:srgbClr val="5B6372"/>
                </a:solidFill>
                <a:latin typeface="Arial"/>
              </a:rPr>
              <a:t>UEN: 201200696W</a:t>
            </a:r>
          </a:p>
        </p:txBody>
      </p:sp>
      <p:sp>
        <p:nvSpPr>
          <p:cNvPr id="18" name="TextBox 17"/>
          <p:cNvSpPr txBox="1"/>
          <p:nvPr/>
        </p:nvSpPr>
        <p:spPr>
          <a:xfrm>
            <a:off x="822960" y="5806440"/>
            <a:ext cx="5852160" cy="365760"/>
          </a:xfrm>
          <a:prstGeom prst="rect">
            <a:avLst/>
          </a:prstGeom>
          <a:noFill/>
        </p:spPr>
        <p:txBody>
          <a:bodyPr wrap="square" anchor="t">
            <a:spAutoFit/>
          </a:bodyPr>
          <a:lstStyle/>
          <a:p>
            <a:pPr algn="l">
              <a:spcAft>
                <a:spcPts val="400"/>
              </a:spcAft>
            </a:pPr>
            <a:r>
              <a:rPr sz="1200" b="1">
                <a:solidFill>
                  <a:srgbClr val="5B6372"/>
                </a:solidFill>
                <a:latin typeface="Arial"/>
              </a:rPr>
              <a:t>Version v14  ·  23 August 2026</a:t>
            </a:r>
          </a:p>
        </p:txBody>
      </p:sp>
      <p:sp>
        <p:nvSpPr>
          <p:cNvPr id="19" name="TextBox 18"/>
          <p:cNvSpPr txBox="1"/>
          <p:nvPr/>
        </p:nvSpPr>
        <p:spPr>
          <a:xfrm>
            <a:off x="822960" y="6144768"/>
            <a:ext cx="5943600" cy="310896"/>
          </a:xfrm>
          <a:prstGeom prst="rect">
            <a:avLst/>
          </a:prstGeom>
          <a:noFill/>
        </p:spPr>
        <p:txBody>
          <a:bodyPr wrap="square" anchor="t">
            <a:spAutoFit/>
          </a:bodyPr>
          <a:lstStyle/>
          <a:p>
            <a:pPr algn="l">
              <a:spcAft>
                <a:spcPts val="400"/>
              </a:spcAft>
            </a:pPr>
            <a:r>
              <a:rPr sz="900" b="0">
                <a:solidFill>
                  <a:srgbClr val="5B6372"/>
                </a:solidFill>
                <a:latin typeface="Arial"/>
              </a:rPr>
              <a:t>© 2026 Tertiary Infotech Academy Pte Ltd. All rights reserved.  ·  www.tertiarycourses.com.sg</a:t>
            </a:r>
          </a:p>
        </p:txBody>
      </p:sp>
    </p:spTree>
  </p:cSld>
  <p:clrMapOvr>
    <a:masterClrMapping/>
  </p:clrMapOvr>
  <p:transition xmlns:p14="http://schemas.microsoft.com/office/powerpoint/2010/main" p14:dur="380">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COURSE ADMINISTRATION</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Welcome &amp; Housekeeping</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a:t>
            </a:r>
          </a:p>
        </p:txBody>
      </p:sp>
    </p:spTree>
  </p:cSld>
  <p:clrMapOvr>
    <a:masterClrMapping/>
  </p:clrMapOvr>
  <p:transition xmlns:p14="http://schemas.microsoft.com/office/powerpoint/2010/main" p14:dur="380">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TRAQOM · SSG DIGITAL ATTENDANCE</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6720840" cy="365760"/>
          </a:xfrm>
          <a:prstGeom prst="rect">
            <a:avLst/>
          </a:prstGeom>
          <a:noFill/>
        </p:spPr>
        <p:txBody>
          <a:bodyPr wrap="square" anchor="t">
            <a:spAutoFit/>
          </a:bodyPr>
          <a:lstStyle/>
          <a:p>
            <a:pPr algn="l">
              <a:spcAft>
                <a:spcPts val="400"/>
              </a:spcAft>
            </a:pPr>
            <a:r>
              <a:rPr sz="1350" b="1">
                <a:solidFill>
                  <a:srgbClr val="161B26"/>
                </a:solidFill>
                <a:latin typeface="Arial"/>
              </a:rPr>
              <a:t>Take the SSG digital attendance at three points on every funded day:</a:t>
            </a:r>
          </a:p>
        </p:txBody>
      </p:sp>
      <p:sp>
        <p:nvSpPr>
          <p:cNvPr id="8" name="Rectangle 7"/>
          <p:cNvSpPr/>
          <p:nvPr/>
        </p:nvSpPr>
        <p:spPr>
          <a:xfrm>
            <a:off x="777240" y="2194560"/>
            <a:ext cx="2057400" cy="1143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194560"/>
            <a:ext cx="205740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395728"/>
            <a:ext cx="2057400" cy="457200"/>
          </a:xfrm>
          <a:prstGeom prst="rect">
            <a:avLst/>
          </a:prstGeom>
          <a:noFill/>
        </p:spPr>
        <p:txBody>
          <a:bodyPr wrap="square" anchor="t">
            <a:spAutoFit/>
          </a:bodyPr>
          <a:lstStyle/>
          <a:p>
            <a:pPr algn="ctr">
              <a:spcAft>
                <a:spcPts val="400"/>
              </a:spcAft>
            </a:pPr>
            <a:r>
              <a:rPr sz="1800" b="1">
                <a:solidFill>
                  <a:srgbClr val="1F6FEB"/>
                </a:solidFill>
                <a:latin typeface="Arial"/>
              </a:rPr>
              <a:t>AM</a:t>
            </a:r>
          </a:p>
        </p:txBody>
      </p:sp>
      <p:sp>
        <p:nvSpPr>
          <p:cNvPr id="11" name="TextBox 10"/>
          <p:cNvSpPr txBox="1"/>
          <p:nvPr/>
        </p:nvSpPr>
        <p:spPr>
          <a:xfrm>
            <a:off x="905256" y="2852928"/>
            <a:ext cx="1801368" cy="457200"/>
          </a:xfrm>
          <a:prstGeom prst="rect">
            <a:avLst/>
          </a:prstGeom>
          <a:noFill/>
        </p:spPr>
        <p:txBody>
          <a:bodyPr wrap="square" anchor="t">
            <a:spAutoFit/>
          </a:bodyPr>
          <a:lstStyle/>
          <a:p>
            <a:pPr algn="ctr">
              <a:spcAft>
                <a:spcPts val="400"/>
              </a:spcAft>
            </a:pPr>
            <a:r>
              <a:rPr sz="1050" b="0">
                <a:solidFill>
                  <a:srgbClr val="5B6372"/>
                </a:solidFill>
                <a:latin typeface="Arial"/>
              </a:rPr>
              <a:t>Start of the morning session</a:t>
            </a:r>
          </a:p>
        </p:txBody>
      </p:sp>
      <p:sp>
        <p:nvSpPr>
          <p:cNvPr id="12" name="Rectangle 11"/>
          <p:cNvSpPr/>
          <p:nvPr/>
        </p:nvSpPr>
        <p:spPr>
          <a:xfrm>
            <a:off x="3108960" y="2194560"/>
            <a:ext cx="2057400" cy="1143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108960" y="2194560"/>
            <a:ext cx="205740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108960" y="2395728"/>
            <a:ext cx="2057400" cy="457200"/>
          </a:xfrm>
          <a:prstGeom prst="rect">
            <a:avLst/>
          </a:prstGeom>
          <a:noFill/>
        </p:spPr>
        <p:txBody>
          <a:bodyPr wrap="square" anchor="t">
            <a:spAutoFit/>
          </a:bodyPr>
          <a:lstStyle/>
          <a:p>
            <a:pPr algn="ctr">
              <a:spcAft>
                <a:spcPts val="400"/>
              </a:spcAft>
            </a:pPr>
            <a:r>
              <a:rPr sz="1800" b="1">
                <a:solidFill>
                  <a:srgbClr val="10B981"/>
                </a:solidFill>
                <a:latin typeface="Arial"/>
              </a:rPr>
              <a:t>PM</a:t>
            </a:r>
          </a:p>
        </p:txBody>
      </p:sp>
      <p:sp>
        <p:nvSpPr>
          <p:cNvPr id="15" name="TextBox 14"/>
          <p:cNvSpPr txBox="1"/>
          <p:nvPr/>
        </p:nvSpPr>
        <p:spPr>
          <a:xfrm>
            <a:off x="3236976" y="2852928"/>
            <a:ext cx="1801368" cy="457200"/>
          </a:xfrm>
          <a:prstGeom prst="rect">
            <a:avLst/>
          </a:prstGeom>
          <a:noFill/>
        </p:spPr>
        <p:txBody>
          <a:bodyPr wrap="square" anchor="t">
            <a:spAutoFit/>
          </a:bodyPr>
          <a:lstStyle/>
          <a:p>
            <a:pPr algn="ctr">
              <a:spcAft>
                <a:spcPts val="400"/>
              </a:spcAft>
            </a:pPr>
            <a:r>
              <a:rPr sz="1050" b="0">
                <a:solidFill>
                  <a:srgbClr val="5B6372"/>
                </a:solidFill>
                <a:latin typeface="Arial"/>
              </a:rPr>
              <a:t>Start of the afternoon session</a:t>
            </a:r>
          </a:p>
        </p:txBody>
      </p:sp>
      <p:sp>
        <p:nvSpPr>
          <p:cNvPr id="16" name="Rectangle 15"/>
          <p:cNvSpPr/>
          <p:nvPr/>
        </p:nvSpPr>
        <p:spPr>
          <a:xfrm>
            <a:off x="5440680" y="2194560"/>
            <a:ext cx="2057400" cy="1143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40680" y="2194560"/>
            <a:ext cx="205740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40680" y="2395728"/>
            <a:ext cx="2057400" cy="457200"/>
          </a:xfrm>
          <a:prstGeom prst="rect">
            <a:avLst/>
          </a:prstGeom>
          <a:noFill/>
        </p:spPr>
        <p:txBody>
          <a:bodyPr wrap="square" anchor="t">
            <a:spAutoFit/>
          </a:bodyPr>
          <a:lstStyle/>
          <a:p>
            <a:pPr algn="ctr">
              <a:spcAft>
                <a:spcPts val="400"/>
              </a:spcAft>
            </a:pPr>
            <a:r>
              <a:rPr sz="1800" b="1">
                <a:solidFill>
                  <a:srgbClr val="7C3AED"/>
                </a:solidFill>
                <a:latin typeface="Arial"/>
              </a:rPr>
              <a:t>ASSESSMENT</a:t>
            </a:r>
          </a:p>
        </p:txBody>
      </p:sp>
      <p:sp>
        <p:nvSpPr>
          <p:cNvPr id="19" name="TextBox 18"/>
          <p:cNvSpPr txBox="1"/>
          <p:nvPr/>
        </p:nvSpPr>
        <p:spPr>
          <a:xfrm>
            <a:off x="5568696" y="2852928"/>
            <a:ext cx="1801368" cy="457200"/>
          </a:xfrm>
          <a:prstGeom prst="rect">
            <a:avLst/>
          </a:prstGeom>
          <a:noFill/>
        </p:spPr>
        <p:txBody>
          <a:bodyPr wrap="square" anchor="t">
            <a:spAutoFit/>
          </a:bodyPr>
          <a:lstStyle/>
          <a:p>
            <a:pPr algn="ctr">
              <a:spcAft>
                <a:spcPts val="400"/>
              </a:spcAft>
            </a:pPr>
            <a:r>
              <a:rPr sz="1050" b="0">
                <a:solidFill>
                  <a:srgbClr val="5B6372"/>
                </a:solidFill>
                <a:latin typeface="Arial"/>
              </a:rPr>
              <a:t>Before the Day 5 assessment</a:t>
            </a:r>
          </a:p>
        </p:txBody>
      </p:sp>
      <p:sp>
        <p:nvSpPr>
          <p:cNvPr id="20" name="Rectangle 19"/>
          <p:cNvSpPr/>
          <p:nvPr/>
        </p:nvSpPr>
        <p:spPr>
          <a:xfrm>
            <a:off x="777240" y="3566160"/>
            <a:ext cx="6720840" cy="5486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41832" y="3639312"/>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41832" y="3639312"/>
            <a:ext cx="402336" cy="402336"/>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23" name="TextBox 22"/>
          <p:cNvSpPr txBox="1"/>
          <p:nvPr/>
        </p:nvSpPr>
        <p:spPr>
          <a:xfrm>
            <a:off x="1600200" y="3566160"/>
            <a:ext cx="5715000" cy="548640"/>
          </a:xfrm>
          <a:prstGeom prst="rect">
            <a:avLst/>
          </a:prstGeom>
          <a:noFill/>
        </p:spPr>
        <p:txBody>
          <a:bodyPr wrap="square" anchor="ctr">
            <a:spAutoFit/>
          </a:bodyPr>
          <a:lstStyle/>
          <a:p>
            <a:pPr algn="l">
              <a:spcAft>
                <a:spcPts val="400"/>
              </a:spcAft>
            </a:pPr>
            <a:r>
              <a:rPr sz="1200" b="0">
                <a:solidFill>
                  <a:srgbClr val="161B26"/>
                </a:solidFill>
                <a:latin typeface="Arial"/>
              </a:rPr>
              <a:t>The trainer/administrator displays the SSG digital-attendance QR code from the portal.</a:t>
            </a:r>
          </a:p>
        </p:txBody>
      </p:sp>
      <p:sp>
        <p:nvSpPr>
          <p:cNvPr id="24" name="Rectangle 23"/>
          <p:cNvSpPr/>
          <p:nvPr/>
        </p:nvSpPr>
        <p:spPr>
          <a:xfrm>
            <a:off x="777240" y="4224528"/>
            <a:ext cx="6720840" cy="5486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941832" y="4297680"/>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41832" y="4297680"/>
            <a:ext cx="402336" cy="402336"/>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7" name="TextBox 26"/>
          <p:cNvSpPr txBox="1"/>
          <p:nvPr/>
        </p:nvSpPr>
        <p:spPr>
          <a:xfrm>
            <a:off x="1600200" y="4224528"/>
            <a:ext cx="5715000" cy="548640"/>
          </a:xfrm>
          <a:prstGeom prst="rect">
            <a:avLst/>
          </a:prstGeom>
          <a:noFill/>
        </p:spPr>
        <p:txBody>
          <a:bodyPr wrap="square" anchor="ctr">
            <a:spAutoFit/>
          </a:bodyPr>
          <a:lstStyle/>
          <a:p>
            <a:pPr algn="l">
              <a:spcAft>
                <a:spcPts val="400"/>
              </a:spcAft>
            </a:pPr>
            <a:r>
              <a:rPr sz="1200" b="0">
                <a:solidFill>
                  <a:srgbClr val="161B26"/>
                </a:solidFill>
                <a:latin typeface="Arial"/>
              </a:rPr>
              <a:t>Scan the QR code with your mobile phone camera and submit your attendance.</a:t>
            </a:r>
          </a:p>
        </p:txBody>
      </p:sp>
      <p:sp>
        <p:nvSpPr>
          <p:cNvPr id="28" name="Rectangle 27"/>
          <p:cNvSpPr/>
          <p:nvPr/>
        </p:nvSpPr>
        <p:spPr>
          <a:xfrm>
            <a:off x="777240" y="4882896"/>
            <a:ext cx="6720840" cy="5486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41832" y="4956048"/>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41832" y="4956048"/>
            <a:ext cx="402336" cy="402336"/>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1" name="TextBox 30"/>
          <p:cNvSpPr txBox="1"/>
          <p:nvPr/>
        </p:nvSpPr>
        <p:spPr>
          <a:xfrm>
            <a:off x="1600200" y="4882896"/>
            <a:ext cx="5715000" cy="548640"/>
          </a:xfrm>
          <a:prstGeom prst="rect">
            <a:avLst/>
          </a:prstGeom>
          <a:noFill/>
        </p:spPr>
        <p:txBody>
          <a:bodyPr wrap="square" anchor="ctr">
            <a:spAutoFit/>
          </a:bodyPr>
          <a:lstStyle/>
          <a:p>
            <a:pPr algn="l">
              <a:spcAft>
                <a:spcPts val="400"/>
              </a:spcAft>
            </a:pPr>
            <a:r>
              <a:rPr sz="1200" b="0">
                <a:solidFill>
                  <a:srgbClr val="161B26"/>
                </a:solidFill>
                <a:latin typeface="Arial"/>
              </a:rPr>
              <a:t>It is mandatory for AM, PM and the Assessment sessions on WSQ-funded courses.</a:t>
            </a:r>
          </a:p>
        </p:txBody>
      </p:sp>
      <p:sp>
        <p:nvSpPr>
          <p:cNvPr id="32" name="Rectangle 31"/>
          <p:cNvSpPr/>
          <p:nvPr/>
        </p:nvSpPr>
        <p:spPr>
          <a:xfrm>
            <a:off x="7818120" y="1737360"/>
            <a:ext cx="3566160" cy="3703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818120" y="1737360"/>
            <a:ext cx="356616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818120" y="1938528"/>
            <a:ext cx="3566160" cy="365760"/>
          </a:xfrm>
          <a:prstGeom prst="rect">
            <a:avLst/>
          </a:prstGeom>
          <a:noFill/>
        </p:spPr>
        <p:txBody>
          <a:bodyPr wrap="square" anchor="t">
            <a:spAutoFit/>
          </a:bodyPr>
          <a:lstStyle/>
          <a:p>
            <a:pPr algn="ctr">
              <a:spcAft>
                <a:spcPts val="400"/>
              </a:spcAft>
            </a:pPr>
            <a:r>
              <a:rPr sz="1100" b="1">
                <a:solidFill>
                  <a:srgbClr val="10B981"/>
                </a:solidFill>
                <a:latin typeface="Arial"/>
              </a:rPr>
              <a:t>SCAN TO SUBMIT ATTENDANCE</a:t>
            </a:r>
          </a:p>
        </p:txBody>
      </p:sp>
      <p:sp>
        <p:nvSpPr>
          <p:cNvPr id="35" name="Rectangle 34"/>
          <p:cNvSpPr/>
          <p:nvPr/>
        </p:nvSpPr>
        <p:spPr>
          <a:xfrm>
            <a:off x="8435340" y="2377440"/>
            <a:ext cx="2331720" cy="2331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32620" y="278892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532620" y="320040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572500" y="347472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983980" y="347472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9395460" y="347472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806940" y="347472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0218420" y="347472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532620" y="361188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9669780" y="361188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806940" y="361188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9944100" y="361188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10081260" y="361188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0218420" y="361188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10355580" y="361188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10492740" y="361188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9806940" y="374904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0218420" y="374904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9806940" y="388620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10218420" y="388620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9532620" y="402336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9669780" y="402336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9806940" y="402336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9944100" y="402336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10081260" y="402336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10218420" y="402336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10355580" y="402336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10492740" y="402336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9806940" y="416052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0218420" y="416052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9806940" y="429768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10218420" y="429768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9532620" y="443484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9669780" y="443484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9806940" y="443484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9944100" y="443484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10081260" y="443484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10218420" y="443484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10355580" y="443484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10492740" y="443484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8572500" y="251460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8709660" y="251460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8846820" y="251460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8983980" y="251460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9121140" y="251460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9258300" y="251460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9395460" y="251460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8572500" y="265176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9395460" y="265176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8572500" y="278892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8846820" y="278892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8983980" y="278892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9121140" y="278892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9395460" y="278892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8572500" y="292608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8846820" y="292608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8983980" y="292608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9121140" y="292608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9395460" y="292608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8572500" y="306324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8846820" y="306324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8983980" y="306324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9121140" y="306324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9395460" y="306324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8572500" y="320040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9395460" y="320040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8572500" y="333756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8709660" y="333756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8846820" y="333756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8983980" y="333756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9121140" y="333756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9258300" y="333756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9395460" y="333756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9669780" y="251460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9806940" y="251460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9944100" y="251460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10081260" y="251460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10218420" y="251460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10355580" y="251460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0492740" y="251460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9669780" y="265176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10492740" y="265176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9669780" y="278892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9944100" y="278892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10081260" y="278892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10218420" y="278892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10492740" y="278892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9669780" y="292608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9944100" y="292608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10081260" y="292608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10218420" y="292608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ectangle 125"/>
          <p:cNvSpPr/>
          <p:nvPr/>
        </p:nvSpPr>
        <p:spPr>
          <a:xfrm>
            <a:off x="10492740" y="292608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9669780" y="306324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9944100" y="306324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10081260" y="306324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ectangle 129"/>
          <p:cNvSpPr/>
          <p:nvPr/>
        </p:nvSpPr>
        <p:spPr>
          <a:xfrm>
            <a:off x="10218420" y="306324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10492740" y="306324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9669780" y="320040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10492740" y="320040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9669780" y="333756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9806940" y="333756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9944100" y="333756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10081260" y="333756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10218420" y="333756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Rectangle 138"/>
          <p:cNvSpPr/>
          <p:nvPr/>
        </p:nvSpPr>
        <p:spPr>
          <a:xfrm>
            <a:off x="10355580" y="333756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ectangle 139"/>
          <p:cNvSpPr/>
          <p:nvPr/>
        </p:nvSpPr>
        <p:spPr>
          <a:xfrm>
            <a:off x="10492740" y="333756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8572500" y="361188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8709660" y="361188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p:cNvSpPr/>
          <p:nvPr/>
        </p:nvSpPr>
        <p:spPr>
          <a:xfrm>
            <a:off x="8846820" y="361188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Rectangle 143"/>
          <p:cNvSpPr/>
          <p:nvPr/>
        </p:nvSpPr>
        <p:spPr>
          <a:xfrm>
            <a:off x="8983980" y="361188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9121140" y="361188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9258300" y="361188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Rectangle 146"/>
          <p:cNvSpPr/>
          <p:nvPr/>
        </p:nvSpPr>
        <p:spPr>
          <a:xfrm>
            <a:off x="9395460" y="361188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ectangle 147"/>
          <p:cNvSpPr/>
          <p:nvPr/>
        </p:nvSpPr>
        <p:spPr>
          <a:xfrm>
            <a:off x="8572500" y="374904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Rectangle 148"/>
          <p:cNvSpPr/>
          <p:nvPr/>
        </p:nvSpPr>
        <p:spPr>
          <a:xfrm>
            <a:off x="9395460" y="374904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Rectangle 149"/>
          <p:cNvSpPr/>
          <p:nvPr/>
        </p:nvSpPr>
        <p:spPr>
          <a:xfrm>
            <a:off x="8572500" y="388620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ectangle 150"/>
          <p:cNvSpPr/>
          <p:nvPr/>
        </p:nvSpPr>
        <p:spPr>
          <a:xfrm>
            <a:off x="8846820" y="388620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Rectangle 151"/>
          <p:cNvSpPr/>
          <p:nvPr/>
        </p:nvSpPr>
        <p:spPr>
          <a:xfrm>
            <a:off x="8983980" y="388620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Rectangle 152"/>
          <p:cNvSpPr/>
          <p:nvPr/>
        </p:nvSpPr>
        <p:spPr>
          <a:xfrm>
            <a:off x="9121140" y="388620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Rectangle 153"/>
          <p:cNvSpPr/>
          <p:nvPr/>
        </p:nvSpPr>
        <p:spPr>
          <a:xfrm>
            <a:off x="9395460" y="388620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ectangle 154"/>
          <p:cNvSpPr/>
          <p:nvPr/>
        </p:nvSpPr>
        <p:spPr>
          <a:xfrm>
            <a:off x="8572500" y="402336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Rectangle 155"/>
          <p:cNvSpPr/>
          <p:nvPr/>
        </p:nvSpPr>
        <p:spPr>
          <a:xfrm>
            <a:off x="8846820" y="402336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Rectangle 156"/>
          <p:cNvSpPr/>
          <p:nvPr/>
        </p:nvSpPr>
        <p:spPr>
          <a:xfrm>
            <a:off x="8983980" y="402336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9121140" y="402336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Rectangle 158"/>
          <p:cNvSpPr/>
          <p:nvPr/>
        </p:nvSpPr>
        <p:spPr>
          <a:xfrm>
            <a:off x="9395460" y="402336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Rectangle 159"/>
          <p:cNvSpPr/>
          <p:nvPr/>
        </p:nvSpPr>
        <p:spPr>
          <a:xfrm>
            <a:off x="8572500" y="416052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Rectangle 160"/>
          <p:cNvSpPr/>
          <p:nvPr/>
        </p:nvSpPr>
        <p:spPr>
          <a:xfrm>
            <a:off x="8846820" y="416052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Rectangle 161"/>
          <p:cNvSpPr/>
          <p:nvPr/>
        </p:nvSpPr>
        <p:spPr>
          <a:xfrm>
            <a:off x="8983980" y="416052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Rectangle 162"/>
          <p:cNvSpPr/>
          <p:nvPr/>
        </p:nvSpPr>
        <p:spPr>
          <a:xfrm>
            <a:off x="9121140" y="416052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Rectangle 163"/>
          <p:cNvSpPr/>
          <p:nvPr/>
        </p:nvSpPr>
        <p:spPr>
          <a:xfrm>
            <a:off x="9395460" y="416052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Rectangle 164"/>
          <p:cNvSpPr/>
          <p:nvPr/>
        </p:nvSpPr>
        <p:spPr>
          <a:xfrm>
            <a:off x="8572500" y="429768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Rectangle 165"/>
          <p:cNvSpPr/>
          <p:nvPr/>
        </p:nvSpPr>
        <p:spPr>
          <a:xfrm>
            <a:off x="9395460" y="429768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Rectangle 166"/>
          <p:cNvSpPr/>
          <p:nvPr/>
        </p:nvSpPr>
        <p:spPr>
          <a:xfrm>
            <a:off x="8572500" y="443484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Rectangle 167"/>
          <p:cNvSpPr/>
          <p:nvPr/>
        </p:nvSpPr>
        <p:spPr>
          <a:xfrm>
            <a:off x="8709660" y="443484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Rectangle 168"/>
          <p:cNvSpPr/>
          <p:nvPr/>
        </p:nvSpPr>
        <p:spPr>
          <a:xfrm>
            <a:off x="8846820" y="443484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Rectangle 169"/>
          <p:cNvSpPr/>
          <p:nvPr/>
        </p:nvSpPr>
        <p:spPr>
          <a:xfrm>
            <a:off x="8983980" y="443484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Rectangle 170"/>
          <p:cNvSpPr/>
          <p:nvPr/>
        </p:nvSpPr>
        <p:spPr>
          <a:xfrm>
            <a:off x="9121140" y="443484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Rectangle 171"/>
          <p:cNvSpPr/>
          <p:nvPr/>
        </p:nvSpPr>
        <p:spPr>
          <a:xfrm>
            <a:off x="9258300" y="443484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Rectangle 172"/>
          <p:cNvSpPr/>
          <p:nvPr/>
        </p:nvSpPr>
        <p:spPr>
          <a:xfrm>
            <a:off x="9395460" y="443484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extBox 173"/>
          <p:cNvSpPr txBox="1"/>
          <p:nvPr/>
        </p:nvSpPr>
        <p:spPr>
          <a:xfrm>
            <a:off x="8001000" y="4846320"/>
            <a:ext cx="3200400" cy="548640"/>
          </a:xfrm>
          <a:prstGeom prst="rect">
            <a:avLst/>
          </a:prstGeom>
          <a:noFill/>
        </p:spPr>
        <p:txBody>
          <a:bodyPr wrap="square" anchor="t">
            <a:spAutoFit/>
          </a:bodyPr>
          <a:lstStyle/>
          <a:p>
            <a:pPr algn="ctr">
              <a:spcAft>
                <a:spcPts val="400"/>
              </a:spcAft>
            </a:pPr>
            <a:r>
              <a:rPr sz="1050" b="0">
                <a:solidFill>
                  <a:srgbClr val="5B6372"/>
                </a:solidFill>
                <a:latin typeface="Arial"/>
              </a:rPr>
              <a:t>SSG digital-attendance QR — displayed live from the portal by the trainer</a:t>
            </a:r>
          </a:p>
        </p:txBody>
      </p:sp>
      <p:sp>
        <p:nvSpPr>
          <p:cNvPr id="175" name="Rectangle 174"/>
          <p:cNvSpPr/>
          <p:nvPr/>
        </p:nvSpPr>
        <p:spPr>
          <a:xfrm>
            <a:off x="777240" y="5623560"/>
            <a:ext cx="10607040" cy="5669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TextBox 175"/>
          <p:cNvSpPr txBox="1"/>
          <p:nvPr/>
        </p:nvSpPr>
        <p:spPr>
          <a:xfrm>
            <a:off x="1005840" y="5623560"/>
            <a:ext cx="10149840" cy="566928"/>
          </a:xfrm>
          <a:prstGeom prst="rect">
            <a:avLst/>
          </a:prstGeom>
          <a:noFill/>
        </p:spPr>
        <p:txBody>
          <a:bodyPr wrap="square" anchor="ctr">
            <a:spAutoFit/>
          </a:bodyPr>
          <a:lstStyle/>
          <a:p>
            <a:pPr algn="l">
              <a:spcAft>
                <a:spcPts val="400"/>
              </a:spcAft>
            </a:pPr>
            <a:r>
              <a:rPr sz="1250" b="1">
                <a:solidFill>
                  <a:srgbClr val="FFFFFF"/>
                </a:solidFill>
                <a:latin typeface="Arial"/>
              </a:rPr>
              <a:t>Minimum 75% attendance on the SSG Digital Attendance record is required to be eligible for assessment and funding.</a:t>
            </a:r>
          </a:p>
        </p:txBody>
      </p:sp>
      <p:sp>
        <p:nvSpPr>
          <p:cNvPr id="177" name="TextBox 17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178" name="TextBox 17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9" name="TextBox 17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a:t>
            </a:r>
          </a:p>
        </p:txBody>
      </p:sp>
    </p:spTree>
  </p:cSld>
  <p:clrMapOvr>
    <a:masterClrMapping/>
  </p:clrMapOvr>
  <p:transition xmlns:p14="http://schemas.microsoft.com/office/powerpoint/2010/main" p14:dur="380">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5B6372"/>
                </a:solidFill>
                <a:latin typeface="Arial"/>
              </a:rPr>
              <a:t>YOUR TRAINER · GENERAL</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Your Trainer</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General Trainer template —
to be completed by the trainer</a:t>
            </a:r>
          </a:p>
        </p:txBody>
      </p:sp>
      <p:sp>
        <p:nvSpPr>
          <p:cNvPr id="13" name="Rectangle 12"/>
          <p:cNvSpPr/>
          <p:nvPr/>
        </p:nvSpPr>
        <p:spPr>
          <a:xfrm>
            <a:off x="4480560" y="17830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NAME</a:t>
            </a:r>
          </a:p>
          <a:p>
            <a:pPr algn="l">
              <a:spcAft>
                <a:spcPts val="300"/>
              </a:spcAft>
            </a:pPr>
            <a:r>
              <a:rPr sz="1300" b="0">
                <a:solidFill>
                  <a:srgbClr val="E2E8F0"/>
                </a:solidFill>
                <a:latin typeface="Arial"/>
              </a:rPr>
              <a:t>____________________________________________</a:t>
            </a:r>
          </a:p>
        </p:txBody>
      </p:sp>
      <p:sp>
        <p:nvSpPr>
          <p:cNvPr id="16" name="Rectangle 15"/>
          <p:cNvSpPr/>
          <p:nvPr/>
        </p:nvSpPr>
        <p:spPr>
          <a:xfrm>
            <a:off x="4480560" y="252984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52984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52984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TITLE / DESIGNATION</a:t>
            </a:r>
          </a:p>
          <a:p>
            <a:pPr algn="l">
              <a:spcAft>
                <a:spcPts val="300"/>
              </a:spcAft>
            </a:pPr>
            <a:r>
              <a:rPr sz="1300" b="0">
                <a:solidFill>
                  <a:srgbClr val="E2E8F0"/>
                </a:solidFill>
                <a:latin typeface="Arial"/>
              </a:rPr>
              <a:t>____________________________________________</a:t>
            </a:r>
          </a:p>
        </p:txBody>
      </p:sp>
      <p:sp>
        <p:nvSpPr>
          <p:cNvPr id="19" name="Rectangle 18"/>
          <p:cNvSpPr/>
          <p:nvPr/>
        </p:nvSpPr>
        <p:spPr>
          <a:xfrm>
            <a:off x="4480560" y="327660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3276600"/>
            <a:ext cx="91440" cy="563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3276600"/>
            <a:ext cx="6400800" cy="563880"/>
          </a:xfrm>
          <a:prstGeom prst="rect">
            <a:avLst/>
          </a:prstGeom>
          <a:noFill/>
        </p:spPr>
        <p:txBody>
          <a:bodyPr wrap="square" anchor="ctr">
            <a:spAutoFit/>
          </a:bodyPr>
          <a:lstStyle/>
          <a:p>
            <a:pPr algn="l">
              <a:spcAft>
                <a:spcPts val="300"/>
              </a:spcAft>
            </a:pPr>
            <a:r>
              <a:rPr sz="1100" b="1">
                <a:solidFill>
                  <a:srgbClr val="7C3AED"/>
                </a:solidFill>
                <a:latin typeface="Arial"/>
              </a:rPr>
              <a:t>QUALIFICATIONS</a:t>
            </a:r>
          </a:p>
          <a:p>
            <a:pPr algn="l">
              <a:spcAft>
                <a:spcPts val="300"/>
              </a:spcAft>
            </a:pPr>
            <a:r>
              <a:rPr sz="1300" b="0">
                <a:solidFill>
                  <a:srgbClr val="E2E8F0"/>
                </a:solidFill>
                <a:latin typeface="Arial"/>
              </a:rPr>
              <a:t>____________________________________________</a:t>
            </a:r>
          </a:p>
        </p:txBody>
      </p:sp>
      <p:sp>
        <p:nvSpPr>
          <p:cNvPr id="22" name="Rectangle 21"/>
          <p:cNvSpPr/>
          <p:nvPr/>
        </p:nvSpPr>
        <p:spPr>
          <a:xfrm>
            <a:off x="4480560" y="402336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4023360"/>
            <a:ext cx="91440" cy="563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4023360"/>
            <a:ext cx="6400800" cy="563880"/>
          </a:xfrm>
          <a:prstGeom prst="rect">
            <a:avLst/>
          </a:prstGeom>
          <a:noFill/>
        </p:spPr>
        <p:txBody>
          <a:bodyPr wrap="square" anchor="ctr">
            <a:spAutoFit/>
          </a:bodyPr>
          <a:lstStyle/>
          <a:p>
            <a:pPr algn="l">
              <a:spcAft>
                <a:spcPts val="300"/>
              </a:spcAft>
            </a:pPr>
            <a:r>
              <a:rPr sz="1100" b="1">
                <a:solidFill>
                  <a:srgbClr val="F59E0B"/>
                </a:solidFill>
                <a:latin typeface="Arial"/>
              </a:rPr>
              <a:t>AREAS OF EXPERTISE</a:t>
            </a:r>
          </a:p>
          <a:p>
            <a:pPr algn="l">
              <a:spcAft>
                <a:spcPts val="300"/>
              </a:spcAft>
            </a:pPr>
            <a:r>
              <a:rPr sz="1300" b="0">
                <a:solidFill>
                  <a:srgbClr val="E2E8F0"/>
                </a:solidFill>
                <a:latin typeface="Arial"/>
              </a:rPr>
              <a:t>____________________________________________</a:t>
            </a:r>
          </a:p>
        </p:txBody>
      </p:sp>
      <p:sp>
        <p:nvSpPr>
          <p:cNvPr id="25" name="Rectangle 24"/>
          <p:cNvSpPr/>
          <p:nvPr/>
        </p:nvSpPr>
        <p:spPr>
          <a:xfrm>
            <a:off x="4480560" y="477012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4770120"/>
            <a:ext cx="91440" cy="56388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73168" y="4770120"/>
            <a:ext cx="6400800" cy="563880"/>
          </a:xfrm>
          <a:prstGeom prst="rect">
            <a:avLst/>
          </a:prstGeom>
          <a:noFill/>
        </p:spPr>
        <p:txBody>
          <a:bodyPr wrap="square" anchor="ctr">
            <a:spAutoFit/>
          </a:bodyPr>
          <a:lstStyle/>
          <a:p>
            <a:pPr algn="l">
              <a:spcAft>
                <a:spcPts val="300"/>
              </a:spcAft>
            </a:pPr>
            <a:r>
              <a:rPr sz="1100" b="1">
                <a:solidFill>
                  <a:srgbClr val="EC711E"/>
                </a:solidFill>
                <a:latin typeface="Arial"/>
              </a:rPr>
              <a:t>TRAINING &amp; INDUSTRY EXPERIENCE</a:t>
            </a:r>
          </a:p>
          <a:p>
            <a:pPr algn="l">
              <a:spcAft>
                <a:spcPts val="300"/>
              </a:spcAft>
            </a:pPr>
            <a:r>
              <a:rPr sz="1300" b="0">
                <a:solidFill>
                  <a:srgbClr val="E2E8F0"/>
                </a:solidFill>
                <a:latin typeface="Arial"/>
              </a:rPr>
              <a:t>____________________________________________</a:t>
            </a:r>
          </a:p>
        </p:txBody>
      </p:sp>
      <p:sp>
        <p:nvSpPr>
          <p:cNvPr id="28" name="Rectangle 27"/>
          <p:cNvSpPr/>
          <p:nvPr/>
        </p:nvSpPr>
        <p:spPr>
          <a:xfrm>
            <a:off x="4480560" y="55168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80560" y="5516880"/>
            <a:ext cx="91440" cy="563880"/>
          </a:xfrm>
          <a:prstGeom prst="rect">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73168" y="5516880"/>
            <a:ext cx="6400800" cy="563880"/>
          </a:xfrm>
          <a:prstGeom prst="rect">
            <a:avLst/>
          </a:prstGeom>
          <a:noFill/>
        </p:spPr>
        <p:txBody>
          <a:bodyPr wrap="square" anchor="ctr">
            <a:spAutoFit/>
          </a:bodyPr>
          <a:lstStyle/>
          <a:p>
            <a:pPr algn="l">
              <a:spcAft>
                <a:spcPts val="300"/>
              </a:spcAft>
            </a:pPr>
            <a:r>
              <a:rPr sz="1100" b="1">
                <a:solidFill>
                  <a:srgbClr val="0E9EC9"/>
                </a:solidFill>
                <a:latin typeface="Arial"/>
              </a:rPr>
              <a:t>CONTACT</a:t>
            </a:r>
          </a:p>
          <a:p>
            <a:pPr algn="l">
              <a:spcAft>
                <a:spcPts val="300"/>
              </a:spcAft>
            </a:pPr>
            <a:r>
              <a:rPr sz="1300" b="0">
                <a:solidFill>
                  <a:srgbClr val="E2E8F0"/>
                </a:solidFill>
                <a:latin typeface="Arial"/>
              </a:rPr>
              <a:t>____________________________________________</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a:t>
            </a:r>
          </a:p>
        </p:txBody>
      </p:sp>
    </p:spTree>
  </p:cSld>
  <p:clrMapOvr>
    <a:masterClrMapping/>
  </p:clrMapOvr>
  <p:transition xmlns:p14="http://schemas.microsoft.com/office/powerpoint/2010/main" p14:dur="380">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YOUR TRAINER</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AA</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Dr Alfred Ang</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Principal Trainer
Tertiary Infotech Academy Pte Ltd</a:t>
            </a:r>
          </a:p>
        </p:txBody>
      </p:sp>
      <p:sp>
        <p:nvSpPr>
          <p:cNvPr id="13" name="Rectangle 12"/>
          <p:cNvSpPr/>
          <p:nvPr/>
        </p:nvSpPr>
        <p:spPr>
          <a:xfrm>
            <a:off x="4480560" y="1783080"/>
            <a:ext cx="6949440"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7132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713232"/>
          </a:xfrm>
          <a:prstGeom prst="rect">
            <a:avLst/>
          </a:prstGeom>
          <a:noFill/>
        </p:spPr>
        <p:txBody>
          <a:bodyPr wrap="square" anchor="ctr">
            <a:spAutoFit/>
          </a:bodyPr>
          <a:lstStyle/>
          <a:p>
            <a:pPr algn="l">
              <a:spcAft>
                <a:spcPts val="300"/>
              </a:spcAft>
            </a:pPr>
            <a:r>
              <a:rPr sz="1100" b="1">
                <a:solidFill>
                  <a:srgbClr val="1F6FEB"/>
                </a:solidFill>
                <a:latin typeface="Arial"/>
              </a:rPr>
              <a:t>ROLE</a:t>
            </a:r>
          </a:p>
          <a:p>
            <a:pPr algn="l">
              <a:spcAft>
                <a:spcPts val="300"/>
              </a:spcAft>
            </a:pPr>
            <a:r>
              <a:rPr sz="1300" b="0">
                <a:solidFill>
                  <a:srgbClr val="161B26"/>
                </a:solidFill>
                <a:latin typeface="Arial"/>
              </a:rPr>
              <a:t>Principal Trainer, Tertiary Infotech Academy Pte Ltd</a:t>
            </a:r>
          </a:p>
        </p:txBody>
      </p:sp>
      <p:sp>
        <p:nvSpPr>
          <p:cNvPr id="16" name="Rectangle 15"/>
          <p:cNvSpPr/>
          <p:nvPr/>
        </p:nvSpPr>
        <p:spPr>
          <a:xfrm>
            <a:off x="4480560" y="2679192"/>
            <a:ext cx="6949440"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679192"/>
            <a:ext cx="91440" cy="7132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679192"/>
            <a:ext cx="6400800" cy="713232"/>
          </a:xfrm>
          <a:prstGeom prst="rect">
            <a:avLst/>
          </a:prstGeom>
          <a:noFill/>
        </p:spPr>
        <p:txBody>
          <a:bodyPr wrap="square" anchor="ctr">
            <a:spAutoFit/>
          </a:bodyPr>
          <a:lstStyle/>
          <a:p>
            <a:pPr algn="l">
              <a:spcAft>
                <a:spcPts val="300"/>
              </a:spcAft>
            </a:pPr>
            <a:r>
              <a:rPr sz="1100" b="1">
                <a:solidFill>
                  <a:srgbClr val="10B981"/>
                </a:solidFill>
                <a:latin typeface="Arial"/>
              </a:rPr>
              <a:t>QUALIFICATIONS</a:t>
            </a:r>
          </a:p>
          <a:p>
            <a:pPr algn="l">
              <a:spcAft>
                <a:spcPts val="300"/>
              </a:spcAft>
            </a:pPr>
            <a:r>
              <a:rPr sz="1300" b="0">
                <a:solidFill>
                  <a:srgbClr val="161B26"/>
                </a:solidFill>
                <a:latin typeface="Arial"/>
              </a:rPr>
              <a:t>PhD; ACTA/DACE-certified adult educator.</a:t>
            </a:r>
          </a:p>
        </p:txBody>
      </p:sp>
      <p:sp>
        <p:nvSpPr>
          <p:cNvPr id="19" name="Rectangle 18"/>
          <p:cNvSpPr/>
          <p:nvPr/>
        </p:nvSpPr>
        <p:spPr>
          <a:xfrm>
            <a:off x="4480560" y="3575304"/>
            <a:ext cx="6949440"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3575304"/>
            <a:ext cx="91440" cy="7132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3575304"/>
            <a:ext cx="6400800" cy="713232"/>
          </a:xfrm>
          <a:prstGeom prst="rect">
            <a:avLst/>
          </a:prstGeom>
          <a:noFill/>
        </p:spPr>
        <p:txBody>
          <a:bodyPr wrap="square" anchor="ctr">
            <a:spAutoFit/>
          </a:bodyPr>
          <a:lstStyle/>
          <a:p>
            <a:pPr algn="l">
              <a:spcAft>
                <a:spcPts val="300"/>
              </a:spcAft>
            </a:pPr>
            <a:r>
              <a:rPr sz="1100" b="1">
                <a:solidFill>
                  <a:srgbClr val="7C3AED"/>
                </a:solidFill>
                <a:latin typeface="Arial"/>
              </a:rPr>
              <a:t>EXPERTISE</a:t>
            </a:r>
          </a:p>
          <a:p>
            <a:pPr algn="l">
              <a:spcAft>
                <a:spcPts val="300"/>
              </a:spcAft>
            </a:pPr>
            <a:r>
              <a:rPr sz="1300" b="0">
                <a:solidFill>
                  <a:srgbClr val="161B26"/>
                </a:solidFill>
                <a:latin typeface="Arial"/>
              </a:rPr>
              <a:t>AWS cloud architecture, DevOps, CI/CD automation, Infrastructure as Code and cloud security.</a:t>
            </a:r>
          </a:p>
        </p:txBody>
      </p:sp>
      <p:sp>
        <p:nvSpPr>
          <p:cNvPr id="22" name="Rectangle 21"/>
          <p:cNvSpPr/>
          <p:nvPr/>
        </p:nvSpPr>
        <p:spPr>
          <a:xfrm>
            <a:off x="4480560" y="4471416"/>
            <a:ext cx="6949440"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4471416"/>
            <a:ext cx="91440" cy="7132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4471416"/>
            <a:ext cx="6400800" cy="713232"/>
          </a:xfrm>
          <a:prstGeom prst="rect">
            <a:avLst/>
          </a:prstGeom>
          <a:noFill/>
        </p:spPr>
        <p:txBody>
          <a:bodyPr wrap="square" anchor="ctr">
            <a:spAutoFit/>
          </a:bodyPr>
          <a:lstStyle/>
          <a:p>
            <a:pPr algn="l">
              <a:spcAft>
                <a:spcPts val="300"/>
              </a:spcAft>
            </a:pPr>
            <a:r>
              <a:rPr sz="1100" b="1">
                <a:solidFill>
                  <a:srgbClr val="F59E0B"/>
                </a:solidFill>
                <a:latin typeface="Arial"/>
              </a:rPr>
              <a:t>DELIVERS</a:t>
            </a:r>
          </a:p>
          <a:p>
            <a:pPr algn="l">
              <a:spcAft>
                <a:spcPts val="300"/>
              </a:spcAft>
            </a:pPr>
            <a:r>
              <a:rPr sz="1300" b="0">
                <a:solidFill>
                  <a:srgbClr val="161B26"/>
                </a:solidFill>
                <a:latin typeface="Arial"/>
              </a:rPr>
              <a:t>WSQ courses on AWS, DevOps engineering, cloud and software engineering.</a:t>
            </a:r>
          </a:p>
        </p:txBody>
      </p:sp>
      <p:sp>
        <p:nvSpPr>
          <p:cNvPr id="25" name="Rectangle 24"/>
          <p:cNvSpPr/>
          <p:nvPr/>
        </p:nvSpPr>
        <p:spPr>
          <a:xfrm>
            <a:off x="4480560" y="5367528"/>
            <a:ext cx="6949440"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5367528"/>
            <a:ext cx="91440" cy="713232"/>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73168" y="5367528"/>
            <a:ext cx="6400800" cy="713232"/>
          </a:xfrm>
          <a:prstGeom prst="rect">
            <a:avLst/>
          </a:prstGeom>
          <a:noFill/>
        </p:spPr>
        <p:txBody>
          <a:bodyPr wrap="square" anchor="ctr">
            <a:spAutoFit/>
          </a:bodyPr>
          <a:lstStyle/>
          <a:p>
            <a:pPr algn="l">
              <a:spcAft>
                <a:spcPts val="300"/>
              </a:spcAft>
            </a:pPr>
            <a:r>
              <a:rPr sz="1100" b="1">
                <a:solidFill>
                  <a:srgbClr val="EC711E"/>
                </a:solidFill>
                <a:latin typeface="Arial"/>
              </a:rPr>
              <a:t>FOUNDER</a:t>
            </a:r>
          </a:p>
          <a:p>
            <a:pPr algn="l">
              <a:spcAft>
                <a:spcPts val="300"/>
              </a:spcAft>
            </a:pPr>
            <a:r>
              <a:rPr sz="1300" b="0">
                <a:solidFill>
                  <a:srgbClr val="161B26"/>
                </a:solidFill>
                <a:latin typeface="Arial"/>
              </a:rPr>
              <a:t>Founder and lead instructor at Tertiary Infotech / Tertiary Courses.</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a:t>
            </a:r>
          </a:p>
        </p:txBody>
      </p:sp>
    </p:spTree>
  </p:cSld>
  <p:clrMapOvr>
    <a:masterClrMapping/>
  </p:clrMapOvr>
  <p:transition xmlns:p14="http://schemas.microsoft.com/office/powerpoint/2010/main" p14:dur="380">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ICE-BREAKER</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Let's Know Each Other</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Your name and organisation / role.</a:t>
            </a:r>
          </a:p>
          <a:p>
            <a:pPr>
              <a:spcAft>
                <a:spcPts val="1000"/>
              </a:spcAft>
            </a:pPr>
            <a:r>
              <a:rPr sz="2000" b="0">
                <a:solidFill>
                  <a:srgbClr val="161B26"/>
                </a:solidFill>
                <a:latin typeface="Arial"/>
              </a:rPr>
              <a:t>•  Your experience with AWS, DevOps or automation (if any).</a:t>
            </a:r>
          </a:p>
          <a:p>
            <a:pPr>
              <a:spcAft>
                <a:spcPts val="1000"/>
              </a:spcAft>
            </a:pPr>
            <a:r>
              <a:rPr sz="2000" b="0">
                <a:solidFill>
                  <a:srgbClr val="161B26"/>
                </a:solidFill>
                <a:latin typeface="Arial"/>
              </a:rPr>
              <a:t>•  What you want to automate or improve on AWS after this course.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a:t>
            </a:r>
          </a:p>
        </p:txBody>
      </p:sp>
    </p:spTree>
  </p:cSld>
  <p:clrMapOvr>
    <a:masterClrMapping/>
  </p:clrMapOvr>
  <p:transition xmlns:p14="http://schemas.microsoft.com/office/powerpoint/2010/main" p14:dur="380">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HOUSEKEEPING</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Ground Rules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10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6408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6408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74520"/>
            <a:ext cx="3973068" cy="1164336"/>
          </a:xfrm>
          <a:prstGeom prst="rect">
            <a:avLst/>
          </a:prstGeom>
          <a:noFill/>
        </p:spPr>
        <p:txBody>
          <a:bodyPr wrap="square" anchor="ctr">
            <a:spAutoFit/>
          </a:bodyPr>
          <a:lstStyle/>
          <a:p>
            <a:pPr algn="l">
              <a:spcAft>
                <a:spcPts val="400"/>
              </a:spcAft>
            </a:pPr>
            <a:r>
              <a:rPr sz="1500" b="0">
                <a:solidFill>
                  <a:srgbClr val="161B26"/>
                </a:solidFill>
                <a:latin typeface="Arial"/>
              </a:rPr>
              <a:t>Set your mobile phone to silent mode.</a:t>
            </a:r>
          </a:p>
        </p:txBody>
      </p:sp>
      <p:sp>
        <p:nvSpPr>
          <p:cNvPr id="12" name="Rectangle 11"/>
          <p:cNvSpPr/>
          <p:nvPr/>
        </p:nvSpPr>
        <p:spPr>
          <a:xfrm>
            <a:off x="6231636" y="1783080"/>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3106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6408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6408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74520"/>
            <a:ext cx="3973068" cy="1164336"/>
          </a:xfrm>
          <a:prstGeom prst="rect">
            <a:avLst/>
          </a:prstGeom>
          <a:noFill/>
        </p:spPr>
        <p:txBody>
          <a:bodyPr wrap="square" anchor="ctr">
            <a:spAutoFit/>
          </a:bodyPr>
          <a:lstStyle/>
          <a:p>
            <a:pPr algn="l">
              <a:spcAft>
                <a:spcPts val="400"/>
              </a:spcAft>
            </a:pPr>
            <a:r>
              <a:rPr sz="1500" b="0">
                <a:solidFill>
                  <a:srgbClr val="161B26"/>
                </a:solidFill>
                <a:latin typeface="Arial"/>
              </a:rPr>
              <a:t>Participate actively — no question is too small.</a:t>
            </a:r>
          </a:p>
        </p:txBody>
      </p:sp>
      <p:sp>
        <p:nvSpPr>
          <p:cNvPr id="17" name="Rectangle 16"/>
          <p:cNvSpPr/>
          <p:nvPr/>
        </p:nvSpPr>
        <p:spPr>
          <a:xfrm>
            <a:off x="777240" y="3313176"/>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3176"/>
            <a:ext cx="91440" cy="13106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404616"/>
            <a:ext cx="3973068" cy="1164336"/>
          </a:xfrm>
          <a:prstGeom prst="rect">
            <a:avLst/>
          </a:prstGeom>
          <a:noFill/>
        </p:spPr>
        <p:txBody>
          <a:bodyPr wrap="square" anchor="ctr">
            <a:spAutoFit/>
          </a:bodyPr>
          <a:lstStyle/>
          <a:p>
            <a:pPr algn="l">
              <a:spcAft>
                <a:spcPts val="400"/>
              </a:spcAft>
            </a:pPr>
            <a:r>
              <a:rPr sz="1500" b="0">
                <a:solidFill>
                  <a:srgbClr val="161B26"/>
                </a:solidFill>
                <a:latin typeface="Arial"/>
              </a:rPr>
              <a:t>Mutual respect: agree to disagree.</a:t>
            </a:r>
          </a:p>
        </p:txBody>
      </p:sp>
      <p:sp>
        <p:nvSpPr>
          <p:cNvPr id="22" name="Rectangle 21"/>
          <p:cNvSpPr/>
          <p:nvPr/>
        </p:nvSpPr>
        <p:spPr>
          <a:xfrm>
            <a:off x="6231636" y="3313176"/>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3176"/>
            <a:ext cx="91440" cy="13106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404616"/>
            <a:ext cx="3973068" cy="1164336"/>
          </a:xfrm>
          <a:prstGeom prst="rect">
            <a:avLst/>
          </a:prstGeom>
          <a:noFill/>
        </p:spPr>
        <p:txBody>
          <a:bodyPr wrap="square" anchor="ctr">
            <a:spAutoFit/>
          </a:bodyPr>
          <a:lstStyle/>
          <a:p>
            <a:pPr algn="l">
              <a:spcAft>
                <a:spcPts val="400"/>
              </a:spcAft>
            </a:pPr>
            <a:r>
              <a:rPr sz="1500" b="0">
                <a:solidFill>
                  <a:srgbClr val="161B26"/>
                </a:solidFill>
                <a:latin typeface="Arial"/>
              </a:rPr>
              <a:t>One conversation at a time.</a:t>
            </a:r>
          </a:p>
        </p:txBody>
      </p:sp>
      <p:sp>
        <p:nvSpPr>
          <p:cNvPr id="27" name="Rectangle 26"/>
          <p:cNvSpPr/>
          <p:nvPr/>
        </p:nvSpPr>
        <p:spPr>
          <a:xfrm>
            <a:off x="777240" y="4843272"/>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43272"/>
            <a:ext cx="91440" cy="13106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24272"/>
            <a:ext cx="548640" cy="548640"/>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2427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934712"/>
            <a:ext cx="3973068" cy="1164336"/>
          </a:xfrm>
          <a:prstGeom prst="rect">
            <a:avLst/>
          </a:prstGeom>
          <a:noFill/>
        </p:spPr>
        <p:txBody>
          <a:bodyPr wrap="square" anchor="ctr">
            <a:spAutoFit/>
          </a:bodyPr>
          <a:lstStyle/>
          <a:p>
            <a:pPr algn="l">
              <a:spcAft>
                <a:spcPts val="400"/>
              </a:spcAft>
            </a:pPr>
            <a:r>
              <a:rPr sz="1500" b="0">
                <a:solidFill>
                  <a:srgbClr val="161B26"/>
                </a:solidFill>
                <a:latin typeface="Arial"/>
              </a:rPr>
              <a:t>Be punctual; return from breaks on time.</a:t>
            </a:r>
          </a:p>
        </p:txBody>
      </p:sp>
      <p:sp>
        <p:nvSpPr>
          <p:cNvPr id="32" name="Rectangle 31"/>
          <p:cNvSpPr/>
          <p:nvPr/>
        </p:nvSpPr>
        <p:spPr>
          <a:xfrm>
            <a:off x="6231636" y="4843272"/>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43272"/>
            <a:ext cx="91440" cy="1310640"/>
          </a:xfrm>
          <a:prstGeom prst="rect">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24272"/>
            <a:ext cx="548640" cy="548640"/>
          </a:xfrm>
          <a:prstGeom prst="ellipse">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2427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934712"/>
            <a:ext cx="3973068" cy="1164336"/>
          </a:xfrm>
          <a:prstGeom prst="rect">
            <a:avLst/>
          </a:prstGeom>
          <a:noFill/>
        </p:spPr>
        <p:txBody>
          <a:bodyPr wrap="square" anchor="ctr">
            <a:spAutoFit/>
          </a:bodyPr>
          <a:lstStyle/>
          <a:p>
            <a:pPr algn="l">
              <a:spcAft>
                <a:spcPts val="400"/>
              </a:spcAft>
            </a:pPr>
            <a:r>
              <a:rPr sz="1500" b="0">
                <a:solidFill>
                  <a:srgbClr val="161B26"/>
                </a:solidFill>
                <a:latin typeface="Arial"/>
              </a:rPr>
              <a:t>75% attendance is required for funding.</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a:t>
            </a:r>
          </a:p>
        </p:txBody>
      </p:sp>
    </p:spTree>
  </p:cSld>
  <p:clrMapOvr>
    <a:masterClrMapping/>
  </p:clrMapOvr>
  <p:transition xmlns:p14="http://schemas.microsoft.com/office/powerpoint/2010/main" p14:dur="380">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PORTAL</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Download Your Course Material</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6309360" cy="41605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309360" cy="457200"/>
          </a:xfrm>
          <a:prstGeom prst="rect">
            <a:avLst/>
          </a:prstGeom>
          <a:solidFill>
            <a:srgbClr val="0B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1984248"/>
            <a:ext cx="146304" cy="146304"/>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216152" y="1984248"/>
            <a:ext cx="146304" cy="146304"/>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472184" y="1984248"/>
            <a:ext cx="146304" cy="146304"/>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783080" y="1938528"/>
            <a:ext cx="5120640" cy="2377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20240" y="1920240"/>
            <a:ext cx="4937760" cy="274320"/>
          </a:xfrm>
          <a:prstGeom prst="rect">
            <a:avLst/>
          </a:prstGeom>
          <a:noFill/>
        </p:spPr>
        <p:txBody>
          <a:bodyPr wrap="square" anchor="ctr">
            <a:spAutoFit/>
          </a:bodyPr>
          <a:lstStyle/>
          <a:p>
            <a:pPr algn="l">
              <a:spcAft>
                <a:spcPts val="400"/>
              </a:spcAft>
            </a:pPr>
            <a:r>
              <a:rPr sz="1200" b="0">
                <a:solidFill>
                  <a:srgbClr val="5B6372"/>
                </a:solidFill>
                <a:latin typeface="Arial"/>
              </a:rPr>
              <a:t>🔒  lms-tms.tertiaryinfotech.com</a:t>
            </a:r>
          </a:p>
        </p:txBody>
      </p:sp>
      <p:sp>
        <p:nvSpPr>
          <p:cNvPr id="14" name="Rectangle 13"/>
          <p:cNvSpPr/>
          <p:nvPr/>
        </p:nvSpPr>
        <p:spPr>
          <a:xfrm>
            <a:off x="1051560" y="2514600"/>
            <a:ext cx="5760720" cy="7315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34440" y="2578608"/>
            <a:ext cx="5394960" cy="640080"/>
          </a:xfrm>
          <a:prstGeom prst="rect">
            <a:avLst/>
          </a:prstGeom>
          <a:noFill/>
        </p:spPr>
        <p:txBody>
          <a:bodyPr wrap="square" anchor="ctr">
            <a:spAutoFit/>
          </a:bodyPr>
          <a:lstStyle/>
          <a:p>
            <a:pPr algn="l">
              <a:spcAft>
                <a:spcPts val="200"/>
              </a:spcAft>
            </a:pPr>
            <a:r>
              <a:rPr sz="1400" b="1">
                <a:solidFill>
                  <a:srgbClr val="161B26"/>
                </a:solidFill>
                <a:latin typeface="Arial"/>
              </a:rPr>
              <a:t>DevOps Engineering on AWS</a:t>
            </a:r>
          </a:p>
          <a:p>
            <a:pPr algn="l">
              <a:spcAft>
                <a:spcPts val="200"/>
              </a:spcAft>
            </a:pPr>
            <a:r>
              <a:rPr sz="1100" b="0">
                <a:solidFill>
                  <a:srgbClr val="5B6372"/>
                </a:solidFill>
                <a:latin typeface="Arial"/>
              </a:rPr>
              <a:t>My Courses ›  Course Material</a:t>
            </a:r>
          </a:p>
        </p:txBody>
      </p:sp>
      <p:sp>
        <p:nvSpPr>
          <p:cNvPr id="16" name="Rounded Rectangle 15"/>
          <p:cNvSpPr/>
          <p:nvPr/>
        </p:nvSpPr>
        <p:spPr>
          <a:xfrm>
            <a:off x="1051560" y="3429000"/>
            <a:ext cx="5760720" cy="530352"/>
          </a:xfrm>
          <a:prstGeom prst="roundRect">
            <a:avLst/>
          </a:prstGeom>
          <a:solidFill>
            <a:srgbClr val="FFFFFF"/>
          </a:solidFill>
          <a:ln w="15875">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34440" y="3429000"/>
            <a:ext cx="5394960" cy="530352"/>
          </a:xfrm>
          <a:prstGeom prst="rect">
            <a:avLst/>
          </a:prstGeom>
          <a:noFill/>
        </p:spPr>
        <p:txBody>
          <a:bodyPr wrap="square" anchor="ctr">
            <a:spAutoFit/>
          </a:bodyPr>
          <a:lstStyle/>
          <a:p>
            <a:pPr algn="l">
              <a:spcAft>
                <a:spcPts val="400"/>
              </a:spcAft>
            </a:pPr>
            <a:r>
              <a:rPr sz="1300" b="1">
                <a:solidFill>
                  <a:srgbClr val="1F6FEB"/>
                </a:solidFill>
                <a:latin typeface="Arial"/>
              </a:rPr>
              <a:t>⬇  Trainer Slides (PDF)</a:t>
            </a:r>
          </a:p>
        </p:txBody>
      </p:sp>
      <p:sp>
        <p:nvSpPr>
          <p:cNvPr id="18" name="Rounded Rectangle 17"/>
          <p:cNvSpPr/>
          <p:nvPr/>
        </p:nvSpPr>
        <p:spPr>
          <a:xfrm>
            <a:off x="1051560" y="4087368"/>
            <a:ext cx="5760720" cy="530352"/>
          </a:xfrm>
          <a:prstGeom prst="roundRect">
            <a:avLst/>
          </a:prstGeom>
          <a:solidFill>
            <a:srgbClr val="FFFFFF"/>
          </a:solidFill>
          <a:ln w="15875">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234440" y="4087368"/>
            <a:ext cx="5394960" cy="530352"/>
          </a:xfrm>
          <a:prstGeom prst="rect">
            <a:avLst/>
          </a:prstGeom>
          <a:noFill/>
        </p:spPr>
        <p:txBody>
          <a:bodyPr wrap="square" anchor="ctr">
            <a:spAutoFit/>
          </a:bodyPr>
          <a:lstStyle/>
          <a:p>
            <a:pPr algn="l">
              <a:spcAft>
                <a:spcPts val="400"/>
              </a:spcAft>
            </a:pPr>
            <a:r>
              <a:rPr sz="1300" b="1">
                <a:solidFill>
                  <a:srgbClr val="10B981"/>
                </a:solidFill>
                <a:latin typeface="Arial"/>
              </a:rPr>
              <a:t>⬇  Learner Guide (PDF)</a:t>
            </a:r>
          </a:p>
        </p:txBody>
      </p:sp>
      <p:sp>
        <p:nvSpPr>
          <p:cNvPr id="20" name="Rounded Rectangle 19"/>
          <p:cNvSpPr/>
          <p:nvPr/>
        </p:nvSpPr>
        <p:spPr>
          <a:xfrm>
            <a:off x="1051560" y="4745736"/>
            <a:ext cx="5760720" cy="530352"/>
          </a:xfrm>
          <a:prstGeom prst="roundRect">
            <a:avLst/>
          </a:prstGeom>
          <a:solidFill>
            <a:srgbClr val="FFFFFF"/>
          </a:solidFill>
          <a:ln w="15875">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34440" y="4745736"/>
            <a:ext cx="5394960" cy="530352"/>
          </a:xfrm>
          <a:prstGeom prst="rect">
            <a:avLst/>
          </a:prstGeom>
          <a:noFill/>
        </p:spPr>
        <p:txBody>
          <a:bodyPr wrap="square" anchor="ctr">
            <a:spAutoFit/>
          </a:bodyPr>
          <a:lstStyle/>
          <a:p>
            <a:pPr algn="l">
              <a:spcAft>
                <a:spcPts val="400"/>
              </a:spcAft>
            </a:pPr>
            <a:r>
              <a:rPr sz="1300" b="1">
                <a:solidFill>
                  <a:srgbClr val="7C3AED"/>
                </a:solidFill>
                <a:latin typeface="Arial"/>
              </a:rPr>
              <a:t>⬇  Lesson Plan (PDF)</a:t>
            </a:r>
          </a:p>
        </p:txBody>
      </p:sp>
      <p:sp>
        <p:nvSpPr>
          <p:cNvPr id="22" name="Rectangle 21"/>
          <p:cNvSpPr/>
          <p:nvPr/>
        </p:nvSpPr>
        <p:spPr>
          <a:xfrm>
            <a:off x="7360920" y="1828800"/>
            <a:ext cx="4069080" cy="8343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360920" y="1828800"/>
            <a:ext cx="91440" cy="83439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562088" y="1989963"/>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62088" y="1989963"/>
            <a:ext cx="512064" cy="512064"/>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26" name="TextBox 25"/>
          <p:cNvSpPr txBox="1"/>
          <p:nvPr/>
        </p:nvSpPr>
        <p:spPr>
          <a:xfrm>
            <a:off x="8229600" y="1828800"/>
            <a:ext cx="3063240" cy="834390"/>
          </a:xfrm>
          <a:prstGeom prst="rect">
            <a:avLst/>
          </a:prstGeom>
          <a:noFill/>
        </p:spPr>
        <p:txBody>
          <a:bodyPr wrap="square" anchor="ctr">
            <a:spAutoFit/>
          </a:bodyPr>
          <a:lstStyle/>
          <a:p>
            <a:pPr algn="l">
              <a:spcAft>
                <a:spcPts val="200"/>
              </a:spcAft>
            </a:pPr>
            <a:r>
              <a:rPr sz="1400" b="1">
                <a:solidFill>
                  <a:srgbClr val="161B26"/>
                </a:solidFill>
                <a:latin typeface="Arial"/>
              </a:rPr>
              <a:t>Sign in</a:t>
            </a:r>
          </a:p>
          <a:p>
            <a:pPr algn="l">
              <a:spcAft>
                <a:spcPts val="200"/>
              </a:spcAft>
            </a:pPr>
            <a:r>
              <a:rPr sz="1150" b="0">
                <a:solidFill>
                  <a:srgbClr val="5B6372"/>
                </a:solidFill>
                <a:latin typeface="Arial"/>
              </a:rPr>
              <a:t>Log in to lms-tms.tertiaryinfotech.com with your enrolled account.</a:t>
            </a:r>
          </a:p>
        </p:txBody>
      </p:sp>
      <p:sp>
        <p:nvSpPr>
          <p:cNvPr id="27" name="Rectangle 26"/>
          <p:cNvSpPr/>
          <p:nvPr/>
        </p:nvSpPr>
        <p:spPr>
          <a:xfrm>
            <a:off x="7360920" y="2937510"/>
            <a:ext cx="4069080" cy="8343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60920" y="2937510"/>
            <a:ext cx="91440" cy="83439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562088" y="3098673"/>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62088" y="3098673"/>
            <a:ext cx="512064" cy="512064"/>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31" name="TextBox 30"/>
          <p:cNvSpPr txBox="1"/>
          <p:nvPr/>
        </p:nvSpPr>
        <p:spPr>
          <a:xfrm>
            <a:off x="8229600" y="2937510"/>
            <a:ext cx="3063240" cy="834390"/>
          </a:xfrm>
          <a:prstGeom prst="rect">
            <a:avLst/>
          </a:prstGeom>
          <a:noFill/>
        </p:spPr>
        <p:txBody>
          <a:bodyPr wrap="square" anchor="ctr">
            <a:spAutoFit/>
          </a:bodyPr>
          <a:lstStyle/>
          <a:p>
            <a:pPr algn="l">
              <a:spcAft>
                <a:spcPts val="200"/>
              </a:spcAft>
            </a:pPr>
            <a:r>
              <a:rPr sz="1400" b="1">
                <a:solidFill>
                  <a:srgbClr val="161B26"/>
                </a:solidFill>
                <a:latin typeface="Arial"/>
              </a:rPr>
              <a:t>Open your course</a:t>
            </a:r>
          </a:p>
          <a:p>
            <a:pPr algn="l">
              <a:spcAft>
                <a:spcPts val="200"/>
              </a:spcAft>
            </a:pPr>
            <a:r>
              <a:rPr sz="1150" b="0">
                <a:solidFill>
                  <a:srgbClr val="5B6372"/>
                </a:solidFill>
                <a:latin typeface="Arial"/>
              </a:rPr>
              <a:t>Go to My Courses and select DevOps Engineering on AWS.</a:t>
            </a:r>
          </a:p>
        </p:txBody>
      </p:sp>
      <p:sp>
        <p:nvSpPr>
          <p:cNvPr id="32" name="Rectangle 31"/>
          <p:cNvSpPr/>
          <p:nvPr/>
        </p:nvSpPr>
        <p:spPr>
          <a:xfrm>
            <a:off x="7360920" y="4046220"/>
            <a:ext cx="4069080" cy="8343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360920" y="4046220"/>
            <a:ext cx="91440" cy="83439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562088" y="4207383"/>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562088" y="4207383"/>
            <a:ext cx="512064" cy="512064"/>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36" name="TextBox 35"/>
          <p:cNvSpPr txBox="1"/>
          <p:nvPr/>
        </p:nvSpPr>
        <p:spPr>
          <a:xfrm>
            <a:off x="8229600" y="4046220"/>
            <a:ext cx="3063240" cy="834390"/>
          </a:xfrm>
          <a:prstGeom prst="rect">
            <a:avLst/>
          </a:prstGeom>
          <a:noFill/>
        </p:spPr>
        <p:txBody>
          <a:bodyPr wrap="square" anchor="ctr">
            <a:spAutoFit/>
          </a:bodyPr>
          <a:lstStyle/>
          <a:p>
            <a:pPr algn="l">
              <a:spcAft>
                <a:spcPts val="200"/>
              </a:spcAft>
            </a:pPr>
            <a:r>
              <a:rPr sz="1400" b="1">
                <a:solidFill>
                  <a:srgbClr val="161B26"/>
                </a:solidFill>
                <a:latin typeface="Arial"/>
              </a:rPr>
              <a:t>Course Material</a:t>
            </a:r>
          </a:p>
          <a:p>
            <a:pPr algn="l">
              <a:spcAft>
                <a:spcPts val="200"/>
              </a:spcAft>
            </a:pPr>
            <a:r>
              <a:rPr sz="1150" b="0">
                <a:solidFill>
                  <a:srgbClr val="5B6372"/>
                </a:solidFill>
                <a:latin typeface="Arial"/>
              </a:rPr>
              <a:t>Open the Course Material tab for this course.</a:t>
            </a:r>
          </a:p>
        </p:txBody>
      </p:sp>
      <p:sp>
        <p:nvSpPr>
          <p:cNvPr id="37" name="Rectangle 36"/>
          <p:cNvSpPr/>
          <p:nvPr/>
        </p:nvSpPr>
        <p:spPr>
          <a:xfrm>
            <a:off x="7360920" y="5154930"/>
            <a:ext cx="4069080" cy="8343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360920" y="5154930"/>
            <a:ext cx="91440" cy="83439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7562088" y="5316093"/>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562088" y="5316093"/>
            <a:ext cx="512064" cy="512064"/>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41" name="TextBox 40"/>
          <p:cNvSpPr txBox="1"/>
          <p:nvPr/>
        </p:nvSpPr>
        <p:spPr>
          <a:xfrm>
            <a:off x="8229600" y="5154930"/>
            <a:ext cx="3063240" cy="834390"/>
          </a:xfrm>
          <a:prstGeom prst="rect">
            <a:avLst/>
          </a:prstGeom>
          <a:noFill/>
        </p:spPr>
        <p:txBody>
          <a:bodyPr wrap="square" anchor="ctr">
            <a:spAutoFit/>
          </a:bodyPr>
          <a:lstStyle/>
          <a:p>
            <a:pPr algn="l">
              <a:spcAft>
                <a:spcPts val="200"/>
              </a:spcAft>
            </a:pPr>
            <a:r>
              <a:rPr sz="1400" b="1">
                <a:solidFill>
                  <a:srgbClr val="161B26"/>
                </a:solidFill>
                <a:latin typeface="Arial"/>
              </a:rPr>
              <a:t>Download</a:t>
            </a:r>
          </a:p>
          <a:p>
            <a:pPr algn="l">
              <a:spcAft>
                <a:spcPts val="200"/>
              </a:spcAft>
            </a:pPr>
            <a:r>
              <a:rPr sz="1150" b="0">
                <a:solidFill>
                  <a:srgbClr val="5B6372"/>
                </a:solidFill>
                <a:latin typeface="Arial"/>
              </a:rPr>
              <a:t>Download the Trainer Slides, Learner Guide and Lesson Plan for the open-book assessment.</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a:t>
            </a:r>
          </a:p>
        </p:txBody>
      </p:sp>
    </p:spTree>
  </p:cSld>
  <p:clrMapOvr>
    <a:masterClrMapping/>
  </p:clrMapOvr>
  <p:transition xmlns:p14="http://schemas.microsoft.com/office/powerpoint/2010/main" p14:dur="380">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CRITERIA FOR FUNDING</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Funding &amp; Eligibility</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700" b="1">
                <a:solidFill>
                  <a:srgbClr val="161B26"/>
                </a:solidFill>
                <a:latin typeface="Arial"/>
              </a:rPr>
              <a:t>Attendance</a:t>
            </a:r>
          </a:p>
          <a:p>
            <a:pPr algn="l">
              <a:spcAft>
                <a:spcPts val="300"/>
              </a:spcAft>
            </a:pPr>
            <a:r>
              <a:rPr sz="1300" b="0">
                <a:solidFill>
                  <a:srgbClr val="5B6372"/>
                </a:solidFill>
                <a:latin typeface="Arial"/>
              </a:rPr>
              <a:t>Minimum 75% attendance on the SSG Digital Attendance record.</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700" b="1">
                <a:solidFill>
                  <a:srgbClr val="161B26"/>
                </a:solidFill>
                <a:latin typeface="Arial"/>
              </a:rPr>
              <a:t>Assessment</a:t>
            </a:r>
          </a:p>
          <a:p>
            <a:pPr algn="l">
              <a:spcAft>
                <a:spcPts val="300"/>
              </a:spcAft>
            </a:pPr>
            <a:r>
              <a:rPr sz="1300" b="0">
                <a:solidFill>
                  <a:srgbClr val="5B6372"/>
                </a:solidFill>
                <a:latin typeface="Arial"/>
              </a:rPr>
              <a:t>Complete the assessment and be assessed as ‘Competent’.</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700" b="1">
                <a:solidFill>
                  <a:srgbClr val="161B26"/>
                </a:solidFill>
                <a:latin typeface="Arial"/>
              </a:rPr>
              <a:t>Open book</a:t>
            </a:r>
          </a:p>
          <a:p>
            <a:pPr algn="l">
              <a:spcAft>
                <a:spcPts val="300"/>
              </a:spcAft>
            </a:pPr>
            <a:r>
              <a:rPr sz="1300" b="0">
                <a:solidFill>
                  <a:srgbClr val="5B6372"/>
                </a:solidFill>
                <a:latin typeface="Arial"/>
              </a:rPr>
              <a:t>The slides and Learner Guide may be used during the assessment.</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700" b="1">
                <a:solidFill>
                  <a:srgbClr val="161B26"/>
                </a:solidFill>
                <a:latin typeface="Arial"/>
              </a:rPr>
              <a:t>Course portal</a:t>
            </a:r>
          </a:p>
          <a:p>
            <a:pPr algn="l">
              <a:spcAft>
                <a:spcPts val="300"/>
              </a:spcAft>
            </a:pPr>
            <a:r>
              <a:rPr sz="1300" b="0">
                <a:solidFill>
                  <a:srgbClr val="5B6372"/>
                </a:solidFill>
                <a:latin typeface="Arial"/>
              </a:rPr>
              <a:t>All materials, attendance and assessment are on lms-tms.tertiaryinfotech.com.</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a:t>
            </a:r>
          </a:p>
        </p:txBody>
      </p:sp>
    </p:spTree>
  </p:cSld>
  <p:clrMapOvr>
    <a:masterClrMapping/>
  </p:clrMapOvr>
  <p:transition xmlns:p14="http://schemas.microsoft.com/office/powerpoint/2010/main" p14:dur="380">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SCHEDULE · 40 HOURS (37 INSTRUCTIONAL + 3 ASSESSMENT)</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700" b="1">
                <a:solidFill>
                  <a:srgbClr val="161B26"/>
                </a:solidFill>
                <a:latin typeface="Arial"/>
              </a:rPr>
              <a:t>Lesson Plan — 5 Days · 5 Hands-On Labs per Day (25 Labs)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10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6408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6408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127760"/>
          </a:xfrm>
          <a:prstGeom prst="rect">
            <a:avLst/>
          </a:prstGeom>
          <a:noFill/>
        </p:spPr>
        <p:txBody>
          <a:bodyPr wrap="square" anchor="ctr">
            <a:spAutoFit/>
          </a:bodyPr>
          <a:lstStyle/>
          <a:p>
            <a:pPr algn="l">
              <a:spcAft>
                <a:spcPts val="300"/>
              </a:spcAft>
            </a:pPr>
            <a:r>
              <a:rPr sz="1600" b="1">
                <a:solidFill>
                  <a:srgbClr val="161B26"/>
                </a:solidFill>
                <a:latin typeface="Arial"/>
              </a:rPr>
              <a:t>Day 1</a:t>
            </a:r>
          </a:p>
          <a:p>
            <a:pPr algn="l">
              <a:spcAft>
                <a:spcPts val="300"/>
              </a:spcAft>
            </a:pPr>
            <a:r>
              <a:rPr sz="1200" b="0">
                <a:solidFill>
                  <a:srgbClr val="5B6372"/>
                </a:solidFill>
                <a:latin typeface="Arial"/>
              </a:rPr>
              <a:t>Foundations &amp; SDLC Automation (Labs 1–5)</a:t>
            </a:r>
          </a:p>
        </p:txBody>
      </p:sp>
      <p:sp>
        <p:nvSpPr>
          <p:cNvPr id="12" name="Rectangle 11"/>
          <p:cNvSpPr/>
          <p:nvPr/>
        </p:nvSpPr>
        <p:spPr>
          <a:xfrm>
            <a:off x="6231636" y="1783080"/>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3106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6408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6408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127760"/>
          </a:xfrm>
          <a:prstGeom prst="rect">
            <a:avLst/>
          </a:prstGeom>
          <a:noFill/>
        </p:spPr>
        <p:txBody>
          <a:bodyPr wrap="square" anchor="ctr">
            <a:spAutoFit/>
          </a:bodyPr>
          <a:lstStyle/>
          <a:p>
            <a:pPr algn="l">
              <a:spcAft>
                <a:spcPts val="300"/>
              </a:spcAft>
            </a:pPr>
            <a:r>
              <a:rPr sz="1600" b="1">
                <a:solidFill>
                  <a:srgbClr val="161B26"/>
                </a:solidFill>
                <a:latin typeface="Arial"/>
              </a:rPr>
              <a:t>Day 2</a:t>
            </a:r>
          </a:p>
          <a:p>
            <a:pPr algn="l">
              <a:spcAft>
                <a:spcPts val="300"/>
              </a:spcAft>
            </a:pPr>
            <a:r>
              <a:rPr sz="1200" b="0">
                <a:solidFill>
                  <a:srgbClr val="5B6372"/>
                </a:solidFill>
                <a:latin typeface="Arial"/>
              </a:rPr>
              <a:t>Configuration Management &amp; IaC (Labs 6–10)</a:t>
            </a:r>
          </a:p>
        </p:txBody>
      </p:sp>
      <p:sp>
        <p:nvSpPr>
          <p:cNvPr id="17" name="Rectangle 16"/>
          <p:cNvSpPr/>
          <p:nvPr/>
        </p:nvSpPr>
        <p:spPr>
          <a:xfrm>
            <a:off x="777240" y="3313176"/>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3176"/>
            <a:ext cx="91440" cy="13106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422904"/>
            <a:ext cx="3973068" cy="1127760"/>
          </a:xfrm>
          <a:prstGeom prst="rect">
            <a:avLst/>
          </a:prstGeom>
          <a:noFill/>
        </p:spPr>
        <p:txBody>
          <a:bodyPr wrap="square" anchor="ctr">
            <a:spAutoFit/>
          </a:bodyPr>
          <a:lstStyle/>
          <a:p>
            <a:pPr algn="l">
              <a:spcAft>
                <a:spcPts val="300"/>
              </a:spcAft>
            </a:pPr>
            <a:r>
              <a:rPr sz="1600" b="1">
                <a:solidFill>
                  <a:srgbClr val="161B26"/>
                </a:solidFill>
                <a:latin typeface="Arial"/>
              </a:rPr>
              <a:t>Day 3</a:t>
            </a:r>
          </a:p>
          <a:p>
            <a:pPr algn="l">
              <a:spcAft>
                <a:spcPts val="300"/>
              </a:spcAft>
            </a:pPr>
            <a:r>
              <a:rPr sz="1200" b="0">
                <a:solidFill>
                  <a:srgbClr val="5B6372"/>
                </a:solidFill>
                <a:latin typeface="Arial"/>
              </a:rPr>
              <a:t>Resilient Cloud Solutions (Labs 11–15)</a:t>
            </a:r>
          </a:p>
        </p:txBody>
      </p:sp>
      <p:sp>
        <p:nvSpPr>
          <p:cNvPr id="22" name="Rectangle 21"/>
          <p:cNvSpPr/>
          <p:nvPr/>
        </p:nvSpPr>
        <p:spPr>
          <a:xfrm>
            <a:off x="6231636" y="3313176"/>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3176"/>
            <a:ext cx="91440" cy="13106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422904"/>
            <a:ext cx="3973068" cy="1127760"/>
          </a:xfrm>
          <a:prstGeom prst="rect">
            <a:avLst/>
          </a:prstGeom>
          <a:noFill/>
        </p:spPr>
        <p:txBody>
          <a:bodyPr wrap="square" anchor="ctr">
            <a:spAutoFit/>
          </a:bodyPr>
          <a:lstStyle/>
          <a:p>
            <a:pPr algn="l">
              <a:spcAft>
                <a:spcPts val="300"/>
              </a:spcAft>
            </a:pPr>
            <a:r>
              <a:rPr sz="1600" b="1">
                <a:solidFill>
                  <a:srgbClr val="161B26"/>
                </a:solidFill>
                <a:latin typeface="Arial"/>
              </a:rPr>
              <a:t>Day 4</a:t>
            </a:r>
          </a:p>
          <a:p>
            <a:pPr algn="l">
              <a:spcAft>
                <a:spcPts val="300"/>
              </a:spcAft>
            </a:pPr>
            <a:r>
              <a:rPr sz="1200" b="0">
                <a:solidFill>
                  <a:srgbClr val="5B6372"/>
                </a:solidFill>
                <a:latin typeface="Arial"/>
              </a:rPr>
              <a:t>Monitoring, Logging &amp; Incident Response (Labs 16–20)</a:t>
            </a:r>
          </a:p>
        </p:txBody>
      </p:sp>
      <p:sp>
        <p:nvSpPr>
          <p:cNvPr id="27" name="Rectangle 26"/>
          <p:cNvSpPr/>
          <p:nvPr/>
        </p:nvSpPr>
        <p:spPr>
          <a:xfrm>
            <a:off x="777240" y="4843272"/>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43272"/>
            <a:ext cx="91440" cy="13106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24272"/>
            <a:ext cx="548640" cy="548640"/>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2427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953000"/>
            <a:ext cx="3973068" cy="1127760"/>
          </a:xfrm>
          <a:prstGeom prst="rect">
            <a:avLst/>
          </a:prstGeom>
          <a:noFill/>
        </p:spPr>
        <p:txBody>
          <a:bodyPr wrap="square" anchor="ctr">
            <a:spAutoFit/>
          </a:bodyPr>
          <a:lstStyle/>
          <a:p>
            <a:pPr algn="l">
              <a:spcAft>
                <a:spcPts val="300"/>
              </a:spcAft>
            </a:pPr>
            <a:r>
              <a:rPr sz="1600" b="1">
                <a:solidFill>
                  <a:srgbClr val="161B26"/>
                </a:solidFill>
                <a:latin typeface="Arial"/>
              </a:rPr>
              <a:t>Day 5</a:t>
            </a:r>
          </a:p>
          <a:p>
            <a:pPr algn="l">
              <a:spcAft>
                <a:spcPts val="300"/>
              </a:spcAft>
            </a:pPr>
            <a:r>
              <a:rPr sz="1200" b="0">
                <a:solidFill>
                  <a:srgbClr val="5B6372"/>
                </a:solidFill>
                <a:latin typeface="Arial"/>
              </a:rPr>
              <a:t>Security, Compliance &amp; Capstone (Labs 21–25) + Final Assessment</a:t>
            </a:r>
          </a:p>
        </p:txBody>
      </p:sp>
      <p:sp>
        <p:nvSpPr>
          <p:cNvPr id="32" name="Rectangle 31"/>
          <p:cNvSpPr/>
          <p:nvPr/>
        </p:nvSpPr>
        <p:spPr>
          <a:xfrm>
            <a:off x="6231636" y="4843272"/>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43272"/>
            <a:ext cx="91440" cy="1310640"/>
          </a:xfrm>
          <a:prstGeom prst="rect">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24272"/>
            <a:ext cx="548640" cy="548640"/>
          </a:xfrm>
          <a:prstGeom prst="ellipse">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2427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953000"/>
            <a:ext cx="3973068" cy="1127760"/>
          </a:xfrm>
          <a:prstGeom prst="rect">
            <a:avLst/>
          </a:prstGeom>
          <a:noFill/>
        </p:spPr>
        <p:txBody>
          <a:bodyPr wrap="square" anchor="ctr">
            <a:spAutoFit/>
          </a:bodyPr>
          <a:lstStyle/>
          <a:p>
            <a:pPr algn="l">
              <a:spcAft>
                <a:spcPts val="300"/>
              </a:spcAft>
            </a:pPr>
            <a:r>
              <a:rPr sz="1600" b="1">
                <a:solidFill>
                  <a:srgbClr val="161B26"/>
                </a:solidFill>
                <a:latin typeface="Arial"/>
              </a:rPr>
              <a:t>Daily timing</a:t>
            </a:r>
          </a:p>
          <a:p>
            <a:pPr algn="l">
              <a:spcAft>
                <a:spcPts val="300"/>
              </a:spcAft>
            </a:pPr>
            <a:r>
              <a:rPr sz="1200" b="0">
                <a:solidFill>
                  <a:srgbClr val="5B6372"/>
                </a:solidFill>
                <a:latin typeface="Arial"/>
              </a:rPr>
              <a:t>9:30 am – 6:00 pm · 30-minute lunch · tea breaks within</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a:t>
            </a:r>
          </a:p>
        </p:txBody>
      </p:sp>
    </p:spTree>
  </p:cSld>
  <p:clrMapOvr>
    <a:masterClrMapping/>
  </p:clrMapOvr>
  <p:transition xmlns:p14="http://schemas.microsoft.com/office/powerpoint/2010/main" p14:dur="380">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ACHIEVE</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Learning Outcomes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10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6408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6408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127760"/>
          </a:xfrm>
          <a:prstGeom prst="rect">
            <a:avLst/>
          </a:prstGeom>
          <a:noFill/>
        </p:spPr>
        <p:txBody>
          <a:bodyPr wrap="square" anchor="ctr">
            <a:spAutoFit/>
          </a:bodyPr>
          <a:lstStyle/>
          <a:p>
            <a:pPr algn="l">
              <a:spcAft>
                <a:spcPts val="300"/>
              </a:spcAft>
            </a:pPr>
            <a:r>
              <a:rPr sz="1600" b="1">
                <a:solidFill>
                  <a:srgbClr val="161B26"/>
                </a:solidFill>
                <a:latin typeface="Arial"/>
              </a:rPr>
              <a:t>LO1</a:t>
            </a:r>
          </a:p>
          <a:p>
            <a:pPr algn="l">
              <a:spcAft>
                <a:spcPts val="300"/>
              </a:spcAft>
            </a:pPr>
            <a:r>
              <a:rPr sz="1200" b="0">
                <a:solidFill>
                  <a:srgbClr val="5B6372"/>
                </a:solidFill>
                <a:latin typeface="Arial"/>
              </a:rPr>
              <a:t>Develop an AWS CI/CD pipeline proof of concept.</a:t>
            </a:r>
          </a:p>
        </p:txBody>
      </p:sp>
      <p:sp>
        <p:nvSpPr>
          <p:cNvPr id="12" name="Rectangle 11"/>
          <p:cNvSpPr/>
          <p:nvPr/>
        </p:nvSpPr>
        <p:spPr>
          <a:xfrm>
            <a:off x="6231636" y="1783080"/>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3106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6408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6408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127760"/>
          </a:xfrm>
          <a:prstGeom prst="rect">
            <a:avLst/>
          </a:prstGeom>
          <a:noFill/>
        </p:spPr>
        <p:txBody>
          <a:bodyPr wrap="square" anchor="ctr">
            <a:spAutoFit/>
          </a:bodyPr>
          <a:lstStyle/>
          <a:p>
            <a:pPr algn="l">
              <a:spcAft>
                <a:spcPts val="300"/>
              </a:spcAft>
            </a:pPr>
            <a:r>
              <a:rPr sz="1600" b="1">
                <a:solidFill>
                  <a:srgbClr val="161B26"/>
                </a:solidFill>
                <a:latin typeface="Arial"/>
              </a:rPr>
              <a:t>LO2</a:t>
            </a:r>
          </a:p>
          <a:p>
            <a:pPr algn="l">
              <a:spcAft>
                <a:spcPts val="300"/>
              </a:spcAft>
            </a:pPr>
            <a:r>
              <a:rPr sz="1200" b="0">
                <a:solidFill>
                  <a:srgbClr val="5B6372"/>
                </a:solidFill>
                <a:latin typeface="Arial"/>
              </a:rPr>
              <a:t>Identify the technical and practical requirements in an AWS cloud infrastructure setup.</a:t>
            </a:r>
          </a:p>
        </p:txBody>
      </p:sp>
      <p:sp>
        <p:nvSpPr>
          <p:cNvPr id="17" name="Rectangle 16"/>
          <p:cNvSpPr/>
          <p:nvPr/>
        </p:nvSpPr>
        <p:spPr>
          <a:xfrm>
            <a:off x="777240" y="3313176"/>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3176"/>
            <a:ext cx="91440" cy="13106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422904"/>
            <a:ext cx="3973068" cy="1127760"/>
          </a:xfrm>
          <a:prstGeom prst="rect">
            <a:avLst/>
          </a:prstGeom>
          <a:noFill/>
        </p:spPr>
        <p:txBody>
          <a:bodyPr wrap="square" anchor="ctr">
            <a:spAutoFit/>
          </a:bodyPr>
          <a:lstStyle/>
          <a:p>
            <a:pPr algn="l">
              <a:spcAft>
                <a:spcPts val="300"/>
              </a:spcAft>
            </a:pPr>
            <a:r>
              <a:rPr sz="1600" b="1">
                <a:solidFill>
                  <a:srgbClr val="161B26"/>
                </a:solidFill>
                <a:latin typeface="Arial"/>
              </a:rPr>
              <a:t>LO3</a:t>
            </a:r>
          </a:p>
          <a:p>
            <a:pPr algn="l">
              <a:spcAft>
                <a:spcPts val="300"/>
              </a:spcAft>
            </a:pPr>
            <a:r>
              <a:rPr sz="1200" b="0">
                <a:solidFill>
                  <a:srgbClr val="5B6372"/>
                </a:solidFill>
                <a:latin typeface="Arial"/>
              </a:rPr>
              <a:t>Develop a resilient cloud solution based on AWS cloud components.</a:t>
            </a:r>
          </a:p>
        </p:txBody>
      </p:sp>
      <p:sp>
        <p:nvSpPr>
          <p:cNvPr id="22" name="Rectangle 21"/>
          <p:cNvSpPr/>
          <p:nvPr/>
        </p:nvSpPr>
        <p:spPr>
          <a:xfrm>
            <a:off x="6231636" y="3313176"/>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3176"/>
            <a:ext cx="91440" cy="13106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422904"/>
            <a:ext cx="3973068" cy="1127760"/>
          </a:xfrm>
          <a:prstGeom prst="rect">
            <a:avLst/>
          </a:prstGeom>
          <a:noFill/>
        </p:spPr>
        <p:txBody>
          <a:bodyPr wrap="square" anchor="ctr">
            <a:spAutoFit/>
          </a:bodyPr>
          <a:lstStyle/>
          <a:p>
            <a:pPr algn="l">
              <a:spcAft>
                <a:spcPts val="300"/>
              </a:spcAft>
            </a:pPr>
            <a:r>
              <a:rPr sz="1600" b="1">
                <a:solidFill>
                  <a:srgbClr val="161B26"/>
                </a:solidFill>
                <a:latin typeface="Arial"/>
              </a:rPr>
              <a:t>LO4</a:t>
            </a:r>
          </a:p>
          <a:p>
            <a:pPr algn="l">
              <a:spcAft>
                <a:spcPts val="300"/>
              </a:spcAft>
            </a:pPr>
            <a:r>
              <a:rPr sz="1200" b="0">
                <a:solidFill>
                  <a:srgbClr val="5B6372"/>
                </a:solidFill>
                <a:latin typeface="Arial"/>
              </a:rPr>
              <a:t>Implement regular AWS monitoring and perform necessary troubleshooting.</a:t>
            </a:r>
          </a:p>
        </p:txBody>
      </p:sp>
      <p:sp>
        <p:nvSpPr>
          <p:cNvPr id="27" name="Rectangle 26"/>
          <p:cNvSpPr/>
          <p:nvPr/>
        </p:nvSpPr>
        <p:spPr>
          <a:xfrm>
            <a:off x="777240" y="4843272"/>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43272"/>
            <a:ext cx="91440" cy="13106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24272"/>
            <a:ext cx="548640" cy="548640"/>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2427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953000"/>
            <a:ext cx="3973068" cy="1127760"/>
          </a:xfrm>
          <a:prstGeom prst="rect">
            <a:avLst/>
          </a:prstGeom>
          <a:noFill/>
        </p:spPr>
        <p:txBody>
          <a:bodyPr wrap="square" anchor="ctr">
            <a:spAutoFit/>
          </a:bodyPr>
          <a:lstStyle/>
          <a:p>
            <a:pPr algn="l">
              <a:spcAft>
                <a:spcPts val="300"/>
              </a:spcAft>
            </a:pPr>
            <a:r>
              <a:rPr sz="1600" b="1">
                <a:solidFill>
                  <a:srgbClr val="161B26"/>
                </a:solidFill>
                <a:latin typeface="Arial"/>
              </a:rPr>
              <a:t>LO5</a:t>
            </a:r>
          </a:p>
          <a:p>
            <a:pPr algn="l">
              <a:spcAft>
                <a:spcPts val="300"/>
              </a:spcAft>
            </a:pPr>
            <a:r>
              <a:rPr sz="1200" b="0">
                <a:solidFill>
                  <a:srgbClr val="5B6372"/>
                </a:solidFill>
                <a:latin typeface="Arial"/>
              </a:rPr>
              <a:t>Demonstrate solutions to incidents and business problems on the AWS cloud.</a:t>
            </a:r>
          </a:p>
        </p:txBody>
      </p:sp>
      <p:sp>
        <p:nvSpPr>
          <p:cNvPr id="32" name="Rectangle 31"/>
          <p:cNvSpPr/>
          <p:nvPr/>
        </p:nvSpPr>
        <p:spPr>
          <a:xfrm>
            <a:off x="6231636" y="4843272"/>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43272"/>
            <a:ext cx="91440" cy="1310640"/>
          </a:xfrm>
          <a:prstGeom prst="rect">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24272"/>
            <a:ext cx="548640" cy="548640"/>
          </a:xfrm>
          <a:prstGeom prst="ellipse">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2427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953000"/>
            <a:ext cx="3973068" cy="1127760"/>
          </a:xfrm>
          <a:prstGeom prst="rect">
            <a:avLst/>
          </a:prstGeom>
          <a:noFill/>
        </p:spPr>
        <p:txBody>
          <a:bodyPr wrap="square" anchor="ctr">
            <a:spAutoFit/>
          </a:bodyPr>
          <a:lstStyle/>
          <a:p>
            <a:pPr algn="l">
              <a:spcAft>
                <a:spcPts val="300"/>
              </a:spcAft>
            </a:pPr>
            <a:r>
              <a:rPr sz="1600" b="1">
                <a:solidFill>
                  <a:srgbClr val="161B26"/>
                </a:solidFill>
                <a:latin typeface="Arial"/>
              </a:rPr>
              <a:t>LO6</a:t>
            </a:r>
          </a:p>
          <a:p>
            <a:pPr algn="l">
              <a:spcAft>
                <a:spcPts val="300"/>
              </a:spcAft>
            </a:pPr>
            <a:r>
              <a:rPr sz="1200" b="0">
                <a:solidFill>
                  <a:srgbClr val="5B6372"/>
                </a:solidFill>
                <a:latin typeface="Arial"/>
              </a:rPr>
              <a:t>Prepare a technical blueprint to address security and compliance.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a:t>
            </a:r>
          </a:p>
        </p:txBody>
      </p:sp>
    </p:spTree>
  </p:cSld>
  <p:clrMapOvr>
    <a:masterClrMapping/>
  </p:clrMapOvr>
  <p:transition xmlns:p14="http://schemas.microsoft.com/office/powerpoint/2010/main" p14:dur="380">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TSC MAPPING · K1–K7 · A1–A6 · LO1–LO6</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Skills Framework Alignment (ICT-DES-4006-1.1)</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4466478"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6968" y="1783080"/>
            <a:ext cx="4283598" cy="502920"/>
          </a:xfrm>
          <a:prstGeom prst="rect">
            <a:avLst/>
          </a:prstGeom>
          <a:noFill/>
        </p:spPr>
        <p:txBody>
          <a:bodyPr wrap="square" anchor="ctr">
            <a:spAutoFit/>
          </a:bodyPr>
          <a:lstStyle/>
          <a:p>
            <a:pPr algn="l">
              <a:spcAft>
                <a:spcPts val="400"/>
              </a:spcAft>
            </a:pPr>
            <a:r>
              <a:rPr sz="1400" b="1">
                <a:solidFill>
                  <a:srgbClr val="FFFFFF"/>
                </a:solidFill>
                <a:latin typeface="Arial"/>
              </a:rPr>
              <a:t>Domain</a:t>
            </a:r>
          </a:p>
        </p:txBody>
      </p:sp>
      <p:sp>
        <p:nvSpPr>
          <p:cNvPr id="9" name="Rectangle 8"/>
          <p:cNvSpPr/>
          <p:nvPr/>
        </p:nvSpPr>
        <p:spPr>
          <a:xfrm>
            <a:off x="5243718" y="1783080"/>
            <a:ext cx="1701515"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53446" y="1783080"/>
            <a:ext cx="1518635" cy="502920"/>
          </a:xfrm>
          <a:prstGeom prst="rect">
            <a:avLst/>
          </a:prstGeom>
          <a:noFill/>
        </p:spPr>
        <p:txBody>
          <a:bodyPr wrap="square" anchor="ctr">
            <a:spAutoFit/>
          </a:bodyPr>
          <a:lstStyle/>
          <a:p>
            <a:pPr algn="ctr">
              <a:spcAft>
                <a:spcPts val="400"/>
              </a:spcAft>
            </a:pPr>
            <a:r>
              <a:rPr sz="1400" b="1">
                <a:solidFill>
                  <a:srgbClr val="FFFFFF"/>
                </a:solidFill>
                <a:latin typeface="Arial"/>
              </a:rPr>
              <a:t>Learning Outcome</a:t>
            </a:r>
          </a:p>
        </p:txBody>
      </p:sp>
      <p:sp>
        <p:nvSpPr>
          <p:cNvPr id="11" name="Rectangle 10"/>
          <p:cNvSpPr/>
          <p:nvPr/>
        </p:nvSpPr>
        <p:spPr>
          <a:xfrm>
            <a:off x="6945233" y="1783080"/>
            <a:ext cx="2233239"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54961" y="1783080"/>
            <a:ext cx="2050359" cy="502920"/>
          </a:xfrm>
          <a:prstGeom prst="rect">
            <a:avLst/>
          </a:prstGeom>
          <a:noFill/>
        </p:spPr>
        <p:txBody>
          <a:bodyPr wrap="square" anchor="ctr">
            <a:spAutoFit/>
          </a:bodyPr>
          <a:lstStyle/>
          <a:p>
            <a:pPr algn="ctr">
              <a:spcAft>
                <a:spcPts val="400"/>
              </a:spcAft>
            </a:pPr>
            <a:r>
              <a:rPr sz="1400" b="1">
                <a:solidFill>
                  <a:srgbClr val="FFFFFF"/>
                </a:solidFill>
                <a:latin typeface="Arial"/>
              </a:rPr>
              <a:t>Knowledge</a:t>
            </a:r>
          </a:p>
        </p:txBody>
      </p:sp>
      <p:sp>
        <p:nvSpPr>
          <p:cNvPr id="13" name="Rectangle 12"/>
          <p:cNvSpPr/>
          <p:nvPr/>
        </p:nvSpPr>
        <p:spPr>
          <a:xfrm>
            <a:off x="9178472" y="1783080"/>
            <a:ext cx="2233239"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88200" y="1783080"/>
            <a:ext cx="2050359" cy="502920"/>
          </a:xfrm>
          <a:prstGeom prst="rect">
            <a:avLst/>
          </a:prstGeom>
          <a:noFill/>
        </p:spPr>
        <p:txBody>
          <a:bodyPr wrap="square" anchor="ctr">
            <a:spAutoFit/>
          </a:bodyPr>
          <a:lstStyle/>
          <a:p>
            <a:pPr algn="ctr">
              <a:spcAft>
                <a:spcPts val="400"/>
              </a:spcAft>
            </a:pPr>
            <a:r>
              <a:rPr sz="1400" b="1">
                <a:solidFill>
                  <a:srgbClr val="FFFFFF"/>
                </a:solidFill>
                <a:latin typeface="Arial"/>
              </a:rPr>
              <a:t>Ability</a:t>
            </a:r>
          </a:p>
        </p:txBody>
      </p:sp>
      <p:sp>
        <p:nvSpPr>
          <p:cNvPr id="15" name="Rectangle 14"/>
          <p:cNvSpPr/>
          <p:nvPr/>
        </p:nvSpPr>
        <p:spPr>
          <a:xfrm>
            <a:off x="777240" y="2286000"/>
            <a:ext cx="4466478" cy="68580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6968" y="2286000"/>
            <a:ext cx="4283598" cy="685800"/>
          </a:xfrm>
          <a:prstGeom prst="rect">
            <a:avLst/>
          </a:prstGeom>
          <a:noFill/>
        </p:spPr>
        <p:txBody>
          <a:bodyPr wrap="square" anchor="ctr">
            <a:spAutoFit/>
          </a:bodyPr>
          <a:lstStyle/>
          <a:p>
            <a:pPr algn="l">
              <a:spcAft>
                <a:spcPts val="400"/>
              </a:spcAft>
            </a:pPr>
            <a:r>
              <a:rPr sz="1250" b="1">
                <a:solidFill>
                  <a:srgbClr val="161B26"/>
                </a:solidFill>
                <a:latin typeface="Arial"/>
              </a:rPr>
              <a:t>01 SDLC Automation</a:t>
            </a:r>
          </a:p>
        </p:txBody>
      </p:sp>
      <p:sp>
        <p:nvSpPr>
          <p:cNvPr id="17" name="Rectangle 16"/>
          <p:cNvSpPr/>
          <p:nvPr/>
        </p:nvSpPr>
        <p:spPr>
          <a:xfrm>
            <a:off x="5243718" y="2286000"/>
            <a:ext cx="1701515" cy="68580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53446" y="2286000"/>
            <a:ext cx="1518635" cy="685800"/>
          </a:xfrm>
          <a:prstGeom prst="rect">
            <a:avLst/>
          </a:prstGeom>
          <a:noFill/>
        </p:spPr>
        <p:txBody>
          <a:bodyPr wrap="square" anchor="ctr">
            <a:spAutoFit/>
          </a:bodyPr>
          <a:lstStyle/>
          <a:p>
            <a:pPr algn="ctr">
              <a:spcAft>
                <a:spcPts val="400"/>
              </a:spcAft>
            </a:pPr>
            <a:r>
              <a:rPr sz="1250" b="0">
                <a:solidFill>
                  <a:srgbClr val="5B6372"/>
                </a:solidFill>
                <a:latin typeface="Arial"/>
              </a:rPr>
              <a:t>LO1</a:t>
            </a:r>
          </a:p>
        </p:txBody>
      </p:sp>
      <p:sp>
        <p:nvSpPr>
          <p:cNvPr id="19" name="Rectangle 18"/>
          <p:cNvSpPr/>
          <p:nvPr/>
        </p:nvSpPr>
        <p:spPr>
          <a:xfrm>
            <a:off x="6945233" y="2286000"/>
            <a:ext cx="2233239" cy="68580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54961" y="2286000"/>
            <a:ext cx="2050359" cy="685800"/>
          </a:xfrm>
          <a:prstGeom prst="rect">
            <a:avLst/>
          </a:prstGeom>
          <a:noFill/>
        </p:spPr>
        <p:txBody>
          <a:bodyPr wrap="square" anchor="ctr">
            <a:spAutoFit/>
          </a:bodyPr>
          <a:lstStyle/>
          <a:p>
            <a:pPr algn="ctr">
              <a:spcAft>
                <a:spcPts val="400"/>
              </a:spcAft>
            </a:pPr>
            <a:r>
              <a:rPr sz="1250" b="0">
                <a:solidFill>
                  <a:srgbClr val="5B6372"/>
                </a:solidFill>
                <a:latin typeface="Arial"/>
              </a:rPr>
              <a:t>K1</a:t>
            </a:r>
          </a:p>
        </p:txBody>
      </p:sp>
      <p:sp>
        <p:nvSpPr>
          <p:cNvPr id="21" name="Rectangle 20"/>
          <p:cNvSpPr/>
          <p:nvPr/>
        </p:nvSpPr>
        <p:spPr>
          <a:xfrm>
            <a:off x="9178472" y="2286000"/>
            <a:ext cx="2233239" cy="68580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88200" y="2286000"/>
            <a:ext cx="2050359" cy="685800"/>
          </a:xfrm>
          <a:prstGeom prst="rect">
            <a:avLst/>
          </a:prstGeom>
          <a:noFill/>
        </p:spPr>
        <p:txBody>
          <a:bodyPr wrap="square" anchor="ctr">
            <a:spAutoFit/>
          </a:bodyPr>
          <a:lstStyle/>
          <a:p>
            <a:pPr algn="ctr">
              <a:spcAft>
                <a:spcPts val="400"/>
              </a:spcAft>
            </a:pPr>
            <a:r>
              <a:rPr sz="1250" b="0">
                <a:solidFill>
                  <a:srgbClr val="5B6372"/>
                </a:solidFill>
                <a:latin typeface="Arial"/>
              </a:rPr>
              <a:t>A1</a:t>
            </a:r>
          </a:p>
        </p:txBody>
      </p:sp>
      <p:sp>
        <p:nvSpPr>
          <p:cNvPr id="23" name="Rectangle 22"/>
          <p:cNvSpPr/>
          <p:nvPr/>
        </p:nvSpPr>
        <p:spPr>
          <a:xfrm>
            <a:off x="777240" y="2971800"/>
            <a:ext cx="4466478" cy="6858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86968" y="2971800"/>
            <a:ext cx="4283598" cy="685800"/>
          </a:xfrm>
          <a:prstGeom prst="rect">
            <a:avLst/>
          </a:prstGeom>
          <a:noFill/>
        </p:spPr>
        <p:txBody>
          <a:bodyPr wrap="square" anchor="ctr">
            <a:spAutoFit/>
          </a:bodyPr>
          <a:lstStyle/>
          <a:p>
            <a:pPr algn="l">
              <a:spcAft>
                <a:spcPts val="400"/>
              </a:spcAft>
            </a:pPr>
            <a:r>
              <a:rPr sz="1250" b="1">
                <a:solidFill>
                  <a:srgbClr val="161B26"/>
                </a:solidFill>
                <a:latin typeface="Arial"/>
              </a:rPr>
              <a:t>02 Configuration Management and IaC</a:t>
            </a:r>
          </a:p>
        </p:txBody>
      </p:sp>
      <p:sp>
        <p:nvSpPr>
          <p:cNvPr id="25" name="Rectangle 24"/>
          <p:cNvSpPr/>
          <p:nvPr/>
        </p:nvSpPr>
        <p:spPr>
          <a:xfrm>
            <a:off x="5243718" y="2971800"/>
            <a:ext cx="1701515" cy="6858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53446" y="2971800"/>
            <a:ext cx="1518635" cy="685800"/>
          </a:xfrm>
          <a:prstGeom prst="rect">
            <a:avLst/>
          </a:prstGeom>
          <a:noFill/>
        </p:spPr>
        <p:txBody>
          <a:bodyPr wrap="square" anchor="ctr">
            <a:spAutoFit/>
          </a:bodyPr>
          <a:lstStyle/>
          <a:p>
            <a:pPr algn="ctr">
              <a:spcAft>
                <a:spcPts val="400"/>
              </a:spcAft>
            </a:pPr>
            <a:r>
              <a:rPr sz="1250" b="0">
                <a:solidFill>
                  <a:srgbClr val="5B6372"/>
                </a:solidFill>
                <a:latin typeface="Arial"/>
              </a:rPr>
              <a:t>LO2</a:t>
            </a:r>
          </a:p>
        </p:txBody>
      </p:sp>
      <p:sp>
        <p:nvSpPr>
          <p:cNvPr id="27" name="Rectangle 26"/>
          <p:cNvSpPr/>
          <p:nvPr/>
        </p:nvSpPr>
        <p:spPr>
          <a:xfrm>
            <a:off x="6945233" y="2971800"/>
            <a:ext cx="2233239" cy="6858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54961" y="2971800"/>
            <a:ext cx="2050359" cy="685800"/>
          </a:xfrm>
          <a:prstGeom prst="rect">
            <a:avLst/>
          </a:prstGeom>
          <a:noFill/>
        </p:spPr>
        <p:txBody>
          <a:bodyPr wrap="square" anchor="ctr">
            <a:spAutoFit/>
          </a:bodyPr>
          <a:lstStyle/>
          <a:p>
            <a:pPr algn="ctr">
              <a:spcAft>
                <a:spcPts val="400"/>
              </a:spcAft>
            </a:pPr>
            <a:r>
              <a:rPr sz="1250" b="0">
                <a:solidFill>
                  <a:srgbClr val="5B6372"/>
                </a:solidFill>
                <a:latin typeface="Arial"/>
              </a:rPr>
              <a:t>K3</a:t>
            </a:r>
          </a:p>
        </p:txBody>
      </p:sp>
      <p:sp>
        <p:nvSpPr>
          <p:cNvPr id="29" name="Rectangle 28"/>
          <p:cNvSpPr/>
          <p:nvPr/>
        </p:nvSpPr>
        <p:spPr>
          <a:xfrm>
            <a:off x="9178472" y="2971800"/>
            <a:ext cx="2233239" cy="6858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288200" y="2971800"/>
            <a:ext cx="2050359" cy="685800"/>
          </a:xfrm>
          <a:prstGeom prst="rect">
            <a:avLst/>
          </a:prstGeom>
          <a:noFill/>
        </p:spPr>
        <p:txBody>
          <a:bodyPr wrap="square" anchor="ctr">
            <a:spAutoFit/>
          </a:bodyPr>
          <a:lstStyle/>
          <a:p>
            <a:pPr algn="ctr">
              <a:spcAft>
                <a:spcPts val="400"/>
              </a:spcAft>
            </a:pPr>
            <a:r>
              <a:rPr sz="1250" b="0">
                <a:solidFill>
                  <a:srgbClr val="5B6372"/>
                </a:solidFill>
                <a:latin typeface="Arial"/>
              </a:rPr>
              <a:t>A3</a:t>
            </a:r>
          </a:p>
        </p:txBody>
      </p:sp>
      <p:sp>
        <p:nvSpPr>
          <p:cNvPr id="31" name="Rectangle 30"/>
          <p:cNvSpPr/>
          <p:nvPr/>
        </p:nvSpPr>
        <p:spPr>
          <a:xfrm>
            <a:off x="777240" y="3657600"/>
            <a:ext cx="4466478" cy="68580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6968" y="3657600"/>
            <a:ext cx="4283598" cy="685800"/>
          </a:xfrm>
          <a:prstGeom prst="rect">
            <a:avLst/>
          </a:prstGeom>
          <a:noFill/>
        </p:spPr>
        <p:txBody>
          <a:bodyPr wrap="square" anchor="ctr">
            <a:spAutoFit/>
          </a:bodyPr>
          <a:lstStyle/>
          <a:p>
            <a:pPr algn="l">
              <a:spcAft>
                <a:spcPts val="400"/>
              </a:spcAft>
            </a:pPr>
            <a:r>
              <a:rPr sz="1250" b="1">
                <a:solidFill>
                  <a:srgbClr val="161B26"/>
                </a:solidFill>
                <a:latin typeface="Arial"/>
              </a:rPr>
              <a:t>03 Resilient Cloud Solutions</a:t>
            </a:r>
          </a:p>
        </p:txBody>
      </p:sp>
      <p:sp>
        <p:nvSpPr>
          <p:cNvPr id="33" name="Rectangle 32"/>
          <p:cNvSpPr/>
          <p:nvPr/>
        </p:nvSpPr>
        <p:spPr>
          <a:xfrm>
            <a:off x="5243718" y="3657600"/>
            <a:ext cx="1701515" cy="68580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353446" y="3657600"/>
            <a:ext cx="1518635" cy="685800"/>
          </a:xfrm>
          <a:prstGeom prst="rect">
            <a:avLst/>
          </a:prstGeom>
          <a:noFill/>
        </p:spPr>
        <p:txBody>
          <a:bodyPr wrap="square" anchor="ctr">
            <a:spAutoFit/>
          </a:bodyPr>
          <a:lstStyle/>
          <a:p>
            <a:pPr algn="ctr">
              <a:spcAft>
                <a:spcPts val="400"/>
              </a:spcAft>
            </a:pPr>
            <a:r>
              <a:rPr sz="1250" b="0">
                <a:solidFill>
                  <a:srgbClr val="5B6372"/>
                </a:solidFill>
                <a:latin typeface="Arial"/>
              </a:rPr>
              <a:t>LO3</a:t>
            </a:r>
          </a:p>
        </p:txBody>
      </p:sp>
      <p:sp>
        <p:nvSpPr>
          <p:cNvPr id="35" name="Rectangle 34"/>
          <p:cNvSpPr/>
          <p:nvPr/>
        </p:nvSpPr>
        <p:spPr>
          <a:xfrm>
            <a:off x="6945233" y="3657600"/>
            <a:ext cx="2233239" cy="68580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054961" y="3657600"/>
            <a:ext cx="2050359" cy="685800"/>
          </a:xfrm>
          <a:prstGeom prst="rect">
            <a:avLst/>
          </a:prstGeom>
          <a:noFill/>
        </p:spPr>
        <p:txBody>
          <a:bodyPr wrap="square" anchor="ctr">
            <a:spAutoFit/>
          </a:bodyPr>
          <a:lstStyle/>
          <a:p>
            <a:pPr algn="ctr">
              <a:spcAft>
                <a:spcPts val="400"/>
              </a:spcAft>
            </a:pPr>
            <a:r>
              <a:rPr sz="1250" b="0">
                <a:solidFill>
                  <a:srgbClr val="5B6372"/>
                </a:solidFill>
                <a:latin typeface="Arial"/>
              </a:rPr>
              <a:t>K2, K4</a:t>
            </a:r>
          </a:p>
        </p:txBody>
      </p:sp>
      <p:sp>
        <p:nvSpPr>
          <p:cNvPr id="37" name="Rectangle 36"/>
          <p:cNvSpPr/>
          <p:nvPr/>
        </p:nvSpPr>
        <p:spPr>
          <a:xfrm>
            <a:off x="9178472" y="3657600"/>
            <a:ext cx="2233239" cy="68580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88200" y="3657600"/>
            <a:ext cx="2050359" cy="685800"/>
          </a:xfrm>
          <a:prstGeom prst="rect">
            <a:avLst/>
          </a:prstGeom>
          <a:noFill/>
        </p:spPr>
        <p:txBody>
          <a:bodyPr wrap="square" anchor="ctr">
            <a:spAutoFit/>
          </a:bodyPr>
          <a:lstStyle/>
          <a:p>
            <a:pPr algn="ctr">
              <a:spcAft>
                <a:spcPts val="400"/>
              </a:spcAft>
            </a:pPr>
            <a:r>
              <a:rPr sz="1250" b="0">
                <a:solidFill>
                  <a:srgbClr val="5B6372"/>
                </a:solidFill>
                <a:latin typeface="Arial"/>
              </a:rPr>
              <a:t>A2</a:t>
            </a:r>
          </a:p>
        </p:txBody>
      </p:sp>
      <p:sp>
        <p:nvSpPr>
          <p:cNvPr id="39" name="Rectangle 38"/>
          <p:cNvSpPr/>
          <p:nvPr/>
        </p:nvSpPr>
        <p:spPr>
          <a:xfrm>
            <a:off x="777240" y="4343400"/>
            <a:ext cx="4466478" cy="6858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86968" y="4343400"/>
            <a:ext cx="4283598" cy="685800"/>
          </a:xfrm>
          <a:prstGeom prst="rect">
            <a:avLst/>
          </a:prstGeom>
          <a:noFill/>
        </p:spPr>
        <p:txBody>
          <a:bodyPr wrap="square" anchor="ctr">
            <a:spAutoFit/>
          </a:bodyPr>
          <a:lstStyle/>
          <a:p>
            <a:pPr algn="l">
              <a:spcAft>
                <a:spcPts val="400"/>
              </a:spcAft>
            </a:pPr>
            <a:r>
              <a:rPr sz="1250" b="1">
                <a:solidFill>
                  <a:srgbClr val="161B26"/>
                </a:solidFill>
                <a:latin typeface="Arial"/>
              </a:rPr>
              <a:t>04 Monitoring and Logging</a:t>
            </a:r>
          </a:p>
        </p:txBody>
      </p:sp>
      <p:sp>
        <p:nvSpPr>
          <p:cNvPr id="41" name="Rectangle 40"/>
          <p:cNvSpPr/>
          <p:nvPr/>
        </p:nvSpPr>
        <p:spPr>
          <a:xfrm>
            <a:off x="5243718" y="4343400"/>
            <a:ext cx="1701515" cy="6858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353446" y="4343400"/>
            <a:ext cx="1518635" cy="685800"/>
          </a:xfrm>
          <a:prstGeom prst="rect">
            <a:avLst/>
          </a:prstGeom>
          <a:noFill/>
        </p:spPr>
        <p:txBody>
          <a:bodyPr wrap="square" anchor="ctr">
            <a:spAutoFit/>
          </a:bodyPr>
          <a:lstStyle/>
          <a:p>
            <a:pPr algn="ctr">
              <a:spcAft>
                <a:spcPts val="400"/>
              </a:spcAft>
            </a:pPr>
            <a:r>
              <a:rPr sz="1250" b="0">
                <a:solidFill>
                  <a:srgbClr val="5B6372"/>
                </a:solidFill>
                <a:latin typeface="Arial"/>
              </a:rPr>
              <a:t>LO4</a:t>
            </a:r>
          </a:p>
        </p:txBody>
      </p:sp>
      <p:sp>
        <p:nvSpPr>
          <p:cNvPr id="43" name="Rectangle 42"/>
          <p:cNvSpPr/>
          <p:nvPr/>
        </p:nvSpPr>
        <p:spPr>
          <a:xfrm>
            <a:off x="6945233" y="4343400"/>
            <a:ext cx="2233239" cy="6858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054961" y="4343400"/>
            <a:ext cx="2050359" cy="685800"/>
          </a:xfrm>
          <a:prstGeom prst="rect">
            <a:avLst/>
          </a:prstGeom>
          <a:noFill/>
        </p:spPr>
        <p:txBody>
          <a:bodyPr wrap="square" anchor="ctr">
            <a:spAutoFit/>
          </a:bodyPr>
          <a:lstStyle/>
          <a:p>
            <a:pPr algn="ctr">
              <a:spcAft>
                <a:spcPts val="400"/>
              </a:spcAft>
            </a:pPr>
            <a:r>
              <a:rPr sz="1250" b="0">
                <a:solidFill>
                  <a:srgbClr val="5B6372"/>
                </a:solidFill>
                <a:latin typeface="Arial"/>
              </a:rPr>
              <a:t>K5</a:t>
            </a:r>
          </a:p>
        </p:txBody>
      </p:sp>
      <p:sp>
        <p:nvSpPr>
          <p:cNvPr id="45" name="Rectangle 44"/>
          <p:cNvSpPr/>
          <p:nvPr/>
        </p:nvSpPr>
        <p:spPr>
          <a:xfrm>
            <a:off x="9178472" y="4343400"/>
            <a:ext cx="2233239" cy="6858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288200" y="4343400"/>
            <a:ext cx="2050359" cy="685800"/>
          </a:xfrm>
          <a:prstGeom prst="rect">
            <a:avLst/>
          </a:prstGeom>
          <a:noFill/>
        </p:spPr>
        <p:txBody>
          <a:bodyPr wrap="square" anchor="ctr">
            <a:spAutoFit/>
          </a:bodyPr>
          <a:lstStyle/>
          <a:p>
            <a:pPr algn="ctr">
              <a:spcAft>
                <a:spcPts val="400"/>
              </a:spcAft>
            </a:pPr>
            <a:r>
              <a:rPr sz="1250" b="0">
                <a:solidFill>
                  <a:srgbClr val="5B6372"/>
                </a:solidFill>
                <a:latin typeface="Arial"/>
              </a:rPr>
              <a:t>A6</a:t>
            </a:r>
          </a:p>
        </p:txBody>
      </p:sp>
      <p:sp>
        <p:nvSpPr>
          <p:cNvPr id="47" name="Rectangle 46"/>
          <p:cNvSpPr/>
          <p:nvPr/>
        </p:nvSpPr>
        <p:spPr>
          <a:xfrm>
            <a:off x="777240" y="5029200"/>
            <a:ext cx="4466478" cy="68580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86968" y="5029200"/>
            <a:ext cx="4283598" cy="685800"/>
          </a:xfrm>
          <a:prstGeom prst="rect">
            <a:avLst/>
          </a:prstGeom>
          <a:noFill/>
        </p:spPr>
        <p:txBody>
          <a:bodyPr wrap="square" anchor="ctr">
            <a:spAutoFit/>
          </a:bodyPr>
          <a:lstStyle/>
          <a:p>
            <a:pPr algn="l">
              <a:spcAft>
                <a:spcPts val="400"/>
              </a:spcAft>
            </a:pPr>
            <a:r>
              <a:rPr sz="1250" b="1">
                <a:solidFill>
                  <a:srgbClr val="161B26"/>
                </a:solidFill>
                <a:latin typeface="Arial"/>
              </a:rPr>
              <a:t>05 Incident and Event Response</a:t>
            </a:r>
          </a:p>
        </p:txBody>
      </p:sp>
      <p:sp>
        <p:nvSpPr>
          <p:cNvPr id="49" name="Rectangle 48"/>
          <p:cNvSpPr/>
          <p:nvPr/>
        </p:nvSpPr>
        <p:spPr>
          <a:xfrm>
            <a:off x="5243718" y="5029200"/>
            <a:ext cx="1701515" cy="68580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353446" y="5029200"/>
            <a:ext cx="1518635" cy="685800"/>
          </a:xfrm>
          <a:prstGeom prst="rect">
            <a:avLst/>
          </a:prstGeom>
          <a:noFill/>
        </p:spPr>
        <p:txBody>
          <a:bodyPr wrap="square" anchor="ctr">
            <a:spAutoFit/>
          </a:bodyPr>
          <a:lstStyle/>
          <a:p>
            <a:pPr algn="ctr">
              <a:spcAft>
                <a:spcPts val="400"/>
              </a:spcAft>
            </a:pPr>
            <a:r>
              <a:rPr sz="1250" b="0">
                <a:solidFill>
                  <a:srgbClr val="5B6372"/>
                </a:solidFill>
                <a:latin typeface="Arial"/>
              </a:rPr>
              <a:t>LO5</a:t>
            </a:r>
          </a:p>
        </p:txBody>
      </p:sp>
      <p:sp>
        <p:nvSpPr>
          <p:cNvPr id="51" name="Rectangle 50"/>
          <p:cNvSpPr/>
          <p:nvPr/>
        </p:nvSpPr>
        <p:spPr>
          <a:xfrm>
            <a:off x="6945233" y="5029200"/>
            <a:ext cx="2233239" cy="68580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054961" y="5029200"/>
            <a:ext cx="2050359" cy="685800"/>
          </a:xfrm>
          <a:prstGeom prst="rect">
            <a:avLst/>
          </a:prstGeom>
          <a:noFill/>
        </p:spPr>
        <p:txBody>
          <a:bodyPr wrap="square" anchor="ctr">
            <a:spAutoFit/>
          </a:bodyPr>
          <a:lstStyle/>
          <a:p>
            <a:pPr algn="ctr">
              <a:spcAft>
                <a:spcPts val="400"/>
              </a:spcAft>
            </a:pPr>
            <a:r>
              <a:rPr sz="1250" b="0">
                <a:solidFill>
                  <a:srgbClr val="5B6372"/>
                </a:solidFill>
                <a:latin typeface="Arial"/>
              </a:rPr>
              <a:t>K7</a:t>
            </a:r>
          </a:p>
        </p:txBody>
      </p:sp>
      <p:sp>
        <p:nvSpPr>
          <p:cNvPr id="53" name="Rectangle 52"/>
          <p:cNvSpPr/>
          <p:nvPr/>
        </p:nvSpPr>
        <p:spPr>
          <a:xfrm>
            <a:off x="9178472" y="5029200"/>
            <a:ext cx="2233239" cy="68580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288200" y="5029200"/>
            <a:ext cx="2050359" cy="685800"/>
          </a:xfrm>
          <a:prstGeom prst="rect">
            <a:avLst/>
          </a:prstGeom>
          <a:noFill/>
        </p:spPr>
        <p:txBody>
          <a:bodyPr wrap="square" anchor="ctr">
            <a:spAutoFit/>
          </a:bodyPr>
          <a:lstStyle/>
          <a:p>
            <a:pPr algn="ctr">
              <a:spcAft>
                <a:spcPts val="400"/>
              </a:spcAft>
            </a:pPr>
            <a:r>
              <a:rPr sz="1250" b="0">
                <a:solidFill>
                  <a:srgbClr val="5B6372"/>
                </a:solidFill>
                <a:latin typeface="Arial"/>
              </a:rPr>
              <a:t>A5</a:t>
            </a:r>
          </a:p>
        </p:txBody>
      </p:sp>
      <p:sp>
        <p:nvSpPr>
          <p:cNvPr id="55" name="Rectangle 54"/>
          <p:cNvSpPr/>
          <p:nvPr/>
        </p:nvSpPr>
        <p:spPr>
          <a:xfrm>
            <a:off x="777240" y="5715000"/>
            <a:ext cx="4466478" cy="6858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86968" y="5715000"/>
            <a:ext cx="4283598" cy="685800"/>
          </a:xfrm>
          <a:prstGeom prst="rect">
            <a:avLst/>
          </a:prstGeom>
          <a:noFill/>
        </p:spPr>
        <p:txBody>
          <a:bodyPr wrap="square" anchor="ctr">
            <a:spAutoFit/>
          </a:bodyPr>
          <a:lstStyle/>
          <a:p>
            <a:pPr algn="l">
              <a:spcAft>
                <a:spcPts val="400"/>
              </a:spcAft>
            </a:pPr>
            <a:r>
              <a:rPr sz="1250" b="1">
                <a:solidFill>
                  <a:srgbClr val="161B26"/>
                </a:solidFill>
                <a:latin typeface="Arial"/>
              </a:rPr>
              <a:t>06 Security and Compliance</a:t>
            </a:r>
          </a:p>
        </p:txBody>
      </p:sp>
      <p:sp>
        <p:nvSpPr>
          <p:cNvPr id="57" name="Rectangle 56"/>
          <p:cNvSpPr/>
          <p:nvPr/>
        </p:nvSpPr>
        <p:spPr>
          <a:xfrm>
            <a:off x="5243718" y="5715000"/>
            <a:ext cx="1701515" cy="6858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353446" y="5715000"/>
            <a:ext cx="1518635" cy="685800"/>
          </a:xfrm>
          <a:prstGeom prst="rect">
            <a:avLst/>
          </a:prstGeom>
          <a:noFill/>
        </p:spPr>
        <p:txBody>
          <a:bodyPr wrap="square" anchor="ctr">
            <a:spAutoFit/>
          </a:bodyPr>
          <a:lstStyle/>
          <a:p>
            <a:pPr algn="ctr">
              <a:spcAft>
                <a:spcPts val="400"/>
              </a:spcAft>
            </a:pPr>
            <a:r>
              <a:rPr sz="1250" b="0">
                <a:solidFill>
                  <a:srgbClr val="5B6372"/>
                </a:solidFill>
                <a:latin typeface="Arial"/>
              </a:rPr>
              <a:t>LO6</a:t>
            </a:r>
          </a:p>
        </p:txBody>
      </p:sp>
      <p:sp>
        <p:nvSpPr>
          <p:cNvPr id="59" name="Rectangle 58"/>
          <p:cNvSpPr/>
          <p:nvPr/>
        </p:nvSpPr>
        <p:spPr>
          <a:xfrm>
            <a:off x="6945233" y="5715000"/>
            <a:ext cx="2233239" cy="6858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054961" y="5715000"/>
            <a:ext cx="2050359" cy="685800"/>
          </a:xfrm>
          <a:prstGeom prst="rect">
            <a:avLst/>
          </a:prstGeom>
          <a:noFill/>
        </p:spPr>
        <p:txBody>
          <a:bodyPr wrap="square" anchor="ctr">
            <a:spAutoFit/>
          </a:bodyPr>
          <a:lstStyle/>
          <a:p>
            <a:pPr algn="ctr">
              <a:spcAft>
                <a:spcPts val="400"/>
              </a:spcAft>
            </a:pPr>
            <a:r>
              <a:rPr sz="1250" b="0">
                <a:solidFill>
                  <a:srgbClr val="5B6372"/>
                </a:solidFill>
                <a:latin typeface="Arial"/>
              </a:rPr>
              <a:t>K6</a:t>
            </a:r>
          </a:p>
        </p:txBody>
      </p:sp>
      <p:sp>
        <p:nvSpPr>
          <p:cNvPr id="61" name="Rectangle 60"/>
          <p:cNvSpPr/>
          <p:nvPr/>
        </p:nvSpPr>
        <p:spPr>
          <a:xfrm>
            <a:off x="9178472" y="5715000"/>
            <a:ext cx="2233239" cy="6858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9288200" y="5715000"/>
            <a:ext cx="2050359" cy="685800"/>
          </a:xfrm>
          <a:prstGeom prst="rect">
            <a:avLst/>
          </a:prstGeom>
          <a:noFill/>
        </p:spPr>
        <p:txBody>
          <a:bodyPr wrap="square" anchor="ctr">
            <a:spAutoFit/>
          </a:bodyPr>
          <a:lstStyle/>
          <a:p>
            <a:pPr algn="ctr">
              <a:spcAft>
                <a:spcPts val="400"/>
              </a:spcAft>
            </a:pPr>
            <a:r>
              <a:rPr sz="1250" b="0">
                <a:solidFill>
                  <a:srgbClr val="5B6372"/>
                </a:solidFill>
                <a:latin typeface="Arial"/>
              </a:rPr>
              <a:t>A4</a:t>
            </a:r>
          </a:p>
        </p:txBody>
      </p:sp>
      <p:sp>
        <p:nvSpPr>
          <p:cNvPr id="63" name="TextBox 6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64" name="TextBox 6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65" name="TextBox 6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a:t>
            </a:r>
          </a:p>
        </p:txBody>
      </p:sp>
    </p:spTree>
  </p:cSld>
  <p:clrMapOvr>
    <a:masterClrMapping/>
  </p:clrMapOvr>
  <p:transition xmlns:p14="http://schemas.microsoft.com/office/powerpoint/2010/main" p14:dur="380">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BEFORE THE ASSESSMENT</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Briefing for Assessment</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Place phones and other materials under the table or on the floor unless the assessment is open book.</a:t>
            </a:r>
          </a:p>
          <a:p>
            <a:pPr>
              <a:spcAft>
                <a:spcPts val="1000"/>
              </a:spcAft>
            </a:pPr>
            <a:r>
              <a:rPr sz="2000" b="0">
                <a:solidFill>
                  <a:srgbClr val="161B26"/>
                </a:solidFill>
                <a:latin typeface="Arial"/>
              </a:rPr>
              <a:t>•  No photos or recording of assessment scripts.</a:t>
            </a:r>
          </a:p>
          <a:p>
            <a:pPr>
              <a:spcAft>
                <a:spcPts val="1000"/>
              </a:spcAft>
            </a:pPr>
            <a:r>
              <a:rPr sz="2000" b="0">
                <a:solidFill>
                  <a:srgbClr val="161B26"/>
                </a:solidFill>
                <a:latin typeface="Arial"/>
              </a:rPr>
              <a:t>•  No discussion during the assessment.</a:t>
            </a:r>
          </a:p>
          <a:p>
            <a:pPr>
              <a:spcAft>
                <a:spcPts val="1000"/>
              </a:spcAft>
            </a:pPr>
            <a:r>
              <a:rPr sz="2000" b="0">
                <a:solidFill>
                  <a:srgbClr val="161B26"/>
                </a:solidFill>
                <a:latin typeface="Arial"/>
              </a:rPr>
              <a:t>•  Use a black/blue pen for hard-copy assessments.</a:t>
            </a:r>
          </a:p>
          <a:p>
            <a:pPr>
              <a:spcAft>
                <a:spcPts val="1000"/>
              </a:spcAft>
            </a:pPr>
            <a:r>
              <a:rPr sz="2000" b="0">
                <a:solidFill>
                  <a:srgbClr val="161B26"/>
                </a:solidFill>
                <a:latin typeface="Arial"/>
              </a:rPr>
              <a:t>•  No liquid paper / correction tape.</a:t>
            </a:r>
          </a:p>
          <a:p>
            <a:pPr>
              <a:spcAft>
                <a:spcPts val="1000"/>
              </a:spcAft>
            </a:pPr>
            <a:r>
              <a:rPr sz="2000" b="0">
                <a:solidFill>
                  <a:srgbClr val="161B26"/>
                </a:solidFill>
                <a:latin typeface="Arial"/>
              </a:rPr>
              <a:t>•  Scripts are collected when time is up.</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a:t>
            </a:r>
          </a:p>
        </p:txBody>
      </p:sp>
    </p:spTree>
  </p:cSld>
  <p:clrMapOvr>
    <a:masterClrMapping/>
  </p:clrMapOvr>
  <p:transition xmlns:p14="http://schemas.microsoft.com/office/powerpoint/2010/main" p14:dur="380">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FINAL ASSESSMENT</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Assessment</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Written Assessment (WA) — Short-Answer Questions (SAQ), 1 hour, open book.</a:t>
            </a:r>
          </a:p>
          <a:p>
            <a:pPr>
              <a:spcAft>
                <a:spcPts val="1000"/>
              </a:spcAft>
            </a:pPr>
            <a:r>
              <a:rPr sz="2000" b="0">
                <a:solidFill>
                  <a:srgbClr val="161B26"/>
                </a:solidFill>
                <a:latin typeface="Arial"/>
              </a:rPr>
              <a:t>•  Practical Performance (PP) — hands-on AWS DevOps tasks, 2 hours, open book.</a:t>
            </a:r>
          </a:p>
          <a:p>
            <a:pPr>
              <a:spcAft>
                <a:spcPts val="1000"/>
              </a:spcAft>
            </a:pPr>
            <a:r>
              <a:rPr sz="2000" b="0">
                <a:solidFill>
                  <a:srgbClr val="161B26"/>
                </a:solidFill>
                <a:latin typeface="Arial"/>
              </a:rPr>
              <a:t>•  Format: Open Book — course slides, Learner Guide and approved materials only.</a:t>
            </a:r>
          </a:p>
          <a:p>
            <a:pPr>
              <a:spcAft>
                <a:spcPts val="1000"/>
              </a:spcAft>
            </a:pPr>
            <a:r>
              <a:rPr sz="2000" b="0">
                <a:solidFill>
                  <a:srgbClr val="161B26"/>
                </a:solidFill>
                <a:latin typeface="Arial"/>
              </a:rPr>
              <a:t>•  Conducted on Day 5 after the training content (3 assessment hours in total — WA 1 hour + PP 2 hours).</a:t>
            </a:r>
          </a:p>
          <a:p>
            <a:pPr>
              <a:spcAft>
                <a:spcPts val="1000"/>
              </a:spcAft>
            </a:pPr>
            <a:r>
              <a:rPr sz="2000" b="0">
                <a:solidFill>
                  <a:srgbClr val="161B26"/>
                </a:solidFill>
                <a:latin typeface="Arial"/>
              </a:rPr>
              <a:t>•  A minimum of 75% attendance is required to be eligible for assessment and funding.</a:t>
            </a:r>
          </a:p>
          <a:p>
            <a:pPr>
              <a:spcAft>
                <a:spcPts val="1000"/>
              </a:spcAft>
            </a:pPr>
            <a:r>
              <a:rPr sz="2000" b="0">
                <a:solidFill>
                  <a:srgbClr val="161B26"/>
                </a:solidFill>
                <a:latin typeface="Arial"/>
              </a:rPr>
              <a:t>•  An appeal process is available if required.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a:t>
            </a:r>
          </a:p>
        </p:txBody>
      </p:sp>
    </p:spTree>
  </p:cSld>
  <p:clrMapOvr>
    <a:masterClrMapping/>
  </p:clrMapOvr>
  <p:transition xmlns:p14="http://schemas.microsoft.com/office/powerpoint/2010/main" p14:dur="380">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TRAQOM survey — scan the QR code on the LMS</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Assessment digital attendance — scan the SSG QR</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Sit WA (SAQ) then PP — open book</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Submit your answers on the LMS</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Sign the Assessment Summary Record</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a:t>
            </a:r>
          </a:p>
        </p:txBody>
      </p:sp>
    </p:spTree>
  </p:cSld>
  <p:clrMapOvr>
    <a:masterClrMapping/>
  </p:clrMapOvr>
  <p:transition xmlns:p14="http://schemas.microsoft.com/office/powerpoint/2010/main" p14:dur="380">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FOUNDATIONS</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DevOps Engineering on AWS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a:t>
            </a:r>
          </a:p>
        </p:txBody>
      </p:sp>
    </p:spTree>
  </p:cSld>
  <p:clrMapOvr>
    <a:masterClrMapping/>
  </p:clrMapOvr>
  <p:transition xmlns:p14="http://schemas.microsoft.com/office/powerpoint/2010/main" p14:dur="380">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MINDSET</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What is DevOps?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700" b="1">
                <a:solidFill>
                  <a:srgbClr val="161B26"/>
                </a:solidFill>
                <a:latin typeface="Arial"/>
              </a:rPr>
              <a:t>Culture + practice</a:t>
            </a:r>
          </a:p>
          <a:p>
            <a:pPr algn="l">
              <a:spcAft>
                <a:spcPts val="300"/>
              </a:spcAft>
            </a:pPr>
            <a:r>
              <a:rPr sz="1300" b="0">
                <a:solidFill>
                  <a:srgbClr val="5B6372"/>
                </a:solidFill>
                <a:latin typeface="Arial"/>
              </a:rPr>
              <a:t>DevOps unites development and operations to deliver value faster and more reliably.</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700" b="1">
                <a:solidFill>
                  <a:srgbClr val="161B26"/>
                </a:solidFill>
                <a:latin typeface="Arial"/>
              </a:rPr>
              <a:t>Automate everything</a:t>
            </a:r>
          </a:p>
          <a:p>
            <a:pPr algn="l">
              <a:spcAft>
                <a:spcPts val="300"/>
              </a:spcAft>
            </a:pPr>
            <a:r>
              <a:rPr sz="1300" b="0">
                <a:solidFill>
                  <a:srgbClr val="5B6372"/>
                </a:solidFill>
                <a:latin typeface="Arial"/>
              </a:rPr>
              <a:t>Build, test, deploy and infrastructure become code — repeatable and reviewable.</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700" b="1">
                <a:solidFill>
                  <a:srgbClr val="161B26"/>
                </a:solidFill>
                <a:latin typeface="Arial"/>
              </a:rPr>
              <a:t>Fast, safe feedback</a:t>
            </a:r>
          </a:p>
          <a:p>
            <a:pPr algn="l">
              <a:spcAft>
                <a:spcPts val="300"/>
              </a:spcAft>
            </a:pPr>
            <a:r>
              <a:rPr sz="1300" b="0">
                <a:solidFill>
                  <a:srgbClr val="5B6372"/>
                </a:solidFill>
                <a:latin typeface="Arial"/>
              </a:rPr>
              <a:t>Small, frequent changes with monitoring make failures cheap and recoverable.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700" b="1">
                <a:solidFill>
                  <a:srgbClr val="161B26"/>
                </a:solidFill>
                <a:latin typeface="Arial"/>
              </a:rPr>
              <a:t>Shared ownership</a:t>
            </a:r>
          </a:p>
          <a:p>
            <a:pPr algn="l">
              <a:spcAft>
                <a:spcPts val="300"/>
              </a:spcAft>
            </a:pPr>
            <a:r>
              <a:rPr sz="1300" b="0">
                <a:solidFill>
                  <a:srgbClr val="5B6372"/>
                </a:solidFill>
                <a:latin typeface="Arial"/>
              </a:rPr>
              <a:t>Teams own their service end to end — you build it, you run it.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a:t>
            </a:r>
          </a:p>
        </p:txBody>
      </p:sp>
    </p:spTree>
  </p:cSld>
  <p:clrMapOvr>
    <a:masterClrMapping/>
  </p:clrMapOvr>
  <p:transition xmlns:p14="http://schemas.microsoft.com/office/powerpoint/2010/main" p14:dur="380">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CULTURE FRAMEWORK</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The CALMS Model</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10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6408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6408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127760"/>
          </a:xfrm>
          <a:prstGeom prst="rect">
            <a:avLst/>
          </a:prstGeom>
          <a:noFill/>
        </p:spPr>
        <p:txBody>
          <a:bodyPr wrap="square" anchor="ctr">
            <a:spAutoFit/>
          </a:bodyPr>
          <a:lstStyle/>
          <a:p>
            <a:pPr algn="l">
              <a:spcAft>
                <a:spcPts val="300"/>
              </a:spcAft>
            </a:pPr>
            <a:r>
              <a:rPr sz="1700" b="1">
                <a:solidFill>
                  <a:srgbClr val="161B26"/>
                </a:solidFill>
                <a:latin typeface="Arial"/>
              </a:rPr>
              <a:t>Culture</a:t>
            </a:r>
          </a:p>
          <a:p>
            <a:pPr algn="l">
              <a:spcAft>
                <a:spcPts val="300"/>
              </a:spcAft>
            </a:pPr>
            <a:r>
              <a:rPr sz="1300" b="0">
                <a:solidFill>
                  <a:srgbClr val="5B6372"/>
                </a:solidFill>
                <a:latin typeface="Arial"/>
              </a:rPr>
              <a:t>Collaboration and shared responsibility across dev and ops.</a:t>
            </a:r>
          </a:p>
        </p:txBody>
      </p:sp>
      <p:sp>
        <p:nvSpPr>
          <p:cNvPr id="12" name="Rectangle 11"/>
          <p:cNvSpPr/>
          <p:nvPr/>
        </p:nvSpPr>
        <p:spPr>
          <a:xfrm>
            <a:off x="6231636" y="1783080"/>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3106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6408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6408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127760"/>
          </a:xfrm>
          <a:prstGeom prst="rect">
            <a:avLst/>
          </a:prstGeom>
          <a:noFill/>
        </p:spPr>
        <p:txBody>
          <a:bodyPr wrap="square" anchor="ctr">
            <a:spAutoFit/>
          </a:bodyPr>
          <a:lstStyle/>
          <a:p>
            <a:pPr algn="l">
              <a:spcAft>
                <a:spcPts val="300"/>
              </a:spcAft>
            </a:pPr>
            <a:r>
              <a:rPr sz="1700" b="1">
                <a:solidFill>
                  <a:srgbClr val="161B26"/>
                </a:solidFill>
                <a:latin typeface="Arial"/>
              </a:rPr>
              <a:t>Automation</a:t>
            </a:r>
          </a:p>
          <a:p>
            <a:pPr algn="l">
              <a:spcAft>
                <a:spcPts val="300"/>
              </a:spcAft>
            </a:pPr>
            <a:r>
              <a:rPr sz="1300" b="0">
                <a:solidFill>
                  <a:srgbClr val="5B6372"/>
                </a:solidFill>
                <a:latin typeface="Arial"/>
              </a:rPr>
              <a:t>Remove manual, error-prone steps from the delivery pipeline.</a:t>
            </a:r>
          </a:p>
        </p:txBody>
      </p:sp>
      <p:sp>
        <p:nvSpPr>
          <p:cNvPr id="17" name="Rectangle 16"/>
          <p:cNvSpPr/>
          <p:nvPr/>
        </p:nvSpPr>
        <p:spPr>
          <a:xfrm>
            <a:off x="777240" y="3313176"/>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3176"/>
            <a:ext cx="91440" cy="13106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422904"/>
            <a:ext cx="3973068" cy="1127760"/>
          </a:xfrm>
          <a:prstGeom prst="rect">
            <a:avLst/>
          </a:prstGeom>
          <a:noFill/>
        </p:spPr>
        <p:txBody>
          <a:bodyPr wrap="square" anchor="ctr">
            <a:spAutoFit/>
          </a:bodyPr>
          <a:lstStyle/>
          <a:p>
            <a:pPr algn="l">
              <a:spcAft>
                <a:spcPts val="300"/>
              </a:spcAft>
            </a:pPr>
            <a:r>
              <a:rPr sz="1700" b="1">
                <a:solidFill>
                  <a:srgbClr val="161B26"/>
                </a:solidFill>
                <a:latin typeface="Arial"/>
              </a:rPr>
              <a:t>Lean</a:t>
            </a:r>
          </a:p>
          <a:p>
            <a:pPr algn="l">
              <a:spcAft>
                <a:spcPts val="300"/>
              </a:spcAft>
            </a:pPr>
            <a:r>
              <a:rPr sz="1300" b="0">
                <a:solidFill>
                  <a:srgbClr val="5B6372"/>
                </a:solidFill>
                <a:latin typeface="Arial"/>
              </a:rPr>
              <a:t>Small batches, fast flow, eliminate waste.</a:t>
            </a:r>
          </a:p>
        </p:txBody>
      </p:sp>
      <p:sp>
        <p:nvSpPr>
          <p:cNvPr id="22" name="Rectangle 21"/>
          <p:cNvSpPr/>
          <p:nvPr/>
        </p:nvSpPr>
        <p:spPr>
          <a:xfrm>
            <a:off x="6231636" y="3313176"/>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3176"/>
            <a:ext cx="91440" cy="13106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422904"/>
            <a:ext cx="3973068" cy="1127760"/>
          </a:xfrm>
          <a:prstGeom prst="rect">
            <a:avLst/>
          </a:prstGeom>
          <a:noFill/>
        </p:spPr>
        <p:txBody>
          <a:bodyPr wrap="square" anchor="ctr">
            <a:spAutoFit/>
          </a:bodyPr>
          <a:lstStyle/>
          <a:p>
            <a:pPr algn="l">
              <a:spcAft>
                <a:spcPts val="300"/>
              </a:spcAft>
            </a:pPr>
            <a:r>
              <a:rPr sz="1700" b="1">
                <a:solidFill>
                  <a:srgbClr val="161B26"/>
                </a:solidFill>
                <a:latin typeface="Arial"/>
              </a:rPr>
              <a:t>Measurement</a:t>
            </a:r>
          </a:p>
          <a:p>
            <a:pPr algn="l">
              <a:spcAft>
                <a:spcPts val="300"/>
              </a:spcAft>
            </a:pPr>
            <a:r>
              <a:rPr sz="1300" b="0">
                <a:solidFill>
                  <a:srgbClr val="5B6372"/>
                </a:solidFill>
                <a:latin typeface="Arial"/>
              </a:rPr>
              <a:t>Metrics and feedback drive continuous improvement.</a:t>
            </a:r>
          </a:p>
        </p:txBody>
      </p:sp>
      <p:sp>
        <p:nvSpPr>
          <p:cNvPr id="27" name="Rectangle 26"/>
          <p:cNvSpPr/>
          <p:nvPr/>
        </p:nvSpPr>
        <p:spPr>
          <a:xfrm>
            <a:off x="777240" y="4843272"/>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43272"/>
            <a:ext cx="91440" cy="13106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24272"/>
            <a:ext cx="548640" cy="548640"/>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2427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953000"/>
            <a:ext cx="3973068" cy="1127760"/>
          </a:xfrm>
          <a:prstGeom prst="rect">
            <a:avLst/>
          </a:prstGeom>
          <a:noFill/>
        </p:spPr>
        <p:txBody>
          <a:bodyPr wrap="square" anchor="ctr">
            <a:spAutoFit/>
          </a:bodyPr>
          <a:lstStyle/>
          <a:p>
            <a:pPr algn="l">
              <a:spcAft>
                <a:spcPts val="300"/>
              </a:spcAft>
            </a:pPr>
            <a:r>
              <a:rPr sz="1700" b="1">
                <a:solidFill>
                  <a:srgbClr val="161B26"/>
                </a:solidFill>
                <a:latin typeface="Arial"/>
              </a:rPr>
              <a:t>Sharing</a:t>
            </a:r>
          </a:p>
          <a:p>
            <a:pPr algn="l">
              <a:spcAft>
                <a:spcPts val="300"/>
              </a:spcAft>
            </a:pPr>
            <a:r>
              <a:rPr sz="1300" b="0">
                <a:solidFill>
                  <a:srgbClr val="5B6372"/>
                </a:solidFill>
                <a:latin typeface="Arial"/>
              </a:rPr>
              <a:t>Transparency, blameless learning and reusable patterns.</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a:t>
            </a:r>
          </a:p>
        </p:txBody>
      </p:sp>
    </p:spTree>
  </p:cSld>
  <p:clrMapOvr>
    <a:masterClrMapping/>
  </p:clrMapOvr>
  <p:transition xmlns:p14="http://schemas.microsoft.com/office/powerpoint/2010/main" p14:dur="380">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 CONTINUOUS LOOP</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The DevOps Lifecycle</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25272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25272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28700"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870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960120" cy="1325880"/>
          </a:xfrm>
          <a:prstGeom prst="rect">
            <a:avLst/>
          </a:prstGeom>
          <a:noFill/>
        </p:spPr>
        <p:txBody>
          <a:bodyPr wrap="square" anchor="t">
            <a:spAutoFit/>
          </a:bodyPr>
          <a:lstStyle/>
          <a:p>
            <a:pPr algn="ctr">
              <a:spcAft>
                <a:spcPts val="400"/>
              </a:spcAft>
            </a:pPr>
            <a:r>
              <a:rPr sz="1300" b="0">
                <a:solidFill>
                  <a:srgbClr val="161B26"/>
                </a:solidFill>
                <a:latin typeface="Arial"/>
              </a:rPr>
              <a:t>Plan
backlog, design</a:t>
            </a:r>
          </a:p>
        </p:txBody>
      </p:sp>
      <p:sp>
        <p:nvSpPr>
          <p:cNvPr id="12" name="TextBox 11"/>
          <p:cNvSpPr txBox="1"/>
          <p:nvPr/>
        </p:nvSpPr>
        <p:spPr>
          <a:xfrm>
            <a:off x="1993392"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3" name="Rectangle 12"/>
          <p:cNvSpPr/>
          <p:nvPr/>
        </p:nvSpPr>
        <p:spPr>
          <a:xfrm>
            <a:off x="2340864" y="2331720"/>
            <a:ext cx="125272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340864" y="2331720"/>
            <a:ext cx="125272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2592324"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923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2487168" y="3749040"/>
            <a:ext cx="960120" cy="1325880"/>
          </a:xfrm>
          <a:prstGeom prst="rect">
            <a:avLst/>
          </a:prstGeom>
          <a:noFill/>
        </p:spPr>
        <p:txBody>
          <a:bodyPr wrap="square" anchor="t">
            <a:spAutoFit/>
          </a:bodyPr>
          <a:lstStyle/>
          <a:p>
            <a:pPr algn="ctr">
              <a:spcAft>
                <a:spcPts val="400"/>
              </a:spcAft>
            </a:pPr>
            <a:r>
              <a:rPr sz="1300" b="0">
                <a:solidFill>
                  <a:srgbClr val="161B26"/>
                </a:solidFill>
                <a:latin typeface="Arial"/>
              </a:rPr>
              <a:t>Code
version control</a:t>
            </a:r>
          </a:p>
        </p:txBody>
      </p:sp>
      <p:sp>
        <p:nvSpPr>
          <p:cNvPr id="18" name="TextBox 17"/>
          <p:cNvSpPr txBox="1"/>
          <p:nvPr/>
        </p:nvSpPr>
        <p:spPr>
          <a:xfrm>
            <a:off x="3557016"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9" name="Rectangle 18"/>
          <p:cNvSpPr/>
          <p:nvPr/>
        </p:nvSpPr>
        <p:spPr>
          <a:xfrm>
            <a:off x="3904488" y="2331720"/>
            <a:ext cx="125272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904488" y="2331720"/>
            <a:ext cx="125272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155948"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55948"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4050792" y="3749040"/>
            <a:ext cx="960120" cy="1325880"/>
          </a:xfrm>
          <a:prstGeom prst="rect">
            <a:avLst/>
          </a:prstGeom>
          <a:noFill/>
        </p:spPr>
        <p:txBody>
          <a:bodyPr wrap="square" anchor="t">
            <a:spAutoFit/>
          </a:bodyPr>
          <a:lstStyle/>
          <a:p>
            <a:pPr algn="ctr">
              <a:spcAft>
                <a:spcPts val="400"/>
              </a:spcAft>
            </a:pPr>
            <a:r>
              <a:rPr sz="1300" b="0">
                <a:solidFill>
                  <a:srgbClr val="161B26"/>
                </a:solidFill>
                <a:latin typeface="Arial"/>
              </a:rPr>
              <a:t>Build
compile + package</a:t>
            </a:r>
          </a:p>
        </p:txBody>
      </p:sp>
      <p:sp>
        <p:nvSpPr>
          <p:cNvPr id="24" name="TextBox 23"/>
          <p:cNvSpPr txBox="1"/>
          <p:nvPr/>
        </p:nvSpPr>
        <p:spPr>
          <a:xfrm>
            <a:off x="5120640"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5" name="Rectangle 24"/>
          <p:cNvSpPr/>
          <p:nvPr/>
        </p:nvSpPr>
        <p:spPr>
          <a:xfrm>
            <a:off x="5468112" y="2331720"/>
            <a:ext cx="125272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468112" y="2331720"/>
            <a:ext cx="125272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719572"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719572"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5614416" y="3749040"/>
            <a:ext cx="960120" cy="1325880"/>
          </a:xfrm>
          <a:prstGeom prst="rect">
            <a:avLst/>
          </a:prstGeom>
          <a:noFill/>
        </p:spPr>
        <p:txBody>
          <a:bodyPr wrap="square" anchor="t">
            <a:spAutoFit/>
          </a:bodyPr>
          <a:lstStyle/>
          <a:p>
            <a:pPr algn="ctr">
              <a:spcAft>
                <a:spcPts val="400"/>
              </a:spcAft>
            </a:pPr>
            <a:r>
              <a:rPr sz="1300" b="0">
                <a:solidFill>
                  <a:srgbClr val="161B26"/>
                </a:solidFill>
                <a:latin typeface="Arial"/>
              </a:rPr>
              <a:t>Test
automated checks</a:t>
            </a:r>
          </a:p>
        </p:txBody>
      </p:sp>
      <p:sp>
        <p:nvSpPr>
          <p:cNvPr id="30" name="TextBox 29"/>
          <p:cNvSpPr txBox="1"/>
          <p:nvPr/>
        </p:nvSpPr>
        <p:spPr>
          <a:xfrm>
            <a:off x="6684264"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31" name="Rectangle 30"/>
          <p:cNvSpPr/>
          <p:nvPr/>
        </p:nvSpPr>
        <p:spPr>
          <a:xfrm>
            <a:off x="7031736" y="2331720"/>
            <a:ext cx="125272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031736" y="2331720"/>
            <a:ext cx="125272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283196"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28319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7178040" y="3749040"/>
            <a:ext cx="960120" cy="1325880"/>
          </a:xfrm>
          <a:prstGeom prst="rect">
            <a:avLst/>
          </a:prstGeom>
          <a:noFill/>
        </p:spPr>
        <p:txBody>
          <a:bodyPr wrap="square" anchor="t">
            <a:spAutoFit/>
          </a:bodyPr>
          <a:lstStyle/>
          <a:p>
            <a:pPr algn="ctr">
              <a:spcAft>
                <a:spcPts val="400"/>
              </a:spcAft>
            </a:pPr>
            <a:r>
              <a:rPr sz="1300" b="0">
                <a:solidFill>
                  <a:srgbClr val="161B26"/>
                </a:solidFill>
                <a:latin typeface="Arial"/>
              </a:rPr>
              <a:t>Release
artifacts + approve</a:t>
            </a:r>
          </a:p>
        </p:txBody>
      </p:sp>
      <p:sp>
        <p:nvSpPr>
          <p:cNvPr id="36" name="TextBox 35"/>
          <p:cNvSpPr txBox="1"/>
          <p:nvPr/>
        </p:nvSpPr>
        <p:spPr>
          <a:xfrm>
            <a:off x="8247888"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37" name="Rectangle 36"/>
          <p:cNvSpPr/>
          <p:nvPr/>
        </p:nvSpPr>
        <p:spPr>
          <a:xfrm>
            <a:off x="8595360" y="2331720"/>
            <a:ext cx="125272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595360" y="2331720"/>
            <a:ext cx="125272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8846820"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84682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6</a:t>
            </a:r>
          </a:p>
        </p:txBody>
      </p:sp>
      <p:sp>
        <p:nvSpPr>
          <p:cNvPr id="41" name="TextBox 40"/>
          <p:cNvSpPr txBox="1"/>
          <p:nvPr/>
        </p:nvSpPr>
        <p:spPr>
          <a:xfrm>
            <a:off x="8741664" y="3749040"/>
            <a:ext cx="960120" cy="1325880"/>
          </a:xfrm>
          <a:prstGeom prst="rect">
            <a:avLst/>
          </a:prstGeom>
          <a:noFill/>
        </p:spPr>
        <p:txBody>
          <a:bodyPr wrap="square" anchor="t">
            <a:spAutoFit/>
          </a:bodyPr>
          <a:lstStyle/>
          <a:p>
            <a:pPr algn="ctr">
              <a:spcAft>
                <a:spcPts val="400"/>
              </a:spcAft>
            </a:pPr>
            <a:r>
              <a:rPr sz="1300" b="0">
                <a:solidFill>
                  <a:srgbClr val="161B26"/>
                </a:solidFill>
                <a:latin typeface="Arial"/>
              </a:rPr>
              <a:t>Deploy
to environments</a:t>
            </a:r>
          </a:p>
        </p:txBody>
      </p:sp>
      <p:sp>
        <p:nvSpPr>
          <p:cNvPr id="42" name="TextBox 41"/>
          <p:cNvSpPr txBox="1"/>
          <p:nvPr/>
        </p:nvSpPr>
        <p:spPr>
          <a:xfrm>
            <a:off x="9811512"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43" name="Rectangle 42"/>
          <p:cNvSpPr/>
          <p:nvPr/>
        </p:nvSpPr>
        <p:spPr>
          <a:xfrm>
            <a:off x="10158984" y="2331720"/>
            <a:ext cx="125272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10158984" y="2331720"/>
            <a:ext cx="125272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10410444"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41044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7</a:t>
            </a:r>
          </a:p>
        </p:txBody>
      </p:sp>
      <p:sp>
        <p:nvSpPr>
          <p:cNvPr id="47" name="TextBox 46"/>
          <p:cNvSpPr txBox="1"/>
          <p:nvPr/>
        </p:nvSpPr>
        <p:spPr>
          <a:xfrm>
            <a:off x="10305288" y="3749040"/>
            <a:ext cx="960120" cy="1325880"/>
          </a:xfrm>
          <a:prstGeom prst="rect">
            <a:avLst/>
          </a:prstGeom>
          <a:noFill/>
        </p:spPr>
        <p:txBody>
          <a:bodyPr wrap="square" anchor="t">
            <a:spAutoFit/>
          </a:bodyPr>
          <a:lstStyle/>
          <a:p>
            <a:pPr algn="ctr">
              <a:spcAft>
                <a:spcPts val="400"/>
              </a:spcAft>
            </a:pPr>
            <a:r>
              <a:rPr sz="1300" b="0">
                <a:solidFill>
                  <a:srgbClr val="161B26"/>
                </a:solidFill>
                <a:latin typeface="Arial"/>
              </a:rPr>
              <a:t>Operate &amp; Monitor
feedback loop</a:t>
            </a:r>
          </a:p>
        </p:txBody>
      </p:sp>
      <p:sp>
        <p:nvSpPr>
          <p:cNvPr id="48" name="TextBox 4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49" name="TextBox 4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0" name="TextBox 4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a:t>
            </a:r>
          </a:p>
        </p:txBody>
      </p:sp>
    </p:spTree>
  </p:cSld>
  <p:clrMapOvr>
    <a:masterClrMapping/>
  </p:clrMapOvr>
  <p:transition xmlns:p14="http://schemas.microsoft.com/office/powerpoint/2010/main" p14:dur="380">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OUTCOMES THAT MATTER</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Measuring DevOps — The DORA Metrics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700" b="1">
                <a:solidFill>
                  <a:srgbClr val="161B26"/>
                </a:solidFill>
                <a:latin typeface="Arial"/>
              </a:rPr>
              <a:t>Deployment frequency</a:t>
            </a:r>
          </a:p>
          <a:p>
            <a:pPr algn="l">
              <a:spcAft>
                <a:spcPts val="300"/>
              </a:spcAft>
            </a:pPr>
            <a:r>
              <a:rPr sz="1300" b="0">
                <a:solidFill>
                  <a:srgbClr val="5B6372"/>
                </a:solidFill>
                <a:latin typeface="Arial"/>
              </a:rPr>
              <a:t>How often you ship to production — elite teams deploy on demand.</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700" b="1">
                <a:solidFill>
                  <a:srgbClr val="161B26"/>
                </a:solidFill>
                <a:latin typeface="Arial"/>
              </a:rPr>
              <a:t>Lead time for changes</a:t>
            </a:r>
          </a:p>
          <a:p>
            <a:pPr algn="l">
              <a:spcAft>
                <a:spcPts val="300"/>
              </a:spcAft>
            </a:pPr>
            <a:r>
              <a:rPr sz="1300" b="0">
                <a:solidFill>
                  <a:srgbClr val="5B6372"/>
                </a:solidFill>
                <a:latin typeface="Arial"/>
              </a:rPr>
              <a:t>Commit → production time — minutes/hours, not weeks.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700" b="1">
                <a:solidFill>
                  <a:srgbClr val="161B26"/>
                </a:solidFill>
                <a:latin typeface="Arial"/>
              </a:rPr>
              <a:t>Change failure rate</a:t>
            </a:r>
          </a:p>
          <a:p>
            <a:pPr algn="l">
              <a:spcAft>
                <a:spcPts val="300"/>
              </a:spcAft>
            </a:pPr>
            <a:r>
              <a:rPr sz="1300" b="0">
                <a:solidFill>
                  <a:srgbClr val="5B6372"/>
                </a:solidFill>
                <a:latin typeface="Arial"/>
              </a:rPr>
              <a:t>% of deployments causing a failure — lower is healthier.</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700" b="1">
                <a:solidFill>
                  <a:srgbClr val="161B26"/>
                </a:solidFill>
                <a:latin typeface="Arial"/>
              </a:rPr>
              <a:t>Mean time to recover</a:t>
            </a:r>
          </a:p>
          <a:p>
            <a:pPr algn="l">
              <a:spcAft>
                <a:spcPts val="300"/>
              </a:spcAft>
            </a:pPr>
            <a:r>
              <a:rPr sz="1300" b="0">
                <a:solidFill>
                  <a:srgbClr val="5B6372"/>
                </a:solidFill>
                <a:latin typeface="Arial"/>
              </a:rPr>
              <a:t>How fast you restore service after an incident — minimise it.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a:t>
            </a:r>
          </a:p>
        </p:txBody>
      </p:sp>
    </p:spTree>
  </p:cSld>
  <p:clrMapOvr>
    <a:masterClrMapping/>
  </p:clrMapOvr>
  <p:transition xmlns:p14="http://schemas.microsoft.com/office/powerpoint/2010/main" p14:dur="380">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END-TO-END DELIVERY</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The AWS DevOps Toolchain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965960"/>
            <a:ext cx="2377440" cy="1051560"/>
          </a:xfrm>
          <a:prstGeom prst="roundRect">
            <a:avLst/>
          </a:prstGeom>
          <a:solidFill>
            <a:srgbClr val="F5F8FC"/>
          </a:solidFill>
          <a:ln w="15875">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965960"/>
            <a:ext cx="2377440"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075688"/>
            <a:ext cx="2194560" cy="868680"/>
          </a:xfrm>
          <a:prstGeom prst="rect">
            <a:avLst/>
          </a:prstGeom>
          <a:noFill/>
        </p:spPr>
        <p:txBody>
          <a:bodyPr wrap="square" anchor="ctr">
            <a:spAutoFit/>
          </a:bodyPr>
          <a:lstStyle/>
          <a:p>
            <a:pPr algn="ctr">
              <a:spcAft>
                <a:spcPts val="400"/>
              </a:spcAft>
            </a:pPr>
            <a:r>
              <a:rPr sz="1300" b="1">
                <a:solidFill>
                  <a:srgbClr val="161B26"/>
                </a:solidFill>
                <a:latin typeface="Arial"/>
              </a:rPr>
              <a:t>Source
CodeCommit / GitHub</a:t>
            </a:r>
          </a:p>
        </p:txBody>
      </p:sp>
      <p:sp>
        <p:nvSpPr>
          <p:cNvPr id="10" name="Rounded Rectangle 9"/>
          <p:cNvSpPr/>
          <p:nvPr/>
        </p:nvSpPr>
        <p:spPr>
          <a:xfrm>
            <a:off x="3520440" y="1965960"/>
            <a:ext cx="2377440" cy="1051560"/>
          </a:xfrm>
          <a:prstGeom prst="roundRect">
            <a:avLst/>
          </a:prstGeom>
          <a:solidFill>
            <a:srgbClr val="F5F8FC"/>
          </a:solidFill>
          <a:ln w="15875">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520440" y="1965960"/>
            <a:ext cx="2377440"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11880" y="2075688"/>
            <a:ext cx="2194560" cy="868680"/>
          </a:xfrm>
          <a:prstGeom prst="rect">
            <a:avLst/>
          </a:prstGeom>
          <a:noFill/>
        </p:spPr>
        <p:txBody>
          <a:bodyPr wrap="square" anchor="ctr">
            <a:spAutoFit/>
          </a:bodyPr>
          <a:lstStyle/>
          <a:p>
            <a:pPr algn="ctr">
              <a:spcAft>
                <a:spcPts val="400"/>
              </a:spcAft>
            </a:pPr>
            <a:r>
              <a:rPr sz="1300" b="1">
                <a:solidFill>
                  <a:srgbClr val="161B26"/>
                </a:solidFill>
                <a:latin typeface="Arial"/>
              </a:rPr>
              <a:t>Build &amp; Test
CodeBuild</a:t>
            </a:r>
          </a:p>
        </p:txBody>
      </p:sp>
      <p:sp>
        <p:nvSpPr>
          <p:cNvPr id="13" name="Rounded Rectangle 12"/>
          <p:cNvSpPr/>
          <p:nvPr/>
        </p:nvSpPr>
        <p:spPr>
          <a:xfrm>
            <a:off x="6263640" y="1965960"/>
            <a:ext cx="2377440" cy="1051560"/>
          </a:xfrm>
          <a:prstGeom prst="roundRect">
            <a:avLst/>
          </a:prstGeom>
          <a:solidFill>
            <a:srgbClr val="F5F8FC"/>
          </a:solidFill>
          <a:ln w="15875">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965960"/>
            <a:ext cx="237744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5080" y="2075688"/>
            <a:ext cx="2194560" cy="868680"/>
          </a:xfrm>
          <a:prstGeom prst="rect">
            <a:avLst/>
          </a:prstGeom>
          <a:noFill/>
        </p:spPr>
        <p:txBody>
          <a:bodyPr wrap="square" anchor="ctr">
            <a:spAutoFit/>
          </a:bodyPr>
          <a:lstStyle/>
          <a:p>
            <a:pPr algn="ctr">
              <a:spcAft>
                <a:spcPts val="400"/>
              </a:spcAft>
            </a:pPr>
            <a:r>
              <a:rPr sz="1300" b="1">
                <a:solidFill>
                  <a:srgbClr val="161B26"/>
                </a:solidFill>
                <a:latin typeface="Arial"/>
              </a:rPr>
              <a:t>Artifacts
S3 / CodeArtifact</a:t>
            </a:r>
          </a:p>
        </p:txBody>
      </p:sp>
      <p:sp>
        <p:nvSpPr>
          <p:cNvPr id="16" name="Rounded Rectangle 15"/>
          <p:cNvSpPr/>
          <p:nvPr/>
        </p:nvSpPr>
        <p:spPr>
          <a:xfrm>
            <a:off x="9006840" y="1965960"/>
            <a:ext cx="2377440" cy="1051560"/>
          </a:xfrm>
          <a:prstGeom prst="roundRect">
            <a:avLst/>
          </a:prstGeom>
          <a:solidFill>
            <a:srgbClr val="F5F8FC"/>
          </a:solidFill>
          <a:ln w="15875">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006840" y="1965960"/>
            <a:ext cx="237744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98280" y="2075688"/>
            <a:ext cx="2194560" cy="868680"/>
          </a:xfrm>
          <a:prstGeom prst="rect">
            <a:avLst/>
          </a:prstGeom>
          <a:noFill/>
        </p:spPr>
        <p:txBody>
          <a:bodyPr wrap="square" anchor="ctr">
            <a:spAutoFit/>
          </a:bodyPr>
          <a:lstStyle/>
          <a:p>
            <a:pPr algn="ctr">
              <a:spcAft>
                <a:spcPts val="400"/>
              </a:spcAft>
            </a:pPr>
            <a:r>
              <a:rPr sz="1300" b="1">
                <a:solidFill>
                  <a:srgbClr val="161B26"/>
                </a:solidFill>
                <a:latin typeface="Arial"/>
              </a:rPr>
              <a:t>Deploy
CodeDeploy</a:t>
            </a:r>
          </a:p>
        </p:txBody>
      </p:sp>
      <p:sp>
        <p:nvSpPr>
          <p:cNvPr id="19" name="Rounded Rectangle 18"/>
          <p:cNvSpPr/>
          <p:nvPr/>
        </p:nvSpPr>
        <p:spPr>
          <a:xfrm>
            <a:off x="777240" y="3657600"/>
            <a:ext cx="2377440" cy="1051560"/>
          </a:xfrm>
          <a:prstGeom prst="roundRect">
            <a:avLst/>
          </a:prstGeom>
          <a:solidFill>
            <a:srgbClr val="F5F8FC"/>
          </a:solidFill>
          <a:ln w="15875">
            <a:solidFill>
              <a:srgbClr val="EC71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657600"/>
            <a:ext cx="2377440" cy="82296"/>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 y="3767328"/>
            <a:ext cx="2194560" cy="868680"/>
          </a:xfrm>
          <a:prstGeom prst="rect">
            <a:avLst/>
          </a:prstGeom>
          <a:noFill/>
        </p:spPr>
        <p:txBody>
          <a:bodyPr wrap="square" anchor="ctr">
            <a:spAutoFit/>
          </a:bodyPr>
          <a:lstStyle/>
          <a:p>
            <a:pPr algn="ctr">
              <a:spcAft>
                <a:spcPts val="400"/>
              </a:spcAft>
            </a:pPr>
            <a:r>
              <a:rPr sz="1300" b="1">
                <a:solidFill>
                  <a:srgbClr val="161B26"/>
                </a:solidFill>
                <a:latin typeface="Arial"/>
              </a:rPr>
              <a:t>Infra as Code
CloudFormation</a:t>
            </a:r>
          </a:p>
        </p:txBody>
      </p:sp>
      <p:sp>
        <p:nvSpPr>
          <p:cNvPr id="22" name="Rounded Rectangle 21"/>
          <p:cNvSpPr/>
          <p:nvPr/>
        </p:nvSpPr>
        <p:spPr>
          <a:xfrm>
            <a:off x="9006840" y="3657600"/>
            <a:ext cx="2377440" cy="1051560"/>
          </a:xfrm>
          <a:prstGeom prst="roundRect">
            <a:avLst/>
          </a:prstGeom>
          <a:solidFill>
            <a:srgbClr val="F5F8FC"/>
          </a:solidFill>
          <a:ln w="15875">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006840" y="3657600"/>
            <a:ext cx="237744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98280" y="3767328"/>
            <a:ext cx="2194560" cy="868680"/>
          </a:xfrm>
          <a:prstGeom prst="rect">
            <a:avLst/>
          </a:prstGeom>
          <a:noFill/>
        </p:spPr>
        <p:txBody>
          <a:bodyPr wrap="square" anchor="ctr">
            <a:spAutoFit/>
          </a:bodyPr>
          <a:lstStyle/>
          <a:p>
            <a:pPr algn="ctr">
              <a:spcAft>
                <a:spcPts val="400"/>
              </a:spcAft>
            </a:pPr>
            <a:r>
              <a:rPr sz="1300" b="1">
                <a:solidFill>
                  <a:srgbClr val="161B26"/>
                </a:solidFill>
                <a:latin typeface="Arial"/>
              </a:rPr>
              <a:t>Run
EC2 / ECS / Lambda</a:t>
            </a:r>
          </a:p>
        </p:txBody>
      </p:sp>
      <p:sp>
        <p:nvSpPr>
          <p:cNvPr id="25" name="Rounded Rectangle 24"/>
          <p:cNvSpPr/>
          <p:nvPr/>
        </p:nvSpPr>
        <p:spPr>
          <a:xfrm>
            <a:off x="6263640" y="3657600"/>
            <a:ext cx="2377440" cy="1051560"/>
          </a:xfrm>
          <a:prstGeom prst="roundRect">
            <a:avLst/>
          </a:prstGeom>
          <a:solidFill>
            <a:srgbClr val="F5F8FC"/>
          </a:solidFill>
          <a:ln w="15875">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63640" y="3657600"/>
            <a:ext cx="2377440"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55080" y="3767328"/>
            <a:ext cx="2194560" cy="868680"/>
          </a:xfrm>
          <a:prstGeom prst="rect">
            <a:avLst/>
          </a:prstGeom>
          <a:noFill/>
        </p:spPr>
        <p:txBody>
          <a:bodyPr wrap="square" anchor="ctr">
            <a:spAutoFit/>
          </a:bodyPr>
          <a:lstStyle/>
          <a:p>
            <a:pPr algn="ctr">
              <a:spcAft>
                <a:spcPts val="400"/>
              </a:spcAft>
            </a:pPr>
            <a:r>
              <a:rPr sz="1300" b="1">
                <a:solidFill>
                  <a:srgbClr val="161B26"/>
                </a:solidFill>
                <a:latin typeface="Arial"/>
              </a:rPr>
              <a:t>Monitor
CloudWatch</a:t>
            </a:r>
          </a:p>
        </p:txBody>
      </p:sp>
      <p:sp>
        <p:nvSpPr>
          <p:cNvPr id="28" name="Rounded Rectangle 27"/>
          <p:cNvSpPr/>
          <p:nvPr/>
        </p:nvSpPr>
        <p:spPr>
          <a:xfrm>
            <a:off x="3520440" y="3657600"/>
            <a:ext cx="2377440" cy="1051560"/>
          </a:xfrm>
          <a:prstGeom prst="roundRect">
            <a:avLst/>
          </a:prstGeom>
          <a:solidFill>
            <a:srgbClr val="F5F8FC"/>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520440" y="3657600"/>
            <a:ext cx="2377440" cy="82296"/>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11880" y="3767328"/>
            <a:ext cx="2194560" cy="868680"/>
          </a:xfrm>
          <a:prstGeom prst="rect">
            <a:avLst/>
          </a:prstGeom>
          <a:noFill/>
        </p:spPr>
        <p:txBody>
          <a:bodyPr wrap="square" anchor="ctr">
            <a:spAutoFit/>
          </a:bodyPr>
          <a:lstStyle/>
          <a:p>
            <a:pPr algn="ctr">
              <a:spcAft>
                <a:spcPts val="400"/>
              </a:spcAft>
            </a:pPr>
            <a:r>
              <a:rPr sz="1300" b="1">
                <a:solidFill>
                  <a:srgbClr val="161B26"/>
                </a:solidFill>
                <a:latin typeface="Arial"/>
              </a:rPr>
              <a:t>Secure &amp; Audit
IAM / Config / CloudTrail</a:t>
            </a:r>
          </a:p>
        </p:txBody>
      </p:sp>
      <p:cxnSp>
        <p:nvCxnSpPr>
          <p:cNvPr id="31" name="Connector 30"/>
          <p:cNvCxnSpPr/>
          <p:nvPr/>
        </p:nvCxnSpPr>
        <p:spPr>
          <a:xfrm>
            <a:off x="3154680" y="2491740"/>
            <a:ext cx="365760" cy="0"/>
          </a:xfrm>
          <a:prstGeom prst="line">
            <a:avLst/>
          </a:prstGeom>
          <a:ln w="22225">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897880" y="2491740"/>
            <a:ext cx="365760" cy="0"/>
          </a:xfrm>
          <a:prstGeom prst="line">
            <a:avLst/>
          </a:prstGeom>
          <a:ln w="22225">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641080" y="2491740"/>
            <a:ext cx="365760" cy="0"/>
          </a:xfrm>
          <a:prstGeom prst="line">
            <a:avLst/>
          </a:prstGeom>
          <a:ln w="22225">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965960" y="3017520"/>
            <a:ext cx="0" cy="640080"/>
          </a:xfrm>
          <a:prstGeom prst="line">
            <a:avLst/>
          </a:prstGeom>
          <a:ln w="22225">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195560" y="3017520"/>
            <a:ext cx="0" cy="640080"/>
          </a:xfrm>
          <a:prstGeom prst="line">
            <a:avLst/>
          </a:prstGeom>
          <a:ln w="22225">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8641080" y="4183380"/>
            <a:ext cx="365760" cy="0"/>
          </a:xfrm>
          <a:prstGeom prst="line">
            <a:avLst/>
          </a:prstGeom>
          <a:ln w="22225">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5897880" y="4183380"/>
            <a:ext cx="365760" cy="0"/>
          </a:xfrm>
          <a:prstGeom prst="line">
            <a:avLst/>
          </a:prstGeom>
          <a:ln w="22225">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777240" y="5669280"/>
            <a:ext cx="10634472" cy="548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05840" y="5742432"/>
            <a:ext cx="10241280" cy="411480"/>
          </a:xfrm>
          <a:prstGeom prst="rect">
            <a:avLst/>
          </a:prstGeom>
          <a:noFill/>
        </p:spPr>
        <p:txBody>
          <a:bodyPr wrap="square" anchor="ctr">
            <a:spAutoFit/>
          </a:bodyPr>
          <a:lstStyle/>
          <a:p>
            <a:pPr algn="l">
              <a:spcAft>
                <a:spcPts val="400"/>
              </a:spcAft>
            </a:pPr>
            <a:r>
              <a:rPr sz="1300" b="1">
                <a:solidFill>
                  <a:srgbClr val="1F6FEB"/>
                </a:solidFill>
                <a:latin typeface="Arial"/>
              </a:rPr>
              <a:t>▶  </a:t>
            </a:r>
            <a:r>
              <a:rPr sz="1300" b="0">
                <a:solidFill>
                  <a:srgbClr val="161B26"/>
                </a:solidFill>
                <a:latin typeface="Arial"/>
              </a:rPr>
              <a:t>CodePipeline orchestrates the top row; IaC, monitoring and security wrap the whole lifecycle.</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a:t>
            </a:r>
          </a:p>
        </p:txBody>
      </p:sp>
    </p:spTree>
  </p:cSld>
  <p:clrMapOvr>
    <a:masterClrMapping/>
  </p:clrMapOvr>
  <p:transition xmlns:p14="http://schemas.microsoft.com/office/powerpoint/2010/main" p14:dur="380">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SIX PILLARS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AWS Well-Architected Framework</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10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6408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6408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Operational Excellence</a:t>
            </a:r>
          </a:p>
          <a:p>
            <a:pPr algn="l">
              <a:spcAft>
                <a:spcPts val="300"/>
              </a:spcAft>
            </a:pPr>
            <a:r>
              <a:rPr sz="1150" b="0">
                <a:solidFill>
                  <a:srgbClr val="5B6372"/>
                </a:solidFill>
                <a:latin typeface="Arial"/>
              </a:rPr>
              <a:t>Run and monitor systems; improve processes continuously.</a:t>
            </a:r>
          </a:p>
        </p:txBody>
      </p:sp>
      <p:sp>
        <p:nvSpPr>
          <p:cNvPr id="12" name="Rectangle 11"/>
          <p:cNvSpPr/>
          <p:nvPr/>
        </p:nvSpPr>
        <p:spPr>
          <a:xfrm>
            <a:off x="6231636" y="1783080"/>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3106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6408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6408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Security</a:t>
            </a:r>
          </a:p>
          <a:p>
            <a:pPr algn="l">
              <a:spcAft>
                <a:spcPts val="300"/>
              </a:spcAft>
            </a:pPr>
            <a:r>
              <a:rPr sz="1150" b="0">
                <a:solidFill>
                  <a:srgbClr val="5B6372"/>
                </a:solidFill>
                <a:latin typeface="Arial"/>
              </a:rPr>
              <a:t>Protect data, systems and assets with least-privilege and audit.</a:t>
            </a:r>
          </a:p>
        </p:txBody>
      </p:sp>
      <p:sp>
        <p:nvSpPr>
          <p:cNvPr id="17" name="Rectangle 16"/>
          <p:cNvSpPr/>
          <p:nvPr/>
        </p:nvSpPr>
        <p:spPr>
          <a:xfrm>
            <a:off x="777240" y="3313176"/>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3176"/>
            <a:ext cx="91440" cy="13106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422904"/>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Reliability</a:t>
            </a:r>
          </a:p>
          <a:p>
            <a:pPr algn="l">
              <a:spcAft>
                <a:spcPts val="300"/>
              </a:spcAft>
            </a:pPr>
            <a:r>
              <a:rPr sz="1150" b="0">
                <a:solidFill>
                  <a:srgbClr val="5B6372"/>
                </a:solidFill>
                <a:latin typeface="Arial"/>
              </a:rPr>
              <a:t>Recover from failure automatically; meet availability targets.</a:t>
            </a:r>
          </a:p>
        </p:txBody>
      </p:sp>
      <p:sp>
        <p:nvSpPr>
          <p:cNvPr id="22" name="Rectangle 21"/>
          <p:cNvSpPr/>
          <p:nvPr/>
        </p:nvSpPr>
        <p:spPr>
          <a:xfrm>
            <a:off x="6231636" y="3313176"/>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3176"/>
            <a:ext cx="91440" cy="13106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422904"/>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Performance Efficiency</a:t>
            </a:r>
          </a:p>
          <a:p>
            <a:pPr algn="l">
              <a:spcAft>
                <a:spcPts val="300"/>
              </a:spcAft>
            </a:pPr>
            <a:r>
              <a:rPr sz="1150" b="0">
                <a:solidFill>
                  <a:srgbClr val="5B6372"/>
                </a:solidFill>
                <a:latin typeface="Arial"/>
              </a:rPr>
              <a:t>Use resources efficiently as demand and technology change.</a:t>
            </a:r>
          </a:p>
        </p:txBody>
      </p:sp>
      <p:sp>
        <p:nvSpPr>
          <p:cNvPr id="27" name="Rectangle 26"/>
          <p:cNvSpPr/>
          <p:nvPr/>
        </p:nvSpPr>
        <p:spPr>
          <a:xfrm>
            <a:off x="777240" y="4843272"/>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43272"/>
            <a:ext cx="91440" cy="13106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24272"/>
            <a:ext cx="548640" cy="548640"/>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2427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953000"/>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Cost Optimisation</a:t>
            </a:r>
          </a:p>
          <a:p>
            <a:pPr algn="l">
              <a:spcAft>
                <a:spcPts val="300"/>
              </a:spcAft>
            </a:pPr>
            <a:r>
              <a:rPr sz="1150" b="0">
                <a:solidFill>
                  <a:srgbClr val="5B6372"/>
                </a:solidFill>
                <a:latin typeface="Arial"/>
              </a:rPr>
              <a:t>Deliver business value at the lowest price point.</a:t>
            </a:r>
          </a:p>
        </p:txBody>
      </p:sp>
      <p:sp>
        <p:nvSpPr>
          <p:cNvPr id="32" name="Rectangle 31"/>
          <p:cNvSpPr/>
          <p:nvPr/>
        </p:nvSpPr>
        <p:spPr>
          <a:xfrm>
            <a:off x="6231636" y="4843272"/>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43272"/>
            <a:ext cx="91440" cy="1310640"/>
          </a:xfrm>
          <a:prstGeom prst="rect">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24272"/>
            <a:ext cx="548640" cy="548640"/>
          </a:xfrm>
          <a:prstGeom prst="ellipse">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2427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953000"/>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Sustainability</a:t>
            </a:r>
          </a:p>
          <a:p>
            <a:pPr algn="l">
              <a:spcAft>
                <a:spcPts val="300"/>
              </a:spcAft>
            </a:pPr>
            <a:r>
              <a:rPr sz="1150" b="0">
                <a:solidFill>
                  <a:srgbClr val="5B6372"/>
                </a:solidFill>
                <a:latin typeface="Arial"/>
              </a:rPr>
              <a:t>Minimise the environmental impact of running workloads.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a:t>
            </a:r>
          </a:p>
        </p:txBody>
      </p:sp>
    </p:spTree>
  </p:cSld>
  <p:clrMapOvr>
    <a:masterClrMapping/>
  </p:clrMapOvr>
  <p:transition xmlns:p14="http://schemas.microsoft.com/office/powerpoint/2010/main" p14:dur="380">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HOW THE COURSE IS WEIGHTED</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Exam / Skills Domain Weightings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828800"/>
          <a:ext cx="10634472" cy="3291840"/>
        </p:xfrm>
        <a:graphic>
          <a:graphicData uri="http://schemas.openxmlformats.org/drawingml/2006/chart">
            <c:chart xmlns:c="http://schemas.openxmlformats.org/drawingml/2006/chart" r:id="rId2"/>
          </a:graphicData>
        </a:graphic>
      </p:graphicFrame>
      <p:sp>
        <p:nvSpPr>
          <p:cNvPr id="8" name="Rectangle 7"/>
          <p:cNvSpPr/>
          <p:nvPr/>
        </p:nvSpPr>
        <p:spPr>
          <a:xfrm>
            <a:off x="777240" y="5349240"/>
            <a:ext cx="10634472" cy="868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349240"/>
            <a:ext cx="91440" cy="8686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5440680"/>
            <a:ext cx="10241280" cy="320040"/>
          </a:xfrm>
          <a:prstGeom prst="rect">
            <a:avLst/>
          </a:prstGeom>
          <a:noFill/>
        </p:spPr>
        <p:txBody>
          <a:bodyPr wrap="square" anchor="t">
            <a:spAutoFit/>
          </a:bodyPr>
          <a:lstStyle/>
          <a:p>
            <a:pPr algn="l">
              <a:spcAft>
                <a:spcPts val="400"/>
              </a:spcAft>
            </a:pPr>
            <a:r>
              <a:rPr sz="1100" b="1">
                <a:solidFill>
                  <a:srgbClr val="1F6FEB"/>
                </a:solidFill>
                <a:latin typeface="Arial"/>
              </a:rPr>
              <a:t>WHAT THE DATA SHOWS</a:t>
            </a:r>
          </a:p>
        </p:txBody>
      </p:sp>
      <p:sp>
        <p:nvSpPr>
          <p:cNvPr id="11" name="TextBox 10"/>
          <p:cNvSpPr txBox="1"/>
          <p:nvPr/>
        </p:nvSpPr>
        <p:spPr>
          <a:xfrm>
            <a:off x="1005840" y="5742432"/>
            <a:ext cx="10241280" cy="457200"/>
          </a:xfrm>
          <a:prstGeom prst="rect">
            <a:avLst/>
          </a:prstGeom>
          <a:noFill/>
        </p:spPr>
        <p:txBody>
          <a:bodyPr wrap="square" anchor="t">
            <a:spAutoFit/>
          </a:bodyPr>
          <a:lstStyle/>
          <a:p>
            <a:pPr algn="l">
              <a:spcAft>
                <a:spcPts val="400"/>
              </a:spcAft>
            </a:pPr>
            <a:r>
              <a:rPr sz="1350" b="0">
                <a:solidFill>
                  <a:srgbClr val="161B26"/>
                </a:solidFill>
                <a:latin typeface="Arial"/>
              </a:rPr>
              <a:t>SDLC Automation (22%) and the two 17% domains — IaC and Security &amp; Compliance — carry the most weight; plan revision time accordingly.</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a:t>
            </a:r>
          </a:p>
        </p:txBody>
      </p:sp>
    </p:spTree>
  </p:cSld>
  <p:clrMapOvr>
    <a:masterClrMapping/>
  </p:clrMapOvr>
  <p:transition xmlns:p14="http://schemas.microsoft.com/office/powerpoint/2010/main" p14:dur="380">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WHO SECURES WHAT</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AWS Shared Responsibility Model</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AWS responsibility</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Your responsibility</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500" b="0">
                <a:solidFill>
                  <a:srgbClr val="161B26"/>
                </a:solidFill>
                <a:latin typeface="Arial"/>
              </a:rPr>
              <a:t>•  AWS — security OF the cloud</a:t>
            </a:r>
          </a:p>
          <a:p>
            <a:pPr>
              <a:spcAft>
                <a:spcPts val="1000"/>
              </a:spcAft>
            </a:pPr>
            <a:r>
              <a:rPr sz="1300" b="0">
                <a:solidFill>
                  <a:srgbClr val="5B6372"/>
                </a:solidFill>
                <a:latin typeface="Arial"/>
              </a:rPr>
              <a:t>–  Physical data centres &amp; hardware</a:t>
            </a:r>
          </a:p>
          <a:p>
            <a:pPr>
              <a:spcAft>
                <a:spcPts val="1000"/>
              </a:spcAft>
            </a:pPr>
            <a:r>
              <a:rPr sz="1300" b="0">
                <a:solidFill>
                  <a:srgbClr val="5B6372"/>
                </a:solidFill>
                <a:latin typeface="Arial"/>
              </a:rPr>
              <a:t>–  Global network &amp; virtualisation layer</a:t>
            </a:r>
          </a:p>
          <a:p>
            <a:pPr>
              <a:spcAft>
                <a:spcPts val="1000"/>
              </a:spcAft>
            </a:pPr>
            <a:r>
              <a:rPr sz="1300" b="0">
                <a:solidFill>
                  <a:srgbClr val="5B6372"/>
                </a:solidFill>
                <a:latin typeface="Arial"/>
              </a:rPr>
              <a:t>–  Managed-service infrastructure</a:t>
            </a:r>
          </a:p>
          <a:p>
            <a:pPr>
              <a:spcAft>
                <a:spcPts val="1000"/>
              </a:spcAft>
            </a:pPr>
            <a:r>
              <a:rPr sz="1300" b="0">
                <a:solidFill>
                  <a:srgbClr val="5B6372"/>
                </a:solidFill>
                <a:latin typeface="Arial"/>
              </a:rPr>
              <a:t>–  Availability Zones and Regions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500" b="0">
                <a:solidFill>
                  <a:srgbClr val="161B26"/>
                </a:solidFill>
                <a:latin typeface="Arial"/>
              </a:rPr>
              <a:t>•  You — security IN the cloud</a:t>
            </a:r>
          </a:p>
          <a:p>
            <a:pPr>
              <a:spcAft>
                <a:spcPts val="1000"/>
              </a:spcAft>
            </a:pPr>
            <a:r>
              <a:rPr sz="1300" b="0">
                <a:solidFill>
                  <a:srgbClr val="5B6372"/>
                </a:solidFill>
                <a:latin typeface="Arial"/>
              </a:rPr>
              <a:t>–  IAM, identities and permissions</a:t>
            </a:r>
          </a:p>
          <a:p>
            <a:pPr>
              <a:spcAft>
                <a:spcPts val="1000"/>
              </a:spcAft>
            </a:pPr>
            <a:r>
              <a:rPr sz="1300" b="0">
                <a:solidFill>
                  <a:srgbClr val="5B6372"/>
                </a:solidFill>
                <a:latin typeface="Arial"/>
              </a:rPr>
              <a:t>–  OS, network &amp; firewall configuration</a:t>
            </a:r>
          </a:p>
          <a:p>
            <a:pPr>
              <a:spcAft>
                <a:spcPts val="1000"/>
              </a:spcAft>
            </a:pPr>
            <a:r>
              <a:rPr sz="1300" b="0">
                <a:solidFill>
                  <a:srgbClr val="5B6372"/>
                </a:solidFill>
                <a:latin typeface="Arial"/>
              </a:rPr>
              <a:t>–  Application code &amp; data encryption</a:t>
            </a:r>
          </a:p>
          <a:p>
            <a:pPr>
              <a:spcAft>
                <a:spcPts val="1000"/>
              </a:spcAft>
            </a:pPr>
            <a:r>
              <a:rPr sz="1300" b="0">
                <a:solidFill>
                  <a:srgbClr val="5B6372"/>
                </a:solidFill>
                <a:latin typeface="Arial"/>
              </a:rPr>
              <a:t>–  Patching guest OS and dependencies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a:t>
            </a:r>
          </a:p>
        </p:txBody>
      </p:sp>
    </p:spTree>
  </p:cSld>
  <p:clrMapOvr>
    <a:masterClrMapping/>
  </p:clrMapOvr>
  <p:transition xmlns:p14="http://schemas.microsoft.com/office/powerpoint/2010/main" p14:dur="380">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SERVICES YOU'LL USE</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Core AWS Building Blocks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10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6408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6408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Compute</a:t>
            </a:r>
          </a:p>
          <a:p>
            <a:pPr algn="l">
              <a:spcAft>
                <a:spcPts val="300"/>
              </a:spcAft>
            </a:pPr>
            <a:r>
              <a:rPr sz="1150" b="0">
                <a:solidFill>
                  <a:srgbClr val="5B6372"/>
                </a:solidFill>
                <a:latin typeface="Arial"/>
              </a:rPr>
              <a:t>EC2, ECS/EKS, Lambda, Auto Scaling.</a:t>
            </a:r>
          </a:p>
        </p:txBody>
      </p:sp>
      <p:sp>
        <p:nvSpPr>
          <p:cNvPr id="12" name="Rectangle 11"/>
          <p:cNvSpPr/>
          <p:nvPr/>
        </p:nvSpPr>
        <p:spPr>
          <a:xfrm>
            <a:off x="6231636" y="1783080"/>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3106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6408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6408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Networking</a:t>
            </a:r>
          </a:p>
          <a:p>
            <a:pPr algn="l">
              <a:spcAft>
                <a:spcPts val="300"/>
              </a:spcAft>
            </a:pPr>
            <a:r>
              <a:rPr sz="1150" b="0">
                <a:solidFill>
                  <a:srgbClr val="5B6372"/>
                </a:solidFill>
                <a:latin typeface="Arial"/>
              </a:rPr>
              <a:t>VPC, subnets, security groups, ELB, Route 53.</a:t>
            </a:r>
          </a:p>
        </p:txBody>
      </p:sp>
      <p:sp>
        <p:nvSpPr>
          <p:cNvPr id="17" name="Rectangle 16"/>
          <p:cNvSpPr/>
          <p:nvPr/>
        </p:nvSpPr>
        <p:spPr>
          <a:xfrm>
            <a:off x="777240" y="3313176"/>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3176"/>
            <a:ext cx="91440" cy="13106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422904"/>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Storage &amp; data</a:t>
            </a:r>
          </a:p>
          <a:p>
            <a:pPr algn="l">
              <a:spcAft>
                <a:spcPts val="300"/>
              </a:spcAft>
            </a:pPr>
            <a:r>
              <a:rPr sz="1150" b="0">
                <a:solidFill>
                  <a:srgbClr val="5B6372"/>
                </a:solidFill>
                <a:latin typeface="Arial"/>
              </a:rPr>
              <a:t>S3, EBS, RDS, DynamoDB.</a:t>
            </a:r>
          </a:p>
        </p:txBody>
      </p:sp>
      <p:sp>
        <p:nvSpPr>
          <p:cNvPr id="22" name="Rectangle 21"/>
          <p:cNvSpPr/>
          <p:nvPr/>
        </p:nvSpPr>
        <p:spPr>
          <a:xfrm>
            <a:off x="6231636" y="3313176"/>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3176"/>
            <a:ext cx="91440" cy="13106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422904"/>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Identity &amp; security</a:t>
            </a:r>
          </a:p>
          <a:p>
            <a:pPr algn="l">
              <a:spcAft>
                <a:spcPts val="300"/>
              </a:spcAft>
            </a:pPr>
            <a:r>
              <a:rPr sz="1150" b="0">
                <a:solidFill>
                  <a:srgbClr val="5B6372"/>
                </a:solidFill>
                <a:latin typeface="Arial"/>
              </a:rPr>
              <a:t>IAM, KMS, Secrets Manager, Config.</a:t>
            </a:r>
          </a:p>
        </p:txBody>
      </p:sp>
      <p:sp>
        <p:nvSpPr>
          <p:cNvPr id="27" name="Rectangle 26"/>
          <p:cNvSpPr/>
          <p:nvPr/>
        </p:nvSpPr>
        <p:spPr>
          <a:xfrm>
            <a:off x="777240" y="4843272"/>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43272"/>
            <a:ext cx="91440" cy="13106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24272"/>
            <a:ext cx="548640" cy="548640"/>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2427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953000"/>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Developer tools</a:t>
            </a:r>
          </a:p>
          <a:p>
            <a:pPr algn="l">
              <a:spcAft>
                <a:spcPts val="300"/>
              </a:spcAft>
            </a:pPr>
            <a:r>
              <a:rPr sz="1150" b="0">
                <a:solidFill>
                  <a:srgbClr val="5B6372"/>
                </a:solidFill>
                <a:latin typeface="Arial"/>
              </a:rPr>
              <a:t>CodePipeline, CodeBuild, CodeDeploy, CloudFormation.</a:t>
            </a:r>
          </a:p>
        </p:txBody>
      </p:sp>
      <p:sp>
        <p:nvSpPr>
          <p:cNvPr id="32" name="Rectangle 31"/>
          <p:cNvSpPr/>
          <p:nvPr/>
        </p:nvSpPr>
        <p:spPr>
          <a:xfrm>
            <a:off x="6231636" y="4843272"/>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43272"/>
            <a:ext cx="91440" cy="1310640"/>
          </a:xfrm>
          <a:prstGeom prst="rect">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24272"/>
            <a:ext cx="548640" cy="548640"/>
          </a:xfrm>
          <a:prstGeom prst="ellipse">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2427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953000"/>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Observability</a:t>
            </a:r>
          </a:p>
          <a:p>
            <a:pPr algn="l">
              <a:spcAft>
                <a:spcPts val="300"/>
              </a:spcAft>
            </a:pPr>
            <a:r>
              <a:rPr sz="1150" b="0">
                <a:solidFill>
                  <a:srgbClr val="5B6372"/>
                </a:solidFill>
                <a:latin typeface="Arial"/>
              </a:rPr>
              <a:t>CloudWatch, X-Ray, CloudTrail, EventBridge.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a:t>
            </a:r>
          </a:p>
        </p:txBody>
      </p:sp>
    </p:spTree>
  </p:cSld>
  <p:clrMapOvr>
    <a:masterClrMapping/>
  </p:clrMapOvr>
  <p:transition xmlns:p14="http://schemas.microsoft.com/office/powerpoint/2010/main" p14:dur="380">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THE BUSINESS CASE</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Why CI/CD — Release Frequency &amp; Lead Time</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828800"/>
          <a:ext cx="10634472" cy="3291840"/>
        </p:xfrm>
        <a:graphic>
          <a:graphicData uri="http://schemas.openxmlformats.org/drawingml/2006/chart">
            <c:chart xmlns:c="http://schemas.openxmlformats.org/drawingml/2006/chart" r:id="rId2"/>
          </a:graphicData>
        </a:graphic>
      </p:graphicFrame>
      <p:sp>
        <p:nvSpPr>
          <p:cNvPr id="8" name="Rectangle 7"/>
          <p:cNvSpPr/>
          <p:nvPr/>
        </p:nvSpPr>
        <p:spPr>
          <a:xfrm>
            <a:off x="777240" y="5349240"/>
            <a:ext cx="10634472" cy="868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349240"/>
            <a:ext cx="91440" cy="8686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5440680"/>
            <a:ext cx="10241280" cy="320040"/>
          </a:xfrm>
          <a:prstGeom prst="rect">
            <a:avLst/>
          </a:prstGeom>
          <a:noFill/>
        </p:spPr>
        <p:txBody>
          <a:bodyPr wrap="square" anchor="t">
            <a:spAutoFit/>
          </a:bodyPr>
          <a:lstStyle/>
          <a:p>
            <a:pPr algn="l">
              <a:spcAft>
                <a:spcPts val="400"/>
              </a:spcAft>
            </a:pPr>
            <a:r>
              <a:rPr sz="1100" b="1">
                <a:solidFill>
                  <a:srgbClr val="10B981"/>
                </a:solidFill>
                <a:latin typeface="Arial"/>
              </a:rPr>
              <a:t>WHAT THE DATA SHOWS</a:t>
            </a:r>
          </a:p>
        </p:txBody>
      </p:sp>
      <p:sp>
        <p:nvSpPr>
          <p:cNvPr id="11" name="TextBox 10"/>
          <p:cNvSpPr txBox="1"/>
          <p:nvPr/>
        </p:nvSpPr>
        <p:spPr>
          <a:xfrm>
            <a:off x="1005840" y="5742432"/>
            <a:ext cx="10241280" cy="457200"/>
          </a:xfrm>
          <a:prstGeom prst="rect">
            <a:avLst/>
          </a:prstGeom>
          <a:noFill/>
        </p:spPr>
        <p:txBody>
          <a:bodyPr wrap="square" anchor="t">
            <a:spAutoFit/>
          </a:bodyPr>
          <a:lstStyle/>
          <a:p>
            <a:pPr algn="l">
              <a:spcAft>
                <a:spcPts val="400"/>
              </a:spcAft>
            </a:pPr>
            <a:r>
              <a:rPr sz="1350" b="0">
                <a:solidFill>
                  <a:srgbClr val="161B26"/>
                </a:solidFill>
                <a:latin typeface="Arial"/>
              </a:rPr>
              <a:t>Automating the pipeline turns a few risky monthly releases into many small, low-risk ones that recover in hours, not days.</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a:t>
            </a:r>
          </a:p>
        </p:txBody>
      </p:sp>
    </p:spTree>
  </p:cSld>
  <p:clrMapOvr>
    <a:masterClrMapping/>
  </p:clrMapOvr>
  <p:transition xmlns:p14="http://schemas.microsoft.com/office/powerpoint/2010/main" p14:dur="380">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WHY IT MATTERS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Build, test, deploy — automatically and safely.</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The six AWS DevOps domains follow the delivery lifecycle: automate the SDLC, codify infrastructure, make it resilient, observe it, respond to events, and secure it.</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a:t>
            </a:r>
          </a:p>
        </p:txBody>
      </p:sp>
    </p:spTree>
  </p:cSld>
  <p:clrMapOvr>
    <a:masterClrMapping/>
  </p:clrMapOvr>
  <p:transition xmlns:p14="http://schemas.microsoft.com/office/powerpoint/2010/main" p14:dur="380">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MEASURING DEVOPS OUTCOMES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DORA Metrics — The Delivery/Stability Balance</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Move faster</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Stay stable</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500" b="0">
                <a:solidFill>
                  <a:srgbClr val="161B26"/>
                </a:solidFill>
                <a:latin typeface="Arial"/>
              </a:rPr>
              <a:t>•  Throughput</a:t>
            </a:r>
          </a:p>
          <a:p>
            <a:pPr>
              <a:spcAft>
                <a:spcPts val="1000"/>
              </a:spcAft>
            </a:pPr>
            <a:r>
              <a:rPr sz="1300" b="0">
                <a:solidFill>
                  <a:srgbClr val="5B6372"/>
                </a:solidFill>
                <a:latin typeface="Arial"/>
              </a:rPr>
              <a:t>–  Deployment frequency — how often you ship</a:t>
            </a:r>
          </a:p>
          <a:p>
            <a:pPr>
              <a:spcAft>
                <a:spcPts val="1000"/>
              </a:spcAft>
            </a:pPr>
            <a:r>
              <a:rPr sz="1300" b="0">
                <a:solidFill>
                  <a:srgbClr val="5B6372"/>
                </a:solidFill>
                <a:latin typeface="Arial"/>
              </a:rPr>
              <a:t>–  Lead time for changes — commit to production</a:t>
            </a:r>
          </a:p>
          <a:p>
            <a:pPr>
              <a:spcAft>
                <a:spcPts val="1000"/>
              </a:spcAft>
            </a:pPr>
            <a:r>
              <a:rPr sz="1300" b="0">
                <a:solidFill>
                  <a:srgbClr val="5B6372"/>
                </a:solidFill>
                <a:latin typeface="Arial"/>
              </a:rPr>
              <a:t>–  Elite: on-demand deploys, &lt;1 day lead time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500" b="0">
                <a:solidFill>
                  <a:srgbClr val="161B26"/>
                </a:solidFill>
                <a:latin typeface="Arial"/>
              </a:rPr>
              <a:t>•  Stability</a:t>
            </a:r>
          </a:p>
          <a:p>
            <a:pPr>
              <a:spcAft>
                <a:spcPts val="1000"/>
              </a:spcAft>
            </a:pPr>
            <a:r>
              <a:rPr sz="1300" b="0">
                <a:solidFill>
                  <a:srgbClr val="5B6372"/>
                </a:solidFill>
                <a:latin typeface="Arial"/>
              </a:rPr>
              <a:t>–  Change failure rate — % of deploys that hurt</a:t>
            </a:r>
          </a:p>
          <a:p>
            <a:pPr>
              <a:spcAft>
                <a:spcPts val="1000"/>
              </a:spcAft>
            </a:pPr>
            <a:r>
              <a:rPr sz="1300" b="0">
                <a:solidFill>
                  <a:srgbClr val="5B6372"/>
                </a:solidFill>
                <a:latin typeface="Arial"/>
              </a:rPr>
              <a:t>–  Time to restore service — MTTR after failure</a:t>
            </a:r>
          </a:p>
          <a:p>
            <a:pPr>
              <a:spcAft>
                <a:spcPts val="1000"/>
              </a:spcAft>
            </a:pPr>
            <a:r>
              <a:rPr sz="1300" b="0">
                <a:solidFill>
                  <a:srgbClr val="5B6372"/>
                </a:solidFill>
                <a:latin typeface="Arial"/>
              </a:rPr>
              <a:t>–  Elite: &lt;15% CFR, restore in &lt;1 hour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a:t>
            </a:r>
          </a:p>
        </p:txBody>
      </p:sp>
    </p:spTree>
  </p:cSld>
  <p:clrMapOvr>
    <a:masterClrMapping/>
  </p:clrMapOvr>
  <p:transition xmlns:p14="http://schemas.microsoft.com/office/powerpoint/2010/main" p14:dur="380">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HOW TEAMS BRANCH</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500" b="1">
                <a:solidFill>
                  <a:srgbClr val="161B26"/>
                </a:solidFill>
                <a:latin typeface="Arial"/>
              </a:rPr>
              <a:t>Version Control Strategy — Trunk-Based vs Long-Lived Branches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600" b="1">
                <a:solidFill>
                  <a:srgbClr val="161B26"/>
                </a:solidFill>
                <a:latin typeface="Arial"/>
              </a:rPr>
              <a:t>Trunk-based</a:t>
            </a:r>
          </a:p>
          <a:p>
            <a:pPr algn="l">
              <a:spcAft>
                <a:spcPts val="300"/>
              </a:spcAft>
            </a:pPr>
            <a:r>
              <a:rPr sz="1200" b="0">
                <a:solidFill>
                  <a:srgbClr val="5B6372"/>
                </a:solidFill>
                <a:latin typeface="Arial"/>
              </a:rPr>
              <a:t>Short-lived branches merged to trunk daily — keeps integration continuous.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600" b="1">
                <a:solidFill>
                  <a:srgbClr val="161B26"/>
                </a:solidFill>
                <a:latin typeface="Arial"/>
              </a:rPr>
              <a:t>Feature flags</a:t>
            </a:r>
          </a:p>
          <a:p>
            <a:pPr algn="l">
              <a:spcAft>
                <a:spcPts val="300"/>
              </a:spcAft>
            </a:pPr>
            <a:r>
              <a:rPr sz="1200" b="0">
                <a:solidFill>
                  <a:srgbClr val="5B6372"/>
                </a:solidFill>
                <a:latin typeface="Arial"/>
              </a:rPr>
              <a:t>Ship unfinished work dark; decouple deploy from release.</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600" b="1">
                <a:solidFill>
                  <a:srgbClr val="161B26"/>
                </a:solidFill>
                <a:latin typeface="Arial"/>
              </a:rPr>
              <a:t>Gitflow (heavier)</a:t>
            </a:r>
          </a:p>
          <a:p>
            <a:pPr algn="l">
              <a:spcAft>
                <a:spcPts val="300"/>
              </a:spcAft>
            </a:pPr>
            <a:r>
              <a:rPr sz="1200" b="0">
                <a:solidFill>
                  <a:srgbClr val="5B6372"/>
                </a:solidFill>
                <a:latin typeface="Arial"/>
              </a:rPr>
              <a:t>Release/develop branches — more ceremony, slower integration.</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600" b="1">
                <a:solidFill>
                  <a:srgbClr val="161B26"/>
                </a:solidFill>
                <a:latin typeface="Arial"/>
              </a:rPr>
              <a:t>Branch protection</a:t>
            </a:r>
          </a:p>
          <a:p>
            <a:pPr algn="l">
              <a:spcAft>
                <a:spcPts val="300"/>
              </a:spcAft>
            </a:pPr>
            <a:r>
              <a:rPr sz="1200" b="0">
                <a:solidFill>
                  <a:srgbClr val="5B6372"/>
                </a:solidFill>
                <a:latin typeface="Arial"/>
              </a:rPr>
              <a:t>Required reviews and green checks before merge, enforced in GitHub.</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a:t>
            </a:r>
          </a:p>
        </p:txBody>
      </p:sp>
    </p:spTree>
  </p:cSld>
  <p:clrMapOvr>
    <a:masterClrMapping/>
  </p:clrMapOvr>
  <p:transition xmlns:p14="http://schemas.microsoft.com/office/powerpoint/2010/main" p14:dur="380">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ONE ARTIFACT, MANY ENVIRONMENTS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Promotion Across Environments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Build once
immutable artifact</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Deploy to Dev
smoke tests</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Deploy to Staging
production-like</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Approve
(if gated)</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Deploy to Prod
progressive rollout</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a:t>
            </a:r>
          </a:p>
        </p:txBody>
      </p:sp>
    </p:spTree>
  </p:cSld>
  <p:clrMapOvr>
    <a:masterClrMapping/>
  </p:clrMapOvr>
  <p:transition xmlns:p14="http://schemas.microsoft.com/office/powerpoint/2010/main" p14:dur="380">
    <p:fade/>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SOURCE INTEGRATION</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500" b="1">
                <a:solidFill>
                  <a:srgbClr val="161B26"/>
                </a:solidFill>
                <a:latin typeface="Arial"/>
              </a:rPr>
              <a:t>GitHub via AWS CodeConnections — The Modern Source Path</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600" b="1">
                <a:solidFill>
                  <a:srgbClr val="161B26"/>
                </a:solidFill>
                <a:latin typeface="Arial"/>
              </a:rPr>
              <a:t>Managed connection</a:t>
            </a:r>
          </a:p>
          <a:p>
            <a:pPr algn="l">
              <a:spcAft>
                <a:spcPts val="300"/>
              </a:spcAft>
            </a:pPr>
            <a:r>
              <a:rPr sz="1200" b="0">
                <a:solidFill>
                  <a:srgbClr val="5B6372"/>
                </a:solidFill>
                <a:latin typeface="Arial"/>
              </a:rPr>
              <a:t>Connect GitHub/GitHub Enterprise/Bitbucket/GitLab without long-lived Git credentials.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600" b="1">
                <a:solidFill>
                  <a:srgbClr val="161B26"/>
                </a:solidFill>
                <a:latin typeface="Arial"/>
              </a:rPr>
              <a:t>Webhook triggers</a:t>
            </a:r>
          </a:p>
          <a:p>
            <a:pPr algn="l">
              <a:spcAft>
                <a:spcPts val="300"/>
              </a:spcAft>
            </a:pPr>
            <a:r>
              <a:rPr sz="1200" b="0">
                <a:solidFill>
                  <a:srgbClr val="5B6372"/>
                </a:solidFill>
                <a:latin typeface="Arial"/>
              </a:rPr>
              <a:t>A push starts the pipeline instantly — no polling latency.</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600" b="1">
                <a:solidFill>
                  <a:srgbClr val="161B26"/>
                </a:solidFill>
                <a:latin typeface="Arial"/>
              </a:rPr>
              <a:t>Keep your workflow</a:t>
            </a:r>
          </a:p>
          <a:p>
            <a:pPr algn="l">
              <a:spcAft>
                <a:spcPts val="300"/>
              </a:spcAft>
            </a:pPr>
            <a:r>
              <a:rPr sz="1200" b="0">
                <a:solidFill>
                  <a:srgbClr val="5B6372"/>
                </a:solidFill>
                <a:latin typeface="Arial"/>
              </a:rPr>
              <a:t>Existing pull requests, reviews and branch protection still apply.</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600" b="1">
                <a:solidFill>
                  <a:srgbClr val="161B26"/>
                </a:solidFill>
                <a:latin typeface="Arial"/>
              </a:rPr>
              <a:t>CodeCommit optional</a:t>
            </a:r>
          </a:p>
          <a:p>
            <a:pPr algn="l">
              <a:spcAft>
                <a:spcPts val="300"/>
              </a:spcAft>
            </a:pPr>
            <a:r>
              <a:rPr sz="1200" b="0">
                <a:solidFill>
                  <a:srgbClr val="5B6372"/>
                </a:solidFill>
                <a:latin typeface="Arial"/>
              </a:rPr>
              <a:t>AWS-native Git remains available, but is not required for new work.</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a:t>
            </a:r>
          </a:p>
        </p:txBody>
      </p:sp>
    </p:spTree>
  </p:cSld>
  <p:clrMapOvr>
    <a:masterClrMapping/>
  </p:clrMapOvr>
  <p:transition xmlns:p14="http://schemas.microsoft.com/office/powerpoint/2010/main" p14:dur="380">
    <p:fade/>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A CLOUD-NATIVE MINDSET</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Immutable Infrastructure — Cattle, Not Pets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600" b="1">
                <a:solidFill>
                  <a:srgbClr val="161B26"/>
                </a:solidFill>
                <a:latin typeface="Arial"/>
              </a:rPr>
              <a:t>Replace, don't patch</a:t>
            </a:r>
          </a:p>
          <a:p>
            <a:pPr algn="l">
              <a:spcAft>
                <a:spcPts val="300"/>
              </a:spcAft>
            </a:pPr>
            <a:r>
              <a:rPr sz="1200" b="0">
                <a:solidFill>
                  <a:srgbClr val="5B6372"/>
                </a:solidFill>
                <a:latin typeface="Arial"/>
              </a:rPr>
              <a:t>Deploy a new, tested image instead of mutating running servers.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600" b="1">
                <a:solidFill>
                  <a:srgbClr val="161B26"/>
                </a:solidFill>
                <a:latin typeface="Arial"/>
              </a:rPr>
              <a:t>No configuration drift</a:t>
            </a:r>
          </a:p>
          <a:p>
            <a:pPr algn="l">
              <a:spcAft>
                <a:spcPts val="300"/>
              </a:spcAft>
            </a:pPr>
            <a:r>
              <a:rPr sz="1200" b="0">
                <a:solidFill>
                  <a:srgbClr val="5B6372"/>
                </a:solidFill>
                <a:latin typeface="Arial"/>
              </a:rPr>
              <a:t>Every instance is built the same way from the same artifact.</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600" b="1">
                <a:solidFill>
                  <a:srgbClr val="161B26"/>
                </a:solidFill>
                <a:latin typeface="Arial"/>
              </a:rPr>
              <a:t>Fast, safe rollback</a:t>
            </a:r>
          </a:p>
          <a:p>
            <a:pPr algn="l">
              <a:spcAft>
                <a:spcPts val="300"/>
              </a:spcAft>
            </a:pPr>
            <a:r>
              <a:rPr sz="1200" b="0">
                <a:solidFill>
                  <a:srgbClr val="5B6372"/>
                </a:solidFill>
                <a:latin typeface="Arial"/>
              </a:rPr>
              <a:t>Roll back by launching the previous known-good image.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600" b="1">
                <a:solidFill>
                  <a:srgbClr val="161B26"/>
                </a:solidFill>
                <a:latin typeface="Arial"/>
              </a:rPr>
              <a:t>Bake with a pipeline</a:t>
            </a:r>
          </a:p>
          <a:p>
            <a:pPr algn="l">
              <a:spcAft>
                <a:spcPts val="300"/>
              </a:spcAft>
            </a:pPr>
            <a:r>
              <a:rPr sz="1200" b="0">
                <a:solidFill>
                  <a:srgbClr val="5B6372"/>
                </a:solidFill>
                <a:latin typeface="Arial"/>
              </a:rPr>
              <a:t>EC2 Image Builder / golden AMIs produce reproducible images.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a:t>
            </a:r>
          </a:p>
        </p:txBody>
      </p:sp>
    </p:spTree>
  </p:cSld>
  <p:clrMapOvr>
    <a:masterClrMapping/>
  </p:clrMapOvr>
  <p:transition xmlns:p14="http://schemas.microsoft.com/office/powerpoint/2010/main" p14:dur="380">
    <p:fade/>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DEVOPS MEETS FINOPS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Cost Awareness in DevOps — Build It In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600" b="1">
                <a:solidFill>
                  <a:srgbClr val="161B26"/>
                </a:solidFill>
                <a:latin typeface="Arial"/>
              </a:rPr>
              <a:t>Right-size &amp; auto-scale</a:t>
            </a:r>
          </a:p>
          <a:p>
            <a:pPr algn="l">
              <a:spcAft>
                <a:spcPts val="300"/>
              </a:spcAft>
            </a:pPr>
            <a:r>
              <a:rPr sz="1200" b="0">
                <a:solidFill>
                  <a:srgbClr val="5B6372"/>
                </a:solidFill>
                <a:latin typeface="Arial"/>
              </a:rPr>
              <a:t>Match capacity to demand; scale to zero where you can.</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600" b="1">
                <a:solidFill>
                  <a:srgbClr val="161B26"/>
                </a:solidFill>
                <a:latin typeface="Arial"/>
              </a:rPr>
              <a:t>Tag everything</a:t>
            </a:r>
          </a:p>
          <a:p>
            <a:pPr algn="l">
              <a:spcAft>
                <a:spcPts val="300"/>
              </a:spcAft>
            </a:pPr>
            <a:r>
              <a:rPr sz="1200" b="0">
                <a:solidFill>
                  <a:srgbClr val="5B6372"/>
                </a:solidFill>
                <a:latin typeface="Arial"/>
              </a:rPr>
              <a:t>Cost allocation tags make spend visible per team/service.</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600" b="1">
                <a:solidFill>
                  <a:srgbClr val="161B26"/>
                </a:solidFill>
                <a:latin typeface="Arial"/>
              </a:rPr>
              <a:t>Clean up as code</a:t>
            </a:r>
          </a:p>
          <a:p>
            <a:pPr algn="l">
              <a:spcAft>
                <a:spcPts val="300"/>
              </a:spcAft>
            </a:pPr>
            <a:r>
              <a:rPr sz="1200" b="0">
                <a:solidFill>
                  <a:srgbClr val="5B6372"/>
                </a:solidFill>
                <a:latin typeface="Arial"/>
              </a:rPr>
              <a:t>Tear-down steps in every lab/pipeline stop orphaned resources.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600" b="1">
                <a:solidFill>
                  <a:srgbClr val="161B26"/>
                </a:solidFill>
                <a:latin typeface="Arial"/>
              </a:rPr>
              <a:t>Budgets &amp; alarms</a:t>
            </a:r>
          </a:p>
          <a:p>
            <a:pPr algn="l">
              <a:spcAft>
                <a:spcPts val="300"/>
              </a:spcAft>
            </a:pPr>
            <a:r>
              <a:rPr sz="1200" b="0">
                <a:solidFill>
                  <a:srgbClr val="5B6372"/>
                </a:solidFill>
                <a:latin typeface="Arial"/>
              </a:rPr>
              <a:t>AWS Budgets alert before spend surprises the finance team.</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a:t>
            </a:r>
          </a:p>
        </p:txBody>
      </p:sp>
    </p:spTree>
  </p:cSld>
  <p:clrMapOvr>
    <a:masterClrMapping/>
  </p:clrMapOvr>
  <p:transition xmlns:p14="http://schemas.microsoft.com/office/powerpoint/2010/main" p14:dur="380">
    <p:fade/>
  </p:transition>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SECURITY IS EVERYONE'S JOB</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DevSecOps — Shift Security Left</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600" b="1">
                <a:solidFill>
                  <a:srgbClr val="161B26"/>
                </a:solidFill>
                <a:latin typeface="Arial"/>
              </a:rPr>
              <a:t>Scan in the pipeline</a:t>
            </a:r>
          </a:p>
          <a:p>
            <a:pPr algn="l">
              <a:spcAft>
                <a:spcPts val="300"/>
              </a:spcAft>
            </a:pPr>
            <a:r>
              <a:rPr sz="1200" b="0">
                <a:solidFill>
                  <a:srgbClr val="5B6372"/>
                </a:solidFill>
                <a:latin typeface="Arial"/>
              </a:rPr>
              <a:t>SAST/SCA on code and dependencies; scan IaC templates.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600" b="1">
                <a:solidFill>
                  <a:srgbClr val="161B26"/>
                </a:solidFill>
                <a:latin typeface="Arial"/>
              </a:rPr>
              <a:t>Least-privilege pipelines</a:t>
            </a:r>
          </a:p>
          <a:p>
            <a:pPr algn="l">
              <a:spcAft>
                <a:spcPts val="300"/>
              </a:spcAft>
            </a:pPr>
            <a:r>
              <a:rPr sz="1200" b="0">
                <a:solidFill>
                  <a:srgbClr val="5B6372"/>
                </a:solidFill>
                <a:latin typeface="Arial"/>
              </a:rPr>
              <a:t>Scope build and deploy roles; no secrets in source.</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600" b="1">
                <a:solidFill>
                  <a:srgbClr val="161B26"/>
                </a:solidFill>
                <a:latin typeface="Arial"/>
              </a:rPr>
              <a:t>Policy as code</a:t>
            </a:r>
          </a:p>
          <a:p>
            <a:pPr algn="l">
              <a:spcAft>
                <a:spcPts val="300"/>
              </a:spcAft>
            </a:pPr>
            <a:r>
              <a:rPr sz="1200" b="0">
                <a:solidFill>
                  <a:srgbClr val="5B6372"/>
                </a:solidFill>
                <a:latin typeface="Arial"/>
              </a:rPr>
              <a:t>Guardrails as SCPs and Config rules, versioned like code.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600" b="1">
                <a:solidFill>
                  <a:srgbClr val="161B26"/>
                </a:solidFill>
                <a:latin typeface="Arial"/>
              </a:rPr>
              <a:t>Continuous compliance</a:t>
            </a:r>
          </a:p>
          <a:p>
            <a:pPr algn="l">
              <a:spcAft>
                <a:spcPts val="300"/>
              </a:spcAft>
            </a:pPr>
            <a:r>
              <a:rPr sz="1200" b="0">
                <a:solidFill>
                  <a:srgbClr val="5B6372"/>
                </a:solidFill>
                <a:latin typeface="Arial"/>
              </a:rPr>
              <a:t>Detect and remediate drift automatically, always-on.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a:t>
            </a:r>
          </a:p>
        </p:txBody>
      </p:sp>
    </p:spTree>
  </p:cSld>
  <p:clrMapOvr>
    <a:masterClrMapping/>
  </p:clrMapOvr>
  <p:transition xmlns:p14="http://schemas.microsoft.com/office/powerpoint/2010/main" p14:dur="380">
    <p:fade/>
  </p:transition>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MATCH THE RUNTIME TO THE WORKLOAD</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Choosing Compute — EC2 vs ECS/EKS vs Lambda</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126894"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6968" y="1783080"/>
            <a:ext cx="1944014" cy="502920"/>
          </a:xfrm>
          <a:prstGeom prst="rect">
            <a:avLst/>
          </a:prstGeom>
          <a:noFill/>
        </p:spPr>
        <p:txBody>
          <a:bodyPr wrap="square" anchor="ctr">
            <a:spAutoFit/>
          </a:bodyPr>
          <a:lstStyle/>
          <a:p>
            <a:pPr algn="l">
              <a:spcAft>
                <a:spcPts val="400"/>
              </a:spcAft>
            </a:pPr>
            <a:r>
              <a:rPr sz="1400" b="1">
                <a:solidFill>
                  <a:srgbClr val="FFFFFF"/>
                </a:solidFill>
                <a:latin typeface="Arial"/>
              </a:rPr>
              <a:t>Option</a:t>
            </a:r>
          </a:p>
        </p:txBody>
      </p:sp>
      <p:sp>
        <p:nvSpPr>
          <p:cNvPr id="9" name="Rectangle 8"/>
          <p:cNvSpPr/>
          <p:nvPr/>
        </p:nvSpPr>
        <p:spPr>
          <a:xfrm>
            <a:off x="2904134" y="1783080"/>
            <a:ext cx="3615720"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13862" y="1783080"/>
            <a:ext cx="3432840" cy="502920"/>
          </a:xfrm>
          <a:prstGeom prst="rect">
            <a:avLst/>
          </a:prstGeom>
          <a:noFill/>
        </p:spPr>
        <p:txBody>
          <a:bodyPr wrap="square" anchor="ctr">
            <a:spAutoFit/>
          </a:bodyPr>
          <a:lstStyle/>
          <a:p>
            <a:pPr algn="ctr">
              <a:spcAft>
                <a:spcPts val="400"/>
              </a:spcAft>
            </a:pPr>
            <a:r>
              <a:rPr sz="1400" b="1">
                <a:solidFill>
                  <a:srgbClr val="FFFFFF"/>
                </a:solidFill>
                <a:latin typeface="Arial"/>
              </a:rPr>
              <a:t>Best for</a:t>
            </a:r>
          </a:p>
        </p:txBody>
      </p:sp>
      <p:sp>
        <p:nvSpPr>
          <p:cNvPr id="11" name="Rectangle 10"/>
          <p:cNvSpPr/>
          <p:nvPr/>
        </p:nvSpPr>
        <p:spPr>
          <a:xfrm>
            <a:off x="6519854" y="1783080"/>
            <a:ext cx="2552273"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29582" y="1783080"/>
            <a:ext cx="2369393" cy="502920"/>
          </a:xfrm>
          <a:prstGeom prst="rect">
            <a:avLst/>
          </a:prstGeom>
          <a:noFill/>
        </p:spPr>
        <p:txBody>
          <a:bodyPr wrap="square" anchor="ctr">
            <a:spAutoFit/>
          </a:bodyPr>
          <a:lstStyle/>
          <a:p>
            <a:pPr algn="ctr">
              <a:spcAft>
                <a:spcPts val="400"/>
              </a:spcAft>
            </a:pPr>
            <a:r>
              <a:rPr sz="1400" b="1">
                <a:solidFill>
                  <a:srgbClr val="FFFFFF"/>
                </a:solidFill>
                <a:latin typeface="Arial"/>
              </a:rPr>
              <a:t>Ops overhead</a:t>
            </a:r>
          </a:p>
        </p:txBody>
      </p:sp>
      <p:sp>
        <p:nvSpPr>
          <p:cNvPr id="13" name="Rectangle 12"/>
          <p:cNvSpPr/>
          <p:nvPr/>
        </p:nvSpPr>
        <p:spPr>
          <a:xfrm>
            <a:off x="9072127" y="1783080"/>
            <a:ext cx="2339583"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81855" y="1783080"/>
            <a:ext cx="2156703" cy="502920"/>
          </a:xfrm>
          <a:prstGeom prst="rect">
            <a:avLst/>
          </a:prstGeom>
          <a:noFill/>
        </p:spPr>
        <p:txBody>
          <a:bodyPr wrap="square" anchor="ctr">
            <a:spAutoFit/>
          </a:bodyPr>
          <a:lstStyle/>
          <a:p>
            <a:pPr algn="ctr">
              <a:spcAft>
                <a:spcPts val="400"/>
              </a:spcAft>
            </a:pPr>
            <a:r>
              <a:rPr sz="1400" b="1">
                <a:solidFill>
                  <a:srgbClr val="FFFFFF"/>
                </a:solidFill>
                <a:latin typeface="Arial"/>
              </a:rPr>
              <a:t>Scaling</a:t>
            </a:r>
          </a:p>
        </p:txBody>
      </p:sp>
      <p:sp>
        <p:nvSpPr>
          <p:cNvPr id="15" name="Rectangle 14"/>
          <p:cNvSpPr/>
          <p:nvPr/>
        </p:nvSpPr>
        <p:spPr>
          <a:xfrm>
            <a:off x="777240" y="2286000"/>
            <a:ext cx="2126894"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6968" y="2286000"/>
            <a:ext cx="1944014" cy="822960"/>
          </a:xfrm>
          <a:prstGeom prst="rect">
            <a:avLst/>
          </a:prstGeom>
          <a:noFill/>
        </p:spPr>
        <p:txBody>
          <a:bodyPr wrap="square" anchor="ctr">
            <a:spAutoFit/>
          </a:bodyPr>
          <a:lstStyle/>
          <a:p>
            <a:pPr algn="l">
              <a:spcAft>
                <a:spcPts val="400"/>
              </a:spcAft>
            </a:pPr>
            <a:r>
              <a:rPr sz="1250" b="1">
                <a:solidFill>
                  <a:srgbClr val="161B26"/>
                </a:solidFill>
                <a:latin typeface="Arial"/>
              </a:rPr>
              <a:t>EC2 + ASG</a:t>
            </a:r>
          </a:p>
        </p:txBody>
      </p:sp>
      <p:sp>
        <p:nvSpPr>
          <p:cNvPr id="17" name="Rectangle 16"/>
          <p:cNvSpPr/>
          <p:nvPr/>
        </p:nvSpPr>
        <p:spPr>
          <a:xfrm>
            <a:off x="2904134" y="2286000"/>
            <a:ext cx="3615720"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013862" y="2286000"/>
            <a:ext cx="3432840" cy="822960"/>
          </a:xfrm>
          <a:prstGeom prst="rect">
            <a:avLst/>
          </a:prstGeom>
          <a:noFill/>
        </p:spPr>
        <p:txBody>
          <a:bodyPr wrap="square" anchor="ctr">
            <a:spAutoFit/>
          </a:bodyPr>
          <a:lstStyle/>
          <a:p>
            <a:pPr algn="ctr">
              <a:spcAft>
                <a:spcPts val="400"/>
              </a:spcAft>
            </a:pPr>
            <a:r>
              <a:rPr sz="1250" b="0">
                <a:solidFill>
                  <a:srgbClr val="5B6372"/>
                </a:solidFill>
                <a:latin typeface="Arial"/>
              </a:rPr>
              <a:t>Lift-and-shift, full OS control</a:t>
            </a:r>
          </a:p>
        </p:txBody>
      </p:sp>
      <p:sp>
        <p:nvSpPr>
          <p:cNvPr id="19" name="Rectangle 18"/>
          <p:cNvSpPr/>
          <p:nvPr/>
        </p:nvSpPr>
        <p:spPr>
          <a:xfrm>
            <a:off x="6519854" y="2286000"/>
            <a:ext cx="2552273"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29582" y="2286000"/>
            <a:ext cx="2369393" cy="822960"/>
          </a:xfrm>
          <a:prstGeom prst="rect">
            <a:avLst/>
          </a:prstGeom>
          <a:noFill/>
        </p:spPr>
        <p:txBody>
          <a:bodyPr wrap="square" anchor="ctr">
            <a:spAutoFit/>
          </a:bodyPr>
          <a:lstStyle/>
          <a:p>
            <a:pPr algn="ctr">
              <a:spcAft>
                <a:spcPts val="400"/>
              </a:spcAft>
            </a:pPr>
            <a:r>
              <a:rPr sz="1250" b="0">
                <a:solidFill>
                  <a:srgbClr val="5B6372"/>
                </a:solidFill>
                <a:latin typeface="Arial"/>
              </a:rPr>
              <a:t>Higher (patching, AMIs)</a:t>
            </a:r>
          </a:p>
        </p:txBody>
      </p:sp>
      <p:sp>
        <p:nvSpPr>
          <p:cNvPr id="21" name="Rectangle 20"/>
          <p:cNvSpPr/>
          <p:nvPr/>
        </p:nvSpPr>
        <p:spPr>
          <a:xfrm>
            <a:off x="9072127" y="2286000"/>
            <a:ext cx="2339583"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1855" y="2286000"/>
            <a:ext cx="2156703" cy="822960"/>
          </a:xfrm>
          <a:prstGeom prst="rect">
            <a:avLst/>
          </a:prstGeom>
          <a:noFill/>
        </p:spPr>
        <p:txBody>
          <a:bodyPr wrap="square" anchor="ctr">
            <a:spAutoFit/>
          </a:bodyPr>
          <a:lstStyle/>
          <a:p>
            <a:pPr algn="ctr">
              <a:spcAft>
                <a:spcPts val="400"/>
              </a:spcAft>
            </a:pPr>
            <a:r>
              <a:rPr sz="1250" b="0">
                <a:solidFill>
                  <a:srgbClr val="5B6372"/>
                </a:solidFill>
                <a:latin typeface="Arial"/>
              </a:rPr>
              <a:t>Instances via ASG</a:t>
            </a:r>
          </a:p>
        </p:txBody>
      </p:sp>
      <p:sp>
        <p:nvSpPr>
          <p:cNvPr id="23" name="Rectangle 22"/>
          <p:cNvSpPr/>
          <p:nvPr/>
        </p:nvSpPr>
        <p:spPr>
          <a:xfrm>
            <a:off x="777240" y="3108960"/>
            <a:ext cx="2126894"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86968" y="3108960"/>
            <a:ext cx="1944014" cy="822960"/>
          </a:xfrm>
          <a:prstGeom prst="rect">
            <a:avLst/>
          </a:prstGeom>
          <a:noFill/>
        </p:spPr>
        <p:txBody>
          <a:bodyPr wrap="square" anchor="ctr">
            <a:spAutoFit/>
          </a:bodyPr>
          <a:lstStyle/>
          <a:p>
            <a:pPr algn="l">
              <a:spcAft>
                <a:spcPts val="400"/>
              </a:spcAft>
            </a:pPr>
            <a:r>
              <a:rPr sz="1250" b="1">
                <a:solidFill>
                  <a:srgbClr val="161B26"/>
                </a:solidFill>
                <a:latin typeface="Arial"/>
              </a:rPr>
              <a:t>ECS / Fargate</a:t>
            </a:r>
          </a:p>
        </p:txBody>
      </p:sp>
      <p:sp>
        <p:nvSpPr>
          <p:cNvPr id="25" name="Rectangle 24"/>
          <p:cNvSpPr/>
          <p:nvPr/>
        </p:nvSpPr>
        <p:spPr>
          <a:xfrm>
            <a:off x="2904134" y="3108960"/>
            <a:ext cx="3615720"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013862" y="3108960"/>
            <a:ext cx="3432840" cy="822960"/>
          </a:xfrm>
          <a:prstGeom prst="rect">
            <a:avLst/>
          </a:prstGeom>
          <a:noFill/>
        </p:spPr>
        <p:txBody>
          <a:bodyPr wrap="square" anchor="ctr">
            <a:spAutoFit/>
          </a:bodyPr>
          <a:lstStyle/>
          <a:p>
            <a:pPr algn="ctr">
              <a:spcAft>
                <a:spcPts val="400"/>
              </a:spcAft>
            </a:pPr>
            <a:r>
              <a:rPr sz="1250" b="0">
                <a:solidFill>
                  <a:srgbClr val="5B6372"/>
                </a:solidFill>
                <a:latin typeface="Arial"/>
              </a:rPr>
              <a:t>Containerised services</a:t>
            </a:r>
          </a:p>
        </p:txBody>
      </p:sp>
      <p:sp>
        <p:nvSpPr>
          <p:cNvPr id="27" name="Rectangle 26"/>
          <p:cNvSpPr/>
          <p:nvPr/>
        </p:nvSpPr>
        <p:spPr>
          <a:xfrm>
            <a:off x="6519854" y="3108960"/>
            <a:ext cx="2552273"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29582" y="3108960"/>
            <a:ext cx="2369393" cy="822960"/>
          </a:xfrm>
          <a:prstGeom prst="rect">
            <a:avLst/>
          </a:prstGeom>
          <a:noFill/>
        </p:spPr>
        <p:txBody>
          <a:bodyPr wrap="square" anchor="ctr">
            <a:spAutoFit/>
          </a:bodyPr>
          <a:lstStyle/>
          <a:p>
            <a:pPr algn="ctr">
              <a:spcAft>
                <a:spcPts val="400"/>
              </a:spcAft>
            </a:pPr>
            <a:r>
              <a:rPr sz="1250" b="0">
                <a:solidFill>
                  <a:srgbClr val="5B6372"/>
                </a:solidFill>
                <a:latin typeface="Arial"/>
              </a:rPr>
              <a:t>Medium (Fargate = serverless)</a:t>
            </a:r>
          </a:p>
        </p:txBody>
      </p:sp>
      <p:sp>
        <p:nvSpPr>
          <p:cNvPr id="29" name="Rectangle 28"/>
          <p:cNvSpPr/>
          <p:nvPr/>
        </p:nvSpPr>
        <p:spPr>
          <a:xfrm>
            <a:off x="9072127" y="3108960"/>
            <a:ext cx="2339583"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181855" y="3108960"/>
            <a:ext cx="2156703" cy="822960"/>
          </a:xfrm>
          <a:prstGeom prst="rect">
            <a:avLst/>
          </a:prstGeom>
          <a:noFill/>
        </p:spPr>
        <p:txBody>
          <a:bodyPr wrap="square" anchor="ctr">
            <a:spAutoFit/>
          </a:bodyPr>
          <a:lstStyle/>
          <a:p>
            <a:pPr algn="ctr">
              <a:spcAft>
                <a:spcPts val="400"/>
              </a:spcAft>
            </a:pPr>
            <a:r>
              <a:rPr sz="1250" b="0">
                <a:solidFill>
                  <a:srgbClr val="5B6372"/>
                </a:solidFill>
                <a:latin typeface="Arial"/>
              </a:rPr>
              <a:t>Tasks/services</a:t>
            </a:r>
          </a:p>
        </p:txBody>
      </p:sp>
      <p:sp>
        <p:nvSpPr>
          <p:cNvPr id="31" name="Rectangle 30"/>
          <p:cNvSpPr/>
          <p:nvPr/>
        </p:nvSpPr>
        <p:spPr>
          <a:xfrm>
            <a:off x="777240" y="3931920"/>
            <a:ext cx="2126894"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6968" y="3931920"/>
            <a:ext cx="1944014" cy="822960"/>
          </a:xfrm>
          <a:prstGeom prst="rect">
            <a:avLst/>
          </a:prstGeom>
          <a:noFill/>
        </p:spPr>
        <p:txBody>
          <a:bodyPr wrap="square" anchor="ctr">
            <a:spAutoFit/>
          </a:bodyPr>
          <a:lstStyle/>
          <a:p>
            <a:pPr algn="l">
              <a:spcAft>
                <a:spcPts val="400"/>
              </a:spcAft>
            </a:pPr>
            <a:r>
              <a:rPr sz="1250" b="1">
                <a:solidFill>
                  <a:srgbClr val="161B26"/>
                </a:solidFill>
                <a:latin typeface="Arial"/>
              </a:rPr>
              <a:t>EKS</a:t>
            </a:r>
          </a:p>
        </p:txBody>
      </p:sp>
      <p:sp>
        <p:nvSpPr>
          <p:cNvPr id="33" name="Rectangle 32"/>
          <p:cNvSpPr/>
          <p:nvPr/>
        </p:nvSpPr>
        <p:spPr>
          <a:xfrm>
            <a:off x="2904134" y="3931920"/>
            <a:ext cx="3615720"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013862" y="3931920"/>
            <a:ext cx="3432840" cy="822960"/>
          </a:xfrm>
          <a:prstGeom prst="rect">
            <a:avLst/>
          </a:prstGeom>
          <a:noFill/>
        </p:spPr>
        <p:txBody>
          <a:bodyPr wrap="square" anchor="ctr">
            <a:spAutoFit/>
          </a:bodyPr>
          <a:lstStyle/>
          <a:p>
            <a:pPr algn="ctr">
              <a:spcAft>
                <a:spcPts val="400"/>
              </a:spcAft>
            </a:pPr>
            <a:r>
              <a:rPr sz="1250" b="0">
                <a:solidFill>
                  <a:srgbClr val="5B6372"/>
                </a:solidFill>
                <a:latin typeface="Arial"/>
              </a:rPr>
              <a:t>Kubernetes-standard workloads</a:t>
            </a:r>
          </a:p>
        </p:txBody>
      </p:sp>
      <p:sp>
        <p:nvSpPr>
          <p:cNvPr id="35" name="Rectangle 34"/>
          <p:cNvSpPr/>
          <p:nvPr/>
        </p:nvSpPr>
        <p:spPr>
          <a:xfrm>
            <a:off x="6519854" y="3931920"/>
            <a:ext cx="2552273"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629582" y="3931920"/>
            <a:ext cx="2369393" cy="822960"/>
          </a:xfrm>
          <a:prstGeom prst="rect">
            <a:avLst/>
          </a:prstGeom>
          <a:noFill/>
        </p:spPr>
        <p:txBody>
          <a:bodyPr wrap="square" anchor="ctr">
            <a:spAutoFit/>
          </a:bodyPr>
          <a:lstStyle/>
          <a:p>
            <a:pPr algn="ctr">
              <a:spcAft>
                <a:spcPts val="400"/>
              </a:spcAft>
            </a:pPr>
            <a:r>
              <a:rPr sz="1250" b="0">
                <a:solidFill>
                  <a:srgbClr val="5B6372"/>
                </a:solidFill>
                <a:latin typeface="Arial"/>
              </a:rPr>
              <a:t>Higher (cluster ops)</a:t>
            </a:r>
          </a:p>
        </p:txBody>
      </p:sp>
      <p:sp>
        <p:nvSpPr>
          <p:cNvPr id="37" name="Rectangle 36"/>
          <p:cNvSpPr/>
          <p:nvPr/>
        </p:nvSpPr>
        <p:spPr>
          <a:xfrm>
            <a:off x="9072127" y="3931920"/>
            <a:ext cx="2339583"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81855" y="3931920"/>
            <a:ext cx="2156703" cy="822960"/>
          </a:xfrm>
          <a:prstGeom prst="rect">
            <a:avLst/>
          </a:prstGeom>
          <a:noFill/>
        </p:spPr>
        <p:txBody>
          <a:bodyPr wrap="square" anchor="ctr">
            <a:spAutoFit/>
          </a:bodyPr>
          <a:lstStyle/>
          <a:p>
            <a:pPr algn="ctr">
              <a:spcAft>
                <a:spcPts val="400"/>
              </a:spcAft>
            </a:pPr>
            <a:r>
              <a:rPr sz="1250" b="0">
                <a:solidFill>
                  <a:srgbClr val="5B6372"/>
                </a:solidFill>
                <a:latin typeface="Arial"/>
              </a:rPr>
              <a:t>Pods via HPA</a:t>
            </a:r>
          </a:p>
        </p:txBody>
      </p:sp>
      <p:sp>
        <p:nvSpPr>
          <p:cNvPr id="39" name="Rectangle 38"/>
          <p:cNvSpPr/>
          <p:nvPr/>
        </p:nvSpPr>
        <p:spPr>
          <a:xfrm>
            <a:off x="777240" y="4754880"/>
            <a:ext cx="2126894"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86968" y="4754880"/>
            <a:ext cx="1944014" cy="822960"/>
          </a:xfrm>
          <a:prstGeom prst="rect">
            <a:avLst/>
          </a:prstGeom>
          <a:noFill/>
        </p:spPr>
        <p:txBody>
          <a:bodyPr wrap="square" anchor="ctr">
            <a:spAutoFit/>
          </a:bodyPr>
          <a:lstStyle/>
          <a:p>
            <a:pPr algn="l">
              <a:spcAft>
                <a:spcPts val="400"/>
              </a:spcAft>
            </a:pPr>
            <a:r>
              <a:rPr sz="1250" b="1">
                <a:solidFill>
                  <a:srgbClr val="161B26"/>
                </a:solidFill>
                <a:latin typeface="Arial"/>
              </a:rPr>
              <a:t>Lambda</a:t>
            </a:r>
          </a:p>
        </p:txBody>
      </p:sp>
      <p:sp>
        <p:nvSpPr>
          <p:cNvPr id="41" name="Rectangle 40"/>
          <p:cNvSpPr/>
          <p:nvPr/>
        </p:nvSpPr>
        <p:spPr>
          <a:xfrm>
            <a:off x="2904134" y="4754880"/>
            <a:ext cx="3615720"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013862" y="4754880"/>
            <a:ext cx="3432840" cy="822960"/>
          </a:xfrm>
          <a:prstGeom prst="rect">
            <a:avLst/>
          </a:prstGeom>
          <a:noFill/>
        </p:spPr>
        <p:txBody>
          <a:bodyPr wrap="square" anchor="ctr">
            <a:spAutoFit/>
          </a:bodyPr>
          <a:lstStyle/>
          <a:p>
            <a:pPr algn="ctr">
              <a:spcAft>
                <a:spcPts val="400"/>
              </a:spcAft>
            </a:pPr>
            <a:r>
              <a:rPr sz="1250" b="0">
                <a:solidFill>
                  <a:srgbClr val="5B6372"/>
                </a:solidFill>
                <a:latin typeface="Arial"/>
              </a:rPr>
              <a:t>Event-driven, spiky, short tasks</a:t>
            </a:r>
          </a:p>
        </p:txBody>
      </p:sp>
      <p:sp>
        <p:nvSpPr>
          <p:cNvPr id="43" name="Rectangle 42"/>
          <p:cNvSpPr/>
          <p:nvPr/>
        </p:nvSpPr>
        <p:spPr>
          <a:xfrm>
            <a:off x="6519854" y="4754880"/>
            <a:ext cx="2552273"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629582" y="4754880"/>
            <a:ext cx="2369393" cy="822960"/>
          </a:xfrm>
          <a:prstGeom prst="rect">
            <a:avLst/>
          </a:prstGeom>
          <a:noFill/>
        </p:spPr>
        <p:txBody>
          <a:bodyPr wrap="square" anchor="ctr">
            <a:spAutoFit/>
          </a:bodyPr>
          <a:lstStyle/>
          <a:p>
            <a:pPr algn="ctr">
              <a:spcAft>
                <a:spcPts val="400"/>
              </a:spcAft>
            </a:pPr>
            <a:r>
              <a:rPr sz="1250" b="0">
                <a:solidFill>
                  <a:srgbClr val="5B6372"/>
                </a:solidFill>
                <a:latin typeface="Arial"/>
              </a:rPr>
              <a:t>Lowest</a:t>
            </a:r>
          </a:p>
        </p:txBody>
      </p:sp>
      <p:sp>
        <p:nvSpPr>
          <p:cNvPr id="45" name="Rectangle 44"/>
          <p:cNvSpPr/>
          <p:nvPr/>
        </p:nvSpPr>
        <p:spPr>
          <a:xfrm>
            <a:off x="9072127" y="4754880"/>
            <a:ext cx="2339583"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181855" y="4754880"/>
            <a:ext cx="2156703" cy="822960"/>
          </a:xfrm>
          <a:prstGeom prst="rect">
            <a:avLst/>
          </a:prstGeom>
          <a:noFill/>
        </p:spPr>
        <p:txBody>
          <a:bodyPr wrap="square" anchor="ctr">
            <a:spAutoFit/>
          </a:bodyPr>
          <a:lstStyle/>
          <a:p>
            <a:pPr algn="ctr">
              <a:spcAft>
                <a:spcPts val="400"/>
              </a:spcAft>
            </a:pPr>
            <a:r>
              <a:rPr sz="1250" b="0">
                <a:solidFill>
                  <a:srgbClr val="5B6372"/>
                </a:solidFill>
                <a:latin typeface="Arial"/>
              </a:rPr>
              <a:t>Automatic per request</a:t>
            </a:r>
          </a:p>
        </p:txBody>
      </p:sp>
      <p:sp>
        <p:nvSpPr>
          <p:cNvPr id="47" name="TextBox 4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48" name="TextBox 4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a:t>
            </a:r>
          </a:p>
        </p:txBody>
      </p:sp>
    </p:spTree>
  </p:cSld>
  <p:clrMapOvr>
    <a:masterClrMapping/>
  </p:clrMapOvr>
  <p:transition xmlns:p14="http://schemas.microsoft.com/office/powerpoint/2010/main" p14:dur="380">
    <p:fade/>
  </p:transition>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DOMAIN 01</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SDLC Automation</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Exam weighting 22%  ·  CI/CD pipelines · automated testing · artifacts · deployment strategies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01</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a:t>
            </a:r>
          </a:p>
        </p:txBody>
      </p:sp>
    </p:spTree>
  </p:cSld>
  <p:clrMapOvr>
    <a:masterClrMapping/>
  </p:clrMapOvr>
  <p:transition xmlns:p14="http://schemas.microsoft.com/office/powerpoint/2010/main" p14:dur="380">
    <p:fade/>
  </p:transition>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DELIVERY AUTOMATION</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SDLC Automation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629037" y="1819655"/>
            <a:ext cx="6933620" cy="39502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devops-delivery-automation.png"/>
          <p:cNvPicPr>
            <a:picLocks noChangeAspect="1"/>
          </p:cNvPicPr>
          <p:nvPr/>
        </p:nvPicPr>
        <p:blipFill>
          <a:blip r:embed="rId2"/>
          <a:stretch>
            <a:fillRect/>
          </a:stretch>
        </p:blipFill>
        <p:spPr>
          <a:xfrm>
            <a:off x="2683901" y="1874519"/>
            <a:ext cx="6823892" cy="3840480"/>
          </a:xfrm>
          <a:prstGeom prst="rect">
            <a:avLst/>
          </a:prstGeom>
        </p:spPr>
      </p:pic>
      <p:sp>
        <p:nvSpPr>
          <p:cNvPr id="9" name="Rectangle 8"/>
          <p:cNvSpPr/>
          <p:nvPr/>
        </p:nvSpPr>
        <p:spPr>
          <a:xfrm>
            <a:off x="777240" y="5852159"/>
            <a:ext cx="10634472"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852159"/>
            <a:ext cx="91440" cy="6400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52159"/>
            <a:ext cx="10241280" cy="640080"/>
          </a:xfrm>
          <a:prstGeom prst="rect">
            <a:avLst/>
          </a:prstGeom>
          <a:noFill/>
        </p:spPr>
        <p:txBody>
          <a:bodyPr wrap="square" anchor="ctr">
            <a:spAutoFit/>
          </a:bodyPr>
          <a:lstStyle/>
          <a:p>
            <a:pPr algn="l">
              <a:spcAft>
                <a:spcPts val="400"/>
              </a:spcAft>
            </a:pPr>
            <a:r>
              <a:rPr sz="1300" b="1">
                <a:solidFill>
                  <a:srgbClr val="1F6FEB"/>
                </a:solidFill>
                <a:latin typeface="Arial"/>
              </a:rPr>
              <a:t>▶  </a:t>
            </a:r>
            <a:r>
              <a:rPr sz="1350" b="0">
                <a:solidFill>
                  <a:srgbClr val="161B26"/>
                </a:solidFill>
                <a:latin typeface="Arial"/>
              </a:rPr>
              <a:t>Automating the software-delivery lifecycle on AWS</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a:t>
            </a:r>
          </a:p>
        </p:txBody>
      </p:sp>
    </p:spTree>
  </p:cSld>
  <p:clrMapOvr>
    <a:masterClrMapping/>
  </p:clrMapOvr>
  <p:transition xmlns:p14="http://schemas.microsoft.com/office/powerpoint/2010/main" p14:dur="380">
    <p:fade/>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01 · WEIGHTING 22%</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Key Concepts — SDLC Automation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10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6408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6408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Continuous Integration</a:t>
            </a:r>
          </a:p>
          <a:p>
            <a:pPr algn="l">
              <a:spcAft>
                <a:spcPts val="300"/>
              </a:spcAft>
            </a:pPr>
            <a:r>
              <a:rPr sz="1150" b="0">
                <a:solidFill>
                  <a:srgbClr val="5B6372"/>
                </a:solidFill>
                <a:latin typeface="Arial"/>
              </a:rPr>
              <a:t>Developers push often; CodeBuild runs the build and tests on every commit so bugs are found early, not at release.</a:t>
            </a:r>
          </a:p>
        </p:txBody>
      </p:sp>
      <p:sp>
        <p:nvSpPr>
          <p:cNvPr id="12" name="Rectangle 11"/>
          <p:cNvSpPr/>
          <p:nvPr/>
        </p:nvSpPr>
        <p:spPr>
          <a:xfrm>
            <a:off x="6231636" y="1783080"/>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3106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6408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6408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Continuous Delivery / Deployment</a:t>
            </a:r>
          </a:p>
          <a:p>
            <a:pPr algn="l">
              <a:spcAft>
                <a:spcPts val="300"/>
              </a:spcAft>
            </a:pPr>
            <a:r>
              <a:rPr sz="1150" b="0">
                <a:solidFill>
                  <a:srgbClr val="5B6372"/>
                </a:solidFill>
                <a:latin typeface="Arial"/>
              </a:rPr>
              <a:t>Every green build is releasable; CodePipeline and CodeDeploy move it through dev → test → prod with approvals.</a:t>
            </a:r>
          </a:p>
        </p:txBody>
      </p:sp>
      <p:sp>
        <p:nvSpPr>
          <p:cNvPr id="17" name="Rectangle 16"/>
          <p:cNvSpPr/>
          <p:nvPr/>
        </p:nvSpPr>
        <p:spPr>
          <a:xfrm>
            <a:off x="777240" y="3313176"/>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3176"/>
            <a:ext cx="91440" cy="13106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422904"/>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The AWS developer tools</a:t>
            </a:r>
          </a:p>
          <a:p>
            <a:pPr algn="l">
              <a:spcAft>
                <a:spcPts val="300"/>
              </a:spcAft>
            </a:pPr>
            <a:r>
              <a:rPr sz="1150" b="0">
                <a:solidFill>
                  <a:srgbClr val="5B6372"/>
                </a:solidFill>
                <a:latin typeface="Arial"/>
              </a:rPr>
              <a:t>CodeCommit / CodeBuild / CodeDeploy / CodePipeline / CodeArtifact / CodeGuru compose the managed CI/CD toolchain.</a:t>
            </a:r>
          </a:p>
        </p:txBody>
      </p:sp>
      <p:sp>
        <p:nvSpPr>
          <p:cNvPr id="22" name="Rectangle 21"/>
          <p:cNvSpPr/>
          <p:nvPr/>
        </p:nvSpPr>
        <p:spPr>
          <a:xfrm>
            <a:off x="6231636" y="3313176"/>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3176"/>
            <a:ext cx="91440" cy="13106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422904"/>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buildspec &amp; appspec</a:t>
            </a:r>
          </a:p>
          <a:p>
            <a:pPr algn="l">
              <a:spcAft>
                <a:spcPts val="300"/>
              </a:spcAft>
            </a:pPr>
            <a:r>
              <a:rPr sz="1150" b="0">
                <a:solidFill>
                  <a:srgbClr val="5B6372"/>
                </a:solidFill>
                <a:latin typeface="Arial"/>
              </a:rPr>
              <a:t>buildspec.yml tells CodeBuild what to build and test; appspec.yml tells CodeDeploy what and how to deploy.</a:t>
            </a:r>
          </a:p>
        </p:txBody>
      </p:sp>
      <p:sp>
        <p:nvSpPr>
          <p:cNvPr id="27" name="Rectangle 26"/>
          <p:cNvSpPr/>
          <p:nvPr/>
        </p:nvSpPr>
        <p:spPr>
          <a:xfrm>
            <a:off x="777240" y="4843272"/>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43272"/>
            <a:ext cx="91440" cy="13106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24272"/>
            <a:ext cx="548640" cy="548640"/>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2427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953000"/>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Deployment strategies</a:t>
            </a:r>
          </a:p>
          <a:p>
            <a:pPr algn="l">
              <a:spcAft>
                <a:spcPts val="300"/>
              </a:spcAft>
            </a:pPr>
            <a:r>
              <a:rPr sz="1150" b="0">
                <a:solidFill>
                  <a:srgbClr val="5B6372"/>
                </a:solidFill>
                <a:latin typeface="Arial"/>
              </a:rPr>
              <a:t>In-place, rolling, blue/green and canary trade release speed against blast radius and rollback safety.</a:t>
            </a:r>
          </a:p>
        </p:txBody>
      </p:sp>
      <p:sp>
        <p:nvSpPr>
          <p:cNvPr id="32" name="Rectangle 31"/>
          <p:cNvSpPr/>
          <p:nvPr/>
        </p:nvSpPr>
        <p:spPr>
          <a:xfrm>
            <a:off x="6231636" y="4843272"/>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43272"/>
            <a:ext cx="91440" cy="1310640"/>
          </a:xfrm>
          <a:prstGeom prst="rect">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24272"/>
            <a:ext cx="548640" cy="548640"/>
          </a:xfrm>
          <a:prstGeom prst="ellipse">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2427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953000"/>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Artifacts</a:t>
            </a:r>
          </a:p>
          <a:p>
            <a:pPr algn="l">
              <a:spcAft>
                <a:spcPts val="300"/>
              </a:spcAft>
            </a:pPr>
            <a:r>
              <a:rPr sz="1150" b="0">
                <a:solidFill>
                  <a:srgbClr val="5B6372"/>
                </a:solidFill>
                <a:latin typeface="Arial"/>
              </a:rPr>
              <a:t>Build outputs are versioned in S3 / CodeArtifact so any release is reproducible and traceable.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a:t>
            </a:r>
          </a:p>
        </p:txBody>
      </p:sp>
    </p:spTree>
  </p:cSld>
  <p:clrMapOvr>
    <a:masterClrMapping/>
  </p:clrMapOvr>
  <p:transition xmlns:p14="http://schemas.microsoft.com/office/powerpoint/2010/main" p14:dur="380">
    <p:fade/>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MANAGED CI/CD TOOLCHAIN</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The AWS Developer Tools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10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6408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6408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CodeCommit</a:t>
            </a:r>
          </a:p>
          <a:p>
            <a:pPr algn="l">
              <a:spcAft>
                <a:spcPts val="300"/>
              </a:spcAft>
            </a:pPr>
            <a:r>
              <a:rPr sz="1150" b="0">
                <a:solidFill>
                  <a:srgbClr val="5B6372"/>
                </a:solidFill>
                <a:latin typeface="Arial"/>
              </a:rPr>
              <a:t>Managed, private Git repositories (or bring GitHub).</a:t>
            </a:r>
          </a:p>
        </p:txBody>
      </p:sp>
      <p:sp>
        <p:nvSpPr>
          <p:cNvPr id="12" name="Rectangle 11"/>
          <p:cNvSpPr/>
          <p:nvPr/>
        </p:nvSpPr>
        <p:spPr>
          <a:xfrm>
            <a:off x="6231636" y="1783080"/>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3106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6408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6408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CodeBuild</a:t>
            </a:r>
          </a:p>
          <a:p>
            <a:pPr algn="l">
              <a:spcAft>
                <a:spcPts val="300"/>
              </a:spcAft>
            </a:pPr>
            <a:r>
              <a:rPr sz="1150" b="0">
                <a:solidFill>
                  <a:srgbClr val="5B6372"/>
                </a:solidFill>
                <a:latin typeface="Arial"/>
              </a:rPr>
              <a:t>Fully managed build &amp; test service driven by buildspec.yml.</a:t>
            </a:r>
          </a:p>
        </p:txBody>
      </p:sp>
      <p:sp>
        <p:nvSpPr>
          <p:cNvPr id="17" name="Rectangle 16"/>
          <p:cNvSpPr/>
          <p:nvPr/>
        </p:nvSpPr>
        <p:spPr>
          <a:xfrm>
            <a:off x="777240" y="3313176"/>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3176"/>
            <a:ext cx="91440" cy="13106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422904"/>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CodeDeploy</a:t>
            </a:r>
          </a:p>
          <a:p>
            <a:pPr algn="l">
              <a:spcAft>
                <a:spcPts val="300"/>
              </a:spcAft>
            </a:pPr>
            <a:r>
              <a:rPr sz="1150" b="0">
                <a:solidFill>
                  <a:srgbClr val="5B6372"/>
                </a:solidFill>
                <a:latin typeface="Arial"/>
              </a:rPr>
              <a:t>Automated deployment to EC2, on-prem, ECS and Lambda.</a:t>
            </a:r>
          </a:p>
        </p:txBody>
      </p:sp>
      <p:sp>
        <p:nvSpPr>
          <p:cNvPr id="22" name="Rectangle 21"/>
          <p:cNvSpPr/>
          <p:nvPr/>
        </p:nvSpPr>
        <p:spPr>
          <a:xfrm>
            <a:off x="6231636" y="3313176"/>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3176"/>
            <a:ext cx="91440" cy="13106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422904"/>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CodePipeline</a:t>
            </a:r>
          </a:p>
          <a:p>
            <a:pPr algn="l">
              <a:spcAft>
                <a:spcPts val="300"/>
              </a:spcAft>
            </a:pPr>
            <a:r>
              <a:rPr sz="1150" b="0">
                <a:solidFill>
                  <a:srgbClr val="5B6372"/>
                </a:solidFill>
                <a:latin typeface="Arial"/>
              </a:rPr>
              <a:t>Orchestrates Source → Build → Deploy with approvals.</a:t>
            </a:r>
          </a:p>
        </p:txBody>
      </p:sp>
      <p:sp>
        <p:nvSpPr>
          <p:cNvPr id="27" name="Rectangle 26"/>
          <p:cNvSpPr/>
          <p:nvPr/>
        </p:nvSpPr>
        <p:spPr>
          <a:xfrm>
            <a:off x="777240" y="4843272"/>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43272"/>
            <a:ext cx="91440" cy="13106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24272"/>
            <a:ext cx="548640" cy="548640"/>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2427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953000"/>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CodeArtifact</a:t>
            </a:r>
          </a:p>
          <a:p>
            <a:pPr algn="l">
              <a:spcAft>
                <a:spcPts val="300"/>
              </a:spcAft>
            </a:pPr>
            <a:r>
              <a:rPr sz="1150" b="0">
                <a:solidFill>
                  <a:srgbClr val="5B6372"/>
                </a:solidFill>
                <a:latin typeface="Arial"/>
              </a:rPr>
              <a:t>Secure artifact &amp; package repository.</a:t>
            </a:r>
          </a:p>
        </p:txBody>
      </p:sp>
      <p:sp>
        <p:nvSpPr>
          <p:cNvPr id="32" name="Rectangle 31"/>
          <p:cNvSpPr/>
          <p:nvPr/>
        </p:nvSpPr>
        <p:spPr>
          <a:xfrm>
            <a:off x="6231636" y="4843272"/>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43272"/>
            <a:ext cx="91440" cy="1310640"/>
          </a:xfrm>
          <a:prstGeom prst="rect">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24272"/>
            <a:ext cx="548640" cy="548640"/>
          </a:xfrm>
          <a:prstGeom prst="ellipse">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2427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953000"/>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CodeGuru</a:t>
            </a:r>
          </a:p>
          <a:p>
            <a:pPr algn="l">
              <a:spcAft>
                <a:spcPts val="300"/>
              </a:spcAft>
            </a:pPr>
            <a:r>
              <a:rPr sz="1150" b="0">
                <a:solidFill>
                  <a:srgbClr val="5B6372"/>
                </a:solidFill>
                <a:latin typeface="Arial"/>
              </a:rPr>
              <a:t>ML-powered code reviews and profiler.</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a:t>
            </a:r>
          </a:p>
        </p:txBody>
      </p:sp>
    </p:spTree>
  </p:cSld>
  <p:clrMapOvr>
    <a:masterClrMapping/>
  </p:clrMapOvr>
  <p:transition xmlns:p14="http://schemas.microsoft.com/office/powerpoint/2010/main" p14:dur="380">
    <p:fade/>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KNOW THE DIFFERENCE</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CI vs CD vs Continuous Deployment</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Integrate</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Deliver / Deploy</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500" b="0">
                <a:solidFill>
                  <a:srgbClr val="161B26"/>
                </a:solidFill>
                <a:latin typeface="Arial"/>
              </a:rPr>
              <a:t>•  Continuous Integration</a:t>
            </a:r>
          </a:p>
          <a:p>
            <a:pPr>
              <a:spcAft>
                <a:spcPts val="1000"/>
              </a:spcAft>
            </a:pPr>
            <a:r>
              <a:rPr sz="1300" b="0">
                <a:solidFill>
                  <a:srgbClr val="5B6372"/>
                </a:solidFill>
                <a:latin typeface="Arial"/>
              </a:rPr>
              <a:t>–  Merge &amp; test every commit automatically</a:t>
            </a:r>
          </a:p>
          <a:p>
            <a:pPr>
              <a:spcAft>
                <a:spcPts val="1000"/>
              </a:spcAft>
            </a:pPr>
            <a:r>
              <a:rPr sz="1300" b="0">
                <a:solidFill>
                  <a:srgbClr val="5B6372"/>
                </a:solidFill>
                <a:latin typeface="Arial"/>
              </a:rPr>
              <a:t>–  CodeBuild runs unit tests on push</a:t>
            </a:r>
          </a:p>
          <a:p>
            <a:pPr>
              <a:spcAft>
                <a:spcPts val="1000"/>
              </a:spcAft>
            </a:pPr>
            <a:r>
              <a:rPr sz="1300" b="0">
                <a:solidFill>
                  <a:srgbClr val="5B6372"/>
                </a:solidFill>
                <a:latin typeface="Arial"/>
              </a:rPr>
              <a:t>–  Fast feedback, fewer merge conflicts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500" b="0">
                <a:solidFill>
                  <a:srgbClr val="161B26"/>
                </a:solidFill>
                <a:latin typeface="Arial"/>
              </a:rPr>
              <a:t>•  Continuous Delivery / Deployment</a:t>
            </a:r>
          </a:p>
          <a:p>
            <a:pPr>
              <a:spcAft>
                <a:spcPts val="1000"/>
              </a:spcAft>
            </a:pPr>
            <a:r>
              <a:rPr sz="1300" b="0">
                <a:solidFill>
                  <a:srgbClr val="5B6372"/>
                </a:solidFill>
                <a:latin typeface="Arial"/>
              </a:rPr>
              <a:t>–  Every green build is releasable</a:t>
            </a:r>
          </a:p>
          <a:p>
            <a:pPr>
              <a:spcAft>
                <a:spcPts val="1000"/>
              </a:spcAft>
            </a:pPr>
            <a:r>
              <a:rPr sz="1300" b="0">
                <a:solidFill>
                  <a:srgbClr val="5B6372"/>
                </a:solidFill>
                <a:latin typeface="Arial"/>
              </a:rPr>
              <a:t>–  Delivery = one approval to promote to prod</a:t>
            </a:r>
          </a:p>
          <a:p>
            <a:pPr>
              <a:spcAft>
                <a:spcPts val="1000"/>
              </a:spcAft>
            </a:pPr>
            <a:r>
              <a:rPr sz="1300" b="0">
                <a:solidFill>
                  <a:srgbClr val="5B6372"/>
                </a:solidFill>
                <a:latin typeface="Arial"/>
              </a:rPr>
              <a:t>–  Deployment = fully automatic to prod</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a:t>
            </a:r>
          </a:p>
        </p:txBody>
      </p:sp>
    </p:spTree>
  </p:cSld>
  <p:clrMapOvr>
    <a:masterClrMapping/>
  </p:clrMapOvr>
  <p:transition xmlns:p14="http://schemas.microsoft.com/office/powerpoint/2010/main" p14:dur="380">
    <p:fade/>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01 · CODEPIPELINE</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CI/CD Pipeline on AWS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965960"/>
            <a:ext cx="1828800" cy="1051560"/>
          </a:xfrm>
          <a:prstGeom prst="roundRect">
            <a:avLst/>
          </a:prstGeom>
          <a:solidFill>
            <a:srgbClr val="F5F8FC"/>
          </a:solidFill>
          <a:ln w="15875">
            <a:solidFill>
              <a:srgbClr val="5B63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965960"/>
            <a:ext cx="1828800" cy="82296"/>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075688"/>
            <a:ext cx="1645920" cy="868680"/>
          </a:xfrm>
          <a:prstGeom prst="rect">
            <a:avLst/>
          </a:prstGeom>
          <a:noFill/>
        </p:spPr>
        <p:txBody>
          <a:bodyPr wrap="square" anchor="ctr">
            <a:spAutoFit/>
          </a:bodyPr>
          <a:lstStyle/>
          <a:p>
            <a:pPr algn="ctr">
              <a:spcAft>
                <a:spcPts val="400"/>
              </a:spcAft>
            </a:pPr>
            <a:r>
              <a:rPr sz="1200" b="1">
                <a:solidFill>
                  <a:srgbClr val="161B26"/>
                </a:solidFill>
                <a:latin typeface="Arial"/>
              </a:rPr>
              <a:t>Developer
commit</a:t>
            </a:r>
          </a:p>
        </p:txBody>
      </p:sp>
      <p:sp>
        <p:nvSpPr>
          <p:cNvPr id="10" name="Rounded Rectangle 9"/>
          <p:cNvSpPr/>
          <p:nvPr/>
        </p:nvSpPr>
        <p:spPr>
          <a:xfrm>
            <a:off x="2971800" y="1965960"/>
            <a:ext cx="1828800" cy="1051560"/>
          </a:xfrm>
          <a:prstGeom prst="roundRect">
            <a:avLst/>
          </a:prstGeom>
          <a:solidFill>
            <a:srgbClr val="F5F8FC"/>
          </a:solidFill>
          <a:ln w="15875">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971800" y="1965960"/>
            <a:ext cx="1828800"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63240" y="2075688"/>
            <a:ext cx="1645920" cy="868680"/>
          </a:xfrm>
          <a:prstGeom prst="rect">
            <a:avLst/>
          </a:prstGeom>
          <a:noFill/>
        </p:spPr>
        <p:txBody>
          <a:bodyPr wrap="square" anchor="ctr">
            <a:spAutoFit/>
          </a:bodyPr>
          <a:lstStyle/>
          <a:p>
            <a:pPr algn="ctr">
              <a:spcAft>
                <a:spcPts val="400"/>
              </a:spcAft>
            </a:pPr>
            <a:r>
              <a:rPr sz="1200" b="1">
                <a:solidFill>
                  <a:srgbClr val="161B26"/>
                </a:solidFill>
                <a:latin typeface="Arial"/>
              </a:rPr>
              <a:t>Source
CodeCommit / GitHub</a:t>
            </a:r>
          </a:p>
        </p:txBody>
      </p:sp>
      <p:sp>
        <p:nvSpPr>
          <p:cNvPr id="13" name="Rounded Rectangle 12"/>
          <p:cNvSpPr/>
          <p:nvPr/>
        </p:nvSpPr>
        <p:spPr>
          <a:xfrm>
            <a:off x="5166360" y="1965960"/>
            <a:ext cx="1828800" cy="1051560"/>
          </a:xfrm>
          <a:prstGeom prst="roundRect">
            <a:avLst/>
          </a:prstGeom>
          <a:solidFill>
            <a:srgbClr val="F5F8FC"/>
          </a:solidFill>
          <a:ln w="15875">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166360" y="1965960"/>
            <a:ext cx="1828800"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57800" y="2075688"/>
            <a:ext cx="1645920" cy="868680"/>
          </a:xfrm>
          <a:prstGeom prst="rect">
            <a:avLst/>
          </a:prstGeom>
          <a:noFill/>
        </p:spPr>
        <p:txBody>
          <a:bodyPr wrap="square" anchor="ctr">
            <a:spAutoFit/>
          </a:bodyPr>
          <a:lstStyle/>
          <a:p>
            <a:pPr algn="ctr">
              <a:spcAft>
                <a:spcPts val="400"/>
              </a:spcAft>
            </a:pPr>
            <a:r>
              <a:rPr sz="1200" b="1">
                <a:solidFill>
                  <a:srgbClr val="161B26"/>
                </a:solidFill>
                <a:latin typeface="Arial"/>
              </a:rPr>
              <a:t>Build &amp; Test
CodeBuild (buildspec)</a:t>
            </a:r>
          </a:p>
        </p:txBody>
      </p:sp>
      <p:sp>
        <p:nvSpPr>
          <p:cNvPr id="16" name="Rounded Rectangle 15"/>
          <p:cNvSpPr/>
          <p:nvPr/>
        </p:nvSpPr>
        <p:spPr>
          <a:xfrm>
            <a:off x="7360920" y="1965960"/>
            <a:ext cx="1828800" cy="1051560"/>
          </a:xfrm>
          <a:prstGeom prst="roundRect">
            <a:avLst/>
          </a:prstGeom>
          <a:solidFill>
            <a:srgbClr val="F5F8FC"/>
          </a:solidFill>
          <a:ln w="15875">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60920" y="1965960"/>
            <a:ext cx="1828800"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2075688"/>
            <a:ext cx="1645920" cy="868680"/>
          </a:xfrm>
          <a:prstGeom prst="rect">
            <a:avLst/>
          </a:prstGeom>
          <a:noFill/>
        </p:spPr>
        <p:txBody>
          <a:bodyPr wrap="square" anchor="ctr">
            <a:spAutoFit/>
          </a:bodyPr>
          <a:lstStyle/>
          <a:p>
            <a:pPr algn="ctr">
              <a:spcAft>
                <a:spcPts val="400"/>
              </a:spcAft>
            </a:pPr>
            <a:r>
              <a:rPr sz="1200" b="1">
                <a:solidFill>
                  <a:srgbClr val="161B26"/>
                </a:solidFill>
                <a:latin typeface="Arial"/>
              </a:rPr>
              <a:t>Manual Approval</a:t>
            </a:r>
          </a:p>
        </p:txBody>
      </p:sp>
      <p:sp>
        <p:nvSpPr>
          <p:cNvPr id="19" name="Rounded Rectangle 18"/>
          <p:cNvSpPr/>
          <p:nvPr/>
        </p:nvSpPr>
        <p:spPr>
          <a:xfrm>
            <a:off x="9555480" y="1965960"/>
            <a:ext cx="1828800" cy="1051560"/>
          </a:xfrm>
          <a:prstGeom prst="roundRect">
            <a:avLst/>
          </a:prstGeom>
          <a:solidFill>
            <a:srgbClr val="F5F8FC"/>
          </a:solidFill>
          <a:ln w="15875">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555480" y="1965960"/>
            <a:ext cx="182880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46920" y="2075688"/>
            <a:ext cx="1645920" cy="868680"/>
          </a:xfrm>
          <a:prstGeom prst="rect">
            <a:avLst/>
          </a:prstGeom>
          <a:noFill/>
        </p:spPr>
        <p:txBody>
          <a:bodyPr wrap="square" anchor="ctr">
            <a:spAutoFit/>
          </a:bodyPr>
          <a:lstStyle/>
          <a:p>
            <a:pPr algn="ctr">
              <a:spcAft>
                <a:spcPts val="400"/>
              </a:spcAft>
            </a:pPr>
            <a:r>
              <a:rPr sz="1200" b="1">
                <a:solidFill>
                  <a:srgbClr val="161B26"/>
                </a:solidFill>
                <a:latin typeface="Arial"/>
              </a:rPr>
              <a:t>Deploy
CodeDeploy (appspec)</a:t>
            </a:r>
          </a:p>
        </p:txBody>
      </p:sp>
      <p:sp>
        <p:nvSpPr>
          <p:cNvPr id="22" name="Rounded Rectangle 21"/>
          <p:cNvSpPr/>
          <p:nvPr/>
        </p:nvSpPr>
        <p:spPr>
          <a:xfrm>
            <a:off x="5166360" y="3657600"/>
            <a:ext cx="1828800" cy="1051560"/>
          </a:xfrm>
          <a:prstGeom prst="roundRect">
            <a:avLst/>
          </a:prstGeom>
          <a:solidFill>
            <a:srgbClr val="F5F8FC"/>
          </a:solidFill>
          <a:ln w="15875">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166360" y="3657600"/>
            <a:ext cx="182880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57800" y="3767328"/>
            <a:ext cx="1645920" cy="868680"/>
          </a:xfrm>
          <a:prstGeom prst="rect">
            <a:avLst/>
          </a:prstGeom>
          <a:noFill/>
        </p:spPr>
        <p:txBody>
          <a:bodyPr wrap="square" anchor="ctr">
            <a:spAutoFit/>
          </a:bodyPr>
          <a:lstStyle/>
          <a:p>
            <a:pPr algn="ctr">
              <a:spcAft>
                <a:spcPts val="400"/>
              </a:spcAft>
            </a:pPr>
            <a:r>
              <a:rPr sz="1200" b="1">
                <a:solidFill>
                  <a:srgbClr val="161B26"/>
                </a:solidFill>
                <a:latin typeface="Arial"/>
              </a:rPr>
              <a:t>Artifacts
S3</a:t>
            </a:r>
          </a:p>
        </p:txBody>
      </p:sp>
      <p:sp>
        <p:nvSpPr>
          <p:cNvPr id="25" name="Rounded Rectangle 24"/>
          <p:cNvSpPr/>
          <p:nvPr/>
        </p:nvSpPr>
        <p:spPr>
          <a:xfrm>
            <a:off x="9555480" y="3657600"/>
            <a:ext cx="1828800" cy="1051560"/>
          </a:xfrm>
          <a:prstGeom prst="roundRect">
            <a:avLst/>
          </a:prstGeom>
          <a:solidFill>
            <a:srgbClr val="F5F8FC"/>
          </a:solidFill>
          <a:ln w="15875">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555480" y="3657600"/>
            <a:ext cx="182880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646920" y="3767328"/>
            <a:ext cx="1645920" cy="868680"/>
          </a:xfrm>
          <a:prstGeom prst="rect">
            <a:avLst/>
          </a:prstGeom>
          <a:noFill/>
        </p:spPr>
        <p:txBody>
          <a:bodyPr wrap="square" anchor="ctr">
            <a:spAutoFit/>
          </a:bodyPr>
          <a:lstStyle/>
          <a:p>
            <a:pPr algn="ctr">
              <a:spcAft>
                <a:spcPts val="400"/>
              </a:spcAft>
            </a:pPr>
            <a:r>
              <a:rPr sz="1200" b="1">
                <a:solidFill>
                  <a:srgbClr val="161B26"/>
                </a:solidFill>
                <a:latin typeface="Arial"/>
              </a:rPr>
              <a:t>Targets
EC2 / ECS / Lambda</a:t>
            </a:r>
          </a:p>
        </p:txBody>
      </p:sp>
      <p:cxnSp>
        <p:nvCxnSpPr>
          <p:cNvPr id="28" name="Connector 27"/>
          <p:cNvCxnSpPr/>
          <p:nvPr/>
        </p:nvCxnSpPr>
        <p:spPr>
          <a:xfrm>
            <a:off x="2606040" y="2491740"/>
            <a:ext cx="365760" cy="0"/>
          </a:xfrm>
          <a:prstGeom prst="line">
            <a:avLst/>
          </a:prstGeom>
          <a:ln w="22225">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4800600" y="2491740"/>
            <a:ext cx="365760" cy="0"/>
          </a:xfrm>
          <a:prstGeom prst="line">
            <a:avLst/>
          </a:prstGeom>
          <a:ln w="22225">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6995160" y="2491740"/>
            <a:ext cx="365760" cy="0"/>
          </a:xfrm>
          <a:prstGeom prst="line">
            <a:avLst/>
          </a:prstGeom>
          <a:ln w="22225">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9189720" y="2491740"/>
            <a:ext cx="365760" cy="0"/>
          </a:xfrm>
          <a:prstGeom prst="line">
            <a:avLst/>
          </a:prstGeom>
          <a:ln w="22225">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6080760" y="3017520"/>
            <a:ext cx="0" cy="640080"/>
          </a:xfrm>
          <a:prstGeom prst="line">
            <a:avLst/>
          </a:prstGeom>
          <a:ln w="22225">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0469880" y="3017520"/>
            <a:ext cx="0" cy="640080"/>
          </a:xfrm>
          <a:prstGeom prst="line">
            <a:avLst/>
          </a:prstGeom>
          <a:ln w="22225">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777240" y="5669280"/>
            <a:ext cx="10634472" cy="548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5840" y="5742432"/>
            <a:ext cx="10241280" cy="411480"/>
          </a:xfrm>
          <a:prstGeom prst="rect">
            <a:avLst/>
          </a:prstGeom>
          <a:noFill/>
        </p:spPr>
        <p:txBody>
          <a:bodyPr wrap="square" anchor="ctr">
            <a:spAutoFit/>
          </a:bodyPr>
          <a:lstStyle/>
          <a:p>
            <a:pPr algn="l">
              <a:spcAft>
                <a:spcPts val="400"/>
              </a:spcAft>
            </a:pPr>
            <a:r>
              <a:rPr sz="1300" b="1">
                <a:solidFill>
                  <a:srgbClr val="1F6FEB"/>
                </a:solidFill>
                <a:latin typeface="Arial"/>
              </a:rPr>
              <a:t>▶  </a:t>
            </a:r>
            <a:r>
              <a:rPr sz="1300" b="0">
                <a:solidFill>
                  <a:srgbClr val="161B26"/>
                </a:solidFill>
                <a:latin typeface="Arial"/>
              </a:rPr>
              <a:t>A commit flows Source → Build → Approve → Deploy; a failed test stops the pipeline before production.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a:t>
            </a:r>
          </a:p>
        </p:txBody>
      </p:sp>
    </p:spTree>
  </p:cSld>
  <p:clrMapOvr>
    <a:masterClrMapping/>
  </p:clrMapOvr>
  <p:transition xmlns:p14="http://schemas.microsoft.com/office/powerpoint/2010/main" p14:dur="380">
    <p:fade/>
  </p:transition>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CHOOSING A RELEASE PATTERN</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Deployment Strategies Compared</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914204"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6968" y="1783080"/>
            <a:ext cx="1731324" cy="502920"/>
          </a:xfrm>
          <a:prstGeom prst="rect">
            <a:avLst/>
          </a:prstGeom>
          <a:noFill/>
        </p:spPr>
        <p:txBody>
          <a:bodyPr wrap="square" anchor="ctr">
            <a:spAutoFit/>
          </a:bodyPr>
          <a:lstStyle/>
          <a:p>
            <a:pPr algn="l">
              <a:spcAft>
                <a:spcPts val="400"/>
              </a:spcAft>
            </a:pPr>
            <a:r>
              <a:rPr sz="1400" b="1">
                <a:solidFill>
                  <a:srgbClr val="FFFFFF"/>
                </a:solidFill>
                <a:latin typeface="Arial"/>
              </a:rPr>
              <a:t>Strategy</a:t>
            </a:r>
          </a:p>
        </p:txBody>
      </p:sp>
      <p:sp>
        <p:nvSpPr>
          <p:cNvPr id="9" name="Rectangle 8"/>
          <p:cNvSpPr/>
          <p:nvPr/>
        </p:nvSpPr>
        <p:spPr>
          <a:xfrm>
            <a:off x="2691444" y="1783080"/>
            <a:ext cx="3615720"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01172" y="1783080"/>
            <a:ext cx="3432840" cy="502920"/>
          </a:xfrm>
          <a:prstGeom prst="rect">
            <a:avLst/>
          </a:prstGeom>
          <a:noFill/>
        </p:spPr>
        <p:txBody>
          <a:bodyPr wrap="square" anchor="ctr">
            <a:spAutoFit/>
          </a:bodyPr>
          <a:lstStyle/>
          <a:p>
            <a:pPr algn="ctr">
              <a:spcAft>
                <a:spcPts val="400"/>
              </a:spcAft>
            </a:pPr>
            <a:r>
              <a:rPr sz="1400" b="1">
                <a:solidFill>
                  <a:srgbClr val="FFFFFF"/>
                </a:solidFill>
                <a:latin typeface="Arial"/>
              </a:rPr>
              <a:t>How it works</a:t>
            </a:r>
          </a:p>
        </p:txBody>
      </p:sp>
      <p:sp>
        <p:nvSpPr>
          <p:cNvPr id="11" name="Rectangle 10"/>
          <p:cNvSpPr/>
          <p:nvPr/>
        </p:nvSpPr>
        <p:spPr>
          <a:xfrm>
            <a:off x="6307164" y="1783080"/>
            <a:ext cx="2552273"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16892" y="1783080"/>
            <a:ext cx="2369393" cy="502920"/>
          </a:xfrm>
          <a:prstGeom prst="rect">
            <a:avLst/>
          </a:prstGeom>
          <a:noFill/>
        </p:spPr>
        <p:txBody>
          <a:bodyPr wrap="square" anchor="ctr">
            <a:spAutoFit/>
          </a:bodyPr>
          <a:lstStyle/>
          <a:p>
            <a:pPr algn="ctr">
              <a:spcAft>
                <a:spcPts val="400"/>
              </a:spcAft>
            </a:pPr>
            <a:r>
              <a:rPr sz="1400" b="1">
                <a:solidFill>
                  <a:srgbClr val="FFFFFF"/>
                </a:solidFill>
                <a:latin typeface="Arial"/>
              </a:rPr>
              <a:t>Rollback</a:t>
            </a:r>
          </a:p>
        </p:txBody>
      </p:sp>
      <p:sp>
        <p:nvSpPr>
          <p:cNvPr id="13" name="Rectangle 12"/>
          <p:cNvSpPr/>
          <p:nvPr/>
        </p:nvSpPr>
        <p:spPr>
          <a:xfrm>
            <a:off x="8859437" y="1783080"/>
            <a:ext cx="2552273"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69165" y="1783080"/>
            <a:ext cx="2369393" cy="502920"/>
          </a:xfrm>
          <a:prstGeom prst="rect">
            <a:avLst/>
          </a:prstGeom>
          <a:noFill/>
        </p:spPr>
        <p:txBody>
          <a:bodyPr wrap="square" anchor="ctr">
            <a:spAutoFit/>
          </a:bodyPr>
          <a:lstStyle/>
          <a:p>
            <a:pPr algn="ctr">
              <a:spcAft>
                <a:spcPts val="400"/>
              </a:spcAft>
            </a:pPr>
            <a:r>
              <a:rPr sz="1400" b="1">
                <a:solidFill>
                  <a:srgbClr val="FFFFFF"/>
                </a:solidFill>
                <a:latin typeface="Arial"/>
              </a:rPr>
              <a:t>Best for</a:t>
            </a:r>
          </a:p>
        </p:txBody>
      </p:sp>
      <p:sp>
        <p:nvSpPr>
          <p:cNvPr id="15" name="Rectangle 14"/>
          <p:cNvSpPr/>
          <p:nvPr/>
        </p:nvSpPr>
        <p:spPr>
          <a:xfrm>
            <a:off x="777240" y="2286000"/>
            <a:ext cx="1914204"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6968" y="2286000"/>
            <a:ext cx="1731324" cy="822960"/>
          </a:xfrm>
          <a:prstGeom prst="rect">
            <a:avLst/>
          </a:prstGeom>
          <a:noFill/>
        </p:spPr>
        <p:txBody>
          <a:bodyPr wrap="square" anchor="ctr">
            <a:spAutoFit/>
          </a:bodyPr>
          <a:lstStyle/>
          <a:p>
            <a:pPr algn="l">
              <a:spcAft>
                <a:spcPts val="400"/>
              </a:spcAft>
            </a:pPr>
            <a:r>
              <a:rPr sz="1250" b="1">
                <a:solidFill>
                  <a:srgbClr val="161B26"/>
                </a:solidFill>
                <a:latin typeface="Arial"/>
              </a:rPr>
              <a:t>In-place</a:t>
            </a:r>
          </a:p>
        </p:txBody>
      </p:sp>
      <p:sp>
        <p:nvSpPr>
          <p:cNvPr id="17" name="Rectangle 16"/>
          <p:cNvSpPr/>
          <p:nvPr/>
        </p:nvSpPr>
        <p:spPr>
          <a:xfrm>
            <a:off x="2691444" y="2286000"/>
            <a:ext cx="3615720"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801172" y="2286000"/>
            <a:ext cx="3432840" cy="822960"/>
          </a:xfrm>
          <a:prstGeom prst="rect">
            <a:avLst/>
          </a:prstGeom>
          <a:noFill/>
        </p:spPr>
        <p:txBody>
          <a:bodyPr wrap="square" anchor="ctr">
            <a:spAutoFit/>
          </a:bodyPr>
          <a:lstStyle/>
          <a:p>
            <a:pPr algn="ctr">
              <a:spcAft>
                <a:spcPts val="400"/>
              </a:spcAft>
            </a:pPr>
            <a:r>
              <a:rPr sz="1250" b="0">
                <a:solidFill>
                  <a:srgbClr val="5B6372"/>
                </a:solidFill>
                <a:latin typeface="Arial"/>
              </a:rPr>
              <a:t>Update the same instances</a:t>
            </a:r>
          </a:p>
        </p:txBody>
      </p:sp>
      <p:sp>
        <p:nvSpPr>
          <p:cNvPr id="19" name="Rectangle 18"/>
          <p:cNvSpPr/>
          <p:nvPr/>
        </p:nvSpPr>
        <p:spPr>
          <a:xfrm>
            <a:off x="6307164" y="2286000"/>
            <a:ext cx="2552273"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16892" y="2286000"/>
            <a:ext cx="2369393" cy="822960"/>
          </a:xfrm>
          <a:prstGeom prst="rect">
            <a:avLst/>
          </a:prstGeom>
          <a:noFill/>
        </p:spPr>
        <p:txBody>
          <a:bodyPr wrap="square" anchor="ctr">
            <a:spAutoFit/>
          </a:bodyPr>
          <a:lstStyle/>
          <a:p>
            <a:pPr algn="ctr">
              <a:spcAft>
                <a:spcPts val="400"/>
              </a:spcAft>
            </a:pPr>
            <a:r>
              <a:rPr sz="1250" b="0">
                <a:solidFill>
                  <a:srgbClr val="5B6372"/>
                </a:solidFill>
                <a:latin typeface="Arial"/>
              </a:rPr>
              <a:t>Redeploy previous</a:t>
            </a:r>
          </a:p>
        </p:txBody>
      </p:sp>
      <p:sp>
        <p:nvSpPr>
          <p:cNvPr id="21" name="Rectangle 20"/>
          <p:cNvSpPr/>
          <p:nvPr/>
        </p:nvSpPr>
        <p:spPr>
          <a:xfrm>
            <a:off x="8859437" y="2286000"/>
            <a:ext cx="2552273"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69165" y="2286000"/>
            <a:ext cx="2369393" cy="822960"/>
          </a:xfrm>
          <a:prstGeom prst="rect">
            <a:avLst/>
          </a:prstGeom>
          <a:noFill/>
        </p:spPr>
        <p:txBody>
          <a:bodyPr wrap="square" anchor="ctr">
            <a:spAutoFit/>
          </a:bodyPr>
          <a:lstStyle/>
          <a:p>
            <a:pPr algn="ctr">
              <a:spcAft>
                <a:spcPts val="400"/>
              </a:spcAft>
            </a:pPr>
            <a:r>
              <a:rPr sz="1250" b="0">
                <a:solidFill>
                  <a:srgbClr val="5B6372"/>
                </a:solidFill>
                <a:latin typeface="Arial"/>
              </a:rPr>
              <a:t>Dev / simple apps</a:t>
            </a:r>
          </a:p>
        </p:txBody>
      </p:sp>
      <p:sp>
        <p:nvSpPr>
          <p:cNvPr id="23" name="Rectangle 22"/>
          <p:cNvSpPr/>
          <p:nvPr/>
        </p:nvSpPr>
        <p:spPr>
          <a:xfrm>
            <a:off x="777240" y="3108960"/>
            <a:ext cx="1914204"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86968" y="3108960"/>
            <a:ext cx="1731324" cy="822960"/>
          </a:xfrm>
          <a:prstGeom prst="rect">
            <a:avLst/>
          </a:prstGeom>
          <a:noFill/>
        </p:spPr>
        <p:txBody>
          <a:bodyPr wrap="square" anchor="ctr">
            <a:spAutoFit/>
          </a:bodyPr>
          <a:lstStyle/>
          <a:p>
            <a:pPr algn="l">
              <a:spcAft>
                <a:spcPts val="400"/>
              </a:spcAft>
            </a:pPr>
            <a:r>
              <a:rPr sz="1250" b="1">
                <a:solidFill>
                  <a:srgbClr val="161B26"/>
                </a:solidFill>
                <a:latin typeface="Arial"/>
              </a:rPr>
              <a:t>Rolling</a:t>
            </a:r>
          </a:p>
        </p:txBody>
      </p:sp>
      <p:sp>
        <p:nvSpPr>
          <p:cNvPr id="25" name="Rectangle 24"/>
          <p:cNvSpPr/>
          <p:nvPr/>
        </p:nvSpPr>
        <p:spPr>
          <a:xfrm>
            <a:off x="2691444" y="3108960"/>
            <a:ext cx="3615720"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801172" y="3108960"/>
            <a:ext cx="3432840" cy="822960"/>
          </a:xfrm>
          <a:prstGeom prst="rect">
            <a:avLst/>
          </a:prstGeom>
          <a:noFill/>
        </p:spPr>
        <p:txBody>
          <a:bodyPr wrap="square" anchor="ctr">
            <a:spAutoFit/>
          </a:bodyPr>
          <a:lstStyle/>
          <a:p>
            <a:pPr algn="ctr">
              <a:spcAft>
                <a:spcPts val="400"/>
              </a:spcAft>
            </a:pPr>
            <a:r>
              <a:rPr sz="1250" b="0">
                <a:solidFill>
                  <a:srgbClr val="5B6372"/>
                </a:solidFill>
                <a:latin typeface="Arial"/>
              </a:rPr>
              <a:t>Update in batches</a:t>
            </a:r>
          </a:p>
        </p:txBody>
      </p:sp>
      <p:sp>
        <p:nvSpPr>
          <p:cNvPr id="27" name="Rectangle 26"/>
          <p:cNvSpPr/>
          <p:nvPr/>
        </p:nvSpPr>
        <p:spPr>
          <a:xfrm>
            <a:off x="6307164" y="3108960"/>
            <a:ext cx="2552273"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16892" y="3108960"/>
            <a:ext cx="2369393" cy="822960"/>
          </a:xfrm>
          <a:prstGeom prst="rect">
            <a:avLst/>
          </a:prstGeom>
          <a:noFill/>
        </p:spPr>
        <p:txBody>
          <a:bodyPr wrap="square" anchor="ctr">
            <a:spAutoFit/>
          </a:bodyPr>
          <a:lstStyle/>
          <a:p>
            <a:pPr algn="ctr">
              <a:spcAft>
                <a:spcPts val="400"/>
              </a:spcAft>
            </a:pPr>
            <a:r>
              <a:rPr sz="1250" b="0">
                <a:solidFill>
                  <a:srgbClr val="5B6372"/>
                </a:solidFill>
                <a:latin typeface="Arial"/>
              </a:rPr>
              <a:t>Batch by batch</a:t>
            </a:r>
          </a:p>
        </p:txBody>
      </p:sp>
      <p:sp>
        <p:nvSpPr>
          <p:cNvPr id="29" name="Rectangle 28"/>
          <p:cNvSpPr/>
          <p:nvPr/>
        </p:nvSpPr>
        <p:spPr>
          <a:xfrm>
            <a:off x="8859437" y="3108960"/>
            <a:ext cx="2552273"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69165" y="3108960"/>
            <a:ext cx="2369393" cy="822960"/>
          </a:xfrm>
          <a:prstGeom prst="rect">
            <a:avLst/>
          </a:prstGeom>
          <a:noFill/>
        </p:spPr>
        <p:txBody>
          <a:bodyPr wrap="square" anchor="ctr">
            <a:spAutoFit/>
          </a:bodyPr>
          <a:lstStyle/>
          <a:p>
            <a:pPr algn="ctr">
              <a:spcAft>
                <a:spcPts val="400"/>
              </a:spcAft>
            </a:pPr>
            <a:r>
              <a:rPr sz="1250" b="0">
                <a:solidFill>
                  <a:srgbClr val="5B6372"/>
                </a:solidFill>
                <a:latin typeface="Arial"/>
              </a:rPr>
              <a:t>Steady, low-risk updates</a:t>
            </a:r>
          </a:p>
        </p:txBody>
      </p:sp>
      <p:sp>
        <p:nvSpPr>
          <p:cNvPr id="31" name="Rectangle 30"/>
          <p:cNvSpPr/>
          <p:nvPr/>
        </p:nvSpPr>
        <p:spPr>
          <a:xfrm>
            <a:off x="777240" y="3931920"/>
            <a:ext cx="1914204"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6968" y="3931920"/>
            <a:ext cx="1731324" cy="822960"/>
          </a:xfrm>
          <a:prstGeom prst="rect">
            <a:avLst/>
          </a:prstGeom>
          <a:noFill/>
        </p:spPr>
        <p:txBody>
          <a:bodyPr wrap="square" anchor="ctr">
            <a:spAutoFit/>
          </a:bodyPr>
          <a:lstStyle/>
          <a:p>
            <a:pPr algn="l">
              <a:spcAft>
                <a:spcPts val="400"/>
              </a:spcAft>
            </a:pPr>
            <a:r>
              <a:rPr sz="1250" b="1">
                <a:solidFill>
                  <a:srgbClr val="161B26"/>
                </a:solidFill>
                <a:latin typeface="Arial"/>
              </a:rPr>
              <a:t>Blue/Green</a:t>
            </a:r>
          </a:p>
        </p:txBody>
      </p:sp>
      <p:sp>
        <p:nvSpPr>
          <p:cNvPr id="33" name="Rectangle 32"/>
          <p:cNvSpPr/>
          <p:nvPr/>
        </p:nvSpPr>
        <p:spPr>
          <a:xfrm>
            <a:off x="2691444" y="3931920"/>
            <a:ext cx="3615720"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801172" y="3931920"/>
            <a:ext cx="3432840" cy="822960"/>
          </a:xfrm>
          <a:prstGeom prst="rect">
            <a:avLst/>
          </a:prstGeom>
          <a:noFill/>
        </p:spPr>
        <p:txBody>
          <a:bodyPr wrap="square" anchor="ctr">
            <a:spAutoFit/>
          </a:bodyPr>
          <a:lstStyle/>
          <a:p>
            <a:pPr algn="ctr">
              <a:spcAft>
                <a:spcPts val="400"/>
              </a:spcAft>
            </a:pPr>
            <a:r>
              <a:rPr sz="1250" b="0">
                <a:solidFill>
                  <a:srgbClr val="5B6372"/>
                </a:solidFill>
                <a:latin typeface="Arial"/>
              </a:rPr>
              <a:t>Shift traffic to a new fleet</a:t>
            </a:r>
          </a:p>
        </p:txBody>
      </p:sp>
      <p:sp>
        <p:nvSpPr>
          <p:cNvPr id="35" name="Rectangle 34"/>
          <p:cNvSpPr/>
          <p:nvPr/>
        </p:nvSpPr>
        <p:spPr>
          <a:xfrm>
            <a:off x="6307164" y="3931920"/>
            <a:ext cx="2552273"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16892" y="3931920"/>
            <a:ext cx="2369393" cy="822960"/>
          </a:xfrm>
          <a:prstGeom prst="rect">
            <a:avLst/>
          </a:prstGeom>
          <a:noFill/>
        </p:spPr>
        <p:txBody>
          <a:bodyPr wrap="square" anchor="ctr">
            <a:spAutoFit/>
          </a:bodyPr>
          <a:lstStyle/>
          <a:p>
            <a:pPr algn="ctr">
              <a:spcAft>
                <a:spcPts val="400"/>
              </a:spcAft>
            </a:pPr>
            <a:r>
              <a:rPr sz="1250" b="0">
                <a:solidFill>
                  <a:srgbClr val="5B6372"/>
                </a:solidFill>
                <a:latin typeface="Arial"/>
              </a:rPr>
              <a:t>Instant switch-back</a:t>
            </a:r>
          </a:p>
        </p:txBody>
      </p:sp>
      <p:sp>
        <p:nvSpPr>
          <p:cNvPr id="37" name="Rectangle 36"/>
          <p:cNvSpPr/>
          <p:nvPr/>
        </p:nvSpPr>
        <p:spPr>
          <a:xfrm>
            <a:off x="8859437" y="3931920"/>
            <a:ext cx="2552273"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69165" y="3931920"/>
            <a:ext cx="2369393" cy="822960"/>
          </a:xfrm>
          <a:prstGeom prst="rect">
            <a:avLst/>
          </a:prstGeom>
          <a:noFill/>
        </p:spPr>
        <p:txBody>
          <a:bodyPr wrap="square" anchor="ctr">
            <a:spAutoFit/>
          </a:bodyPr>
          <a:lstStyle/>
          <a:p>
            <a:pPr algn="ctr">
              <a:spcAft>
                <a:spcPts val="400"/>
              </a:spcAft>
            </a:pPr>
            <a:r>
              <a:rPr sz="1250" b="0">
                <a:solidFill>
                  <a:srgbClr val="5B6372"/>
                </a:solidFill>
                <a:latin typeface="Arial"/>
              </a:rPr>
              <a:t>Zero-downtime prod</a:t>
            </a:r>
          </a:p>
        </p:txBody>
      </p:sp>
      <p:sp>
        <p:nvSpPr>
          <p:cNvPr id="39" name="Rectangle 38"/>
          <p:cNvSpPr/>
          <p:nvPr/>
        </p:nvSpPr>
        <p:spPr>
          <a:xfrm>
            <a:off x="777240" y="4754880"/>
            <a:ext cx="1914204"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86968" y="4754880"/>
            <a:ext cx="1731324" cy="822960"/>
          </a:xfrm>
          <a:prstGeom prst="rect">
            <a:avLst/>
          </a:prstGeom>
          <a:noFill/>
        </p:spPr>
        <p:txBody>
          <a:bodyPr wrap="square" anchor="ctr">
            <a:spAutoFit/>
          </a:bodyPr>
          <a:lstStyle/>
          <a:p>
            <a:pPr algn="l">
              <a:spcAft>
                <a:spcPts val="400"/>
              </a:spcAft>
            </a:pPr>
            <a:r>
              <a:rPr sz="1250" b="1">
                <a:solidFill>
                  <a:srgbClr val="161B26"/>
                </a:solidFill>
                <a:latin typeface="Arial"/>
              </a:rPr>
              <a:t>Canary</a:t>
            </a:r>
          </a:p>
        </p:txBody>
      </p:sp>
      <p:sp>
        <p:nvSpPr>
          <p:cNvPr id="41" name="Rectangle 40"/>
          <p:cNvSpPr/>
          <p:nvPr/>
        </p:nvSpPr>
        <p:spPr>
          <a:xfrm>
            <a:off x="2691444" y="4754880"/>
            <a:ext cx="3615720"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801172" y="4754880"/>
            <a:ext cx="3432840" cy="822960"/>
          </a:xfrm>
          <a:prstGeom prst="rect">
            <a:avLst/>
          </a:prstGeom>
          <a:noFill/>
        </p:spPr>
        <p:txBody>
          <a:bodyPr wrap="square" anchor="ctr">
            <a:spAutoFit/>
          </a:bodyPr>
          <a:lstStyle/>
          <a:p>
            <a:pPr algn="ctr">
              <a:spcAft>
                <a:spcPts val="400"/>
              </a:spcAft>
            </a:pPr>
            <a:r>
              <a:rPr sz="1250" b="0">
                <a:solidFill>
                  <a:srgbClr val="5B6372"/>
                </a:solidFill>
                <a:latin typeface="Arial"/>
              </a:rPr>
              <a:t>Shift a small % first</a:t>
            </a:r>
          </a:p>
        </p:txBody>
      </p:sp>
      <p:sp>
        <p:nvSpPr>
          <p:cNvPr id="43" name="Rectangle 42"/>
          <p:cNvSpPr/>
          <p:nvPr/>
        </p:nvSpPr>
        <p:spPr>
          <a:xfrm>
            <a:off x="6307164" y="4754880"/>
            <a:ext cx="2552273"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16892" y="4754880"/>
            <a:ext cx="2369393" cy="822960"/>
          </a:xfrm>
          <a:prstGeom prst="rect">
            <a:avLst/>
          </a:prstGeom>
          <a:noFill/>
        </p:spPr>
        <p:txBody>
          <a:bodyPr wrap="square" anchor="ctr">
            <a:spAutoFit/>
          </a:bodyPr>
          <a:lstStyle/>
          <a:p>
            <a:pPr algn="ctr">
              <a:spcAft>
                <a:spcPts val="400"/>
              </a:spcAft>
            </a:pPr>
            <a:r>
              <a:rPr sz="1250" b="0">
                <a:solidFill>
                  <a:srgbClr val="5B6372"/>
                </a:solidFill>
                <a:latin typeface="Arial"/>
              </a:rPr>
              <a:t>Stop &amp; revert</a:t>
            </a:r>
          </a:p>
        </p:txBody>
      </p:sp>
      <p:sp>
        <p:nvSpPr>
          <p:cNvPr id="45" name="Rectangle 44"/>
          <p:cNvSpPr/>
          <p:nvPr/>
        </p:nvSpPr>
        <p:spPr>
          <a:xfrm>
            <a:off x="8859437" y="4754880"/>
            <a:ext cx="2552273"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69165" y="4754880"/>
            <a:ext cx="2369393" cy="822960"/>
          </a:xfrm>
          <a:prstGeom prst="rect">
            <a:avLst/>
          </a:prstGeom>
          <a:noFill/>
        </p:spPr>
        <p:txBody>
          <a:bodyPr wrap="square" anchor="ctr">
            <a:spAutoFit/>
          </a:bodyPr>
          <a:lstStyle/>
          <a:p>
            <a:pPr algn="ctr">
              <a:spcAft>
                <a:spcPts val="400"/>
              </a:spcAft>
            </a:pPr>
            <a:r>
              <a:rPr sz="1250" b="0">
                <a:solidFill>
                  <a:srgbClr val="5B6372"/>
                </a:solidFill>
                <a:latin typeface="Arial"/>
              </a:rPr>
              <a:t>High-risk changes</a:t>
            </a:r>
          </a:p>
        </p:txBody>
      </p:sp>
      <p:sp>
        <p:nvSpPr>
          <p:cNvPr id="47" name="TextBox 4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48" name="TextBox 4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a:t>
            </a:r>
          </a:p>
        </p:txBody>
      </p:sp>
    </p:spTree>
  </p:cSld>
  <p:clrMapOvr>
    <a:masterClrMapping/>
  </p:clrMapOvr>
  <p:transition xmlns:p14="http://schemas.microsoft.com/office/powerpoint/2010/main" p14:dur="380">
    <p:fade/>
  </p:transition>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TRADE-OFFS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Deployment Strategy — Blast Radius vs Rollback Speed</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828800"/>
          <a:ext cx="10634472" cy="3291840"/>
        </p:xfrm>
        <a:graphic>
          <a:graphicData uri="http://schemas.openxmlformats.org/drawingml/2006/chart">
            <c:chart xmlns:c="http://schemas.openxmlformats.org/drawingml/2006/chart" r:id="rId2"/>
          </a:graphicData>
        </a:graphic>
      </p:graphicFrame>
      <p:sp>
        <p:nvSpPr>
          <p:cNvPr id="8" name="Rectangle 7"/>
          <p:cNvSpPr/>
          <p:nvPr/>
        </p:nvSpPr>
        <p:spPr>
          <a:xfrm>
            <a:off x="777240" y="5349240"/>
            <a:ext cx="10634472" cy="868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349240"/>
            <a:ext cx="91440" cy="8686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5440680"/>
            <a:ext cx="10241280" cy="320040"/>
          </a:xfrm>
          <a:prstGeom prst="rect">
            <a:avLst/>
          </a:prstGeom>
          <a:noFill/>
        </p:spPr>
        <p:txBody>
          <a:bodyPr wrap="square" anchor="t">
            <a:spAutoFit/>
          </a:bodyPr>
          <a:lstStyle/>
          <a:p>
            <a:pPr algn="l">
              <a:spcAft>
                <a:spcPts val="400"/>
              </a:spcAft>
            </a:pPr>
            <a:r>
              <a:rPr sz="1100" b="1">
                <a:solidFill>
                  <a:srgbClr val="1F6FEB"/>
                </a:solidFill>
                <a:latin typeface="Arial"/>
              </a:rPr>
              <a:t>WHAT THE DATA SHOWS</a:t>
            </a:r>
          </a:p>
        </p:txBody>
      </p:sp>
      <p:sp>
        <p:nvSpPr>
          <p:cNvPr id="11" name="TextBox 10"/>
          <p:cNvSpPr txBox="1"/>
          <p:nvPr/>
        </p:nvSpPr>
        <p:spPr>
          <a:xfrm>
            <a:off x="1005840" y="5742432"/>
            <a:ext cx="10241280" cy="457200"/>
          </a:xfrm>
          <a:prstGeom prst="rect">
            <a:avLst/>
          </a:prstGeom>
          <a:noFill/>
        </p:spPr>
        <p:txBody>
          <a:bodyPr wrap="square" anchor="t">
            <a:spAutoFit/>
          </a:bodyPr>
          <a:lstStyle/>
          <a:p>
            <a:pPr algn="l">
              <a:spcAft>
                <a:spcPts val="400"/>
              </a:spcAft>
            </a:pPr>
            <a:r>
              <a:rPr sz="1350" b="0">
                <a:solidFill>
                  <a:srgbClr val="161B26"/>
                </a:solidFill>
                <a:latin typeface="Arial"/>
              </a:rPr>
              <a:t>Blue/green and canary minimise how many users a bad release can affect and let you roll back fastest.</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a:t>
            </a:r>
          </a:p>
        </p:txBody>
      </p:sp>
    </p:spTree>
  </p:cSld>
  <p:clrMapOvr>
    <a:masterClrMapping/>
  </p:clrMapOvr>
  <p:transition xmlns:p14="http://schemas.microsoft.com/office/powerpoint/2010/main" p14:dur="380">
    <p:fade/>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SHIFT LEFT</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Automated Testing in the Pipeline</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600" b="1">
                <a:solidFill>
                  <a:srgbClr val="161B26"/>
                </a:solidFill>
                <a:latin typeface="Arial"/>
              </a:rPr>
              <a:t>Unit tests</a:t>
            </a:r>
          </a:p>
          <a:p>
            <a:pPr algn="l">
              <a:spcAft>
                <a:spcPts val="300"/>
              </a:spcAft>
            </a:pPr>
            <a:r>
              <a:rPr sz="1200" b="0">
                <a:solidFill>
                  <a:srgbClr val="5B6372"/>
                </a:solidFill>
                <a:latin typeface="Arial"/>
              </a:rPr>
              <a:t>Run in CodeBuild on every commit — fail fast, block the merge.</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600" b="1">
                <a:solidFill>
                  <a:srgbClr val="161B26"/>
                </a:solidFill>
                <a:latin typeface="Arial"/>
              </a:rPr>
              <a:t>Integration tests</a:t>
            </a:r>
          </a:p>
          <a:p>
            <a:pPr algn="l">
              <a:spcAft>
                <a:spcPts val="300"/>
              </a:spcAft>
            </a:pPr>
            <a:r>
              <a:rPr sz="1200" b="0">
                <a:solidFill>
                  <a:srgbClr val="5B6372"/>
                </a:solidFill>
                <a:latin typeface="Arial"/>
              </a:rPr>
              <a:t>Verify services work together before promotion to staging.</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600" b="1">
                <a:solidFill>
                  <a:srgbClr val="161B26"/>
                </a:solidFill>
                <a:latin typeface="Arial"/>
              </a:rPr>
              <a:t>Security scans</a:t>
            </a:r>
          </a:p>
          <a:p>
            <a:pPr algn="l">
              <a:spcAft>
                <a:spcPts val="300"/>
              </a:spcAft>
            </a:pPr>
            <a:r>
              <a:rPr sz="1200" b="0">
                <a:solidFill>
                  <a:srgbClr val="5B6372"/>
                </a:solidFill>
                <a:latin typeface="Arial"/>
              </a:rPr>
              <a:t>SAST/SCA on code and dependencies inside the build phase.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600" b="1">
                <a:solidFill>
                  <a:srgbClr val="161B26"/>
                </a:solidFill>
                <a:latin typeface="Arial"/>
              </a:rPr>
              <a:t>Quality gates</a:t>
            </a:r>
          </a:p>
          <a:p>
            <a:pPr algn="l">
              <a:spcAft>
                <a:spcPts val="300"/>
              </a:spcAft>
            </a:pPr>
            <a:r>
              <a:rPr sz="1200" b="0">
                <a:solidFill>
                  <a:srgbClr val="5B6372"/>
                </a:solidFill>
                <a:latin typeface="Arial"/>
              </a:rPr>
              <a:t>CodeGuru / linters and coverage thresholds gate the release.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a:t>
            </a:r>
          </a:p>
        </p:txBody>
      </p:sp>
    </p:spTree>
  </p:cSld>
  <p:clrMapOvr>
    <a:masterClrMapping/>
  </p:clrMapOvr>
  <p:transition xmlns:p14="http://schemas.microsoft.com/office/powerpoint/2010/main" p14:dur="380">
    <p:fade/>
  </p:transition>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HOW CODEBUILD KNOWS WHAT TO DO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Anatomy of buildspec.yml</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10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6408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6408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version / env</a:t>
            </a:r>
          </a:p>
          <a:p>
            <a:pPr algn="l">
              <a:spcAft>
                <a:spcPts val="300"/>
              </a:spcAft>
            </a:pPr>
            <a:r>
              <a:rPr sz="1100" b="0">
                <a:solidFill>
                  <a:srgbClr val="5B6372"/>
                </a:solidFill>
                <a:latin typeface="Arial"/>
              </a:rPr>
              <a:t>Declare the buildspec version and environment variables / secrets.</a:t>
            </a:r>
          </a:p>
        </p:txBody>
      </p:sp>
      <p:sp>
        <p:nvSpPr>
          <p:cNvPr id="12" name="Rectangle 11"/>
          <p:cNvSpPr/>
          <p:nvPr/>
        </p:nvSpPr>
        <p:spPr>
          <a:xfrm>
            <a:off x="6231636" y="1783080"/>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3106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6408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6408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phases: install</a:t>
            </a:r>
          </a:p>
          <a:p>
            <a:pPr algn="l">
              <a:spcAft>
                <a:spcPts val="300"/>
              </a:spcAft>
            </a:pPr>
            <a:r>
              <a:rPr sz="1100" b="0">
                <a:solidFill>
                  <a:srgbClr val="5B6372"/>
                </a:solidFill>
                <a:latin typeface="Arial"/>
              </a:rPr>
              <a:t>Set up the runtime and install dependencies.</a:t>
            </a:r>
          </a:p>
        </p:txBody>
      </p:sp>
      <p:sp>
        <p:nvSpPr>
          <p:cNvPr id="17" name="Rectangle 16"/>
          <p:cNvSpPr/>
          <p:nvPr/>
        </p:nvSpPr>
        <p:spPr>
          <a:xfrm>
            <a:off x="777240" y="3313176"/>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3176"/>
            <a:ext cx="91440" cy="13106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422904"/>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phases: pre_build</a:t>
            </a:r>
          </a:p>
          <a:p>
            <a:pPr algn="l">
              <a:spcAft>
                <a:spcPts val="300"/>
              </a:spcAft>
            </a:pPr>
            <a:r>
              <a:rPr sz="1100" b="0">
                <a:solidFill>
                  <a:srgbClr val="5B6372"/>
                </a:solidFill>
                <a:latin typeface="Arial"/>
              </a:rPr>
              <a:t>Log in to registries, run linters.</a:t>
            </a:r>
          </a:p>
        </p:txBody>
      </p:sp>
      <p:sp>
        <p:nvSpPr>
          <p:cNvPr id="22" name="Rectangle 21"/>
          <p:cNvSpPr/>
          <p:nvPr/>
        </p:nvSpPr>
        <p:spPr>
          <a:xfrm>
            <a:off x="6231636" y="3313176"/>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3176"/>
            <a:ext cx="91440" cy="13106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422904"/>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phases: build</a:t>
            </a:r>
          </a:p>
          <a:p>
            <a:pPr algn="l">
              <a:spcAft>
                <a:spcPts val="300"/>
              </a:spcAft>
            </a:pPr>
            <a:r>
              <a:rPr sz="1100" b="0">
                <a:solidFill>
                  <a:srgbClr val="5B6372"/>
                </a:solidFill>
                <a:latin typeface="Arial"/>
              </a:rPr>
              <a:t>Compile, run unit tests, package the app.</a:t>
            </a:r>
          </a:p>
        </p:txBody>
      </p:sp>
      <p:sp>
        <p:nvSpPr>
          <p:cNvPr id="27" name="Rectangle 26"/>
          <p:cNvSpPr/>
          <p:nvPr/>
        </p:nvSpPr>
        <p:spPr>
          <a:xfrm>
            <a:off x="777240" y="4843272"/>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43272"/>
            <a:ext cx="91440" cy="13106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24272"/>
            <a:ext cx="548640" cy="548640"/>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2427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953000"/>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phases: post_build</a:t>
            </a:r>
          </a:p>
          <a:p>
            <a:pPr algn="l">
              <a:spcAft>
                <a:spcPts val="300"/>
              </a:spcAft>
            </a:pPr>
            <a:r>
              <a:rPr sz="1100" b="0">
                <a:solidFill>
                  <a:srgbClr val="5B6372"/>
                </a:solidFill>
                <a:latin typeface="Arial"/>
              </a:rPr>
              <a:t>Push images, generate reports.</a:t>
            </a:r>
          </a:p>
        </p:txBody>
      </p:sp>
      <p:sp>
        <p:nvSpPr>
          <p:cNvPr id="32" name="Rectangle 31"/>
          <p:cNvSpPr/>
          <p:nvPr/>
        </p:nvSpPr>
        <p:spPr>
          <a:xfrm>
            <a:off x="6231636" y="4843272"/>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43272"/>
            <a:ext cx="91440" cy="1310640"/>
          </a:xfrm>
          <a:prstGeom prst="rect">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24272"/>
            <a:ext cx="548640" cy="548640"/>
          </a:xfrm>
          <a:prstGeom prst="ellipse">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2427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953000"/>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artifacts</a:t>
            </a:r>
          </a:p>
          <a:p>
            <a:pPr algn="l">
              <a:spcAft>
                <a:spcPts val="300"/>
              </a:spcAft>
            </a:pPr>
            <a:r>
              <a:rPr sz="1100" b="0">
                <a:solidFill>
                  <a:srgbClr val="5B6372"/>
                </a:solidFill>
                <a:latin typeface="Arial"/>
              </a:rPr>
              <a:t>Declare the versioned output CodePipeline carries forward.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a:t>
            </a:r>
          </a:p>
        </p:txBody>
      </p:sp>
    </p:spTree>
  </p:cSld>
  <p:clrMapOvr>
    <a:masterClrMapping/>
  </p:clrMapOvr>
  <p:transition xmlns:p14="http://schemas.microsoft.com/office/powerpoint/2010/main" p14:dur="380">
    <p:fade/>
  </p:transition>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IN DEPTH</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Continuous Integration — mechanics, not just merging</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51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2120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38528"/>
            <a:ext cx="4754880" cy="365760"/>
          </a:xfrm>
          <a:prstGeom prst="rect">
            <a:avLst/>
          </a:prstGeom>
          <a:noFill/>
        </p:spPr>
        <p:txBody>
          <a:bodyPr wrap="square" anchor="t">
            <a:spAutoFit/>
          </a:bodyPr>
          <a:lstStyle/>
          <a:p>
            <a:pPr algn="l">
              <a:spcAft>
                <a:spcPts val="400"/>
              </a:spcAft>
            </a:pPr>
            <a:r>
              <a:rPr sz="1200" b="1">
                <a:solidFill>
                  <a:srgbClr val="1F6FEB"/>
                </a:solidFill>
                <a:latin typeface="Arial"/>
              </a:rPr>
              <a:t>IN DEPTH</a:t>
            </a:r>
          </a:p>
        </p:txBody>
      </p:sp>
      <p:sp>
        <p:nvSpPr>
          <p:cNvPr id="10" name="TextBox 9"/>
          <p:cNvSpPr txBox="1"/>
          <p:nvPr/>
        </p:nvSpPr>
        <p:spPr>
          <a:xfrm>
            <a:off x="1005840" y="2377440"/>
            <a:ext cx="4754880" cy="3566160"/>
          </a:xfrm>
          <a:prstGeom prst="rect">
            <a:avLst/>
          </a:prstGeom>
          <a:noFill/>
        </p:spPr>
        <p:txBody>
          <a:bodyPr wrap="square">
            <a:spAutoFit/>
          </a:bodyPr>
          <a:lstStyle/>
          <a:p>
            <a:pPr>
              <a:spcAft>
                <a:spcPts val="800"/>
              </a:spcAft>
            </a:pPr>
            <a:r>
              <a:rPr sz="1350" b="0">
                <a:solidFill>
                  <a:srgbClr val="161B26"/>
                </a:solidFill>
                <a:latin typeface="Arial"/>
              </a:rPr>
              <a:t>•  Every commit to the mainline triggers an automated build and test run, so integration problems surface within minutes of the change that caused them.</a:t>
            </a:r>
          </a:p>
          <a:p>
            <a:pPr>
              <a:spcAft>
                <a:spcPts val="800"/>
              </a:spcAft>
            </a:pPr>
            <a:r>
              <a:rPr sz="1350" b="0">
                <a:solidFill>
                  <a:srgbClr val="161B26"/>
                </a:solidFill>
                <a:latin typeface="Arial"/>
              </a:rPr>
              <a:t>•  CodeBuild runs the build in an ephemeral, reproducible container defined by buildspec.yml — the same steps run for every developer.</a:t>
            </a:r>
          </a:p>
          <a:p>
            <a:pPr>
              <a:spcAft>
                <a:spcPts val="800"/>
              </a:spcAft>
            </a:pPr>
            <a:r>
              <a:rPr sz="1350" b="0">
                <a:solidFill>
                  <a:srgbClr val="161B26"/>
                </a:solidFill>
                <a:latin typeface="Arial"/>
              </a:rPr>
              <a:t>•  A red build blocks the merge; the team's working agreement is that a broken mainline is fixed before any new work continues.</a:t>
            </a:r>
          </a:p>
        </p:txBody>
      </p:sp>
      <p:sp>
        <p:nvSpPr>
          <p:cNvPr id="11" name="Rectangle 10"/>
          <p:cNvSpPr/>
          <p:nvPr/>
        </p:nvSpPr>
        <p:spPr>
          <a:xfrm>
            <a:off x="6172200" y="178308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1783080"/>
            <a:ext cx="91440" cy="1325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8232" y="1892808"/>
            <a:ext cx="4782312" cy="320040"/>
          </a:xfrm>
          <a:prstGeom prst="rect">
            <a:avLst/>
          </a:prstGeom>
          <a:noFill/>
        </p:spPr>
        <p:txBody>
          <a:bodyPr wrap="square" anchor="t">
            <a:spAutoFit/>
          </a:bodyPr>
          <a:lstStyle/>
          <a:p>
            <a:pPr algn="l">
              <a:spcAft>
                <a:spcPts val="400"/>
              </a:spcAft>
            </a:pPr>
            <a:r>
              <a:rPr sz="1150" b="1">
                <a:solidFill>
                  <a:srgbClr val="1F6FEB"/>
                </a:solidFill>
                <a:latin typeface="Arial"/>
              </a:rPr>
              <a:t>WHY IT MATTERS</a:t>
            </a:r>
          </a:p>
        </p:txBody>
      </p:sp>
      <p:sp>
        <p:nvSpPr>
          <p:cNvPr id="14" name="TextBox 13"/>
          <p:cNvSpPr txBox="1"/>
          <p:nvPr/>
        </p:nvSpPr>
        <p:spPr>
          <a:xfrm>
            <a:off x="6428232" y="222199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Small, frequent integrations keep the merge delta tiny, so defects are cheap to locate and revert — the opposite of a painful 'big-bang' integration before release.</a:t>
            </a:r>
          </a:p>
        </p:txBody>
      </p:sp>
      <p:sp>
        <p:nvSpPr>
          <p:cNvPr id="15" name="Rectangle 14"/>
          <p:cNvSpPr/>
          <p:nvPr/>
        </p:nvSpPr>
        <p:spPr>
          <a:xfrm>
            <a:off x="6172200" y="324612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3246120"/>
            <a:ext cx="91440" cy="13258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8232" y="3355848"/>
            <a:ext cx="4782312" cy="320040"/>
          </a:xfrm>
          <a:prstGeom prst="rect">
            <a:avLst/>
          </a:prstGeom>
          <a:noFill/>
        </p:spPr>
        <p:txBody>
          <a:bodyPr wrap="square" anchor="t">
            <a:spAutoFit/>
          </a:bodyPr>
          <a:lstStyle/>
          <a:p>
            <a:pPr algn="l">
              <a:spcAft>
                <a:spcPts val="400"/>
              </a:spcAft>
            </a:pPr>
            <a:r>
              <a:rPr sz="1150" b="1">
                <a:solidFill>
                  <a:srgbClr val="C0392B"/>
                </a:solidFill>
                <a:latin typeface="Arial"/>
              </a:rPr>
              <a:t>FAILURE MODE</a:t>
            </a:r>
          </a:p>
        </p:txBody>
      </p:sp>
      <p:sp>
        <p:nvSpPr>
          <p:cNvPr id="18" name="TextBox 17"/>
          <p:cNvSpPr txBox="1"/>
          <p:nvPr/>
        </p:nvSpPr>
        <p:spPr>
          <a:xfrm>
            <a:off x="6428232" y="368503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Long-lived feature branches that integrate weekly recreate the very merge-hell CI exists to prevent; the build stays green only because nothing is really being integrated.</a:t>
            </a:r>
          </a:p>
        </p:txBody>
      </p:sp>
      <p:sp>
        <p:nvSpPr>
          <p:cNvPr id="19" name="Rectangle 18"/>
          <p:cNvSpPr/>
          <p:nvPr/>
        </p:nvSpPr>
        <p:spPr>
          <a:xfrm>
            <a:off x="6172200" y="470916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2200" y="4709160"/>
            <a:ext cx="91440" cy="1325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28232" y="4818888"/>
            <a:ext cx="4782312" cy="320040"/>
          </a:xfrm>
          <a:prstGeom prst="rect">
            <a:avLst/>
          </a:prstGeom>
          <a:noFill/>
        </p:spPr>
        <p:txBody>
          <a:bodyPr wrap="square" anchor="t">
            <a:spAutoFit/>
          </a:bodyPr>
          <a:lstStyle/>
          <a:p>
            <a:pPr algn="l">
              <a:spcAft>
                <a:spcPts val="400"/>
              </a:spcAft>
            </a:pPr>
            <a:r>
              <a:rPr sz="1150" b="1">
                <a:solidFill>
                  <a:srgbClr val="F59E0B"/>
                </a:solidFill>
                <a:latin typeface="Arial"/>
              </a:rPr>
              <a:t>TRADE-OFF / DECISION</a:t>
            </a:r>
          </a:p>
        </p:txBody>
      </p:sp>
      <p:sp>
        <p:nvSpPr>
          <p:cNvPr id="22" name="TextBox 21"/>
          <p:cNvSpPr txBox="1"/>
          <p:nvPr/>
        </p:nvSpPr>
        <p:spPr>
          <a:xfrm>
            <a:off x="6428232" y="514807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Faster feedback needs fast builds — split slow suites into parallel CodeBuild batches or later pipeline stages so the commit-stage stays under ~10 minutes.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a:t>
            </a:r>
          </a:p>
        </p:txBody>
      </p:sp>
    </p:spTree>
  </p:cSld>
  <p:clrMapOvr>
    <a:masterClrMapping/>
  </p:clrMapOvr>
  <p:transition xmlns:p14="http://schemas.microsoft.com/office/powerpoint/2010/main" p14:dur="380">
    <p:fade/>
  </p:transition>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IN DEPTH</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Continuous Delivery vs Continuous Deployment</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51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2120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38528"/>
            <a:ext cx="4754880" cy="365760"/>
          </a:xfrm>
          <a:prstGeom prst="rect">
            <a:avLst/>
          </a:prstGeom>
          <a:noFill/>
        </p:spPr>
        <p:txBody>
          <a:bodyPr wrap="square" anchor="t">
            <a:spAutoFit/>
          </a:bodyPr>
          <a:lstStyle/>
          <a:p>
            <a:pPr algn="l">
              <a:spcAft>
                <a:spcPts val="400"/>
              </a:spcAft>
            </a:pPr>
            <a:r>
              <a:rPr sz="1200" b="1">
                <a:solidFill>
                  <a:srgbClr val="1F6FEB"/>
                </a:solidFill>
                <a:latin typeface="Arial"/>
              </a:rPr>
              <a:t>IN DEPTH</a:t>
            </a:r>
          </a:p>
        </p:txBody>
      </p:sp>
      <p:sp>
        <p:nvSpPr>
          <p:cNvPr id="10" name="TextBox 9"/>
          <p:cNvSpPr txBox="1"/>
          <p:nvPr/>
        </p:nvSpPr>
        <p:spPr>
          <a:xfrm>
            <a:off x="1005840" y="2377440"/>
            <a:ext cx="4754880" cy="3566160"/>
          </a:xfrm>
          <a:prstGeom prst="rect">
            <a:avLst/>
          </a:prstGeom>
          <a:noFill/>
        </p:spPr>
        <p:txBody>
          <a:bodyPr wrap="square">
            <a:spAutoFit/>
          </a:bodyPr>
          <a:lstStyle/>
          <a:p>
            <a:pPr>
              <a:spcAft>
                <a:spcPts val="800"/>
              </a:spcAft>
            </a:pPr>
            <a:r>
              <a:rPr sz="1350" b="0">
                <a:solidFill>
                  <a:srgbClr val="161B26"/>
                </a:solidFill>
                <a:latin typeface="Arial"/>
              </a:rPr>
              <a:t>•  Continuous Delivery keeps every green build in a releasable state; a human approval action gates the final promotion to production.</a:t>
            </a:r>
          </a:p>
          <a:p>
            <a:pPr>
              <a:spcAft>
                <a:spcPts val="800"/>
              </a:spcAft>
            </a:pPr>
            <a:r>
              <a:rPr sz="1350" b="0">
                <a:solidFill>
                  <a:srgbClr val="161B26"/>
                </a:solidFill>
                <a:latin typeface="Arial"/>
              </a:rPr>
              <a:t>•  Continuous Deployment removes that gate — every change that passes the pipeline goes to production automatically.</a:t>
            </a:r>
          </a:p>
          <a:p>
            <a:pPr>
              <a:spcAft>
                <a:spcPts val="800"/>
              </a:spcAft>
            </a:pPr>
            <a:r>
              <a:rPr sz="1350" b="0">
                <a:solidFill>
                  <a:srgbClr val="161B26"/>
                </a:solidFill>
                <a:latin typeface="Arial"/>
              </a:rPr>
              <a:t>•  Both rely on the same pipeline; the only difference is whether a person presses the button.</a:t>
            </a:r>
          </a:p>
        </p:txBody>
      </p:sp>
      <p:sp>
        <p:nvSpPr>
          <p:cNvPr id="11" name="Rectangle 10"/>
          <p:cNvSpPr/>
          <p:nvPr/>
        </p:nvSpPr>
        <p:spPr>
          <a:xfrm>
            <a:off x="6172200" y="178308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1783080"/>
            <a:ext cx="91440" cy="1325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8232" y="1892808"/>
            <a:ext cx="4782312" cy="320040"/>
          </a:xfrm>
          <a:prstGeom prst="rect">
            <a:avLst/>
          </a:prstGeom>
          <a:noFill/>
        </p:spPr>
        <p:txBody>
          <a:bodyPr wrap="square" anchor="t">
            <a:spAutoFit/>
          </a:bodyPr>
          <a:lstStyle/>
          <a:p>
            <a:pPr algn="l">
              <a:spcAft>
                <a:spcPts val="400"/>
              </a:spcAft>
            </a:pPr>
            <a:r>
              <a:rPr sz="1150" b="1">
                <a:solidFill>
                  <a:srgbClr val="1F6FEB"/>
                </a:solidFill>
                <a:latin typeface="Arial"/>
              </a:rPr>
              <a:t>WHY IT MATTERS</a:t>
            </a:r>
          </a:p>
        </p:txBody>
      </p:sp>
      <p:sp>
        <p:nvSpPr>
          <p:cNvPr id="14" name="TextBox 13"/>
          <p:cNvSpPr txBox="1"/>
          <p:nvPr/>
        </p:nvSpPr>
        <p:spPr>
          <a:xfrm>
            <a:off x="6428232" y="222199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Delivery gives regulated or high-blast-radius teams a control point; Deployment gives high-trust teams maximum flow once automated tests and progressive rollout make failures cheap.</a:t>
            </a:r>
          </a:p>
        </p:txBody>
      </p:sp>
      <p:sp>
        <p:nvSpPr>
          <p:cNvPr id="15" name="Rectangle 14"/>
          <p:cNvSpPr/>
          <p:nvPr/>
        </p:nvSpPr>
        <p:spPr>
          <a:xfrm>
            <a:off x="6172200" y="324612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3246120"/>
            <a:ext cx="91440" cy="13258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8232" y="3355848"/>
            <a:ext cx="4782312" cy="320040"/>
          </a:xfrm>
          <a:prstGeom prst="rect">
            <a:avLst/>
          </a:prstGeom>
          <a:noFill/>
        </p:spPr>
        <p:txBody>
          <a:bodyPr wrap="square" anchor="t">
            <a:spAutoFit/>
          </a:bodyPr>
          <a:lstStyle/>
          <a:p>
            <a:pPr algn="l">
              <a:spcAft>
                <a:spcPts val="400"/>
              </a:spcAft>
            </a:pPr>
            <a:r>
              <a:rPr sz="1150" b="1">
                <a:solidFill>
                  <a:srgbClr val="C0392B"/>
                </a:solidFill>
                <a:latin typeface="Arial"/>
              </a:rPr>
              <a:t>FAILURE MODE</a:t>
            </a:r>
          </a:p>
        </p:txBody>
      </p:sp>
      <p:sp>
        <p:nvSpPr>
          <p:cNvPr id="18" name="TextBox 17"/>
          <p:cNvSpPr txBox="1"/>
          <p:nvPr/>
        </p:nvSpPr>
        <p:spPr>
          <a:xfrm>
            <a:off x="6428232" y="368503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Adopting Continuous Deployment before you have strong automated tests and fast rollback turns the pipeline into an automated way to ship bugs to customers.</a:t>
            </a:r>
          </a:p>
        </p:txBody>
      </p:sp>
      <p:sp>
        <p:nvSpPr>
          <p:cNvPr id="19" name="Rectangle 18"/>
          <p:cNvSpPr/>
          <p:nvPr/>
        </p:nvSpPr>
        <p:spPr>
          <a:xfrm>
            <a:off x="6172200" y="470916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2200" y="4709160"/>
            <a:ext cx="91440" cy="1325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28232" y="4818888"/>
            <a:ext cx="4782312" cy="320040"/>
          </a:xfrm>
          <a:prstGeom prst="rect">
            <a:avLst/>
          </a:prstGeom>
          <a:noFill/>
        </p:spPr>
        <p:txBody>
          <a:bodyPr wrap="square" anchor="t">
            <a:spAutoFit/>
          </a:bodyPr>
          <a:lstStyle/>
          <a:p>
            <a:pPr algn="l">
              <a:spcAft>
                <a:spcPts val="400"/>
              </a:spcAft>
            </a:pPr>
            <a:r>
              <a:rPr sz="1150" b="1">
                <a:solidFill>
                  <a:srgbClr val="F59E0B"/>
                </a:solidFill>
                <a:latin typeface="Arial"/>
              </a:rPr>
              <a:t>TRADE-OFF / DECISION</a:t>
            </a:r>
          </a:p>
        </p:txBody>
      </p:sp>
      <p:sp>
        <p:nvSpPr>
          <p:cNvPr id="22" name="TextBox 21"/>
          <p:cNvSpPr txBox="1"/>
          <p:nvPr/>
        </p:nvSpPr>
        <p:spPr>
          <a:xfrm>
            <a:off x="6428232" y="514807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An approval gate adds safety but also queueing delay and 'rubber-stamp' risk — reserve manual approval for genuinely irreversible or compliance-driven steps.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a:t>
            </a:r>
          </a:p>
        </p:txBody>
      </p:sp>
    </p:spTree>
  </p:cSld>
  <p:clrMapOvr>
    <a:masterClrMapping/>
  </p:clrMapOvr>
  <p:transition xmlns:p14="http://schemas.microsoft.com/office/powerpoint/2010/main" p14:dur="380">
    <p:fade/>
  </p:transition>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IN DEPTH</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300" b="1">
                <a:solidFill>
                  <a:srgbClr val="161B26"/>
                </a:solidFill>
                <a:latin typeface="Arial"/>
              </a:rPr>
              <a:t>Source control as the pipeline trigger — GitHub via CodeConnections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51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2120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38528"/>
            <a:ext cx="4754880" cy="365760"/>
          </a:xfrm>
          <a:prstGeom prst="rect">
            <a:avLst/>
          </a:prstGeom>
          <a:noFill/>
        </p:spPr>
        <p:txBody>
          <a:bodyPr wrap="square" anchor="t">
            <a:spAutoFit/>
          </a:bodyPr>
          <a:lstStyle/>
          <a:p>
            <a:pPr algn="l">
              <a:spcAft>
                <a:spcPts val="400"/>
              </a:spcAft>
            </a:pPr>
            <a:r>
              <a:rPr sz="1200" b="1">
                <a:solidFill>
                  <a:srgbClr val="1F6FEB"/>
                </a:solidFill>
                <a:latin typeface="Arial"/>
              </a:rPr>
              <a:t>IN DEPTH</a:t>
            </a:r>
          </a:p>
        </p:txBody>
      </p:sp>
      <p:sp>
        <p:nvSpPr>
          <p:cNvPr id="10" name="TextBox 9"/>
          <p:cNvSpPr txBox="1"/>
          <p:nvPr/>
        </p:nvSpPr>
        <p:spPr>
          <a:xfrm>
            <a:off x="1005840" y="2377440"/>
            <a:ext cx="4754880" cy="3566160"/>
          </a:xfrm>
          <a:prstGeom prst="rect">
            <a:avLst/>
          </a:prstGeom>
          <a:noFill/>
        </p:spPr>
        <p:txBody>
          <a:bodyPr wrap="square">
            <a:spAutoFit/>
          </a:bodyPr>
          <a:lstStyle/>
          <a:p>
            <a:pPr>
              <a:spcAft>
                <a:spcPts val="800"/>
              </a:spcAft>
            </a:pPr>
            <a:r>
              <a:rPr sz="1350" b="0">
                <a:solidFill>
                  <a:srgbClr val="161B26"/>
                </a:solidFill>
                <a:latin typeface="Arial"/>
              </a:rPr>
              <a:t>•  The modern AWS path connects a GitHub (or GitHub Enterprise / Bitbucket / GitLab) repository through AWS CodeConnections, so a push starts the pipeline over a managed, OAuth/app-based connection.</a:t>
            </a:r>
          </a:p>
          <a:p>
            <a:pPr>
              <a:spcAft>
                <a:spcPts val="800"/>
              </a:spcAft>
            </a:pPr>
            <a:r>
              <a:rPr sz="1350" b="0">
                <a:solidFill>
                  <a:srgbClr val="161B26"/>
                </a:solidFill>
                <a:latin typeface="Arial"/>
              </a:rPr>
              <a:t>•  CodeCommit remains an AWS-native Git option, but new work standardises on external Git providers via CodeConnections.</a:t>
            </a:r>
          </a:p>
          <a:p>
            <a:pPr>
              <a:spcAft>
                <a:spcPts val="800"/>
              </a:spcAft>
            </a:pPr>
            <a:r>
              <a:rPr sz="1350" b="0">
                <a:solidFill>
                  <a:srgbClr val="161B26"/>
                </a:solidFill>
                <a:latin typeface="Arial"/>
              </a:rPr>
              <a:t>•  The Source stage stores the commit as an artifact in an encrypted S3 bucket that later stages consume.</a:t>
            </a:r>
          </a:p>
        </p:txBody>
      </p:sp>
      <p:sp>
        <p:nvSpPr>
          <p:cNvPr id="11" name="Rectangle 10"/>
          <p:cNvSpPr/>
          <p:nvPr/>
        </p:nvSpPr>
        <p:spPr>
          <a:xfrm>
            <a:off x="6172200" y="178308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1783080"/>
            <a:ext cx="91440" cy="1325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8232" y="1892808"/>
            <a:ext cx="4782312" cy="320040"/>
          </a:xfrm>
          <a:prstGeom prst="rect">
            <a:avLst/>
          </a:prstGeom>
          <a:noFill/>
        </p:spPr>
        <p:txBody>
          <a:bodyPr wrap="square" anchor="t">
            <a:spAutoFit/>
          </a:bodyPr>
          <a:lstStyle/>
          <a:p>
            <a:pPr algn="l">
              <a:spcAft>
                <a:spcPts val="400"/>
              </a:spcAft>
            </a:pPr>
            <a:r>
              <a:rPr sz="1150" b="1">
                <a:solidFill>
                  <a:srgbClr val="1F6FEB"/>
                </a:solidFill>
                <a:latin typeface="Arial"/>
              </a:rPr>
              <a:t>WHY IT MATTERS</a:t>
            </a:r>
          </a:p>
        </p:txBody>
      </p:sp>
      <p:sp>
        <p:nvSpPr>
          <p:cNvPr id="14" name="TextBox 13"/>
          <p:cNvSpPr txBox="1"/>
          <p:nvPr/>
        </p:nvSpPr>
        <p:spPr>
          <a:xfrm>
            <a:off x="6428232" y="222199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CodeConnections removes long-lived Git credentials from the pipeline and lets teams keep their existing GitHub workflow, reviews and branch protection.</a:t>
            </a:r>
          </a:p>
        </p:txBody>
      </p:sp>
      <p:sp>
        <p:nvSpPr>
          <p:cNvPr id="15" name="Rectangle 14"/>
          <p:cNvSpPr/>
          <p:nvPr/>
        </p:nvSpPr>
        <p:spPr>
          <a:xfrm>
            <a:off x="6172200" y="324612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3246120"/>
            <a:ext cx="91440" cy="13258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8232" y="3355848"/>
            <a:ext cx="4782312" cy="320040"/>
          </a:xfrm>
          <a:prstGeom prst="rect">
            <a:avLst/>
          </a:prstGeom>
          <a:noFill/>
        </p:spPr>
        <p:txBody>
          <a:bodyPr wrap="square" anchor="t">
            <a:spAutoFit/>
          </a:bodyPr>
          <a:lstStyle/>
          <a:p>
            <a:pPr algn="l">
              <a:spcAft>
                <a:spcPts val="400"/>
              </a:spcAft>
            </a:pPr>
            <a:r>
              <a:rPr sz="1150" b="1">
                <a:solidFill>
                  <a:srgbClr val="C0392B"/>
                </a:solidFill>
                <a:latin typeface="Arial"/>
              </a:rPr>
              <a:t>FAILURE MODE</a:t>
            </a:r>
          </a:p>
        </p:txBody>
      </p:sp>
      <p:sp>
        <p:nvSpPr>
          <p:cNvPr id="18" name="TextBox 17"/>
          <p:cNvSpPr txBox="1"/>
          <p:nvPr/>
        </p:nvSpPr>
        <p:spPr>
          <a:xfrm>
            <a:off x="6428232" y="368503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Polling a repository instead of using the connection's webhook adds minutes of latency and can miss rapid successive commits.</a:t>
            </a:r>
          </a:p>
        </p:txBody>
      </p:sp>
      <p:sp>
        <p:nvSpPr>
          <p:cNvPr id="19" name="Rectangle 18"/>
          <p:cNvSpPr/>
          <p:nvPr/>
        </p:nvSpPr>
        <p:spPr>
          <a:xfrm>
            <a:off x="6172200" y="470916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2200" y="4709160"/>
            <a:ext cx="91440" cy="1325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28232" y="4818888"/>
            <a:ext cx="4782312" cy="320040"/>
          </a:xfrm>
          <a:prstGeom prst="rect">
            <a:avLst/>
          </a:prstGeom>
          <a:noFill/>
        </p:spPr>
        <p:txBody>
          <a:bodyPr wrap="square" anchor="t">
            <a:spAutoFit/>
          </a:bodyPr>
          <a:lstStyle/>
          <a:p>
            <a:pPr algn="l">
              <a:spcAft>
                <a:spcPts val="400"/>
              </a:spcAft>
            </a:pPr>
            <a:r>
              <a:rPr sz="1150" b="1">
                <a:solidFill>
                  <a:srgbClr val="F59E0B"/>
                </a:solidFill>
                <a:latin typeface="Arial"/>
              </a:rPr>
              <a:t>TRADE-OFF / DECISION</a:t>
            </a:r>
          </a:p>
        </p:txBody>
      </p:sp>
      <p:sp>
        <p:nvSpPr>
          <p:cNvPr id="22" name="TextBox 21"/>
          <p:cNvSpPr txBox="1"/>
          <p:nvPr/>
        </p:nvSpPr>
        <p:spPr>
          <a:xfrm>
            <a:off x="6428232" y="514807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Managed connections centralise trust in one integration — scope its permissions and monitor CodeConnections access as part of your security posture.</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a:t>
            </a:r>
          </a:p>
        </p:txBody>
      </p:sp>
    </p:spTree>
  </p:cSld>
  <p:clrMapOvr>
    <a:masterClrMapping/>
  </p:clrMapOvr>
  <p:transition xmlns:p14="http://schemas.microsoft.com/office/powerpoint/2010/main" p14:dur="380">
    <p:fade/>
  </p:transition>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IN DEPTH</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buildspec.yml — teaching CodeBuild your build</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51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2120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38528"/>
            <a:ext cx="4754880" cy="365760"/>
          </a:xfrm>
          <a:prstGeom prst="rect">
            <a:avLst/>
          </a:prstGeom>
          <a:noFill/>
        </p:spPr>
        <p:txBody>
          <a:bodyPr wrap="square" anchor="t">
            <a:spAutoFit/>
          </a:bodyPr>
          <a:lstStyle/>
          <a:p>
            <a:pPr algn="l">
              <a:spcAft>
                <a:spcPts val="400"/>
              </a:spcAft>
            </a:pPr>
            <a:r>
              <a:rPr sz="1200" b="1">
                <a:solidFill>
                  <a:srgbClr val="1F6FEB"/>
                </a:solidFill>
                <a:latin typeface="Arial"/>
              </a:rPr>
              <a:t>IN DEPTH</a:t>
            </a:r>
          </a:p>
        </p:txBody>
      </p:sp>
      <p:sp>
        <p:nvSpPr>
          <p:cNvPr id="10" name="TextBox 9"/>
          <p:cNvSpPr txBox="1"/>
          <p:nvPr/>
        </p:nvSpPr>
        <p:spPr>
          <a:xfrm>
            <a:off x="1005840" y="2377440"/>
            <a:ext cx="4754880" cy="3566160"/>
          </a:xfrm>
          <a:prstGeom prst="rect">
            <a:avLst/>
          </a:prstGeom>
          <a:noFill/>
        </p:spPr>
        <p:txBody>
          <a:bodyPr wrap="square">
            <a:spAutoFit/>
          </a:bodyPr>
          <a:lstStyle/>
          <a:p>
            <a:pPr>
              <a:spcAft>
                <a:spcPts val="800"/>
              </a:spcAft>
            </a:pPr>
            <a:r>
              <a:rPr sz="1350" b="0">
                <a:solidFill>
                  <a:srgbClr val="161B26"/>
                </a:solidFill>
                <a:latin typeface="Arial"/>
              </a:rPr>
              <a:t>•  buildspec.yml declares phases (install, pre_build, build, post_build), the runtime versions, environment variables and the artifacts to export.</a:t>
            </a:r>
          </a:p>
          <a:p>
            <a:pPr>
              <a:spcAft>
                <a:spcPts val="800"/>
              </a:spcAft>
            </a:pPr>
            <a:r>
              <a:rPr sz="1350" b="0">
                <a:solidFill>
                  <a:srgbClr val="161B26"/>
                </a:solidFill>
                <a:latin typeface="Arial"/>
              </a:rPr>
              <a:t>•  Secrets are pulled at build time from Secrets Manager or SSM Parameter Store, never hard-coded in the file.</a:t>
            </a:r>
          </a:p>
          <a:p>
            <a:pPr>
              <a:spcAft>
                <a:spcPts val="800"/>
              </a:spcAft>
            </a:pPr>
            <a:r>
              <a:rPr sz="1350" b="0">
                <a:solidFill>
                  <a:srgbClr val="161B26"/>
                </a:solidFill>
                <a:latin typeface="Arial"/>
              </a:rPr>
              <a:t>•  The build produces a single versioned artifact that every downstream stage reuses — build once, deploy many times.</a:t>
            </a:r>
          </a:p>
        </p:txBody>
      </p:sp>
      <p:sp>
        <p:nvSpPr>
          <p:cNvPr id="11" name="Rectangle 10"/>
          <p:cNvSpPr/>
          <p:nvPr/>
        </p:nvSpPr>
        <p:spPr>
          <a:xfrm>
            <a:off x="6172200" y="178308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1783080"/>
            <a:ext cx="91440" cy="1325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8232" y="1892808"/>
            <a:ext cx="4782312" cy="320040"/>
          </a:xfrm>
          <a:prstGeom prst="rect">
            <a:avLst/>
          </a:prstGeom>
          <a:noFill/>
        </p:spPr>
        <p:txBody>
          <a:bodyPr wrap="square" anchor="t">
            <a:spAutoFit/>
          </a:bodyPr>
          <a:lstStyle/>
          <a:p>
            <a:pPr algn="l">
              <a:spcAft>
                <a:spcPts val="400"/>
              </a:spcAft>
            </a:pPr>
            <a:r>
              <a:rPr sz="1150" b="1">
                <a:solidFill>
                  <a:srgbClr val="1F6FEB"/>
                </a:solidFill>
                <a:latin typeface="Arial"/>
              </a:rPr>
              <a:t>WHY IT MATTERS</a:t>
            </a:r>
          </a:p>
        </p:txBody>
      </p:sp>
      <p:sp>
        <p:nvSpPr>
          <p:cNvPr id="14" name="TextBox 13"/>
          <p:cNvSpPr txBox="1"/>
          <p:nvPr/>
        </p:nvSpPr>
        <p:spPr>
          <a:xfrm>
            <a:off x="6428232" y="222199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A declarative build spec makes the build reproducible and reviewable in code review, and identical across every developer and the pipeline.</a:t>
            </a:r>
          </a:p>
        </p:txBody>
      </p:sp>
      <p:sp>
        <p:nvSpPr>
          <p:cNvPr id="15" name="Rectangle 14"/>
          <p:cNvSpPr/>
          <p:nvPr/>
        </p:nvSpPr>
        <p:spPr>
          <a:xfrm>
            <a:off x="6172200" y="324612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3246120"/>
            <a:ext cx="91440" cy="13258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8232" y="3355848"/>
            <a:ext cx="4782312" cy="320040"/>
          </a:xfrm>
          <a:prstGeom prst="rect">
            <a:avLst/>
          </a:prstGeom>
          <a:noFill/>
        </p:spPr>
        <p:txBody>
          <a:bodyPr wrap="square" anchor="t">
            <a:spAutoFit/>
          </a:bodyPr>
          <a:lstStyle/>
          <a:p>
            <a:pPr algn="l">
              <a:spcAft>
                <a:spcPts val="400"/>
              </a:spcAft>
            </a:pPr>
            <a:r>
              <a:rPr sz="1150" b="1">
                <a:solidFill>
                  <a:srgbClr val="C0392B"/>
                </a:solidFill>
                <a:latin typeface="Arial"/>
              </a:rPr>
              <a:t>FAILURE MODE</a:t>
            </a:r>
          </a:p>
        </p:txBody>
      </p:sp>
      <p:sp>
        <p:nvSpPr>
          <p:cNvPr id="18" name="TextBox 17"/>
          <p:cNvSpPr txBox="1"/>
          <p:nvPr/>
        </p:nvSpPr>
        <p:spPr>
          <a:xfrm>
            <a:off x="6428232" y="368503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Baking credentials or environment-specific values into buildspec.yml couples the artifact to one environment and leaks secrets into logs.</a:t>
            </a:r>
          </a:p>
        </p:txBody>
      </p:sp>
      <p:sp>
        <p:nvSpPr>
          <p:cNvPr id="19" name="Rectangle 18"/>
          <p:cNvSpPr/>
          <p:nvPr/>
        </p:nvSpPr>
        <p:spPr>
          <a:xfrm>
            <a:off x="6172200" y="470916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2200" y="4709160"/>
            <a:ext cx="91440" cy="1325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28232" y="4818888"/>
            <a:ext cx="4782312" cy="320040"/>
          </a:xfrm>
          <a:prstGeom prst="rect">
            <a:avLst/>
          </a:prstGeom>
          <a:noFill/>
        </p:spPr>
        <p:txBody>
          <a:bodyPr wrap="square" anchor="t">
            <a:spAutoFit/>
          </a:bodyPr>
          <a:lstStyle/>
          <a:p>
            <a:pPr algn="l">
              <a:spcAft>
                <a:spcPts val="400"/>
              </a:spcAft>
            </a:pPr>
            <a:r>
              <a:rPr sz="1150" b="1">
                <a:solidFill>
                  <a:srgbClr val="F59E0B"/>
                </a:solidFill>
                <a:latin typeface="Arial"/>
              </a:rPr>
              <a:t>TRADE-OFF / DECISION</a:t>
            </a:r>
          </a:p>
        </p:txBody>
      </p:sp>
      <p:sp>
        <p:nvSpPr>
          <p:cNvPr id="22" name="TextBox 21"/>
          <p:cNvSpPr txBox="1"/>
          <p:nvPr/>
        </p:nvSpPr>
        <p:spPr>
          <a:xfrm>
            <a:off x="6428232" y="514807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Rich caching (dependencies, layers) speeds builds but can hide dependency drift — pin versions and periodically build clean.</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a:t>
            </a:r>
          </a:p>
        </p:txBody>
      </p:sp>
    </p:spTree>
  </p:cSld>
  <p:clrMapOvr>
    <a:masterClrMapping/>
  </p:clrMapOvr>
  <p:transition xmlns:p14="http://schemas.microsoft.com/office/powerpoint/2010/main" p14:dur="380">
    <p:fade/>
  </p:transition>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IN DEPTH</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appspec + deployment lifecycle hooks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51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2120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38528"/>
            <a:ext cx="4754880" cy="365760"/>
          </a:xfrm>
          <a:prstGeom prst="rect">
            <a:avLst/>
          </a:prstGeom>
          <a:noFill/>
        </p:spPr>
        <p:txBody>
          <a:bodyPr wrap="square" anchor="t">
            <a:spAutoFit/>
          </a:bodyPr>
          <a:lstStyle/>
          <a:p>
            <a:pPr algn="l">
              <a:spcAft>
                <a:spcPts val="400"/>
              </a:spcAft>
            </a:pPr>
            <a:r>
              <a:rPr sz="1200" b="1">
                <a:solidFill>
                  <a:srgbClr val="1F6FEB"/>
                </a:solidFill>
                <a:latin typeface="Arial"/>
              </a:rPr>
              <a:t>IN DEPTH</a:t>
            </a:r>
          </a:p>
        </p:txBody>
      </p:sp>
      <p:sp>
        <p:nvSpPr>
          <p:cNvPr id="10" name="TextBox 9"/>
          <p:cNvSpPr txBox="1"/>
          <p:nvPr/>
        </p:nvSpPr>
        <p:spPr>
          <a:xfrm>
            <a:off x="1005840" y="2377440"/>
            <a:ext cx="4754880" cy="3566160"/>
          </a:xfrm>
          <a:prstGeom prst="rect">
            <a:avLst/>
          </a:prstGeom>
          <a:noFill/>
        </p:spPr>
        <p:txBody>
          <a:bodyPr wrap="square">
            <a:spAutoFit/>
          </a:bodyPr>
          <a:lstStyle/>
          <a:p>
            <a:pPr>
              <a:spcAft>
                <a:spcPts val="800"/>
              </a:spcAft>
            </a:pPr>
            <a:r>
              <a:rPr sz="1350" b="0">
                <a:solidFill>
                  <a:srgbClr val="161B26"/>
                </a:solidFill>
                <a:latin typeface="Arial"/>
              </a:rPr>
              <a:t>•  appspec.yml tells CodeDeploy what to copy and which lifecycle-hook scripts to run (BeforeInstall, AfterInstall, ApplicationStart, ValidateService).</a:t>
            </a:r>
          </a:p>
          <a:p>
            <a:pPr>
              <a:spcAft>
                <a:spcPts val="800"/>
              </a:spcAft>
            </a:pPr>
            <a:r>
              <a:rPr sz="1350" b="0">
                <a:solidFill>
                  <a:srgbClr val="161B26"/>
                </a:solidFill>
                <a:latin typeface="Arial"/>
              </a:rPr>
              <a:t>•  The ValidateService hook is where a health check decides whether the new version is actually serving traffic.</a:t>
            </a:r>
          </a:p>
          <a:p>
            <a:pPr>
              <a:spcAft>
                <a:spcPts val="800"/>
              </a:spcAft>
            </a:pPr>
            <a:r>
              <a:rPr sz="1350" b="0">
                <a:solidFill>
                  <a:srgbClr val="161B26"/>
                </a:solidFill>
                <a:latin typeface="Arial"/>
              </a:rPr>
              <a:t>•  For blue/green, CodeDeploy shifts traffic between target groups instead of updating files in place.</a:t>
            </a:r>
          </a:p>
        </p:txBody>
      </p:sp>
      <p:sp>
        <p:nvSpPr>
          <p:cNvPr id="11" name="Rectangle 10"/>
          <p:cNvSpPr/>
          <p:nvPr/>
        </p:nvSpPr>
        <p:spPr>
          <a:xfrm>
            <a:off x="6172200" y="178308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1783080"/>
            <a:ext cx="91440" cy="1325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8232" y="1892808"/>
            <a:ext cx="4782312" cy="320040"/>
          </a:xfrm>
          <a:prstGeom prst="rect">
            <a:avLst/>
          </a:prstGeom>
          <a:noFill/>
        </p:spPr>
        <p:txBody>
          <a:bodyPr wrap="square" anchor="t">
            <a:spAutoFit/>
          </a:bodyPr>
          <a:lstStyle/>
          <a:p>
            <a:pPr algn="l">
              <a:spcAft>
                <a:spcPts val="400"/>
              </a:spcAft>
            </a:pPr>
            <a:r>
              <a:rPr sz="1150" b="1">
                <a:solidFill>
                  <a:srgbClr val="1F6FEB"/>
                </a:solidFill>
                <a:latin typeface="Arial"/>
              </a:rPr>
              <a:t>WHY IT MATTERS</a:t>
            </a:r>
          </a:p>
        </p:txBody>
      </p:sp>
      <p:sp>
        <p:nvSpPr>
          <p:cNvPr id="14" name="TextBox 13"/>
          <p:cNvSpPr txBox="1"/>
          <p:nvPr/>
        </p:nvSpPr>
        <p:spPr>
          <a:xfrm>
            <a:off x="6428232" y="222199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Lifecycle hooks turn 'copy files' into a safe, verifiable release with an explicit go/no-go check before the deployment is declared successful.</a:t>
            </a:r>
          </a:p>
        </p:txBody>
      </p:sp>
      <p:sp>
        <p:nvSpPr>
          <p:cNvPr id="15" name="Rectangle 14"/>
          <p:cNvSpPr/>
          <p:nvPr/>
        </p:nvSpPr>
        <p:spPr>
          <a:xfrm>
            <a:off x="6172200" y="324612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3246120"/>
            <a:ext cx="91440" cy="13258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8232" y="3355848"/>
            <a:ext cx="4782312" cy="320040"/>
          </a:xfrm>
          <a:prstGeom prst="rect">
            <a:avLst/>
          </a:prstGeom>
          <a:noFill/>
        </p:spPr>
        <p:txBody>
          <a:bodyPr wrap="square" anchor="t">
            <a:spAutoFit/>
          </a:bodyPr>
          <a:lstStyle/>
          <a:p>
            <a:pPr algn="l">
              <a:spcAft>
                <a:spcPts val="400"/>
              </a:spcAft>
            </a:pPr>
            <a:r>
              <a:rPr sz="1150" b="1">
                <a:solidFill>
                  <a:srgbClr val="C0392B"/>
                </a:solidFill>
                <a:latin typeface="Arial"/>
              </a:rPr>
              <a:t>FAILURE MODE</a:t>
            </a:r>
          </a:p>
        </p:txBody>
      </p:sp>
      <p:sp>
        <p:nvSpPr>
          <p:cNvPr id="18" name="TextBox 17"/>
          <p:cNvSpPr txBox="1"/>
          <p:nvPr/>
        </p:nvSpPr>
        <p:spPr>
          <a:xfrm>
            <a:off x="6428232" y="368503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A ValidateService hook that always exits 0 defeats automated rollback — a broken release is reported as healthy.</a:t>
            </a:r>
          </a:p>
        </p:txBody>
      </p:sp>
      <p:sp>
        <p:nvSpPr>
          <p:cNvPr id="19" name="Rectangle 18"/>
          <p:cNvSpPr/>
          <p:nvPr/>
        </p:nvSpPr>
        <p:spPr>
          <a:xfrm>
            <a:off x="6172200" y="470916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2200" y="4709160"/>
            <a:ext cx="91440" cy="1325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28232" y="4818888"/>
            <a:ext cx="4782312" cy="320040"/>
          </a:xfrm>
          <a:prstGeom prst="rect">
            <a:avLst/>
          </a:prstGeom>
          <a:noFill/>
        </p:spPr>
        <p:txBody>
          <a:bodyPr wrap="square" anchor="t">
            <a:spAutoFit/>
          </a:bodyPr>
          <a:lstStyle/>
          <a:p>
            <a:pPr algn="l">
              <a:spcAft>
                <a:spcPts val="400"/>
              </a:spcAft>
            </a:pPr>
            <a:r>
              <a:rPr sz="1150" b="1">
                <a:solidFill>
                  <a:srgbClr val="F59E0B"/>
                </a:solidFill>
                <a:latin typeface="Arial"/>
              </a:rPr>
              <a:t>TRADE-OFF / DECISION</a:t>
            </a:r>
          </a:p>
        </p:txBody>
      </p:sp>
      <p:sp>
        <p:nvSpPr>
          <p:cNvPr id="22" name="TextBox 21"/>
          <p:cNvSpPr txBox="1"/>
          <p:nvPr/>
        </p:nvSpPr>
        <p:spPr>
          <a:xfrm>
            <a:off x="6428232" y="514807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Longer validation windows catch more problems but slow each deployment and hold the fleet in a mixed-version state.</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a:t>
            </a:r>
          </a:p>
        </p:txBody>
      </p:sp>
    </p:spTree>
  </p:cSld>
  <p:clrMapOvr>
    <a:masterClrMapping/>
  </p:clrMapOvr>
  <p:transition xmlns:p14="http://schemas.microsoft.com/office/powerpoint/2010/main" p14:dur="380">
    <p:fade/>
  </p:transition>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IN DEPTH</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Artifacts, versioning and traceability</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51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2120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38528"/>
            <a:ext cx="4754880" cy="365760"/>
          </a:xfrm>
          <a:prstGeom prst="rect">
            <a:avLst/>
          </a:prstGeom>
          <a:noFill/>
        </p:spPr>
        <p:txBody>
          <a:bodyPr wrap="square" anchor="t">
            <a:spAutoFit/>
          </a:bodyPr>
          <a:lstStyle/>
          <a:p>
            <a:pPr algn="l">
              <a:spcAft>
                <a:spcPts val="400"/>
              </a:spcAft>
            </a:pPr>
            <a:r>
              <a:rPr sz="1200" b="1">
                <a:solidFill>
                  <a:srgbClr val="1F6FEB"/>
                </a:solidFill>
                <a:latin typeface="Arial"/>
              </a:rPr>
              <a:t>IN DEPTH</a:t>
            </a:r>
          </a:p>
        </p:txBody>
      </p:sp>
      <p:sp>
        <p:nvSpPr>
          <p:cNvPr id="10" name="TextBox 9"/>
          <p:cNvSpPr txBox="1"/>
          <p:nvPr/>
        </p:nvSpPr>
        <p:spPr>
          <a:xfrm>
            <a:off x="1005840" y="2377440"/>
            <a:ext cx="4754880" cy="3566160"/>
          </a:xfrm>
          <a:prstGeom prst="rect">
            <a:avLst/>
          </a:prstGeom>
          <a:noFill/>
        </p:spPr>
        <p:txBody>
          <a:bodyPr wrap="square">
            <a:spAutoFit/>
          </a:bodyPr>
          <a:lstStyle/>
          <a:p>
            <a:pPr>
              <a:spcAft>
                <a:spcPts val="800"/>
              </a:spcAft>
            </a:pPr>
            <a:r>
              <a:rPr sz="1350" b="0">
                <a:solidFill>
                  <a:srgbClr val="161B26"/>
                </a:solidFill>
                <a:latin typeface="Arial"/>
              </a:rPr>
              <a:t>•  Build outputs are versioned in S3 and packages in CodeArtifact, each tied to the source commit that produced it.</a:t>
            </a:r>
          </a:p>
          <a:p>
            <a:pPr>
              <a:spcAft>
                <a:spcPts val="800"/>
              </a:spcAft>
            </a:pPr>
            <a:r>
              <a:rPr sz="1350" b="0">
                <a:solidFill>
                  <a:srgbClr val="161B26"/>
                </a:solidFill>
                <a:latin typeface="Arial"/>
              </a:rPr>
              <a:t>•  Any production release can be traced back to an exact commit, build log and test result.</a:t>
            </a:r>
          </a:p>
          <a:p>
            <a:pPr>
              <a:spcAft>
                <a:spcPts val="800"/>
              </a:spcAft>
            </a:pPr>
            <a:r>
              <a:rPr sz="1350" b="0">
                <a:solidFill>
                  <a:srgbClr val="161B26"/>
                </a:solidFill>
                <a:latin typeface="Arial"/>
              </a:rPr>
              <a:t>•  Rollback becomes 'redeploy the previous known-good artifact', not 'rebuild and hope'.</a:t>
            </a:r>
          </a:p>
        </p:txBody>
      </p:sp>
      <p:sp>
        <p:nvSpPr>
          <p:cNvPr id="11" name="Rectangle 10"/>
          <p:cNvSpPr/>
          <p:nvPr/>
        </p:nvSpPr>
        <p:spPr>
          <a:xfrm>
            <a:off x="6172200" y="178308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1783080"/>
            <a:ext cx="91440" cy="1325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8232" y="1892808"/>
            <a:ext cx="4782312" cy="320040"/>
          </a:xfrm>
          <a:prstGeom prst="rect">
            <a:avLst/>
          </a:prstGeom>
          <a:noFill/>
        </p:spPr>
        <p:txBody>
          <a:bodyPr wrap="square" anchor="t">
            <a:spAutoFit/>
          </a:bodyPr>
          <a:lstStyle/>
          <a:p>
            <a:pPr algn="l">
              <a:spcAft>
                <a:spcPts val="400"/>
              </a:spcAft>
            </a:pPr>
            <a:r>
              <a:rPr sz="1150" b="1">
                <a:solidFill>
                  <a:srgbClr val="1F6FEB"/>
                </a:solidFill>
                <a:latin typeface="Arial"/>
              </a:rPr>
              <a:t>WHY IT MATTERS</a:t>
            </a:r>
          </a:p>
        </p:txBody>
      </p:sp>
      <p:sp>
        <p:nvSpPr>
          <p:cNvPr id="14" name="TextBox 13"/>
          <p:cNvSpPr txBox="1"/>
          <p:nvPr/>
        </p:nvSpPr>
        <p:spPr>
          <a:xfrm>
            <a:off x="6428232" y="222199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Immutable, versioned artifacts make releases reproducible and auditable — essential for incident forensics and compliance evidence.</a:t>
            </a:r>
          </a:p>
        </p:txBody>
      </p:sp>
      <p:sp>
        <p:nvSpPr>
          <p:cNvPr id="15" name="Rectangle 14"/>
          <p:cNvSpPr/>
          <p:nvPr/>
        </p:nvSpPr>
        <p:spPr>
          <a:xfrm>
            <a:off x="6172200" y="324612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3246120"/>
            <a:ext cx="91440" cy="13258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8232" y="3355848"/>
            <a:ext cx="4782312" cy="320040"/>
          </a:xfrm>
          <a:prstGeom prst="rect">
            <a:avLst/>
          </a:prstGeom>
          <a:noFill/>
        </p:spPr>
        <p:txBody>
          <a:bodyPr wrap="square" anchor="t">
            <a:spAutoFit/>
          </a:bodyPr>
          <a:lstStyle/>
          <a:p>
            <a:pPr algn="l">
              <a:spcAft>
                <a:spcPts val="400"/>
              </a:spcAft>
            </a:pPr>
            <a:r>
              <a:rPr sz="1150" b="1">
                <a:solidFill>
                  <a:srgbClr val="C0392B"/>
                </a:solidFill>
                <a:latin typeface="Arial"/>
              </a:rPr>
              <a:t>FAILURE MODE</a:t>
            </a:r>
          </a:p>
        </p:txBody>
      </p:sp>
      <p:sp>
        <p:nvSpPr>
          <p:cNvPr id="18" name="TextBox 17"/>
          <p:cNvSpPr txBox="1"/>
          <p:nvPr/>
        </p:nvSpPr>
        <p:spPr>
          <a:xfrm>
            <a:off x="6428232" y="368503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Rebuilding from source on rollback can pull newer dependencies and reintroduce or mask the very fault you are rolling back from.</a:t>
            </a:r>
          </a:p>
        </p:txBody>
      </p:sp>
      <p:sp>
        <p:nvSpPr>
          <p:cNvPr id="19" name="Rectangle 18"/>
          <p:cNvSpPr/>
          <p:nvPr/>
        </p:nvSpPr>
        <p:spPr>
          <a:xfrm>
            <a:off x="6172200" y="470916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2200" y="4709160"/>
            <a:ext cx="91440" cy="1325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28232" y="4818888"/>
            <a:ext cx="4782312" cy="320040"/>
          </a:xfrm>
          <a:prstGeom prst="rect">
            <a:avLst/>
          </a:prstGeom>
          <a:noFill/>
        </p:spPr>
        <p:txBody>
          <a:bodyPr wrap="square" anchor="t">
            <a:spAutoFit/>
          </a:bodyPr>
          <a:lstStyle/>
          <a:p>
            <a:pPr algn="l">
              <a:spcAft>
                <a:spcPts val="400"/>
              </a:spcAft>
            </a:pPr>
            <a:r>
              <a:rPr sz="1150" b="1">
                <a:solidFill>
                  <a:srgbClr val="F59E0B"/>
                </a:solidFill>
                <a:latin typeface="Arial"/>
              </a:rPr>
              <a:t>TRADE-OFF / DECISION</a:t>
            </a:r>
          </a:p>
        </p:txBody>
      </p:sp>
      <p:sp>
        <p:nvSpPr>
          <p:cNvPr id="22" name="TextBox 21"/>
          <p:cNvSpPr txBox="1"/>
          <p:nvPr/>
        </p:nvSpPr>
        <p:spPr>
          <a:xfrm>
            <a:off x="6428232" y="514807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Retaining every artifact aids traceability but grows storage cost — apply S3 lifecycle rules to age out old, unreferenced builds.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a:t>
            </a:r>
          </a:p>
        </p:txBody>
      </p:sp>
    </p:spTree>
  </p:cSld>
  <p:clrMapOvr>
    <a:masterClrMapping/>
  </p:clrMapOvr>
  <p:transition xmlns:p14="http://schemas.microsoft.com/office/powerpoint/2010/main" p14:dur="380">
    <p:fade/>
  </p:transition>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IN DEPTH</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Automated testing and quality gates in the pipeline</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51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2120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38528"/>
            <a:ext cx="4754880" cy="365760"/>
          </a:xfrm>
          <a:prstGeom prst="rect">
            <a:avLst/>
          </a:prstGeom>
          <a:noFill/>
        </p:spPr>
        <p:txBody>
          <a:bodyPr wrap="square" anchor="t">
            <a:spAutoFit/>
          </a:bodyPr>
          <a:lstStyle/>
          <a:p>
            <a:pPr algn="l">
              <a:spcAft>
                <a:spcPts val="400"/>
              </a:spcAft>
            </a:pPr>
            <a:r>
              <a:rPr sz="1200" b="1">
                <a:solidFill>
                  <a:srgbClr val="1F6FEB"/>
                </a:solidFill>
                <a:latin typeface="Arial"/>
              </a:rPr>
              <a:t>IN DEPTH</a:t>
            </a:r>
          </a:p>
        </p:txBody>
      </p:sp>
      <p:sp>
        <p:nvSpPr>
          <p:cNvPr id="10" name="TextBox 9"/>
          <p:cNvSpPr txBox="1"/>
          <p:nvPr/>
        </p:nvSpPr>
        <p:spPr>
          <a:xfrm>
            <a:off x="1005840" y="2377440"/>
            <a:ext cx="4754880" cy="3566160"/>
          </a:xfrm>
          <a:prstGeom prst="rect">
            <a:avLst/>
          </a:prstGeom>
          <a:noFill/>
        </p:spPr>
        <p:txBody>
          <a:bodyPr wrap="square">
            <a:spAutoFit/>
          </a:bodyPr>
          <a:lstStyle/>
          <a:p>
            <a:pPr>
              <a:spcAft>
                <a:spcPts val="800"/>
              </a:spcAft>
            </a:pPr>
            <a:r>
              <a:rPr sz="1350" b="0">
                <a:solidFill>
                  <a:srgbClr val="161B26"/>
                </a:solidFill>
                <a:latin typeface="Arial"/>
              </a:rPr>
              <a:t>•  Unit tests run in the commit stage; integration, security (SAST/SCA) and performance checks run in later stages before promotion.</a:t>
            </a:r>
          </a:p>
          <a:p>
            <a:pPr>
              <a:spcAft>
                <a:spcPts val="800"/>
              </a:spcAft>
            </a:pPr>
            <a:r>
              <a:rPr sz="1350" b="0">
                <a:solidFill>
                  <a:srgbClr val="161B26"/>
                </a:solidFill>
                <a:latin typeface="Arial"/>
              </a:rPr>
              <a:t>•  Quality gates — coverage thresholds, CodeGuru findings, linters — can fail the build automatically.</a:t>
            </a:r>
          </a:p>
          <a:p>
            <a:pPr>
              <a:spcAft>
                <a:spcPts val="800"/>
              </a:spcAft>
            </a:pPr>
            <a:r>
              <a:rPr sz="1350" b="0">
                <a:solidFill>
                  <a:srgbClr val="161B26"/>
                </a:solidFill>
                <a:latin typeface="Arial"/>
              </a:rPr>
              <a:t>•  Test data and environments are provisioned as code so tests are repeatable.</a:t>
            </a:r>
          </a:p>
        </p:txBody>
      </p:sp>
      <p:sp>
        <p:nvSpPr>
          <p:cNvPr id="11" name="Rectangle 10"/>
          <p:cNvSpPr/>
          <p:nvPr/>
        </p:nvSpPr>
        <p:spPr>
          <a:xfrm>
            <a:off x="6172200" y="178308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1783080"/>
            <a:ext cx="91440" cy="1325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8232" y="1892808"/>
            <a:ext cx="4782312" cy="320040"/>
          </a:xfrm>
          <a:prstGeom prst="rect">
            <a:avLst/>
          </a:prstGeom>
          <a:noFill/>
        </p:spPr>
        <p:txBody>
          <a:bodyPr wrap="square" anchor="t">
            <a:spAutoFit/>
          </a:bodyPr>
          <a:lstStyle/>
          <a:p>
            <a:pPr algn="l">
              <a:spcAft>
                <a:spcPts val="400"/>
              </a:spcAft>
            </a:pPr>
            <a:r>
              <a:rPr sz="1150" b="1">
                <a:solidFill>
                  <a:srgbClr val="1F6FEB"/>
                </a:solidFill>
                <a:latin typeface="Arial"/>
              </a:rPr>
              <a:t>WHY IT MATTERS</a:t>
            </a:r>
          </a:p>
        </p:txBody>
      </p:sp>
      <p:sp>
        <p:nvSpPr>
          <p:cNvPr id="14" name="TextBox 13"/>
          <p:cNvSpPr txBox="1"/>
          <p:nvPr/>
        </p:nvSpPr>
        <p:spPr>
          <a:xfrm>
            <a:off x="6428232" y="222199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Shifting testing left catches defects when they are cheapest to fix and keeps the mainline releasable at all times.</a:t>
            </a:r>
          </a:p>
        </p:txBody>
      </p:sp>
      <p:sp>
        <p:nvSpPr>
          <p:cNvPr id="15" name="Rectangle 14"/>
          <p:cNvSpPr/>
          <p:nvPr/>
        </p:nvSpPr>
        <p:spPr>
          <a:xfrm>
            <a:off x="6172200" y="324612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3246120"/>
            <a:ext cx="91440" cy="13258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8232" y="3355848"/>
            <a:ext cx="4782312" cy="320040"/>
          </a:xfrm>
          <a:prstGeom prst="rect">
            <a:avLst/>
          </a:prstGeom>
          <a:noFill/>
        </p:spPr>
        <p:txBody>
          <a:bodyPr wrap="square" anchor="t">
            <a:spAutoFit/>
          </a:bodyPr>
          <a:lstStyle/>
          <a:p>
            <a:pPr algn="l">
              <a:spcAft>
                <a:spcPts val="400"/>
              </a:spcAft>
            </a:pPr>
            <a:r>
              <a:rPr sz="1150" b="1">
                <a:solidFill>
                  <a:srgbClr val="C0392B"/>
                </a:solidFill>
                <a:latin typeface="Arial"/>
              </a:rPr>
              <a:t>FAILURE MODE</a:t>
            </a:r>
          </a:p>
        </p:txBody>
      </p:sp>
      <p:sp>
        <p:nvSpPr>
          <p:cNvPr id="18" name="TextBox 17"/>
          <p:cNvSpPr txBox="1"/>
          <p:nvPr/>
        </p:nvSpPr>
        <p:spPr>
          <a:xfrm>
            <a:off x="6428232" y="368503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Flaky tests train the team to ignore red builds; a pipeline everyone overrides provides no protection at all.</a:t>
            </a:r>
          </a:p>
        </p:txBody>
      </p:sp>
      <p:sp>
        <p:nvSpPr>
          <p:cNvPr id="19" name="Rectangle 18"/>
          <p:cNvSpPr/>
          <p:nvPr/>
        </p:nvSpPr>
        <p:spPr>
          <a:xfrm>
            <a:off x="6172200" y="470916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2200" y="4709160"/>
            <a:ext cx="91440" cy="1325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28232" y="4818888"/>
            <a:ext cx="4782312" cy="320040"/>
          </a:xfrm>
          <a:prstGeom prst="rect">
            <a:avLst/>
          </a:prstGeom>
          <a:noFill/>
        </p:spPr>
        <p:txBody>
          <a:bodyPr wrap="square" anchor="t">
            <a:spAutoFit/>
          </a:bodyPr>
          <a:lstStyle/>
          <a:p>
            <a:pPr algn="l">
              <a:spcAft>
                <a:spcPts val="400"/>
              </a:spcAft>
            </a:pPr>
            <a:r>
              <a:rPr sz="1150" b="1">
                <a:solidFill>
                  <a:srgbClr val="F59E0B"/>
                </a:solidFill>
                <a:latin typeface="Arial"/>
              </a:rPr>
              <a:t>TRADE-OFF / DECISION</a:t>
            </a:r>
          </a:p>
        </p:txBody>
      </p:sp>
      <p:sp>
        <p:nvSpPr>
          <p:cNvPr id="22" name="TextBox 21"/>
          <p:cNvSpPr txBox="1"/>
          <p:nvPr/>
        </p:nvSpPr>
        <p:spPr>
          <a:xfrm>
            <a:off x="6428232" y="514807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More gates raise confidence but lengthen lead time — order them fast-to-slow and fail fast on the cheapest checks.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a:t>
            </a:r>
          </a:p>
        </p:txBody>
      </p:sp>
    </p:spTree>
  </p:cSld>
  <p:clrMapOvr>
    <a:masterClrMapping/>
  </p:clrMapOvr>
  <p:transition xmlns:p14="http://schemas.microsoft.com/office/powerpoint/2010/main" p14:dur="380">
    <p:fade/>
  </p:transition>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IN DEPTH</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Choosing a deployment strategy by blast radius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51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2120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38528"/>
            <a:ext cx="4754880" cy="365760"/>
          </a:xfrm>
          <a:prstGeom prst="rect">
            <a:avLst/>
          </a:prstGeom>
          <a:noFill/>
        </p:spPr>
        <p:txBody>
          <a:bodyPr wrap="square" anchor="t">
            <a:spAutoFit/>
          </a:bodyPr>
          <a:lstStyle/>
          <a:p>
            <a:pPr algn="l">
              <a:spcAft>
                <a:spcPts val="400"/>
              </a:spcAft>
            </a:pPr>
            <a:r>
              <a:rPr sz="1200" b="1">
                <a:solidFill>
                  <a:srgbClr val="1F6FEB"/>
                </a:solidFill>
                <a:latin typeface="Arial"/>
              </a:rPr>
              <a:t>IN DEPTH</a:t>
            </a:r>
          </a:p>
        </p:txBody>
      </p:sp>
      <p:sp>
        <p:nvSpPr>
          <p:cNvPr id="10" name="TextBox 9"/>
          <p:cNvSpPr txBox="1"/>
          <p:nvPr/>
        </p:nvSpPr>
        <p:spPr>
          <a:xfrm>
            <a:off x="1005840" y="2377440"/>
            <a:ext cx="4754880" cy="3566160"/>
          </a:xfrm>
          <a:prstGeom prst="rect">
            <a:avLst/>
          </a:prstGeom>
          <a:noFill/>
        </p:spPr>
        <p:txBody>
          <a:bodyPr wrap="square">
            <a:spAutoFit/>
          </a:bodyPr>
          <a:lstStyle/>
          <a:p>
            <a:pPr>
              <a:spcAft>
                <a:spcPts val="800"/>
              </a:spcAft>
            </a:pPr>
            <a:r>
              <a:rPr sz="1350" b="0">
                <a:solidFill>
                  <a:srgbClr val="161B26"/>
                </a:solidFill>
                <a:latin typeface="Arial"/>
              </a:rPr>
              <a:t>•  In-place is simplest but updates live instances and risks downtime; rolling limits impact to a batch at a time.</a:t>
            </a:r>
          </a:p>
          <a:p>
            <a:pPr>
              <a:spcAft>
                <a:spcPts val="800"/>
              </a:spcAft>
            </a:pPr>
            <a:r>
              <a:rPr sz="1350" b="0">
                <a:solidFill>
                  <a:srgbClr val="161B26"/>
                </a:solidFill>
                <a:latin typeface="Arial"/>
              </a:rPr>
              <a:t>•  Blue/green stands up a parallel fleet and switches traffic — instant rollback by switching back.</a:t>
            </a:r>
          </a:p>
          <a:p>
            <a:pPr>
              <a:spcAft>
                <a:spcPts val="800"/>
              </a:spcAft>
            </a:pPr>
            <a:r>
              <a:rPr sz="1350" b="0">
                <a:solidFill>
                  <a:srgbClr val="161B26"/>
                </a:solidFill>
                <a:latin typeface="Arial"/>
              </a:rPr>
              <a:t>•  Canary shifts a small percentage first, watches metrics, then completes or aborts the rollout.</a:t>
            </a:r>
          </a:p>
        </p:txBody>
      </p:sp>
      <p:sp>
        <p:nvSpPr>
          <p:cNvPr id="11" name="Rectangle 10"/>
          <p:cNvSpPr/>
          <p:nvPr/>
        </p:nvSpPr>
        <p:spPr>
          <a:xfrm>
            <a:off x="6172200" y="178308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1783080"/>
            <a:ext cx="91440" cy="1325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8232" y="1892808"/>
            <a:ext cx="4782312" cy="320040"/>
          </a:xfrm>
          <a:prstGeom prst="rect">
            <a:avLst/>
          </a:prstGeom>
          <a:noFill/>
        </p:spPr>
        <p:txBody>
          <a:bodyPr wrap="square" anchor="t">
            <a:spAutoFit/>
          </a:bodyPr>
          <a:lstStyle/>
          <a:p>
            <a:pPr algn="l">
              <a:spcAft>
                <a:spcPts val="400"/>
              </a:spcAft>
            </a:pPr>
            <a:r>
              <a:rPr sz="1150" b="1">
                <a:solidFill>
                  <a:srgbClr val="1F6FEB"/>
                </a:solidFill>
                <a:latin typeface="Arial"/>
              </a:rPr>
              <a:t>WHY IT MATTERS</a:t>
            </a:r>
          </a:p>
        </p:txBody>
      </p:sp>
      <p:sp>
        <p:nvSpPr>
          <p:cNvPr id="14" name="TextBox 13"/>
          <p:cNvSpPr txBox="1"/>
          <p:nvPr/>
        </p:nvSpPr>
        <p:spPr>
          <a:xfrm>
            <a:off x="6428232" y="222199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Matching the strategy to the change's risk lets you trade release speed against how many users a bad release can touch.</a:t>
            </a:r>
          </a:p>
        </p:txBody>
      </p:sp>
      <p:sp>
        <p:nvSpPr>
          <p:cNvPr id="15" name="Rectangle 14"/>
          <p:cNvSpPr/>
          <p:nvPr/>
        </p:nvSpPr>
        <p:spPr>
          <a:xfrm>
            <a:off x="6172200" y="324612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3246120"/>
            <a:ext cx="91440" cy="13258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8232" y="3355848"/>
            <a:ext cx="4782312" cy="320040"/>
          </a:xfrm>
          <a:prstGeom prst="rect">
            <a:avLst/>
          </a:prstGeom>
          <a:noFill/>
        </p:spPr>
        <p:txBody>
          <a:bodyPr wrap="square" anchor="t">
            <a:spAutoFit/>
          </a:bodyPr>
          <a:lstStyle/>
          <a:p>
            <a:pPr algn="l">
              <a:spcAft>
                <a:spcPts val="400"/>
              </a:spcAft>
            </a:pPr>
            <a:r>
              <a:rPr sz="1150" b="1">
                <a:solidFill>
                  <a:srgbClr val="C0392B"/>
                </a:solidFill>
                <a:latin typeface="Arial"/>
              </a:rPr>
              <a:t>FAILURE MODE</a:t>
            </a:r>
          </a:p>
        </p:txBody>
      </p:sp>
      <p:sp>
        <p:nvSpPr>
          <p:cNvPr id="18" name="TextBox 17"/>
          <p:cNvSpPr txBox="1"/>
          <p:nvPr/>
        </p:nvSpPr>
        <p:spPr>
          <a:xfrm>
            <a:off x="6428232" y="368503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Blue/green without draining connections or warming caches can still cause a visible blip at cut-over.</a:t>
            </a:r>
          </a:p>
        </p:txBody>
      </p:sp>
      <p:sp>
        <p:nvSpPr>
          <p:cNvPr id="19" name="Rectangle 18"/>
          <p:cNvSpPr/>
          <p:nvPr/>
        </p:nvSpPr>
        <p:spPr>
          <a:xfrm>
            <a:off x="6172200" y="470916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2200" y="4709160"/>
            <a:ext cx="91440" cy="1325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28232" y="4818888"/>
            <a:ext cx="4782312" cy="320040"/>
          </a:xfrm>
          <a:prstGeom prst="rect">
            <a:avLst/>
          </a:prstGeom>
          <a:noFill/>
        </p:spPr>
        <p:txBody>
          <a:bodyPr wrap="square" anchor="t">
            <a:spAutoFit/>
          </a:bodyPr>
          <a:lstStyle/>
          <a:p>
            <a:pPr algn="l">
              <a:spcAft>
                <a:spcPts val="400"/>
              </a:spcAft>
            </a:pPr>
            <a:r>
              <a:rPr sz="1150" b="1">
                <a:solidFill>
                  <a:srgbClr val="F59E0B"/>
                </a:solidFill>
                <a:latin typeface="Arial"/>
              </a:rPr>
              <a:t>TRADE-OFF / DECISION</a:t>
            </a:r>
          </a:p>
        </p:txBody>
      </p:sp>
      <p:sp>
        <p:nvSpPr>
          <p:cNvPr id="22" name="TextBox 21"/>
          <p:cNvSpPr txBox="1"/>
          <p:nvPr/>
        </p:nvSpPr>
        <p:spPr>
          <a:xfrm>
            <a:off x="6428232" y="514807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Blue/green needs roughly double capacity during the shift; canary needs good metrics and automated alarms to be safe.</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a:t>
            </a:r>
          </a:p>
        </p:txBody>
      </p:sp>
    </p:spTree>
  </p:cSld>
  <p:clrMapOvr>
    <a:masterClrMapping/>
  </p:clrMapOvr>
  <p:transition xmlns:p14="http://schemas.microsoft.com/office/powerpoint/2010/main" p14:dur="380">
    <p:fade/>
  </p:transition>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IN DEPTH</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Pipeline structure — stages, actions and promotion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51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2120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38528"/>
            <a:ext cx="4754880" cy="365760"/>
          </a:xfrm>
          <a:prstGeom prst="rect">
            <a:avLst/>
          </a:prstGeom>
          <a:noFill/>
        </p:spPr>
        <p:txBody>
          <a:bodyPr wrap="square" anchor="t">
            <a:spAutoFit/>
          </a:bodyPr>
          <a:lstStyle/>
          <a:p>
            <a:pPr algn="l">
              <a:spcAft>
                <a:spcPts val="400"/>
              </a:spcAft>
            </a:pPr>
            <a:r>
              <a:rPr sz="1200" b="1">
                <a:solidFill>
                  <a:srgbClr val="1F6FEB"/>
                </a:solidFill>
                <a:latin typeface="Arial"/>
              </a:rPr>
              <a:t>IN DEPTH</a:t>
            </a:r>
          </a:p>
        </p:txBody>
      </p:sp>
      <p:sp>
        <p:nvSpPr>
          <p:cNvPr id="10" name="TextBox 9"/>
          <p:cNvSpPr txBox="1"/>
          <p:nvPr/>
        </p:nvSpPr>
        <p:spPr>
          <a:xfrm>
            <a:off x="1005840" y="2377440"/>
            <a:ext cx="4754880" cy="3566160"/>
          </a:xfrm>
          <a:prstGeom prst="rect">
            <a:avLst/>
          </a:prstGeom>
          <a:noFill/>
        </p:spPr>
        <p:txBody>
          <a:bodyPr wrap="square">
            <a:spAutoFit/>
          </a:bodyPr>
          <a:lstStyle/>
          <a:p>
            <a:pPr>
              <a:spcAft>
                <a:spcPts val="800"/>
              </a:spcAft>
            </a:pPr>
            <a:r>
              <a:rPr sz="1350" b="0">
                <a:solidFill>
                  <a:srgbClr val="161B26"/>
                </a:solidFill>
                <a:latin typeface="Arial"/>
              </a:rPr>
              <a:t>•  A pipeline is stages (Source → Build → Test → Deploy-to-Staging → Approve → Deploy-to-Prod), each containing actions that can run in parallel.</a:t>
            </a:r>
          </a:p>
          <a:p>
            <a:pPr>
              <a:spcAft>
                <a:spcPts val="800"/>
              </a:spcAft>
            </a:pPr>
            <a:r>
              <a:rPr sz="1350" b="0">
                <a:solidFill>
                  <a:srgbClr val="161B26"/>
                </a:solidFill>
                <a:latin typeface="Arial"/>
              </a:rPr>
              <a:t>•  The same immutable artifact is promoted across environments; only configuration changes between them.</a:t>
            </a:r>
          </a:p>
          <a:p>
            <a:pPr>
              <a:spcAft>
                <a:spcPts val="800"/>
              </a:spcAft>
            </a:pPr>
            <a:r>
              <a:rPr sz="1350" b="0">
                <a:solidFill>
                  <a:srgbClr val="161B26"/>
                </a:solidFill>
                <a:latin typeface="Arial"/>
              </a:rPr>
              <a:t>•  Cross-account deployment uses assumed roles so the production account trusts the pipeline without sharing credentials.</a:t>
            </a:r>
          </a:p>
        </p:txBody>
      </p:sp>
      <p:sp>
        <p:nvSpPr>
          <p:cNvPr id="11" name="Rectangle 10"/>
          <p:cNvSpPr/>
          <p:nvPr/>
        </p:nvSpPr>
        <p:spPr>
          <a:xfrm>
            <a:off x="6172200" y="178308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1783080"/>
            <a:ext cx="91440" cy="1325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8232" y="1892808"/>
            <a:ext cx="4782312" cy="320040"/>
          </a:xfrm>
          <a:prstGeom prst="rect">
            <a:avLst/>
          </a:prstGeom>
          <a:noFill/>
        </p:spPr>
        <p:txBody>
          <a:bodyPr wrap="square" anchor="t">
            <a:spAutoFit/>
          </a:bodyPr>
          <a:lstStyle/>
          <a:p>
            <a:pPr algn="l">
              <a:spcAft>
                <a:spcPts val="400"/>
              </a:spcAft>
            </a:pPr>
            <a:r>
              <a:rPr sz="1150" b="1">
                <a:solidFill>
                  <a:srgbClr val="1F6FEB"/>
                </a:solidFill>
                <a:latin typeface="Arial"/>
              </a:rPr>
              <a:t>WHY IT MATTERS</a:t>
            </a:r>
          </a:p>
        </p:txBody>
      </p:sp>
      <p:sp>
        <p:nvSpPr>
          <p:cNvPr id="14" name="TextBox 13"/>
          <p:cNvSpPr txBox="1"/>
          <p:nvPr/>
        </p:nvSpPr>
        <p:spPr>
          <a:xfrm>
            <a:off x="6428232" y="222199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Modelling promotion explicitly gives a single, auditable path to production and prevents 'works in staging, different build in prod' drift.</a:t>
            </a:r>
          </a:p>
        </p:txBody>
      </p:sp>
      <p:sp>
        <p:nvSpPr>
          <p:cNvPr id="15" name="Rectangle 14"/>
          <p:cNvSpPr/>
          <p:nvPr/>
        </p:nvSpPr>
        <p:spPr>
          <a:xfrm>
            <a:off x="6172200" y="324612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3246120"/>
            <a:ext cx="91440" cy="13258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8232" y="3355848"/>
            <a:ext cx="4782312" cy="320040"/>
          </a:xfrm>
          <a:prstGeom prst="rect">
            <a:avLst/>
          </a:prstGeom>
          <a:noFill/>
        </p:spPr>
        <p:txBody>
          <a:bodyPr wrap="square" anchor="t">
            <a:spAutoFit/>
          </a:bodyPr>
          <a:lstStyle/>
          <a:p>
            <a:pPr algn="l">
              <a:spcAft>
                <a:spcPts val="400"/>
              </a:spcAft>
            </a:pPr>
            <a:r>
              <a:rPr sz="1150" b="1">
                <a:solidFill>
                  <a:srgbClr val="C0392B"/>
                </a:solidFill>
                <a:latin typeface="Arial"/>
              </a:rPr>
              <a:t>FAILURE MODE</a:t>
            </a:r>
          </a:p>
        </p:txBody>
      </p:sp>
      <p:sp>
        <p:nvSpPr>
          <p:cNvPr id="18" name="TextBox 17"/>
          <p:cNvSpPr txBox="1"/>
          <p:nvPr/>
        </p:nvSpPr>
        <p:spPr>
          <a:xfrm>
            <a:off x="6428232" y="368503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Rebuilding per environment breaks the guarantee that what you tested is what you shipped.</a:t>
            </a:r>
          </a:p>
        </p:txBody>
      </p:sp>
      <p:sp>
        <p:nvSpPr>
          <p:cNvPr id="19" name="Rectangle 18"/>
          <p:cNvSpPr/>
          <p:nvPr/>
        </p:nvSpPr>
        <p:spPr>
          <a:xfrm>
            <a:off x="6172200" y="470916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2200" y="4709160"/>
            <a:ext cx="91440" cy="1325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28232" y="4818888"/>
            <a:ext cx="4782312" cy="320040"/>
          </a:xfrm>
          <a:prstGeom prst="rect">
            <a:avLst/>
          </a:prstGeom>
          <a:noFill/>
        </p:spPr>
        <p:txBody>
          <a:bodyPr wrap="square" anchor="t">
            <a:spAutoFit/>
          </a:bodyPr>
          <a:lstStyle/>
          <a:p>
            <a:pPr algn="l">
              <a:spcAft>
                <a:spcPts val="400"/>
              </a:spcAft>
            </a:pPr>
            <a:r>
              <a:rPr sz="1150" b="1">
                <a:solidFill>
                  <a:srgbClr val="F59E0B"/>
                </a:solidFill>
                <a:latin typeface="Arial"/>
              </a:rPr>
              <a:t>TRADE-OFF / DECISION</a:t>
            </a:r>
          </a:p>
        </p:txBody>
      </p:sp>
      <p:sp>
        <p:nvSpPr>
          <p:cNvPr id="22" name="TextBox 21"/>
          <p:cNvSpPr txBox="1"/>
          <p:nvPr/>
        </p:nvSpPr>
        <p:spPr>
          <a:xfrm>
            <a:off x="6428232" y="514807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More environments raise confidence but add cost and lead time — keep pre-prod as production-like as budget allows.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a:t>
            </a:r>
          </a:p>
        </p:txBody>
      </p:sp>
    </p:spTree>
  </p:cSld>
  <p:clrMapOvr>
    <a:masterClrMapping/>
  </p:clrMapOvr>
  <p:transition xmlns:p14="http://schemas.microsoft.com/office/powerpoint/2010/main" p14:dur="380">
    <p:fade/>
  </p:transition>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CHOOSING THE SOURCE PATH</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CI/CD Toolchain — AWS-native vs external</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339583"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6968" y="1783080"/>
            <a:ext cx="2156703" cy="502920"/>
          </a:xfrm>
          <a:prstGeom prst="rect">
            <a:avLst/>
          </a:prstGeom>
          <a:noFill/>
        </p:spPr>
        <p:txBody>
          <a:bodyPr wrap="square" anchor="ctr">
            <a:spAutoFit/>
          </a:bodyPr>
          <a:lstStyle/>
          <a:p>
            <a:pPr algn="l">
              <a:spcAft>
                <a:spcPts val="400"/>
              </a:spcAft>
            </a:pPr>
            <a:r>
              <a:rPr sz="1400" b="1">
                <a:solidFill>
                  <a:srgbClr val="FFFFFF"/>
                </a:solidFill>
                <a:latin typeface="Arial"/>
              </a:rPr>
              <a:t>Concern</a:t>
            </a:r>
          </a:p>
        </p:txBody>
      </p:sp>
      <p:sp>
        <p:nvSpPr>
          <p:cNvPr id="9" name="Rectangle 8"/>
          <p:cNvSpPr/>
          <p:nvPr/>
        </p:nvSpPr>
        <p:spPr>
          <a:xfrm>
            <a:off x="3116823" y="1783080"/>
            <a:ext cx="4253788"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26551" y="1783080"/>
            <a:ext cx="4070908" cy="502920"/>
          </a:xfrm>
          <a:prstGeom prst="rect">
            <a:avLst/>
          </a:prstGeom>
          <a:noFill/>
        </p:spPr>
        <p:txBody>
          <a:bodyPr wrap="square" anchor="ctr">
            <a:spAutoFit/>
          </a:bodyPr>
          <a:lstStyle/>
          <a:p>
            <a:pPr algn="ctr">
              <a:spcAft>
                <a:spcPts val="400"/>
              </a:spcAft>
            </a:pPr>
            <a:r>
              <a:rPr sz="1400" b="1">
                <a:solidFill>
                  <a:srgbClr val="FFFFFF"/>
                </a:solidFill>
                <a:latin typeface="Arial"/>
              </a:rPr>
              <a:t>GitHub via CodeConnections</a:t>
            </a:r>
          </a:p>
        </p:txBody>
      </p:sp>
      <p:sp>
        <p:nvSpPr>
          <p:cNvPr id="11" name="Rectangle 10"/>
          <p:cNvSpPr/>
          <p:nvPr/>
        </p:nvSpPr>
        <p:spPr>
          <a:xfrm>
            <a:off x="7370611" y="1783080"/>
            <a:ext cx="4041099"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80339" y="1783080"/>
            <a:ext cx="3858219" cy="502920"/>
          </a:xfrm>
          <a:prstGeom prst="rect">
            <a:avLst/>
          </a:prstGeom>
          <a:noFill/>
        </p:spPr>
        <p:txBody>
          <a:bodyPr wrap="square" anchor="ctr">
            <a:spAutoFit/>
          </a:bodyPr>
          <a:lstStyle/>
          <a:p>
            <a:pPr algn="ctr">
              <a:spcAft>
                <a:spcPts val="400"/>
              </a:spcAft>
            </a:pPr>
            <a:r>
              <a:rPr sz="1400" b="1">
                <a:solidFill>
                  <a:srgbClr val="FFFFFF"/>
                </a:solidFill>
                <a:latin typeface="Arial"/>
              </a:rPr>
              <a:t>AWS CodeCommit</a:t>
            </a:r>
          </a:p>
        </p:txBody>
      </p:sp>
      <p:sp>
        <p:nvSpPr>
          <p:cNvPr id="13" name="Rectangle 12"/>
          <p:cNvSpPr/>
          <p:nvPr/>
        </p:nvSpPr>
        <p:spPr>
          <a:xfrm>
            <a:off x="777240" y="2286000"/>
            <a:ext cx="2339583"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6968" y="2286000"/>
            <a:ext cx="2156703" cy="822960"/>
          </a:xfrm>
          <a:prstGeom prst="rect">
            <a:avLst/>
          </a:prstGeom>
          <a:noFill/>
        </p:spPr>
        <p:txBody>
          <a:bodyPr wrap="square" anchor="ctr">
            <a:spAutoFit/>
          </a:bodyPr>
          <a:lstStyle/>
          <a:p>
            <a:pPr algn="l">
              <a:spcAft>
                <a:spcPts val="400"/>
              </a:spcAft>
            </a:pPr>
            <a:r>
              <a:rPr sz="1250" b="1">
                <a:solidFill>
                  <a:srgbClr val="161B26"/>
                </a:solidFill>
                <a:latin typeface="Arial"/>
              </a:rPr>
              <a:t>Where new work goes</a:t>
            </a:r>
          </a:p>
        </p:txBody>
      </p:sp>
      <p:sp>
        <p:nvSpPr>
          <p:cNvPr id="15" name="Rectangle 14"/>
          <p:cNvSpPr/>
          <p:nvPr/>
        </p:nvSpPr>
        <p:spPr>
          <a:xfrm>
            <a:off x="3116823" y="2286000"/>
            <a:ext cx="4253788"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26551" y="2286000"/>
            <a:ext cx="4070908" cy="822960"/>
          </a:xfrm>
          <a:prstGeom prst="rect">
            <a:avLst/>
          </a:prstGeom>
          <a:noFill/>
        </p:spPr>
        <p:txBody>
          <a:bodyPr wrap="square" anchor="ctr">
            <a:spAutoFit/>
          </a:bodyPr>
          <a:lstStyle/>
          <a:p>
            <a:pPr algn="ctr">
              <a:spcAft>
                <a:spcPts val="400"/>
              </a:spcAft>
            </a:pPr>
            <a:r>
              <a:rPr sz="1250" b="0">
                <a:solidFill>
                  <a:srgbClr val="5B6372"/>
                </a:solidFill>
                <a:latin typeface="Arial"/>
              </a:rPr>
              <a:t>Primary, modern path</a:t>
            </a:r>
          </a:p>
        </p:txBody>
      </p:sp>
      <p:sp>
        <p:nvSpPr>
          <p:cNvPr id="17" name="Rectangle 16"/>
          <p:cNvSpPr/>
          <p:nvPr/>
        </p:nvSpPr>
        <p:spPr>
          <a:xfrm>
            <a:off x="7370611" y="2286000"/>
            <a:ext cx="4041099"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80339" y="2286000"/>
            <a:ext cx="3858219" cy="822960"/>
          </a:xfrm>
          <a:prstGeom prst="rect">
            <a:avLst/>
          </a:prstGeom>
          <a:noFill/>
        </p:spPr>
        <p:txBody>
          <a:bodyPr wrap="square" anchor="ctr">
            <a:spAutoFit/>
          </a:bodyPr>
          <a:lstStyle/>
          <a:p>
            <a:pPr algn="ctr">
              <a:spcAft>
                <a:spcPts val="400"/>
              </a:spcAft>
            </a:pPr>
            <a:r>
              <a:rPr sz="1250" b="0">
                <a:solidFill>
                  <a:srgbClr val="5B6372"/>
                </a:solidFill>
                <a:latin typeface="Arial"/>
              </a:rPr>
              <a:t>AWS-native option; not required</a:t>
            </a:r>
          </a:p>
        </p:txBody>
      </p:sp>
      <p:sp>
        <p:nvSpPr>
          <p:cNvPr id="19" name="Rectangle 18"/>
          <p:cNvSpPr/>
          <p:nvPr/>
        </p:nvSpPr>
        <p:spPr>
          <a:xfrm>
            <a:off x="777240" y="3108960"/>
            <a:ext cx="2339583"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3108960"/>
            <a:ext cx="2156703" cy="822960"/>
          </a:xfrm>
          <a:prstGeom prst="rect">
            <a:avLst/>
          </a:prstGeom>
          <a:noFill/>
        </p:spPr>
        <p:txBody>
          <a:bodyPr wrap="square" anchor="ctr">
            <a:spAutoFit/>
          </a:bodyPr>
          <a:lstStyle/>
          <a:p>
            <a:pPr algn="l">
              <a:spcAft>
                <a:spcPts val="400"/>
              </a:spcAft>
            </a:pPr>
            <a:r>
              <a:rPr sz="1250" b="1">
                <a:solidFill>
                  <a:srgbClr val="161B26"/>
                </a:solidFill>
                <a:latin typeface="Arial"/>
              </a:rPr>
              <a:t>Credentials</a:t>
            </a:r>
          </a:p>
        </p:txBody>
      </p:sp>
      <p:sp>
        <p:nvSpPr>
          <p:cNvPr id="21" name="Rectangle 20"/>
          <p:cNvSpPr/>
          <p:nvPr/>
        </p:nvSpPr>
        <p:spPr>
          <a:xfrm>
            <a:off x="3116823" y="3108960"/>
            <a:ext cx="4253788"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26551" y="3108960"/>
            <a:ext cx="4070908" cy="822960"/>
          </a:xfrm>
          <a:prstGeom prst="rect">
            <a:avLst/>
          </a:prstGeom>
          <a:noFill/>
        </p:spPr>
        <p:txBody>
          <a:bodyPr wrap="square" anchor="ctr">
            <a:spAutoFit/>
          </a:bodyPr>
          <a:lstStyle/>
          <a:p>
            <a:pPr algn="ctr">
              <a:spcAft>
                <a:spcPts val="400"/>
              </a:spcAft>
            </a:pPr>
            <a:r>
              <a:rPr sz="1250" b="0">
                <a:solidFill>
                  <a:srgbClr val="5B6372"/>
                </a:solidFill>
                <a:latin typeface="Arial"/>
              </a:rPr>
              <a:t>Managed connection (no static keys)</a:t>
            </a:r>
          </a:p>
        </p:txBody>
      </p:sp>
      <p:sp>
        <p:nvSpPr>
          <p:cNvPr id="23" name="Rectangle 22"/>
          <p:cNvSpPr/>
          <p:nvPr/>
        </p:nvSpPr>
        <p:spPr>
          <a:xfrm>
            <a:off x="7370611" y="3108960"/>
            <a:ext cx="4041099"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80339" y="3108960"/>
            <a:ext cx="3858219" cy="822960"/>
          </a:xfrm>
          <a:prstGeom prst="rect">
            <a:avLst/>
          </a:prstGeom>
          <a:noFill/>
        </p:spPr>
        <p:txBody>
          <a:bodyPr wrap="square" anchor="ctr">
            <a:spAutoFit/>
          </a:bodyPr>
          <a:lstStyle/>
          <a:p>
            <a:pPr algn="ctr">
              <a:spcAft>
                <a:spcPts val="400"/>
              </a:spcAft>
            </a:pPr>
            <a:r>
              <a:rPr sz="1250" b="0">
                <a:solidFill>
                  <a:srgbClr val="5B6372"/>
                </a:solidFill>
                <a:latin typeface="Arial"/>
              </a:rPr>
              <a:t>IAM / Git credentials</a:t>
            </a:r>
          </a:p>
        </p:txBody>
      </p:sp>
      <p:sp>
        <p:nvSpPr>
          <p:cNvPr id="25" name="Rectangle 24"/>
          <p:cNvSpPr/>
          <p:nvPr/>
        </p:nvSpPr>
        <p:spPr>
          <a:xfrm>
            <a:off x="777240" y="3931920"/>
            <a:ext cx="2339583"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6968" y="3931920"/>
            <a:ext cx="2156703" cy="822960"/>
          </a:xfrm>
          <a:prstGeom prst="rect">
            <a:avLst/>
          </a:prstGeom>
          <a:noFill/>
        </p:spPr>
        <p:txBody>
          <a:bodyPr wrap="square" anchor="ctr">
            <a:spAutoFit/>
          </a:bodyPr>
          <a:lstStyle/>
          <a:p>
            <a:pPr algn="l">
              <a:spcAft>
                <a:spcPts val="400"/>
              </a:spcAft>
            </a:pPr>
            <a:r>
              <a:rPr sz="1250" b="1">
                <a:solidFill>
                  <a:srgbClr val="161B26"/>
                </a:solidFill>
                <a:latin typeface="Arial"/>
              </a:rPr>
              <a:t>Team workflow</a:t>
            </a:r>
          </a:p>
        </p:txBody>
      </p:sp>
      <p:sp>
        <p:nvSpPr>
          <p:cNvPr id="27" name="Rectangle 26"/>
          <p:cNvSpPr/>
          <p:nvPr/>
        </p:nvSpPr>
        <p:spPr>
          <a:xfrm>
            <a:off x="3116823" y="3931920"/>
            <a:ext cx="4253788"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26551" y="3931920"/>
            <a:ext cx="4070908" cy="822960"/>
          </a:xfrm>
          <a:prstGeom prst="rect">
            <a:avLst/>
          </a:prstGeom>
          <a:noFill/>
        </p:spPr>
        <p:txBody>
          <a:bodyPr wrap="square" anchor="ctr">
            <a:spAutoFit/>
          </a:bodyPr>
          <a:lstStyle/>
          <a:p>
            <a:pPr algn="ctr">
              <a:spcAft>
                <a:spcPts val="400"/>
              </a:spcAft>
            </a:pPr>
            <a:r>
              <a:rPr sz="1250" b="0">
                <a:solidFill>
                  <a:srgbClr val="5B6372"/>
                </a:solidFill>
                <a:latin typeface="Arial"/>
              </a:rPr>
              <a:t>Existing GitHub PRs &amp; branch rules</a:t>
            </a:r>
          </a:p>
        </p:txBody>
      </p:sp>
      <p:sp>
        <p:nvSpPr>
          <p:cNvPr id="29" name="Rectangle 28"/>
          <p:cNvSpPr/>
          <p:nvPr/>
        </p:nvSpPr>
        <p:spPr>
          <a:xfrm>
            <a:off x="7370611" y="3931920"/>
            <a:ext cx="4041099"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80339" y="3931920"/>
            <a:ext cx="3858219" cy="822960"/>
          </a:xfrm>
          <a:prstGeom prst="rect">
            <a:avLst/>
          </a:prstGeom>
          <a:noFill/>
        </p:spPr>
        <p:txBody>
          <a:bodyPr wrap="square" anchor="ctr">
            <a:spAutoFit/>
          </a:bodyPr>
          <a:lstStyle/>
          <a:p>
            <a:pPr algn="ctr">
              <a:spcAft>
                <a:spcPts val="400"/>
              </a:spcAft>
            </a:pPr>
            <a:r>
              <a:rPr sz="1250" b="0">
                <a:solidFill>
                  <a:srgbClr val="5B6372"/>
                </a:solidFill>
                <a:latin typeface="Arial"/>
              </a:rPr>
              <a:t>Native Git, AWS console/IAM</a:t>
            </a:r>
          </a:p>
        </p:txBody>
      </p:sp>
      <p:sp>
        <p:nvSpPr>
          <p:cNvPr id="31" name="Rectangle 30"/>
          <p:cNvSpPr/>
          <p:nvPr/>
        </p:nvSpPr>
        <p:spPr>
          <a:xfrm>
            <a:off x="777240" y="4754880"/>
            <a:ext cx="2339583"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6968" y="4754880"/>
            <a:ext cx="2156703" cy="822960"/>
          </a:xfrm>
          <a:prstGeom prst="rect">
            <a:avLst/>
          </a:prstGeom>
          <a:noFill/>
        </p:spPr>
        <p:txBody>
          <a:bodyPr wrap="square" anchor="ctr">
            <a:spAutoFit/>
          </a:bodyPr>
          <a:lstStyle/>
          <a:p>
            <a:pPr algn="l">
              <a:spcAft>
                <a:spcPts val="400"/>
              </a:spcAft>
            </a:pPr>
            <a:r>
              <a:rPr sz="1250" b="1">
                <a:solidFill>
                  <a:srgbClr val="161B26"/>
                </a:solidFill>
                <a:latin typeface="Arial"/>
              </a:rPr>
              <a:t>Trigger</a:t>
            </a:r>
          </a:p>
        </p:txBody>
      </p:sp>
      <p:sp>
        <p:nvSpPr>
          <p:cNvPr id="33" name="Rectangle 32"/>
          <p:cNvSpPr/>
          <p:nvPr/>
        </p:nvSpPr>
        <p:spPr>
          <a:xfrm>
            <a:off x="3116823" y="4754880"/>
            <a:ext cx="4253788"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26551" y="4754880"/>
            <a:ext cx="4070908" cy="822960"/>
          </a:xfrm>
          <a:prstGeom prst="rect">
            <a:avLst/>
          </a:prstGeom>
          <a:noFill/>
        </p:spPr>
        <p:txBody>
          <a:bodyPr wrap="square" anchor="ctr">
            <a:spAutoFit/>
          </a:bodyPr>
          <a:lstStyle/>
          <a:p>
            <a:pPr algn="ctr">
              <a:spcAft>
                <a:spcPts val="400"/>
              </a:spcAft>
            </a:pPr>
            <a:r>
              <a:rPr sz="1250" b="0">
                <a:solidFill>
                  <a:srgbClr val="5B6372"/>
                </a:solidFill>
                <a:latin typeface="Arial"/>
              </a:rPr>
              <a:t>Connection webhook</a:t>
            </a:r>
          </a:p>
        </p:txBody>
      </p:sp>
      <p:sp>
        <p:nvSpPr>
          <p:cNvPr id="35" name="Rectangle 34"/>
          <p:cNvSpPr/>
          <p:nvPr/>
        </p:nvSpPr>
        <p:spPr>
          <a:xfrm>
            <a:off x="7370611" y="4754880"/>
            <a:ext cx="4041099"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80339" y="4754880"/>
            <a:ext cx="3858219" cy="822960"/>
          </a:xfrm>
          <a:prstGeom prst="rect">
            <a:avLst/>
          </a:prstGeom>
          <a:noFill/>
        </p:spPr>
        <p:txBody>
          <a:bodyPr wrap="square" anchor="ctr">
            <a:spAutoFit/>
          </a:bodyPr>
          <a:lstStyle/>
          <a:p>
            <a:pPr algn="ctr">
              <a:spcAft>
                <a:spcPts val="400"/>
              </a:spcAft>
            </a:pPr>
            <a:r>
              <a:rPr sz="1250" b="0">
                <a:solidFill>
                  <a:srgbClr val="5B6372"/>
                </a:solidFill>
                <a:latin typeface="Arial"/>
              </a:rPr>
              <a:t>CloudWatch Events / EventBridge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a:t>
            </a:r>
          </a:p>
        </p:txBody>
      </p:sp>
    </p:spTree>
  </p:cSld>
  <p:clrMapOvr>
    <a:masterClrMapping/>
  </p:clrMapOvr>
  <p:transition xmlns:p14="http://schemas.microsoft.com/office/powerpoint/2010/main" p14:dur="380">
    <p:fade/>
  </p:transition>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OPTIMISE THE BOTTLENECK</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Pipeline Lead Time by Stage — Where the Minutes Go</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828800"/>
          <a:ext cx="10634472" cy="3291840"/>
        </p:xfrm>
        <a:graphic>
          <a:graphicData uri="http://schemas.openxmlformats.org/drawingml/2006/chart">
            <c:chart xmlns:c="http://schemas.openxmlformats.org/drawingml/2006/chart" r:id="rId2"/>
          </a:graphicData>
        </a:graphic>
      </p:graphicFrame>
      <p:sp>
        <p:nvSpPr>
          <p:cNvPr id="8" name="Rectangle 7"/>
          <p:cNvSpPr/>
          <p:nvPr/>
        </p:nvSpPr>
        <p:spPr>
          <a:xfrm>
            <a:off x="777240" y="5349240"/>
            <a:ext cx="10634472" cy="868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349240"/>
            <a:ext cx="91440" cy="8686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5440680"/>
            <a:ext cx="10241280" cy="320040"/>
          </a:xfrm>
          <a:prstGeom prst="rect">
            <a:avLst/>
          </a:prstGeom>
          <a:noFill/>
        </p:spPr>
        <p:txBody>
          <a:bodyPr wrap="square" anchor="t">
            <a:spAutoFit/>
          </a:bodyPr>
          <a:lstStyle/>
          <a:p>
            <a:pPr algn="l">
              <a:spcAft>
                <a:spcPts val="400"/>
              </a:spcAft>
            </a:pPr>
            <a:r>
              <a:rPr sz="1100" b="1">
                <a:solidFill>
                  <a:srgbClr val="1F6FEB"/>
                </a:solidFill>
                <a:latin typeface="Arial"/>
              </a:rPr>
              <a:t>WHAT THE DATA SHOWS</a:t>
            </a:r>
          </a:p>
        </p:txBody>
      </p:sp>
      <p:sp>
        <p:nvSpPr>
          <p:cNvPr id="11" name="TextBox 10"/>
          <p:cNvSpPr txBox="1"/>
          <p:nvPr/>
        </p:nvSpPr>
        <p:spPr>
          <a:xfrm>
            <a:off x="1005840" y="5742432"/>
            <a:ext cx="10241280" cy="457200"/>
          </a:xfrm>
          <a:prstGeom prst="rect">
            <a:avLst/>
          </a:prstGeom>
          <a:noFill/>
        </p:spPr>
        <p:txBody>
          <a:bodyPr wrap="square" anchor="t">
            <a:spAutoFit/>
          </a:bodyPr>
          <a:lstStyle/>
          <a:p>
            <a:pPr algn="l">
              <a:spcAft>
                <a:spcPts val="400"/>
              </a:spcAft>
            </a:pPr>
            <a:r>
              <a:rPr sz="1350" b="0">
                <a:solidFill>
                  <a:srgbClr val="161B26"/>
                </a:solidFill>
                <a:latin typeface="Arial"/>
              </a:rPr>
              <a:t>Manual approval dominates lead time here — automate the checks it waits on so approval is a formality, not a bottleneck.</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a:t>
            </a:r>
          </a:p>
        </p:txBody>
      </p:sp>
    </p:spTree>
  </p:cSld>
  <p:clrMapOvr>
    <a:masterClrMapping/>
  </p:clrMapOvr>
  <p:transition xmlns:p14="http://schemas.microsoft.com/office/powerpoint/2010/main" p14:dur="380">
    <p:fade/>
  </p:transition>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BREAKS PIPELINES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CI/CD Failure Modes &amp; Anti-Patterns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10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6408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6408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Snowflake build agents</a:t>
            </a:r>
          </a:p>
          <a:p>
            <a:pPr algn="l">
              <a:spcAft>
                <a:spcPts val="300"/>
              </a:spcAft>
            </a:pPr>
            <a:r>
              <a:rPr sz="1100" b="0">
                <a:solidFill>
                  <a:srgbClr val="5B6372"/>
                </a:solidFill>
                <a:latin typeface="Arial"/>
              </a:rPr>
              <a:t>Builds pass locally, fail in CodeBuild → pin runtime-versions and build in clean containers.</a:t>
            </a:r>
          </a:p>
        </p:txBody>
      </p:sp>
      <p:sp>
        <p:nvSpPr>
          <p:cNvPr id="12" name="Rectangle 11"/>
          <p:cNvSpPr/>
          <p:nvPr/>
        </p:nvSpPr>
        <p:spPr>
          <a:xfrm>
            <a:off x="6231636" y="1783080"/>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3106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6408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6408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Secrets in source/logs</a:t>
            </a:r>
          </a:p>
          <a:p>
            <a:pPr algn="l">
              <a:spcAft>
                <a:spcPts val="300"/>
              </a:spcAft>
            </a:pPr>
            <a:r>
              <a:rPr sz="1100" b="0">
                <a:solidFill>
                  <a:srgbClr val="5B6372"/>
                </a:solidFill>
                <a:latin typeface="Arial"/>
              </a:rPr>
              <a:t>Keys committed or echoed → pull from Secrets Manager/SSM at build time; mask in logs.</a:t>
            </a:r>
          </a:p>
        </p:txBody>
      </p:sp>
      <p:sp>
        <p:nvSpPr>
          <p:cNvPr id="17" name="Rectangle 16"/>
          <p:cNvSpPr/>
          <p:nvPr/>
        </p:nvSpPr>
        <p:spPr>
          <a:xfrm>
            <a:off x="777240" y="3313176"/>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3176"/>
            <a:ext cx="91440" cy="13106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422904"/>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Flaky tests ignored</a:t>
            </a:r>
          </a:p>
          <a:p>
            <a:pPr algn="l">
              <a:spcAft>
                <a:spcPts val="300"/>
              </a:spcAft>
            </a:pPr>
            <a:r>
              <a:rPr sz="1100" b="0">
                <a:solidFill>
                  <a:srgbClr val="5B6372"/>
                </a:solidFill>
                <a:latin typeface="Arial"/>
              </a:rPr>
              <a:t>Red builds routinely overridden → quarantine and fix flaky tests; a gate you bypass is no gate.</a:t>
            </a:r>
          </a:p>
        </p:txBody>
      </p:sp>
      <p:sp>
        <p:nvSpPr>
          <p:cNvPr id="22" name="Rectangle 21"/>
          <p:cNvSpPr/>
          <p:nvPr/>
        </p:nvSpPr>
        <p:spPr>
          <a:xfrm>
            <a:off x="6231636" y="3313176"/>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3176"/>
            <a:ext cx="91440" cy="13106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422904"/>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Rebuild on promotion</a:t>
            </a:r>
          </a:p>
          <a:p>
            <a:pPr algn="l">
              <a:spcAft>
                <a:spcPts val="300"/>
              </a:spcAft>
            </a:pPr>
            <a:r>
              <a:rPr sz="1100" b="0">
                <a:solidFill>
                  <a:srgbClr val="5B6372"/>
                </a:solidFill>
                <a:latin typeface="Arial"/>
              </a:rPr>
              <a:t>Different artifact per environment → build once, promote the same artifact.</a:t>
            </a:r>
          </a:p>
        </p:txBody>
      </p:sp>
      <p:sp>
        <p:nvSpPr>
          <p:cNvPr id="27" name="Rectangle 26"/>
          <p:cNvSpPr/>
          <p:nvPr/>
        </p:nvSpPr>
        <p:spPr>
          <a:xfrm>
            <a:off x="777240" y="4843272"/>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43272"/>
            <a:ext cx="91440" cy="13106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24272"/>
            <a:ext cx="548640" cy="548640"/>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2427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953000"/>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No automated rollback</a:t>
            </a:r>
          </a:p>
          <a:p>
            <a:pPr algn="l">
              <a:spcAft>
                <a:spcPts val="300"/>
              </a:spcAft>
            </a:pPr>
            <a:r>
              <a:rPr sz="1100" b="0">
                <a:solidFill>
                  <a:srgbClr val="5B6372"/>
                </a:solidFill>
                <a:latin typeface="Arial"/>
              </a:rPr>
              <a:t>Bad deploy needs a human at 2am → alarm-based rollback on CodeDeploy.</a:t>
            </a:r>
          </a:p>
        </p:txBody>
      </p:sp>
      <p:sp>
        <p:nvSpPr>
          <p:cNvPr id="32" name="Rectangle 31"/>
          <p:cNvSpPr/>
          <p:nvPr/>
        </p:nvSpPr>
        <p:spPr>
          <a:xfrm>
            <a:off x="6231636" y="4843272"/>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43272"/>
            <a:ext cx="91440" cy="1310640"/>
          </a:xfrm>
          <a:prstGeom prst="rect">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24272"/>
            <a:ext cx="548640" cy="548640"/>
          </a:xfrm>
          <a:prstGeom prst="ellipse">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2427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953000"/>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Polling instead of webhooks</a:t>
            </a:r>
          </a:p>
          <a:p>
            <a:pPr algn="l">
              <a:spcAft>
                <a:spcPts val="300"/>
              </a:spcAft>
            </a:pPr>
            <a:r>
              <a:rPr sz="1100" b="0">
                <a:solidFill>
                  <a:srgbClr val="5B6372"/>
                </a:solidFill>
                <a:latin typeface="Arial"/>
              </a:rPr>
              <a:t>Slow, missed triggers → use the CodeConnections webhook.</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a:t>
            </a:r>
          </a:p>
        </p:txBody>
      </p:sp>
    </p:spTree>
  </p:cSld>
  <p:clrMapOvr>
    <a:masterClrMapping/>
  </p:clrMapOvr>
  <p:transition xmlns:p14="http://schemas.microsoft.com/office/powerpoint/2010/main" p14:dur="380">
    <p:fade/>
  </p:transition>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PROVEN PRACTICES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Delivery Patterns Worth Adopting</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10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6408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6408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Trunk-based development</a:t>
            </a:r>
          </a:p>
          <a:p>
            <a:pPr algn="l">
              <a:spcAft>
                <a:spcPts val="300"/>
              </a:spcAft>
            </a:pPr>
            <a:r>
              <a:rPr sz="1100" b="0">
                <a:solidFill>
                  <a:srgbClr val="5B6372"/>
                </a:solidFill>
                <a:latin typeface="Arial"/>
              </a:rPr>
              <a:t>Short-lived branches merged to trunk daily keep integration continuous.</a:t>
            </a:r>
          </a:p>
        </p:txBody>
      </p:sp>
      <p:sp>
        <p:nvSpPr>
          <p:cNvPr id="12" name="Rectangle 11"/>
          <p:cNvSpPr/>
          <p:nvPr/>
        </p:nvSpPr>
        <p:spPr>
          <a:xfrm>
            <a:off x="6231636" y="1783080"/>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3106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6408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6408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Build once, deploy many</a:t>
            </a:r>
          </a:p>
          <a:p>
            <a:pPr algn="l">
              <a:spcAft>
                <a:spcPts val="300"/>
              </a:spcAft>
            </a:pPr>
            <a:r>
              <a:rPr sz="1100" b="0">
                <a:solidFill>
                  <a:srgbClr val="5B6372"/>
                </a:solidFill>
                <a:latin typeface="Arial"/>
              </a:rPr>
              <a:t>One immutable artifact promoted across environments.</a:t>
            </a:r>
          </a:p>
        </p:txBody>
      </p:sp>
      <p:sp>
        <p:nvSpPr>
          <p:cNvPr id="17" name="Rectangle 16"/>
          <p:cNvSpPr/>
          <p:nvPr/>
        </p:nvSpPr>
        <p:spPr>
          <a:xfrm>
            <a:off x="777240" y="3313176"/>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3176"/>
            <a:ext cx="91440" cy="13106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422904"/>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Progressive delivery</a:t>
            </a:r>
          </a:p>
          <a:p>
            <a:pPr algn="l">
              <a:spcAft>
                <a:spcPts val="300"/>
              </a:spcAft>
            </a:pPr>
            <a:r>
              <a:rPr sz="1100" b="0">
                <a:solidFill>
                  <a:srgbClr val="5B6372"/>
                </a:solidFill>
                <a:latin typeface="Arial"/>
              </a:rPr>
              <a:t>Canary/blue-green with automated metric analysis before full rollout.</a:t>
            </a:r>
          </a:p>
        </p:txBody>
      </p:sp>
      <p:sp>
        <p:nvSpPr>
          <p:cNvPr id="22" name="Rectangle 21"/>
          <p:cNvSpPr/>
          <p:nvPr/>
        </p:nvSpPr>
        <p:spPr>
          <a:xfrm>
            <a:off x="6231636" y="3313176"/>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3176"/>
            <a:ext cx="91440" cy="13106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422904"/>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Pipeline as code</a:t>
            </a:r>
          </a:p>
          <a:p>
            <a:pPr algn="l">
              <a:spcAft>
                <a:spcPts val="300"/>
              </a:spcAft>
            </a:pPr>
            <a:r>
              <a:rPr sz="1100" b="0">
                <a:solidFill>
                  <a:srgbClr val="5B6372"/>
                </a:solidFill>
                <a:latin typeface="Arial"/>
              </a:rPr>
              <a:t>Define the pipeline in CloudFormation/CDK so it is versioned and reviewable.</a:t>
            </a:r>
          </a:p>
        </p:txBody>
      </p:sp>
      <p:sp>
        <p:nvSpPr>
          <p:cNvPr id="27" name="Rectangle 26"/>
          <p:cNvSpPr/>
          <p:nvPr/>
        </p:nvSpPr>
        <p:spPr>
          <a:xfrm>
            <a:off x="777240" y="4843272"/>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43272"/>
            <a:ext cx="91440" cy="13106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24272"/>
            <a:ext cx="548640" cy="548640"/>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2427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953000"/>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Fail fast</a:t>
            </a:r>
          </a:p>
          <a:p>
            <a:pPr algn="l">
              <a:spcAft>
                <a:spcPts val="300"/>
              </a:spcAft>
            </a:pPr>
            <a:r>
              <a:rPr sz="1100" b="0">
                <a:solidFill>
                  <a:srgbClr val="5B6372"/>
                </a:solidFill>
                <a:latin typeface="Arial"/>
              </a:rPr>
              <a:t>Cheapest, fastest checks first; stop the line on first failure.</a:t>
            </a:r>
          </a:p>
        </p:txBody>
      </p:sp>
      <p:sp>
        <p:nvSpPr>
          <p:cNvPr id="32" name="Rectangle 31"/>
          <p:cNvSpPr/>
          <p:nvPr/>
        </p:nvSpPr>
        <p:spPr>
          <a:xfrm>
            <a:off x="6231636" y="4843272"/>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43272"/>
            <a:ext cx="91440" cy="1310640"/>
          </a:xfrm>
          <a:prstGeom prst="rect">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24272"/>
            <a:ext cx="548640" cy="548640"/>
          </a:xfrm>
          <a:prstGeom prst="ellipse">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2427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953000"/>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Immutable infrastructure</a:t>
            </a:r>
          </a:p>
          <a:p>
            <a:pPr algn="l">
              <a:spcAft>
                <a:spcPts val="300"/>
              </a:spcAft>
            </a:pPr>
            <a:r>
              <a:rPr sz="1100" b="0">
                <a:solidFill>
                  <a:srgbClr val="5B6372"/>
                </a:solidFill>
                <a:latin typeface="Arial"/>
              </a:rPr>
              <a:t>Replace, don't patch, running servers.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a:t>
            </a:r>
          </a:p>
        </p:txBody>
      </p:sp>
    </p:spTree>
  </p:cSld>
  <p:clrMapOvr>
    <a:masterClrMapping/>
  </p:clrMapOvr>
  <p:transition xmlns:p14="http://schemas.microsoft.com/office/powerpoint/2010/main" p14:dur="380">
    <p:fade/>
  </p:transition>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CONTINUOUS DELIVERY vs DEPLOYMENT</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Architecture Decision — Approval Gate or Not?</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057400"/>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057400"/>
            <a:ext cx="457200" cy="457200"/>
          </a:xfrm>
          <a:prstGeom prst="rect">
            <a:avLst/>
          </a:prstGeom>
          <a:noFill/>
        </p:spPr>
        <p:txBody>
          <a:bodyPr wrap="square" anchor="ctr">
            <a:spAutoFit/>
          </a:bodyPr>
          <a:lstStyle/>
          <a:p>
            <a:pPr algn="ctr">
              <a:spcAft>
                <a:spcPts val="400"/>
              </a:spcAft>
            </a:pPr>
            <a:r>
              <a:rPr sz="2000" b="1">
                <a:solidFill>
                  <a:srgbClr val="FFFFFF"/>
                </a:solidFill>
                <a:latin typeface="Arial"/>
              </a:rPr>
              <a:t>A</a:t>
            </a:r>
          </a:p>
        </p:txBody>
      </p:sp>
      <p:sp>
        <p:nvSpPr>
          <p:cNvPr id="11" name="TextBox 10"/>
          <p:cNvSpPr txBox="1"/>
          <p:nvPr/>
        </p:nvSpPr>
        <p:spPr>
          <a:xfrm>
            <a:off x="1645920" y="2084831"/>
            <a:ext cx="2286000" cy="640080"/>
          </a:xfrm>
          <a:prstGeom prst="rect">
            <a:avLst/>
          </a:prstGeom>
          <a:noFill/>
        </p:spPr>
        <p:txBody>
          <a:bodyPr wrap="square" anchor="ctr">
            <a:spAutoFit/>
          </a:bodyPr>
          <a:lstStyle/>
          <a:p>
            <a:pPr algn="l">
              <a:spcAft>
                <a:spcPts val="400"/>
              </a:spcAft>
            </a:pPr>
            <a:r>
              <a:rPr sz="1450" b="1">
                <a:solidFill>
                  <a:srgbClr val="1F6FEB"/>
                </a:solidFill>
                <a:latin typeface="Arial"/>
              </a:rPr>
              <a:t>Manual approval before prod</a:t>
            </a:r>
          </a:p>
        </p:txBody>
      </p:sp>
      <p:sp>
        <p:nvSpPr>
          <p:cNvPr id="12" name="TextBox 11"/>
          <p:cNvSpPr txBox="1"/>
          <p:nvPr/>
        </p:nvSpPr>
        <p:spPr>
          <a:xfrm>
            <a:off x="1033272" y="2788920"/>
            <a:ext cx="2880360" cy="3108960"/>
          </a:xfrm>
          <a:prstGeom prst="rect">
            <a:avLst/>
          </a:prstGeom>
          <a:noFill/>
        </p:spPr>
        <p:txBody>
          <a:bodyPr wrap="square" anchor="t">
            <a:spAutoFit/>
          </a:bodyPr>
          <a:lstStyle/>
          <a:p>
            <a:pPr algn="l">
              <a:spcAft>
                <a:spcPts val="400"/>
              </a:spcAft>
            </a:pPr>
            <a:r>
              <a:rPr sz="1250" b="0">
                <a:solidFill>
                  <a:srgbClr val="161B26"/>
                </a:solidFill>
                <a:latin typeface="Arial"/>
              </a:rPr>
              <a:t>Regulated change, irreversible action, or immature test suite. Adds a control point and audit record — at the cost of queueing delay.</a:t>
            </a:r>
          </a:p>
        </p:txBody>
      </p:sp>
      <p:sp>
        <p:nvSpPr>
          <p:cNvPr id="13" name="Rectangle 12"/>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828032" y="2057400"/>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28032" y="2057400"/>
            <a:ext cx="457200" cy="457200"/>
          </a:xfrm>
          <a:prstGeom prst="rect">
            <a:avLst/>
          </a:prstGeom>
          <a:noFill/>
        </p:spPr>
        <p:txBody>
          <a:bodyPr wrap="square" anchor="ctr">
            <a:spAutoFit/>
          </a:bodyPr>
          <a:lstStyle/>
          <a:p>
            <a:pPr algn="ctr">
              <a:spcAft>
                <a:spcPts val="400"/>
              </a:spcAft>
            </a:pPr>
            <a:r>
              <a:rPr sz="2000" b="1">
                <a:solidFill>
                  <a:srgbClr val="FFFFFF"/>
                </a:solidFill>
                <a:latin typeface="Arial"/>
              </a:rPr>
              <a:t>B</a:t>
            </a:r>
          </a:p>
        </p:txBody>
      </p:sp>
      <p:sp>
        <p:nvSpPr>
          <p:cNvPr id="17" name="TextBox 16"/>
          <p:cNvSpPr txBox="1"/>
          <p:nvPr/>
        </p:nvSpPr>
        <p:spPr>
          <a:xfrm>
            <a:off x="5440680" y="2084831"/>
            <a:ext cx="2286000" cy="640080"/>
          </a:xfrm>
          <a:prstGeom prst="rect">
            <a:avLst/>
          </a:prstGeom>
          <a:noFill/>
        </p:spPr>
        <p:txBody>
          <a:bodyPr wrap="square" anchor="ctr">
            <a:spAutoFit/>
          </a:bodyPr>
          <a:lstStyle/>
          <a:p>
            <a:pPr algn="l">
              <a:spcAft>
                <a:spcPts val="400"/>
              </a:spcAft>
            </a:pPr>
            <a:r>
              <a:rPr sz="1450" b="1">
                <a:solidFill>
                  <a:srgbClr val="7C3AED"/>
                </a:solidFill>
                <a:latin typeface="Arial"/>
              </a:rPr>
              <a:t>Automated to prod</a:t>
            </a:r>
          </a:p>
        </p:txBody>
      </p:sp>
      <p:sp>
        <p:nvSpPr>
          <p:cNvPr id="18" name="TextBox 17"/>
          <p:cNvSpPr txBox="1"/>
          <p:nvPr/>
        </p:nvSpPr>
        <p:spPr>
          <a:xfrm>
            <a:off x="4828032" y="2788920"/>
            <a:ext cx="2880360" cy="3108960"/>
          </a:xfrm>
          <a:prstGeom prst="rect">
            <a:avLst/>
          </a:prstGeom>
          <a:noFill/>
        </p:spPr>
        <p:txBody>
          <a:bodyPr wrap="square" anchor="t">
            <a:spAutoFit/>
          </a:bodyPr>
          <a:lstStyle/>
          <a:p>
            <a:pPr algn="l">
              <a:spcAft>
                <a:spcPts val="400"/>
              </a:spcAft>
            </a:pPr>
            <a:r>
              <a:rPr sz="1250" b="0">
                <a:solidFill>
                  <a:srgbClr val="161B26"/>
                </a:solidFill>
                <a:latin typeface="Arial"/>
              </a:rPr>
              <a:t>High test coverage, fast rollback and progressive rollout in place. Maximises flow — requires strong alarms and canary analysis.</a:t>
            </a:r>
          </a:p>
        </p:txBody>
      </p:sp>
      <p:sp>
        <p:nvSpPr>
          <p:cNvPr id="19" name="Rectangle 18"/>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36676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622792" y="205740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22792" y="2057400"/>
            <a:ext cx="457200" cy="457200"/>
          </a:xfrm>
          <a:prstGeom prst="rect">
            <a:avLst/>
          </a:prstGeom>
          <a:noFill/>
        </p:spPr>
        <p:txBody>
          <a:bodyPr wrap="square" anchor="ctr">
            <a:spAutoFit/>
          </a:bodyPr>
          <a:lstStyle/>
          <a:p>
            <a:pPr algn="ctr">
              <a:spcAft>
                <a:spcPts val="400"/>
              </a:spcAft>
            </a:pPr>
            <a:r>
              <a:rPr sz="2000" b="1">
                <a:solidFill>
                  <a:srgbClr val="FFFFFF"/>
                </a:solidFill>
                <a:latin typeface="Arial"/>
              </a:rPr>
              <a:t>C</a:t>
            </a:r>
          </a:p>
        </p:txBody>
      </p:sp>
      <p:sp>
        <p:nvSpPr>
          <p:cNvPr id="23" name="TextBox 22"/>
          <p:cNvSpPr txBox="1"/>
          <p:nvPr/>
        </p:nvSpPr>
        <p:spPr>
          <a:xfrm>
            <a:off x="9235440" y="2084831"/>
            <a:ext cx="2286000" cy="640080"/>
          </a:xfrm>
          <a:prstGeom prst="rect">
            <a:avLst/>
          </a:prstGeom>
          <a:noFill/>
        </p:spPr>
        <p:txBody>
          <a:bodyPr wrap="square" anchor="ctr">
            <a:spAutoFit/>
          </a:bodyPr>
          <a:lstStyle/>
          <a:p>
            <a:pPr algn="l">
              <a:spcAft>
                <a:spcPts val="400"/>
              </a:spcAft>
            </a:pPr>
            <a:r>
              <a:rPr sz="1450" b="1">
                <a:solidFill>
                  <a:srgbClr val="10B981"/>
                </a:solidFill>
                <a:latin typeface="Arial"/>
              </a:rPr>
              <a:t>Hybrid</a:t>
            </a:r>
          </a:p>
        </p:txBody>
      </p:sp>
      <p:sp>
        <p:nvSpPr>
          <p:cNvPr id="24" name="TextBox 23"/>
          <p:cNvSpPr txBox="1"/>
          <p:nvPr/>
        </p:nvSpPr>
        <p:spPr>
          <a:xfrm>
            <a:off x="8622792" y="2788920"/>
            <a:ext cx="2880360" cy="3108960"/>
          </a:xfrm>
          <a:prstGeom prst="rect">
            <a:avLst/>
          </a:prstGeom>
          <a:noFill/>
        </p:spPr>
        <p:txBody>
          <a:bodyPr wrap="square" anchor="t">
            <a:spAutoFit/>
          </a:bodyPr>
          <a:lstStyle/>
          <a:p>
            <a:pPr algn="l">
              <a:spcAft>
                <a:spcPts val="400"/>
              </a:spcAft>
            </a:pPr>
            <a:r>
              <a:rPr sz="1250" b="0">
                <a:solidFill>
                  <a:srgbClr val="161B26"/>
                </a:solidFill>
                <a:latin typeface="Arial"/>
              </a:rPr>
              <a:t>Auto-deploy low-risk services; gate high-blast-radius or data-migration changes. The common enterprise middle ground.</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a:t>
            </a:r>
          </a:p>
        </p:txBody>
      </p:sp>
    </p:spTree>
  </p:cSld>
  <p:clrMapOvr>
    <a:masterClrMapping/>
  </p:clrMapOvr>
  <p:transition xmlns:p14="http://schemas.microsoft.com/office/powerpoint/2010/main" p14:dur="380">
    <p:fade/>
  </p:transition>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REASONING THROUGH THE RESPONSE</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Scenario — A bad release reaches production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91440" cy="91440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1847088"/>
            <a:ext cx="2194560" cy="320040"/>
          </a:xfrm>
          <a:prstGeom prst="rect">
            <a:avLst/>
          </a:prstGeom>
          <a:noFill/>
        </p:spPr>
        <p:txBody>
          <a:bodyPr wrap="square" anchor="t">
            <a:spAutoFit/>
          </a:bodyPr>
          <a:lstStyle/>
          <a:p>
            <a:pPr algn="l">
              <a:spcAft>
                <a:spcPts val="400"/>
              </a:spcAft>
            </a:pPr>
            <a:r>
              <a:rPr sz="1150" b="1">
                <a:solidFill>
                  <a:srgbClr val="5B6372"/>
                </a:solidFill>
                <a:latin typeface="Arial"/>
              </a:rPr>
              <a:t>SITUATION</a:t>
            </a:r>
          </a:p>
        </p:txBody>
      </p:sp>
      <p:sp>
        <p:nvSpPr>
          <p:cNvPr id="10" name="TextBox 9"/>
          <p:cNvSpPr txBox="1"/>
          <p:nvPr/>
        </p:nvSpPr>
        <p:spPr>
          <a:xfrm>
            <a:off x="1033272" y="2157984"/>
            <a:ext cx="10085832" cy="457200"/>
          </a:xfrm>
          <a:prstGeom prst="rect">
            <a:avLst/>
          </a:prstGeom>
          <a:noFill/>
        </p:spPr>
        <p:txBody>
          <a:bodyPr wrap="square" anchor="t">
            <a:spAutoFit/>
          </a:bodyPr>
          <a:lstStyle/>
          <a:p>
            <a:pPr algn="l">
              <a:spcAft>
                <a:spcPts val="400"/>
              </a:spcAft>
            </a:pPr>
            <a:r>
              <a:rPr sz="1300" b="0">
                <a:solidFill>
                  <a:srgbClr val="161B26"/>
                </a:solidFill>
                <a:latin typeface="Arial"/>
              </a:rPr>
              <a:t>A deployment passes all pipeline stages, but error rates climb 3 minutes after it reaches production.</a:t>
            </a:r>
          </a:p>
        </p:txBody>
      </p:sp>
      <p:sp>
        <p:nvSpPr>
          <p:cNvPr id="11" name="Rectangle 10"/>
          <p:cNvSpPr/>
          <p:nvPr/>
        </p:nvSpPr>
        <p:spPr>
          <a:xfrm>
            <a:off x="777240" y="2788920"/>
            <a:ext cx="10634472" cy="21945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788920"/>
            <a:ext cx="91440" cy="2194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880360"/>
            <a:ext cx="2743200" cy="320040"/>
          </a:xfrm>
          <a:prstGeom prst="rect">
            <a:avLst/>
          </a:prstGeom>
          <a:noFill/>
        </p:spPr>
        <p:txBody>
          <a:bodyPr wrap="square" anchor="t">
            <a:spAutoFit/>
          </a:bodyPr>
          <a:lstStyle/>
          <a:p>
            <a:pPr algn="l">
              <a:spcAft>
                <a:spcPts val="400"/>
              </a:spcAft>
            </a:pPr>
            <a:r>
              <a:rPr sz="1150" b="1">
                <a:solidFill>
                  <a:srgbClr val="1F6FEB"/>
                </a:solidFill>
                <a:latin typeface="Arial"/>
              </a:rPr>
              <a:t>ANALYSIS</a:t>
            </a:r>
          </a:p>
        </p:txBody>
      </p:sp>
      <p:sp>
        <p:nvSpPr>
          <p:cNvPr id="14" name="TextBox 13"/>
          <p:cNvSpPr txBox="1"/>
          <p:nvPr/>
        </p:nvSpPr>
        <p:spPr>
          <a:xfrm>
            <a:off x="1033272" y="3246120"/>
            <a:ext cx="9994392" cy="1645920"/>
          </a:xfrm>
          <a:prstGeom prst="rect">
            <a:avLst/>
          </a:prstGeom>
          <a:noFill/>
        </p:spPr>
        <p:txBody>
          <a:bodyPr wrap="square">
            <a:spAutoFit/>
          </a:bodyPr>
          <a:lstStyle/>
          <a:p>
            <a:pPr>
              <a:spcAft>
                <a:spcPts val="700"/>
              </a:spcAft>
            </a:pPr>
            <a:r>
              <a:rPr sz="1300" b="0">
                <a:solidFill>
                  <a:srgbClr val="161B26"/>
                </a:solidFill>
                <a:latin typeface="Arial"/>
              </a:rPr>
              <a:t>•  The build and unit tests were green, so the fault is environment- or scale-specific — exactly what canary analysis is designed to catch.</a:t>
            </a:r>
          </a:p>
          <a:p>
            <a:pPr>
              <a:spcAft>
                <a:spcPts val="700"/>
              </a:spcAft>
            </a:pPr>
            <a:r>
              <a:rPr sz="1300" b="0">
                <a:solidFill>
                  <a:srgbClr val="161B26"/>
                </a:solidFill>
                <a:latin typeface="Arial"/>
              </a:rPr>
              <a:t>•  Because releases use immutable, versioned artifacts, the last known-good build is one redeploy away.</a:t>
            </a:r>
          </a:p>
          <a:p>
            <a:pPr>
              <a:spcAft>
                <a:spcPts val="700"/>
              </a:spcAft>
            </a:pPr>
            <a:r>
              <a:rPr sz="1300" b="0">
                <a:solidFill>
                  <a:srgbClr val="161B26"/>
                </a:solidFill>
                <a:latin typeface="Arial"/>
              </a:rPr>
              <a:t>•  A CloudWatch alarm on error rate can trigger CodeDeploy's automatic rollback without waiting for a human.</a:t>
            </a:r>
          </a:p>
        </p:txBody>
      </p:sp>
      <p:sp>
        <p:nvSpPr>
          <p:cNvPr id="15" name="Rectangle 14"/>
          <p:cNvSpPr/>
          <p:nvPr/>
        </p:nvSpPr>
        <p:spPr>
          <a:xfrm>
            <a:off x="777240" y="5102352"/>
            <a:ext cx="10634472"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5102352"/>
            <a:ext cx="91440" cy="9601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2" y="5193792"/>
            <a:ext cx="2743200" cy="320040"/>
          </a:xfrm>
          <a:prstGeom prst="rect">
            <a:avLst/>
          </a:prstGeom>
          <a:noFill/>
        </p:spPr>
        <p:txBody>
          <a:bodyPr wrap="square" anchor="t">
            <a:spAutoFit/>
          </a:bodyPr>
          <a:lstStyle/>
          <a:p>
            <a:pPr algn="l">
              <a:spcAft>
                <a:spcPts val="400"/>
              </a:spcAft>
            </a:pPr>
            <a:r>
              <a:rPr sz="1150" b="1">
                <a:solidFill>
                  <a:srgbClr val="10B981"/>
                </a:solidFill>
                <a:latin typeface="Arial"/>
              </a:rPr>
              <a:t>DECISION</a:t>
            </a:r>
          </a:p>
        </p:txBody>
      </p:sp>
      <p:sp>
        <p:nvSpPr>
          <p:cNvPr id="18" name="TextBox 17"/>
          <p:cNvSpPr txBox="1"/>
          <p:nvPr/>
        </p:nvSpPr>
        <p:spPr>
          <a:xfrm>
            <a:off x="1033272" y="5486400"/>
            <a:ext cx="10085832" cy="548640"/>
          </a:xfrm>
          <a:prstGeom prst="rect">
            <a:avLst/>
          </a:prstGeom>
          <a:noFill/>
        </p:spPr>
        <p:txBody>
          <a:bodyPr wrap="square" anchor="t">
            <a:spAutoFit/>
          </a:bodyPr>
          <a:lstStyle/>
          <a:p>
            <a:pPr algn="l">
              <a:spcAft>
                <a:spcPts val="400"/>
              </a:spcAft>
            </a:pPr>
            <a:r>
              <a:rPr sz="1300" b="1">
                <a:solidFill>
                  <a:srgbClr val="161B26"/>
                </a:solidFill>
                <a:latin typeface="Arial"/>
              </a:rPr>
              <a:t>Wire an error-rate alarm to CodeDeploy auto-rollback and move this service to a canary configuration so the next bad change is caught at 5% of traffic, not 100%.</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a:t>
            </a:r>
          </a:p>
        </p:txBody>
      </p:sp>
    </p:spTree>
  </p:cSld>
  <p:clrMapOvr>
    <a:masterClrMapping/>
  </p:clrMapOvr>
  <p:transition xmlns:p14="http://schemas.microsoft.com/office/powerpoint/2010/main" p14:dur="380">
    <p:fade/>
  </p:transition>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OPTIMISING FEEDBACK TIME</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Scenario — Builds are too slow, developers merge less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91440" cy="91440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1847088"/>
            <a:ext cx="2194560" cy="320040"/>
          </a:xfrm>
          <a:prstGeom prst="rect">
            <a:avLst/>
          </a:prstGeom>
          <a:noFill/>
        </p:spPr>
        <p:txBody>
          <a:bodyPr wrap="square" anchor="t">
            <a:spAutoFit/>
          </a:bodyPr>
          <a:lstStyle/>
          <a:p>
            <a:pPr algn="l">
              <a:spcAft>
                <a:spcPts val="400"/>
              </a:spcAft>
            </a:pPr>
            <a:r>
              <a:rPr sz="1150" b="1">
                <a:solidFill>
                  <a:srgbClr val="5B6372"/>
                </a:solidFill>
                <a:latin typeface="Arial"/>
              </a:rPr>
              <a:t>SITUATION</a:t>
            </a:r>
          </a:p>
        </p:txBody>
      </p:sp>
      <p:sp>
        <p:nvSpPr>
          <p:cNvPr id="10" name="TextBox 9"/>
          <p:cNvSpPr txBox="1"/>
          <p:nvPr/>
        </p:nvSpPr>
        <p:spPr>
          <a:xfrm>
            <a:off x="1033272" y="2157984"/>
            <a:ext cx="10085832" cy="457200"/>
          </a:xfrm>
          <a:prstGeom prst="rect">
            <a:avLst/>
          </a:prstGeom>
          <a:noFill/>
        </p:spPr>
        <p:txBody>
          <a:bodyPr wrap="square" anchor="t">
            <a:spAutoFit/>
          </a:bodyPr>
          <a:lstStyle/>
          <a:p>
            <a:pPr algn="l">
              <a:spcAft>
                <a:spcPts val="400"/>
              </a:spcAft>
            </a:pPr>
            <a:r>
              <a:rPr sz="1300" b="0">
                <a:solidFill>
                  <a:srgbClr val="161B26"/>
                </a:solidFill>
                <a:latin typeface="Arial"/>
              </a:rPr>
              <a:t>The commit-stage build takes 25 minutes; developers batch changes to avoid the wait, so integrations get large and risky.</a:t>
            </a:r>
          </a:p>
        </p:txBody>
      </p:sp>
      <p:sp>
        <p:nvSpPr>
          <p:cNvPr id="11" name="Rectangle 10"/>
          <p:cNvSpPr/>
          <p:nvPr/>
        </p:nvSpPr>
        <p:spPr>
          <a:xfrm>
            <a:off x="777240" y="2788920"/>
            <a:ext cx="10634472" cy="21945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788920"/>
            <a:ext cx="91440" cy="2194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880360"/>
            <a:ext cx="2743200" cy="320040"/>
          </a:xfrm>
          <a:prstGeom prst="rect">
            <a:avLst/>
          </a:prstGeom>
          <a:noFill/>
        </p:spPr>
        <p:txBody>
          <a:bodyPr wrap="square" anchor="t">
            <a:spAutoFit/>
          </a:bodyPr>
          <a:lstStyle/>
          <a:p>
            <a:pPr algn="l">
              <a:spcAft>
                <a:spcPts val="400"/>
              </a:spcAft>
            </a:pPr>
            <a:r>
              <a:rPr sz="1150" b="1">
                <a:solidFill>
                  <a:srgbClr val="1F6FEB"/>
                </a:solidFill>
                <a:latin typeface="Arial"/>
              </a:rPr>
              <a:t>ANALYSIS</a:t>
            </a:r>
          </a:p>
        </p:txBody>
      </p:sp>
      <p:sp>
        <p:nvSpPr>
          <p:cNvPr id="14" name="TextBox 13"/>
          <p:cNvSpPr txBox="1"/>
          <p:nvPr/>
        </p:nvSpPr>
        <p:spPr>
          <a:xfrm>
            <a:off x="1033272" y="3246120"/>
            <a:ext cx="9994392" cy="1645920"/>
          </a:xfrm>
          <a:prstGeom prst="rect">
            <a:avLst/>
          </a:prstGeom>
          <a:noFill/>
        </p:spPr>
        <p:txBody>
          <a:bodyPr wrap="square">
            <a:spAutoFit/>
          </a:bodyPr>
          <a:lstStyle/>
          <a:p>
            <a:pPr>
              <a:spcAft>
                <a:spcPts val="700"/>
              </a:spcAft>
            </a:pPr>
            <a:r>
              <a:rPr sz="1300" b="0">
                <a:solidFill>
                  <a:srgbClr val="161B26"/>
                </a:solidFill>
                <a:latin typeface="Arial"/>
              </a:rPr>
              <a:t>•  Slow feedback is pushing the team back towards big-bang integration — the DORA lead-time and batch-size signals both degrade.</a:t>
            </a:r>
          </a:p>
          <a:p>
            <a:pPr>
              <a:spcAft>
                <a:spcPts val="700"/>
              </a:spcAft>
            </a:pPr>
            <a:r>
              <a:rPr sz="1300" b="0">
                <a:solidFill>
                  <a:srgbClr val="161B26"/>
                </a:solidFill>
                <a:latin typeface="Arial"/>
              </a:rPr>
              <a:t>•  Test suites can be split and run in parallel CodeBuild projects; dependency caching removes repeated downloads.</a:t>
            </a:r>
          </a:p>
          <a:p>
            <a:pPr>
              <a:spcAft>
                <a:spcPts val="700"/>
              </a:spcAft>
            </a:pPr>
            <a:r>
              <a:rPr sz="1300" b="0">
                <a:solidFill>
                  <a:srgbClr val="161B26"/>
                </a:solidFill>
                <a:latin typeface="Arial"/>
              </a:rPr>
              <a:t>•  Slow end-to-end tests can move to a later stage so the commit stage stays fast.</a:t>
            </a:r>
          </a:p>
        </p:txBody>
      </p:sp>
      <p:sp>
        <p:nvSpPr>
          <p:cNvPr id="15" name="Rectangle 14"/>
          <p:cNvSpPr/>
          <p:nvPr/>
        </p:nvSpPr>
        <p:spPr>
          <a:xfrm>
            <a:off x="777240" y="5102352"/>
            <a:ext cx="10634472"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5102352"/>
            <a:ext cx="91440" cy="9601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2" y="5193792"/>
            <a:ext cx="2743200" cy="320040"/>
          </a:xfrm>
          <a:prstGeom prst="rect">
            <a:avLst/>
          </a:prstGeom>
          <a:noFill/>
        </p:spPr>
        <p:txBody>
          <a:bodyPr wrap="square" anchor="t">
            <a:spAutoFit/>
          </a:bodyPr>
          <a:lstStyle/>
          <a:p>
            <a:pPr algn="l">
              <a:spcAft>
                <a:spcPts val="400"/>
              </a:spcAft>
            </a:pPr>
            <a:r>
              <a:rPr sz="1150" b="1">
                <a:solidFill>
                  <a:srgbClr val="10B981"/>
                </a:solidFill>
                <a:latin typeface="Arial"/>
              </a:rPr>
              <a:t>DECISION</a:t>
            </a:r>
          </a:p>
        </p:txBody>
      </p:sp>
      <p:sp>
        <p:nvSpPr>
          <p:cNvPr id="18" name="TextBox 17"/>
          <p:cNvSpPr txBox="1"/>
          <p:nvPr/>
        </p:nvSpPr>
        <p:spPr>
          <a:xfrm>
            <a:off x="1033272" y="5486400"/>
            <a:ext cx="10085832" cy="548640"/>
          </a:xfrm>
          <a:prstGeom prst="rect">
            <a:avLst/>
          </a:prstGeom>
          <a:noFill/>
        </p:spPr>
        <p:txBody>
          <a:bodyPr wrap="square" anchor="t">
            <a:spAutoFit/>
          </a:bodyPr>
          <a:lstStyle/>
          <a:p>
            <a:pPr algn="l">
              <a:spcAft>
                <a:spcPts val="400"/>
              </a:spcAft>
            </a:pPr>
            <a:r>
              <a:rPr sz="1300" b="1">
                <a:solidFill>
                  <a:srgbClr val="161B26"/>
                </a:solidFill>
                <a:latin typeface="Arial"/>
              </a:rPr>
              <a:t>Target a sub-10-minute commit stage: parallelise tests, cache dependencies, and defer slow suites downstream so small, frequent merges become painless again.</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a:t>
            </a:r>
          </a:p>
        </p:txBody>
      </p:sp>
    </p:spTree>
  </p:cSld>
  <p:clrMapOvr>
    <a:masterClrMapping/>
  </p:clrMapOvr>
  <p:transition xmlns:p14="http://schemas.microsoft.com/office/powerpoint/2010/main" p14:dur="380">
    <p:fade/>
  </p:transition>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FROM PRACTICE TO NUMBERS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Worked Analysis — Sizing the Impact of CI/CD</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4253788" cy="76581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73152" cy="76581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31028" y="1783080"/>
            <a:ext cx="6380684" cy="76581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8408" y="1783080"/>
            <a:ext cx="3933748" cy="765810"/>
          </a:xfrm>
          <a:prstGeom prst="rect">
            <a:avLst/>
          </a:prstGeom>
          <a:noFill/>
        </p:spPr>
        <p:txBody>
          <a:bodyPr wrap="square" anchor="ctr">
            <a:spAutoFit/>
          </a:bodyPr>
          <a:lstStyle/>
          <a:p>
            <a:pPr algn="l">
              <a:spcAft>
                <a:spcPts val="400"/>
              </a:spcAft>
            </a:pPr>
            <a:r>
              <a:rPr sz="1250" b="1">
                <a:solidFill>
                  <a:srgbClr val="161B26"/>
                </a:solidFill>
                <a:latin typeface="Arial"/>
              </a:rPr>
              <a:t>Before: 2 releases/month, 14-day lead time</a:t>
            </a:r>
          </a:p>
        </p:txBody>
      </p:sp>
      <p:sp>
        <p:nvSpPr>
          <p:cNvPr id="11" name="TextBox 10"/>
          <p:cNvSpPr txBox="1"/>
          <p:nvPr/>
        </p:nvSpPr>
        <p:spPr>
          <a:xfrm>
            <a:off x="5213908" y="1783080"/>
            <a:ext cx="6060644" cy="765810"/>
          </a:xfrm>
          <a:prstGeom prst="rect">
            <a:avLst/>
          </a:prstGeom>
          <a:noFill/>
        </p:spPr>
        <p:txBody>
          <a:bodyPr wrap="square" anchor="ctr">
            <a:spAutoFit/>
          </a:bodyPr>
          <a:lstStyle/>
          <a:p>
            <a:pPr algn="l">
              <a:spcAft>
                <a:spcPts val="400"/>
              </a:spcAft>
            </a:pPr>
            <a:r>
              <a:rPr sz="1200" b="0">
                <a:solidFill>
                  <a:srgbClr val="5B6372"/>
                </a:solidFill>
                <a:latin typeface="Arial"/>
              </a:rPr>
              <a:t>Large batches; each release bundles ~150 changes, so failures are hard to isolate.</a:t>
            </a:r>
          </a:p>
        </p:txBody>
      </p:sp>
      <p:sp>
        <p:nvSpPr>
          <p:cNvPr id="12" name="Rectangle 11"/>
          <p:cNvSpPr/>
          <p:nvPr/>
        </p:nvSpPr>
        <p:spPr>
          <a:xfrm>
            <a:off x="777240" y="2548890"/>
            <a:ext cx="4253788" cy="76581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548890"/>
            <a:ext cx="73152" cy="76581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31028" y="2548890"/>
            <a:ext cx="6380684" cy="76581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78408" y="2548890"/>
            <a:ext cx="3933748" cy="765810"/>
          </a:xfrm>
          <a:prstGeom prst="rect">
            <a:avLst/>
          </a:prstGeom>
          <a:noFill/>
        </p:spPr>
        <p:txBody>
          <a:bodyPr wrap="square" anchor="ctr">
            <a:spAutoFit/>
          </a:bodyPr>
          <a:lstStyle/>
          <a:p>
            <a:pPr algn="l">
              <a:spcAft>
                <a:spcPts val="400"/>
              </a:spcAft>
            </a:pPr>
            <a:r>
              <a:rPr sz="1250" b="1">
                <a:solidFill>
                  <a:srgbClr val="161B26"/>
                </a:solidFill>
                <a:latin typeface="Arial"/>
              </a:rPr>
              <a:t>After: 40 releases/month, ~1-day lead time</a:t>
            </a:r>
          </a:p>
        </p:txBody>
      </p:sp>
      <p:sp>
        <p:nvSpPr>
          <p:cNvPr id="16" name="TextBox 15"/>
          <p:cNvSpPr txBox="1"/>
          <p:nvPr/>
        </p:nvSpPr>
        <p:spPr>
          <a:xfrm>
            <a:off x="5213908" y="2548890"/>
            <a:ext cx="6060644" cy="765810"/>
          </a:xfrm>
          <a:prstGeom prst="rect">
            <a:avLst/>
          </a:prstGeom>
          <a:noFill/>
        </p:spPr>
        <p:txBody>
          <a:bodyPr wrap="square" anchor="ctr">
            <a:spAutoFit/>
          </a:bodyPr>
          <a:lstStyle/>
          <a:p>
            <a:pPr algn="l">
              <a:spcAft>
                <a:spcPts val="400"/>
              </a:spcAft>
            </a:pPr>
            <a:r>
              <a:rPr sz="1200" b="0">
                <a:solidFill>
                  <a:srgbClr val="5B6372"/>
                </a:solidFill>
                <a:latin typeface="Arial"/>
              </a:rPr>
              <a:t>Small batches; each release is ~7 changes, so a regression is trivially bisected.</a:t>
            </a:r>
          </a:p>
        </p:txBody>
      </p:sp>
      <p:sp>
        <p:nvSpPr>
          <p:cNvPr id="17" name="Rectangle 16"/>
          <p:cNvSpPr/>
          <p:nvPr/>
        </p:nvSpPr>
        <p:spPr>
          <a:xfrm>
            <a:off x="777240" y="3314700"/>
            <a:ext cx="4253788" cy="76581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4700"/>
            <a:ext cx="73152" cy="76581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31028" y="3314700"/>
            <a:ext cx="6380684" cy="76581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3314700"/>
            <a:ext cx="3933748" cy="765810"/>
          </a:xfrm>
          <a:prstGeom prst="rect">
            <a:avLst/>
          </a:prstGeom>
          <a:noFill/>
        </p:spPr>
        <p:txBody>
          <a:bodyPr wrap="square" anchor="ctr">
            <a:spAutoFit/>
          </a:bodyPr>
          <a:lstStyle/>
          <a:p>
            <a:pPr algn="l">
              <a:spcAft>
                <a:spcPts val="400"/>
              </a:spcAft>
            </a:pPr>
            <a:r>
              <a:rPr sz="1250" b="1">
                <a:solidFill>
                  <a:srgbClr val="161B26"/>
                </a:solidFill>
                <a:latin typeface="Arial"/>
              </a:rPr>
              <a:t>Change-failure rate 30% → 10%</a:t>
            </a:r>
          </a:p>
        </p:txBody>
      </p:sp>
      <p:sp>
        <p:nvSpPr>
          <p:cNvPr id="21" name="TextBox 20"/>
          <p:cNvSpPr txBox="1"/>
          <p:nvPr/>
        </p:nvSpPr>
        <p:spPr>
          <a:xfrm>
            <a:off x="5213908" y="3314700"/>
            <a:ext cx="6060644" cy="765810"/>
          </a:xfrm>
          <a:prstGeom prst="rect">
            <a:avLst/>
          </a:prstGeom>
          <a:noFill/>
        </p:spPr>
        <p:txBody>
          <a:bodyPr wrap="square" anchor="ctr">
            <a:spAutoFit/>
          </a:bodyPr>
          <a:lstStyle/>
          <a:p>
            <a:pPr algn="l">
              <a:spcAft>
                <a:spcPts val="400"/>
              </a:spcAft>
            </a:pPr>
            <a:r>
              <a:rPr sz="1200" b="0">
                <a:solidFill>
                  <a:srgbClr val="5B6372"/>
                </a:solidFill>
                <a:latin typeface="Arial"/>
              </a:rPr>
              <a:t>Automated gates catch defects pre-prod; progressive rollout limits blast radius.</a:t>
            </a:r>
          </a:p>
        </p:txBody>
      </p:sp>
      <p:sp>
        <p:nvSpPr>
          <p:cNvPr id="22" name="Rectangle 21"/>
          <p:cNvSpPr/>
          <p:nvPr/>
        </p:nvSpPr>
        <p:spPr>
          <a:xfrm>
            <a:off x="777240" y="4080510"/>
            <a:ext cx="4253788" cy="76581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080510"/>
            <a:ext cx="73152" cy="76581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031028" y="4080510"/>
            <a:ext cx="6380684" cy="76581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8408" y="4080510"/>
            <a:ext cx="3933748" cy="765810"/>
          </a:xfrm>
          <a:prstGeom prst="rect">
            <a:avLst/>
          </a:prstGeom>
          <a:noFill/>
        </p:spPr>
        <p:txBody>
          <a:bodyPr wrap="square" anchor="ctr">
            <a:spAutoFit/>
          </a:bodyPr>
          <a:lstStyle/>
          <a:p>
            <a:pPr algn="l">
              <a:spcAft>
                <a:spcPts val="400"/>
              </a:spcAft>
            </a:pPr>
            <a:r>
              <a:rPr sz="1250" b="1">
                <a:solidFill>
                  <a:srgbClr val="161B26"/>
                </a:solidFill>
                <a:latin typeface="Arial"/>
              </a:rPr>
              <a:t>MTTR 8h → 1h</a:t>
            </a:r>
          </a:p>
        </p:txBody>
      </p:sp>
      <p:sp>
        <p:nvSpPr>
          <p:cNvPr id="26" name="TextBox 25"/>
          <p:cNvSpPr txBox="1"/>
          <p:nvPr/>
        </p:nvSpPr>
        <p:spPr>
          <a:xfrm>
            <a:off x="5213908" y="4080510"/>
            <a:ext cx="6060644" cy="765810"/>
          </a:xfrm>
          <a:prstGeom prst="rect">
            <a:avLst/>
          </a:prstGeom>
          <a:noFill/>
        </p:spPr>
        <p:txBody>
          <a:bodyPr wrap="square" anchor="ctr">
            <a:spAutoFit/>
          </a:bodyPr>
          <a:lstStyle/>
          <a:p>
            <a:pPr algn="l">
              <a:spcAft>
                <a:spcPts val="400"/>
              </a:spcAft>
            </a:pPr>
            <a:r>
              <a:rPr sz="1200" b="0">
                <a:solidFill>
                  <a:srgbClr val="5B6372"/>
                </a:solidFill>
                <a:latin typeface="Arial"/>
              </a:rPr>
              <a:t>Versioned artifacts + alarm-based rollback make recovery a redeploy, not a rebuild.</a:t>
            </a:r>
          </a:p>
        </p:txBody>
      </p:sp>
      <p:sp>
        <p:nvSpPr>
          <p:cNvPr id="27" name="Rectangle 26"/>
          <p:cNvSpPr/>
          <p:nvPr/>
        </p:nvSpPr>
        <p:spPr>
          <a:xfrm>
            <a:off x="777240" y="5010912"/>
            <a:ext cx="10634472" cy="868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010912"/>
            <a:ext cx="91440" cy="8686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33272" y="5102352"/>
            <a:ext cx="2743200" cy="320040"/>
          </a:xfrm>
          <a:prstGeom prst="rect">
            <a:avLst/>
          </a:prstGeom>
          <a:noFill/>
        </p:spPr>
        <p:txBody>
          <a:bodyPr wrap="square" anchor="t">
            <a:spAutoFit/>
          </a:bodyPr>
          <a:lstStyle/>
          <a:p>
            <a:pPr algn="l">
              <a:spcAft>
                <a:spcPts val="400"/>
              </a:spcAft>
            </a:pPr>
            <a:r>
              <a:rPr sz="1150" b="1">
                <a:solidFill>
                  <a:srgbClr val="10B981"/>
                </a:solidFill>
                <a:latin typeface="Arial"/>
              </a:rPr>
              <a:t>TAKEAWAY</a:t>
            </a:r>
          </a:p>
        </p:txBody>
      </p:sp>
      <p:sp>
        <p:nvSpPr>
          <p:cNvPr id="30" name="TextBox 29"/>
          <p:cNvSpPr txBox="1"/>
          <p:nvPr/>
        </p:nvSpPr>
        <p:spPr>
          <a:xfrm>
            <a:off x="1033272" y="5394960"/>
            <a:ext cx="10085832" cy="457200"/>
          </a:xfrm>
          <a:prstGeom prst="rect">
            <a:avLst/>
          </a:prstGeom>
          <a:noFill/>
        </p:spPr>
        <p:txBody>
          <a:bodyPr wrap="square" anchor="t">
            <a:spAutoFit/>
          </a:bodyPr>
          <a:lstStyle/>
          <a:p>
            <a:pPr algn="l">
              <a:spcAft>
                <a:spcPts val="400"/>
              </a:spcAft>
            </a:pPr>
            <a:r>
              <a:rPr sz="1300" b="1">
                <a:solidFill>
                  <a:srgbClr val="161B26"/>
                </a:solidFill>
                <a:latin typeface="Arial"/>
              </a:rPr>
              <a:t>The gain is not just speed — smaller batches make every DORA metric move together: deploy more often, recover faster, fail less.</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a:t>
            </a:r>
          </a:p>
        </p:txBody>
      </p:sp>
    </p:spTree>
  </p:cSld>
  <p:clrMapOvr>
    <a:masterClrMapping/>
  </p:clrMapOvr>
  <p:transition xmlns:p14="http://schemas.microsoft.com/office/powerpoint/2010/main" p14:dur="380">
    <p:fade/>
  </p:transition>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GITHUB/CODECONNECTIONS · CODEARTIFACT · ECR</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AWS foundations: Source and package governance</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PURPOSE</a:t>
            </a:r>
          </a:p>
          <a:p>
            <a:pPr algn="l">
              <a:spcAft>
                <a:spcPts val="300"/>
              </a:spcAft>
            </a:pPr>
            <a:r>
              <a:rPr sz="1050" b="0">
                <a:solidFill>
                  <a:srgbClr val="5B6372"/>
                </a:solidFill>
                <a:latin typeface="Arial"/>
              </a:rPr>
              <a:t>Control how source, dependencies and container images enter the delivery system.</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FEATURE 1</a:t>
            </a:r>
          </a:p>
          <a:p>
            <a:pPr algn="l">
              <a:spcAft>
                <a:spcPts val="300"/>
              </a:spcAft>
            </a:pPr>
            <a:r>
              <a:rPr sz="1050" b="0">
                <a:solidFill>
                  <a:srgbClr val="5B6372"/>
                </a:solidFill>
                <a:latin typeface="Arial"/>
              </a:rPr>
              <a:t>Repository events and protected branches trigger delivery without long-lived credentials.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FEATURE 2</a:t>
            </a:r>
          </a:p>
          <a:p>
            <a:pPr algn="l">
              <a:spcAft>
                <a:spcPts val="300"/>
              </a:spcAft>
            </a:pPr>
            <a:r>
              <a:rPr sz="1050" b="0">
                <a:solidFill>
                  <a:srgbClr val="5B6372"/>
                </a:solidFill>
                <a:latin typeface="Arial"/>
              </a:rPr>
              <a:t>CodeArtifact domains and repositories proxy, version and retain language packages.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FEATURE 3</a:t>
            </a:r>
          </a:p>
          <a:p>
            <a:pPr algn="l">
              <a:spcAft>
                <a:spcPts val="300"/>
              </a:spcAft>
            </a:pPr>
            <a:r>
              <a:rPr sz="1050" b="0">
                <a:solidFill>
                  <a:srgbClr val="5B6372"/>
                </a:solidFill>
                <a:latin typeface="Arial"/>
              </a:rPr>
              <a:t>ECR stores immutable image digests, supports lifecycle rules and exposes scan findings.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a:t>
            </a:r>
          </a:p>
        </p:txBody>
      </p:sp>
    </p:spTree>
  </p:cSld>
  <p:clrMapOvr>
    <a:masterClrMapping/>
  </p:clrMapOvr>
  <p:transition xmlns:p14="http://schemas.microsoft.com/office/powerpoint/2010/main" p14:dur="380">
    <p:fade/>
  </p:transition>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SERVICE DECISION</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700" b="1">
                <a:solidFill>
                  <a:srgbClr val="161B26"/>
                </a:solidFill>
                <a:latin typeface="Arial"/>
              </a:rPr>
              <a:t>Source and package governance: selection and controls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CHOOSE WHEN</a:t>
            </a:r>
          </a:p>
          <a:p>
            <a:pPr algn="l">
              <a:spcAft>
                <a:spcPts val="300"/>
              </a:spcAft>
            </a:pPr>
            <a:r>
              <a:rPr sz="1050" b="0">
                <a:solidFill>
                  <a:srgbClr val="5B6372"/>
                </a:solidFill>
                <a:latin typeface="Arial"/>
              </a:rPr>
              <a:t>Use source connections for event-driven repository access, CodeArtifact for governed packages, and ECR for OCI images.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DEVOPS ENGINEERING</a:t>
            </a:r>
          </a:p>
          <a:p>
            <a:pPr algn="l">
              <a:spcAft>
                <a:spcPts val="300"/>
              </a:spcAft>
            </a:pPr>
            <a:r>
              <a:rPr sz="1050" b="0">
                <a:solidFill>
                  <a:srgbClr val="5B6372"/>
                </a:solidFill>
                <a:latin typeface="Arial"/>
              </a:rPr>
              <a:t>Pin versions/digests, enforce review, generate an SBOM where required and promote the same artifact between environments.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MODE</a:t>
            </a:r>
          </a:p>
          <a:p>
            <a:pPr algn="l">
              <a:spcAft>
                <a:spcPts val="300"/>
              </a:spcAft>
            </a:pPr>
            <a:r>
              <a:rPr sz="1050" b="0">
                <a:solidFill>
                  <a:srgbClr val="5B6372"/>
                </a:solidFill>
                <a:latin typeface="Arial"/>
              </a:rPr>
              <a:t>Mutable tags, unpinned dependencies or broad repository tokens break provenance and repeatability.</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EVIDENCE</a:t>
            </a:r>
          </a:p>
          <a:p>
            <a:pPr algn="l">
              <a:spcAft>
                <a:spcPts val="300"/>
              </a:spcAft>
            </a:pPr>
            <a:r>
              <a:rPr sz="1050" b="0">
                <a:solidFill>
                  <a:srgbClr val="5B6372"/>
                </a:solidFill>
                <a:latin typeface="Arial"/>
              </a:rPr>
              <a:t>Commit SHA, approval, package version, image digest, scan result and promotion record.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a:t>
            </a:r>
          </a:p>
        </p:txBody>
      </p:sp>
    </p:spTree>
  </p:cSld>
  <p:clrMapOvr>
    <a:masterClrMapping/>
  </p:clrMapOvr>
  <p:transition xmlns:p14="http://schemas.microsoft.com/office/powerpoint/2010/main" p14:dur="380">
    <p:fade/>
  </p:transition>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CODEPIPELINE · CODEBUILD · S3</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AWS foundations: Build and pipeline orchestration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PURPOSE</a:t>
            </a:r>
          </a:p>
          <a:p>
            <a:pPr algn="l">
              <a:spcAft>
                <a:spcPts val="300"/>
              </a:spcAft>
            </a:pPr>
            <a:r>
              <a:rPr sz="1050" b="0">
                <a:solidFill>
                  <a:srgbClr val="5B6372"/>
                </a:solidFill>
                <a:latin typeface="Arial"/>
              </a:rPr>
              <a:t>Turn a source revision into tested, signed and traceable release artifacts.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FEATURE 1</a:t>
            </a:r>
          </a:p>
          <a:p>
            <a:pPr algn="l">
              <a:spcAft>
                <a:spcPts val="300"/>
              </a:spcAft>
            </a:pPr>
            <a:r>
              <a:rPr sz="1050" b="0">
                <a:solidFill>
                  <a:srgbClr val="5B6372"/>
                </a:solidFill>
                <a:latin typeface="Arial"/>
              </a:rPr>
              <a:t>CodePipeline sequences source, build, test, approval and deploy actions with stage transitions.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FEATURE 2</a:t>
            </a:r>
          </a:p>
          <a:p>
            <a:pPr algn="l">
              <a:spcAft>
                <a:spcPts val="300"/>
              </a:spcAft>
            </a:pPr>
            <a:r>
              <a:rPr sz="1050" b="0">
                <a:solidFill>
                  <a:srgbClr val="5B6372"/>
                </a:solidFill>
                <a:latin typeface="Arial"/>
              </a:rPr>
              <a:t>CodeBuild uses ephemeral environments, buildspec phases, reports, caches and exported variables.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FEATURE 3</a:t>
            </a:r>
          </a:p>
          <a:p>
            <a:pPr algn="l">
              <a:spcAft>
                <a:spcPts val="300"/>
              </a:spcAft>
            </a:pPr>
            <a:r>
              <a:rPr sz="1050" b="0">
                <a:solidFill>
                  <a:srgbClr val="5B6372"/>
                </a:solidFill>
                <a:latin typeface="Arial"/>
              </a:rPr>
              <a:t>Versioned/encrypted S3 artifact stores preserve hand-offs between pipeline actions.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a:t>
            </a:r>
          </a:p>
        </p:txBody>
      </p:sp>
    </p:spTree>
  </p:cSld>
  <p:clrMapOvr>
    <a:masterClrMapping/>
  </p:clrMapOvr>
  <p:transition xmlns:p14="http://schemas.microsoft.com/office/powerpoint/2010/main" p14:dur="380">
    <p:fade/>
  </p:transition>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SERVICE DECISION</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Build and pipeline orchestration: selection and controls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CHOOSE WHEN</a:t>
            </a:r>
          </a:p>
          <a:p>
            <a:pPr algn="l">
              <a:spcAft>
                <a:spcPts val="300"/>
              </a:spcAft>
            </a:pPr>
            <a:r>
              <a:rPr sz="1050" b="0">
                <a:solidFill>
                  <a:srgbClr val="5B6372"/>
                </a:solidFill>
                <a:latin typeface="Arial"/>
              </a:rPr>
              <a:t>Use CodePipeline for managed orchestration and CodeBuild when a reproducible build/test environment is needed.</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DEVOPS ENGINEERING</a:t>
            </a:r>
          </a:p>
          <a:p>
            <a:pPr algn="l">
              <a:spcAft>
                <a:spcPts val="300"/>
              </a:spcAft>
            </a:pPr>
            <a:r>
              <a:rPr sz="1050" b="0">
                <a:solidFill>
                  <a:srgbClr val="5B6372"/>
                </a:solidFill>
                <a:latin typeface="Arial"/>
              </a:rPr>
              <a:t>Fail fast on test/security gates, isolate service roles, encrypt artifacts and make rollback reference an immutable build.</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MODE</a:t>
            </a:r>
          </a:p>
          <a:p>
            <a:pPr algn="l">
              <a:spcAft>
                <a:spcPts val="300"/>
              </a:spcAft>
            </a:pPr>
            <a:r>
              <a:rPr sz="1050" b="0">
                <a:solidFill>
                  <a:srgbClr val="5B6372"/>
                </a:solidFill>
                <a:latin typeface="Arial"/>
              </a:rPr>
              <a:t>A green pipeline that does not retain test evidence or artifact identity cannot prove what was deployed.</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EVIDENCE</a:t>
            </a:r>
          </a:p>
          <a:p>
            <a:pPr algn="l">
              <a:spcAft>
                <a:spcPts val="300"/>
              </a:spcAft>
            </a:pPr>
            <a:r>
              <a:rPr sz="1050" b="0">
                <a:solidFill>
                  <a:srgbClr val="5B6372"/>
                </a:solidFill>
                <a:latin typeface="Arial"/>
              </a:rPr>
              <a:t>Pipeline execution ID, build logs, test report, artifact checksum, approval and deployment ID.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a:t>
            </a:r>
          </a:p>
        </p:txBody>
      </p:sp>
    </p:spTree>
  </p:cSld>
  <p:clrMapOvr>
    <a:masterClrMapping/>
  </p:clrMapOvr>
  <p:transition xmlns:p14="http://schemas.microsoft.com/office/powerpoint/2010/main" p14:dur="380">
    <p:fade/>
  </p:transition>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CODEDEPLOY · ELASTIC BEANSTALK · ECS · LAMBDA</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AWS foundations: Deployment services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PURPOSE</a:t>
            </a:r>
          </a:p>
          <a:p>
            <a:pPr algn="l">
              <a:spcAft>
                <a:spcPts val="300"/>
              </a:spcAft>
            </a:pPr>
            <a:r>
              <a:rPr sz="1050" b="0">
                <a:solidFill>
                  <a:srgbClr val="5B6372"/>
                </a:solidFill>
                <a:latin typeface="Arial"/>
              </a:rPr>
              <a:t>Release applications with a strategy matched to compute model, capacity and user-impact tolerance.</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FEATURE 1</a:t>
            </a:r>
          </a:p>
          <a:p>
            <a:pPr algn="l">
              <a:spcAft>
                <a:spcPts val="300"/>
              </a:spcAft>
            </a:pPr>
            <a:r>
              <a:rPr sz="1050" b="0">
                <a:solidFill>
                  <a:srgbClr val="5B6372"/>
                </a:solidFill>
                <a:latin typeface="Arial"/>
              </a:rPr>
              <a:t>CodeDeploy coordinates in-place or blue/green deployments and lifecycle hooks.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FEATURE 2</a:t>
            </a:r>
          </a:p>
          <a:p>
            <a:pPr algn="l">
              <a:spcAft>
                <a:spcPts val="300"/>
              </a:spcAft>
            </a:pPr>
            <a:r>
              <a:rPr sz="1050" b="0">
                <a:solidFill>
                  <a:srgbClr val="5B6372"/>
                </a:solidFill>
                <a:latin typeface="Arial"/>
              </a:rPr>
              <a:t>Elastic Beanstalk manages application environments, versions, health and platform updates.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FEATURE 3</a:t>
            </a:r>
          </a:p>
          <a:p>
            <a:pPr algn="l">
              <a:spcAft>
                <a:spcPts val="300"/>
              </a:spcAft>
            </a:pPr>
            <a:r>
              <a:rPr sz="1050" b="0">
                <a:solidFill>
                  <a:srgbClr val="5B6372"/>
                </a:solidFill>
                <a:latin typeface="Arial"/>
              </a:rPr>
              <a:t>ECS services and Lambda aliases support rolling, blue/green or weighted traffic strategies.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a:t>
            </a:r>
          </a:p>
        </p:txBody>
      </p:sp>
    </p:spTree>
  </p:cSld>
  <p:clrMapOvr>
    <a:masterClrMapping/>
  </p:clrMapOvr>
  <p:transition xmlns:p14="http://schemas.microsoft.com/office/powerpoint/2010/main" p14:dur="380">
    <p:fade/>
  </p:transition>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SERVICE DECISION</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Deployment services: selection and controls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CHOOSE WHEN</a:t>
            </a:r>
          </a:p>
          <a:p>
            <a:pPr algn="l">
              <a:spcAft>
                <a:spcPts val="300"/>
              </a:spcAft>
            </a:pPr>
            <a:r>
              <a:rPr sz="1050" b="0">
                <a:solidFill>
                  <a:srgbClr val="5B6372"/>
                </a:solidFill>
                <a:latin typeface="Arial"/>
              </a:rPr>
              <a:t>Choose the target-native mechanism, then select all-at-once, rolling, linear, canary or blue/green from the recovery objective.</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DEVOPS ENGINEERING</a:t>
            </a:r>
          </a:p>
          <a:p>
            <a:pPr algn="l">
              <a:spcAft>
                <a:spcPts val="300"/>
              </a:spcAft>
            </a:pPr>
            <a:r>
              <a:rPr sz="1050" b="0">
                <a:solidFill>
                  <a:srgbClr val="5B6372"/>
                </a:solidFill>
                <a:latin typeface="Arial"/>
              </a:rPr>
              <a:t>Define health checks, minimum healthy capacity, alarms, hook timeouts and automatic rollback before promotion.</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MODE</a:t>
            </a:r>
          </a:p>
          <a:p>
            <a:pPr algn="l">
              <a:spcAft>
                <a:spcPts val="300"/>
              </a:spcAft>
            </a:pPr>
            <a:r>
              <a:rPr sz="1050" b="0">
                <a:solidFill>
                  <a:srgbClr val="5B6372"/>
                </a:solidFill>
                <a:latin typeface="Arial"/>
              </a:rPr>
              <a:t>Traffic shifting without representative health signals can promote a release that is technically alive but unusable.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EVIDENCE</a:t>
            </a:r>
          </a:p>
          <a:p>
            <a:pPr algn="l">
              <a:spcAft>
                <a:spcPts val="300"/>
              </a:spcAft>
            </a:pPr>
            <a:r>
              <a:rPr sz="1050" b="0">
                <a:solidFill>
                  <a:srgbClr val="5B6372"/>
                </a:solidFill>
                <a:latin typeface="Arial"/>
              </a:rPr>
              <a:t>Deployment configuration, target health, alarm state, hook logs, traffic weights and rollback event.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a:t>
            </a:r>
          </a:p>
        </p:txBody>
      </p:sp>
    </p:spTree>
  </p:cSld>
  <p:clrMapOvr>
    <a:masterClrMapping/>
  </p:clrMapOvr>
  <p:transition xmlns:p14="http://schemas.microsoft.com/office/powerpoint/2010/main" p14:dur="380">
    <p:fade/>
  </p:transition>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LAMBDA · SAM · ECR · ECS/FARGATE · EKS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AWS foundations: Serverless and container delivery</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PURPOSE</a:t>
            </a:r>
          </a:p>
          <a:p>
            <a:pPr algn="l">
              <a:spcAft>
                <a:spcPts val="300"/>
              </a:spcAft>
            </a:pPr>
            <a:r>
              <a:rPr sz="1050" b="0">
                <a:solidFill>
                  <a:srgbClr val="5B6372"/>
                </a:solidFill>
                <a:latin typeface="Arial"/>
              </a:rPr>
              <a:t>Package and operate event-driven functions or container workloads with consistent release evidence.</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FEATURE 1</a:t>
            </a:r>
          </a:p>
          <a:p>
            <a:pPr algn="l">
              <a:spcAft>
                <a:spcPts val="300"/>
              </a:spcAft>
            </a:pPr>
            <a:r>
              <a:rPr sz="1050" b="0">
                <a:solidFill>
                  <a:srgbClr val="5B6372"/>
                </a:solidFill>
                <a:latin typeface="Arial"/>
              </a:rPr>
              <a:t>Lambda versions and aliases give immutable function revisions and weighted routing.</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FEATURE 2</a:t>
            </a:r>
          </a:p>
          <a:p>
            <a:pPr algn="l">
              <a:spcAft>
                <a:spcPts val="300"/>
              </a:spcAft>
            </a:pPr>
            <a:r>
              <a:rPr sz="1050" b="0">
                <a:solidFill>
                  <a:srgbClr val="5B6372"/>
                </a:solidFill>
                <a:latin typeface="Arial"/>
              </a:rPr>
              <a:t>SAM expands serverless resources and deployment preferences through CloudFormation.</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FEATURE 3</a:t>
            </a:r>
          </a:p>
          <a:p>
            <a:pPr algn="l">
              <a:spcAft>
                <a:spcPts val="300"/>
              </a:spcAft>
            </a:pPr>
            <a:r>
              <a:rPr sz="1050" b="0">
                <a:solidFill>
                  <a:srgbClr val="5B6372"/>
                </a:solidFill>
                <a:latin typeface="Arial"/>
              </a:rPr>
              <a:t>ECS/Fargate reduces host management; EKS provides Kubernetes APIs with greater operational responsibility.</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a:t>
            </a:r>
          </a:p>
        </p:txBody>
      </p:sp>
    </p:spTree>
  </p:cSld>
  <p:clrMapOvr>
    <a:masterClrMapping/>
  </p:clrMapOvr>
  <p:transition xmlns:p14="http://schemas.microsoft.com/office/powerpoint/2010/main" p14:dur="380">
    <p:fade/>
  </p:transition>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SERVICE DECISION</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700" b="1">
                <a:solidFill>
                  <a:srgbClr val="161B26"/>
                </a:solidFill>
                <a:latin typeface="Arial"/>
              </a:rPr>
              <a:t>Serverless and container delivery: selection and controls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CHOOSE WHEN</a:t>
            </a:r>
          </a:p>
          <a:p>
            <a:pPr algn="l">
              <a:spcAft>
                <a:spcPts val="300"/>
              </a:spcAft>
            </a:pPr>
            <a:r>
              <a:rPr sz="1050" b="0">
                <a:solidFill>
                  <a:srgbClr val="5B6372"/>
                </a:solidFill>
                <a:latin typeface="Arial"/>
              </a:rPr>
              <a:t>Prefer Lambda for short event-driven execution, ECS/Fargate for managed container orchestration, and EKS when Kubernetes compatibility is a real requirement.</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DEVOPS ENGINEERING</a:t>
            </a:r>
          </a:p>
          <a:p>
            <a:pPr algn="l">
              <a:spcAft>
                <a:spcPts val="300"/>
              </a:spcAft>
            </a:pPr>
            <a:r>
              <a:rPr sz="1050" b="0">
                <a:solidFill>
                  <a:srgbClr val="5B6372"/>
                </a:solidFill>
                <a:latin typeface="Arial"/>
              </a:rPr>
              <a:t>Scan images, pin digests, externalise configuration, constrain task/function roles and test startup, readiness and rollback.</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MODE</a:t>
            </a:r>
          </a:p>
          <a:p>
            <a:pPr algn="l">
              <a:spcAft>
                <a:spcPts val="300"/>
              </a:spcAft>
            </a:pPr>
            <a:r>
              <a:rPr sz="1050" b="0">
                <a:solidFill>
                  <a:srgbClr val="5B6372"/>
                </a:solidFill>
                <a:latin typeface="Arial"/>
              </a:rPr>
              <a:t>Selecting EKS only for portability can add control-plane, add-on and upgrade burden without business value.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EVIDENCE</a:t>
            </a:r>
          </a:p>
          <a:p>
            <a:pPr algn="l">
              <a:spcAft>
                <a:spcPts val="300"/>
              </a:spcAft>
            </a:pPr>
            <a:r>
              <a:rPr sz="1050" b="0">
                <a:solidFill>
                  <a:srgbClr val="5B6372"/>
                </a:solidFill>
                <a:latin typeface="Arial"/>
              </a:rPr>
              <a:t>Function version/image digest, task definition, policy diff, deployment state, health metrics and rollback proof.</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a:t>
            </a:r>
          </a:p>
        </p:txBody>
      </p:sp>
    </p:spTree>
  </p:cSld>
  <p:clrMapOvr>
    <a:masterClrMapping/>
  </p:clrMapOvr>
  <p:transition xmlns:p14="http://schemas.microsoft.com/office/powerpoint/2010/main" p14:dur="380">
    <p:fade/>
  </p:transition>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AWS DEVELOPER SERVICES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700" b="1">
                <a:solidFill>
                  <a:srgbClr val="161B26"/>
                </a:solidFill>
                <a:latin typeface="Arial"/>
              </a:rPr>
              <a:t>Developer deep dive: AWS CLI and SDK execution model</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PURPOSE</a:t>
            </a:r>
          </a:p>
          <a:p>
            <a:pPr algn="l">
              <a:spcAft>
                <a:spcPts val="300"/>
              </a:spcAft>
            </a:pPr>
            <a:r>
              <a:rPr sz="1050" b="0">
                <a:solidFill>
                  <a:srgbClr val="5B6372"/>
                </a:solidFill>
                <a:latin typeface="Arial"/>
              </a:rPr>
              <a:t>Automate AWS API calls without embedding permanent credentials or hiding retry, pagination and regional behavior.</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SERVICE BOUNDARY</a:t>
            </a:r>
          </a:p>
          <a:p>
            <a:pPr algn="l">
              <a:spcAft>
                <a:spcPts val="300"/>
              </a:spcAft>
            </a:pPr>
            <a:r>
              <a:rPr sz="1050" b="0">
                <a:solidFill>
                  <a:srgbClr val="5B6372"/>
                </a:solidFill>
                <a:latin typeface="Arial"/>
              </a:rPr>
              <a:t>AWS CLI v2 · AWS SDKs · STS · IAM Identity Center</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PRIMARY DESIGN DECISION</a:t>
            </a:r>
          </a:p>
          <a:p>
            <a:pPr algn="l">
              <a:spcAft>
                <a:spcPts val="300"/>
              </a:spcAft>
            </a:pPr>
            <a:r>
              <a:rPr sz="1050" b="0">
                <a:solidFill>
                  <a:srgbClr val="5B6372"/>
                </a:solidFill>
                <a:latin typeface="Arial"/>
              </a:rPr>
              <a:t>Use named SSO profiles locally and a CodeBuild service role in CI; resolve account/Region at runtime and log request IDs without logging credentials.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BOUNDARY</a:t>
            </a:r>
          </a:p>
          <a:p>
            <a:pPr algn="l">
              <a:spcAft>
                <a:spcPts val="300"/>
              </a:spcAft>
            </a:pPr>
            <a:r>
              <a:rPr sz="1050" b="0">
                <a:solidFill>
                  <a:srgbClr val="5B6372"/>
                </a:solidFill>
                <a:latin typeface="Arial"/>
              </a:rPr>
              <a:t>An implicit default profile can deploy to the wrong account, while unbounded retries can duplicate non-idempotent changes.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a:t>
            </a:r>
          </a:p>
        </p:txBody>
      </p:sp>
    </p:spTree>
  </p:cSld>
  <p:clrMapOvr>
    <a:masterClrMapping/>
  </p:clrMapOvr>
  <p:transition xmlns:p14="http://schemas.microsoft.com/office/powerpoint/2010/main" p14:dur="380">
    <p:fade/>
  </p:transition>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SERVICE MECHANICS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AWS CLI and SDK execution model: how it works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1</a:t>
            </a:r>
          </a:p>
          <a:p>
            <a:pPr algn="l">
              <a:spcAft>
                <a:spcPts val="300"/>
              </a:spcAft>
            </a:pPr>
            <a:r>
              <a:rPr sz="1050" b="0">
                <a:solidFill>
                  <a:srgbClr val="5B6372"/>
                </a:solidFill>
                <a:latin typeface="Arial"/>
              </a:rPr>
              <a:t>The credential provider chain searches explicit configuration, environment, shared profiles, container or instance roles; production code should normally end at a workload role.</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2</a:t>
            </a:r>
          </a:p>
          <a:p>
            <a:pPr algn="l">
              <a:spcAft>
                <a:spcPts val="300"/>
              </a:spcAft>
            </a:pPr>
            <a:r>
              <a:rPr sz="1050" b="0">
                <a:solidFill>
                  <a:srgbClr val="5B6372"/>
                </a:solidFill>
                <a:latin typeface="Arial"/>
              </a:rPr>
              <a:t>A client is Region-specific and signs each request with SigV4; the Region therefore affects endpoint, resource availability and the authorization scope.</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3</a:t>
            </a:r>
          </a:p>
          <a:p>
            <a:pPr algn="l">
              <a:spcAft>
                <a:spcPts val="300"/>
              </a:spcAft>
            </a:pPr>
            <a:r>
              <a:rPr sz="1050" b="0">
                <a:solidFill>
                  <a:srgbClr val="5B6372"/>
                </a:solidFill>
                <a:latin typeface="Arial"/>
              </a:rPr>
              <a:t>SDK paginators, waiters and retry modes handle common distributed-system behavior, but applications must still set timeouts and make mutating operations idempotent.</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4</a:t>
            </a:r>
          </a:p>
          <a:p>
            <a:pPr algn="l">
              <a:spcAft>
                <a:spcPts val="300"/>
              </a:spcAft>
            </a:pPr>
            <a:r>
              <a:rPr sz="1050" b="0">
                <a:solidFill>
                  <a:srgbClr val="5B6372"/>
                </a:solidFill>
                <a:latin typeface="Arial"/>
              </a:rPr>
              <a:t>CloudTrail records supported API activity, allowing a command, assumed-role session and resulting resource change to be correlated.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a:t>
            </a:r>
          </a:p>
        </p:txBody>
      </p:sp>
    </p:spTree>
  </p:cSld>
  <p:clrMapOvr>
    <a:masterClrMapping/>
  </p:clrMapOvr>
  <p:transition xmlns:p14="http://schemas.microsoft.com/office/powerpoint/2010/main" p14:dur="380">
    <p:fade/>
  </p:transition>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CONTROL AND DATA FLOW</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AWS CLI and SDK execution model: operating flow</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6354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79829"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982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Resolve profile or role</a:t>
            </a:r>
          </a:p>
        </p:txBody>
      </p:sp>
      <p:sp>
        <p:nvSpPr>
          <p:cNvPr id="12" name="Rectangle 11"/>
          <p:cNvSpPr/>
          <p:nvPr/>
        </p:nvSpPr>
        <p:spPr>
          <a:xfrm>
            <a:off x="2969971"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69971" y="2148840"/>
            <a:ext cx="186354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572560"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72560"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6" name="TextBox 15"/>
          <p:cNvSpPr txBox="1"/>
          <p:nvPr/>
        </p:nvSpPr>
        <p:spPr>
          <a:xfrm>
            <a:off x="3088843"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Obtain temporary session</a:t>
            </a:r>
          </a:p>
        </p:txBody>
      </p:sp>
      <p:sp>
        <p:nvSpPr>
          <p:cNvPr id="17" name="Rectangle 16"/>
          <p:cNvSpPr/>
          <p:nvPr/>
        </p:nvSpPr>
        <p:spPr>
          <a:xfrm>
            <a:off x="5162702"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62702" y="2148840"/>
            <a:ext cx="186354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765291"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6529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1" name="TextBox 20"/>
          <p:cNvSpPr txBox="1"/>
          <p:nvPr/>
        </p:nvSpPr>
        <p:spPr>
          <a:xfrm>
            <a:off x="5281574"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Create regional client</a:t>
            </a:r>
          </a:p>
        </p:txBody>
      </p:sp>
      <p:sp>
        <p:nvSpPr>
          <p:cNvPr id="22" name="Rectangle 21"/>
          <p:cNvSpPr/>
          <p:nvPr/>
        </p:nvSpPr>
        <p:spPr>
          <a:xfrm>
            <a:off x="7355433"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355433" y="2148840"/>
            <a:ext cx="186354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958022"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5802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6" name="TextBox 25"/>
          <p:cNvSpPr txBox="1"/>
          <p:nvPr/>
        </p:nvSpPr>
        <p:spPr>
          <a:xfrm>
            <a:off x="7474305"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Call and paginate</a:t>
            </a:r>
          </a:p>
        </p:txBody>
      </p:sp>
      <p:sp>
        <p:nvSpPr>
          <p:cNvPr id="27" name="Rectangle 26"/>
          <p:cNvSpPr/>
          <p:nvPr/>
        </p:nvSpPr>
        <p:spPr>
          <a:xfrm>
            <a:off x="9548164"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548164" y="2148840"/>
            <a:ext cx="1863547" cy="914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50753" y="2532888"/>
            <a:ext cx="658368" cy="658368"/>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5075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5</a:t>
            </a:r>
          </a:p>
        </p:txBody>
      </p:sp>
      <p:sp>
        <p:nvSpPr>
          <p:cNvPr id="31" name="TextBox 30"/>
          <p:cNvSpPr txBox="1"/>
          <p:nvPr/>
        </p:nvSpPr>
        <p:spPr>
          <a:xfrm>
            <a:off x="9667036"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Record result and request ID</a:t>
            </a:r>
          </a:p>
        </p:txBody>
      </p:sp>
      <p:cxnSp>
        <p:nvCxnSpPr>
          <p:cNvPr id="32" name="Connector 31"/>
          <p:cNvCxnSpPr/>
          <p:nvPr/>
        </p:nvCxnSpPr>
        <p:spPr>
          <a:xfrm>
            <a:off x="2640787"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83351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026249"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21898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1F6FEB"/>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8" name="TextBox 3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9" name="TextBox 3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0" name="TextBox 3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72</a:t>
            </a:r>
          </a:p>
        </p:txBody>
      </p:sp>
    </p:spTree>
  </p:cSld>
  <p:clrMapOvr>
    <a:masterClrMapping/>
  </p:clrMapOvr>
  <p:transition xmlns:p14="http://schemas.microsoft.com/office/powerpoint/2010/main" p14:dur="380">
    <p:fade/>
  </p:transition>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CHOOSE DELIBERATELY</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700" b="1">
                <a:solidFill>
                  <a:srgbClr val="161B26"/>
                </a:solidFill>
                <a:latin typeface="Arial"/>
              </a:rPr>
              <a:t>AWS CLI and SDK execution model: configuration decisions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AUTHENTICATION</a:t>
            </a:r>
          </a:p>
          <a:p>
            <a:pPr algn="l">
              <a:spcAft>
                <a:spcPts val="300"/>
              </a:spcAft>
            </a:pPr>
            <a:r>
              <a:rPr sz="1050" b="0">
                <a:solidFill>
                  <a:srgbClr val="5B6372"/>
                </a:solidFill>
                <a:latin typeface="Arial"/>
              </a:rPr>
              <a:t>Use IAM Identity Center for workforce access and role credentials for workloads; reserve static keys for exceptional legacy cases.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RETRIES</a:t>
            </a:r>
          </a:p>
          <a:p>
            <a:pPr algn="l">
              <a:spcAft>
                <a:spcPts val="300"/>
              </a:spcAft>
            </a:pPr>
            <a:r>
              <a:rPr sz="1050" b="0">
                <a:solidFill>
                  <a:srgbClr val="5B6372"/>
                </a:solidFill>
                <a:latin typeface="Arial"/>
              </a:rPr>
              <a:t>Use standard or adaptive retry behavior with bounded attempts, jitter and service-specific handling for throttling.</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PAGINATION</a:t>
            </a:r>
          </a:p>
          <a:p>
            <a:pPr algn="l">
              <a:spcAft>
                <a:spcPts val="300"/>
              </a:spcAft>
            </a:pPr>
            <a:r>
              <a:rPr sz="1050" b="0">
                <a:solidFill>
                  <a:srgbClr val="5B6372"/>
                </a:solidFill>
                <a:latin typeface="Arial"/>
              </a:rPr>
              <a:t>Consume every page or deliberately cap results; a first-page-only inventory creates false compliance evidence.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IDEMPOTENCY</a:t>
            </a:r>
          </a:p>
          <a:p>
            <a:pPr algn="l">
              <a:spcAft>
                <a:spcPts val="300"/>
              </a:spcAft>
            </a:pPr>
            <a:r>
              <a:rPr sz="1050" b="0">
                <a:solidFill>
                  <a:srgbClr val="5B6372"/>
                </a:solidFill>
                <a:latin typeface="Arial"/>
              </a:rPr>
              <a:t>Supply client tokens where supported and design repeatable state checks before retrying a write.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73</a:t>
            </a:r>
          </a:p>
        </p:txBody>
      </p:sp>
    </p:spTree>
  </p:cSld>
  <p:clrMapOvr>
    <a:masterClrMapping/>
  </p:clrMapOvr>
  <p:transition xmlns:p14="http://schemas.microsoft.com/office/powerpoint/2010/main" p14:dur="380">
    <p:fade/>
  </p:transition>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APPLIED ARCHITECTURE</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500" b="1">
                <a:solidFill>
                  <a:srgbClr val="161B26"/>
                </a:solidFill>
                <a:latin typeface="Arial"/>
              </a:rPr>
              <a:t>AWS CLI and SDK execution model: worked architecture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SCENARIO</a:t>
            </a:r>
          </a:p>
          <a:p>
            <a:pPr algn="l">
              <a:spcAft>
                <a:spcPts val="300"/>
              </a:spcAft>
            </a:pPr>
            <a:r>
              <a:rPr sz="1050" b="0">
                <a:solidFill>
                  <a:srgbClr val="5B6372"/>
                </a:solidFill>
                <a:latin typeface="Arial"/>
              </a:rPr>
              <a:t>A deployment utility must work from a developer laptop and CodeBuild while producing the same account and Region evidence.</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DESIGN DECISION</a:t>
            </a:r>
          </a:p>
          <a:p>
            <a:pPr algn="l">
              <a:spcAft>
                <a:spcPts val="300"/>
              </a:spcAft>
            </a:pPr>
            <a:r>
              <a:rPr sz="1050" b="0">
                <a:solidFill>
                  <a:srgbClr val="5B6372"/>
                </a:solidFill>
                <a:latin typeface="Arial"/>
              </a:rPr>
              <a:t>Use named SSO profiles locally and a CodeBuild service role in CI; resolve account/Region at runtime and log request IDs without logging credentials.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TO AVOID</a:t>
            </a:r>
          </a:p>
          <a:p>
            <a:pPr algn="l">
              <a:spcAft>
                <a:spcPts val="300"/>
              </a:spcAft>
            </a:pPr>
            <a:r>
              <a:rPr sz="1050" b="0">
                <a:solidFill>
                  <a:srgbClr val="5B6372"/>
                </a:solidFill>
                <a:latin typeface="Arial"/>
              </a:rPr>
              <a:t>An implicit default profile can deploy to the wrong account, while unbounded retries can duplicate non-idempotent changes.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ACCEPTANCE EVIDENCE</a:t>
            </a:r>
          </a:p>
          <a:p>
            <a:pPr algn="l">
              <a:spcAft>
                <a:spcPts val="300"/>
              </a:spcAft>
            </a:pPr>
            <a:r>
              <a:rPr sz="1050" b="0">
                <a:solidFill>
                  <a:srgbClr val="5B6372"/>
                </a:solidFill>
                <a:latin typeface="Arial"/>
              </a:rPr>
              <a:t>Caller identity, selected Region, assumed-role ARN, API request ID, retry count and final resource state.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74</a:t>
            </a:r>
          </a:p>
        </p:txBody>
      </p:sp>
    </p:spTree>
  </p:cSld>
  <p:clrMapOvr>
    <a:masterClrMapping/>
  </p:clrMapOvr>
  <p:transition xmlns:p14="http://schemas.microsoft.com/office/powerpoint/2010/main" p14:dur="380">
    <p:fade/>
  </p:transition>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AWS DEVELOPER SERVICES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Developer deep dive: Package and image governance</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PURPOSE</a:t>
            </a:r>
          </a:p>
          <a:p>
            <a:pPr algn="l">
              <a:spcAft>
                <a:spcPts val="300"/>
              </a:spcAft>
            </a:pPr>
            <a:r>
              <a:rPr sz="1050" b="0">
                <a:solidFill>
                  <a:srgbClr val="5B6372"/>
                </a:solidFill>
                <a:latin typeface="Arial"/>
              </a:rPr>
              <a:t>Create a trusted supply chain for language packages and container images, then promote immutable versions across environments.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SERVICE BOUNDARY</a:t>
            </a:r>
          </a:p>
          <a:p>
            <a:pPr algn="l">
              <a:spcAft>
                <a:spcPts val="300"/>
              </a:spcAft>
            </a:pPr>
            <a:r>
              <a:rPr sz="1050" b="0">
                <a:solidFill>
                  <a:srgbClr val="5B6372"/>
                </a:solidFill>
                <a:latin typeface="Arial"/>
              </a:rPr>
              <a:t>CodeArtifact · ECR · KMS · Inspector</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PRIMARY DESIGN DECISION</a:t>
            </a:r>
          </a:p>
          <a:p>
            <a:pPr algn="l">
              <a:spcAft>
                <a:spcPts val="300"/>
              </a:spcAft>
            </a:pPr>
            <a:r>
              <a:rPr sz="1050" b="0">
                <a:solidFill>
                  <a:srgbClr val="5B6372"/>
                </a:solidFill>
                <a:latin typeface="Arial"/>
              </a:rPr>
              <a:t>Build once in the tooling account, scan the digest, grant scoped cross-account pull access and promote the same digest through environment manifests.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BOUNDARY</a:t>
            </a:r>
          </a:p>
          <a:p>
            <a:pPr algn="l">
              <a:spcAft>
                <a:spcPts val="300"/>
              </a:spcAft>
            </a:pPr>
            <a:r>
              <a:rPr sz="1050" b="0">
                <a:solidFill>
                  <a:srgbClr val="5B6372"/>
                </a:solidFill>
                <a:latin typeface="Arial"/>
              </a:rPr>
              <a:t>Mutable tags can silently replace the reviewed artifact; aggressive lifecycle rules can remove the rollback image.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75</a:t>
            </a:r>
          </a:p>
        </p:txBody>
      </p:sp>
    </p:spTree>
  </p:cSld>
  <p:clrMapOvr>
    <a:masterClrMapping/>
  </p:clrMapOvr>
  <p:transition xmlns:p14="http://schemas.microsoft.com/office/powerpoint/2010/main" p14:dur="380">
    <p:fade/>
  </p:transition>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SERVICE MECHANICS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Package and image governance: how it works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1</a:t>
            </a:r>
          </a:p>
          <a:p>
            <a:pPr algn="l">
              <a:spcAft>
                <a:spcPts val="300"/>
              </a:spcAft>
            </a:pPr>
            <a:r>
              <a:rPr sz="1050" b="0">
                <a:solidFill>
                  <a:srgbClr val="5B6372"/>
                </a:solidFill>
                <a:latin typeface="Arial"/>
              </a:rPr>
              <a:t>CodeArtifact domains group repositories and can deduplicate package assets; upstream repositories proxy internal or public sources through a controlled path.</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2</a:t>
            </a:r>
          </a:p>
          <a:p>
            <a:pPr algn="l">
              <a:spcAft>
                <a:spcPts val="300"/>
              </a:spcAft>
            </a:pPr>
            <a:r>
              <a:rPr sz="1050" b="0">
                <a:solidFill>
                  <a:srgbClr val="5B6372"/>
                </a:solidFill>
                <a:latin typeface="Arial"/>
              </a:rPr>
              <a:t>Authentication tokens are temporary and should be requested at build time, never committed to package-manager configuration.</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3</a:t>
            </a:r>
          </a:p>
          <a:p>
            <a:pPr algn="l">
              <a:spcAft>
                <a:spcPts val="300"/>
              </a:spcAft>
            </a:pPr>
            <a:r>
              <a:rPr sz="1050" b="0">
                <a:solidFill>
                  <a:srgbClr val="5B6372"/>
                </a:solidFill>
                <a:latin typeface="Arial"/>
              </a:rPr>
              <a:t>ECR stores OCI images by tag and digest; deployment references should use immutable tags or, preferably, the resolved digest.</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4</a:t>
            </a:r>
          </a:p>
          <a:p>
            <a:pPr algn="l">
              <a:spcAft>
                <a:spcPts val="300"/>
              </a:spcAft>
            </a:pPr>
            <a:r>
              <a:rPr sz="1050" b="0">
                <a:solidFill>
                  <a:srgbClr val="5B6372"/>
                </a:solidFill>
                <a:latin typeface="Arial"/>
              </a:rPr>
              <a:t>Lifecycle policies control retention, while enhanced scanning can surface operating-system and language-package vulnerabilities through Inspector.</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76</a:t>
            </a:r>
          </a:p>
        </p:txBody>
      </p:sp>
    </p:spTree>
  </p:cSld>
  <p:clrMapOvr>
    <a:masterClrMapping/>
  </p:clrMapOvr>
  <p:transition xmlns:p14="http://schemas.microsoft.com/office/powerpoint/2010/main" p14:dur="380">
    <p:fade/>
  </p:transition>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CONTROL AND DATA FLOW</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Package and image governance: operating flow</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6354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79829"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982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Resolve approved dependency</a:t>
            </a:r>
          </a:p>
        </p:txBody>
      </p:sp>
      <p:sp>
        <p:nvSpPr>
          <p:cNvPr id="12" name="Rectangle 11"/>
          <p:cNvSpPr/>
          <p:nvPr/>
        </p:nvSpPr>
        <p:spPr>
          <a:xfrm>
            <a:off x="2969971"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69971" y="2148840"/>
            <a:ext cx="186354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572560"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72560"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6" name="TextBox 15"/>
          <p:cNvSpPr txBox="1"/>
          <p:nvPr/>
        </p:nvSpPr>
        <p:spPr>
          <a:xfrm>
            <a:off x="3088843"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Build and test</a:t>
            </a:r>
          </a:p>
        </p:txBody>
      </p:sp>
      <p:sp>
        <p:nvSpPr>
          <p:cNvPr id="17" name="Rectangle 16"/>
          <p:cNvSpPr/>
          <p:nvPr/>
        </p:nvSpPr>
        <p:spPr>
          <a:xfrm>
            <a:off x="5162702"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62702" y="2148840"/>
            <a:ext cx="186354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765291"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6529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1" name="TextBox 20"/>
          <p:cNvSpPr txBox="1"/>
          <p:nvPr/>
        </p:nvSpPr>
        <p:spPr>
          <a:xfrm>
            <a:off x="5281574"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Publish version or image</a:t>
            </a:r>
          </a:p>
        </p:txBody>
      </p:sp>
      <p:sp>
        <p:nvSpPr>
          <p:cNvPr id="22" name="Rectangle 21"/>
          <p:cNvSpPr/>
          <p:nvPr/>
        </p:nvSpPr>
        <p:spPr>
          <a:xfrm>
            <a:off x="7355433"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355433" y="2148840"/>
            <a:ext cx="186354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958022"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5802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6" name="TextBox 25"/>
          <p:cNvSpPr txBox="1"/>
          <p:nvPr/>
        </p:nvSpPr>
        <p:spPr>
          <a:xfrm>
            <a:off x="7474305"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Scan and sign evidence</a:t>
            </a:r>
          </a:p>
        </p:txBody>
      </p:sp>
      <p:sp>
        <p:nvSpPr>
          <p:cNvPr id="27" name="Rectangle 26"/>
          <p:cNvSpPr/>
          <p:nvPr/>
        </p:nvSpPr>
        <p:spPr>
          <a:xfrm>
            <a:off x="9548164"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548164" y="2148840"/>
            <a:ext cx="1863547" cy="914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50753" y="2532888"/>
            <a:ext cx="658368" cy="658368"/>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5075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5</a:t>
            </a:r>
          </a:p>
        </p:txBody>
      </p:sp>
      <p:sp>
        <p:nvSpPr>
          <p:cNvPr id="31" name="TextBox 30"/>
          <p:cNvSpPr txBox="1"/>
          <p:nvPr/>
        </p:nvSpPr>
        <p:spPr>
          <a:xfrm>
            <a:off x="9667036"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Promote immutable digest</a:t>
            </a:r>
          </a:p>
        </p:txBody>
      </p:sp>
      <p:cxnSp>
        <p:nvCxnSpPr>
          <p:cNvPr id="32" name="Connector 31"/>
          <p:cNvCxnSpPr/>
          <p:nvPr/>
        </p:nvCxnSpPr>
        <p:spPr>
          <a:xfrm>
            <a:off x="2640787"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83351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026249"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21898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1F6FEB"/>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8" name="TextBox 3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9" name="TextBox 3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0" name="TextBox 3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77</a:t>
            </a:r>
          </a:p>
        </p:txBody>
      </p:sp>
    </p:spTree>
  </p:cSld>
  <p:clrMapOvr>
    <a:masterClrMapping/>
  </p:clrMapOvr>
  <p:transition xmlns:p14="http://schemas.microsoft.com/office/powerpoint/2010/main" p14:dur="380">
    <p:fade/>
  </p:transition>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CHOOSE DELIBERATELY</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700" b="1">
                <a:solidFill>
                  <a:srgbClr val="161B26"/>
                </a:solidFill>
                <a:latin typeface="Arial"/>
              </a:rPr>
              <a:t>Package and image governance: configuration decisions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REPOSITORY POLICY</a:t>
            </a:r>
          </a:p>
          <a:p>
            <a:pPr algn="l">
              <a:spcAft>
                <a:spcPts val="300"/>
              </a:spcAft>
            </a:pPr>
            <a:r>
              <a:rPr sz="1050" b="0">
                <a:solidFill>
                  <a:srgbClr val="5B6372"/>
                </a:solidFill>
                <a:latin typeface="Arial"/>
              </a:rPr>
              <a:t>Separate publisher and consumer permissions; restrict cross-account pulls with repository and identity policies.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VERSIONING</a:t>
            </a:r>
          </a:p>
          <a:p>
            <a:pPr algn="l">
              <a:spcAft>
                <a:spcPts val="300"/>
              </a:spcAft>
            </a:pPr>
            <a:r>
              <a:rPr sz="1050" b="0">
                <a:solidFill>
                  <a:srgbClr val="5B6372"/>
                </a:solidFill>
                <a:latin typeface="Arial"/>
              </a:rPr>
              <a:t>Reject overwrites where supported and give every release a unique package version or image digest.</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SCANNING</a:t>
            </a:r>
          </a:p>
          <a:p>
            <a:pPr algn="l">
              <a:spcAft>
                <a:spcPts val="300"/>
              </a:spcAft>
            </a:pPr>
            <a:r>
              <a:rPr sz="1050" b="0">
                <a:solidFill>
                  <a:srgbClr val="5B6372"/>
                </a:solidFill>
                <a:latin typeface="Arial"/>
              </a:rPr>
              <a:t>Define severity thresholds and exception ownership; a scan with no release decision is only telemetry.</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RETENTION</a:t>
            </a:r>
          </a:p>
          <a:p>
            <a:pPr algn="l">
              <a:spcAft>
                <a:spcPts val="300"/>
              </a:spcAft>
            </a:pPr>
            <a:r>
              <a:rPr sz="1050" b="0">
                <a:solidFill>
                  <a:srgbClr val="5B6372"/>
                </a:solidFill>
                <a:latin typeface="Arial"/>
              </a:rPr>
              <a:t>Keep releases required for rollback and audit while expiring untagged or superseded artifacts safely.</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78</a:t>
            </a:r>
          </a:p>
        </p:txBody>
      </p:sp>
    </p:spTree>
  </p:cSld>
  <p:clrMapOvr>
    <a:masterClrMapping/>
  </p:clrMapOvr>
  <p:transition xmlns:p14="http://schemas.microsoft.com/office/powerpoint/2010/main" p14:dur="380">
    <p:fade/>
  </p:transition>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APPLIED ARCHITECTURE</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500" b="1">
                <a:solidFill>
                  <a:srgbClr val="161B26"/>
                </a:solidFill>
                <a:latin typeface="Arial"/>
              </a:rPr>
              <a:t>Package and image governance: worked architecture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SCENARIO</a:t>
            </a:r>
          </a:p>
          <a:p>
            <a:pPr algn="l">
              <a:spcAft>
                <a:spcPts val="300"/>
              </a:spcAft>
            </a:pPr>
            <a:r>
              <a:rPr sz="1050" b="0">
                <a:solidFill>
                  <a:srgbClr val="5B6372"/>
                </a:solidFill>
                <a:latin typeface="Arial"/>
              </a:rPr>
              <a:t>Twenty accounts must deploy the identical reviewed container without rebuilding or granting broad registry access.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DESIGN DECISION</a:t>
            </a:r>
          </a:p>
          <a:p>
            <a:pPr algn="l">
              <a:spcAft>
                <a:spcPts val="300"/>
              </a:spcAft>
            </a:pPr>
            <a:r>
              <a:rPr sz="1050" b="0">
                <a:solidFill>
                  <a:srgbClr val="5B6372"/>
                </a:solidFill>
                <a:latin typeface="Arial"/>
              </a:rPr>
              <a:t>Build once in the tooling account, scan the digest, grant scoped cross-account pull access and promote the same digest through environment manifests.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TO AVOID</a:t>
            </a:r>
          </a:p>
          <a:p>
            <a:pPr algn="l">
              <a:spcAft>
                <a:spcPts val="300"/>
              </a:spcAft>
            </a:pPr>
            <a:r>
              <a:rPr sz="1050" b="0">
                <a:solidFill>
                  <a:srgbClr val="5B6372"/>
                </a:solidFill>
                <a:latin typeface="Arial"/>
              </a:rPr>
              <a:t>Mutable tags can silently replace the reviewed artifact; aggressive lifecycle rules can remove the rollback image.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ACCEPTANCE EVIDENCE</a:t>
            </a:r>
          </a:p>
          <a:p>
            <a:pPr algn="l">
              <a:spcAft>
                <a:spcPts val="300"/>
              </a:spcAft>
            </a:pPr>
            <a:r>
              <a:rPr sz="1050" b="0">
                <a:solidFill>
                  <a:srgbClr val="5B6372"/>
                </a:solidFill>
                <a:latin typeface="Arial"/>
              </a:rPr>
              <a:t>Package version, repository policy, image digest, scan finding disposition, promotion record and successful cross-account pull.</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79</a:t>
            </a:r>
          </a:p>
        </p:txBody>
      </p:sp>
    </p:spTree>
  </p:cSld>
  <p:clrMapOvr>
    <a:masterClrMapping/>
  </p:clrMapOvr>
  <p:transition xmlns:p14="http://schemas.microsoft.com/office/powerpoint/2010/main" p14:dur="380">
    <p:fade/>
  </p:transition>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AWS DEVELOPER SERVICES</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300" b="1">
                <a:solidFill>
                  <a:srgbClr val="161B26"/>
                </a:solidFill>
                <a:latin typeface="Arial"/>
              </a:rPr>
              <a:t>Developer deep dive: CodeBuild build environments and quality gates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PURPOSE</a:t>
            </a:r>
          </a:p>
          <a:p>
            <a:pPr algn="l">
              <a:spcAft>
                <a:spcPts val="300"/>
              </a:spcAft>
            </a:pPr>
            <a:r>
              <a:rPr sz="1050" b="0">
                <a:solidFill>
                  <a:srgbClr val="5B6372"/>
                </a:solidFill>
                <a:latin typeface="Arial"/>
              </a:rPr>
              <a:t>Turn source into reproducible artifacts while making tests, security checks and provenance part of the pipeline decision.</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SERVICE BOUNDARY</a:t>
            </a:r>
          </a:p>
          <a:p>
            <a:pPr algn="l">
              <a:spcAft>
                <a:spcPts val="300"/>
              </a:spcAft>
            </a:pPr>
            <a:r>
              <a:rPr sz="1050" b="0">
                <a:solidFill>
                  <a:srgbClr val="5B6372"/>
                </a:solidFill>
                <a:latin typeface="Arial"/>
              </a:rPr>
              <a:t>CodeBuild · buildspec · report groups · S3 cache</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PRIMARY DESIGN DECISION</a:t>
            </a:r>
          </a:p>
          <a:p>
            <a:pPr algn="l">
              <a:spcAft>
                <a:spcPts val="300"/>
              </a:spcAft>
            </a:pPr>
            <a:r>
              <a:rPr sz="1050" b="0">
                <a:solidFill>
                  <a:srgbClr val="5B6372"/>
                </a:solidFill>
                <a:latin typeface="Arial"/>
              </a:rPr>
              <a:t>Pin the runtime image, run deterministic installs, publish JUnit/coverage reports and create a manifest containing commit SHA and artifact checksum.</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BOUNDARY</a:t>
            </a:r>
          </a:p>
          <a:p>
            <a:pPr algn="l">
              <a:spcAft>
                <a:spcPts val="300"/>
              </a:spcAft>
            </a:pPr>
            <a:r>
              <a:rPr sz="1050" b="0">
                <a:solidFill>
                  <a:srgbClr val="5B6372"/>
                </a:solidFill>
                <a:latin typeface="Arial"/>
              </a:rPr>
              <a:t>A shell command followed by another successful command can hide a failed test unless exit handling is explicit.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80</a:t>
            </a:r>
          </a:p>
        </p:txBody>
      </p:sp>
    </p:spTree>
  </p:cSld>
  <p:clrMapOvr>
    <a:masterClrMapping/>
  </p:clrMapOvr>
  <p:transition xmlns:p14="http://schemas.microsoft.com/office/powerpoint/2010/main" p14:dur="380">
    <p:fade/>
  </p:transition>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SERVICE MECHANICS</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500" b="1">
                <a:solidFill>
                  <a:srgbClr val="161B26"/>
                </a:solidFill>
                <a:latin typeface="Arial"/>
              </a:rPr>
              <a:t>CodeBuild build environments and quality gates: how it works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1</a:t>
            </a:r>
          </a:p>
          <a:p>
            <a:pPr algn="l">
              <a:spcAft>
                <a:spcPts val="300"/>
              </a:spcAft>
            </a:pPr>
            <a:r>
              <a:rPr sz="1050" b="0">
                <a:solidFill>
                  <a:srgbClr val="5B6372"/>
                </a:solidFill>
                <a:latin typeface="Arial"/>
              </a:rPr>
              <a:t>A buildspec separates install, pre_build, build and post_build phases; finally blocks can preserve diagnostics even after a phase fails.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2</a:t>
            </a:r>
          </a:p>
          <a:p>
            <a:pPr algn="l">
              <a:spcAft>
                <a:spcPts val="300"/>
              </a:spcAft>
            </a:pPr>
            <a:r>
              <a:rPr sz="1050" b="0">
                <a:solidFill>
                  <a:srgbClr val="5B6372"/>
                </a:solidFill>
                <a:latin typeface="Arial"/>
              </a:rPr>
              <a:t>Managed images simplify patching, while custom images provide tool control and must themselves be versioned and scanned.</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3</a:t>
            </a:r>
          </a:p>
          <a:p>
            <a:pPr algn="l">
              <a:spcAft>
                <a:spcPts val="300"/>
              </a:spcAft>
            </a:pPr>
            <a:r>
              <a:rPr sz="1050" b="0">
                <a:solidFill>
                  <a:srgbClr val="5B6372"/>
                </a:solidFill>
                <a:latin typeface="Arial"/>
              </a:rPr>
              <a:t>Privileged mode is mainly required for Docker daemon workflows and materially increases build-container authority.</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4</a:t>
            </a:r>
          </a:p>
          <a:p>
            <a:pPr algn="l">
              <a:spcAft>
                <a:spcPts val="300"/>
              </a:spcAft>
            </a:pPr>
            <a:r>
              <a:rPr sz="1050" b="0">
                <a:solidFill>
                  <a:srgbClr val="5B6372"/>
                </a:solidFill>
                <a:latin typeface="Arial"/>
              </a:rPr>
              <a:t>Report groups retain test or coverage results; artifacts and exported variables pass controlled outputs to later pipeline actions.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81</a:t>
            </a:r>
          </a:p>
        </p:txBody>
      </p:sp>
    </p:spTree>
  </p:cSld>
  <p:clrMapOvr>
    <a:masterClrMapping/>
  </p:clrMapOvr>
  <p:transition xmlns:p14="http://schemas.microsoft.com/office/powerpoint/2010/main" p14:dur="380">
    <p:fade/>
  </p:transition>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CONTROL AND DATA FLOW</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500" b="1">
                <a:solidFill>
                  <a:srgbClr val="161B26"/>
                </a:solidFill>
                <a:latin typeface="Arial"/>
              </a:rPr>
              <a:t>CodeBuild build environments and quality gates: operating flow</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6354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79829"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982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Provision ephemeral environment</a:t>
            </a:r>
          </a:p>
        </p:txBody>
      </p:sp>
      <p:sp>
        <p:nvSpPr>
          <p:cNvPr id="12" name="Rectangle 11"/>
          <p:cNvSpPr/>
          <p:nvPr/>
        </p:nvSpPr>
        <p:spPr>
          <a:xfrm>
            <a:off x="2969971"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69971" y="2148840"/>
            <a:ext cx="186354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572560"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72560"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6" name="TextBox 15"/>
          <p:cNvSpPr txBox="1"/>
          <p:nvPr/>
        </p:nvSpPr>
        <p:spPr>
          <a:xfrm>
            <a:off x="3088843"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Install pinned tools</a:t>
            </a:r>
          </a:p>
        </p:txBody>
      </p:sp>
      <p:sp>
        <p:nvSpPr>
          <p:cNvPr id="17" name="Rectangle 16"/>
          <p:cNvSpPr/>
          <p:nvPr/>
        </p:nvSpPr>
        <p:spPr>
          <a:xfrm>
            <a:off x="5162702"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62702" y="2148840"/>
            <a:ext cx="186354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765291"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6529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1" name="TextBox 20"/>
          <p:cNvSpPr txBox="1"/>
          <p:nvPr/>
        </p:nvSpPr>
        <p:spPr>
          <a:xfrm>
            <a:off x="5281574"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Test and scan</a:t>
            </a:r>
          </a:p>
        </p:txBody>
      </p:sp>
      <p:sp>
        <p:nvSpPr>
          <p:cNvPr id="22" name="Rectangle 21"/>
          <p:cNvSpPr/>
          <p:nvPr/>
        </p:nvSpPr>
        <p:spPr>
          <a:xfrm>
            <a:off x="7355433"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355433" y="2148840"/>
            <a:ext cx="186354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958022"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5802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6" name="TextBox 25"/>
          <p:cNvSpPr txBox="1"/>
          <p:nvPr/>
        </p:nvSpPr>
        <p:spPr>
          <a:xfrm>
            <a:off x="7474305"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Package immutable output</a:t>
            </a:r>
          </a:p>
        </p:txBody>
      </p:sp>
      <p:sp>
        <p:nvSpPr>
          <p:cNvPr id="27" name="Rectangle 26"/>
          <p:cNvSpPr/>
          <p:nvPr/>
        </p:nvSpPr>
        <p:spPr>
          <a:xfrm>
            <a:off x="9548164"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548164" y="2148840"/>
            <a:ext cx="1863547" cy="914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50753" y="2532888"/>
            <a:ext cx="658368" cy="658368"/>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5075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5</a:t>
            </a:r>
          </a:p>
        </p:txBody>
      </p:sp>
      <p:sp>
        <p:nvSpPr>
          <p:cNvPr id="31" name="TextBox 30"/>
          <p:cNvSpPr txBox="1"/>
          <p:nvPr/>
        </p:nvSpPr>
        <p:spPr>
          <a:xfrm>
            <a:off x="9667036"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Publish reports and artifact</a:t>
            </a:r>
          </a:p>
        </p:txBody>
      </p:sp>
      <p:cxnSp>
        <p:nvCxnSpPr>
          <p:cNvPr id="32" name="Connector 31"/>
          <p:cNvCxnSpPr/>
          <p:nvPr/>
        </p:nvCxnSpPr>
        <p:spPr>
          <a:xfrm>
            <a:off x="2640787"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83351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026249"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21898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1F6FEB"/>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8" name="TextBox 3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9" name="TextBox 3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0" name="TextBox 3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82</a:t>
            </a:r>
          </a:p>
        </p:txBody>
      </p:sp>
    </p:spTree>
  </p:cSld>
  <p:clrMapOvr>
    <a:masterClrMapping/>
  </p:clrMapOvr>
  <p:transition xmlns:p14="http://schemas.microsoft.com/office/powerpoint/2010/main" p14:dur="380">
    <p:fade/>
  </p:transition>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CHOOSE DELIBERATELY</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100" b="1">
                <a:solidFill>
                  <a:srgbClr val="161B26"/>
                </a:solidFill>
                <a:latin typeface="Arial"/>
              </a:rPr>
              <a:t>CodeBuild build environments and quality gates: configuration decisions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COMPUTE</a:t>
            </a:r>
          </a:p>
          <a:p>
            <a:pPr algn="l">
              <a:spcAft>
                <a:spcPts val="300"/>
              </a:spcAft>
            </a:pPr>
            <a:r>
              <a:rPr sz="1050" b="0">
                <a:solidFill>
                  <a:srgbClr val="5B6372"/>
                </a:solidFill>
                <a:latin typeface="Arial"/>
              </a:rPr>
              <a:t>Select architecture, size and timeout from measured build demand; avoid oversized always-on assumptions.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NETWORK</a:t>
            </a:r>
          </a:p>
          <a:p>
            <a:pPr algn="l">
              <a:spcAft>
                <a:spcPts val="300"/>
              </a:spcAft>
            </a:pPr>
            <a:r>
              <a:rPr sz="1050" b="0">
                <a:solidFill>
                  <a:srgbClr val="5B6372"/>
                </a:solidFill>
                <a:latin typeface="Arial"/>
              </a:rPr>
              <a:t>Use VPC attachment only when private dependencies require it, and provide routes/endpoints for every required service.</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CACHE</a:t>
            </a:r>
          </a:p>
          <a:p>
            <a:pPr algn="l">
              <a:spcAft>
                <a:spcPts val="300"/>
              </a:spcAft>
            </a:pPr>
            <a:r>
              <a:rPr sz="1050" b="0">
                <a:solidFill>
                  <a:srgbClr val="5B6372"/>
                </a:solidFill>
                <a:latin typeface="Arial"/>
              </a:rPr>
              <a:t>Cache dependencies for speed, but key the cache so stale libraries cannot bypass lock-file changes.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SECRETS</a:t>
            </a:r>
          </a:p>
          <a:p>
            <a:pPr algn="l">
              <a:spcAft>
                <a:spcPts val="300"/>
              </a:spcAft>
            </a:pPr>
            <a:r>
              <a:rPr sz="1050" b="0">
                <a:solidFill>
                  <a:srgbClr val="5B6372"/>
                </a:solidFill>
                <a:latin typeface="Arial"/>
              </a:rPr>
              <a:t>Retrieve secrets at runtime from managed stores and mask output; never place secret values in buildspec source.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83</a:t>
            </a:r>
          </a:p>
        </p:txBody>
      </p:sp>
    </p:spTree>
  </p:cSld>
  <p:clrMapOvr>
    <a:masterClrMapping/>
  </p:clrMapOvr>
  <p:transition xmlns:p14="http://schemas.microsoft.com/office/powerpoint/2010/main" p14:dur="380">
    <p:fade/>
  </p:transition>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APPLIED ARCHITECTURE</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1900" b="1">
                <a:solidFill>
                  <a:srgbClr val="161B26"/>
                </a:solidFill>
                <a:latin typeface="Arial"/>
              </a:rPr>
              <a:t>CodeBuild build environments and quality gates: worked architecture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SCENARIO</a:t>
            </a:r>
          </a:p>
          <a:p>
            <a:pPr algn="l">
              <a:spcAft>
                <a:spcPts val="300"/>
              </a:spcAft>
            </a:pPr>
            <a:r>
              <a:rPr sz="1050" b="0">
                <a:solidFill>
                  <a:srgbClr val="5B6372"/>
                </a:solidFill>
                <a:latin typeface="Arial"/>
              </a:rPr>
              <a:t>A Python service must stop promotion if tests fail, coverage drops below policy, or the artifact cannot be traced to its source revision.</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DESIGN DECISION</a:t>
            </a:r>
          </a:p>
          <a:p>
            <a:pPr algn="l">
              <a:spcAft>
                <a:spcPts val="300"/>
              </a:spcAft>
            </a:pPr>
            <a:r>
              <a:rPr sz="1050" b="0">
                <a:solidFill>
                  <a:srgbClr val="5B6372"/>
                </a:solidFill>
                <a:latin typeface="Arial"/>
              </a:rPr>
              <a:t>Pin the runtime image, run deterministic installs, publish JUnit/coverage reports and create a manifest containing commit SHA and artifact checksum.</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TO AVOID</a:t>
            </a:r>
          </a:p>
          <a:p>
            <a:pPr algn="l">
              <a:spcAft>
                <a:spcPts val="300"/>
              </a:spcAft>
            </a:pPr>
            <a:r>
              <a:rPr sz="1050" b="0">
                <a:solidFill>
                  <a:srgbClr val="5B6372"/>
                </a:solidFill>
                <a:latin typeface="Arial"/>
              </a:rPr>
              <a:t>A shell command followed by another successful command can hide a failed test unless exit handling is explicit.</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ACCEPTANCE EVIDENCE</a:t>
            </a:r>
          </a:p>
          <a:p>
            <a:pPr algn="l">
              <a:spcAft>
                <a:spcPts val="300"/>
              </a:spcAft>
            </a:pPr>
            <a:r>
              <a:rPr sz="1050" b="0">
                <a:solidFill>
                  <a:srgbClr val="5B6372"/>
                </a:solidFill>
                <a:latin typeface="Arial"/>
              </a:rPr>
              <a:t>Build ARN, source version, image identifier, test report, coverage threshold, checksum and phase logs.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84</a:t>
            </a:r>
          </a:p>
        </p:txBody>
      </p:sp>
    </p:spTree>
  </p:cSld>
  <p:clrMapOvr>
    <a:masterClrMapping/>
  </p:clrMapOvr>
  <p:transition xmlns:p14="http://schemas.microsoft.com/office/powerpoint/2010/main" p14:dur="380">
    <p:fade/>
  </p:transition>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AWS DEVELOPER SERVICES</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500" b="1">
                <a:solidFill>
                  <a:srgbClr val="161B26"/>
                </a:solidFill>
                <a:latin typeface="Arial"/>
              </a:rPr>
              <a:t>Developer deep dive: CodePipeline orchestration and approvals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PURPOSE</a:t>
            </a:r>
          </a:p>
          <a:p>
            <a:pPr algn="l">
              <a:spcAft>
                <a:spcPts val="300"/>
              </a:spcAft>
            </a:pPr>
            <a:r>
              <a:rPr sz="1050" b="0">
                <a:solidFill>
                  <a:srgbClr val="5B6372"/>
                </a:solidFill>
                <a:latin typeface="Arial"/>
              </a:rPr>
              <a:t>Coordinate source, validation, approval and deployment stages while preserving artifact identity and execution context.</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SERVICE BOUNDARY</a:t>
            </a:r>
          </a:p>
          <a:p>
            <a:pPr algn="l">
              <a:spcAft>
                <a:spcPts val="300"/>
              </a:spcAft>
            </a:pPr>
            <a:r>
              <a:rPr sz="1050" b="0">
                <a:solidFill>
                  <a:srgbClr val="5B6372"/>
                </a:solidFill>
                <a:latin typeface="Arial"/>
              </a:rPr>
              <a:t>CodePipeline · CodeConnections · CodeBuild · Lambda actions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PRIMARY DESIGN DECISION</a:t>
            </a:r>
          </a:p>
          <a:p>
            <a:pPr algn="l">
              <a:spcAft>
                <a:spcPts val="300"/>
              </a:spcAft>
            </a:pPr>
            <a:r>
              <a:rPr sz="1050" b="0">
                <a:solidFill>
                  <a:srgbClr val="5B6372"/>
                </a:solidFill>
                <a:latin typeface="Arial"/>
              </a:rPr>
              <a:t>Keep build resources in a tooling account, promote an immutable artifact, assume per-environment roles and require an approval owned outside the developer role.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BOUNDARY</a:t>
            </a:r>
          </a:p>
          <a:p>
            <a:pPr algn="l">
              <a:spcAft>
                <a:spcPts val="300"/>
              </a:spcAft>
            </a:pPr>
            <a:r>
              <a:rPr sz="1050" b="0">
                <a:solidFill>
                  <a:srgbClr val="5B6372"/>
                </a:solidFill>
                <a:latin typeface="Arial"/>
              </a:rPr>
              <a:t>Rebuilding for production changes the artifact under review; parallel executions can race against shared CloudFormation state.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85</a:t>
            </a:r>
          </a:p>
        </p:txBody>
      </p:sp>
    </p:spTree>
  </p:cSld>
  <p:clrMapOvr>
    <a:masterClrMapping/>
  </p:clrMapOvr>
  <p:transition xmlns:p14="http://schemas.microsoft.com/office/powerpoint/2010/main" p14:dur="380">
    <p:fade/>
  </p:transition>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SERVICE MECHANICS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CodePipeline orchestration and approvals: how it works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1</a:t>
            </a:r>
          </a:p>
          <a:p>
            <a:pPr algn="l">
              <a:spcAft>
                <a:spcPts val="300"/>
              </a:spcAft>
            </a:pPr>
            <a:r>
              <a:rPr sz="1050" b="0">
                <a:solidFill>
                  <a:srgbClr val="5B6372"/>
                </a:solidFill>
                <a:latin typeface="Arial"/>
              </a:rPr>
              <a:t>A pipeline execution moves named artifacts between actions through an encrypted artifact store; each action receives declared inputs and emits declared outputs.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2</a:t>
            </a:r>
          </a:p>
          <a:p>
            <a:pPr algn="l">
              <a:spcAft>
                <a:spcPts val="300"/>
              </a:spcAft>
            </a:pPr>
            <a:r>
              <a:rPr sz="1050" b="0">
                <a:solidFill>
                  <a:srgbClr val="5B6372"/>
                </a:solidFill>
                <a:latin typeface="Arial"/>
              </a:rPr>
              <a:t>Execution modes determine how concurrent revisions behave: superseding, queueing or running in parallel must match the deployment target's safety model.</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3</a:t>
            </a:r>
          </a:p>
          <a:p>
            <a:pPr algn="l">
              <a:spcAft>
                <a:spcPts val="300"/>
              </a:spcAft>
            </a:pPr>
            <a:r>
              <a:rPr sz="1050" b="0">
                <a:solidFill>
                  <a:srgbClr val="5B6372"/>
                </a:solidFill>
                <a:latin typeface="Arial"/>
              </a:rPr>
              <a:t>Manual approvals pause execution and should present change, test, risk and rollback evidence rather than a context-free button.</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4</a:t>
            </a:r>
          </a:p>
          <a:p>
            <a:pPr algn="l">
              <a:spcAft>
                <a:spcPts val="300"/>
              </a:spcAft>
            </a:pPr>
            <a:r>
              <a:rPr sz="1050" b="0">
                <a:solidFill>
                  <a:srgbClr val="5B6372"/>
                </a:solidFill>
                <a:latin typeface="Arial"/>
              </a:rPr>
              <a:t>Variables and namespaces pass small metadata values; release artifacts belong in governed stores, not pipeline variables.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86</a:t>
            </a:r>
          </a:p>
        </p:txBody>
      </p:sp>
    </p:spTree>
  </p:cSld>
  <p:clrMapOvr>
    <a:masterClrMapping/>
  </p:clrMapOvr>
  <p:transition xmlns:p14="http://schemas.microsoft.com/office/powerpoint/2010/main" p14:dur="380">
    <p:fade/>
  </p:transition>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CONTROL AND DATA FLOW</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700" b="1">
                <a:solidFill>
                  <a:srgbClr val="161B26"/>
                </a:solidFill>
                <a:latin typeface="Arial"/>
              </a:rPr>
              <a:t>CodePipeline orchestration and approvals: operating flow</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6354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79829"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982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Receive trusted source event</a:t>
            </a:r>
          </a:p>
        </p:txBody>
      </p:sp>
      <p:sp>
        <p:nvSpPr>
          <p:cNvPr id="12" name="Rectangle 11"/>
          <p:cNvSpPr/>
          <p:nvPr/>
        </p:nvSpPr>
        <p:spPr>
          <a:xfrm>
            <a:off x="2969971"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69971" y="2148840"/>
            <a:ext cx="186354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572560"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72560"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6" name="TextBox 15"/>
          <p:cNvSpPr txBox="1"/>
          <p:nvPr/>
        </p:nvSpPr>
        <p:spPr>
          <a:xfrm>
            <a:off x="3088843"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Build immutable revision</a:t>
            </a:r>
          </a:p>
        </p:txBody>
      </p:sp>
      <p:sp>
        <p:nvSpPr>
          <p:cNvPr id="17" name="Rectangle 16"/>
          <p:cNvSpPr/>
          <p:nvPr/>
        </p:nvSpPr>
        <p:spPr>
          <a:xfrm>
            <a:off x="5162702"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62702" y="2148840"/>
            <a:ext cx="186354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765291"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6529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1" name="TextBox 20"/>
          <p:cNvSpPr txBox="1"/>
          <p:nvPr/>
        </p:nvSpPr>
        <p:spPr>
          <a:xfrm>
            <a:off x="5281574"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Run parallel gates</a:t>
            </a:r>
          </a:p>
        </p:txBody>
      </p:sp>
      <p:sp>
        <p:nvSpPr>
          <p:cNvPr id="22" name="Rectangle 21"/>
          <p:cNvSpPr/>
          <p:nvPr/>
        </p:nvSpPr>
        <p:spPr>
          <a:xfrm>
            <a:off x="7355433"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355433" y="2148840"/>
            <a:ext cx="186354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958022"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5802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6" name="TextBox 25"/>
          <p:cNvSpPr txBox="1"/>
          <p:nvPr/>
        </p:nvSpPr>
        <p:spPr>
          <a:xfrm>
            <a:off x="7474305"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Approve with context</a:t>
            </a:r>
          </a:p>
        </p:txBody>
      </p:sp>
      <p:sp>
        <p:nvSpPr>
          <p:cNvPr id="27" name="Rectangle 26"/>
          <p:cNvSpPr/>
          <p:nvPr/>
        </p:nvSpPr>
        <p:spPr>
          <a:xfrm>
            <a:off x="9548164"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548164" y="2148840"/>
            <a:ext cx="1863547" cy="914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50753" y="2532888"/>
            <a:ext cx="658368" cy="658368"/>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5075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5</a:t>
            </a:r>
          </a:p>
        </p:txBody>
      </p:sp>
      <p:sp>
        <p:nvSpPr>
          <p:cNvPr id="31" name="TextBox 30"/>
          <p:cNvSpPr txBox="1"/>
          <p:nvPr/>
        </p:nvSpPr>
        <p:spPr>
          <a:xfrm>
            <a:off x="9667036"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Deploy and observe</a:t>
            </a:r>
          </a:p>
        </p:txBody>
      </p:sp>
      <p:cxnSp>
        <p:nvCxnSpPr>
          <p:cNvPr id="32" name="Connector 31"/>
          <p:cNvCxnSpPr/>
          <p:nvPr/>
        </p:nvCxnSpPr>
        <p:spPr>
          <a:xfrm>
            <a:off x="2640787"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83351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026249"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21898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1F6FEB"/>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8" name="TextBox 3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9" name="TextBox 3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0" name="TextBox 3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87</a:t>
            </a:r>
          </a:p>
        </p:txBody>
      </p:sp>
    </p:spTree>
  </p:cSld>
  <p:clrMapOvr>
    <a:masterClrMapping/>
  </p:clrMapOvr>
  <p:transition xmlns:p14="http://schemas.microsoft.com/office/powerpoint/2010/main" p14:dur="380">
    <p:fade/>
  </p:transition>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CHOOSE DELIBERATELY</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500" b="1">
                <a:solidFill>
                  <a:srgbClr val="161B26"/>
                </a:solidFill>
                <a:latin typeface="Arial"/>
              </a:rPr>
              <a:t>CodePipeline orchestration and approvals: configuration decisions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TRIGGER</a:t>
            </a:r>
          </a:p>
          <a:p>
            <a:pPr algn="l">
              <a:spcAft>
                <a:spcPts val="300"/>
              </a:spcAft>
            </a:pPr>
            <a:r>
              <a:rPr sz="1050" b="0">
                <a:solidFill>
                  <a:srgbClr val="5B6372"/>
                </a:solidFill>
                <a:latin typeface="Arial"/>
              </a:rPr>
              <a:t>Filter repository events so pull requests validate while only accepted branches or tags reach deployment.</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CONCURRENCY</a:t>
            </a:r>
          </a:p>
          <a:p>
            <a:pPr algn="l">
              <a:spcAft>
                <a:spcPts val="300"/>
              </a:spcAft>
            </a:pPr>
            <a:r>
              <a:rPr sz="1050" b="0">
                <a:solidFill>
                  <a:srgbClr val="5B6372"/>
                </a:solidFill>
                <a:latin typeface="Arial"/>
              </a:rPr>
              <a:t>Use queued execution for shared environments and parallel execution only when targets and state are isolated.</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CROSS-ACCOUNT</a:t>
            </a:r>
          </a:p>
          <a:p>
            <a:pPr algn="l">
              <a:spcAft>
                <a:spcPts val="300"/>
              </a:spcAft>
            </a:pPr>
            <a:r>
              <a:rPr sz="1050" b="0">
                <a:solidFill>
                  <a:srgbClr val="5B6372"/>
                </a:solidFill>
                <a:latin typeface="Arial"/>
              </a:rPr>
              <a:t>Assume narrow deployment roles and use KMS/artifact policies that explicitly permit the required account path.</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a:t>
            </a:r>
          </a:p>
          <a:p>
            <a:pPr algn="l">
              <a:spcAft>
                <a:spcPts val="300"/>
              </a:spcAft>
            </a:pPr>
            <a:r>
              <a:rPr sz="1050" b="0">
                <a:solidFill>
                  <a:srgbClr val="5B6372"/>
                </a:solidFill>
                <a:latin typeface="Arial"/>
              </a:rPr>
              <a:t>Stop stage transitions, retain the failed execution and automate rollback from the last-known-good artifact.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88</a:t>
            </a:r>
          </a:p>
        </p:txBody>
      </p:sp>
    </p:spTree>
  </p:cSld>
  <p:clrMapOvr>
    <a:masterClrMapping/>
  </p:clrMapOvr>
  <p:transition xmlns:p14="http://schemas.microsoft.com/office/powerpoint/2010/main" p14:dur="380">
    <p:fade/>
  </p:transition>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APPLIED ARCHITECTURE</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100" b="1">
                <a:solidFill>
                  <a:srgbClr val="161B26"/>
                </a:solidFill>
                <a:latin typeface="Arial"/>
              </a:rPr>
              <a:t>CodePipeline orchestration and approvals: worked architecture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SCENARIO</a:t>
            </a:r>
          </a:p>
          <a:p>
            <a:pPr algn="l">
              <a:spcAft>
                <a:spcPts val="300"/>
              </a:spcAft>
            </a:pPr>
            <a:r>
              <a:rPr sz="1050" b="0">
                <a:solidFill>
                  <a:srgbClr val="5B6372"/>
                </a:solidFill>
                <a:latin typeface="Arial"/>
              </a:rPr>
              <a:t>A multi-account pipeline must deploy the same revision to test and production, with separation of duties at production approval.</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DESIGN DECISION</a:t>
            </a:r>
          </a:p>
          <a:p>
            <a:pPr algn="l">
              <a:spcAft>
                <a:spcPts val="300"/>
              </a:spcAft>
            </a:pPr>
            <a:r>
              <a:rPr sz="1050" b="0">
                <a:solidFill>
                  <a:srgbClr val="5B6372"/>
                </a:solidFill>
                <a:latin typeface="Arial"/>
              </a:rPr>
              <a:t>Keep build resources in a tooling account, promote an immutable artifact, assume per-environment roles and require an approval owned outside the developer role.</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TO AVOID</a:t>
            </a:r>
          </a:p>
          <a:p>
            <a:pPr algn="l">
              <a:spcAft>
                <a:spcPts val="300"/>
              </a:spcAft>
            </a:pPr>
            <a:r>
              <a:rPr sz="1050" b="0">
                <a:solidFill>
                  <a:srgbClr val="5B6372"/>
                </a:solidFill>
                <a:latin typeface="Arial"/>
              </a:rPr>
              <a:t>Rebuilding for production changes the artifact under review; parallel executions can race against shared CloudFormation state.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ACCEPTANCE EVIDENCE</a:t>
            </a:r>
          </a:p>
          <a:p>
            <a:pPr algn="l">
              <a:spcAft>
                <a:spcPts val="300"/>
              </a:spcAft>
            </a:pPr>
            <a:r>
              <a:rPr sz="1050" b="0">
                <a:solidFill>
                  <a:srgbClr val="5B6372"/>
                </a:solidFill>
                <a:latin typeface="Arial"/>
              </a:rPr>
              <a:t>Pipeline execution ID, artifact digest, gate reports, approval identity/comment, assumed role and deployment result.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89</a:t>
            </a:r>
          </a:p>
        </p:txBody>
      </p:sp>
    </p:spTree>
  </p:cSld>
  <p:clrMapOvr>
    <a:masterClrMapping/>
  </p:clrMapOvr>
  <p:transition xmlns:p14="http://schemas.microsoft.com/office/powerpoint/2010/main" p14:dur="380">
    <p:fade/>
  </p:transition>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AWS DEVELOPER SERVICES</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300" b="1">
                <a:solidFill>
                  <a:srgbClr val="161B26"/>
                </a:solidFill>
                <a:latin typeface="Arial"/>
              </a:rPr>
              <a:t>Developer deep dive: CodeDeploy lifecycle, traffic shifting and rollback</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PURPOSE</a:t>
            </a:r>
          </a:p>
          <a:p>
            <a:pPr algn="l">
              <a:spcAft>
                <a:spcPts val="300"/>
              </a:spcAft>
            </a:pPr>
            <a:r>
              <a:rPr sz="1050" b="0">
                <a:solidFill>
                  <a:srgbClr val="5B6372"/>
                </a:solidFill>
                <a:latin typeface="Arial"/>
              </a:rPr>
              <a:t>Select lifecycle hooks and deployment configurations that expose failures before they reach the full user population.</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SERVICE BOUNDARY</a:t>
            </a:r>
          </a:p>
          <a:p>
            <a:pPr algn="l">
              <a:spcAft>
                <a:spcPts val="300"/>
              </a:spcAft>
            </a:pPr>
            <a:r>
              <a:rPr sz="1050" b="0">
                <a:solidFill>
                  <a:srgbClr val="5B6372"/>
                </a:solidFill>
                <a:latin typeface="Arial"/>
              </a:rPr>
              <a:t>CodeDeploy · EC2/On-Premises · ECS · Lambda</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PRIMARY DESIGN DECISION</a:t>
            </a:r>
          </a:p>
          <a:p>
            <a:pPr algn="l">
              <a:spcAft>
                <a:spcPts val="300"/>
              </a:spcAft>
            </a:pPr>
            <a:r>
              <a:rPr sz="1050" b="0">
                <a:solidFill>
                  <a:srgbClr val="5B6372"/>
                </a:solidFill>
                <a:latin typeface="Arial"/>
              </a:rPr>
              <a:t>Deploy an immutable version behind an alias, shift a small weight, bind a transaction-error alarm and retain the previous alias target for rollback.</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BOUNDARY</a:t>
            </a:r>
          </a:p>
          <a:p>
            <a:pPr algn="l">
              <a:spcAft>
                <a:spcPts val="300"/>
              </a:spcAft>
            </a:pPr>
            <a:r>
              <a:rPr sz="1050" b="0">
                <a:solidFill>
                  <a:srgbClr val="5B6372"/>
                </a:solidFill>
                <a:latin typeface="Arial"/>
              </a:rPr>
              <a:t>Infrastructure health alone may stay green while business transactions fail; an alarm that evaluates too slowly misses the canary window.</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90</a:t>
            </a:r>
          </a:p>
        </p:txBody>
      </p:sp>
    </p:spTree>
  </p:cSld>
  <p:clrMapOvr>
    <a:masterClrMapping/>
  </p:clrMapOvr>
  <p:transition xmlns:p14="http://schemas.microsoft.com/office/powerpoint/2010/main" p14:dur="380">
    <p:fade/>
  </p:transition>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SERVICE MECHANICS</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500" b="1">
                <a:solidFill>
                  <a:srgbClr val="161B26"/>
                </a:solidFill>
                <a:latin typeface="Arial"/>
              </a:rPr>
              <a:t>CodeDeploy lifecycle, traffic shifting and rollback: how it works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1</a:t>
            </a:r>
          </a:p>
          <a:p>
            <a:pPr algn="l">
              <a:spcAft>
                <a:spcPts val="300"/>
              </a:spcAft>
            </a:pPr>
            <a:r>
              <a:rPr sz="1050" b="0">
                <a:solidFill>
                  <a:srgbClr val="5B6372"/>
                </a:solidFill>
                <a:latin typeface="Arial"/>
              </a:rPr>
              <a:t>EC2/on-premises deployments use an AppSpec file to map files and lifecycle scripts; scripts must be idempotent because replacement or retry can rerun them.</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2</a:t>
            </a:r>
          </a:p>
          <a:p>
            <a:pPr algn="l">
              <a:spcAft>
                <a:spcPts val="300"/>
              </a:spcAft>
            </a:pPr>
            <a:r>
              <a:rPr sz="1050" b="0">
                <a:solidFill>
                  <a:srgbClr val="5B6372"/>
                </a:solidFill>
                <a:latin typeface="Arial"/>
              </a:rPr>
              <a:t>ECS blue/green deployments create a replacement task set and move listener traffic after validation through CodeDeploy-controlled hooks.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3</a:t>
            </a:r>
          </a:p>
          <a:p>
            <a:pPr algn="l">
              <a:spcAft>
                <a:spcPts val="300"/>
              </a:spcAft>
            </a:pPr>
            <a:r>
              <a:rPr sz="1050" b="0">
                <a:solidFill>
                  <a:srgbClr val="5B6372"/>
                </a:solidFill>
                <a:latin typeface="Arial"/>
              </a:rPr>
              <a:t>Lambda deployments shift an alias between immutable versions using canary or linear increments and optional validation hooks.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4</a:t>
            </a:r>
          </a:p>
          <a:p>
            <a:pPr algn="l">
              <a:spcAft>
                <a:spcPts val="300"/>
              </a:spcAft>
            </a:pPr>
            <a:r>
              <a:rPr sz="1050" b="0">
                <a:solidFill>
                  <a:srgbClr val="5B6372"/>
                </a:solidFill>
                <a:latin typeface="Arial"/>
              </a:rPr>
              <a:t>Automatic rollback can react to deployment failure, stop requests or CloudWatch alarms, but only if alarms represent real release health.</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91</a:t>
            </a:r>
          </a:p>
        </p:txBody>
      </p:sp>
    </p:spTree>
  </p:cSld>
  <p:clrMapOvr>
    <a:masterClrMapping/>
  </p:clrMapOvr>
  <p:transition xmlns:p14="http://schemas.microsoft.com/office/powerpoint/2010/main" p14:dur="380">
    <p:fade/>
  </p:transition>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CONTROL AND DATA FLOW</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500" b="1">
                <a:solidFill>
                  <a:srgbClr val="161B26"/>
                </a:solidFill>
                <a:latin typeface="Arial"/>
              </a:rPr>
              <a:t>CodeDeploy lifecycle, traffic shifting and rollback: operating flow</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6354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79829"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982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Create revision</a:t>
            </a:r>
          </a:p>
        </p:txBody>
      </p:sp>
      <p:sp>
        <p:nvSpPr>
          <p:cNvPr id="12" name="Rectangle 11"/>
          <p:cNvSpPr/>
          <p:nvPr/>
        </p:nvSpPr>
        <p:spPr>
          <a:xfrm>
            <a:off x="2969971"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69971" y="2148840"/>
            <a:ext cx="186354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572560"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72560"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6" name="TextBox 15"/>
          <p:cNvSpPr txBox="1"/>
          <p:nvPr/>
        </p:nvSpPr>
        <p:spPr>
          <a:xfrm>
            <a:off x="3088843"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Provision replacement</a:t>
            </a:r>
          </a:p>
        </p:txBody>
      </p:sp>
      <p:sp>
        <p:nvSpPr>
          <p:cNvPr id="17" name="Rectangle 16"/>
          <p:cNvSpPr/>
          <p:nvPr/>
        </p:nvSpPr>
        <p:spPr>
          <a:xfrm>
            <a:off x="5162702"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62702" y="2148840"/>
            <a:ext cx="186354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765291"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6529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1" name="TextBox 20"/>
          <p:cNvSpPr txBox="1"/>
          <p:nvPr/>
        </p:nvSpPr>
        <p:spPr>
          <a:xfrm>
            <a:off x="5281574"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Run pre-traffic validation</a:t>
            </a:r>
          </a:p>
        </p:txBody>
      </p:sp>
      <p:sp>
        <p:nvSpPr>
          <p:cNvPr id="22" name="Rectangle 21"/>
          <p:cNvSpPr/>
          <p:nvPr/>
        </p:nvSpPr>
        <p:spPr>
          <a:xfrm>
            <a:off x="7355433"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355433" y="2148840"/>
            <a:ext cx="186354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958022"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5802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6" name="TextBox 25"/>
          <p:cNvSpPr txBox="1"/>
          <p:nvPr/>
        </p:nvSpPr>
        <p:spPr>
          <a:xfrm>
            <a:off x="7474305"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Shift traffic</a:t>
            </a:r>
          </a:p>
        </p:txBody>
      </p:sp>
      <p:sp>
        <p:nvSpPr>
          <p:cNvPr id="27" name="Rectangle 26"/>
          <p:cNvSpPr/>
          <p:nvPr/>
        </p:nvSpPr>
        <p:spPr>
          <a:xfrm>
            <a:off x="9548164"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548164" y="2148840"/>
            <a:ext cx="1863547" cy="914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50753" y="2532888"/>
            <a:ext cx="658368" cy="658368"/>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5075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5</a:t>
            </a:r>
          </a:p>
        </p:txBody>
      </p:sp>
      <p:sp>
        <p:nvSpPr>
          <p:cNvPr id="31" name="TextBox 30"/>
          <p:cNvSpPr txBox="1"/>
          <p:nvPr/>
        </p:nvSpPr>
        <p:spPr>
          <a:xfrm>
            <a:off x="9667036"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Observe or roll back</a:t>
            </a:r>
          </a:p>
        </p:txBody>
      </p:sp>
      <p:cxnSp>
        <p:nvCxnSpPr>
          <p:cNvPr id="32" name="Connector 31"/>
          <p:cNvCxnSpPr/>
          <p:nvPr/>
        </p:nvCxnSpPr>
        <p:spPr>
          <a:xfrm>
            <a:off x="2640787"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83351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026249"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21898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1F6FEB"/>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8" name="TextBox 3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9" name="TextBox 3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0" name="TextBox 3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92</a:t>
            </a:r>
          </a:p>
        </p:txBody>
      </p:sp>
    </p:spTree>
  </p:cSld>
  <p:clrMapOvr>
    <a:masterClrMapping/>
  </p:clrMapOvr>
  <p:transition xmlns:p14="http://schemas.microsoft.com/office/powerpoint/2010/main" p14:dur="380">
    <p:fade/>
  </p:transition>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CHOOSE DELIBERATELY</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100" b="1">
                <a:solidFill>
                  <a:srgbClr val="161B26"/>
                </a:solidFill>
                <a:latin typeface="Arial"/>
              </a:rPr>
              <a:t>CodeDeploy lifecycle, traffic shifting and rollback: configuration decisions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IN-PLACE</a:t>
            </a:r>
          </a:p>
          <a:p>
            <a:pPr algn="l">
              <a:spcAft>
                <a:spcPts val="300"/>
              </a:spcAft>
            </a:pPr>
            <a:r>
              <a:rPr sz="1050" b="0">
                <a:solidFill>
                  <a:srgbClr val="5B6372"/>
                </a:solidFill>
                <a:latin typeface="Arial"/>
              </a:rPr>
              <a:t>Lower capacity cost but shares the original environment and normally has a slower recovery path.</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BLUE/GREEN</a:t>
            </a:r>
          </a:p>
          <a:p>
            <a:pPr algn="l">
              <a:spcAft>
                <a:spcPts val="300"/>
              </a:spcAft>
            </a:pPr>
            <a:r>
              <a:rPr sz="1050" b="0">
                <a:solidFill>
                  <a:srgbClr val="5B6372"/>
                </a:solidFill>
                <a:latin typeface="Arial"/>
              </a:rPr>
              <a:t>Keeps old capacity for rapid rollback but requires duplicate capacity and compatible data changes.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CANARY/LINEAR</a:t>
            </a:r>
          </a:p>
          <a:p>
            <a:pPr algn="l">
              <a:spcAft>
                <a:spcPts val="300"/>
              </a:spcAft>
            </a:pPr>
            <a:r>
              <a:rPr sz="1050" b="0">
                <a:solidFill>
                  <a:srgbClr val="5B6372"/>
                </a:solidFill>
                <a:latin typeface="Arial"/>
              </a:rPr>
              <a:t>Limits early exposure and needs statistically useful traffic plus alarms that react within the interval.</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HOOKS</a:t>
            </a:r>
          </a:p>
          <a:p>
            <a:pPr algn="l">
              <a:spcAft>
                <a:spcPts val="300"/>
              </a:spcAft>
            </a:pPr>
            <a:r>
              <a:rPr sz="1050" b="0">
                <a:solidFill>
                  <a:srgbClr val="5B6372"/>
                </a:solidFill>
                <a:latin typeface="Arial"/>
              </a:rPr>
              <a:t>Use hooks for deterministic validation, not long-running hidden configuration management.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93</a:t>
            </a:r>
          </a:p>
        </p:txBody>
      </p:sp>
    </p:spTree>
  </p:cSld>
  <p:clrMapOvr>
    <a:masterClrMapping/>
  </p:clrMapOvr>
  <p:transition xmlns:p14="http://schemas.microsoft.com/office/powerpoint/2010/main" p14:dur="380">
    <p:fade/>
  </p:transition>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APPLIED ARCHITECTURE</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1900" b="1">
                <a:solidFill>
                  <a:srgbClr val="161B26"/>
                </a:solidFill>
                <a:latin typeface="Arial"/>
              </a:rPr>
              <a:t>CodeDeploy lifecycle, traffic shifting and rollback: worked architecture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SCENARIO</a:t>
            </a:r>
          </a:p>
          <a:p>
            <a:pPr algn="l">
              <a:spcAft>
                <a:spcPts val="300"/>
              </a:spcAft>
            </a:pPr>
            <a:r>
              <a:rPr sz="1050" b="0">
                <a:solidFill>
                  <a:srgbClr val="5B6372"/>
                </a:solidFill>
                <a:latin typeface="Arial"/>
              </a:rPr>
              <a:t>A payment API needs a small production canary and automatic restoration of the prior version when transaction errors rise.</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DESIGN DECISION</a:t>
            </a:r>
          </a:p>
          <a:p>
            <a:pPr algn="l">
              <a:spcAft>
                <a:spcPts val="300"/>
              </a:spcAft>
            </a:pPr>
            <a:r>
              <a:rPr sz="1050" b="0">
                <a:solidFill>
                  <a:srgbClr val="5B6372"/>
                </a:solidFill>
                <a:latin typeface="Arial"/>
              </a:rPr>
              <a:t>Deploy an immutable version behind an alias, shift a small weight, bind a transaction-error alarm and retain the previous alias target for rollback.</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TO AVOID</a:t>
            </a:r>
          </a:p>
          <a:p>
            <a:pPr algn="l">
              <a:spcAft>
                <a:spcPts val="300"/>
              </a:spcAft>
            </a:pPr>
            <a:r>
              <a:rPr sz="1050" b="0">
                <a:solidFill>
                  <a:srgbClr val="5B6372"/>
                </a:solidFill>
                <a:latin typeface="Arial"/>
              </a:rPr>
              <a:t>Infrastructure health alone may stay green while business transactions fail; an alarm that evaluates too slowly misses the canary window.</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ACCEPTANCE EVIDENCE</a:t>
            </a:r>
          </a:p>
          <a:p>
            <a:pPr algn="l">
              <a:spcAft>
                <a:spcPts val="300"/>
              </a:spcAft>
            </a:pPr>
            <a:r>
              <a:rPr sz="1050" b="0">
                <a:solidFill>
                  <a:srgbClr val="5B6372"/>
                </a:solidFill>
                <a:latin typeface="Arial"/>
              </a:rPr>
              <a:t>Revision/version, hook output, target health, traffic weights, alarm history, rollback event and post-rollback transaction check.</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94</a:t>
            </a:r>
          </a:p>
        </p:txBody>
      </p:sp>
    </p:spTree>
  </p:cSld>
  <p:clrMapOvr>
    <a:masterClrMapping/>
  </p:clrMapOvr>
  <p:transition xmlns:p14="http://schemas.microsoft.com/office/powerpoint/2010/main" p14:dur="380">
    <p:fade/>
  </p:transition>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AWS DEVELOPER SERVICES</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300" b="1">
                <a:solidFill>
                  <a:srgbClr val="161B26"/>
                </a:solidFill>
                <a:latin typeface="Arial"/>
              </a:rPr>
              <a:t>Developer deep dive: Elastic Beanstalk managed application platforms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PURPOSE</a:t>
            </a:r>
          </a:p>
          <a:p>
            <a:pPr algn="l">
              <a:spcAft>
                <a:spcPts val="300"/>
              </a:spcAft>
            </a:pPr>
            <a:r>
              <a:rPr sz="1050" b="0">
                <a:solidFill>
                  <a:srgbClr val="5B6372"/>
                </a:solidFill>
                <a:latin typeface="Arial"/>
              </a:rPr>
              <a:t>Operate web applications through managed platform versions, environment configuration and deployment policies without losing architectural control.</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SERVICE BOUNDARY</a:t>
            </a:r>
          </a:p>
          <a:p>
            <a:pPr algn="l">
              <a:spcAft>
                <a:spcPts val="300"/>
              </a:spcAft>
            </a:pPr>
            <a:r>
              <a:rPr sz="1050" b="0">
                <a:solidFill>
                  <a:srgbClr val="5B6372"/>
                </a:solidFill>
                <a:latin typeface="Arial"/>
              </a:rPr>
              <a:t>Elastic Beanstalk · Auto Scaling · ELB · RDS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PRIMARY DESIGN DECISION</a:t>
            </a:r>
          </a:p>
          <a:p>
            <a:pPr algn="l">
              <a:spcAft>
                <a:spcPts val="300"/>
              </a:spcAft>
            </a:pPr>
            <a:r>
              <a:rPr sz="1050" b="0">
                <a:solidFill>
                  <a:srgbClr val="5B6372"/>
                </a:solidFill>
                <a:latin typeface="Arial"/>
              </a:rPr>
              <a:t>Use a supported platform branch, separate the database lifecycle, choose immutable or rolling-with-batch deployment and test managed updates in a clone.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BOUNDARY</a:t>
            </a:r>
          </a:p>
          <a:p>
            <a:pPr algn="l">
              <a:spcAft>
                <a:spcPts val="300"/>
              </a:spcAft>
            </a:pPr>
            <a:r>
              <a:rPr sz="1050" b="0">
                <a:solidFill>
                  <a:srgbClr val="5B6372"/>
                </a:solidFill>
                <a:latin typeface="Arial"/>
              </a:rPr>
              <a:t>Embedding a production database in the environment couples data lifecycle to application replacement; platform hooks can drift when undocumented.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95</a:t>
            </a:r>
          </a:p>
        </p:txBody>
      </p:sp>
    </p:spTree>
  </p:cSld>
  <p:clrMapOvr>
    <a:masterClrMapping/>
  </p:clrMapOvr>
  <p:transition xmlns:p14="http://schemas.microsoft.com/office/powerpoint/2010/main" p14:dur="380">
    <p:fade/>
  </p:transition>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SERVICE MECHANICS</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500" b="1">
                <a:solidFill>
                  <a:srgbClr val="161B26"/>
                </a:solidFill>
                <a:latin typeface="Arial"/>
              </a:rPr>
              <a:t>Elastic Beanstalk managed application platforms: how it works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1</a:t>
            </a:r>
          </a:p>
          <a:p>
            <a:pPr algn="l">
              <a:spcAft>
                <a:spcPts val="300"/>
              </a:spcAft>
            </a:pPr>
            <a:r>
              <a:rPr sz="1050" b="0">
                <a:solidFill>
                  <a:srgbClr val="5B6372"/>
                </a:solidFill>
                <a:latin typeface="Arial"/>
              </a:rPr>
              <a:t>An application contains versions and environments; an environment creates resources such as instances, an Auto Scaling group and a load balancer from configuration options.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2</a:t>
            </a:r>
          </a:p>
          <a:p>
            <a:pPr algn="l">
              <a:spcAft>
                <a:spcPts val="300"/>
              </a:spcAft>
            </a:pPr>
            <a:r>
              <a:rPr sz="1050" b="0">
                <a:solidFill>
                  <a:srgbClr val="5B6372"/>
                </a:solidFill>
                <a:latin typeface="Arial"/>
              </a:rPr>
              <a:t>Platform branches and versions define operating system, runtime, proxy and supported lifecycle; managed platform updates reduce but do not remove upgrade testing.</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3</a:t>
            </a:r>
          </a:p>
          <a:p>
            <a:pPr algn="l">
              <a:spcAft>
                <a:spcPts val="300"/>
              </a:spcAft>
            </a:pPr>
            <a:r>
              <a:rPr sz="1050" b="0">
                <a:solidFill>
                  <a:srgbClr val="5B6372"/>
                </a:solidFill>
                <a:latin typeface="Arial"/>
              </a:rPr>
              <a:t>Saved configurations and environment properties support repeatability, while `.ebextensions` and platform hooks apply controlled customisation.</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4</a:t>
            </a:r>
          </a:p>
          <a:p>
            <a:pPr algn="l">
              <a:spcAft>
                <a:spcPts val="300"/>
              </a:spcAft>
            </a:pPr>
            <a:r>
              <a:rPr sz="1050" b="0">
                <a:solidFill>
                  <a:srgbClr val="5B6372"/>
                </a:solidFill>
                <a:latin typeface="Arial"/>
              </a:rPr>
              <a:t>Application health combines resource and request signals; enhanced health exposes instance and deployment-level status.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96</a:t>
            </a:r>
          </a:p>
        </p:txBody>
      </p:sp>
    </p:spTree>
  </p:cSld>
  <p:clrMapOvr>
    <a:masterClrMapping/>
  </p:clrMapOvr>
  <p:transition xmlns:p14="http://schemas.microsoft.com/office/powerpoint/2010/main" p14:dur="380">
    <p:fade/>
  </p:transition>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CONTROL AND DATA FLOW</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500" b="1">
                <a:solidFill>
                  <a:srgbClr val="161B26"/>
                </a:solidFill>
                <a:latin typeface="Arial"/>
              </a:rPr>
              <a:t>Elastic Beanstalk managed application platforms: operating flow</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6354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79829"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982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Package application version</a:t>
            </a:r>
          </a:p>
        </p:txBody>
      </p:sp>
      <p:sp>
        <p:nvSpPr>
          <p:cNvPr id="12" name="Rectangle 11"/>
          <p:cNvSpPr/>
          <p:nvPr/>
        </p:nvSpPr>
        <p:spPr>
          <a:xfrm>
            <a:off x="2969971"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69971" y="2148840"/>
            <a:ext cx="186354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572560"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72560"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6" name="TextBox 15"/>
          <p:cNvSpPr txBox="1"/>
          <p:nvPr/>
        </p:nvSpPr>
        <p:spPr>
          <a:xfrm>
            <a:off x="3088843"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Validate configuration</a:t>
            </a:r>
          </a:p>
        </p:txBody>
      </p:sp>
      <p:sp>
        <p:nvSpPr>
          <p:cNvPr id="17" name="Rectangle 16"/>
          <p:cNvSpPr/>
          <p:nvPr/>
        </p:nvSpPr>
        <p:spPr>
          <a:xfrm>
            <a:off x="5162702"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62702" y="2148840"/>
            <a:ext cx="186354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765291"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6529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1" name="TextBox 20"/>
          <p:cNvSpPr txBox="1"/>
          <p:nvPr/>
        </p:nvSpPr>
        <p:spPr>
          <a:xfrm>
            <a:off x="5281574"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Create replacement capacity</a:t>
            </a:r>
          </a:p>
        </p:txBody>
      </p:sp>
      <p:sp>
        <p:nvSpPr>
          <p:cNvPr id="22" name="Rectangle 21"/>
          <p:cNvSpPr/>
          <p:nvPr/>
        </p:nvSpPr>
        <p:spPr>
          <a:xfrm>
            <a:off x="7355433"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355433" y="2148840"/>
            <a:ext cx="186354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958022"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5802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6" name="TextBox 25"/>
          <p:cNvSpPr txBox="1"/>
          <p:nvPr/>
        </p:nvSpPr>
        <p:spPr>
          <a:xfrm>
            <a:off x="7474305"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Deploy by policy</a:t>
            </a:r>
          </a:p>
        </p:txBody>
      </p:sp>
      <p:sp>
        <p:nvSpPr>
          <p:cNvPr id="27" name="Rectangle 26"/>
          <p:cNvSpPr/>
          <p:nvPr/>
        </p:nvSpPr>
        <p:spPr>
          <a:xfrm>
            <a:off x="9548164"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548164" y="2148840"/>
            <a:ext cx="1863547" cy="914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50753" y="2532888"/>
            <a:ext cx="658368" cy="658368"/>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5075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5</a:t>
            </a:r>
          </a:p>
        </p:txBody>
      </p:sp>
      <p:sp>
        <p:nvSpPr>
          <p:cNvPr id="31" name="TextBox 30"/>
          <p:cNvSpPr txBox="1"/>
          <p:nvPr/>
        </p:nvSpPr>
        <p:spPr>
          <a:xfrm>
            <a:off x="9667036"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Read health and retain rollback</a:t>
            </a:r>
          </a:p>
        </p:txBody>
      </p:sp>
      <p:cxnSp>
        <p:nvCxnSpPr>
          <p:cNvPr id="32" name="Connector 31"/>
          <p:cNvCxnSpPr/>
          <p:nvPr/>
        </p:nvCxnSpPr>
        <p:spPr>
          <a:xfrm>
            <a:off x="2640787"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83351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026249"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21898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1F6FEB"/>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8" name="TextBox 3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9" name="TextBox 3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0" name="TextBox 3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97</a:t>
            </a:r>
          </a:p>
        </p:txBody>
      </p:sp>
    </p:spTree>
  </p:cSld>
  <p:clrMapOvr>
    <a:masterClrMapping/>
  </p:clrMapOvr>
  <p:transition xmlns:p14="http://schemas.microsoft.com/office/powerpoint/2010/main" p14:dur="380">
    <p:fade/>
  </p:transition>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CHOOSE DELIBERATELY</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100" b="1">
                <a:solidFill>
                  <a:srgbClr val="161B26"/>
                </a:solidFill>
                <a:latin typeface="Arial"/>
              </a:rPr>
              <a:t>Elastic Beanstalk managed application platforms: configuration decisions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ALL AT ONCE</a:t>
            </a:r>
          </a:p>
          <a:p>
            <a:pPr algn="l">
              <a:spcAft>
                <a:spcPts val="300"/>
              </a:spcAft>
            </a:pPr>
            <a:r>
              <a:rPr sz="1050" b="0">
                <a:solidFill>
                  <a:srgbClr val="5B6372"/>
                </a:solidFill>
                <a:latin typeface="Arial"/>
              </a:rPr>
              <a:t>Fast and cheap, but introduces downtime or full-fleet risk.</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ROLLING</a:t>
            </a:r>
          </a:p>
          <a:p>
            <a:pPr algn="l">
              <a:spcAft>
                <a:spcPts val="300"/>
              </a:spcAft>
            </a:pPr>
            <a:r>
              <a:rPr sz="1050" b="0">
                <a:solidFill>
                  <a:srgbClr val="5B6372"/>
                </a:solidFill>
                <a:latin typeface="Arial"/>
              </a:rPr>
              <a:t>Updates batches while reducing available capacity during the deployment.</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ROLLING WITH BATCH</a:t>
            </a:r>
          </a:p>
          <a:p>
            <a:pPr algn="l">
              <a:spcAft>
                <a:spcPts val="300"/>
              </a:spcAft>
            </a:pPr>
            <a:r>
              <a:rPr sz="1050" b="0">
                <a:solidFill>
                  <a:srgbClr val="5B6372"/>
                </a:solidFill>
                <a:latin typeface="Arial"/>
              </a:rPr>
              <a:t>Adds temporary capacity to preserve service level at higher short-term cost.</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IMMUTABLE</a:t>
            </a:r>
          </a:p>
          <a:p>
            <a:pPr algn="l">
              <a:spcAft>
                <a:spcPts val="300"/>
              </a:spcAft>
            </a:pPr>
            <a:r>
              <a:rPr sz="1050" b="0">
                <a:solidFill>
                  <a:srgbClr val="5B6372"/>
                </a:solidFill>
                <a:latin typeface="Arial"/>
              </a:rPr>
              <a:t>Launches a fresh group for strong isolation and quick environment-level recovery.</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98</a:t>
            </a:r>
          </a:p>
        </p:txBody>
      </p:sp>
    </p:spTree>
  </p:cSld>
  <p:clrMapOvr>
    <a:masterClrMapping/>
  </p:clrMapOvr>
  <p:transition xmlns:p14="http://schemas.microsoft.com/office/powerpoint/2010/main" p14:dur="380">
    <p:fade/>
  </p:transition>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APPLIED ARCHITECTURE</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1900" b="1">
                <a:solidFill>
                  <a:srgbClr val="161B26"/>
                </a:solidFill>
                <a:latin typeface="Arial"/>
              </a:rPr>
              <a:t>Elastic Beanstalk managed application platforms: worked architecture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SCENARIO</a:t>
            </a:r>
          </a:p>
          <a:p>
            <a:pPr algn="l">
              <a:spcAft>
                <a:spcPts val="300"/>
              </a:spcAft>
            </a:pPr>
            <a:r>
              <a:rPr sz="1050" b="0">
                <a:solidFill>
                  <a:srgbClr val="5B6372"/>
                </a:solidFill>
                <a:latin typeface="Arial"/>
              </a:rPr>
              <a:t>A legacy web service needs managed runtime patching but cannot accept reduced capacity during release.</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DESIGN DECISION</a:t>
            </a:r>
          </a:p>
          <a:p>
            <a:pPr algn="l">
              <a:spcAft>
                <a:spcPts val="300"/>
              </a:spcAft>
            </a:pPr>
            <a:r>
              <a:rPr sz="1050" b="0">
                <a:solidFill>
                  <a:srgbClr val="5B6372"/>
                </a:solidFill>
                <a:latin typeface="Arial"/>
              </a:rPr>
              <a:t>Use a supported platform branch, separate the database lifecycle, choose immutable or rolling-with-batch deployment and test managed updates in a clone.</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TO AVOID</a:t>
            </a:r>
          </a:p>
          <a:p>
            <a:pPr algn="l">
              <a:spcAft>
                <a:spcPts val="300"/>
              </a:spcAft>
            </a:pPr>
            <a:r>
              <a:rPr sz="1050" b="0">
                <a:solidFill>
                  <a:srgbClr val="5B6372"/>
                </a:solidFill>
                <a:latin typeface="Arial"/>
              </a:rPr>
              <a:t>Embedding a production database in the environment couples data lifecycle to application replacement; platform hooks can drift when undocumented.</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ACCEPTANCE EVIDENCE</a:t>
            </a:r>
          </a:p>
          <a:p>
            <a:pPr algn="l">
              <a:spcAft>
                <a:spcPts val="300"/>
              </a:spcAft>
            </a:pPr>
            <a:r>
              <a:rPr sz="1050" b="0">
                <a:solidFill>
                  <a:srgbClr val="5B6372"/>
                </a:solidFill>
                <a:latin typeface="Arial"/>
              </a:rPr>
              <a:t>Application version, configuration template, platform version, enhanced-health events, deployment policy and rollback environment.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99</a:t>
            </a:r>
          </a:p>
        </p:txBody>
      </p:sp>
    </p:spTree>
  </p:cSld>
  <p:clrMapOvr>
    <a:masterClrMapping/>
  </p:clrMapOvr>
  <p:transition xmlns:p14="http://schemas.microsoft.com/office/powerpoint/2010/main" p14:dur="380">
    <p:fade/>
  </p:transition>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SDLC AUTOMATION</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Continuous delivery operating model</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OUTCOME</a:t>
            </a:r>
          </a:p>
          <a:p>
            <a:pPr algn="l">
              <a:spcAft>
                <a:spcPts val="300"/>
              </a:spcAft>
            </a:pPr>
            <a:r>
              <a:rPr sz="1050" b="0">
                <a:solidFill>
                  <a:srgbClr val="5B6372"/>
                </a:solidFill>
                <a:latin typeface="Arial"/>
              </a:rPr>
              <a:t>Turn every accepted change into a repeatable, observable release candidate.</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ARCHITECTURE</a:t>
            </a:r>
          </a:p>
          <a:p>
            <a:pPr algn="l">
              <a:spcAft>
                <a:spcPts val="300"/>
              </a:spcAft>
            </a:pPr>
            <a:r>
              <a:rPr sz="1050" b="0">
                <a:solidFill>
                  <a:srgbClr val="5B6372"/>
                </a:solidFill>
                <a:latin typeface="Arial"/>
              </a:rPr>
              <a:t>Separate source, build, test, approval and deploy concerns; promote immutable artifacts rather than rebuilding per environment.</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MODE</a:t>
            </a:r>
          </a:p>
          <a:p>
            <a:pPr algn="l">
              <a:spcAft>
                <a:spcPts val="300"/>
              </a:spcAft>
            </a:pPr>
            <a:r>
              <a:rPr sz="1050" b="0">
                <a:solidFill>
                  <a:srgbClr val="5B6372"/>
                </a:solidFill>
                <a:latin typeface="Arial"/>
              </a:rPr>
              <a:t>Hidden manual steps create configuration variance and weak rollback evidence.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EVIDENCE</a:t>
            </a:r>
          </a:p>
          <a:p>
            <a:pPr algn="l">
              <a:spcAft>
                <a:spcPts val="300"/>
              </a:spcAft>
            </a:pPr>
            <a:r>
              <a:rPr sz="1050" b="0">
                <a:solidFill>
                  <a:srgbClr val="5B6372"/>
                </a:solidFill>
                <a:latin typeface="Arial"/>
              </a:rPr>
              <a:t>Commit SHA, test report, artifact digest, approval identity and deployment outcome form the release record.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100</a:t>
            </a:r>
          </a:p>
        </p:txBody>
      </p:sp>
    </p:spTree>
  </p:cSld>
  <p:clrMapOvr>
    <a:masterClrMapping/>
  </p:clrMapOvr>
  <p:transition xmlns:p14="http://schemas.microsoft.com/office/powerpoint/2010/main" p14:dur="380">
    <p:fade/>
  </p:transition>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PROCESS MODEL</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Continuous delivery operating model: operating flow</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49809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97102"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9710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Commit</a:t>
            </a:r>
          </a:p>
        </p:txBody>
      </p:sp>
      <p:sp>
        <p:nvSpPr>
          <p:cNvPr id="12" name="Rectangle 11"/>
          <p:cNvSpPr/>
          <p:nvPr/>
        </p:nvSpPr>
        <p:spPr>
          <a:xfrm>
            <a:off x="2604516"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04516" y="2148840"/>
            <a:ext cx="149809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024378"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24378"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6" name="TextBox 15"/>
          <p:cNvSpPr txBox="1"/>
          <p:nvPr/>
        </p:nvSpPr>
        <p:spPr>
          <a:xfrm>
            <a:off x="2723388"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Build once</a:t>
            </a:r>
          </a:p>
        </p:txBody>
      </p:sp>
      <p:sp>
        <p:nvSpPr>
          <p:cNvPr id="17" name="Rectangle 16"/>
          <p:cNvSpPr/>
          <p:nvPr/>
        </p:nvSpPr>
        <p:spPr>
          <a:xfrm>
            <a:off x="4431792"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431792" y="2148840"/>
            <a:ext cx="149809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851654"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51654"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1" name="TextBox 20"/>
          <p:cNvSpPr txBox="1"/>
          <p:nvPr/>
        </p:nvSpPr>
        <p:spPr>
          <a:xfrm>
            <a:off x="4550664"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Test and scan</a:t>
            </a:r>
          </a:p>
        </p:txBody>
      </p:sp>
      <p:sp>
        <p:nvSpPr>
          <p:cNvPr id="22" name="Rectangle 21"/>
          <p:cNvSpPr/>
          <p:nvPr/>
        </p:nvSpPr>
        <p:spPr>
          <a:xfrm>
            <a:off x="6259068"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59068" y="2148840"/>
            <a:ext cx="149809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678930"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78930"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6" name="TextBox 25"/>
          <p:cNvSpPr txBox="1"/>
          <p:nvPr/>
        </p:nvSpPr>
        <p:spPr>
          <a:xfrm>
            <a:off x="6377940"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Approve</a:t>
            </a:r>
          </a:p>
        </p:txBody>
      </p:sp>
      <p:sp>
        <p:nvSpPr>
          <p:cNvPr id="27" name="Rectangle 26"/>
          <p:cNvSpPr/>
          <p:nvPr/>
        </p:nvSpPr>
        <p:spPr>
          <a:xfrm>
            <a:off x="8086344"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086344" y="2148840"/>
            <a:ext cx="1498092" cy="914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506206" y="2532888"/>
            <a:ext cx="658368" cy="658368"/>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06206"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5</a:t>
            </a:r>
          </a:p>
        </p:txBody>
      </p:sp>
      <p:sp>
        <p:nvSpPr>
          <p:cNvPr id="31" name="TextBox 30"/>
          <p:cNvSpPr txBox="1"/>
          <p:nvPr/>
        </p:nvSpPr>
        <p:spPr>
          <a:xfrm>
            <a:off x="8205216"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Promote</a:t>
            </a:r>
          </a:p>
        </p:txBody>
      </p:sp>
      <p:sp>
        <p:nvSpPr>
          <p:cNvPr id="32" name="Rectangle 31"/>
          <p:cNvSpPr/>
          <p:nvPr/>
        </p:nvSpPr>
        <p:spPr>
          <a:xfrm>
            <a:off x="9913620"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913620" y="2148840"/>
            <a:ext cx="1498092" cy="91440"/>
          </a:xfrm>
          <a:prstGeom prst="rect">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333482" y="2532888"/>
            <a:ext cx="658368" cy="658368"/>
          </a:xfrm>
          <a:prstGeom prst="ellipse">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3348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6</a:t>
            </a:r>
          </a:p>
        </p:txBody>
      </p:sp>
      <p:sp>
        <p:nvSpPr>
          <p:cNvPr id="36" name="TextBox 35"/>
          <p:cNvSpPr txBox="1"/>
          <p:nvPr/>
        </p:nvSpPr>
        <p:spPr>
          <a:xfrm>
            <a:off x="10032492"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Observe</a:t>
            </a:r>
          </a:p>
        </p:txBody>
      </p:sp>
      <p:cxnSp>
        <p:nvCxnSpPr>
          <p:cNvPr id="37" name="Connector 36"/>
          <p:cNvCxnSpPr/>
          <p:nvPr/>
        </p:nvCxnSpPr>
        <p:spPr>
          <a:xfrm>
            <a:off x="2275332"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10260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929884"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775716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9584436"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1F6FEB"/>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44" name="TextBox 4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45" name="TextBox 4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6" name="TextBox 4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101</a:t>
            </a:r>
          </a:p>
        </p:txBody>
      </p:sp>
    </p:spTree>
  </p:cSld>
  <p:clrMapOvr>
    <a:masterClrMapping/>
  </p:clrMapOvr>
  <p:transition xmlns:p14="http://schemas.microsoft.com/office/powerpoint/2010/main" p14:dur="380">
    <p:fade/>
  </p:transition>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Continuous delivery operating model: design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83280" cy="43708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70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011680"/>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011680"/>
            <a:ext cx="530352" cy="530352"/>
          </a:xfrm>
          <a:prstGeom prst="rect">
            <a:avLst/>
          </a:prstGeom>
          <a:noFill/>
        </p:spPr>
        <p:txBody>
          <a:bodyPr wrap="square" anchor="ctr">
            <a:spAutoFit/>
          </a:bodyPr>
          <a:lstStyle/>
          <a:p>
            <a:pPr algn="ctr">
              <a:spcAft>
                <a:spcPts val="400"/>
              </a:spcAft>
            </a:pPr>
            <a:r>
              <a:rPr sz="2000" b="1">
                <a:solidFill>
                  <a:srgbClr val="FFFFFF"/>
                </a:solidFill>
                <a:latin typeface="Arial"/>
              </a:rPr>
              <a:t>?</a:t>
            </a:r>
          </a:p>
        </p:txBody>
      </p:sp>
      <p:sp>
        <p:nvSpPr>
          <p:cNvPr id="11" name="TextBox 10"/>
          <p:cNvSpPr txBox="1"/>
          <p:nvPr/>
        </p:nvSpPr>
        <p:spPr>
          <a:xfrm>
            <a:off x="1709928" y="1984248"/>
            <a:ext cx="2212848" cy="502920"/>
          </a:xfrm>
          <a:prstGeom prst="rect">
            <a:avLst/>
          </a:prstGeom>
          <a:noFill/>
        </p:spPr>
        <p:txBody>
          <a:bodyPr wrap="square" anchor="ctr">
            <a:spAutoFit/>
          </a:bodyPr>
          <a:lstStyle/>
          <a:p>
            <a:pPr algn="l">
              <a:spcAft>
                <a:spcPts val="400"/>
              </a:spcAft>
            </a:pPr>
            <a:r>
              <a:rPr sz="1350" b="1">
                <a:solidFill>
                  <a:srgbClr val="1F6FEB"/>
                </a:solidFill>
                <a:latin typeface="Arial"/>
              </a:rPr>
              <a:t>SCENARIO</a:t>
            </a:r>
          </a:p>
        </p:txBody>
      </p:sp>
      <p:sp>
        <p:nvSpPr>
          <p:cNvPr id="12" name="TextBox 11"/>
          <p:cNvSpPr txBox="1"/>
          <p:nvPr/>
        </p:nvSpPr>
        <p:spPr>
          <a:xfrm>
            <a:off x="1051560" y="2743200"/>
            <a:ext cx="2834640" cy="3136392"/>
          </a:xfrm>
          <a:prstGeom prst="rect">
            <a:avLst/>
          </a:prstGeom>
          <a:noFill/>
        </p:spPr>
        <p:txBody>
          <a:bodyPr wrap="square" anchor="t">
            <a:spAutoFit/>
          </a:bodyPr>
          <a:lstStyle/>
          <a:p>
            <a:pPr algn="l">
              <a:spcAft>
                <a:spcPts val="400"/>
              </a:spcAft>
            </a:pPr>
            <a:r>
              <a:rPr sz="1300" b="0">
                <a:solidFill>
                  <a:srgbClr val="161B26"/>
                </a:solidFill>
                <a:latin typeface="Arial"/>
              </a:rPr>
              <a:t>A regulated team needs fast releases without allowing developers to deploy directly to production.</a:t>
            </a:r>
          </a:p>
        </p:txBody>
      </p:sp>
      <p:sp>
        <p:nvSpPr>
          <p:cNvPr id="13" name="Rectangle 12"/>
          <p:cNvSpPr/>
          <p:nvPr/>
        </p:nvSpPr>
        <p:spPr>
          <a:xfrm>
            <a:off x="4434840"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34840" y="1783080"/>
            <a:ext cx="91440"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636008" y="1965960"/>
            <a:ext cx="438912" cy="43891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6008"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7" name="TextBox 16"/>
          <p:cNvSpPr txBox="1"/>
          <p:nvPr/>
        </p:nvSpPr>
        <p:spPr>
          <a:xfrm>
            <a:off x="5212080" y="1929384"/>
            <a:ext cx="2286000" cy="475488"/>
          </a:xfrm>
          <a:prstGeom prst="rect">
            <a:avLst/>
          </a:prstGeom>
          <a:noFill/>
        </p:spPr>
        <p:txBody>
          <a:bodyPr wrap="square" anchor="ctr">
            <a:spAutoFit/>
          </a:bodyPr>
          <a:lstStyle/>
          <a:p>
            <a:pPr algn="l">
              <a:spcAft>
                <a:spcPts val="400"/>
              </a:spcAft>
            </a:pPr>
            <a:r>
              <a:rPr sz="1250" b="1">
                <a:solidFill>
                  <a:srgbClr val="10B981"/>
                </a:solidFill>
                <a:latin typeface="Arial"/>
              </a:rPr>
              <a:t>DESIGN RESPONSE</a:t>
            </a:r>
          </a:p>
        </p:txBody>
      </p:sp>
      <p:sp>
        <p:nvSpPr>
          <p:cNvPr id="18" name="TextBox 17"/>
          <p:cNvSpPr txBox="1"/>
          <p:nvPr/>
        </p:nvSpPr>
        <p:spPr>
          <a:xfrm>
            <a:off x="4663440"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Separate source, build, test, approval and deploy concerns; promote immutable artifacts rather than rebuilding per environment.</a:t>
            </a:r>
          </a:p>
        </p:txBody>
      </p:sp>
      <p:sp>
        <p:nvSpPr>
          <p:cNvPr id="19" name="Rectangle 18"/>
          <p:cNvSpPr/>
          <p:nvPr/>
        </p:nvSpPr>
        <p:spPr>
          <a:xfrm>
            <a:off x="7973568"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973568" y="1783080"/>
            <a:ext cx="91440" cy="21488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174736" y="1965960"/>
            <a:ext cx="438912" cy="43891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74736"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23" name="TextBox 22"/>
          <p:cNvSpPr txBox="1"/>
          <p:nvPr/>
        </p:nvSpPr>
        <p:spPr>
          <a:xfrm>
            <a:off x="8750808" y="1929384"/>
            <a:ext cx="2286000" cy="475488"/>
          </a:xfrm>
          <a:prstGeom prst="rect">
            <a:avLst/>
          </a:prstGeom>
          <a:noFill/>
        </p:spPr>
        <p:txBody>
          <a:bodyPr wrap="square" anchor="ctr">
            <a:spAutoFit/>
          </a:bodyPr>
          <a:lstStyle/>
          <a:p>
            <a:pPr algn="l">
              <a:spcAft>
                <a:spcPts val="400"/>
              </a:spcAft>
            </a:pPr>
            <a:r>
              <a:rPr sz="1250" b="1">
                <a:solidFill>
                  <a:srgbClr val="7C3AED"/>
                </a:solidFill>
                <a:latin typeface="Arial"/>
              </a:rPr>
              <a:t>PRIMARY SERVICES</a:t>
            </a:r>
          </a:p>
        </p:txBody>
      </p:sp>
      <p:sp>
        <p:nvSpPr>
          <p:cNvPr id="24" name="TextBox 23"/>
          <p:cNvSpPr txBox="1"/>
          <p:nvPr/>
        </p:nvSpPr>
        <p:spPr>
          <a:xfrm>
            <a:off x="8202168"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GitHub · CodePipeline · CodeBuild · CodeDeploy</a:t>
            </a:r>
          </a:p>
        </p:txBody>
      </p:sp>
      <p:sp>
        <p:nvSpPr>
          <p:cNvPr id="25" name="Rectangle 24"/>
          <p:cNvSpPr/>
          <p:nvPr/>
        </p:nvSpPr>
        <p:spPr>
          <a:xfrm>
            <a:off x="4434840"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34840" y="4005072"/>
            <a:ext cx="91440" cy="21488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636008" y="4187952"/>
            <a:ext cx="438912" cy="43891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36008"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9" name="TextBox 28"/>
          <p:cNvSpPr txBox="1"/>
          <p:nvPr/>
        </p:nvSpPr>
        <p:spPr>
          <a:xfrm>
            <a:off x="5212080" y="4151376"/>
            <a:ext cx="2286000" cy="475488"/>
          </a:xfrm>
          <a:prstGeom prst="rect">
            <a:avLst/>
          </a:prstGeom>
          <a:noFill/>
        </p:spPr>
        <p:txBody>
          <a:bodyPr wrap="square" anchor="ctr">
            <a:spAutoFit/>
          </a:bodyPr>
          <a:lstStyle/>
          <a:p>
            <a:pPr algn="l">
              <a:spcAft>
                <a:spcPts val="400"/>
              </a:spcAft>
            </a:pPr>
            <a:r>
              <a:rPr sz="1250" b="1">
                <a:solidFill>
                  <a:srgbClr val="F59E0B"/>
                </a:solidFill>
                <a:latin typeface="Arial"/>
              </a:rPr>
              <a:t>FAILURE MODE</a:t>
            </a:r>
          </a:p>
        </p:txBody>
      </p:sp>
      <p:sp>
        <p:nvSpPr>
          <p:cNvPr id="30" name="TextBox 29"/>
          <p:cNvSpPr txBox="1"/>
          <p:nvPr/>
        </p:nvSpPr>
        <p:spPr>
          <a:xfrm>
            <a:off x="4663440"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Hidden manual steps create configuration variance and weak rollback evidence.</a:t>
            </a:r>
          </a:p>
        </p:txBody>
      </p:sp>
      <p:sp>
        <p:nvSpPr>
          <p:cNvPr id="31" name="Rectangle 30"/>
          <p:cNvSpPr/>
          <p:nvPr/>
        </p:nvSpPr>
        <p:spPr>
          <a:xfrm>
            <a:off x="7973568"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73568" y="4005072"/>
            <a:ext cx="91440" cy="21488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174736" y="4187952"/>
            <a:ext cx="438912" cy="438912"/>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74736"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5" name="TextBox 34"/>
          <p:cNvSpPr txBox="1"/>
          <p:nvPr/>
        </p:nvSpPr>
        <p:spPr>
          <a:xfrm>
            <a:off x="8750808" y="4151376"/>
            <a:ext cx="2286000" cy="475488"/>
          </a:xfrm>
          <a:prstGeom prst="rect">
            <a:avLst/>
          </a:prstGeom>
          <a:noFill/>
        </p:spPr>
        <p:txBody>
          <a:bodyPr wrap="square" anchor="ctr">
            <a:spAutoFit/>
          </a:bodyPr>
          <a:lstStyle/>
          <a:p>
            <a:pPr algn="l">
              <a:spcAft>
                <a:spcPts val="400"/>
              </a:spcAft>
            </a:pPr>
            <a:r>
              <a:rPr sz="1250" b="1">
                <a:solidFill>
                  <a:srgbClr val="EC711E"/>
                </a:solidFill>
                <a:latin typeface="Arial"/>
              </a:rPr>
              <a:t>PROOF</a:t>
            </a:r>
          </a:p>
        </p:txBody>
      </p:sp>
      <p:sp>
        <p:nvSpPr>
          <p:cNvPr id="36" name="TextBox 35"/>
          <p:cNvSpPr txBox="1"/>
          <p:nvPr/>
        </p:nvSpPr>
        <p:spPr>
          <a:xfrm>
            <a:off x="8202168"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Commit SHA, test report, artifact digest, approval identity and deployment outcome form the release record.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102</a:t>
            </a:r>
          </a:p>
        </p:txBody>
      </p:sp>
    </p:spTree>
  </p:cSld>
  <p:clrMapOvr>
    <a:masterClrMapping/>
  </p:clrMapOvr>
  <p:transition xmlns:p14="http://schemas.microsoft.com/office/powerpoint/2010/main" p14:dur="380">
    <p:fade/>
  </p:transition>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OPERATIONS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Continuous delivery operating model: failure diagnostic</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RECOGNISE</a:t>
            </a:r>
          </a:p>
          <a:p>
            <a:pPr algn="l">
              <a:spcAft>
                <a:spcPts val="300"/>
              </a:spcAft>
            </a:pPr>
            <a:r>
              <a:rPr sz="1050" b="0">
                <a:solidFill>
                  <a:srgbClr val="5B6372"/>
                </a:solidFill>
                <a:latin typeface="Arial"/>
              </a:rPr>
              <a:t>Observable failure condition: Hidden manual steps create configuration variance and weak rollback evidence.</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CONTAIN</a:t>
            </a:r>
          </a:p>
          <a:p>
            <a:pPr algn="l">
              <a:spcAft>
                <a:spcPts val="300"/>
              </a:spcAft>
            </a:pPr>
            <a:r>
              <a:rPr sz="1050" b="0">
                <a:solidFill>
                  <a:srgbClr val="5B6372"/>
                </a:solidFill>
                <a:latin typeface="Arial"/>
              </a:rPr>
              <a:t>Pause promotion, preserve evidence and reduce impact without destroying diagnostic state.</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DIAGNOSE</a:t>
            </a:r>
          </a:p>
          <a:p>
            <a:pPr algn="l">
              <a:spcAft>
                <a:spcPts val="300"/>
              </a:spcAft>
            </a:pPr>
            <a:r>
              <a:rPr sz="1050" b="0">
                <a:solidFill>
                  <a:srgbClr val="5B6372"/>
                </a:solidFill>
                <a:latin typeface="Arial"/>
              </a:rPr>
              <a:t>Trace the workflow from Commit through Observe; compare intended configuration with runtime state.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RECOVER</a:t>
            </a:r>
          </a:p>
          <a:p>
            <a:pPr algn="l">
              <a:spcAft>
                <a:spcPts val="300"/>
              </a:spcAft>
            </a:pPr>
            <a:r>
              <a:rPr sz="1050" b="0">
                <a:solidFill>
                  <a:srgbClr val="5B6372"/>
                </a:solidFill>
                <a:latin typeface="Arial"/>
              </a:rPr>
              <a:t>Restore the last known-good state, then prove recovery with Commit SHA, test report, artifact digest, approval identity and deployment outcome form the release record.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103</a:t>
            </a:r>
          </a:p>
        </p:txBody>
      </p:sp>
    </p:spTree>
  </p:cSld>
  <p:clrMapOvr>
    <a:masterClrMapping/>
  </p:clrMapOvr>
  <p:transition xmlns:p14="http://schemas.microsoft.com/office/powerpoint/2010/main" p14:dur="380">
    <p:fade/>
  </p:transition>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APPLIED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Continuous delivery operating model: worked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CONSTRAINT</a:t>
            </a:r>
          </a:p>
          <a:p>
            <a:pPr algn="l">
              <a:spcAft>
                <a:spcPts val="300"/>
              </a:spcAft>
            </a:pPr>
            <a:r>
              <a:rPr sz="1050" b="0">
                <a:solidFill>
                  <a:srgbClr val="5B6372"/>
                </a:solidFill>
                <a:latin typeface="Arial"/>
              </a:rPr>
              <a:t>A regulated team needs fast releases without allowing developers to deploy directly to production.</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DECISION</a:t>
            </a:r>
          </a:p>
          <a:p>
            <a:pPr algn="l">
              <a:spcAft>
                <a:spcPts val="300"/>
              </a:spcAft>
            </a:pPr>
            <a:r>
              <a:rPr sz="1050" b="0">
                <a:solidFill>
                  <a:srgbClr val="5B6372"/>
                </a:solidFill>
                <a:latin typeface="Arial"/>
              </a:rPr>
              <a:t>Separate source, build, test, approval and deploy concerns; promote immutable artifacts rather than rebuilding per environment.</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WHY ALTERNATIVES LOSE</a:t>
            </a:r>
          </a:p>
          <a:p>
            <a:pPr algn="l">
              <a:spcAft>
                <a:spcPts val="300"/>
              </a:spcAft>
            </a:pPr>
            <a:r>
              <a:rPr sz="1050" b="0">
                <a:solidFill>
                  <a:srgbClr val="5B6372"/>
                </a:solidFill>
                <a:latin typeface="Arial"/>
              </a:rPr>
              <a:t>Reject options that do not change the stated failure boundary: Hidden manual steps create configuration variance and weak rollback evidence.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ACCEPTANCE TEST</a:t>
            </a:r>
          </a:p>
          <a:p>
            <a:pPr algn="l">
              <a:spcAft>
                <a:spcPts val="300"/>
              </a:spcAft>
            </a:pPr>
            <a:r>
              <a:rPr sz="1050" b="0">
                <a:solidFill>
                  <a:srgbClr val="5B6372"/>
                </a:solidFill>
                <a:latin typeface="Arial"/>
              </a:rPr>
              <a:t>The decision is complete only when this proof exists: Commit SHA, test report, artifact digest, approval identity and deployment outcome form the release record.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104</a:t>
            </a:r>
          </a:p>
        </p:txBody>
      </p:sp>
    </p:spTree>
  </p:cSld>
  <p:clrMapOvr>
    <a:masterClrMapping/>
  </p:clrMapOvr>
  <p:transition xmlns:p14="http://schemas.microsoft.com/office/powerpoint/2010/main" p14:dur="380">
    <p:fade/>
  </p:transition>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SDLC AUTOMATION</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Pipeline triggers and source governance</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OUTCOME</a:t>
            </a:r>
          </a:p>
          <a:p>
            <a:pPr algn="l">
              <a:spcAft>
                <a:spcPts val="300"/>
              </a:spcAft>
            </a:pPr>
            <a:r>
              <a:rPr sz="1050" b="0">
                <a:solidFill>
                  <a:srgbClr val="5B6372"/>
                </a:solidFill>
                <a:latin typeface="Arial"/>
              </a:rPr>
              <a:t>Start the right pipeline from an authenticated source event while protecting mainline quality.</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ARCHITECTURE</a:t>
            </a:r>
          </a:p>
          <a:p>
            <a:pPr algn="l">
              <a:spcAft>
                <a:spcPts val="300"/>
              </a:spcAft>
            </a:pPr>
            <a:r>
              <a:rPr sz="1050" b="0">
                <a:solidFill>
                  <a:srgbClr val="5B6372"/>
                </a:solidFill>
                <a:latin typeface="Arial"/>
              </a:rPr>
              <a:t>Use pull-request checks, protected branches, signed connections and event filters; avoid broad polling and shared credentials.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MODE</a:t>
            </a:r>
          </a:p>
          <a:p>
            <a:pPr algn="l">
              <a:spcAft>
                <a:spcPts val="300"/>
              </a:spcAft>
            </a:pPr>
            <a:r>
              <a:rPr sz="1050" b="0">
                <a:solidFill>
                  <a:srgbClr val="5B6372"/>
                </a:solidFill>
                <a:latin typeface="Arial"/>
              </a:rPr>
              <a:t>A trigger that accepts unreviewed branches can promote untrusted code.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EVIDENCE</a:t>
            </a:r>
          </a:p>
          <a:p>
            <a:pPr algn="l">
              <a:spcAft>
                <a:spcPts val="300"/>
              </a:spcAft>
            </a:pPr>
            <a:r>
              <a:rPr sz="1050" b="0">
                <a:solidFill>
                  <a:srgbClr val="5B6372"/>
                </a:solidFill>
                <a:latin typeface="Arial"/>
              </a:rPr>
              <a:t>Repository event, branch rule, connection ARN, trigger filter and execution correlation ID.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105</a:t>
            </a:r>
          </a:p>
        </p:txBody>
      </p:sp>
    </p:spTree>
  </p:cSld>
  <p:clrMapOvr>
    <a:masterClrMapping/>
  </p:clrMapOvr>
  <p:transition xmlns:p14="http://schemas.microsoft.com/office/powerpoint/2010/main" p14:dur="380">
    <p:fade/>
  </p:transition>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PROCESS MODEL</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700" b="1">
                <a:solidFill>
                  <a:srgbClr val="161B26"/>
                </a:solidFill>
                <a:latin typeface="Arial"/>
              </a:rPr>
              <a:t>Pipeline triggers and source governance: operating flow</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6354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79829"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982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Pull request</a:t>
            </a:r>
          </a:p>
        </p:txBody>
      </p:sp>
      <p:sp>
        <p:nvSpPr>
          <p:cNvPr id="12" name="Rectangle 11"/>
          <p:cNvSpPr/>
          <p:nvPr/>
        </p:nvSpPr>
        <p:spPr>
          <a:xfrm>
            <a:off x="2969971"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69971" y="2148840"/>
            <a:ext cx="186354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572560"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72560"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6" name="TextBox 15"/>
          <p:cNvSpPr txBox="1"/>
          <p:nvPr/>
        </p:nvSpPr>
        <p:spPr>
          <a:xfrm>
            <a:off x="3088843"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Policy checks</a:t>
            </a:r>
          </a:p>
        </p:txBody>
      </p:sp>
      <p:sp>
        <p:nvSpPr>
          <p:cNvPr id="17" name="Rectangle 16"/>
          <p:cNvSpPr/>
          <p:nvPr/>
        </p:nvSpPr>
        <p:spPr>
          <a:xfrm>
            <a:off x="5162702"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62702" y="2148840"/>
            <a:ext cx="186354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765291"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6529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1" name="TextBox 20"/>
          <p:cNvSpPr txBox="1"/>
          <p:nvPr/>
        </p:nvSpPr>
        <p:spPr>
          <a:xfrm>
            <a:off x="5281574"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Merge event</a:t>
            </a:r>
          </a:p>
        </p:txBody>
      </p:sp>
      <p:sp>
        <p:nvSpPr>
          <p:cNvPr id="22" name="Rectangle 21"/>
          <p:cNvSpPr/>
          <p:nvPr/>
        </p:nvSpPr>
        <p:spPr>
          <a:xfrm>
            <a:off x="7355433"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355433" y="2148840"/>
            <a:ext cx="186354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958022"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5802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6" name="TextBox 25"/>
          <p:cNvSpPr txBox="1"/>
          <p:nvPr/>
        </p:nvSpPr>
        <p:spPr>
          <a:xfrm>
            <a:off x="7474305"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Trigger filter</a:t>
            </a:r>
          </a:p>
        </p:txBody>
      </p:sp>
      <p:sp>
        <p:nvSpPr>
          <p:cNvPr id="27" name="Rectangle 26"/>
          <p:cNvSpPr/>
          <p:nvPr/>
        </p:nvSpPr>
        <p:spPr>
          <a:xfrm>
            <a:off x="9548164"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548164" y="2148840"/>
            <a:ext cx="1863547" cy="914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50753" y="2532888"/>
            <a:ext cx="658368" cy="658368"/>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5075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5</a:t>
            </a:r>
          </a:p>
        </p:txBody>
      </p:sp>
      <p:sp>
        <p:nvSpPr>
          <p:cNvPr id="31" name="TextBox 30"/>
          <p:cNvSpPr txBox="1"/>
          <p:nvPr/>
        </p:nvSpPr>
        <p:spPr>
          <a:xfrm>
            <a:off x="9667036"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Pipeline execution</a:t>
            </a:r>
          </a:p>
        </p:txBody>
      </p:sp>
      <p:cxnSp>
        <p:nvCxnSpPr>
          <p:cNvPr id="32" name="Connector 31"/>
          <p:cNvCxnSpPr/>
          <p:nvPr/>
        </p:nvCxnSpPr>
        <p:spPr>
          <a:xfrm>
            <a:off x="2640787"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83351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026249"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21898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1F6FEB"/>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8" name="TextBox 3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9" name="TextBox 3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0" name="TextBox 3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106</a:t>
            </a:r>
          </a:p>
        </p:txBody>
      </p:sp>
    </p:spTree>
  </p:cSld>
  <p:clrMapOvr>
    <a:masterClrMapping/>
  </p:clrMapOvr>
  <p:transition xmlns:p14="http://schemas.microsoft.com/office/powerpoint/2010/main" p14:dur="380">
    <p:fade/>
  </p:transition>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700" b="1">
                <a:solidFill>
                  <a:srgbClr val="161B26"/>
                </a:solidFill>
                <a:latin typeface="Arial"/>
              </a:rPr>
              <a:t>Pipeline triggers and source governance: design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83280" cy="43708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70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011680"/>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011680"/>
            <a:ext cx="530352" cy="530352"/>
          </a:xfrm>
          <a:prstGeom prst="rect">
            <a:avLst/>
          </a:prstGeom>
          <a:noFill/>
        </p:spPr>
        <p:txBody>
          <a:bodyPr wrap="square" anchor="ctr">
            <a:spAutoFit/>
          </a:bodyPr>
          <a:lstStyle/>
          <a:p>
            <a:pPr algn="ctr">
              <a:spcAft>
                <a:spcPts val="400"/>
              </a:spcAft>
            </a:pPr>
            <a:r>
              <a:rPr sz="2000" b="1">
                <a:solidFill>
                  <a:srgbClr val="FFFFFF"/>
                </a:solidFill>
                <a:latin typeface="Arial"/>
              </a:rPr>
              <a:t>?</a:t>
            </a:r>
          </a:p>
        </p:txBody>
      </p:sp>
      <p:sp>
        <p:nvSpPr>
          <p:cNvPr id="11" name="TextBox 10"/>
          <p:cNvSpPr txBox="1"/>
          <p:nvPr/>
        </p:nvSpPr>
        <p:spPr>
          <a:xfrm>
            <a:off x="1709928" y="1984248"/>
            <a:ext cx="2212848" cy="502920"/>
          </a:xfrm>
          <a:prstGeom prst="rect">
            <a:avLst/>
          </a:prstGeom>
          <a:noFill/>
        </p:spPr>
        <p:txBody>
          <a:bodyPr wrap="square" anchor="ctr">
            <a:spAutoFit/>
          </a:bodyPr>
          <a:lstStyle/>
          <a:p>
            <a:pPr algn="l">
              <a:spcAft>
                <a:spcPts val="400"/>
              </a:spcAft>
            </a:pPr>
            <a:r>
              <a:rPr sz="1350" b="1">
                <a:solidFill>
                  <a:srgbClr val="1F6FEB"/>
                </a:solidFill>
                <a:latin typeface="Arial"/>
              </a:rPr>
              <a:t>SCENARIO</a:t>
            </a:r>
          </a:p>
        </p:txBody>
      </p:sp>
      <p:sp>
        <p:nvSpPr>
          <p:cNvPr id="12" name="TextBox 11"/>
          <p:cNvSpPr txBox="1"/>
          <p:nvPr/>
        </p:nvSpPr>
        <p:spPr>
          <a:xfrm>
            <a:off x="1051560" y="2743200"/>
            <a:ext cx="2834640" cy="3136392"/>
          </a:xfrm>
          <a:prstGeom prst="rect">
            <a:avLst/>
          </a:prstGeom>
          <a:noFill/>
        </p:spPr>
        <p:txBody>
          <a:bodyPr wrap="square" anchor="t">
            <a:spAutoFit/>
          </a:bodyPr>
          <a:lstStyle/>
          <a:p>
            <a:pPr algn="l">
              <a:spcAft>
                <a:spcPts val="400"/>
              </a:spcAft>
            </a:pPr>
            <a:r>
              <a:rPr sz="1300" b="0">
                <a:solidFill>
                  <a:srgbClr val="161B26"/>
                </a:solidFill>
                <a:latin typeface="Arial"/>
              </a:rPr>
              <a:t>Feature branches must run tests, but only reviewed merges to main may enter the release pipeline.</a:t>
            </a:r>
          </a:p>
        </p:txBody>
      </p:sp>
      <p:sp>
        <p:nvSpPr>
          <p:cNvPr id="13" name="Rectangle 12"/>
          <p:cNvSpPr/>
          <p:nvPr/>
        </p:nvSpPr>
        <p:spPr>
          <a:xfrm>
            <a:off x="4434840"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34840" y="1783080"/>
            <a:ext cx="91440"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636008" y="1965960"/>
            <a:ext cx="438912" cy="43891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6008"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7" name="TextBox 16"/>
          <p:cNvSpPr txBox="1"/>
          <p:nvPr/>
        </p:nvSpPr>
        <p:spPr>
          <a:xfrm>
            <a:off x="5212080" y="1929384"/>
            <a:ext cx="2286000" cy="475488"/>
          </a:xfrm>
          <a:prstGeom prst="rect">
            <a:avLst/>
          </a:prstGeom>
          <a:noFill/>
        </p:spPr>
        <p:txBody>
          <a:bodyPr wrap="square" anchor="ctr">
            <a:spAutoFit/>
          </a:bodyPr>
          <a:lstStyle/>
          <a:p>
            <a:pPr algn="l">
              <a:spcAft>
                <a:spcPts val="400"/>
              </a:spcAft>
            </a:pPr>
            <a:r>
              <a:rPr sz="1250" b="1">
                <a:solidFill>
                  <a:srgbClr val="10B981"/>
                </a:solidFill>
                <a:latin typeface="Arial"/>
              </a:rPr>
              <a:t>DESIGN RESPONSE</a:t>
            </a:r>
          </a:p>
        </p:txBody>
      </p:sp>
      <p:sp>
        <p:nvSpPr>
          <p:cNvPr id="18" name="TextBox 17"/>
          <p:cNvSpPr txBox="1"/>
          <p:nvPr/>
        </p:nvSpPr>
        <p:spPr>
          <a:xfrm>
            <a:off x="4663440"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Use pull-request checks, protected branches, signed connections and event filters; avoid broad polling and shared credentials.</a:t>
            </a:r>
          </a:p>
        </p:txBody>
      </p:sp>
      <p:sp>
        <p:nvSpPr>
          <p:cNvPr id="19" name="Rectangle 18"/>
          <p:cNvSpPr/>
          <p:nvPr/>
        </p:nvSpPr>
        <p:spPr>
          <a:xfrm>
            <a:off x="7973568"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973568" y="1783080"/>
            <a:ext cx="91440" cy="21488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174736" y="1965960"/>
            <a:ext cx="438912" cy="43891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74736"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23" name="TextBox 22"/>
          <p:cNvSpPr txBox="1"/>
          <p:nvPr/>
        </p:nvSpPr>
        <p:spPr>
          <a:xfrm>
            <a:off x="8750808" y="1929384"/>
            <a:ext cx="2286000" cy="475488"/>
          </a:xfrm>
          <a:prstGeom prst="rect">
            <a:avLst/>
          </a:prstGeom>
          <a:noFill/>
        </p:spPr>
        <p:txBody>
          <a:bodyPr wrap="square" anchor="ctr">
            <a:spAutoFit/>
          </a:bodyPr>
          <a:lstStyle/>
          <a:p>
            <a:pPr algn="l">
              <a:spcAft>
                <a:spcPts val="400"/>
              </a:spcAft>
            </a:pPr>
            <a:r>
              <a:rPr sz="1250" b="1">
                <a:solidFill>
                  <a:srgbClr val="7C3AED"/>
                </a:solidFill>
                <a:latin typeface="Arial"/>
              </a:rPr>
              <a:t>PRIMARY SERVICES</a:t>
            </a:r>
          </a:p>
        </p:txBody>
      </p:sp>
      <p:sp>
        <p:nvSpPr>
          <p:cNvPr id="24" name="TextBox 23"/>
          <p:cNvSpPr txBox="1"/>
          <p:nvPr/>
        </p:nvSpPr>
        <p:spPr>
          <a:xfrm>
            <a:off x="8202168"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GitHub · EventBridge · CodeConnections</a:t>
            </a:r>
          </a:p>
        </p:txBody>
      </p:sp>
      <p:sp>
        <p:nvSpPr>
          <p:cNvPr id="25" name="Rectangle 24"/>
          <p:cNvSpPr/>
          <p:nvPr/>
        </p:nvSpPr>
        <p:spPr>
          <a:xfrm>
            <a:off x="4434840"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34840" y="4005072"/>
            <a:ext cx="91440" cy="21488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636008" y="4187952"/>
            <a:ext cx="438912" cy="43891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36008"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9" name="TextBox 28"/>
          <p:cNvSpPr txBox="1"/>
          <p:nvPr/>
        </p:nvSpPr>
        <p:spPr>
          <a:xfrm>
            <a:off x="5212080" y="4151376"/>
            <a:ext cx="2286000" cy="475488"/>
          </a:xfrm>
          <a:prstGeom prst="rect">
            <a:avLst/>
          </a:prstGeom>
          <a:noFill/>
        </p:spPr>
        <p:txBody>
          <a:bodyPr wrap="square" anchor="ctr">
            <a:spAutoFit/>
          </a:bodyPr>
          <a:lstStyle/>
          <a:p>
            <a:pPr algn="l">
              <a:spcAft>
                <a:spcPts val="400"/>
              </a:spcAft>
            </a:pPr>
            <a:r>
              <a:rPr sz="1250" b="1">
                <a:solidFill>
                  <a:srgbClr val="F59E0B"/>
                </a:solidFill>
                <a:latin typeface="Arial"/>
              </a:rPr>
              <a:t>FAILURE MODE</a:t>
            </a:r>
          </a:p>
        </p:txBody>
      </p:sp>
      <p:sp>
        <p:nvSpPr>
          <p:cNvPr id="30" name="TextBox 29"/>
          <p:cNvSpPr txBox="1"/>
          <p:nvPr/>
        </p:nvSpPr>
        <p:spPr>
          <a:xfrm>
            <a:off x="4663440"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A trigger that accepts unreviewed branches can promote untrusted code.</a:t>
            </a:r>
          </a:p>
        </p:txBody>
      </p:sp>
      <p:sp>
        <p:nvSpPr>
          <p:cNvPr id="31" name="Rectangle 30"/>
          <p:cNvSpPr/>
          <p:nvPr/>
        </p:nvSpPr>
        <p:spPr>
          <a:xfrm>
            <a:off x="7973568"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73568" y="4005072"/>
            <a:ext cx="91440" cy="21488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174736" y="4187952"/>
            <a:ext cx="438912" cy="438912"/>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74736"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5" name="TextBox 34"/>
          <p:cNvSpPr txBox="1"/>
          <p:nvPr/>
        </p:nvSpPr>
        <p:spPr>
          <a:xfrm>
            <a:off x="8750808" y="4151376"/>
            <a:ext cx="2286000" cy="475488"/>
          </a:xfrm>
          <a:prstGeom prst="rect">
            <a:avLst/>
          </a:prstGeom>
          <a:noFill/>
        </p:spPr>
        <p:txBody>
          <a:bodyPr wrap="square" anchor="ctr">
            <a:spAutoFit/>
          </a:bodyPr>
          <a:lstStyle/>
          <a:p>
            <a:pPr algn="l">
              <a:spcAft>
                <a:spcPts val="400"/>
              </a:spcAft>
            </a:pPr>
            <a:r>
              <a:rPr sz="1250" b="1">
                <a:solidFill>
                  <a:srgbClr val="EC711E"/>
                </a:solidFill>
                <a:latin typeface="Arial"/>
              </a:rPr>
              <a:t>PROOF</a:t>
            </a:r>
          </a:p>
        </p:txBody>
      </p:sp>
      <p:sp>
        <p:nvSpPr>
          <p:cNvPr id="36" name="TextBox 35"/>
          <p:cNvSpPr txBox="1"/>
          <p:nvPr/>
        </p:nvSpPr>
        <p:spPr>
          <a:xfrm>
            <a:off x="8202168"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Repository event, branch rule, connection ARN, trigger filter and execution correlation ID.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107</a:t>
            </a:r>
          </a:p>
        </p:txBody>
      </p:sp>
    </p:spTree>
  </p:cSld>
  <p:clrMapOvr>
    <a:masterClrMapping/>
  </p:clrMapOvr>
  <p:transition xmlns:p14="http://schemas.microsoft.com/office/powerpoint/2010/main" p14:dur="380">
    <p:fade/>
  </p:transition>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OPERATIONS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700" b="1">
                <a:solidFill>
                  <a:srgbClr val="161B26"/>
                </a:solidFill>
                <a:latin typeface="Arial"/>
              </a:rPr>
              <a:t>Pipeline triggers and source governance: failure diagnostic</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RECOGNISE</a:t>
            </a:r>
          </a:p>
          <a:p>
            <a:pPr algn="l">
              <a:spcAft>
                <a:spcPts val="300"/>
              </a:spcAft>
            </a:pPr>
            <a:r>
              <a:rPr sz="1050" b="0">
                <a:solidFill>
                  <a:srgbClr val="5B6372"/>
                </a:solidFill>
                <a:latin typeface="Arial"/>
              </a:rPr>
              <a:t>Observable failure condition: A trigger that accepts unreviewed branches can promote untrusted code.</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CONTAIN</a:t>
            </a:r>
          </a:p>
          <a:p>
            <a:pPr algn="l">
              <a:spcAft>
                <a:spcPts val="300"/>
              </a:spcAft>
            </a:pPr>
            <a:r>
              <a:rPr sz="1050" b="0">
                <a:solidFill>
                  <a:srgbClr val="5B6372"/>
                </a:solidFill>
                <a:latin typeface="Arial"/>
              </a:rPr>
              <a:t>Pause promotion, preserve evidence and reduce impact without destroying diagnostic state.</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DIAGNOSE</a:t>
            </a:r>
          </a:p>
          <a:p>
            <a:pPr algn="l">
              <a:spcAft>
                <a:spcPts val="300"/>
              </a:spcAft>
            </a:pPr>
            <a:r>
              <a:rPr sz="1050" b="0">
                <a:solidFill>
                  <a:srgbClr val="5B6372"/>
                </a:solidFill>
                <a:latin typeface="Arial"/>
              </a:rPr>
              <a:t>Trace the workflow from Pull request through Pipeline execution; compare intended configuration with runtime state.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RECOVER</a:t>
            </a:r>
          </a:p>
          <a:p>
            <a:pPr algn="l">
              <a:spcAft>
                <a:spcPts val="300"/>
              </a:spcAft>
            </a:pPr>
            <a:r>
              <a:rPr sz="1050" b="0">
                <a:solidFill>
                  <a:srgbClr val="5B6372"/>
                </a:solidFill>
                <a:latin typeface="Arial"/>
              </a:rPr>
              <a:t>Restore the last known-good state, then prove recovery with Repository event, branch rule, connection ARN, trigger filter and execution correlation ID.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108</a:t>
            </a:r>
          </a:p>
        </p:txBody>
      </p:sp>
    </p:spTree>
  </p:cSld>
  <p:clrMapOvr>
    <a:masterClrMapping/>
  </p:clrMapOvr>
  <p:transition xmlns:p14="http://schemas.microsoft.com/office/powerpoint/2010/main" p14:dur="380">
    <p:fade/>
  </p:transition>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APPLIED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700" b="1">
                <a:solidFill>
                  <a:srgbClr val="161B26"/>
                </a:solidFill>
                <a:latin typeface="Arial"/>
              </a:rPr>
              <a:t>Pipeline triggers and source governance: worked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CONSTRAINT</a:t>
            </a:r>
          </a:p>
          <a:p>
            <a:pPr algn="l">
              <a:spcAft>
                <a:spcPts val="300"/>
              </a:spcAft>
            </a:pPr>
            <a:r>
              <a:rPr sz="1050" b="0">
                <a:solidFill>
                  <a:srgbClr val="5B6372"/>
                </a:solidFill>
                <a:latin typeface="Arial"/>
              </a:rPr>
              <a:t>Feature branches must run tests, but only reviewed merges to main may enter the release pipeline.</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DECISION</a:t>
            </a:r>
          </a:p>
          <a:p>
            <a:pPr algn="l">
              <a:spcAft>
                <a:spcPts val="300"/>
              </a:spcAft>
            </a:pPr>
            <a:r>
              <a:rPr sz="1050" b="0">
                <a:solidFill>
                  <a:srgbClr val="5B6372"/>
                </a:solidFill>
                <a:latin typeface="Arial"/>
              </a:rPr>
              <a:t>Use pull-request checks, protected branches, signed connections and event filters; avoid broad polling and shared credentials.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WHY ALTERNATIVES LOSE</a:t>
            </a:r>
          </a:p>
          <a:p>
            <a:pPr algn="l">
              <a:spcAft>
                <a:spcPts val="300"/>
              </a:spcAft>
            </a:pPr>
            <a:r>
              <a:rPr sz="1050" b="0">
                <a:solidFill>
                  <a:srgbClr val="5B6372"/>
                </a:solidFill>
                <a:latin typeface="Arial"/>
              </a:rPr>
              <a:t>Reject options that do not change the stated failure boundary: A trigger that accepts unreviewed branches can promote untrusted code.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ACCEPTANCE TEST</a:t>
            </a:r>
          </a:p>
          <a:p>
            <a:pPr algn="l">
              <a:spcAft>
                <a:spcPts val="300"/>
              </a:spcAft>
            </a:pPr>
            <a:r>
              <a:rPr sz="1050" b="0">
                <a:solidFill>
                  <a:srgbClr val="5B6372"/>
                </a:solidFill>
                <a:latin typeface="Arial"/>
              </a:rPr>
              <a:t>The decision is complete only when this proof exists: Repository event, branch rule, connection ARN, trigger filter and execution correlation ID.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109</a:t>
            </a:r>
          </a:p>
        </p:txBody>
      </p:sp>
    </p:spTree>
  </p:cSld>
  <p:clrMapOvr>
    <a:masterClrMapping/>
  </p:clrMapOvr>
  <p:transition xmlns:p14="http://schemas.microsoft.com/office/powerpoint/2010/main" p14:dur="380">
    <p:fade/>
  </p:transition>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SDLC AUTOMATION</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CodeBuild and automated quality gates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OUTCOME</a:t>
            </a:r>
          </a:p>
          <a:p>
            <a:pPr algn="l">
              <a:spcAft>
                <a:spcPts val="300"/>
              </a:spcAft>
            </a:pPr>
            <a:r>
              <a:rPr sz="1050" b="0">
                <a:solidFill>
                  <a:srgbClr val="5B6372"/>
                </a:solidFill>
                <a:latin typeface="Arial"/>
              </a:rPr>
              <a:t>Make build success mean more than compilation by enforcing test, security and quality thresholds.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ARCHITECTURE</a:t>
            </a:r>
          </a:p>
          <a:p>
            <a:pPr algn="l">
              <a:spcAft>
                <a:spcPts val="300"/>
              </a:spcAft>
            </a:pPr>
            <a:r>
              <a:rPr sz="1050" b="0">
                <a:solidFill>
                  <a:srgbClr val="5B6372"/>
                </a:solidFill>
                <a:latin typeface="Arial"/>
              </a:rPr>
              <a:t>Pin runtime images and dependencies, isolate privileged builds, publish reports, and fail on explicit exit codes.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MODE</a:t>
            </a:r>
          </a:p>
          <a:p>
            <a:pPr algn="l">
              <a:spcAft>
                <a:spcPts val="300"/>
              </a:spcAft>
            </a:pPr>
            <a:r>
              <a:rPr sz="1050" b="0">
                <a:solidFill>
                  <a:srgbClr val="5B6372"/>
                </a:solidFill>
                <a:latin typeface="Arial"/>
              </a:rPr>
              <a:t>A green build with ignored test failures is a false control.</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EVIDENCE</a:t>
            </a:r>
          </a:p>
          <a:p>
            <a:pPr algn="l">
              <a:spcAft>
                <a:spcPts val="300"/>
              </a:spcAft>
            </a:pPr>
            <a:r>
              <a:rPr sz="1050" b="0">
                <a:solidFill>
                  <a:srgbClr val="5B6372"/>
                </a:solidFill>
                <a:latin typeface="Arial"/>
              </a:rPr>
              <a:t>buildspec version, resolved image digest, report group, coverage result and exported variables.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110</a:t>
            </a:r>
          </a:p>
        </p:txBody>
      </p:sp>
    </p:spTree>
  </p:cSld>
  <p:clrMapOvr>
    <a:masterClrMapping/>
  </p:clrMapOvr>
  <p:transition xmlns:p14="http://schemas.microsoft.com/office/powerpoint/2010/main" p14:dur="380">
    <p:fade/>
  </p:transition>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PROCESS MODEL</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CodeBuild and automated quality gates: operating flow</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49809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97102"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9710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Install</a:t>
            </a:r>
          </a:p>
        </p:txBody>
      </p:sp>
      <p:sp>
        <p:nvSpPr>
          <p:cNvPr id="12" name="Rectangle 11"/>
          <p:cNvSpPr/>
          <p:nvPr/>
        </p:nvSpPr>
        <p:spPr>
          <a:xfrm>
            <a:off x="2604516"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04516" y="2148840"/>
            <a:ext cx="149809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024378"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24378"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6" name="TextBox 15"/>
          <p:cNvSpPr txBox="1"/>
          <p:nvPr/>
        </p:nvSpPr>
        <p:spPr>
          <a:xfrm>
            <a:off x="2723388"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Compile</a:t>
            </a:r>
          </a:p>
        </p:txBody>
      </p:sp>
      <p:sp>
        <p:nvSpPr>
          <p:cNvPr id="17" name="Rectangle 16"/>
          <p:cNvSpPr/>
          <p:nvPr/>
        </p:nvSpPr>
        <p:spPr>
          <a:xfrm>
            <a:off x="4431792"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431792" y="2148840"/>
            <a:ext cx="149809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851654"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51654"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1" name="TextBox 20"/>
          <p:cNvSpPr txBox="1"/>
          <p:nvPr/>
        </p:nvSpPr>
        <p:spPr>
          <a:xfrm>
            <a:off x="4550664"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Unit test</a:t>
            </a:r>
          </a:p>
        </p:txBody>
      </p:sp>
      <p:sp>
        <p:nvSpPr>
          <p:cNvPr id="22" name="Rectangle 21"/>
          <p:cNvSpPr/>
          <p:nvPr/>
        </p:nvSpPr>
        <p:spPr>
          <a:xfrm>
            <a:off x="6259068"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59068" y="2148840"/>
            <a:ext cx="149809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678930"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78930"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6" name="TextBox 25"/>
          <p:cNvSpPr txBox="1"/>
          <p:nvPr/>
        </p:nvSpPr>
        <p:spPr>
          <a:xfrm>
            <a:off x="6377940"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Security scan</a:t>
            </a:r>
          </a:p>
        </p:txBody>
      </p:sp>
      <p:sp>
        <p:nvSpPr>
          <p:cNvPr id="27" name="Rectangle 26"/>
          <p:cNvSpPr/>
          <p:nvPr/>
        </p:nvSpPr>
        <p:spPr>
          <a:xfrm>
            <a:off x="8086344"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086344" y="2148840"/>
            <a:ext cx="1498092" cy="914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506206" y="2532888"/>
            <a:ext cx="658368" cy="658368"/>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06206"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5</a:t>
            </a:r>
          </a:p>
        </p:txBody>
      </p:sp>
      <p:sp>
        <p:nvSpPr>
          <p:cNvPr id="31" name="TextBox 30"/>
          <p:cNvSpPr txBox="1"/>
          <p:nvPr/>
        </p:nvSpPr>
        <p:spPr>
          <a:xfrm>
            <a:off x="8205216"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Package</a:t>
            </a:r>
          </a:p>
        </p:txBody>
      </p:sp>
      <p:sp>
        <p:nvSpPr>
          <p:cNvPr id="32" name="Rectangle 31"/>
          <p:cNvSpPr/>
          <p:nvPr/>
        </p:nvSpPr>
        <p:spPr>
          <a:xfrm>
            <a:off x="9913620"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913620" y="2148840"/>
            <a:ext cx="1498092" cy="91440"/>
          </a:xfrm>
          <a:prstGeom prst="rect">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333482" y="2532888"/>
            <a:ext cx="658368" cy="658368"/>
          </a:xfrm>
          <a:prstGeom prst="ellipse">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3348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6</a:t>
            </a:r>
          </a:p>
        </p:txBody>
      </p:sp>
      <p:sp>
        <p:nvSpPr>
          <p:cNvPr id="36" name="TextBox 35"/>
          <p:cNvSpPr txBox="1"/>
          <p:nvPr/>
        </p:nvSpPr>
        <p:spPr>
          <a:xfrm>
            <a:off x="10032492"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Publish report</a:t>
            </a:r>
          </a:p>
        </p:txBody>
      </p:sp>
      <p:cxnSp>
        <p:nvCxnSpPr>
          <p:cNvPr id="37" name="Connector 36"/>
          <p:cNvCxnSpPr/>
          <p:nvPr/>
        </p:nvCxnSpPr>
        <p:spPr>
          <a:xfrm>
            <a:off x="2275332"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10260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929884"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775716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9584436"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1F6FEB"/>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44" name="TextBox 4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45" name="TextBox 4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6" name="TextBox 4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111</a:t>
            </a:r>
          </a:p>
        </p:txBody>
      </p:sp>
    </p:spTree>
  </p:cSld>
  <p:clrMapOvr>
    <a:masterClrMapping/>
  </p:clrMapOvr>
  <p:transition xmlns:p14="http://schemas.microsoft.com/office/powerpoint/2010/main" p14:dur="380">
    <p:fade/>
  </p:transition>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700" b="1">
                <a:solidFill>
                  <a:srgbClr val="161B26"/>
                </a:solidFill>
                <a:latin typeface="Arial"/>
              </a:rPr>
              <a:t>CodeBuild and automated quality gates: design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83280" cy="43708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70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011680"/>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011680"/>
            <a:ext cx="530352" cy="530352"/>
          </a:xfrm>
          <a:prstGeom prst="rect">
            <a:avLst/>
          </a:prstGeom>
          <a:noFill/>
        </p:spPr>
        <p:txBody>
          <a:bodyPr wrap="square" anchor="ctr">
            <a:spAutoFit/>
          </a:bodyPr>
          <a:lstStyle/>
          <a:p>
            <a:pPr algn="ctr">
              <a:spcAft>
                <a:spcPts val="400"/>
              </a:spcAft>
            </a:pPr>
            <a:r>
              <a:rPr sz="2000" b="1">
                <a:solidFill>
                  <a:srgbClr val="FFFFFF"/>
                </a:solidFill>
                <a:latin typeface="Arial"/>
              </a:rPr>
              <a:t>?</a:t>
            </a:r>
          </a:p>
        </p:txBody>
      </p:sp>
      <p:sp>
        <p:nvSpPr>
          <p:cNvPr id="11" name="TextBox 10"/>
          <p:cNvSpPr txBox="1"/>
          <p:nvPr/>
        </p:nvSpPr>
        <p:spPr>
          <a:xfrm>
            <a:off x="1709928" y="1984248"/>
            <a:ext cx="2212848" cy="502920"/>
          </a:xfrm>
          <a:prstGeom prst="rect">
            <a:avLst/>
          </a:prstGeom>
          <a:noFill/>
        </p:spPr>
        <p:txBody>
          <a:bodyPr wrap="square" anchor="ctr">
            <a:spAutoFit/>
          </a:bodyPr>
          <a:lstStyle/>
          <a:p>
            <a:pPr algn="l">
              <a:spcAft>
                <a:spcPts val="400"/>
              </a:spcAft>
            </a:pPr>
            <a:r>
              <a:rPr sz="1350" b="1">
                <a:solidFill>
                  <a:srgbClr val="1F6FEB"/>
                </a:solidFill>
                <a:latin typeface="Arial"/>
              </a:rPr>
              <a:t>SCENARIO</a:t>
            </a:r>
          </a:p>
        </p:txBody>
      </p:sp>
      <p:sp>
        <p:nvSpPr>
          <p:cNvPr id="12" name="TextBox 11"/>
          <p:cNvSpPr txBox="1"/>
          <p:nvPr/>
        </p:nvSpPr>
        <p:spPr>
          <a:xfrm>
            <a:off x="1051560" y="2743200"/>
            <a:ext cx="2834640" cy="3136392"/>
          </a:xfrm>
          <a:prstGeom prst="rect">
            <a:avLst/>
          </a:prstGeom>
          <a:noFill/>
        </p:spPr>
        <p:txBody>
          <a:bodyPr wrap="square" anchor="t">
            <a:spAutoFit/>
          </a:bodyPr>
          <a:lstStyle/>
          <a:p>
            <a:pPr algn="l">
              <a:spcAft>
                <a:spcPts val="400"/>
              </a:spcAft>
            </a:pPr>
            <a:r>
              <a:rPr sz="1300" b="0">
                <a:solidFill>
                  <a:srgbClr val="161B26"/>
                </a:solidFill>
                <a:latin typeface="Arial"/>
              </a:rPr>
              <a:t>A Python service must fail the pipeline below 85% coverage or when a high-severity dependency finding appears.</a:t>
            </a:r>
          </a:p>
        </p:txBody>
      </p:sp>
      <p:sp>
        <p:nvSpPr>
          <p:cNvPr id="13" name="Rectangle 12"/>
          <p:cNvSpPr/>
          <p:nvPr/>
        </p:nvSpPr>
        <p:spPr>
          <a:xfrm>
            <a:off x="4434840"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34840" y="1783080"/>
            <a:ext cx="91440"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636008" y="1965960"/>
            <a:ext cx="438912" cy="43891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6008"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7" name="TextBox 16"/>
          <p:cNvSpPr txBox="1"/>
          <p:nvPr/>
        </p:nvSpPr>
        <p:spPr>
          <a:xfrm>
            <a:off x="5212080" y="1929384"/>
            <a:ext cx="2286000" cy="475488"/>
          </a:xfrm>
          <a:prstGeom prst="rect">
            <a:avLst/>
          </a:prstGeom>
          <a:noFill/>
        </p:spPr>
        <p:txBody>
          <a:bodyPr wrap="square" anchor="ctr">
            <a:spAutoFit/>
          </a:bodyPr>
          <a:lstStyle/>
          <a:p>
            <a:pPr algn="l">
              <a:spcAft>
                <a:spcPts val="400"/>
              </a:spcAft>
            </a:pPr>
            <a:r>
              <a:rPr sz="1250" b="1">
                <a:solidFill>
                  <a:srgbClr val="10B981"/>
                </a:solidFill>
                <a:latin typeface="Arial"/>
              </a:rPr>
              <a:t>DESIGN RESPONSE</a:t>
            </a:r>
          </a:p>
        </p:txBody>
      </p:sp>
      <p:sp>
        <p:nvSpPr>
          <p:cNvPr id="18" name="TextBox 17"/>
          <p:cNvSpPr txBox="1"/>
          <p:nvPr/>
        </p:nvSpPr>
        <p:spPr>
          <a:xfrm>
            <a:off x="4663440"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Pin runtime images and dependencies, isolate privileged builds, publish reports, and fail on explicit exit codes.</a:t>
            </a:r>
          </a:p>
        </p:txBody>
      </p:sp>
      <p:sp>
        <p:nvSpPr>
          <p:cNvPr id="19" name="Rectangle 18"/>
          <p:cNvSpPr/>
          <p:nvPr/>
        </p:nvSpPr>
        <p:spPr>
          <a:xfrm>
            <a:off x="7973568"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973568" y="1783080"/>
            <a:ext cx="91440" cy="21488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174736" y="1965960"/>
            <a:ext cx="438912" cy="43891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74736"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23" name="TextBox 22"/>
          <p:cNvSpPr txBox="1"/>
          <p:nvPr/>
        </p:nvSpPr>
        <p:spPr>
          <a:xfrm>
            <a:off x="8750808" y="1929384"/>
            <a:ext cx="2286000" cy="475488"/>
          </a:xfrm>
          <a:prstGeom prst="rect">
            <a:avLst/>
          </a:prstGeom>
          <a:noFill/>
        </p:spPr>
        <p:txBody>
          <a:bodyPr wrap="square" anchor="ctr">
            <a:spAutoFit/>
          </a:bodyPr>
          <a:lstStyle/>
          <a:p>
            <a:pPr algn="l">
              <a:spcAft>
                <a:spcPts val="400"/>
              </a:spcAft>
            </a:pPr>
            <a:r>
              <a:rPr sz="1250" b="1">
                <a:solidFill>
                  <a:srgbClr val="7C3AED"/>
                </a:solidFill>
                <a:latin typeface="Arial"/>
              </a:rPr>
              <a:t>PRIMARY SERVICES</a:t>
            </a:r>
          </a:p>
        </p:txBody>
      </p:sp>
      <p:sp>
        <p:nvSpPr>
          <p:cNvPr id="24" name="TextBox 23"/>
          <p:cNvSpPr txBox="1"/>
          <p:nvPr/>
        </p:nvSpPr>
        <p:spPr>
          <a:xfrm>
            <a:off x="8202168"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CodeBuild · CodeGuru · test reports · coverage</a:t>
            </a:r>
          </a:p>
        </p:txBody>
      </p:sp>
      <p:sp>
        <p:nvSpPr>
          <p:cNvPr id="25" name="Rectangle 24"/>
          <p:cNvSpPr/>
          <p:nvPr/>
        </p:nvSpPr>
        <p:spPr>
          <a:xfrm>
            <a:off x="4434840"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34840" y="4005072"/>
            <a:ext cx="91440" cy="21488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636008" y="4187952"/>
            <a:ext cx="438912" cy="43891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36008"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9" name="TextBox 28"/>
          <p:cNvSpPr txBox="1"/>
          <p:nvPr/>
        </p:nvSpPr>
        <p:spPr>
          <a:xfrm>
            <a:off x="5212080" y="4151376"/>
            <a:ext cx="2286000" cy="475488"/>
          </a:xfrm>
          <a:prstGeom prst="rect">
            <a:avLst/>
          </a:prstGeom>
          <a:noFill/>
        </p:spPr>
        <p:txBody>
          <a:bodyPr wrap="square" anchor="ctr">
            <a:spAutoFit/>
          </a:bodyPr>
          <a:lstStyle/>
          <a:p>
            <a:pPr algn="l">
              <a:spcAft>
                <a:spcPts val="400"/>
              </a:spcAft>
            </a:pPr>
            <a:r>
              <a:rPr sz="1250" b="1">
                <a:solidFill>
                  <a:srgbClr val="F59E0B"/>
                </a:solidFill>
                <a:latin typeface="Arial"/>
              </a:rPr>
              <a:t>FAILURE MODE</a:t>
            </a:r>
          </a:p>
        </p:txBody>
      </p:sp>
      <p:sp>
        <p:nvSpPr>
          <p:cNvPr id="30" name="TextBox 29"/>
          <p:cNvSpPr txBox="1"/>
          <p:nvPr/>
        </p:nvSpPr>
        <p:spPr>
          <a:xfrm>
            <a:off x="4663440"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A green build with ignored test failures is a false control.</a:t>
            </a:r>
          </a:p>
        </p:txBody>
      </p:sp>
      <p:sp>
        <p:nvSpPr>
          <p:cNvPr id="31" name="Rectangle 30"/>
          <p:cNvSpPr/>
          <p:nvPr/>
        </p:nvSpPr>
        <p:spPr>
          <a:xfrm>
            <a:off x="7973568"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73568" y="4005072"/>
            <a:ext cx="91440" cy="21488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174736" y="4187952"/>
            <a:ext cx="438912" cy="438912"/>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74736"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5" name="TextBox 34"/>
          <p:cNvSpPr txBox="1"/>
          <p:nvPr/>
        </p:nvSpPr>
        <p:spPr>
          <a:xfrm>
            <a:off x="8750808" y="4151376"/>
            <a:ext cx="2286000" cy="475488"/>
          </a:xfrm>
          <a:prstGeom prst="rect">
            <a:avLst/>
          </a:prstGeom>
          <a:noFill/>
        </p:spPr>
        <p:txBody>
          <a:bodyPr wrap="square" anchor="ctr">
            <a:spAutoFit/>
          </a:bodyPr>
          <a:lstStyle/>
          <a:p>
            <a:pPr algn="l">
              <a:spcAft>
                <a:spcPts val="400"/>
              </a:spcAft>
            </a:pPr>
            <a:r>
              <a:rPr sz="1250" b="1">
                <a:solidFill>
                  <a:srgbClr val="EC711E"/>
                </a:solidFill>
                <a:latin typeface="Arial"/>
              </a:rPr>
              <a:t>PROOF</a:t>
            </a:r>
          </a:p>
        </p:txBody>
      </p:sp>
      <p:sp>
        <p:nvSpPr>
          <p:cNvPr id="36" name="TextBox 35"/>
          <p:cNvSpPr txBox="1"/>
          <p:nvPr/>
        </p:nvSpPr>
        <p:spPr>
          <a:xfrm>
            <a:off x="8202168"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buildspec version, resolved image digest, report group, coverage result and exported variables.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112</a:t>
            </a:r>
          </a:p>
        </p:txBody>
      </p:sp>
    </p:spTree>
  </p:cSld>
  <p:clrMapOvr>
    <a:masterClrMapping/>
  </p:clrMapOvr>
  <p:transition xmlns:p14="http://schemas.microsoft.com/office/powerpoint/2010/main" p14:dur="380">
    <p:fade/>
  </p:transition>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OPERATIONS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700" b="1">
                <a:solidFill>
                  <a:srgbClr val="161B26"/>
                </a:solidFill>
                <a:latin typeface="Arial"/>
              </a:rPr>
              <a:t>CodeBuild and automated quality gates: failure diagnostic</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RECOGNISE</a:t>
            </a:r>
          </a:p>
          <a:p>
            <a:pPr algn="l">
              <a:spcAft>
                <a:spcPts val="300"/>
              </a:spcAft>
            </a:pPr>
            <a:r>
              <a:rPr sz="1050" b="0">
                <a:solidFill>
                  <a:srgbClr val="5B6372"/>
                </a:solidFill>
                <a:latin typeface="Arial"/>
              </a:rPr>
              <a:t>Observable failure condition: A green build with ignored test failures is a false control.</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CONTAIN</a:t>
            </a:r>
          </a:p>
          <a:p>
            <a:pPr algn="l">
              <a:spcAft>
                <a:spcPts val="300"/>
              </a:spcAft>
            </a:pPr>
            <a:r>
              <a:rPr sz="1050" b="0">
                <a:solidFill>
                  <a:srgbClr val="5B6372"/>
                </a:solidFill>
                <a:latin typeface="Arial"/>
              </a:rPr>
              <a:t>Pause promotion, preserve evidence and reduce impact without destroying diagnostic state.</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DIAGNOSE</a:t>
            </a:r>
          </a:p>
          <a:p>
            <a:pPr algn="l">
              <a:spcAft>
                <a:spcPts val="300"/>
              </a:spcAft>
            </a:pPr>
            <a:r>
              <a:rPr sz="1050" b="0">
                <a:solidFill>
                  <a:srgbClr val="5B6372"/>
                </a:solidFill>
                <a:latin typeface="Arial"/>
              </a:rPr>
              <a:t>Trace the workflow from Install through Publish report; compare intended configuration with runtime state.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RECOVER</a:t>
            </a:r>
          </a:p>
          <a:p>
            <a:pPr algn="l">
              <a:spcAft>
                <a:spcPts val="300"/>
              </a:spcAft>
            </a:pPr>
            <a:r>
              <a:rPr sz="1050" b="0">
                <a:solidFill>
                  <a:srgbClr val="5B6372"/>
                </a:solidFill>
                <a:latin typeface="Arial"/>
              </a:rPr>
              <a:t>Restore the last known-good state, then prove recovery with buildspec version, resolved image digest, report group, coverage result and exported variables.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113</a:t>
            </a:r>
          </a:p>
        </p:txBody>
      </p:sp>
    </p:spTree>
  </p:cSld>
  <p:clrMapOvr>
    <a:masterClrMapping/>
  </p:clrMapOvr>
  <p:transition xmlns:p14="http://schemas.microsoft.com/office/powerpoint/2010/main" p14:dur="380">
    <p:fade/>
  </p:transition>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APPLIED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700" b="1">
                <a:solidFill>
                  <a:srgbClr val="161B26"/>
                </a:solidFill>
                <a:latin typeface="Arial"/>
              </a:rPr>
              <a:t>CodeBuild and automated quality gates: worked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CONSTRAINT</a:t>
            </a:r>
          </a:p>
          <a:p>
            <a:pPr algn="l">
              <a:spcAft>
                <a:spcPts val="300"/>
              </a:spcAft>
            </a:pPr>
            <a:r>
              <a:rPr sz="1050" b="0">
                <a:solidFill>
                  <a:srgbClr val="5B6372"/>
                </a:solidFill>
                <a:latin typeface="Arial"/>
              </a:rPr>
              <a:t>A Python service must fail the pipeline below 85% coverage or when a high-severity dependency finding appears.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DECISION</a:t>
            </a:r>
          </a:p>
          <a:p>
            <a:pPr algn="l">
              <a:spcAft>
                <a:spcPts val="300"/>
              </a:spcAft>
            </a:pPr>
            <a:r>
              <a:rPr sz="1050" b="0">
                <a:solidFill>
                  <a:srgbClr val="5B6372"/>
                </a:solidFill>
                <a:latin typeface="Arial"/>
              </a:rPr>
              <a:t>Pin runtime images and dependencies, isolate privileged builds, publish reports, and fail on explicit exit codes.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WHY ALTERNATIVES LOSE</a:t>
            </a:r>
          </a:p>
          <a:p>
            <a:pPr algn="l">
              <a:spcAft>
                <a:spcPts val="300"/>
              </a:spcAft>
            </a:pPr>
            <a:r>
              <a:rPr sz="1050" b="0">
                <a:solidFill>
                  <a:srgbClr val="5B6372"/>
                </a:solidFill>
                <a:latin typeface="Arial"/>
              </a:rPr>
              <a:t>Reject options that do not change the stated failure boundary: A green build with ignored test failures is a false control.</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ACCEPTANCE TEST</a:t>
            </a:r>
          </a:p>
          <a:p>
            <a:pPr algn="l">
              <a:spcAft>
                <a:spcPts val="300"/>
              </a:spcAft>
            </a:pPr>
            <a:r>
              <a:rPr sz="1050" b="0">
                <a:solidFill>
                  <a:srgbClr val="5B6372"/>
                </a:solidFill>
                <a:latin typeface="Arial"/>
              </a:rPr>
              <a:t>The decision is complete only when this proof exists: buildspec version, resolved image digest, report group, coverage result and exported variables.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114</a:t>
            </a:r>
          </a:p>
        </p:txBody>
      </p:sp>
    </p:spTree>
  </p:cSld>
  <p:clrMapOvr>
    <a:masterClrMapping/>
  </p:clrMapOvr>
  <p:transition xmlns:p14="http://schemas.microsoft.com/office/powerpoint/2010/main" p14:dur="380">
    <p:fade/>
  </p:transition>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SDLC AUTOMATION</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Artifact integrity and lifecycle</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OUTCOME</a:t>
            </a:r>
          </a:p>
          <a:p>
            <a:pPr algn="l">
              <a:spcAft>
                <a:spcPts val="300"/>
              </a:spcAft>
            </a:pPr>
            <a:r>
              <a:rPr sz="1050" b="0">
                <a:solidFill>
                  <a:srgbClr val="5B6372"/>
                </a:solidFill>
                <a:latin typeface="Arial"/>
              </a:rPr>
              <a:t>Create traceable, encrypted and retention-managed artifacts for every deployment target.</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ARCHITECTURE</a:t>
            </a:r>
          </a:p>
          <a:p>
            <a:pPr algn="l">
              <a:spcAft>
                <a:spcPts val="300"/>
              </a:spcAft>
            </a:pPr>
            <a:r>
              <a:rPr sz="1050" b="0">
                <a:solidFill>
                  <a:srgbClr val="5B6372"/>
                </a:solidFill>
                <a:latin typeface="Arial"/>
              </a:rPr>
              <a:t>Version packages immutably, scan images, sign or checksum outputs, encrypt repositories and expire superseded artifacts deliberately.</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MODE</a:t>
            </a:r>
          </a:p>
          <a:p>
            <a:pPr algn="l">
              <a:spcAft>
                <a:spcPts val="300"/>
              </a:spcAft>
            </a:pPr>
            <a:r>
              <a:rPr sz="1050" b="0">
                <a:solidFill>
                  <a:srgbClr val="5B6372"/>
                </a:solidFill>
                <a:latin typeface="Arial"/>
              </a:rPr>
              <a:t>Mutable tags such as latest can deploy different bytes under the same release label.</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EVIDENCE</a:t>
            </a:r>
          </a:p>
          <a:p>
            <a:pPr algn="l">
              <a:spcAft>
                <a:spcPts val="300"/>
              </a:spcAft>
            </a:pPr>
            <a:r>
              <a:rPr sz="1050" b="0">
                <a:solidFill>
                  <a:srgbClr val="5B6372"/>
                </a:solidFill>
                <a:latin typeface="Arial"/>
              </a:rPr>
              <a:t>Package version, digest, scan status, KMS key, repository policy and retention action.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115</a:t>
            </a:r>
          </a:p>
        </p:txBody>
      </p:sp>
    </p:spTree>
  </p:cSld>
  <p:clrMapOvr>
    <a:masterClrMapping/>
  </p:clrMapOvr>
  <p:transition xmlns:p14="http://schemas.microsoft.com/office/powerpoint/2010/main" p14:dur="380">
    <p:fade/>
  </p:transition>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PROCESS MODEL</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Artifact integrity and lifecycle: operating flow</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6354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79829"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982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Build artifact</a:t>
            </a:r>
          </a:p>
        </p:txBody>
      </p:sp>
      <p:sp>
        <p:nvSpPr>
          <p:cNvPr id="12" name="Rectangle 11"/>
          <p:cNvSpPr/>
          <p:nvPr/>
        </p:nvSpPr>
        <p:spPr>
          <a:xfrm>
            <a:off x="2969971"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69971" y="2148840"/>
            <a:ext cx="186354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572560"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72560"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6" name="TextBox 15"/>
          <p:cNvSpPr txBox="1"/>
          <p:nvPr/>
        </p:nvSpPr>
        <p:spPr>
          <a:xfrm>
            <a:off x="3088843"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Hash and scan</a:t>
            </a:r>
          </a:p>
        </p:txBody>
      </p:sp>
      <p:sp>
        <p:nvSpPr>
          <p:cNvPr id="17" name="Rectangle 16"/>
          <p:cNvSpPr/>
          <p:nvPr/>
        </p:nvSpPr>
        <p:spPr>
          <a:xfrm>
            <a:off x="5162702"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62702" y="2148840"/>
            <a:ext cx="186354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765291"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6529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1" name="TextBox 20"/>
          <p:cNvSpPr txBox="1"/>
          <p:nvPr/>
        </p:nvSpPr>
        <p:spPr>
          <a:xfrm>
            <a:off x="5281574"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Store</a:t>
            </a:r>
          </a:p>
        </p:txBody>
      </p:sp>
      <p:sp>
        <p:nvSpPr>
          <p:cNvPr id="22" name="Rectangle 21"/>
          <p:cNvSpPr/>
          <p:nvPr/>
        </p:nvSpPr>
        <p:spPr>
          <a:xfrm>
            <a:off x="7355433"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355433" y="2148840"/>
            <a:ext cx="186354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958022"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5802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6" name="TextBox 25"/>
          <p:cNvSpPr txBox="1"/>
          <p:nvPr/>
        </p:nvSpPr>
        <p:spPr>
          <a:xfrm>
            <a:off x="7474305"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Authorize</a:t>
            </a:r>
          </a:p>
        </p:txBody>
      </p:sp>
      <p:sp>
        <p:nvSpPr>
          <p:cNvPr id="27" name="Rectangle 26"/>
          <p:cNvSpPr/>
          <p:nvPr/>
        </p:nvSpPr>
        <p:spPr>
          <a:xfrm>
            <a:off x="9548164"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548164" y="2148840"/>
            <a:ext cx="1863547" cy="914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50753" y="2532888"/>
            <a:ext cx="658368" cy="658368"/>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5075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5</a:t>
            </a:r>
          </a:p>
        </p:txBody>
      </p:sp>
      <p:sp>
        <p:nvSpPr>
          <p:cNvPr id="31" name="TextBox 30"/>
          <p:cNvSpPr txBox="1"/>
          <p:nvPr/>
        </p:nvSpPr>
        <p:spPr>
          <a:xfrm>
            <a:off x="9667036"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Promote by digest</a:t>
            </a:r>
          </a:p>
        </p:txBody>
      </p:sp>
      <p:cxnSp>
        <p:nvCxnSpPr>
          <p:cNvPr id="32" name="Connector 31"/>
          <p:cNvCxnSpPr/>
          <p:nvPr/>
        </p:nvCxnSpPr>
        <p:spPr>
          <a:xfrm>
            <a:off x="2640787"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83351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026249"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21898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1F6FEB"/>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8" name="TextBox 3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9" name="TextBox 3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0" name="TextBox 3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116</a:t>
            </a:r>
          </a:p>
        </p:txBody>
      </p:sp>
    </p:spTree>
  </p:cSld>
  <p:clrMapOvr>
    <a:masterClrMapping/>
  </p:clrMapOvr>
  <p:transition xmlns:p14="http://schemas.microsoft.com/office/powerpoint/2010/main" p14:dur="380">
    <p:fade/>
  </p:transition>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Artifact integrity and lifecycle: design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83280" cy="43708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70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011680"/>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011680"/>
            <a:ext cx="530352" cy="530352"/>
          </a:xfrm>
          <a:prstGeom prst="rect">
            <a:avLst/>
          </a:prstGeom>
          <a:noFill/>
        </p:spPr>
        <p:txBody>
          <a:bodyPr wrap="square" anchor="ctr">
            <a:spAutoFit/>
          </a:bodyPr>
          <a:lstStyle/>
          <a:p>
            <a:pPr algn="ctr">
              <a:spcAft>
                <a:spcPts val="400"/>
              </a:spcAft>
            </a:pPr>
            <a:r>
              <a:rPr sz="2000" b="1">
                <a:solidFill>
                  <a:srgbClr val="FFFFFF"/>
                </a:solidFill>
                <a:latin typeface="Arial"/>
              </a:rPr>
              <a:t>?</a:t>
            </a:r>
          </a:p>
        </p:txBody>
      </p:sp>
      <p:sp>
        <p:nvSpPr>
          <p:cNvPr id="11" name="TextBox 10"/>
          <p:cNvSpPr txBox="1"/>
          <p:nvPr/>
        </p:nvSpPr>
        <p:spPr>
          <a:xfrm>
            <a:off x="1709928" y="1984248"/>
            <a:ext cx="2212848" cy="502920"/>
          </a:xfrm>
          <a:prstGeom prst="rect">
            <a:avLst/>
          </a:prstGeom>
          <a:noFill/>
        </p:spPr>
        <p:txBody>
          <a:bodyPr wrap="square" anchor="ctr">
            <a:spAutoFit/>
          </a:bodyPr>
          <a:lstStyle/>
          <a:p>
            <a:pPr algn="l">
              <a:spcAft>
                <a:spcPts val="400"/>
              </a:spcAft>
            </a:pPr>
            <a:r>
              <a:rPr sz="1350" b="1">
                <a:solidFill>
                  <a:srgbClr val="1F6FEB"/>
                </a:solidFill>
                <a:latin typeface="Arial"/>
              </a:rPr>
              <a:t>SCENARIO</a:t>
            </a:r>
          </a:p>
        </p:txBody>
      </p:sp>
      <p:sp>
        <p:nvSpPr>
          <p:cNvPr id="12" name="TextBox 11"/>
          <p:cNvSpPr txBox="1"/>
          <p:nvPr/>
        </p:nvSpPr>
        <p:spPr>
          <a:xfrm>
            <a:off x="1051560" y="2743200"/>
            <a:ext cx="2834640" cy="3136392"/>
          </a:xfrm>
          <a:prstGeom prst="rect">
            <a:avLst/>
          </a:prstGeom>
          <a:noFill/>
        </p:spPr>
        <p:txBody>
          <a:bodyPr wrap="square" anchor="t">
            <a:spAutoFit/>
          </a:bodyPr>
          <a:lstStyle/>
          <a:p>
            <a:pPr algn="l">
              <a:spcAft>
                <a:spcPts val="400"/>
              </a:spcAft>
            </a:pPr>
            <a:r>
              <a:rPr sz="1300" b="0">
                <a:solidFill>
                  <a:srgbClr val="161B26"/>
                </a:solidFill>
                <a:latin typeface="Arial"/>
              </a:rPr>
              <a:t>Teams share a container image across accounts and Regions while auditors require proof of exactly what ran.</a:t>
            </a:r>
          </a:p>
        </p:txBody>
      </p:sp>
      <p:sp>
        <p:nvSpPr>
          <p:cNvPr id="13" name="Rectangle 12"/>
          <p:cNvSpPr/>
          <p:nvPr/>
        </p:nvSpPr>
        <p:spPr>
          <a:xfrm>
            <a:off x="4434840"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34840" y="1783080"/>
            <a:ext cx="91440"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636008" y="1965960"/>
            <a:ext cx="438912" cy="43891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6008"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7" name="TextBox 16"/>
          <p:cNvSpPr txBox="1"/>
          <p:nvPr/>
        </p:nvSpPr>
        <p:spPr>
          <a:xfrm>
            <a:off x="5212080" y="1929384"/>
            <a:ext cx="2286000" cy="475488"/>
          </a:xfrm>
          <a:prstGeom prst="rect">
            <a:avLst/>
          </a:prstGeom>
          <a:noFill/>
        </p:spPr>
        <p:txBody>
          <a:bodyPr wrap="square" anchor="ctr">
            <a:spAutoFit/>
          </a:bodyPr>
          <a:lstStyle/>
          <a:p>
            <a:pPr algn="l">
              <a:spcAft>
                <a:spcPts val="400"/>
              </a:spcAft>
            </a:pPr>
            <a:r>
              <a:rPr sz="1250" b="1">
                <a:solidFill>
                  <a:srgbClr val="10B981"/>
                </a:solidFill>
                <a:latin typeface="Arial"/>
              </a:rPr>
              <a:t>DESIGN RESPONSE</a:t>
            </a:r>
          </a:p>
        </p:txBody>
      </p:sp>
      <p:sp>
        <p:nvSpPr>
          <p:cNvPr id="18" name="TextBox 17"/>
          <p:cNvSpPr txBox="1"/>
          <p:nvPr/>
        </p:nvSpPr>
        <p:spPr>
          <a:xfrm>
            <a:off x="4663440"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Version packages immutably, scan images, sign or checksum outputs, encrypt repositories and expire superseded artifacts deliberately.</a:t>
            </a:r>
          </a:p>
        </p:txBody>
      </p:sp>
      <p:sp>
        <p:nvSpPr>
          <p:cNvPr id="19" name="Rectangle 18"/>
          <p:cNvSpPr/>
          <p:nvPr/>
        </p:nvSpPr>
        <p:spPr>
          <a:xfrm>
            <a:off x="7973568"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973568" y="1783080"/>
            <a:ext cx="91440" cy="21488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174736" y="1965960"/>
            <a:ext cx="438912" cy="43891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74736"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23" name="TextBox 22"/>
          <p:cNvSpPr txBox="1"/>
          <p:nvPr/>
        </p:nvSpPr>
        <p:spPr>
          <a:xfrm>
            <a:off x="8750808" y="1929384"/>
            <a:ext cx="2286000" cy="475488"/>
          </a:xfrm>
          <a:prstGeom prst="rect">
            <a:avLst/>
          </a:prstGeom>
          <a:noFill/>
        </p:spPr>
        <p:txBody>
          <a:bodyPr wrap="square" anchor="ctr">
            <a:spAutoFit/>
          </a:bodyPr>
          <a:lstStyle/>
          <a:p>
            <a:pPr algn="l">
              <a:spcAft>
                <a:spcPts val="400"/>
              </a:spcAft>
            </a:pPr>
            <a:r>
              <a:rPr sz="1250" b="1">
                <a:solidFill>
                  <a:srgbClr val="7C3AED"/>
                </a:solidFill>
                <a:latin typeface="Arial"/>
              </a:rPr>
              <a:t>PRIMARY SERVICES</a:t>
            </a:r>
          </a:p>
        </p:txBody>
      </p:sp>
      <p:sp>
        <p:nvSpPr>
          <p:cNvPr id="24" name="TextBox 23"/>
          <p:cNvSpPr txBox="1"/>
          <p:nvPr/>
        </p:nvSpPr>
        <p:spPr>
          <a:xfrm>
            <a:off x="8202168"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CodeArtifact · ECR · S3 · KMS · Image Builder</a:t>
            </a:r>
          </a:p>
        </p:txBody>
      </p:sp>
      <p:sp>
        <p:nvSpPr>
          <p:cNvPr id="25" name="Rectangle 24"/>
          <p:cNvSpPr/>
          <p:nvPr/>
        </p:nvSpPr>
        <p:spPr>
          <a:xfrm>
            <a:off x="4434840"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34840" y="4005072"/>
            <a:ext cx="91440" cy="21488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636008" y="4187952"/>
            <a:ext cx="438912" cy="43891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36008"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9" name="TextBox 28"/>
          <p:cNvSpPr txBox="1"/>
          <p:nvPr/>
        </p:nvSpPr>
        <p:spPr>
          <a:xfrm>
            <a:off x="5212080" y="4151376"/>
            <a:ext cx="2286000" cy="475488"/>
          </a:xfrm>
          <a:prstGeom prst="rect">
            <a:avLst/>
          </a:prstGeom>
          <a:noFill/>
        </p:spPr>
        <p:txBody>
          <a:bodyPr wrap="square" anchor="ctr">
            <a:spAutoFit/>
          </a:bodyPr>
          <a:lstStyle/>
          <a:p>
            <a:pPr algn="l">
              <a:spcAft>
                <a:spcPts val="400"/>
              </a:spcAft>
            </a:pPr>
            <a:r>
              <a:rPr sz="1250" b="1">
                <a:solidFill>
                  <a:srgbClr val="F59E0B"/>
                </a:solidFill>
                <a:latin typeface="Arial"/>
              </a:rPr>
              <a:t>FAILURE MODE</a:t>
            </a:r>
          </a:p>
        </p:txBody>
      </p:sp>
      <p:sp>
        <p:nvSpPr>
          <p:cNvPr id="30" name="TextBox 29"/>
          <p:cNvSpPr txBox="1"/>
          <p:nvPr/>
        </p:nvSpPr>
        <p:spPr>
          <a:xfrm>
            <a:off x="4663440"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Mutable tags such as latest can deploy different bytes under the same release label.</a:t>
            </a:r>
          </a:p>
        </p:txBody>
      </p:sp>
      <p:sp>
        <p:nvSpPr>
          <p:cNvPr id="31" name="Rectangle 30"/>
          <p:cNvSpPr/>
          <p:nvPr/>
        </p:nvSpPr>
        <p:spPr>
          <a:xfrm>
            <a:off x="7973568"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73568" y="4005072"/>
            <a:ext cx="91440" cy="21488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174736" y="4187952"/>
            <a:ext cx="438912" cy="438912"/>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74736"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5" name="TextBox 34"/>
          <p:cNvSpPr txBox="1"/>
          <p:nvPr/>
        </p:nvSpPr>
        <p:spPr>
          <a:xfrm>
            <a:off x="8750808" y="4151376"/>
            <a:ext cx="2286000" cy="475488"/>
          </a:xfrm>
          <a:prstGeom prst="rect">
            <a:avLst/>
          </a:prstGeom>
          <a:noFill/>
        </p:spPr>
        <p:txBody>
          <a:bodyPr wrap="square" anchor="ctr">
            <a:spAutoFit/>
          </a:bodyPr>
          <a:lstStyle/>
          <a:p>
            <a:pPr algn="l">
              <a:spcAft>
                <a:spcPts val="400"/>
              </a:spcAft>
            </a:pPr>
            <a:r>
              <a:rPr sz="1250" b="1">
                <a:solidFill>
                  <a:srgbClr val="EC711E"/>
                </a:solidFill>
                <a:latin typeface="Arial"/>
              </a:rPr>
              <a:t>PROOF</a:t>
            </a:r>
          </a:p>
        </p:txBody>
      </p:sp>
      <p:sp>
        <p:nvSpPr>
          <p:cNvPr id="36" name="TextBox 35"/>
          <p:cNvSpPr txBox="1"/>
          <p:nvPr/>
        </p:nvSpPr>
        <p:spPr>
          <a:xfrm>
            <a:off x="8202168"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Package version, digest, scan status, KMS key, repository policy and retention action.</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117</a:t>
            </a:r>
          </a:p>
        </p:txBody>
      </p:sp>
    </p:spTree>
  </p:cSld>
  <p:clrMapOvr>
    <a:masterClrMapping/>
  </p:clrMapOvr>
  <p:transition xmlns:p14="http://schemas.microsoft.com/office/powerpoint/2010/main" p14:dur="380">
    <p:fade/>
  </p:transition>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OPERATIONS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Artifact integrity and lifecycle: failure diagnostic</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RECOGNISE</a:t>
            </a:r>
          </a:p>
          <a:p>
            <a:pPr algn="l">
              <a:spcAft>
                <a:spcPts val="300"/>
              </a:spcAft>
            </a:pPr>
            <a:r>
              <a:rPr sz="1050" b="0">
                <a:solidFill>
                  <a:srgbClr val="5B6372"/>
                </a:solidFill>
                <a:latin typeface="Arial"/>
              </a:rPr>
              <a:t>Observable failure condition: Mutable tags such as latest can deploy different bytes under the same release label.</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CONTAIN</a:t>
            </a:r>
          </a:p>
          <a:p>
            <a:pPr algn="l">
              <a:spcAft>
                <a:spcPts val="300"/>
              </a:spcAft>
            </a:pPr>
            <a:r>
              <a:rPr sz="1050" b="0">
                <a:solidFill>
                  <a:srgbClr val="5B6372"/>
                </a:solidFill>
                <a:latin typeface="Arial"/>
              </a:rPr>
              <a:t>Pause promotion, preserve evidence and reduce impact without destroying diagnostic state.</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DIAGNOSE</a:t>
            </a:r>
          </a:p>
          <a:p>
            <a:pPr algn="l">
              <a:spcAft>
                <a:spcPts val="300"/>
              </a:spcAft>
            </a:pPr>
            <a:r>
              <a:rPr sz="1050" b="0">
                <a:solidFill>
                  <a:srgbClr val="5B6372"/>
                </a:solidFill>
                <a:latin typeface="Arial"/>
              </a:rPr>
              <a:t>Trace the workflow from Build artifact through Promote by digest; compare intended configuration with runtime state.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RECOVER</a:t>
            </a:r>
          </a:p>
          <a:p>
            <a:pPr algn="l">
              <a:spcAft>
                <a:spcPts val="300"/>
              </a:spcAft>
            </a:pPr>
            <a:r>
              <a:rPr sz="1050" b="0">
                <a:solidFill>
                  <a:srgbClr val="5B6372"/>
                </a:solidFill>
                <a:latin typeface="Arial"/>
              </a:rPr>
              <a:t>Restore the last known-good state, then prove recovery with Package version, digest, scan status, KMS key, repository policy and retention action.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118</a:t>
            </a:r>
          </a:p>
        </p:txBody>
      </p:sp>
    </p:spTree>
  </p:cSld>
  <p:clrMapOvr>
    <a:masterClrMapping/>
  </p:clrMapOvr>
  <p:transition xmlns:p14="http://schemas.microsoft.com/office/powerpoint/2010/main" p14:dur="380">
    <p:fade/>
  </p:transition>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APPLIED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Artifact integrity and lifecycle: worked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CONSTRAINT</a:t>
            </a:r>
          </a:p>
          <a:p>
            <a:pPr algn="l">
              <a:spcAft>
                <a:spcPts val="300"/>
              </a:spcAft>
            </a:pPr>
            <a:r>
              <a:rPr sz="1050" b="0">
                <a:solidFill>
                  <a:srgbClr val="5B6372"/>
                </a:solidFill>
                <a:latin typeface="Arial"/>
              </a:rPr>
              <a:t>Teams share a container image across accounts and Regions while auditors require proof of exactly what ran.</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DECISION</a:t>
            </a:r>
          </a:p>
          <a:p>
            <a:pPr algn="l">
              <a:spcAft>
                <a:spcPts val="300"/>
              </a:spcAft>
            </a:pPr>
            <a:r>
              <a:rPr sz="1050" b="0">
                <a:solidFill>
                  <a:srgbClr val="5B6372"/>
                </a:solidFill>
                <a:latin typeface="Arial"/>
              </a:rPr>
              <a:t>Version packages immutably, scan images, sign or checksum outputs, encrypt repositories and expire superseded artifacts deliberately.</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WHY ALTERNATIVES LOSE</a:t>
            </a:r>
          </a:p>
          <a:p>
            <a:pPr algn="l">
              <a:spcAft>
                <a:spcPts val="300"/>
              </a:spcAft>
            </a:pPr>
            <a:r>
              <a:rPr sz="1050" b="0">
                <a:solidFill>
                  <a:srgbClr val="5B6372"/>
                </a:solidFill>
                <a:latin typeface="Arial"/>
              </a:rPr>
              <a:t>Reject options that do not change the stated failure boundary: Mutable tags such as latest can deploy different bytes under the same release label.</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ACCEPTANCE TEST</a:t>
            </a:r>
          </a:p>
          <a:p>
            <a:pPr algn="l">
              <a:spcAft>
                <a:spcPts val="300"/>
              </a:spcAft>
            </a:pPr>
            <a:r>
              <a:rPr sz="1050" b="0">
                <a:solidFill>
                  <a:srgbClr val="5B6372"/>
                </a:solidFill>
                <a:latin typeface="Arial"/>
              </a:rPr>
              <a:t>The decision is complete only when this proof exists: Package version, digest, scan status, KMS key, repository policy and retention action.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119</a:t>
            </a:r>
          </a:p>
        </p:txBody>
      </p:sp>
    </p:spTree>
  </p:cSld>
  <p:clrMapOvr>
    <a:masterClrMapping/>
  </p:clrMapOvr>
  <p:transition xmlns:p14="http://schemas.microsoft.com/office/powerpoint/2010/main" p14:dur="380">
    <p:fade/>
  </p:transition>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SDLC AUTOMATION</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CodeDeploy lifecycle and rollback</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OUTCOME</a:t>
            </a:r>
          </a:p>
          <a:p>
            <a:pPr algn="l">
              <a:spcAft>
                <a:spcPts val="300"/>
              </a:spcAft>
            </a:pPr>
            <a:r>
              <a:rPr sz="1050" b="0">
                <a:solidFill>
                  <a:srgbClr val="5B6372"/>
                </a:solidFill>
                <a:latin typeface="Arial"/>
              </a:rPr>
              <a:t>Deploy safely to fleets with lifecycle hooks, health checks and a deterministic rollback path.</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ARCHITECTURE</a:t>
            </a:r>
          </a:p>
          <a:p>
            <a:pPr algn="l">
              <a:spcAft>
                <a:spcPts val="300"/>
              </a:spcAft>
            </a:pPr>
            <a:r>
              <a:rPr sz="1050" b="0">
                <a:solidFill>
                  <a:srgbClr val="5B6372"/>
                </a:solidFill>
                <a:latin typeface="Arial"/>
              </a:rPr>
              <a:t>Match AppSpec hooks to deployment topology; use load-balancer health and alarms to halt or roll back unhealthy revisions.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MODE</a:t>
            </a:r>
          </a:p>
          <a:p>
            <a:pPr algn="l">
              <a:spcAft>
                <a:spcPts val="300"/>
              </a:spcAft>
            </a:pPr>
            <a:r>
              <a:rPr sz="1050" b="0">
                <a:solidFill>
                  <a:srgbClr val="5B6372"/>
                </a:solidFill>
                <a:latin typeface="Arial"/>
              </a:rPr>
              <a:t>A successful file copy does not prove the application is healthy.</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EVIDENCE</a:t>
            </a:r>
          </a:p>
          <a:p>
            <a:pPr algn="l">
              <a:spcAft>
                <a:spcPts val="300"/>
              </a:spcAft>
            </a:pPr>
            <a:r>
              <a:rPr sz="1050" b="0">
                <a:solidFill>
                  <a:srgbClr val="5B6372"/>
                </a:solidFill>
                <a:latin typeface="Arial"/>
              </a:rPr>
              <a:t>Revision ID, lifecycle-hook log, deployment configuration, alarm state and rollback deployment ID.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120</a:t>
            </a:r>
          </a:p>
        </p:txBody>
      </p:sp>
    </p:spTree>
  </p:cSld>
  <p:clrMapOvr>
    <a:masterClrMapping/>
  </p:clrMapOvr>
  <p:transition xmlns:p14="http://schemas.microsoft.com/office/powerpoint/2010/main" p14:dur="380">
    <p:fade/>
  </p:transition>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PROCESS MODEL</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CodeDeploy lifecycle and rollback: operating flow</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49809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97102"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9710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Provision target</a:t>
            </a:r>
          </a:p>
        </p:txBody>
      </p:sp>
      <p:sp>
        <p:nvSpPr>
          <p:cNvPr id="12" name="Rectangle 11"/>
          <p:cNvSpPr/>
          <p:nvPr/>
        </p:nvSpPr>
        <p:spPr>
          <a:xfrm>
            <a:off x="2604516"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04516" y="2148840"/>
            <a:ext cx="149809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024378"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24378"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6" name="TextBox 15"/>
          <p:cNvSpPr txBox="1"/>
          <p:nvPr/>
        </p:nvSpPr>
        <p:spPr>
          <a:xfrm>
            <a:off x="2723388"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Before Install</a:t>
            </a:r>
          </a:p>
        </p:txBody>
      </p:sp>
      <p:sp>
        <p:nvSpPr>
          <p:cNvPr id="17" name="Rectangle 16"/>
          <p:cNvSpPr/>
          <p:nvPr/>
        </p:nvSpPr>
        <p:spPr>
          <a:xfrm>
            <a:off x="4431792"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431792" y="2148840"/>
            <a:ext cx="149809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851654"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51654"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1" name="TextBox 20"/>
          <p:cNvSpPr txBox="1"/>
          <p:nvPr/>
        </p:nvSpPr>
        <p:spPr>
          <a:xfrm>
            <a:off x="4550664"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Install</a:t>
            </a:r>
          </a:p>
        </p:txBody>
      </p:sp>
      <p:sp>
        <p:nvSpPr>
          <p:cNvPr id="22" name="Rectangle 21"/>
          <p:cNvSpPr/>
          <p:nvPr/>
        </p:nvSpPr>
        <p:spPr>
          <a:xfrm>
            <a:off x="6259068"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59068" y="2148840"/>
            <a:ext cx="149809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678930"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78930"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6" name="TextBox 25"/>
          <p:cNvSpPr txBox="1"/>
          <p:nvPr/>
        </p:nvSpPr>
        <p:spPr>
          <a:xfrm>
            <a:off x="6377940"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Validate Service</a:t>
            </a:r>
          </a:p>
        </p:txBody>
      </p:sp>
      <p:sp>
        <p:nvSpPr>
          <p:cNvPr id="27" name="Rectangle 26"/>
          <p:cNvSpPr/>
          <p:nvPr/>
        </p:nvSpPr>
        <p:spPr>
          <a:xfrm>
            <a:off x="8086344"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086344" y="2148840"/>
            <a:ext cx="1498092" cy="914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506206" y="2532888"/>
            <a:ext cx="658368" cy="658368"/>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06206"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5</a:t>
            </a:r>
          </a:p>
        </p:txBody>
      </p:sp>
      <p:sp>
        <p:nvSpPr>
          <p:cNvPr id="31" name="TextBox 30"/>
          <p:cNvSpPr txBox="1"/>
          <p:nvPr/>
        </p:nvSpPr>
        <p:spPr>
          <a:xfrm>
            <a:off x="8205216"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Shift traffic</a:t>
            </a:r>
          </a:p>
        </p:txBody>
      </p:sp>
      <p:sp>
        <p:nvSpPr>
          <p:cNvPr id="32" name="Rectangle 31"/>
          <p:cNvSpPr/>
          <p:nvPr/>
        </p:nvSpPr>
        <p:spPr>
          <a:xfrm>
            <a:off x="9913620"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913620" y="2148840"/>
            <a:ext cx="1498092" cy="91440"/>
          </a:xfrm>
          <a:prstGeom prst="rect">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333482" y="2532888"/>
            <a:ext cx="658368" cy="658368"/>
          </a:xfrm>
          <a:prstGeom prst="ellipse">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3348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6</a:t>
            </a:r>
          </a:p>
        </p:txBody>
      </p:sp>
      <p:sp>
        <p:nvSpPr>
          <p:cNvPr id="36" name="TextBox 35"/>
          <p:cNvSpPr txBox="1"/>
          <p:nvPr/>
        </p:nvSpPr>
        <p:spPr>
          <a:xfrm>
            <a:off x="10032492"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Rollback if alarmed</a:t>
            </a:r>
          </a:p>
        </p:txBody>
      </p:sp>
      <p:cxnSp>
        <p:nvCxnSpPr>
          <p:cNvPr id="37" name="Connector 36"/>
          <p:cNvCxnSpPr/>
          <p:nvPr/>
        </p:nvCxnSpPr>
        <p:spPr>
          <a:xfrm>
            <a:off x="2275332"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10260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929884"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775716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9584436"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1F6FEB"/>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44" name="TextBox 4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45" name="TextBox 4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6" name="TextBox 4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121</a:t>
            </a:r>
          </a:p>
        </p:txBody>
      </p:sp>
    </p:spTree>
  </p:cSld>
  <p:clrMapOvr>
    <a:masterClrMapping/>
  </p:clrMapOvr>
  <p:transition xmlns:p14="http://schemas.microsoft.com/office/powerpoint/2010/main" p14:dur="380">
    <p:fade/>
  </p:transition>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CodeDeploy lifecycle and rollback: design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83280" cy="43708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70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011680"/>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011680"/>
            <a:ext cx="530352" cy="530352"/>
          </a:xfrm>
          <a:prstGeom prst="rect">
            <a:avLst/>
          </a:prstGeom>
          <a:noFill/>
        </p:spPr>
        <p:txBody>
          <a:bodyPr wrap="square" anchor="ctr">
            <a:spAutoFit/>
          </a:bodyPr>
          <a:lstStyle/>
          <a:p>
            <a:pPr algn="ctr">
              <a:spcAft>
                <a:spcPts val="400"/>
              </a:spcAft>
            </a:pPr>
            <a:r>
              <a:rPr sz="2000" b="1">
                <a:solidFill>
                  <a:srgbClr val="FFFFFF"/>
                </a:solidFill>
                <a:latin typeface="Arial"/>
              </a:rPr>
              <a:t>?</a:t>
            </a:r>
          </a:p>
        </p:txBody>
      </p:sp>
      <p:sp>
        <p:nvSpPr>
          <p:cNvPr id="11" name="TextBox 10"/>
          <p:cNvSpPr txBox="1"/>
          <p:nvPr/>
        </p:nvSpPr>
        <p:spPr>
          <a:xfrm>
            <a:off x="1709928" y="1984248"/>
            <a:ext cx="2212848" cy="502920"/>
          </a:xfrm>
          <a:prstGeom prst="rect">
            <a:avLst/>
          </a:prstGeom>
          <a:noFill/>
        </p:spPr>
        <p:txBody>
          <a:bodyPr wrap="square" anchor="ctr">
            <a:spAutoFit/>
          </a:bodyPr>
          <a:lstStyle/>
          <a:p>
            <a:pPr algn="l">
              <a:spcAft>
                <a:spcPts val="400"/>
              </a:spcAft>
            </a:pPr>
            <a:r>
              <a:rPr sz="1350" b="1">
                <a:solidFill>
                  <a:srgbClr val="1F6FEB"/>
                </a:solidFill>
                <a:latin typeface="Arial"/>
              </a:rPr>
              <a:t>SCENARIO</a:t>
            </a:r>
          </a:p>
        </p:txBody>
      </p:sp>
      <p:sp>
        <p:nvSpPr>
          <p:cNvPr id="12" name="TextBox 11"/>
          <p:cNvSpPr txBox="1"/>
          <p:nvPr/>
        </p:nvSpPr>
        <p:spPr>
          <a:xfrm>
            <a:off x="1051560" y="2743200"/>
            <a:ext cx="2834640" cy="3136392"/>
          </a:xfrm>
          <a:prstGeom prst="rect">
            <a:avLst/>
          </a:prstGeom>
          <a:noFill/>
        </p:spPr>
        <p:txBody>
          <a:bodyPr wrap="square" anchor="t">
            <a:spAutoFit/>
          </a:bodyPr>
          <a:lstStyle/>
          <a:p>
            <a:pPr algn="l">
              <a:spcAft>
                <a:spcPts val="400"/>
              </a:spcAft>
            </a:pPr>
            <a:r>
              <a:rPr sz="1300" b="0">
                <a:solidFill>
                  <a:srgbClr val="161B26"/>
                </a:solidFill>
                <a:latin typeface="Arial"/>
              </a:rPr>
              <a:t>An in-place EC2 deployment leaves half the fleet serving incompatible API versions.</a:t>
            </a:r>
          </a:p>
        </p:txBody>
      </p:sp>
      <p:sp>
        <p:nvSpPr>
          <p:cNvPr id="13" name="Rectangle 12"/>
          <p:cNvSpPr/>
          <p:nvPr/>
        </p:nvSpPr>
        <p:spPr>
          <a:xfrm>
            <a:off x="4434840"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34840" y="1783080"/>
            <a:ext cx="91440"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636008" y="1965960"/>
            <a:ext cx="438912" cy="43891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6008"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7" name="TextBox 16"/>
          <p:cNvSpPr txBox="1"/>
          <p:nvPr/>
        </p:nvSpPr>
        <p:spPr>
          <a:xfrm>
            <a:off x="5212080" y="1929384"/>
            <a:ext cx="2286000" cy="475488"/>
          </a:xfrm>
          <a:prstGeom prst="rect">
            <a:avLst/>
          </a:prstGeom>
          <a:noFill/>
        </p:spPr>
        <p:txBody>
          <a:bodyPr wrap="square" anchor="ctr">
            <a:spAutoFit/>
          </a:bodyPr>
          <a:lstStyle/>
          <a:p>
            <a:pPr algn="l">
              <a:spcAft>
                <a:spcPts val="400"/>
              </a:spcAft>
            </a:pPr>
            <a:r>
              <a:rPr sz="1250" b="1">
                <a:solidFill>
                  <a:srgbClr val="10B981"/>
                </a:solidFill>
                <a:latin typeface="Arial"/>
              </a:rPr>
              <a:t>DESIGN RESPONSE</a:t>
            </a:r>
          </a:p>
        </p:txBody>
      </p:sp>
      <p:sp>
        <p:nvSpPr>
          <p:cNvPr id="18" name="TextBox 17"/>
          <p:cNvSpPr txBox="1"/>
          <p:nvPr/>
        </p:nvSpPr>
        <p:spPr>
          <a:xfrm>
            <a:off x="4663440"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Match AppSpec hooks to deployment topology; use load-balancer health and alarms to halt or roll back unhealthy revisions.</a:t>
            </a:r>
          </a:p>
        </p:txBody>
      </p:sp>
      <p:sp>
        <p:nvSpPr>
          <p:cNvPr id="19" name="Rectangle 18"/>
          <p:cNvSpPr/>
          <p:nvPr/>
        </p:nvSpPr>
        <p:spPr>
          <a:xfrm>
            <a:off x="7973568"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973568" y="1783080"/>
            <a:ext cx="91440" cy="21488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174736" y="1965960"/>
            <a:ext cx="438912" cy="43891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74736"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23" name="TextBox 22"/>
          <p:cNvSpPr txBox="1"/>
          <p:nvPr/>
        </p:nvSpPr>
        <p:spPr>
          <a:xfrm>
            <a:off x="8750808" y="1929384"/>
            <a:ext cx="2286000" cy="475488"/>
          </a:xfrm>
          <a:prstGeom prst="rect">
            <a:avLst/>
          </a:prstGeom>
          <a:noFill/>
        </p:spPr>
        <p:txBody>
          <a:bodyPr wrap="square" anchor="ctr">
            <a:spAutoFit/>
          </a:bodyPr>
          <a:lstStyle/>
          <a:p>
            <a:pPr algn="l">
              <a:spcAft>
                <a:spcPts val="400"/>
              </a:spcAft>
            </a:pPr>
            <a:r>
              <a:rPr sz="1250" b="1">
                <a:solidFill>
                  <a:srgbClr val="7C3AED"/>
                </a:solidFill>
                <a:latin typeface="Arial"/>
              </a:rPr>
              <a:t>PRIMARY SERVICES</a:t>
            </a:r>
          </a:p>
        </p:txBody>
      </p:sp>
      <p:sp>
        <p:nvSpPr>
          <p:cNvPr id="24" name="TextBox 23"/>
          <p:cNvSpPr txBox="1"/>
          <p:nvPr/>
        </p:nvSpPr>
        <p:spPr>
          <a:xfrm>
            <a:off x="8202168"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CodeDeploy · EC2 · Auto Scaling · ALB</a:t>
            </a:r>
          </a:p>
        </p:txBody>
      </p:sp>
      <p:sp>
        <p:nvSpPr>
          <p:cNvPr id="25" name="Rectangle 24"/>
          <p:cNvSpPr/>
          <p:nvPr/>
        </p:nvSpPr>
        <p:spPr>
          <a:xfrm>
            <a:off x="4434840"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34840" y="4005072"/>
            <a:ext cx="91440" cy="21488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636008" y="4187952"/>
            <a:ext cx="438912" cy="43891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36008"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9" name="TextBox 28"/>
          <p:cNvSpPr txBox="1"/>
          <p:nvPr/>
        </p:nvSpPr>
        <p:spPr>
          <a:xfrm>
            <a:off x="5212080" y="4151376"/>
            <a:ext cx="2286000" cy="475488"/>
          </a:xfrm>
          <a:prstGeom prst="rect">
            <a:avLst/>
          </a:prstGeom>
          <a:noFill/>
        </p:spPr>
        <p:txBody>
          <a:bodyPr wrap="square" anchor="ctr">
            <a:spAutoFit/>
          </a:bodyPr>
          <a:lstStyle/>
          <a:p>
            <a:pPr algn="l">
              <a:spcAft>
                <a:spcPts val="400"/>
              </a:spcAft>
            </a:pPr>
            <a:r>
              <a:rPr sz="1250" b="1">
                <a:solidFill>
                  <a:srgbClr val="F59E0B"/>
                </a:solidFill>
                <a:latin typeface="Arial"/>
              </a:rPr>
              <a:t>FAILURE MODE</a:t>
            </a:r>
          </a:p>
        </p:txBody>
      </p:sp>
      <p:sp>
        <p:nvSpPr>
          <p:cNvPr id="30" name="TextBox 29"/>
          <p:cNvSpPr txBox="1"/>
          <p:nvPr/>
        </p:nvSpPr>
        <p:spPr>
          <a:xfrm>
            <a:off x="4663440"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A successful file copy does not prove the application is healthy.</a:t>
            </a:r>
          </a:p>
        </p:txBody>
      </p:sp>
      <p:sp>
        <p:nvSpPr>
          <p:cNvPr id="31" name="Rectangle 30"/>
          <p:cNvSpPr/>
          <p:nvPr/>
        </p:nvSpPr>
        <p:spPr>
          <a:xfrm>
            <a:off x="7973568"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73568" y="4005072"/>
            <a:ext cx="91440" cy="21488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174736" y="4187952"/>
            <a:ext cx="438912" cy="438912"/>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74736"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5" name="TextBox 34"/>
          <p:cNvSpPr txBox="1"/>
          <p:nvPr/>
        </p:nvSpPr>
        <p:spPr>
          <a:xfrm>
            <a:off x="8750808" y="4151376"/>
            <a:ext cx="2286000" cy="475488"/>
          </a:xfrm>
          <a:prstGeom prst="rect">
            <a:avLst/>
          </a:prstGeom>
          <a:noFill/>
        </p:spPr>
        <p:txBody>
          <a:bodyPr wrap="square" anchor="ctr">
            <a:spAutoFit/>
          </a:bodyPr>
          <a:lstStyle/>
          <a:p>
            <a:pPr algn="l">
              <a:spcAft>
                <a:spcPts val="400"/>
              </a:spcAft>
            </a:pPr>
            <a:r>
              <a:rPr sz="1250" b="1">
                <a:solidFill>
                  <a:srgbClr val="EC711E"/>
                </a:solidFill>
                <a:latin typeface="Arial"/>
              </a:rPr>
              <a:t>PROOF</a:t>
            </a:r>
          </a:p>
        </p:txBody>
      </p:sp>
      <p:sp>
        <p:nvSpPr>
          <p:cNvPr id="36" name="TextBox 35"/>
          <p:cNvSpPr txBox="1"/>
          <p:nvPr/>
        </p:nvSpPr>
        <p:spPr>
          <a:xfrm>
            <a:off x="8202168"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Revision ID, lifecycle-hook log, deployment configuration, alarm state and rollback deployment ID.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122</a:t>
            </a:r>
          </a:p>
        </p:txBody>
      </p:sp>
    </p:spTree>
  </p:cSld>
  <p:clrMapOvr>
    <a:masterClrMapping/>
  </p:clrMapOvr>
  <p:transition xmlns:p14="http://schemas.microsoft.com/office/powerpoint/2010/main" p14:dur="380">
    <p:fade/>
  </p:transition>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OPERATIONS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CodeDeploy lifecycle and rollback: failure diagnostic</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RECOGNISE</a:t>
            </a:r>
          </a:p>
          <a:p>
            <a:pPr algn="l">
              <a:spcAft>
                <a:spcPts val="300"/>
              </a:spcAft>
            </a:pPr>
            <a:r>
              <a:rPr sz="1050" b="0">
                <a:solidFill>
                  <a:srgbClr val="5B6372"/>
                </a:solidFill>
                <a:latin typeface="Arial"/>
              </a:rPr>
              <a:t>Observable failure condition: A successful file copy does not prove the application is healthy.</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CONTAIN</a:t>
            </a:r>
          </a:p>
          <a:p>
            <a:pPr algn="l">
              <a:spcAft>
                <a:spcPts val="300"/>
              </a:spcAft>
            </a:pPr>
            <a:r>
              <a:rPr sz="1050" b="0">
                <a:solidFill>
                  <a:srgbClr val="5B6372"/>
                </a:solidFill>
                <a:latin typeface="Arial"/>
              </a:rPr>
              <a:t>Pause promotion, preserve evidence and reduce impact without destroying diagnostic state.</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DIAGNOSE</a:t>
            </a:r>
          </a:p>
          <a:p>
            <a:pPr algn="l">
              <a:spcAft>
                <a:spcPts val="300"/>
              </a:spcAft>
            </a:pPr>
            <a:r>
              <a:rPr sz="1050" b="0">
                <a:solidFill>
                  <a:srgbClr val="5B6372"/>
                </a:solidFill>
                <a:latin typeface="Arial"/>
              </a:rPr>
              <a:t>Trace the workflow from Provision target through Rollback if alarmed; compare intended configuration with runtime state.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RECOVER</a:t>
            </a:r>
          </a:p>
          <a:p>
            <a:pPr algn="l">
              <a:spcAft>
                <a:spcPts val="300"/>
              </a:spcAft>
            </a:pPr>
            <a:r>
              <a:rPr sz="1050" b="0">
                <a:solidFill>
                  <a:srgbClr val="5B6372"/>
                </a:solidFill>
                <a:latin typeface="Arial"/>
              </a:rPr>
              <a:t>Restore the last known-good state, then prove recovery with Revision ID, lifecycle-hook log, deployment configuration, alarm state and rollback deployment ID.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123</a:t>
            </a:r>
          </a:p>
        </p:txBody>
      </p:sp>
    </p:spTree>
  </p:cSld>
  <p:clrMapOvr>
    <a:masterClrMapping/>
  </p:clrMapOvr>
  <p:transition xmlns:p14="http://schemas.microsoft.com/office/powerpoint/2010/main" p14:dur="380">
    <p:fade/>
  </p:transition>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APPLIED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CodeDeploy lifecycle and rollback: worked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CONSTRAINT</a:t>
            </a:r>
          </a:p>
          <a:p>
            <a:pPr algn="l">
              <a:spcAft>
                <a:spcPts val="300"/>
              </a:spcAft>
            </a:pPr>
            <a:r>
              <a:rPr sz="1050" b="0">
                <a:solidFill>
                  <a:srgbClr val="5B6372"/>
                </a:solidFill>
                <a:latin typeface="Arial"/>
              </a:rPr>
              <a:t>An in-place EC2 deployment leaves half the fleet serving incompatible API versions.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DECISION</a:t>
            </a:r>
          </a:p>
          <a:p>
            <a:pPr algn="l">
              <a:spcAft>
                <a:spcPts val="300"/>
              </a:spcAft>
            </a:pPr>
            <a:r>
              <a:rPr sz="1050" b="0">
                <a:solidFill>
                  <a:srgbClr val="5B6372"/>
                </a:solidFill>
                <a:latin typeface="Arial"/>
              </a:rPr>
              <a:t>Match AppSpec hooks to deployment topology; use load-balancer health and alarms to halt or roll back unhealthy revisions.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WHY ALTERNATIVES LOSE</a:t>
            </a:r>
          </a:p>
          <a:p>
            <a:pPr algn="l">
              <a:spcAft>
                <a:spcPts val="300"/>
              </a:spcAft>
            </a:pPr>
            <a:r>
              <a:rPr sz="1050" b="0">
                <a:solidFill>
                  <a:srgbClr val="5B6372"/>
                </a:solidFill>
                <a:latin typeface="Arial"/>
              </a:rPr>
              <a:t>Reject options that do not change the stated failure boundary: A successful file copy does not prove the application is healthy.</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ACCEPTANCE TEST</a:t>
            </a:r>
          </a:p>
          <a:p>
            <a:pPr algn="l">
              <a:spcAft>
                <a:spcPts val="300"/>
              </a:spcAft>
            </a:pPr>
            <a:r>
              <a:rPr sz="1050" b="0">
                <a:solidFill>
                  <a:srgbClr val="5B6372"/>
                </a:solidFill>
                <a:latin typeface="Arial"/>
              </a:rPr>
              <a:t>The decision is complete only when this proof exists: Revision ID, lifecycle-hook log, deployment configuration, alarm state and rollback deployment ID.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124</a:t>
            </a:r>
          </a:p>
        </p:txBody>
      </p:sp>
    </p:spTree>
  </p:cSld>
  <p:clrMapOvr>
    <a:masterClrMapping/>
  </p:clrMapOvr>
  <p:transition xmlns:p14="http://schemas.microsoft.com/office/powerpoint/2010/main" p14:dur="380">
    <p:fade/>
  </p:transition>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SDLC AUTOMATION</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Container and serverless deployment strategies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OUTCOME</a:t>
            </a:r>
          </a:p>
          <a:p>
            <a:pPr algn="l">
              <a:spcAft>
                <a:spcPts val="300"/>
              </a:spcAft>
            </a:pPr>
            <a:r>
              <a:rPr sz="1050" b="0">
                <a:solidFill>
                  <a:srgbClr val="5B6372"/>
                </a:solidFill>
                <a:latin typeface="Arial"/>
              </a:rPr>
              <a:t>Select canary, linear or all-at-once traffic shifting based on blast radius and recovery needs.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ARCHITECTURE</a:t>
            </a:r>
          </a:p>
          <a:p>
            <a:pPr algn="l">
              <a:spcAft>
                <a:spcPts val="300"/>
              </a:spcAft>
            </a:pPr>
            <a:r>
              <a:rPr sz="1050" b="0">
                <a:solidFill>
                  <a:srgbClr val="5B6372"/>
                </a:solidFill>
                <a:latin typeface="Arial"/>
              </a:rPr>
              <a:t>Pair weighted traffic with pre/post hooks, alarms and versioned task definitions or Lambda aliases.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MODE</a:t>
            </a:r>
          </a:p>
          <a:p>
            <a:pPr algn="l">
              <a:spcAft>
                <a:spcPts val="300"/>
              </a:spcAft>
            </a:pPr>
            <a:r>
              <a:rPr sz="1050" b="0">
                <a:solidFill>
                  <a:srgbClr val="5B6372"/>
                </a:solidFill>
                <a:latin typeface="Arial"/>
              </a:rPr>
              <a:t>Traffic shifts without representative health signals can amplify failure gradually but silently.</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EVIDENCE</a:t>
            </a:r>
          </a:p>
          <a:p>
            <a:pPr algn="l">
              <a:spcAft>
                <a:spcPts val="300"/>
              </a:spcAft>
            </a:pPr>
            <a:r>
              <a:rPr sz="1050" b="0">
                <a:solidFill>
                  <a:srgbClr val="5B6372"/>
                </a:solidFill>
                <a:latin typeface="Arial"/>
              </a:rPr>
              <a:t>Task-definition revision or Lambda version, traffic weights, hook results, alarms and rollback state.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125</a:t>
            </a:r>
          </a:p>
        </p:txBody>
      </p:sp>
    </p:spTree>
  </p:cSld>
  <p:clrMapOvr>
    <a:masterClrMapping/>
  </p:clrMapOvr>
  <p:transition xmlns:p14="http://schemas.microsoft.com/office/powerpoint/2010/main" p14:dur="380">
    <p:fade/>
  </p:transition>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PROCESS MODEL</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500" b="1">
                <a:solidFill>
                  <a:srgbClr val="161B26"/>
                </a:solidFill>
                <a:latin typeface="Arial"/>
              </a:rPr>
              <a:t>Container and serverless deployment strategies: operating flow</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6354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79829"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982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Publish version</a:t>
            </a:r>
          </a:p>
        </p:txBody>
      </p:sp>
      <p:sp>
        <p:nvSpPr>
          <p:cNvPr id="12" name="Rectangle 11"/>
          <p:cNvSpPr/>
          <p:nvPr/>
        </p:nvSpPr>
        <p:spPr>
          <a:xfrm>
            <a:off x="2969971"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69971" y="2148840"/>
            <a:ext cx="186354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572560"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72560"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6" name="TextBox 15"/>
          <p:cNvSpPr txBox="1"/>
          <p:nvPr/>
        </p:nvSpPr>
        <p:spPr>
          <a:xfrm>
            <a:off x="3088843"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Pre-traffic test</a:t>
            </a:r>
          </a:p>
        </p:txBody>
      </p:sp>
      <p:sp>
        <p:nvSpPr>
          <p:cNvPr id="17" name="Rectangle 16"/>
          <p:cNvSpPr/>
          <p:nvPr/>
        </p:nvSpPr>
        <p:spPr>
          <a:xfrm>
            <a:off x="5162702"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62702" y="2148840"/>
            <a:ext cx="186354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765291"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6529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1" name="TextBox 20"/>
          <p:cNvSpPr txBox="1"/>
          <p:nvPr/>
        </p:nvSpPr>
        <p:spPr>
          <a:xfrm>
            <a:off x="5281574"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Shift fraction</a:t>
            </a:r>
          </a:p>
        </p:txBody>
      </p:sp>
      <p:sp>
        <p:nvSpPr>
          <p:cNvPr id="22" name="Rectangle 21"/>
          <p:cNvSpPr/>
          <p:nvPr/>
        </p:nvSpPr>
        <p:spPr>
          <a:xfrm>
            <a:off x="7355433"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355433" y="2148840"/>
            <a:ext cx="186354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958022"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5802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6" name="TextBox 25"/>
          <p:cNvSpPr txBox="1"/>
          <p:nvPr/>
        </p:nvSpPr>
        <p:spPr>
          <a:xfrm>
            <a:off x="7474305"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Observe</a:t>
            </a:r>
          </a:p>
        </p:txBody>
      </p:sp>
      <p:sp>
        <p:nvSpPr>
          <p:cNvPr id="27" name="Rectangle 26"/>
          <p:cNvSpPr/>
          <p:nvPr/>
        </p:nvSpPr>
        <p:spPr>
          <a:xfrm>
            <a:off x="9548164"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548164" y="2148840"/>
            <a:ext cx="1863547" cy="914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50753" y="2532888"/>
            <a:ext cx="658368" cy="658368"/>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5075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5</a:t>
            </a:r>
          </a:p>
        </p:txBody>
      </p:sp>
      <p:sp>
        <p:nvSpPr>
          <p:cNvPr id="31" name="TextBox 30"/>
          <p:cNvSpPr txBox="1"/>
          <p:nvPr/>
        </p:nvSpPr>
        <p:spPr>
          <a:xfrm>
            <a:off x="9667036"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Complete or roll back</a:t>
            </a:r>
          </a:p>
        </p:txBody>
      </p:sp>
      <p:cxnSp>
        <p:nvCxnSpPr>
          <p:cNvPr id="32" name="Connector 31"/>
          <p:cNvCxnSpPr/>
          <p:nvPr/>
        </p:nvCxnSpPr>
        <p:spPr>
          <a:xfrm>
            <a:off x="2640787"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83351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026249"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21898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1F6FEB"/>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8" name="TextBox 3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9" name="TextBox 3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0" name="TextBox 3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126</a:t>
            </a:r>
          </a:p>
        </p:txBody>
      </p:sp>
    </p:spTree>
  </p:cSld>
  <p:clrMapOvr>
    <a:masterClrMapping/>
  </p:clrMapOvr>
  <p:transition xmlns:p14="http://schemas.microsoft.com/office/powerpoint/2010/main" p14:dur="380">
    <p:fade/>
  </p:transition>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SCENARIO</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500" b="1">
                <a:solidFill>
                  <a:srgbClr val="161B26"/>
                </a:solidFill>
                <a:latin typeface="Arial"/>
              </a:rPr>
              <a:t>Container and serverless deployment strategies: design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83280" cy="43708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70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011680"/>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011680"/>
            <a:ext cx="530352" cy="530352"/>
          </a:xfrm>
          <a:prstGeom prst="rect">
            <a:avLst/>
          </a:prstGeom>
          <a:noFill/>
        </p:spPr>
        <p:txBody>
          <a:bodyPr wrap="square" anchor="ctr">
            <a:spAutoFit/>
          </a:bodyPr>
          <a:lstStyle/>
          <a:p>
            <a:pPr algn="ctr">
              <a:spcAft>
                <a:spcPts val="400"/>
              </a:spcAft>
            </a:pPr>
            <a:r>
              <a:rPr sz="2000" b="1">
                <a:solidFill>
                  <a:srgbClr val="FFFFFF"/>
                </a:solidFill>
                <a:latin typeface="Arial"/>
              </a:rPr>
              <a:t>?</a:t>
            </a:r>
          </a:p>
        </p:txBody>
      </p:sp>
      <p:sp>
        <p:nvSpPr>
          <p:cNvPr id="11" name="TextBox 10"/>
          <p:cNvSpPr txBox="1"/>
          <p:nvPr/>
        </p:nvSpPr>
        <p:spPr>
          <a:xfrm>
            <a:off x="1709928" y="1984248"/>
            <a:ext cx="2212848" cy="502920"/>
          </a:xfrm>
          <a:prstGeom prst="rect">
            <a:avLst/>
          </a:prstGeom>
          <a:noFill/>
        </p:spPr>
        <p:txBody>
          <a:bodyPr wrap="square" anchor="ctr">
            <a:spAutoFit/>
          </a:bodyPr>
          <a:lstStyle/>
          <a:p>
            <a:pPr algn="l">
              <a:spcAft>
                <a:spcPts val="400"/>
              </a:spcAft>
            </a:pPr>
            <a:r>
              <a:rPr sz="1350" b="1">
                <a:solidFill>
                  <a:srgbClr val="1F6FEB"/>
                </a:solidFill>
                <a:latin typeface="Arial"/>
              </a:rPr>
              <a:t>SCENARIO</a:t>
            </a:r>
          </a:p>
        </p:txBody>
      </p:sp>
      <p:sp>
        <p:nvSpPr>
          <p:cNvPr id="12" name="TextBox 11"/>
          <p:cNvSpPr txBox="1"/>
          <p:nvPr/>
        </p:nvSpPr>
        <p:spPr>
          <a:xfrm>
            <a:off x="1051560" y="2743200"/>
            <a:ext cx="2834640" cy="3136392"/>
          </a:xfrm>
          <a:prstGeom prst="rect">
            <a:avLst/>
          </a:prstGeom>
          <a:noFill/>
        </p:spPr>
        <p:txBody>
          <a:bodyPr wrap="square" anchor="t">
            <a:spAutoFit/>
          </a:bodyPr>
          <a:lstStyle/>
          <a:p>
            <a:pPr algn="l">
              <a:spcAft>
                <a:spcPts val="400"/>
              </a:spcAft>
            </a:pPr>
            <a:r>
              <a:rPr sz="1300" b="0">
                <a:solidFill>
                  <a:srgbClr val="161B26"/>
                </a:solidFill>
                <a:latin typeface="Arial"/>
              </a:rPr>
              <a:t>A customer API requires zero-downtime releases and automatic rollback within five minutes.</a:t>
            </a:r>
          </a:p>
        </p:txBody>
      </p:sp>
      <p:sp>
        <p:nvSpPr>
          <p:cNvPr id="13" name="Rectangle 12"/>
          <p:cNvSpPr/>
          <p:nvPr/>
        </p:nvSpPr>
        <p:spPr>
          <a:xfrm>
            <a:off x="4434840"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34840" y="1783080"/>
            <a:ext cx="91440"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636008" y="1965960"/>
            <a:ext cx="438912" cy="43891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6008"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7" name="TextBox 16"/>
          <p:cNvSpPr txBox="1"/>
          <p:nvPr/>
        </p:nvSpPr>
        <p:spPr>
          <a:xfrm>
            <a:off x="5212080" y="1929384"/>
            <a:ext cx="2286000" cy="475488"/>
          </a:xfrm>
          <a:prstGeom prst="rect">
            <a:avLst/>
          </a:prstGeom>
          <a:noFill/>
        </p:spPr>
        <p:txBody>
          <a:bodyPr wrap="square" anchor="ctr">
            <a:spAutoFit/>
          </a:bodyPr>
          <a:lstStyle/>
          <a:p>
            <a:pPr algn="l">
              <a:spcAft>
                <a:spcPts val="400"/>
              </a:spcAft>
            </a:pPr>
            <a:r>
              <a:rPr sz="1250" b="1">
                <a:solidFill>
                  <a:srgbClr val="10B981"/>
                </a:solidFill>
                <a:latin typeface="Arial"/>
              </a:rPr>
              <a:t>DESIGN RESPONSE</a:t>
            </a:r>
          </a:p>
        </p:txBody>
      </p:sp>
      <p:sp>
        <p:nvSpPr>
          <p:cNvPr id="18" name="TextBox 17"/>
          <p:cNvSpPr txBox="1"/>
          <p:nvPr/>
        </p:nvSpPr>
        <p:spPr>
          <a:xfrm>
            <a:off x="4663440"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Pair weighted traffic with pre/post hooks, alarms and versioned task definitions or Lambda aliases.</a:t>
            </a:r>
          </a:p>
        </p:txBody>
      </p:sp>
      <p:sp>
        <p:nvSpPr>
          <p:cNvPr id="19" name="Rectangle 18"/>
          <p:cNvSpPr/>
          <p:nvPr/>
        </p:nvSpPr>
        <p:spPr>
          <a:xfrm>
            <a:off x="7973568"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973568" y="1783080"/>
            <a:ext cx="91440" cy="21488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174736" y="1965960"/>
            <a:ext cx="438912" cy="43891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74736"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23" name="TextBox 22"/>
          <p:cNvSpPr txBox="1"/>
          <p:nvPr/>
        </p:nvSpPr>
        <p:spPr>
          <a:xfrm>
            <a:off x="8750808" y="1929384"/>
            <a:ext cx="2286000" cy="475488"/>
          </a:xfrm>
          <a:prstGeom prst="rect">
            <a:avLst/>
          </a:prstGeom>
          <a:noFill/>
        </p:spPr>
        <p:txBody>
          <a:bodyPr wrap="square" anchor="ctr">
            <a:spAutoFit/>
          </a:bodyPr>
          <a:lstStyle/>
          <a:p>
            <a:pPr algn="l">
              <a:spcAft>
                <a:spcPts val="400"/>
              </a:spcAft>
            </a:pPr>
            <a:r>
              <a:rPr sz="1250" b="1">
                <a:solidFill>
                  <a:srgbClr val="7C3AED"/>
                </a:solidFill>
                <a:latin typeface="Arial"/>
              </a:rPr>
              <a:t>PRIMARY SERVICES</a:t>
            </a:r>
          </a:p>
        </p:txBody>
      </p:sp>
      <p:sp>
        <p:nvSpPr>
          <p:cNvPr id="24" name="TextBox 23"/>
          <p:cNvSpPr txBox="1"/>
          <p:nvPr/>
        </p:nvSpPr>
        <p:spPr>
          <a:xfrm>
            <a:off x="8202168"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ECS · Lambda · CodeDeploy · SAM</a:t>
            </a:r>
          </a:p>
        </p:txBody>
      </p:sp>
      <p:sp>
        <p:nvSpPr>
          <p:cNvPr id="25" name="Rectangle 24"/>
          <p:cNvSpPr/>
          <p:nvPr/>
        </p:nvSpPr>
        <p:spPr>
          <a:xfrm>
            <a:off x="4434840"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34840" y="4005072"/>
            <a:ext cx="91440" cy="21488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636008" y="4187952"/>
            <a:ext cx="438912" cy="43891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36008"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9" name="TextBox 28"/>
          <p:cNvSpPr txBox="1"/>
          <p:nvPr/>
        </p:nvSpPr>
        <p:spPr>
          <a:xfrm>
            <a:off x="5212080" y="4151376"/>
            <a:ext cx="2286000" cy="475488"/>
          </a:xfrm>
          <a:prstGeom prst="rect">
            <a:avLst/>
          </a:prstGeom>
          <a:noFill/>
        </p:spPr>
        <p:txBody>
          <a:bodyPr wrap="square" anchor="ctr">
            <a:spAutoFit/>
          </a:bodyPr>
          <a:lstStyle/>
          <a:p>
            <a:pPr algn="l">
              <a:spcAft>
                <a:spcPts val="400"/>
              </a:spcAft>
            </a:pPr>
            <a:r>
              <a:rPr sz="1250" b="1">
                <a:solidFill>
                  <a:srgbClr val="F59E0B"/>
                </a:solidFill>
                <a:latin typeface="Arial"/>
              </a:rPr>
              <a:t>FAILURE MODE</a:t>
            </a:r>
          </a:p>
        </p:txBody>
      </p:sp>
      <p:sp>
        <p:nvSpPr>
          <p:cNvPr id="30" name="TextBox 29"/>
          <p:cNvSpPr txBox="1"/>
          <p:nvPr/>
        </p:nvSpPr>
        <p:spPr>
          <a:xfrm>
            <a:off x="4663440"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Traffic shifts without representative health signals can amplify failure gradually but silently.</a:t>
            </a:r>
          </a:p>
        </p:txBody>
      </p:sp>
      <p:sp>
        <p:nvSpPr>
          <p:cNvPr id="31" name="Rectangle 30"/>
          <p:cNvSpPr/>
          <p:nvPr/>
        </p:nvSpPr>
        <p:spPr>
          <a:xfrm>
            <a:off x="7973568"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73568" y="4005072"/>
            <a:ext cx="91440" cy="21488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174736" y="4187952"/>
            <a:ext cx="438912" cy="438912"/>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74736"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5" name="TextBox 34"/>
          <p:cNvSpPr txBox="1"/>
          <p:nvPr/>
        </p:nvSpPr>
        <p:spPr>
          <a:xfrm>
            <a:off x="8750808" y="4151376"/>
            <a:ext cx="2286000" cy="475488"/>
          </a:xfrm>
          <a:prstGeom prst="rect">
            <a:avLst/>
          </a:prstGeom>
          <a:noFill/>
        </p:spPr>
        <p:txBody>
          <a:bodyPr wrap="square" anchor="ctr">
            <a:spAutoFit/>
          </a:bodyPr>
          <a:lstStyle/>
          <a:p>
            <a:pPr algn="l">
              <a:spcAft>
                <a:spcPts val="400"/>
              </a:spcAft>
            </a:pPr>
            <a:r>
              <a:rPr sz="1250" b="1">
                <a:solidFill>
                  <a:srgbClr val="EC711E"/>
                </a:solidFill>
                <a:latin typeface="Arial"/>
              </a:rPr>
              <a:t>PROOF</a:t>
            </a:r>
          </a:p>
        </p:txBody>
      </p:sp>
      <p:sp>
        <p:nvSpPr>
          <p:cNvPr id="36" name="TextBox 35"/>
          <p:cNvSpPr txBox="1"/>
          <p:nvPr/>
        </p:nvSpPr>
        <p:spPr>
          <a:xfrm>
            <a:off x="8202168"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Task-definition revision or Lambda version, traffic weights, hook results, alarms and rollback state.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127</a:t>
            </a:r>
          </a:p>
        </p:txBody>
      </p:sp>
    </p:spTree>
  </p:cSld>
  <p:clrMapOvr>
    <a:masterClrMapping/>
  </p:clrMapOvr>
  <p:transition xmlns:p14="http://schemas.microsoft.com/office/powerpoint/2010/main" p14:dur="380">
    <p:fade/>
  </p:transition>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OPERATIONS</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500" b="1">
                <a:solidFill>
                  <a:srgbClr val="161B26"/>
                </a:solidFill>
                <a:latin typeface="Arial"/>
              </a:rPr>
              <a:t>Container and serverless deployment strategies: failure diagnostic</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RECOGNISE</a:t>
            </a:r>
          </a:p>
          <a:p>
            <a:pPr algn="l">
              <a:spcAft>
                <a:spcPts val="300"/>
              </a:spcAft>
            </a:pPr>
            <a:r>
              <a:rPr sz="1050" b="0">
                <a:solidFill>
                  <a:srgbClr val="5B6372"/>
                </a:solidFill>
                <a:latin typeface="Arial"/>
              </a:rPr>
              <a:t>Observable failure condition: Traffic shifts without representative health signals can amplify failure gradually but silently.</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CONTAIN</a:t>
            </a:r>
          </a:p>
          <a:p>
            <a:pPr algn="l">
              <a:spcAft>
                <a:spcPts val="300"/>
              </a:spcAft>
            </a:pPr>
            <a:r>
              <a:rPr sz="1050" b="0">
                <a:solidFill>
                  <a:srgbClr val="5B6372"/>
                </a:solidFill>
                <a:latin typeface="Arial"/>
              </a:rPr>
              <a:t>Pause promotion, preserve evidence and reduce impact without destroying diagnostic state.</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DIAGNOSE</a:t>
            </a:r>
          </a:p>
          <a:p>
            <a:pPr algn="l">
              <a:spcAft>
                <a:spcPts val="300"/>
              </a:spcAft>
            </a:pPr>
            <a:r>
              <a:rPr sz="1050" b="0">
                <a:solidFill>
                  <a:srgbClr val="5B6372"/>
                </a:solidFill>
                <a:latin typeface="Arial"/>
              </a:rPr>
              <a:t>Trace the workflow from Publish version through Complete or roll back; compare intended configuration with runtime state.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RECOVER</a:t>
            </a:r>
          </a:p>
          <a:p>
            <a:pPr algn="l">
              <a:spcAft>
                <a:spcPts val="300"/>
              </a:spcAft>
            </a:pPr>
            <a:r>
              <a:rPr sz="1050" b="0">
                <a:solidFill>
                  <a:srgbClr val="5B6372"/>
                </a:solidFill>
                <a:latin typeface="Arial"/>
              </a:rPr>
              <a:t>Restore the last known-good state, then prove recovery with Task-definition revision or Lambda version, traffic weights, hook results, alarms and rollback state.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128</a:t>
            </a:r>
          </a:p>
        </p:txBody>
      </p:sp>
    </p:spTree>
  </p:cSld>
  <p:clrMapOvr>
    <a:masterClrMapping/>
  </p:clrMapOvr>
  <p:transition xmlns:p14="http://schemas.microsoft.com/office/powerpoint/2010/main" p14:dur="380">
    <p:fade/>
  </p:transition>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APPLIED SCENARIO</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500" b="1">
                <a:solidFill>
                  <a:srgbClr val="161B26"/>
                </a:solidFill>
                <a:latin typeface="Arial"/>
              </a:rPr>
              <a:t>Container and serverless deployment strategies: worked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CONSTRAINT</a:t>
            </a:r>
          </a:p>
          <a:p>
            <a:pPr algn="l">
              <a:spcAft>
                <a:spcPts val="300"/>
              </a:spcAft>
            </a:pPr>
            <a:r>
              <a:rPr sz="1050" b="0">
                <a:solidFill>
                  <a:srgbClr val="5B6372"/>
                </a:solidFill>
                <a:latin typeface="Arial"/>
              </a:rPr>
              <a:t>A customer API requires zero-downtime releases and automatic rollback within five minutes.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DECISION</a:t>
            </a:r>
          </a:p>
          <a:p>
            <a:pPr algn="l">
              <a:spcAft>
                <a:spcPts val="300"/>
              </a:spcAft>
            </a:pPr>
            <a:r>
              <a:rPr sz="1050" b="0">
                <a:solidFill>
                  <a:srgbClr val="5B6372"/>
                </a:solidFill>
                <a:latin typeface="Arial"/>
              </a:rPr>
              <a:t>Pair weighted traffic with pre/post hooks, alarms and versioned task definitions or Lambda aliases.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WHY ALTERNATIVES LOSE</a:t>
            </a:r>
          </a:p>
          <a:p>
            <a:pPr algn="l">
              <a:spcAft>
                <a:spcPts val="300"/>
              </a:spcAft>
            </a:pPr>
            <a:r>
              <a:rPr sz="1050" b="0">
                <a:solidFill>
                  <a:srgbClr val="5B6372"/>
                </a:solidFill>
                <a:latin typeface="Arial"/>
              </a:rPr>
              <a:t>Reject options that do not change the stated failure boundary: Traffic shifts without representative health signals can amplify failure gradually but silently.</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ACCEPTANCE TEST</a:t>
            </a:r>
          </a:p>
          <a:p>
            <a:pPr algn="l">
              <a:spcAft>
                <a:spcPts val="300"/>
              </a:spcAft>
            </a:pPr>
            <a:r>
              <a:rPr sz="1050" b="0">
                <a:solidFill>
                  <a:srgbClr val="5B6372"/>
                </a:solidFill>
                <a:latin typeface="Arial"/>
              </a:rPr>
              <a:t>The decision is complete only when this proof exists: Task-definition revision or Lambda version, traffic weights, hook results, alarms and rollback state.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129</a:t>
            </a:r>
          </a:p>
        </p:txBody>
      </p:sp>
    </p:spTree>
  </p:cSld>
  <p:clrMapOvr>
    <a:masterClrMapping/>
  </p:clrMapOvr>
  <p:transition xmlns:p14="http://schemas.microsoft.com/office/powerpoint/2010/main" p14:dur="380">
    <p:fade/>
  </p:transition>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SDLC AUTOMATION</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Multi-account and multi-Region delivery</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OUTCOME</a:t>
            </a:r>
          </a:p>
          <a:p>
            <a:pPr algn="l">
              <a:spcAft>
                <a:spcPts val="300"/>
              </a:spcAft>
            </a:pPr>
            <a:r>
              <a:rPr sz="1050" b="0">
                <a:solidFill>
                  <a:srgbClr val="5B6372"/>
                </a:solidFill>
                <a:latin typeface="Arial"/>
              </a:rPr>
              <a:t>Promote one release across governed accounts and Regions without duplicating build logic.</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ARCHITECTURE</a:t>
            </a:r>
          </a:p>
          <a:p>
            <a:pPr algn="l">
              <a:spcAft>
                <a:spcPts val="300"/>
              </a:spcAft>
            </a:pPr>
            <a:r>
              <a:rPr sz="1050" b="0">
                <a:solidFill>
                  <a:srgbClr val="5B6372"/>
                </a:solidFill>
                <a:latin typeface="Arial"/>
              </a:rPr>
              <a:t>Use cross-account roles, Region-specific artifact stores and keys, ordered waves, approval boundaries and central evidence.</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MODE</a:t>
            </a:r>
          </a:p>
          <a:p>
            <a:pPr algn="l">
              <a:spcAft>
                <a:spcPts val="300"/>
              </a:spcAft>
            </a:pPr>
            <a:r>
              <a:rPr sz="1050" b="0">
                <a:solidFill>
                  <a:srgbClr val="5B6372"/>
                </a:solidFill>
                <a:latin typeface="Arial"/>
              </a:rPr>
              <a:t>Missing KMS or trust-policy permissions often appear only at the first cross-account action.</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EVIDENCE</a:t>
            </a:r>
          </a:p>
          <a:p>
            <a:pPr algn="l">
              <a:spcAft>
                <a:spcPts val="300"/>
              </a:spcAft>
            </a:pPr>
            <a:r>
              <a:rPr sz="1050" b="0">
                <a:solidFill>
                  <a:srgbClr val="5B6372"/>
                </a:solidFill>
                <a:latin typeface="Arial"/>
              </a:rPr>
              <a:t>Role assumption, regional artifact copy, StackSet operation, wave status and approval record.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130</a:t>
            </a:r>
          </a:p>
        </p:txBody>
      </p:sp>
    </p:spTree>
  </p:cSld>
  <p:clrMapOvr>
    <a:masterClrMapping/>
  </p:clrMapOvr>
  <p:transition xmlns:p14="http://schemas.microsoft.com/office/powerpoint/2010/main" p14:dur="380">
    <p:fade/>
  </p:transition>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PROCESS MODEL</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Multi-account and multi-Region delivery: operating flow</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49809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97102"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9710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Build centrally</a:t>
            </a:r>
          </a:p>
        </p:txBody>
      </p:sp>
      <p:sp>
        <p:nvSpPr>
          <p:cNvPr id="12" name="Rectangle 11"/>
          <p:cNvSpPr/>
          <p:nvPr/>
        </p:nvSpPr>
        <p:spPr>
          <a:xfrm>
            <a:off x="2604516"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04516" y="2148840"/>
            <a:ext cx="149809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024378"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24378"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6" name="TextBox 15"/>
          <p:cNvSpPr txBox="1"/>
          <p:nvPr/>
        </p:nvSpPr>
        <p:spPr>
          <a:xfrm>
            <a:off x="2723388"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Replicate artifact</a:t>
            </a:r>
          </a:p>
        </p:txBody>
      </p:sp>
      <p:sp>
        <p:nvSpPr>
          <p:cNvPr id="17" name="Rectangle 16"/>
          <p:cNvSpPr/>
          <p:nvPr/>
        </p:nvSpPr>
        <p:spPr>
          <a:xfrm>
            <a:off x="4431792"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431792" y="2148840"/>
            <a:ext cx="149809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851654"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51654"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1" name="TextBox 20"/>
          <p:cNvSpPr txBox="1"/>
          <p:nvPr/>
        </p:nvSpPr>
        <p:spPr>
          <a:xfrm>
            <a:off x="4550664"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Assume deploy role</a:t>
            </a:r>
          </a:p>
        </p:txBody>
      </p:sp>
      <p:sp>
        <p:nvSpPr>
          <p:cNvPr id="22" name="Rectangle 21"/>
          <p:cNvSpPr/>
          <p:nvPr/>
        </p:nvSpPr>
        <p:spPr>
          <a:xfrm>
            <a:off x="6259068"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59068" y="2148840"/>
            <a:ext cx="149809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678930"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78930"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6" name="TextBox 25"/>
          <p:cNvSpPr txBox="1"/>
          <p:nvPr/>
        </p:nvSpPr>
        <p:spPr>
          <a:xfrm>
            <a:off x="6377940"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Deploy wave</a:t>
            </a:r>
          </a:p>
        </p:txBody>
      </p:sp>
      <p:sp>
        <p:nvSpPr>
          <p:cNvPr id="27" name="Rectangle 26"/>
          <p:cNvSpPr/>
          <p:nvPr/>
        </p:nvSpPr>
        <p:spPr>
          <a:xfrm>
            <a:off x="8086344"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086344" y="2148840"/>
            <a:ext cx="1498092" cy="914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506206" y="2532888"/>
            <a:ext cx="658368" cy="658368"/>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06206"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5</a:t>
            </a:r>
          </a:p>
        </p:txBody>
      </p:sp>
      <p:sp>
        <p:nvSpPr>
          <p:cNvPr id="31" name="TextBox 30"/>
          <p:cNvSpPr txBox="1"/>
          <p:nvPr/>
        </p:nvSpPr>
        <p:spPr>
          <a:xfrm>
            <a:off x="8205216"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Verify Region</a:t>
            </a:r>
          </a:p>
        </p:txBody>
      </p:sp>
      <p:sp>
        <p:nvSpPr>
          <p:cNvPr id="32" name="Rectangle 31"/>
          <p:cNvSpPr/>
          <p:nvPr/>
        </p:nvSpPr>
        <p:spPr>
          <a:xfrm>
            <a:off x="9913620"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913620" y="2148840"/>
            <a:ext cx="1498092" cy="91440"/>
          </a:xfrm>
          <a:prstGeom prst="rect">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333482" y="2532888"/>
            <a:ext cx="658368" cy="658368"/>
          </a:xfrm>
          <a:prstGeom prst="ellipse">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3348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6</a:t>
            </a:r>
          </a:p>
        </p:txBody>
      </p:sp>
      <p:sp>
        <p:nvSpPr>
          <p:cNvPr id="36" name="TextBox 35"/>
          <p:cNvSpPr txBox="1"/>
          <p:nvPr/>
        </p:nvSpPr>
        <p:spPr>
          <a:xfrm>
            <a:off x="10032492"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Continue</a:t>
            </a:r>
          </a:p>
        </p:txBody>
      </p:sp>
      <p:cxnSp>
        <p:nvCxnSpPr>
          <p:cNvPr id="37" name="Connector 36"/>
          <p:cNvCxnSpPr/>
          <p:nvPr/>
        </p:nvCxnSpPr>
        <p:spPr>
          <a:xfrm>
            <a:off x="2275332"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10260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929884"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775716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9584436"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1F6FEB"/>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44" name="TextBox 4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45" name="TextBox 4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6" name="TextBox 4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131</a:t>
            </a:r>
          </a:p>
        </p:txBody>
      </p:sp>
    </p:spTree>
  </p:cSld>
  <p:clrMapOvr>
    <a:masterClrMapping/>
  </p:clrMapOvr>
  <p:transition xmlns:p14="http://schemas.microsoft.com/office/powerpoint/2010/main" p14:dur="380">
    <p:fade/>
  </p:transition>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700" b="1">
                <a:solidFill>
                  <a:srgbClr val="161B26"/>
                </a:solidFill>
                <a:latin typeface="Arial"/>
              </a:rPr>
              <a:t>Multi-account and multi-Region delivery: design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83280" cy="43708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70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011680"/>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011680"/>
            <a:ext cx="530352" cy="530352"/>
          </a:xfrm>
          <a:prstGeom prst="rect">
            <a:avLst/>
          </a:prstGeom>
          <a:noFill/>
        </p:spPr>
        <p:txBody>
          <a:bodyPr wrap="square" anchor="ctr">
            <a:spAutoFit/>
          </a:bodyPr>
          <a:lstStyle/>
          <a:p>
            <a:pPr algn="ctr">
              <a:spcAft>
                <a:spcPts val="400"/>
              </a:spcAft>
            </a:pPr>
            <a:r>
              <a:rPr sz="2000" b="1">
                <a:solidFill>
                  <a:srgbClr val="FFFFFF"/>
                </a:solidFill>
                <a:latin typeface="Arial"/>
              </a:rPr>
              <a:t>?</a:t>
            </a:r>
          </a:p>
        </p:txBody>
      </p:sp>
      <p:sp>
        <p:nvSpPr>
          <p:cNvPr id="11" name="TextBox 10"/>
          <p:cNvSpPr txBox="1"/>
          <p:nvPr/>
        </p:nvSpPr>
        <p:spPr>
          <a:xfrm>
            <a:off x="1709928" y="1984248"/>
            <a:ext cx="2212848" cy="502920"/>
          </a:xfrm>
          <a:prstGeom prst="rect">
            <a:avLst/>
          </a:prstGeom>
          <a:noFill/>
        </p:spPr>
        <p:txBody>
          <a:bodyPr wrap="square" anchor="ctr">
            <a:spAutoFit/>
          </a:bodyPr>
          <a:lstStyle/>
          <a:p>
            <a:pPr algn="l">
              <a:spcAft>
                <a:spcPts val="400"/>
              </a:spcAft>
            </a:pPr>
            <a:r>
              <a:rPr sz="1350" b="1">
                <a:solidFill>
                  <a:srgbClr val="1F6FEB"/>
                </a:solidFill>
                <a:latin typeface="Arial"/>
              </a:rPr>
              <a:t>SCENARIO</a:t>
            </a:r>
          </a:p>
        </p:txBody>
      </p:sp>
      <p:sp>
        <p:nvSpPr>
          <p:cNvPr id="12" name="TextBox 11"/>
          <p:cNvSpPr txBox="1"/>
          <p:nvPr/>
        </p:nvSpPr>
        <p:spPr>
          <a:xfrm>
            <a:off x="1051560" y="2743200"/>
            <a:ext cx="2834640" cy="3136392"/>
          </a:xfrm>
          <a:prstGeom prst="rect">
            <a:avLst/>
          </a:prstGeom>
          <a:noFill/>
        </p:spPr>
        <p:txBody>
          <a:bodyPr wrap="square" anchor="t">
            <a:spAutoFit/>
          </a:bodyPr>
          <a:lstStyle/>
          <a:p>
            <a:pPr algn="l">
              <a:spcAft>
                <a:spcPts val="400"/>
              </a:spcAft>
            </a:pPr>
            <a:r>
              <a:rPr sz="1300" b="0">
                <a:solidFill>
                  <a:srgbClr val="161B26"/>
                </a:solidFill>
                <a:latin typeface="Arial"/>
              </a:rPr>
              <a:t>A platform team releases to development, staging and two production Regions from one governed pipeline.</a:t>
            </a:r>
          </a:p>
        </p:txBody>
      </p:sp>
      <p:sp>
        <p:nvSpPr>
          <p:cNvPr id="13" name="Rectangle 12"/>
          <p:cNvSpPr/>
          <p:nvPr/>
        </p:nvSpPr>
        <p:spPr>
          <a:xfrm>
            <a:off x="4434840"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34840" y="1783080"/>
            <a:ext cx="91440"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636008" y="1965960"/>
            <a:ext cx="438912" cy="43891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6008"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7" name="TextBox 16"/>
          <p:cNvSpPr txBox="1"/>
          <p:nvPr/>
        </p:nvSpPr>
        <p:spPr>
          <a:xfrm>
            <a:off x="5212080" y="1929384"/>
            <a:ext cx="2286000" cy="475488"/>
          </a:xfrm>
          <a:prstGeom prst="rect">
            <a:avLst/>
          </a:prstGeom>
          <a:noFill/>
        </p:spPr>
        <p:txBody>
          <a:bodyPr wrap="square" anchor="ctr">
            <a:spAutoFit/>
          </a:bodyPr>
          <a:lstStyle/>
          <a:p>
            <a:pPr algn="l">
              <a:spcAft>
                <a:spcPts val="400"/>
              </a:spcAft>
            </a:pPr>
            <a:r>
              <a:rPr sz="1250" b="1">
                <a:solidFill>
                  <a:srgbClr val="10B981"/>
                </a:solidFill>
                <a:latin typeface="Arial"/>
              </a:rPr>
              <a:t>DESIGN RESPONSE</a:t>
            </a:r>
          </a:p>
        </p:txBody>
      </p:sp>
      <p:sp>
        <p:nvSpPr>
          <p:cNvPr id="18" name="TextBox 17"/>
          <p:cNvSpPr txBox="1"/>
          <p:nvPr/>
        </p:nvSpPr>
        <p:spPr>
          <a:xfrm>
            <a:off x="4663440"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Use cross-account roles, Region-specific artifact stores and keys, ordered waves, approval boundaries and central evidence.</a:t>
            </a:r>
          </a:p>
        </p:txBody>
      </p:sp>
      <p:sp>
        <p:nvSpPr>
          <p:cNvPr id="19" name="Rectangle 18"/>
          <p:cNvSpPr/>
          <p:nvPr/>
        </p:nvSpPr>
        <p:spPr>
          <a:xfrm>
            <a:off x="7973568"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973568" y="1783080"/>
            <a:ext cx="91440" cy="21488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174736" y="1965960"/>
            <a:ext cx="438912" cy="43891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74736"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23" name="TextBox 22"/>
          <p:cNvSpPr txBox="1"/>
          <p:nvPr/>
        </p:nvSpPr>
        <p:spPr>
          <a:xfrm>
            <a:off x="8750808" y="1929384"/>
            <a:ext cx="2286000" cy="475488"/>
          </a:xfrm>
          <a:prstGeom prst="rect">
            <a:avLst/>
          </a:prstGeom>
          <a:noFill/>
        </p:spPr>
        <p:txBody>
          <a:bodyPr wrap="square" anchor="ctr">
            <a:spAutoFit/>
          </a:bodyPr>
          <a:lstStyle/>
          <a:p>
            <a:pPr algn="l">
              <a:spcAft>
                <a:spcPts val="400"/>
              </a:spcAft>
            </a:pPr>
            <a:r>
              <a:rPr sz="1250" b="1">
                <a:solidFill>
                  <a:srgbClr val="7C3AED"/>
                </a:solidFill>
                <a:latin typeface="Arial"/>
              </a:rPr>
              <a:t>PRIMARY SERVICES</a:t>
            </a:r>
          </a:p>
        </p:txBody>
      </p:sp>
      <p:sp>
        <p:nvSpPr>
          <p:cNvPr id="24" name="TextBox 23"/>
          <p:cNvSpPr txBox="1"/>
          <p:nvPr/>
        </p:nvSpPr>
        <p:spPr>
          <a:xfrm>
            <a:off x="8202168"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CodePipeline · CloudFormation StackSets · KMS · IAM</a:t>
            </a:r>
          </a:p>
        </p:txBody>
      </p:sp>
      <p:sp>
        <p:nvSpPr>
          <p:cNvPr id="25" name="Rectangle 24"/>
          <p:cNvSpPr/>
          <p:nvPr/>
        </p:nvSpPr>
        <p:spPr>
          <a:xfrm>
            <a:off x="4434840"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34840" y="4005072"/>
            <a:ext cx="91440" cy="21488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636008" y="4187952"/>
            <a:ext cx="438912" cy="43891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36008"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9" name="TextBox 28"/>
          <p:cNvSpPr txBox="1"/>
          <p:nvPr/>
        </p:nvSpPr>
        <p:spPr>
          <a:xfrm>
            <a:off x="5212080" y="4151376"/>
            <a:ext cx="2286000" cy="475488"/>
          </a:xfrm>
          <a:prstGeom prst="rect">
            <a:avLst/>
          </a:prstGeom>
          <a:noFill/>
        </p:spPr>
        <p:txBody>
          <a:bodyPr wrap="square" anchor="ctr">
            <a:spAutoFit/>
          </a:bodyPr>
          <a:lstStyle/>
          <a:p>
            <a:pPr algn="l">
              <a:spcAft>
                <a:spcPts val="400"/>
              </a:spcAft>
            </a:pPr>
            <a:r>
              <a:rPr sz="1250" b="1">
                <a:solidFill>
                  <a:srgbClr val="F59E0B"/>
                </a:solidFill>
                <a:latin typeface="Arial"/>
              </a:rPr>
              <a:t>FAILURE MODE</a:t>
            </a:r>
          </a:p>
        </p:txBody>
      </p:sp>
      <p:sp>
        <p:nvSpPr>
          <p:cNvPr id="30" name="TextBox 29"/>
          <p:cNvSpPr txBox="1"/>
          <p:nvPr/>
        </p:nvSpPr>
        <p:spPr>
          <a:xfrm>
            <a:off x="4663440"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Missing KMS or trust-policy permissions often appear only at the first cross-account action.</a:t>
            </a:r>
          </a:p>
        </p:txBody>
      </p:sp>
      <p:sp>
        <p:nvSpPr>
          <p:cNvPr id="31" name="Rectangle 30"/>
          <p:cNvSpPr/>
          <p:nvPr/>
        </p:nvSpPr>
        <p:spPr>
          <a:xfrm>
            <a:off x="7973568"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73568" y="4005072"/>
            <a:ext cx="91440" cy="21488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174736" y="4187952"/>
            <a:ext cx="438912" cy="438912"/>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74736"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5" name="TextBox 34"/>
          <p:cNvSpPr txBox="1"/>
          <p:nvPr/>
        </p:nvSpPr>
        <p:spPr>
          <a:xfrm>
            <a:off x="8750808" y="4151376"/>
            <a:ext cx="2286000" cy="475488"/>
          </a:xfrm>
          <a:prstGeom prst="rect">
            <a:avLst/>
          </a:prstGeom>
          <a:noFill/>
        </p:spPr>
        <p:txBody>
          <a:bodyPr wrap="square" anchor="ctr">
            <a:spAutoFit/>
          </a:bodyPr>
          <a:lstStyle/>
          <a:p>
            <a:pPr algn="l">
              <a:spcAft>
                <a:spcPts val="400"/>
              </a:spcAft>
            </a:pPr>
            <a:r>
              <a:rPr sz="1250" b="1">
                <a:solidFill>
                  <a:srgbClr val="EC711E"/>
                </a:solidFill>
                <a:latin typeface="Arial"/>
              </a:rPr>
              <a:t>PROOF</a:t>
            </a:r>
          </a:p>
        </p:txBody>
      </p:sp>
      <p:sp>
        <p:nvSpPr>
          <p:cNvPr id="36" name="TextBox 35"/>
          <p:cNvSpPr txBox="1"/>
          <p:nvPr/>
        </p:nvSpPr>
        <p:spPr>
          <a:xfrm>
            <a:off x="8202168"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Role assumption, regional artifact copy, StackSet operation, wave status and approval record.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132</a:t>
            </a:r>
          </a:p>
        </p:txBody>
      </p:sp>
    </p:spTree>
  </p:cSld>
  <p:clrMapOvr>
    <a:masterClrMapping/>
  </p:clrMapOvr>
  <p:transition xmlns:p14="http://schemas.microsoft.com/office/powerpoint/2010/main" p14:dur="380">
    <p:fade/>
  </p:transition>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OPERATIONS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700" b="1">
                <a:solidFill>
                  <a:srgbClr val="161B26"/>
                </a:solidFill>
                <a:latin typeface="Arial"/>
              </a:rPr>
              <a:t>Multi-account and multi-Region delivery: failure diagnostic</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RECOGNISE</a:t>
            </a:r>
          </a:p>
          <a:p>
            <a:pPr algn="l">
              <a:spcAft>
                <a:spcPts val="300"/>
              </a:spcAft>
            </a:pPr>
            <a:r>
              <a:rPr sz="1050" b="0">
                <a:solidFill>
                  <a:srgbClr val="5B6372"/>
                </a:solidFill>
                <a:latin typeface="Arial"/>
              </a:rPr>
              <a:t>Observable failure condition: Missing KMS or trust-policy permissions often appear only at the first cross-account action.</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CONTAIN</a:t>
            </a:r>
          </a:p>
          <a:p>
            <a:pPr algn="l">
              <a:spcAft>
                <a:spcPts val="300"/>
              </a:spcAft>
            </a:pPr>
            <a:r>
              <a:rPr sz="1050" b="0">
                <a:solidFill>
                  <a:srgbClr val="5B6372"/>
                </a:solidFill>
                <a:latin typeface="Arial"/>
              </a:rPr>
              <a:t>Pause promotion, preserve evidence and reduce impact without destroying diagnostic state.</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DIAGNOSE</a:t>
            </a:r>
          </a:p>
          <a:p>
            <a:pPr algn="l">
              <a:spcAft>
                <a:spcPts val="300"/>
              </a:spcAft>
            </a:pPr>
            <a:r>
              <a:rPr sz="1050" b="0">
                <a:solidFill>
                  <a:srgbClr val="5B6372"/>
                </a:solidFill>
                <a:latin typeface="Arial"/>
              </a:rPr>
              <a:t>Trace the workflow from Build centrally through Continue; compare intended configuration with runtime state.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RECOVER</a:t>
            </a:r>
          </a:p>
          <a:p>
            <a:pPr algn="l">
              <a:spcAft>
                <a:spcPts val="300"/>
              </a:spcAft>
            </a:pPr>
            <a:r>
              <a:rPr sz="1050" b="0">
                <a:solidFill>
                  <a:srgbClr val="5B6372"/>
                </a:solidFill>
                <a:latin typeface="Arial"/>
              </a:rPr>
              <a:t>Restore the last known-good state, then prove recovery with Role assumption, regional artifact copy, StackSet operation, wave status and approval record.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133</a:t>
            </a:r>
          </a:p>
        </p:txBody>
      </p:sp>
    </p:spTree>
  </p:cSld>
  <p:clrMapOvr>
    <a:masterClrMapping/>
  </p:clrMapOvr>
  <p:transition xmlns:p14="http://schemas.microsoft.com/office/powerpoint/2010/main" p14:dur="380">
    <p:fade/>
  </p:transition>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APPLIED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700" b="1">
                <a:solidFill>
                  <a:srgbClr val="161B26"/>
                </a:solidFill>
                <a:latin typeface="Arial"/>
              </a:rPr>
              <a:t>Multi-account and multi-Region delivery: worked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CONSTRAINT</a:t>
            </a:r>
          </a:p>
          <a:p>
            <a:pPr algn="l">
              <a:spcAft>
                <a:spcPts val="300"/>
              </a:spcAft>
            </a:pPr>
            <a:r>
              <a:rPr sz="1050" b="0">
                <a:solidFill>
                  <a:srgbClr val="5B6372"/>
                </a:solidFill>
                <a:latin typeface="Arial"/>
              </a:rPr>
              <a:t>A platform team releases to development, staging and two production Regions from one governed pipeline.</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DECISION</a:t>
            </a:r>
          </a:p>
          <a:p>
            <a:pPr algn="l">
              <a:spcAft>
                <a:spcPts val="300"/>
              </a:spcAft>
            </a:pPr>
            <a:r>
              <a:rPr sz="1050" b="0">
                <a:solidFill>
                  <a:srgbClr val="5B6372"/>
                </a:solidFill>
                <a:latin typeface="Arial"/>
              </a:rPr>
              <a:t>Use cross-account roles, Region-specific artifact stores and keys, ordered waves, approval boundaries and central evidence.</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WHY ALTERNATIVES LOSE</a:t>
            </a:r>
          </a:p>
          <a:p>
            <a:pPr algn="l">
              <a:spcAft>
                <a:spcPts val="300"/>
              </a:spcAft>
            </a:pPr>
            <a:r>
              <a:rPr sz="1050" b="0">
                <a:solidFill>
                  <a:srgbClr val="5B6372"/>
                </a:solidFill>
                <a:latin typeface="Arial"/>
              </a:rPr>
              <a:t>Reject options that do not change the stated failure boundary: Missing KMS or trust-policy permissions often appear only at the first cross-account action.</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ACCEPTANCE TEST</a:t>
            </a:r>
          </a:p>
          <a:p>
            <a:pPr algn="l">
              <a:spcAft>
                <a:spcPts val="300"/>
              </a:spcAft>
            </a:pPr>
            <a:r>
              <a:rPr sz="1050" b="0">
                <a:solidFill>
                  <a:srgbClr val="5B6372"/>
                </a:solidFill>
                <a:latin typeface="Arial"/>
              </a:rPr>
              <a:t>The decision is complete only when this proof exists: Role assumption, regional artifact copy, StackSet operation, wave status and approval record.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134</a:t>
            </a:r>
          </a:p>
        </p:txBody>
      </p:sp>
    </p:spTree>
  </p:cSld>
  <p:clrMapOvr>
    <a:masterClrMapping/>
  </p:clrMapOvr>
  <p:transition xmlns:p14="http://schemas.microsoft.com/office/powerpoint/2010/main" p14:dur="380">
    <p:fade/>
  </p:transition>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SERVICE BOUNDARIES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Continuous delivery operating model: architecture map</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241173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53921"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5392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319272"/>
            <a:ext cx="2173986" cy="384048"/>
          </a:xfrm>
          <a:prstGeom prst="rect">
            <a:avLst/>
          </a:prstGeom>
          <a:noFill/>
        </p:spPr>
        <p:txBody>
          <a:bodyPr wrap="square" anchor="ctr">
            <a:spAutoFit/>
          </a:bodyPr>
          <a:lstStyle/>
          <a:p>
            <a:pPr algn="ctr">
              <a:spcAft>
                <a:spcPts val="400"/>
              </a:spcAft>
            </a:pPr>
            <a:r>
              <a:rPr sz="1150" b="1">
                <a:solidFill>
                  <a:srgbClr val="1F6FEB"/>
                </a:solidFill>
                <a:latin typeface="Arial"/>
              </a:rPr>
              <a:t>TRIGGER / INPUT</a:t>
            </a:r>
          </a:p>
        </p:txBody>
      </p:sp>
      <p:sp>
        <p:nvSpPr>
          <p:cNvPr id="12" name="TextBox 11"/>
          <p:cNvSpPr txBox="1"/>
          <p:nvPr/>
        </p:nvSpPr>
        <p:spPr>
          <a:xfrm>
            <a:off x="896112"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Commit</a:t>
            </a:r>
          </a:p>
        </p:txBody>
      </p:sp>
      <p:sp>
        <p:nvSpPr>
          <p:cNvPr id="13" name="Rectangle 12"/>
          <p:cNvSpPr/>
          <p:nvPr/>
        </p:nvSpPr>
        <p:spPr>
          <a:xfrm>
            <a:off x="3518154"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18154" y="2148840"/>
            <a:ext cx="241173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394835"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94835"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7" name="TextBox 16"/>
          <p:cNvSpPr txBox="1"/>
          <p:nvPr/>
        </p:nvSpPr>
        <p:spPr>
          <a:xfrm>
            <a:off x="3637026" y="3319272"/>
            <a:ext cx="2173986" cy="384048"/>
          </a:xfrm>
          <a:prstGeom prst="rect">
            <a:avLst/>
          </a:prstGeom>
          <a:noFill/>
        </p:spPr>
        <p:txBody>
          <a:bodyPr wrap="square" anchor="ctr">
            <a:spAutoFit/>
          </a:bodyPr>
          <a:lstStyle/>
          <a:p>
            <a:pPr algn="ctr">
              <a:spcAft>
                <a:spcPts val="400"/>
              </a:spcAft>
            </a:pPr>
            <a:r>
              <a:rPr sz="1150" b="1">
                <a:solidFill>
                  <a:srgbClr val="10B981"/>
                </a:solidFill>
                <a:latin typeface="Arial"/>
              </a:rPr>
              <a:t>CONTROL PLANE</a:t>
            </a:r>
          </a:p>
        </p:txBody>
      </p:sp>
      <p:sp>
        <p:nvSpPr>
          <p:cNvPr id="18" name="TextBox 17"/>
          <p:cNvSpPr txBox="1"/>
          <p:nvPr/>
        </p:nvSpPr>
        <p:spPr>
          <a:xfrm>
            <a:off x="3637026"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Separate source, build, test, approval and deploy concerns; promote immutable artifacts rather than rebuilding per environment.</a:t>
            </a:r>
          </a:p>
        </p:txBody>
      </p:sp>
      <p:sp>
        <p:nvSpPr>
          <p:cNvPr id="19" name="Rectangle 18"/>
          <p:cNvSpPr/>
          <p:nvPr/>
        </p:nvSpPr>
        <p:spPr>
          <a:xfrm>
            <a:off x="6259068"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9068" y="2148840"/>
            <a:ext cx="241173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5749"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574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3" name="TextBox 22"/>
          <p:cNvSpPr txBox="1"/>
          <p:nvPr/>
        </p:nvSpPr>
        <p:spPr>
          <a:xfrm>
            <a:off x="6377940" y="3319272"/>
            <a:ext cx="2173986" cy="384048"/>
          </a:xfrm>
          <a:prstGeom prst="rect">
            <a:avLst/>
          </a:prstGeom>
          <a:noFill/>
        </p:spPr>
        <p:txBody>
          <a:bodyPr wrap="square" anchor="ctr">
            <a:spAutoFit/>
          </a:bodyPr>
          <a:lstStyle/>
          <a:p>
            <a:pPr algn="ctr">
              <a:spcAft>
                <a:spcPts val="400"/>
              </a:spcAft>
            </a:pPr>
            <a:r>
              <a:rPr sz="1150" b="1">
                <a:solidFill>
                  <a:srgbClr val="7C3AED"/>
                </a:solidFill>
                <a:latin typeface="Arial"/>
              </a:rPr>
              <a:t>AWS SERVICES</a:t>
            </a:r>
          </a:p>
        </p:txBody>
      </p:sp>
      <p:sp>
        <p:nvSpPr>
          <p:cNvPr id="24" name="TextBox 23"/>
          <p:cNvSpPr txBox="1"/>
          <p:nvPr/>
        </p:nvSpPr>
        <p:spPr>
          <a:xfrm>
            <a:off x="6377940"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GitHub · CodePipeline · CodeBuild · CodeDeploy</a:t>
            </a:r>
          </a:p>
        </p:txBody>
      </p:sp>
      <p:sp>
        <p:nvSpPr>
          <p:cNvPr id="25" name="Rectangle 24"/>
          <p:cNvSpPr/>
          <p:nvPr/>
        </p:nvSpPr>
        <p:spPr>
          <a:xfrm>
            <a:off x="8999982"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99982" y="2148840"/>
            <a:ext cx="2411730"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76663"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7666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9" name="TextBox 28"/>
          <p:cNvSpPr txBox="1"/>
          <p:nvPr/>
        </p:nvSpPr>
        <p:spPr>
          <a:xfrm>
            <a:off x="9118854" y="3319272"/>
            <a:ext cx="2173986" cy="384048"/>
          </a:xfrm>
          <a:prstGeom prst="rect">
            <a:avLst/>
          </a:prstGeom>
          <a:noFill/>
        </p:spPr>
        <p:txBody>
          <a:bodyPr wrap="square" anchor="ctr">
            <a:spAutoFit/>
          </a:bodyPr>
          <a:lstStyle/>
          <a:p>
            <a:pPr algn="ctr">
              <a:spcAft>
                <a:spcPts val="400"/>
              </a:spcAft>
            </a:pPr>
            <a:r>
              <a:rPr sz="1150" b="1">
                <a:solidFill>
                  <a:srgbClr val="F59E0B"/>
                </a:solidFill>
                <a:latin typeface="Arial"/>
              </a:rPr>
              <a:t>EVIDENCE BOUNDARY</a:t>
            </a:r>
          </a:p>
        </p:txBody>
      </p:sp>
      <p:sp>
        <p:nvSpPr>
          <p:cNvPr id="30" name="TextBox 29"/>
          <p:cNvSpPr txBox="1"/>
          <p:nvPr/>
        </p:nvSpPr>
        <p:spPr>
          <a:xfrm>
            <a:off x="9118854"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Commit SHA, test report, artifact digest, approval identity and deployment outcome form the release record.</a:t>
            </a:r>
          </a:p>
        </p:txBody>
      </p:sp>
      <p:cxnSp>
        <p:nvCxnSpPr>
          <p:cNvPr id="31" name="Connector 30"/>
          <p:cNvCxnSpPr/>
          <p:nvPr/>
        </p:nvCxnSpPr>
        <p:spPr>
          <a:xfrm>
            <a:off x="318897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929884"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67079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1F6FEB"/>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135</a:t>
            </a:r>
          </a:p>
        </p:txBody>
      </p:sp>
    </p:spTree>
  </p:cSld>
  <p:clrMapOvr>
    <a:masterClrMapping/>
  </p:clrMapOvr>
  <p:transition xmlns:p14="http://schemas.microsoft.com/office/powerpoint/2010/main" p14:dur="380">
    <p:fade/>
  </p:transition>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SERVICE BOUNDARIES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700" b="1">
                <a:solidFill>
                  <a:srgbClr val="161B26"/>
                </a:solidFill>
                <a:latin typeface="Arial"/>
              </a:rPr>
              <a:t>Pipeline triggers and source governance: architecture map</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241173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53921"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5392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319272"/>
            <a:ext cx="2173986" cy="384048"/>
          </a:xfrm>
          <a:prstGeom prst="rect">
            <a:avLst/>
          </a:prstGeom>
          <a:noFill/>
        </p:spPr>
        <p:txBody>
          <a:bodyPr wrap="square" anchor="ctr">
            <a:spAutoFit/>
          </a:bodyPr>
          <a:lstStyle/>
          <a:p>
            <a:pPr algn="ctr">
              <a:spcAft>
                <a:spcPts val="400"/>
              </a:spcAft>
            </a:pPr>
            <a:r>
              <a:rPr sz="1150" b="1">
                <a:solidFill>
                  <a:srgbClr val="1F6FEB"/>
                </a:solidFill>
                <a:latin typeface="Arial"/>
              </a:rPr>
              <a:t>TRIGGER / INPUT</a:t>
            </a:r>
          </a:p>
        </p:txBody>
      </p:sp>
      <p:sp>
        <p:nvSpPr>
          <p:cNvPr id="12" name="TextBox 11"/>
          <p:cNvSpPr txBox="1"/>
          <p:nvPr/>
        </p:nvSpPr>
        <p:spPr>
          <a:xfrm>
            <a:off x="896112"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Pull request</a:t>
            </a:r>
          </a:p>
        </p:txBody>
      </p:sp>
      <p:sp>
        <p:nvSpPr>
          <p:cNvPr id="13" name="Rectangle 12"/>
          <p:cNvSpPr/>
          <p:nvPr/>
        </p:nvSpPr>
        <p:spPr>
          <a:xfrm>
            <a:off x="3518154"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18154" y="2148840"/>
            <a:ext cx="241173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394835"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94835"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7" name="TextBox 16"/>
          <p:cNvSpPr txBox="1"/>
          <p:nvPr/>
        </p:nvSpPr>
        <p:spPr>
          <a:xfrm>
            <a:off x="3637026" y="3319272"/>
            <a:ext cx="2173986" cy="384048"/>
          </a:xfrm>
          <a:prstGeom prst="rect">
            <a:avLst/>
          </a:prstGeom>
          <a:noFill/>
        </p:spPr>
        <p:txBody>
          <a:bodyPr wrap="square" anchor="ctr">
            <a:spAutoFit/>
          </a:bodyPr>
          <a:lstStyle/>
          <a:p>
            <a:pPr algn="ctr">
              <a:spcAft>
                <a:spcPts val="400"/>
              </a:spcAft>
            </a:pPr>
            <a:r>
              <a:rPr sz="1150" b="1">
                <a:solidFill>
                  <a:srgbClr val="10B981"/>
                </a:solidFill>
                <a:latin typeface="Arial"/>
              </a:rPr>
              <a:t>CONTROL PLANE</a:t>
            </a:r>
          </a:p>
        </p:txBody>
      </p:sp>
      <p:sp>
        <p:nvSpPr>
          <p:cNvPr id="18" name="TextBox 17"/>
          <p:cNvSpPr txBox="1"/>
          <p:nvPr/>
        </p:nvSpPr>
        <p:spPr>
          <a:xfrm>
            <a:off x="3637026"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Use pull-request checks, protected branches, signed connections and event filters; avoid broad polling and shared credentials.</a:t>
            </a:r>
          </a:p>
        </p:txBody>
      </p:sp>
      <p:sp>
        <p:nvSpPr>
          <p:cNvPr id="19" name="Rectangle 18"/>
          <p:cNvSpPr/>
          <p:nvPr/>
        </p:nvSpPr>
        <p:spPr>
          <a:xfrm>
            <a:off x="6259068"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9068" y="2148840"/>
            <a:ext cx="241173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5749"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574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3" name="TextBox 22"/>
          <p:cNvSpPr txBox="1"/>
          <p:nvPr/>
        </p:nvSpPr>
        <p:spPr>
          <a:xfrm>
            <a:off x="6377940" y="3319272"/>
            <a:ext cx="2173986" cy="384048"/>
          </a:xfrm>
          <a:prstGeom prst="rect">
            <a:avLst/>
          </a:prstGeom>
          <a:noFill/>
        </p:spPr>
        <p:txBody>
          <a:bodyPr wrap="square" anchor="ctr">
            <a:spAutoFit/>
          </a:bodyPr>
          <a:lstStyle/>
          <a:p>
            <a:pPr algn="ctr">
              <a:spcAft>
                <a:spcPts val="400"/>
              </a:spcAft>
            </a:pPr>
            <a:r>
              <a:rPr sz="1150" b="1">
                <a:solidFill>
                  <a:srgbClr val="7C3AED"/>
                </a:solidFill>
                <a:latin typeface="Arial"/>
              </a:rPr>
              <a:t>AWS SERVICES</a:t>
            </a:r>
          </a:p>
        </p:txBody>
      </p:sp>
      <p:sp>
        <p:nvSpPr>
          <p:cNvPr id="24" name="TextBox 23"/>
          <p:cNvSpPr txBox="1"/>
          <p:nvPr/>
        </p:nvSpPr>
        <p:spPr>
          <a:xfrm>
            <a:off x="6377940"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GitHub · EventBridge · CodeConnections</a:t>
            </a:r>
          </a:p>
        </p:txBody>
      </p:sp>
      <p:sp>
        <p:nvSpPr>
          <p:cNvPr id="25" name="Rectangle 24"/>
          <p:cNvSpPr/>
          <p:nvPr/>
        </p:nvSpPr>
        <p:spPr>
          <a:xfrm>
            <a:off x="8999982"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99982" y="2148840"/>
            <a:ext cx="2411730"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76663"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7666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9" name="TextBox 28"/>
          <p:cNvSpPr txBox="1"/>
          <p:nvPr/>
        </p:nvSpPr>
        <p:spPr>
          <a:xfrm>
            <a:off x="9118854" y="3319272"/>
            <a:ext cx="2173986" cy="384048"/>
          </a:xfrm>
          <a:prstGeom prst="rect">
            <a:avLst/>
          </a:prstGeom>
          <a:noFill/>
        </p:spPr>
        <p:txBody>
          <a:bodyPr wrap="square" anchor="ctr">
            <a:spAutoFit/>
          </a:bodyPr>
          <a:lstStyle/>
          <a:p>
            <a:pPr algn="ctr">
              <a:spcAft>
                <a:spcPts val="400"/>
              </a:spcAft>
            </a:pPr>
            <a:r>
              <a:rPr sz="1150" b="1">
                <a:solidFill>
                  <a:srgbClr val="F59E0B"/>
                </a:solidFill>
                <a:latin typeface="Arial"/>
              </a:rPr>
              <a:t>EVIDENCE BOUNDARY</a:t>
            </a:r>
          </a:p>
        </p:txBody>
      </p:sp>
      <p:sp>
        <p:nvSpPr>
          <p:cNvPr id="30" name="TextBox 29"/>
          <p:cNvSpPr txBox="1"/>
          <p:nvPr/>
        </p:nvSpPr>
        <p:spPr>
          <a:xfrm>
            <a:off x="9118854"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Repository event, branch rule, connection ARN, trigger filter and execution correlation ID.</a:t>
            </a:r>
          </a:p>
        </p:txBody>
      </p:sp>
      <p:cxnSp>
        <p:nvCxnSpPr>
          <p:cNvPr id="31" name="Connector 30"/>
          <p:cNvCxnSpPr/>
          <p:nvPr/>
        </p:nvCxnSpPr>
        <p:spPr>
          <a:xfrm>
            <a:off x="318897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929884"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67079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1F6FEB"/>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136</a:t>
            </a:r>
          </a:p>
        </p:txBody>
      </p:sp>
    </p:spTree>
  </p:cSld>
  <p:clrMapOvr>
    <a:masterClrMapping/>
  </p:clrMapOvr>
  <p:transition xmlns:p14="http://schemas.microsoft.com/office/powerpoint/2010/main" p14:dur="380">
    <p:fade/>
  </p:transition>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SERVICE BOUNDARIES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700" b="1">
                <a:solidFill>
                  <a:srgbClr val="161B26"/>
                </a:solidFill>
                <a:latin typeface="Arial"/>
              </a:rPr>
              <a:t>CodeBuild and automated quality gates: architecture map</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241173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53921"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5392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319272"/>
            <a:ext cx="2173986" cy="384048"/>
          </a:xfrm>
          <a:prstGeom prst="rect">
            <a:avLst/>
          </a:prstGeom>
          <a:noFill/>
        </p:spPr>
        <p:txBody>
          <a:bodyPr wrap="square" anchor="ctr">
            <a:spAutoFit/>
          </a:bodyPr>
          <a:lstStyle/>
          <a:p>
            <a:pPr algn="ctr">
              <a:spcAft>
                <a:spcPts val="400"/>
              </a:spcAft>
            </a:pPr>
            <a:r>
              <a:rPr sz="1150" b="1">
                <a:solidFill>
                  <a:srgbClr val="1F6FEB"/>
                </a:solidFill>
                <a:latin typeface="Arial"/>
              </a:rPr>
              <a:t>TRIGGER / INPUT</a:t>
            </a:r>
          </a:p>
        </p:txBody>
      </p:sp>
      <p:sp>
        <p:nvSpPr>
          <p:cNvPr id="12" name="TextBox 11"/>
          <p:cNvSpPr txBox="1"/>
          <p:nvPr/>
        </p:nvSpPr>
        <p:spPr>
          <a:xfrm>
            <a:off x="896112"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Install</a:t>
            </a:r>
          </a:p>
        </p:txBody>
      </p:sp>
      <p:sp>
        <p:nvSpPr>
          <p:cNvPr id="13" name="Rectangle 12"/>
          <p:cNvSpPr/>
          <p:nvPr/>
        </p:nvSpPr>
        <p:spPr>
          <a:xfrm>
            <a:off x="3518154"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18154" y="2148840"/>
            <a:ext cx="241173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394835"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94835"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7" name="TextBox 16"/>
          <p:cNvSpPr txBox="1"/>
          <p:nvPr/>
        </p:nvSpPr>
        <p:spPr>
          <a:xfrm>
            <a:off x="3637026" y="3319272"/>
            <a:ext cx="2173986" cy="384048"/>
          </a:xfrm>
          <a:prstGeom prst="rect">
            <a:avLst/>
          </a:prstGeom>
          <a:noFill/>
        </p:spPr>
        <p:txBody>
          <a:bodyPr wrap="square" anchor="ctr">
            <a:spAutoFit/>
          </a:bodyPr>
          <a:lstStyle/>
          <a:p>
            <a:pPr algn="ctr">
              <a:spcAft>
                <a:spcPts val="400"/>
              </a:spcAft>
            </a:pPr>
            <a:r>
              <a:rPr sz="1150" b="1">
                <a:solidFill>
                  <a:srgbClr val="10B981"/>
                </a:solidFill>
                <a:latin typeface="Arial"/>
              </a:rPr>
              <a:t>CONTROL PLANE</a:t>
            </a:r>
          </a:p>
        </p:txBody>
      </p:sp>
      <p:sp>
        <p:nvSpPr>
          <p:cNvPr id="18" name="TextBox 17"/>
          <p:cNvSpPr txBox="1"/>
          <p:nvPr/>
        </p:nvSpPr>
        <p:spPr>
          <a:xfrm>
            <a:off x="3637026"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Pin runtime images and dependencies, isolate privileged builds, publish reports, and fail on explicit exit codes.</a:t>
            </a:r>
          </a:p>
        </p:txBody>
      </p:sp>
      <p:sp>
        <p:nvSpPr>
          <p:cNvPr id="19" name="Rectangle 18"/>
          <p:cNvSpPr/>
          <p:nvPr/>
        </p:nvSpPr>
        <p:spPr>
          <a:xfrm>
            <a:off x="6259068"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9068" y="2148840"/>
            <a:ext cx="241173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5749"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574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3" name="TextBox 22"/>
          <p:cNvSpPr txBox="1"/>
          <p:nvPr/>
        </p:nvSpPr>
        <p:spPr>
          <a:xfrm>
            <a:off x="6377940" y="3319272"/>
            <a:ext cx="2173986" cy="384048"/>
          </a:xfrm>
          <a:prstGeom prst="rect">
            <a:avLst/>
          </a:prstGeom>
          <a:noFill/>
        </p:spPr>
        <p:txBody>
          <a:bodyPr wrap="square" anchor="ctr">
            <a:spAutoFit/>
          </a:bodyPr>
          <a:lstStyle/>
          <a:p>
            <a:pPr algn="ctr">
              <a:spcAft>
                <a:spcPts val="400"/>
              </a:spcAft>
            </a:pPr>
            <a:r>
              <a:rPr sz="1150" b="1">
                <a:solidFill>
                  <a:srgbClr val="7C3AED"/>
                </a:solidFill>
                <a:latin typeface="Arial"/>
              </a:rPr>
              <a:t>AWS SERVICES</a:t>
            </a:r>
          </a:p>
        </p:txBody>
      </p:sp>
      <p:sp>
        <p:nvSpPr>
          <p:cNvPr id="24" name="TextBox 23"/>
          <p:cNvSpPr txBox="1"/>
          <p:nvPr/>
        </p:nvSpPr>
        <p:spPr>
          <a:xfrm>
            <a:off x="6377940"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CodeBuild · CodeGuru · test reports · coverage</a:t>
            </a:r>
          </a:p>
        </p:txBody>
      </p:sp>
      <p:sp>
        <p:nvSpPr>
          <p:cNvPr id="25" name="Rectangle 24"/>
          <p:cNvSpPr/>
          <p:nvPr/>
        </p:nvSpPr>
        <p:spPr>
          <a:xfrm>
            <a:off x="8999982"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99982" y="2148840"/>
            <a:ext cx="2411730"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76663"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7666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9" name="TextBox 28"/>
          <p:cNvSpPr txBox="1"/>
          <p:nvPr/>
        </p:nvSpPr>
        <p:spPr>
          <a:xfrm>
            <a:off x="9118854" y="3319272"/>
            <a:ext cx="2173986" cy="384048"/>
          </a:xfrm>
          <a:prstGeom prst="rect">
            <a:avLst/>
          </a:prstGeom>
          <a:noFill/>
        </p:spPr>
        <p:txBody>
          <a:bodyPr wrap="square" anchor="ctr">
            <a:spAutoFit/>
          </a:bodyPr>
          <a:lstStyle/>
          <a:p>
            <a:pPr algn="ctr">
              <a:spcAft>
                <a:spcPts val="400"/>
              </a:spcAft>
            </a:pPr>
            <a:r>
              <a:rPr sz="1150" b="1">
                <a:solidFill>
                  <a:srgbClr val="F59E0B"/>
                </a:solidFill>
                <a:latin typeface="Arial"/>
              </a:rPr>
              <a:t>EVIDENCE BOUNDARY</a:t>
            </a:r>
          </a:p>
        </p:txBody>
      </p:sp>
      <p:sp>
        <p:nvSpPr>
          <p:cNvPr id="30" name="TextBox 29"/>
          <p:cNvSpPr txBox="1"/>
          <p:nvPr/>
        </p:nvSpPr>
        <p:spPr>
          <a:xfrm>
            <a:off x="9118854"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buildspec version, resolved image digest, report group, coverage result and exported variables.</a:t>
            </a:r>
          </a:p>
        </p:txBody>
      </p:sp>
      <p:cxnSp>
        <p:nvCxnSpPr>
          <p:cNvPr id="31" name="Connector 30"/>
          <p:cNvCxnSpPr/>
          <p:nvPr/>
        </p:nvCxnSpPr>
        <p:spPr>
          <a:xfrm>
            <a:off x="318897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929884"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67079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1F6FEB"/>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137</a:t>
            </a:r>
          </a:p>
        </p:txBody>
      </p:sp>
    </p:spTree>
  </p:cSld>
  <p:clrMapOvr>
    <a:masterClrMapping/>
  </p:clrMapOvr>
  <p:transition xmlns:p14="http://schemas.microsoft.com/office/powerpoint/2010/main" p14:dur="380">
    <p:fade/>
  </p:transition>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SERVICE BOUNDARIES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Artifact integrity and lifecycle: architecture map</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241173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53921"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5392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319272"/>
            <a:ext cx="2173986" cy="384048"/>
          </a:xfrm>
          <a:prstGeom prst="rect">
            <a:avLst/>
          </a:prstGeom>
          <a:noFill/>
        </p:spPr>
        <p:txBody>
          <a:bodyPr wrap="square" anchor="ctr">
            <a:spAutoFit/>
          </a:bodyPr>
          <a:lstStyle/>
          <a:p>
            <a:pPr algn="ctr">
              <a:spcAft>
                <a:spcPts val="400"/>
              </a:spcAft>
            </a:pPr>
            <a:r>
              <a:rPr sz="1150" b="1">
                <a:solidFill>
                  <a:srgbClr val="1F6FEB"/>
                </a:solidFill>
                <a:latin typeface="Arial"/>
              </a:rPr>
              <a:t>TRIGGER / INPUT</a:t>
            </a:r>
          </a:p>
        </p:txBody>
      </p:sp>
      <p:sp>
        <p:nvSpPr>
          <p:cNvPr id="12" name="TextBox 11"/>
          <p:cNvSpPr txBox="1"/>
          <p:nvPr/>
        </p:nvSpPr>
        <p:spPr>
          <a:xfrm>
            <a:off x="896112"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Build artifact</a:t>
            </a:r>
          </a:p>
        </p:txBody>
      </p:sp>
      <p:sp>
        <p:nvSpPr>
          <p:cNvPr id="13" name="Rectangle 12"/>
          <p:cNvSpPr/>
          <p:nvPr/>
        </p:nvSpPr>
        <p:spPr>
          <a:xfrm>
            <a:off x="3518154"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18154" y="2148840"/>
            <a:ext cx="241173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394835"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94835"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7" name="TextBox 16"/>
          <p:cNvSpPr txBox="1"/>
          <p:nvPr/>
        </p:nvSpPr>
        <p:spPr>
          <a:xfrm>
            <a:off x="3637026" y="3319272"/>
            <a:ext cx="2173986" cy="384048"/>
          </a:xfrm>
          <a:prstGeom prst="rect">
            <a:avLst/>
          </a:prstGeom>
          <a:noFill/>
        </p:spPr>
        <p:txBody>
          <a:bodyPr wrap="square" anchor="ctr">
            <a:spAutoFit/>
          </a:bodyPr>
          <a:lstStyle/>
          <a:p>
            <a:pPr algn="ctr">
              <a:spcAft>
                <a:spcPts val="400"/>
              </a:spcAft>
            </a:pPr>
            <a:r>
              <a:rPr sz="1150" b="1">
                <a:solidFill>
                  <a:srgbClr val="10B981"/>
                </a:solidFill>
                <a:latin typeface="Arial"/>
              </a:rPr>
              <a:t>CONTROL PLANE</a:t>
            </a:r>
          </a:p>
        </p:txBody>
      </p:sp>
      <p:sp>
        <p:nvSpPr>
          <p:cNvPr id="18" name="TextBox 17"/>
          <p:cNvSpPr txBox="1"/>
          <p:nvPr/>
        </p:nvSpPr>
        <p:spPr>
          <a:xfrm>
            <a:off x="3637026"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Version packages immutably, scan images, sign or checksum outputs, encrypt repositories and expire superseded artifacts deliberately.</a:t>
            </a:r>
          </a:p>
        </p:txBody>
      </p:sp>
      <p:sp>
        <p:nvSpPr>
          <p:cNvPr id="19" name="Rectangle 18"/>
          <p:cNvSpPr/>
          <p:nvPr/>
        </p:nvSpPr>
        <p:spPr>
          <a:xfrm>
            <a:off x="6259068"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9068" y="2148840"/>
            <a:ext cx="241173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5749"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574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3" name="TextBox 22"/>
          <p:cNvSpPr txBox="1"/>
          <p:nvPr/>
        </p:nvSpPr>
        <p:spPr>
          <a:xfrm>
            <a:off x="6377940" y="3319272"/>
            <a:ext cx="2173986" cy="384048"/>
          </a:xfrm>
          <a:prstGeom prst="rect">
            <a:avLst/>
          </a:prstGeom>
          <a:noFill/>
        </p:spPr>
        <p:txBody>
          <a:bodyPr wrap="square" anchor="ctr">
            <a:spAutoFit/>
          </a:bodyPr>
          <a:lstStyle/>
          <a:p>
            <a:pPr algn="ctr">
              <a:spcAft>
                <a:spcPts val="400"/>
              </a:spcAft>
            </a:pPr>
            <a:r>
              <a:rPr sz="1150" b="1">
                <a:solidFill>
                  <a:srgbClr val="7C3AED"/>
                </a:solidFill>
                <a:latin typeface="Arial"/>
              </a:rPr>
              <a:t>AWS SERVICES</a:t>
            </a:r>
          </a:p>
        </p:txBody>
      </p:sp>
      <p:sp>
        <p:nvSpPr>
          <p:cNvPr id="24" name="TextBox 23"/>
          <p:cNvSpPr txBox="1"/>
          <p:nvPr/>
        </p:nvSpPr>
        <p:spPr>
          <a:xfrm>
            <a:off x="6377940"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CodeArtifact · ECR · S3 · KMS · Image Builder</a:t>
            </a:r>
          </a:p>
        </p:txBody>
      </p:sp>
      <p:sp>
        <p:nvSpPr>
          <p:cNvPr id="25" name="Rectangle 24"/>
          <p:cNvSpPr/>
          <p:nvPr/>
        </p:nvSpPr>
        <p:spPr>
          <a:xfrm>
            <a:off x="8999982"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99982" y="2148840"/>
            <a:ext cx="2411730"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76663"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7666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9" name="TextBox 28"/>
          <p:cNvSpPr txBox="1"/>
          <p:nvPr/>
        </p:nvSpPr>
        <p:spPr>
          <a:xfrm>
            <a:off x="9118854" y="3319272"/>
            <a:ext cx="2173986" cy="384048"/>
          </a:xfrm>
          <a:prstGeom prst="rect">
            <a:avLst/>
          </a:prstGeom>
          <a:noFill/>
        </p:spPr>
        <p:txBody>
          <a:bodyPr wrap="square" anchor="ctr">
            <a:spAutoFit/>
          </a:bodyPr>
          <a:lstStyle/>
          <a:p>
            <a:pPr algn="ctr">
              <a:spcAft>
                <a:spcPts val="400"/>
              </a:spcAft>
            </a:pPr>
            <a:r>
              <a:rPr sz="1150" b="1">
                <a:solidFill>
                  <a:srgbClr val="F59E0B"/>
                </a:solidFill>
                <a:latin typeface="Arial"/>
              </a:rPr>
              <a:t>EVIDENCE BOUNDARY</a:t>
            </a:r>
          </a:p>
        </p:txBody>
      </p:sp>
      <p:sp>
        <p:nvSpPr>
          <p:cNvPr id="30" name="TextBox 29"/>
          <p:cNvSpPr txBox="1"/>
          <p:nvPr/>
        </p:nvSpPr>
        <p:spPr>
          <a:xfrm>
            <a:off x="9118854"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Package version, digest, scan status, KMS key, repository policy and retention action.</a:t>
            </a:r>
          </a:p>
        </p:txBody>
      </p:sp>
      <p:cxnSp>
        <p:nvCxnSpPr>
          <p:cNvPr id="31" name="Connector 30"/>
          <p:cNvCxnSpPr/>
          <p:nvPr/>
        </p:nvCxnSpPr>
        <p:spPr>
          <a:xfrm>
            <a:off x="318897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929884"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67079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1F6FEB"/>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138</a:t>
            </a:r>
          </a:p>
        </p:txBody>
      </p:sp>
    </p:spTree>
  </p:cSld>
  <p:clrMapOvr>
    <a:masterClrMapping/>
  </p:clrMapOvr>
  <p:transition xmlns:p14="http://schemas.microsoft.com/office/powerpoint/2010/main" p14:dur="380">
    <p:fade/>
  </p:transition>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SERVICE BOUNDARIES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CodeDeploy lifecycle and rollback: architecture map</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241173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53921"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5392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319272"/>
            <a:ext cx="2173986" cy="384048"/>
          </a:xfrm>
          <a:prstGeom prst="rect">
            <a:avLst/>
          </a:prstGeom>
          <a:noFill/>
        </p:spPr>
        <p:txBody>
          <a:bodyPr wrap="square" anchor="ctr">
            <a:spAutoFit/>
          </a:bodyPr>
          <a:lstStyle/>
          <a:p>
            <a:pPr algn="ctr">
              <a:spcAft>
                <a:spcPts val="400"/>
              </a:spcAft>
            </a:pPr>
            <a:r>
              <a:rPr sz="1150" b="1">
                <a:solidFill>
                  <a:srgbClr val="1F6FEB"/>
                </a:solidFill>
                <a:latin typeface="Arial"/>
              </a:rPr>
              <a:t>TRIGGER / INPUT</a:t>
            </a:r>
          </a:p>
        </p:txBody>
      </p:sp>
      <p:sp>
        <p:nvSpPr>
          <p:cNvPr id="12" name="TextBox 11"/>
          <p:cNvSpPr txBox="1"/>
          <p:nvPr/>
        </p:nvSpPr>
        <p:spPr>
          <a:xfrm>
            <a:off x="896112"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Provision target</a:t>
            </a:r>
          </a:p>
        </p:txBody>
      </p:sp>
      <p:sp>
        <p:nvSpPr>
          <p:cNvPr id="13" name="Rectangle 12"/>
          <p:cNvSpPr/>
          <p:nvPr/>
        </p:nvSpPr>
        <p:spPr>
          <a:xfrm>
            <a:off x="3518154"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18154" y="2148840"/>
            <a:ext cx="241173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394835"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94835"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7" name="TextBox 16"/>
          <p:cNvSpPr txBox="1"/>
          <p:nvPr/>
        </p:nvSpPr>
        <p:spPr>
          <a:xfrm>
            <a:off x="3637026" y="3319272"/>
            <a:ext cx="2173986" cy="384048"/>
          </a:xfrm>
          <a:prstGeom prst="rect">
            <a:avLst/>
          </a:prstGeom>
          <a:noFill/>
        </p:spPr>
        <p:txBody>
          <a:bodyPr wrap="square" anchor="ctr">
            <a:spAutoFit/>
          </a:bodyPr>
          <a:lstStyle/>
          <a:p>
            <a:pPr algn="ctr">
              <a:spcAft>
                <a:spcPts val="400"/>
              </a:spcAft>
            </a:pPr>
            <a:r>
              <a:rPr sz="1150" b="1">
                <a:solidFill>
                  <a:srgbClr val="10B981"/>
                </a:solidFill>
                <a:latin typeface="Arial"/>
              </a:rPr>
              <a:t>CONTROL PLANE</a:t>
            </a:r>
          </a:p>
        </p:txBody>
      </p:sp>
      <p:sp>
        <p:nvSpPr>
          <p:cNvPr id="18" name="TextBox 17"/>
          <p:cNvSpPr txBox="1"/>
          <p:nvPr/>
        </p:nvSpPr>
        <p:spPr>
          <a:xfrm>
            <a:off x="3637026"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Match AppSpec hooks to deployment topology; use load-balancer health and alarms to halt or roll back unhealthy revisions.</a:t>
            </a:r>
          </a:p>
        </p:txBody>
      </p:sp>
      <p:sp>
        <p:nvSpPr>
          <p:cNvPr id="19" name="Rectangle 18"/>
          <p:cNvSpPr/>
          <p:nvPr/>
        </p:nvSpPr>
        <p:spPr>
          <a:xfrm>
            <a:off x="6259068"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9068" y="2148840"/>
            <a:ext cx="241173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5749"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574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3" name="TextBox 22"/>
          <p:cNvSpPr txBox="1"/>
          <p:nvPr/>
        </p:nvSpPr>
        <p:spPr>
          <a:xfrm>
            <a:off x="6377940" y="3319272"/>
            <a:ext cx="2173986" cy="384048"/>
          </a:xfrm>
          <a:prstGeom prst="rect">
            <a:avLst/>
          </a:prstGeom>
          <a:noFill/>
        </p:spPr>
        <p:txBody>
          <a:bodyPr wrap="square" anchor="ctr">
            <a:spAutoFit/>
          </a:bodyPr>
          <a:lstStyle/>
          <a:p>
            <a:pPr algn="ctr">
              <a:spcAft>
                <a:spcPts val="400"/>
              </a:spcAft>
            </a:pPr>
            <a:r>
              <a:rPr sz="1150" b="1">
                <a:solidFill>
                  <a:srgbClr val="7C3AED"/>
                </a:solidFill>
                <a:latin typeface="Arial"/>
              </a:rPr>
              <a:t>AWS SERVICES</a:t>
            </a:r>
          </a:p>
        </p:txBody>
      </p:sp>
      <p:sp>
        <p:nvSpPr>
          <p:cNvPr id="24" name="TextBox 23"/>
          <p:cNvSpPr txBox="1"/>
          <p:nvPr/>
        </p:nvSpPr>
        <p:spPr>
          <a:xfrm>
            <a:off x="6377940"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CodeDeploy · EC2 · Auto Scaling · ALB</a:t>
            </a:r>
          </a:p>
        </p:txBody>
      </p:sp>
      <p:sp>
        <p:nvSpPr>
          <p:cNvPr id="25" name="Rectangle 24"/>
          <p:cNvSpPr/>
          <p:nvPr/>
        </p:nvSpPr>
        <p:spPr>
          <a:xfrm>
            <a:off x="8999982"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99982" y="2148840"/>
            <a:ext cx="2411730"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76663"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7666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9" name="TextBox 28"/>
          <p:cNvSpPr txBox="1"/>
          <p:nvPr/>
        </p:nvSpPr>
        <p:spPr>
          <a:xfrm>
            <a:off x="9118854" y="3319272"/>
            <a:ext cx="2173986" cy="384048"/>
          </a:xfrm>
          <a:prstGeom prst="rect">
            <a:avLst/>
          </a:prstGeom>
          <a:noFill/>
        </p:spPr>
        <p:txBody>
          <a:bodyPr wrap="square" anchor="ctr">
            <a:spAutoFit/>
          </a:bodyPr>
          <a:lstStyle/>
          <a:p>
            <a:pPr algn="ctr">
              <a:spcAft>
                <a:spcPts val="400"/>
              </a:spcAft>
            </a:pPr>
            <a:r>
              <a:rPr sz="1150" b="1">
                <a:solidFill>
                  <a:srgbClr val="F59E0B"/>
                </a:solidFill>
                <a:latin typeface="Arial"/>
              </a:rPr>
              <a:t>EVIDENCE BOUNDARY</a:t>
            </a:r>
          </a:p>
        </p:txBody>
      </p:sp>
      <p:sp>
        <p:nvSpPr>
          <p:cNvPr id="30" name="TextBox 29"/>
          <p:cNvSpPr txBox="1"/>
          <p:nvPr/>
        </p:nvSpPr>
        <p:spPr>
          <a:xfrm>
            <a:off x="9118854"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Revision ID, lifecycle-hook log, deployment configuration, alarm state and rollback deployment ID.</a:t>
            </a:r>
          </a:p>
        </p:txBody>
      </p:sp>
      <p:cxnSp>
        <p:nvCxnSpPr>
          <p:cNvPr id="31" name="Connector 30"/>
          <p:cNvCxnSpPr/>
          <p:nvPr/>
        </p:nvCxnSpPr>
        <p:spPr>
          <a:xfrm>
            <a:off x="318897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929884"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67079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1F6FEB"/>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139</a:t>
            </a:r>
          </a:p>
        </p:txBody>
      </p:sp>
    </p:spTree>
  </p:cSld>
  <p:clrMapOvr>
    <a:masterClrMapping/>
  </p:clrMapOvr>
  <p:transition xmlns:p14="http://schemas.microsoft.com/office/powerpoint/2010/main" p14:dur="380">
    <p:fade/>
  </p:transition>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SERVICE BOUNDARIES</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500" b="1">
                <a:solidFill>
                  <a:srgbClr val="161B26"/>
                </a:solidFill>
                <a:latin typeface="Arial"/>
              </a:rPr>
              <a:t>Container and serverless deployment strategies: architecture map</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241173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53921"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5392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319272"/>
            <a:ext cx="2173986" cy="384048"/>
          </a:xfrm>
          <a:prstGeom prst="rect">
            <a:avLst/>
          </a:prstGeom>
          <a:noFill/>
        </p:spPr>
        <p:txBody>
          <a:bodyPr wrap="square" anchor="ctr">
            <a:spAutoFit/>
          </a:bodyPr>
          <a:lstStyle/>
          <a:p>
            <a:pPr algn="ctr">
              <a:spcAft>
                <a:spcPts val="400"/>
              </a:spcAft>
            </a:pPr>
            <a:r>
              <a:rPr sz="1150" b="1">
                <a:solidFill>
                  <a:srgbClr val="1F6FEB"/>
                </a:solidFill>
                <a:latin typeface="Arial"/>
              </a:rPr>
              <a:t>TRIGGER / INPUT</a:t>
            </a:r>
          </a:p>
        </p:txBody>
      </p:sp>
      <p:sp>
        <p:nvSpPr>
          <p:cNvPr id="12" name="TextBox 11"/>
          <p:cNvSpPr txBox="1"/>
          <p:nvPr/>
        </p:nvSpPr>
        <p:spPr>
          <a:xfrm>
            <a:off x="896112"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Publish version</a:t>
            </a:r>
          </a:p>
        </p:txBody>
      </p:sp>
      <p:sp>
        <p:nvSpPr>
          <p:cNvPr id="13" name="Rectangle 12"/>
          <p:cNvSpPr/>
          <p:nvPr/>
        </p:nvSpPr>
        <p:spPr>
          <a:xfrm>
            <a:off x="3518154"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18154" y="2148840"/>
            <a:ext cx="241173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394835"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94835"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7" name="TextBox 16"/>
          <p:cNvSpPr txBox="1"/>
          <p:nvPr/>
        </p:nvSpPr>
        <p:spPr>
          <a:xfrm>
            <a:off x="3637026" y="3319272"/>
            <a:ext cx="2173986" cy="384048"/>
          </a:xfrm>
          <a:prstGeom prst="rect">
            <a:avLst/>
          </a:prstGeom>
          <a:noFill/>
        </p:spPr>
        <p:txBody>
          <a:bodyPr wrap="square" anchor="ctr">
            <a:spAutoFit/>
          </a:bodyPr>
          <a:lstStyle/>
          <a:p>
            <a:pPr algn="ctr">
              <a:spcAft>
                <a:spcPts val="400"/>
              </a:spcAft>
            </a:pPr>
            <a:r>
              <a:rPr sz="1150" b="1">
                <a:solidFill>
                  <a:srgbClr val="10B981"/>
                </a:solidFill>
                <a:latin typeface="Arial"/>
              </a:rPr>
              <a:t>CONTROL PLANE</a:t>
            </a:r>
          </a:p>
        </p:txBody>
      </p:sp>
      <p:sp>
        <p:nvSpPr>
          <p:cNvPr id="18" name="TextBox 17"/>
          <p:cNvSpPr txBox="1"/>
          <p:nvPr/>
        </p:nvSpPr>
        <p:spPr>
          <a:xfrm>
            <a:off x="3637026"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Pair weighted traffic with pre/post hooks, alarms and versioned task definitions or Lambda aliases.</a:t>
            </a:r>
          </a:p>
        </p:txBody>
      </p:sp>
      <p:sp>
        <p:nvSpPr>
          <p:cNvPr id="19" name="Rectangle 18"/>
          <p:cNvSpPr/>
          <p:nvPr/>
        </p:nvSpPr>
        <p:spPr>
          <a:xfrm>
            <a:off x="6259068"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9068" y="2148840"/>
            <a:ext cx="241173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5749"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574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3" name="TextBox 22"/>
          <p:cNvSpPr txBox="1"/>
          <p:nvPr/>
        </p:nvSpPr>
        <p:spPr>
          <a:xfrm>
            <a:off x="6377940" y="3319272"/>
            <a:ext cx="2173986" cy="384048"/>
          </a:xfrm>
          <a:prstGeom prst="rect">
            <a:avLst/>
          </a:prstGeom>
          <a:noFill/>
        </p:spPr>
        <p:txBody>
          <a:bodyPr wrap="square" anchor="ctr">
            <a:spAutoFit/>
          </a:bodyPr>
          <a:lstStyle/>
          <a:p>
            <a:pPr algn="ctr">
              <a:spcAft>
                <a:spcPts val="400"/>
              </a:spcAft>
            </a:pPr>
            <a:r>
              <a:rPr sz="1150" b="1">
                <a:solidFill>
                  <a:srgbClr val="7C3AED"/>
                </a:solidFill>
                <a:latin typeface="Arial"/>
              </a:rPr>
              <a:t>AWS SERVICES</a:t>
            </a:r>
          </a:p>
        </p:txBody>
      </p:sp>
      <p:sp>
        <p:nvSpPr>
          <p:cNvPr id="24" name="TextBox 23"/>
          <p:cNvSpPr txBox="1"/>
          <p:nvPr/>
        </p:nvSpPr>
        <p:spPr>
          <a:xfrm>
            <a:off x="6377940"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ECS · Lambda · CodeDeploy · SAM</a:t>
            </a:r>
          </a:p>
        </p:txBody>
      </p:sp>
      <p:sp>
        <p:nvSpPr>
          <p:cNvPr id="25" name="Rectangle 24"/>
          <p:cNvSpPr/>
          <p:nvPr/>
        </p:nvSpPr>
        <p:spPr>
          <a:xfrm>
            <a:off x="8999982"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99982" y="2148840"/>
            <a:ext cx="2411730"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76663"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7666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9" name="TextBox 28"/>
          <p:cNvSpPr txBox="1"/>
          <p:nvPr/>
        </p:nvSpPr>
        <p:spPr>
          <a:xfrm>
            <a:off x="9118854" y="3319272"/>
            <a:ext cx="2173986" cy="384048"/>
          </a:xfrm>
          <a:prstGeom prst="rect">
            <a:avLst/>
          </a:prstGeom>
          <a:noFill/>
        </p:spPr>
        <p:txBody>
          <a:bodyPr wrap="square" anchor="ctr">
            <a:spAutoFit/>
          </a:bodyPr>
          <a:lstStyle/>
          <a:p>
            <a:pPr algn="ctr">
              <a:spcAft>
                <a:spcPts val="400"/>
              </a:spcAft>
            </a:pPr>
            <a:r>
              <a:rPr sz="1150" b="1">
                <a:solidFill>
                  <a:srgbClr val="F59E0B"/>
                </a:solidFill>
                <a:latin typeface="Arial"/>
              </a:rPr>
              <a:t>EVIDENCE BOUNDARY</a:t>
            </a:r>
          </a:p>
        </p:txBody>
      </p:sp>
      <p:sp>
        <p:nvSpPr>
          <p:cNvPr id="30" name="TextBox 29"/>
          <p:cNvSpPr txBox="1"/>
          <p:nvPr/>
        </p:nvSpPr>
        <p:spPr>
          <a:xfrm>
            <a:off x="9118854"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Task-definition revision or Lambda version, traffic weights, hook results, alarms and rollback state.</a:t>
            </a:r>
          </a:p>
        </p:txBody>
      </p:sp>
      <p:cxnSp>
        <p:nvCxnSpPr>
          <p:cNvPr id="31" name="Connector 30"/>
          <p:cNvCxnSpPr/>
          <p:nvPr/>
        </p:nvCxnSpPr>
        <p:spPr>
          <a:xfrm>
            <a:off x="318897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929884"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67079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1F6FEB"/>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140</a:t>
            </a:r>
          </a:p>
        </p:txBody>
      </p:sp>
    </p:spTree>
  </p:cSld>
  <p:clrMapOvr>
    <a:masterClrMapping/>
  </p:clrMapOvr>
  <p:transition xmlns:p14="http://schemas.microsoft.com/office/powerpoint/2010/main" p14:dur="380">
    <p:fade/>
  </p:transition>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1 · SERVICE BOUNDARIES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700" b="1">
                <a:solidFill>
                  <a:srgbClr val="161B26"/>
                </a:solidFill>
                <a:latin typeface="Arial"/>
              </a:rPr>
              <a:t>Multi-account and multi-Region delivery: architecture map</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241173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53921"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5392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319272"/>
            <a:ext cx="2173986" cy="384048"/>
          </a:xfrm>
          <a:prstGeom prst="rect">
            <a:avLst/>
          </a:prstGeom>
          <a:noFill/>
        </p:spPr>
        <p:txBody>
          <a:bodyPr wrap="square" anchor="ctr">
            <a:spAutoFit/>
          </a:bodyPr>
          <a:lstStyle/>
          <a:p>
            <a:pPr algn="ctr">
              <a:spcAft>
                <a:spcPts val="400"/>
              </a:spcAft>
            </a:pPr>
            <a:r>
              <a:rPr sz="1150" b="1">
                <a:solidFill>
                  <a:srgbClr val="1F6FEB"/>
                </a:solidFill>
                <a:latin typeface="Arial"/>
              </a:rPr>
              <a:t>TRIGGER / INPUT</a:t>
            </a:r>
          </a:p>
        </p:txBody>
      </p:sp>
      <p:sp>
        <p:nvSpPr>
          <p:cNvPr id="12" name="TextBox 11"/>
          <p:cNvSpPr txBox="1"/>
          <p:nvPr/>
        </p:nvSpPr>
        <p:spPr>
          <a:xfrm>
            <a:off x="896112"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Build centrally</a:t>
            </a:r>
          </a:p>
        </p:txBody>
      </p:sp>
      <p:sp>
        <p:nvSpPr>
          <p:cNvPr id="13" name="Rectangle 12"/>
          <p:cNvSpPr/>
          <p:nvPr/>
        </p:nvSpPr>
        <p:spPr>
          <a:xfrm>
            <a:off x="3518154"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18154" y="2148840"/>
            <a:ext cx="241173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394835"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94835"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7" name="TextBox 16"/>
          <p:cNvSpPr txBox="1"/>
          <p:nvPr/>
        </p:nvSpPr>
        <p:spPr>
          <a:xfrm>
            <a:off x="3637026" y="3319272"/>
            <a:ext cx="2173986" cy="384048"/>
          </a:xfrm>
          <a:prstGeom prst="rect">
            <a:avLst/>
          </a:prstGeom>
          <a:noFill/>
        </p:spPr>
        <p:txBody>
          <a:bodyPr wrap="square" anchor="ctr">
            <a:spAutoFit/>
          </a:bodyPr>
          <a:lstStyle/>
          <a:p>
            <a:pPr algn="ctr">
              <a:spcAft>
                <a:spcPts val="400"/>
              </a:spcAft>
            </a:pPr>
            <a:r>
              <a:rPr sz="1150" b="1">
                <a:solidFill>
                  <a:srgbClr val="10B981"/>
                </a:solidFill>
                <a:latin typeface="Arial"/>
              </a:rPr>
              <a:t>CONTROL PLANE</a:t>
            </a:r>
          </a:p>
        </p:txBody>
      </p:sp>
      <p:sp>
        <p:nvSpPr>
          <p:cNvPr id="18" name="TextBox 17"/>
          <p:cNvSpPr txBox="1"/>
          <p:nvPr/>
        </p:nvSpPr>
        <p:spPr>
          <a:xfrm>
            <a:off x="3637026"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Use cross-account roles, Region-specific artifact stores and keys, ordered waves, approval boundaries and central evidence.</a:t>
            </a:r>
          </a:p>
        </p:txBody>
      </p:sp>
      <p:sp>
        <p:nvSpPr>
          <p:cNvPr id="19" name="Rectangle 18"/>
          <p:cNvSpPr/>
          <p:nvPr/>
        </p:nvSpPr>
        <p:spPr>
          <a:xfrm>
            <a:off x="6259068"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9068" y="2148840"/>
            <a:ext cx="241173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5749"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574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3" name="TextBox 22"/>
          <p:cNvSpPr txBox="1"/>
          <p:nvPr/>
        </p:nvSpPr>
        <p:spPr>
          <a:xfrm>
            <a:off x="6377940" y="3319272"/>
            <a:ext cx="2173986" cy="384048"/>
          </a:xfrm>
          <a:prstGeom prst="rect">
            <a:avLst/>
          </a:prstGeom>
          <a:noFill/>
        </p:spPr>
        <p:txBody>
          <a:bodyPr wrap="square" anchor="ctr">
            <a:spAutoFit/>
          </a:bodyPr>
          <a:lstStyle/>
          <a:p>
            <a:pPr algn="ctr">
              <a:spcAft>
                <a:spcPts val="400"/>
              </a:spcAft>
            </a:pPr>
            <a:r>
              <a:rPr sz="1150" b="1">
                <a:solidFill>
                  <a:srgbClr val="7C3AED"/>
                </a:solidFill>
                <a:latin typeface="Arial"/>
              </a:rPr>
              <a:t>AWS SERVICES</a:t>
            </a:r>
          </a:p>
        </p:txBody>
      </p:sp>
      <p:sp>
        <p:nvSpPr>
          <p:cNvPr id="24" name="TextBox 23"/>
          <p:cNvSpPr txBox="1"/>
          <p:nvPr/>
        </p:nvSpPr>
        <p:spPr>
          <a:xfrm>
            <a:off x="6377940"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CodePipeline · CloudFormation StackSets · KMS · IAM</a:t>
            </a:r>
          </a:p>
        </p:txBody>
      </p:sp>
      <p:sp>
        <p:nvSpPr>
          <p:cNvPr id="25" name="Rectangle 24"/>
          <p:cNvSpPr/>
          <p:nvPr/>
        </p:nvSpPr>
        <p:spPr>
          <a:xfrm>
            <a:off x="8999982"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99982" y="2148840"/>
            <a:ext cx="2411730"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76663"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7666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9" name="TextBox 28"/>
          <p:cNvSpPr txBox="1"/>
          <p:nvPr/>
        </p:nvSpPr>
        <p:spPr>
          <a:xfrm>
            <a:off x="9118854" y="3319272"/>
            <a:ext cx="2173986" cy="384048"/>
          </a:xfrm>
          <a:prstGeom prst="rect">
            <a:avLst/>
          </a:prstGeom>
          <a:noFill/>
        </p:spPr>
        <p:txBody>
          <a:bodyPr wrap="square" anchor="ctr">
            <a:spAutoFit/>
          </a:bodyPr>
          <a:lstStyle/>
          <a:p>
            <a:pPr algn="ctr">
              <a:spcAft>
                <a:spcPts val="400"/>
              </a:spcAft>
            </a:pPr>
            <a:r>
              <a:rPr sz="1150" b="1">
                <a:solidFill>
                  <a:srgbClr val="F59E0B"/>
                </a:solidFill>
                <a:latin typeface="Arial"/>
              </a:rPr>
              <a:t>EVIDENCE BOUNDARY</a:t>
            </a:r>
          </a:p>
        </p:txBody>
      </p:sp>
      <p:sp>
        <p:nvSpPr>
          <p:cNvPr id="30" name="TextBox 29"/>
          <p:cNvSpPr txBox="1"/>
          <p:nvPr/>
        </p:nvSpPr>
        <p:spPr>
          <a:xfrm>
            <a:off x="9118854"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Role assumption, regional artifact copy, StackSet operation, wave status and approval record.</a:t>
            </a:r>
          </a:p>
        </p:txBody>
      </p:sp>
      <p:cxnSp>
        <p:nvCxnSpPr>
          <p:cNvPr id="31" name="Connector 30"/>
          <p:cNvCxnSpPr/>
          <p:nvPr/>
        </p:nvCxnSpPr>
        <p:spPr>
          <a:xfrm>
            <a:off x="318897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929884"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67079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1F6FEB"/>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141</a:t>
            </a:r>
          </a:p>
        </p:txBody>
      </p:sp>
    </p:spTree>
  </p:cSld>
  <p:clrMapOvr>
    <a:masterClrMapping/>
  </p:clrMapOvr>
  <p:transition xmlns:p14="http://schemas.microsoft.com/office/powerpoint/2010/main" p14:dur="380">
    <p:fade/>
  </p:transition>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LAB 1 · DAY 1 · LO1 · HANDS-ON</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500" b="1">
                <a:solidFill>
                  <a:srgbClr val="161B26"/>
                </a:solidFill>
                <a:latin typeface="Arial"/>
              </a:rPr>
              <a:t>Set Up a Safe AWS &amp; Git Working Environment and Verify Identity</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37360"/>
            <a:ext cx="1417320"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83080"/>
            <a:ext cx="1417320" cy="365760"/>
          </a:xfrm>
          <a:prstGeom prst="rect">
            <a:avLst/>
          </a:prstGeom>
          <a:noFill/>
        </p:spPr>
        <p:txBody>
          <a:bodyPr wrap="square" anchor="t">
            <a:spAutoFit/>
          </a:bodyPr>
          <a:lstStyle/>
          <a:p>
            <a:pPr algn="ctr">
              <a:spcAft>
                <a:spcPts val="400"/>
              </a:spcAft>
            </a:pPr>
            <a:r>
              <a:rPr sz="1600" b="1">
                <a:solidFill>
                  <a:srgbClr val="FFFFFF"/>
                </a:solidFill>
                <a:latin typeface="Arial"/>
              </a:rPr>
              <a:t>LAB 1</a:t>
            </a:r>
          </a:p>
        </p:txBody>
      </p:sp>
      <p:sp>
        <p:nvSpPr>
          <p:cNvPr id="9" name="TextBox 8"/>
          <p:cNvSpPr txBox="1"/>
          <p:nvPr/>
        </p:nvSpPr>
        <p:spPr>
          <a:xfrm>
            <a:off x="2514600" y="1783080"/>
            <a:ext cx="3749039" cy="365760"/>
          </a:xfrm>
          <a:prstGeom prst="rect">
            <a:avLst/>
          </a:prstGeom>
          <a:noFill/>
        </p:spPr>
        <p:txBody>
          <a:bodyPr wrap="square" anchor="t">
            <a:spAutoFit/>
          </a:bodyPr>
          <a:lstStyle/>
          <a:p>
            <a:pPr algn="l">
              <a:spcAft>
                <a:spcPts val="400"/>
              </a:spcAft>
            </a:pPr>
            <a:r>
              <a:rPr sz="1150" b="1">
                <a:solidFill>
                  <a:srgbClr val="5B6372"/>
                </a:solidFill>
                <a:latin typeface="Arial"/>
              </a:rPr>
              <a:t>Day 1 · LO1 · K1, A1</a:t>
            </a:r>
          </a:p>
        </p:txBody>
      </p:sp>
      <p:sp>
        <p:nvSpPr>
          <p:cNvPr id="10" name="TextBox 9"/>
          <p:cNvSpPr txBox="1"/>
          <p:nvPr/>
        </p:nvSpPr>
        <p:spPr>
          <a:xfrm>
            <a:off x="777240" y="2286000"/>
            <a:ext cx="5486400" cy="1339215"/>
          </a:xfrm>
          <a:prstGeom prst="rect">
            <a:avLst/>
          </a:prstGeom>
          <a:noFill/>
        </p:spPr>
        <p:txBody>
          <a:bodyPr wrap="square" anchor="t">
            <a:spAutoFit/>
          </a:bodyPr>
          <a:lstStyle/>
          <a:p>
            <a:pPr algn="l">
              <a:spcAft>
                <a:spcPts val="400"/>
              </a:spcAft>
            </a:pPr>
            <a:r>
              <a:rPr sz="1350" b="0">
                <a:solidFill>
                  <a:srgbClr val="161B26"/>
                </a:solidFill>
                <a:latin typeface="Arial"/>
              </a:rPr>
              <a:t>Before automating anything you need a workspace you can trust.</a:t>
            </a:r>
          </a:p>
        </p:txBody>
      </p:sp>
      <p:sp>
        <p:nvSpPr>
          <p:cNvPr id="11" name="Rectangle 10"/>
          <p:cNvSpPr/>
          <p:nvPr/>
        </p:nvSpPr>
        <p:spPr>
          <a:xfrm>
            <a:off x="777240" y="3734943"/>
            <a:ext cx="5486400" cy="13776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734943"/>
            <a:ext cx="91440" cy="13776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3862959"/>
            <a:ext cx="5120640" cy="274320"/>
          </a:xfrm>
          <a:prstGeom prst="rect">
            <a:avLst/>
          </a:prstGeom>
          <a:noFill/>
        </p:spPr>
        <p:txBody>
          <a:bodyPr wrap="square" anchor="t">
            <a:spAutoFit/>
          </a:bodyPr>
          <a:lstStyle/>
          <a:p>
            <a:pPr algn="l">
              <a:spcAft>
                <a:spcPts val="400"/>
              </a:spcAft>
            </a:pPr>
            <a:r>
              <a:rPr sz="1200" b="1">
                <a:solidFill>
                  <a:srgbClr val="1F6FEB"/>
                </a:solidFill>
                <a:latin typeface="Arial"/>
              </a:rPr>
              <a:t>YOU'LL BUILD</a:t>
            </a:r>
          </a:p>
        </p:txBody>
      </p:sp>
      <p:sp>
        <p:nvSpPr>
          <p:cNvPr id="14" name="TextBox 13"/>
          <p:cNvSpPr txBox="1"/>
          <p:nvPr/>
        </p:nvSpPr>
        <p:spPr>
          <a:xfrm>
            <a:off x="960120" y="4137279"/>
            <a:ext cx="5166360" cy="619125"/>
          </a:xfrm>
          <a:prstGeom prst="rect">
            <a:avLst/>
          </a:prstGeom>
          <a:noFill/>
        </p:spPr>
        <p:txBody>
          <a:bodyPr wrap="square" anchor="t">
            <a:spAutoFit/>
          </a:bodyPr>
          <a:lstStyle/>
          <a:p>
            <a:pPr algn="l">
              <a:spcAft>
                <a:spcPts val="400"/>
              </a:spcAft>
            </a:pPr>
            <a:r>
              <a:rPr sz="1250" b="1">
                <a:solidFill>
                  <a:srgbClr val="161B26"/>
                </a:solidFill>
                <a:latin typeface="Arial"/>
              </a:rPr>
              <a:t>A named, MFA-aware, least-privilege 'devops' CLI profile plus a Git repo with a secrets-safe.gitignore, verified with an AWS caller-identity check and a clean secret scan.</a:t>
            </a:r>
          </a:p>
        </p:txBody>
      </p:sp>
      <p:sp>
        <p:nvSpPr>
          <p:cNvPr id="15" name="TextBox 14"/>
          <p:cNvSpPr txBox="1"/>
          <p:nvPr/>
        </p:nvSpPr>
        <p:spPr>
          <a:xfrm>
            <a:off x="960120" y="4811268"/>
            <a:ext cx="5166360" cy="173355"/>
          </a:xfrm>
          <a:prstGeom prst="rect">
            <a:avLst/>
          </a:prstGeom>
          <a:noFill/>
        </p:spPr>
        <p:txBody>
          <a:bodyPr wrap="square" anchor="t">
            <a:spAutoFit/>
          </a:bodyPr>
          <a:lstStyle/>
          <a:p>
            <a:pPr algn="l">
              <a:spcAft>
                <a:spcPts val="400"/>
              </a:spcAft>
            </a:pPr>
            <a:r>
              <a:rPr sz="1050" b="0">
                <a:solidFill>
                  <a:srgbClr val="5B6372"/>
                </a:solidFill>
                <a:latin typeface="Arial"/>
              </a:rPr>
              <a:t>Tools:  AWS IAM, AWS CLI v2, IAM Identity Center, CloudShell, Git</a:t>
            </a:r>
          </a:p>
        </p:txBody>
      </p:sp>
      <p:sp>
        <p:nvSpPr>
          <p:cNvPr id="16" name="Rectangle 15"/>
          <p:cNvSpPr/>
          <p:nvPr/>
        </p:nvSpPr>
        <p:spPr>
          <a:xfrm>
            <a:off x="777240" y="5222367"/>
            <a:ext cx="5486400" cy="110528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222367"/>
            <a:ext cx="91440" cy="11052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5350383"/>
            <a:ext cx="5120640" cy="274320"/>
          </a:xfrm>
          <a:prstGeom prst="rect">
            <a:avLst/>
          </a:prstGeom>
          <a:noFill/>
        </p:spPr>
        <p:txBody>
          <a:bodyPr wrap="square" anchor="t">
            <a:spAutoFit/>
          </a:bodyPr>
          <a:lstStyle/>
          <a:p>
            <a:pPr algn="l">
              <a:spcAft>
                <a:spcPts val="400"/>
              </a:spcAft>
            </a:pPr>
            <a:r>
              <a:rPr sz="1200" b="1">
                <a:solidFill>
                  <a:srgbClr val="10B981"/>
                </a:solidFill>
                <a:latin typeface="Arial"/>
              </a:rPr>
              <a:t>OUTCOME &amp; EVIDENCE</a:t>
            </a:r>
          </a:p>
        </p:txBody>
      </p:sp>
      <p:sp>
        <p:nvSpPr>
          <p:cNvPr id="19" name="TextBox 18"/>
          <p:cNvSpPr txBox="1"/>
          <p:nvPr/>
        </p:nvSpPr>
        <p:spPr>
          <a:xfrm>
            <a:off x="960120" y="5624703"/>
            <a:ext cx="5166360" cy="520065"/>
          </a:xfrm>
          <a:prstGeom prst="rect">
            <a:avLst/>
          </a:prstGeom>
          <a:noFill/>
        </p:spPr>
        <p:txBody>
          <a:bodyPr wrap="square" anchor="t">
            <a:spAutoFit/>
          </a:bodyPr>
          <a:lstStyle/>
          <a:p>
            <a:pPr algn="l">
              <a:spcAft>
                <a:spcPts val="300"/>
              </a:spcAft>
            </a:pPr>
            <a:r>
              <a:rPr sz="1050" b="0">
                <a:solidFill>
                  <a:srgbClr val="5B6372"/>
                </a:solidFill>
                <a:latin typeface="Arial"/>
              </a:rPr>
              <a:t>Outcome:  Stand up a least-privilege AWS CLI/Git workspace and confirm your identity.</a:t>
            </a:r>
          </a:p>
          <a:p>
            <a:pPr algn="l">
              <a:spcAft>
                <a:spcPts val="300"/>
              </a:spcAft>
            </a:pPr>
            <a:r>
              <a:rPr sz="1050" b="0">
                <a:solidFill>
                  <a:srgbClr val="5B6372"/>
                </a:solidFill>
                <a:latin typeface="Arial"/>
              </a:rPr>
              <a:t>Evidence:  Screenshot of showing your own Account and ARN.</a:t>
            </a:r>
          </a:p>
        </p:txBody>
      </p:sp>
      <p:sp>
        <p:nvSpPr>
          <p:cNvPr id="20" name="Rectangle 19"/>
          <p:cNvSpPr/>
          <p:nvPr/>
        </p:nvSpPr>
        <p:spPr>
          <a:xfrm>
            <a:off x="6446520" y="1783080"/>
            <a:ext cx="5029200" cy="290140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ab-01-safe-env-identity.jpg"/>
          <p:cNvPicPr>
            <a:picLocks noChangeAspect="1"/>
          </p:cNvPicPr>
          <p:nvPr/>
        </p:nvPicPr>
        <p:blipFill>
          <a:blip r:embed="rId2"/>
          <a:stretch>
            <a:fillRect/>
          </a:stretch>
        </p:blipFill>
        <p:spPr>
          <a:xfrm>
            <a:off x="6492240" y="1828800"/>
            <a:ext cx="4937760" cy="2809963"/>
          </a:xfrm>
          <a:prstGeom prst="rect">
            <a:avLst/>
          </a:prstGeom>
        </p:spPr>
      </p:pic>
      <p:sp>
        <p:nvSpPr>
          <p:cNvPr id="22" name="TextBox 21"/>
          <p:cNvSpPr txBox="1"/>
          <p:nvPr/>
        </p:nvSpPr>
        <p:spPr>
          <a:xfrm>
            <a:off x="6492240" y="4730203"/>
            <a:ext cx="4937760" cy="365760"/>
          </a:xfrm>
          <a:prstGeom prst="rect">
            <a:avLst/>
          </a:prstGeom>
          <a:noFill/>
        </p:spPr>
        <p:txBody>
          <a:bodyPr wrap="square" anchor="t">
            <a:spAutoFit/>
          </a:bodyPr>
          <a:lstStyle/>
          <a:p>
            <a:pPr algn="ctr">
              <a:spcAft>
                <a:spcPts val="400"/>
              </a:spcAft>
            </a:pPr>
            <a:r>
              <a:rPr sz="1100" b="1">
                <a:solidFill>
                  <a:srgbClr val="5B6372"/>
                </a:solidFill>
                <a:latin typeface="Arial"/>
              </a:rPr>
              <a:t>Reference architecture</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142</a:t>
            </a:r>
          </a:p>
        </p:txBody>
      </p:sp>
    </p:spTree>
  </p:cSld>
  <p:clrMapOvr>
    <a:masterClrMapping/>
  </p:clrMapOvr>
  <p:transition xmlns:p14="http://schemas.microsoft.com/office/powerpoint/2010/main" p14:dur="380">
    <p:fade/>
  </p:transition>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LAB 2 · DAY 1 · LO1 · HANDS-ON</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100" b="1">
                <a:solidFill>
                  <a:srgbClr val="161B26"/>
                </a:solidFill>
                <a:latin typeface="Arial"/>
              </a:rPr>
              <a:t>Establish a Source-Control Workflow and Branching for the Sample App</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37360"/>
            <a:ext cx="1417320"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83080"/>
            <a:ext cx="1417320" cy="365760"/>
          </a:xfrm>
          <a:prstGeom prst="rect">
            <a:avLst/>
          </a:prstGeom>
          <a:noFill/>
        </p:spPr>
        <p:txBody>
          <a:bodyPr wrap="square" anchor="t">
            <a:spAutoFit/>
          </a:bodyPr>
          <a:lstStyle/>
          <a:p>
            <a:pPr algn="ctr">
              <a:spcAft>
                <a:spcPts val="400"/>
              </a:spcAft>
            </a:pPr>
            <a:r>
              <a:rPr sz="1600" b="1">
                <a:solidFill>
                  <a:srgbClr val="FFFFFF"/>
                </a:solidFill>
                <a:latin typeface="Arial"/>
              </a:rPr>
              <a:t>LAB 2</a:t>
            </a:r>
          </a:p>
        </p:txBody>
      </p:sp>
      <p:sp>
        <p:nvSpPr>
          <p:cNvPr id="9" name="TextBox 8"/>
          <p:cNvSpPr txBox="1"/>
          <p:nvPr/>
        </p:nvSpPr>
        <p:spPr>
          <a:xfrm>
            <a:off x="2514600" y="1783080"/>
            <a:ext cx="3749039" cy="365760"/>
          </a:xfrm>
          <a:prstGeom prst="rect">
            <a:avLst/>
          </a:prstGeom>
          <a:noFill/>
        </p:spPr>
        <p:txBody>
          <a:bodyPr wrap="square" anchor="t">
            <a:spAutoFit/>
          </a:bodyPr>
          <a:lstStyle/>
          <a:p>
            <a:pPr algn="l">
              <a:spcAft>
                <a:spcPts val="400"/>
              </a:spcAft>
            </a:pPr>
            <a:r>
              <a:rPr sz="1150" b="1">
                <a:solidFill>
                  <a:srgbClr val="5B6372"/>
                </a:solidFill>
                <a:latin typeface="Arial"/>
              </a:rPr>
              <a:t>Day 1 · LO1 · K1, A1</a:t>
            </a:r>
          </a:p>
        </p:txBody>
      </p:sp>
      <p:sp>
        <p:nvSpPr>
          <p:cNvPr id="10" name="TextBox 9"/>
          <p:cNvSpPr txBox="1"/>
          <p:nvPr/>
        </p:nvSpPr>
        <p:spPr>
          <a:xfrm>
            <a:off x="777240" y="2286000"/>
            <a:ext cx="5486400" cy="992505"/>
          </a:xfrm>
          <a:prstGeom prst="rect">
            <a:avLst/>
          </a:prstGeom>
          <a:noFill/>
        </p:spPr>
        <p:txBody>
          <a:bodyPr wrap="square" anchor="t">
            <a:spAutoFit/>
          </a:bodyPr>
          <a:lstStyle/>
          <a:p>
            <a:pPr algn="l">
              <a:spcAft>
                <a:spcPts val="400"/>
              </a:spcAft>
            </a:pPr>
            <a:r>
              <a:rPr sz="1350" b="0">
                <a:solidFill>
                  <a:srgbClr val="161B26"/>
                </a:solidFill>
                <a:latin typeface="Arial"/>
              </a:rPr>
              <a:t>Good delivery starts with disciplined source control.</a:t>
            </a:r>
          </a:p>
        </p:txBody>
      </p:sp>
      <p:sp>
        <p:nvSpPr>
          <p:cNvPr id="11" name="Rectangle 10"/>
          <p:cNvSpPr/>
          <p:nvPr/>
        </p:nvSpPr>
        <p:spPr>
          <a:xfrm>
            <a:off x="777240" y="3388233"/>
            <a:ext cx="5486400" cy="155105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388233"/>
            <a:ext cx="91440" cy="155105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3516249"/>
            <a:ext cx="5120640" cy="274320"/>
          </a:xfrm>
          <a:prstGeom prst="rect">
            <a:avLst/>
          </a:prstGeom>
          <a:noFill/>
        </p:spPr>
        <p:txBody>
          <a:bodyPr wrap="square" anchor="t">
            <a:spAutoFit/>
          </a:bodyPr>
          <a:lstStyle/>
          <a:p>
            <a:pPr algn="l">
              <a:spcAft>
                <a:spcPts val="400"/>
              </a:spcAft>
            </a:pPr>
            <a:r>
              <a:rPr sz="1200" b="1">
                <a:solidFill>
                  <a:srgbClr val="1F6FEB"/>
                </a:solidFill>
                <a:latin typeface="Arial"/>
              </a:rPr>
              <a:t>YOU'LL BUILD</a:t>
            </a:r>
          </a:p>
        </p:txBody>
      </p:sp>
      <p:sp>
        <p:nvSpPr>
          <p:cNvPr id="14" name="TextBox 13"/>
          <p:cNvSpPr txBox="1"/>
          <p:nvPr/>
        </p:nvSpPr>
        <p:spPr>
          <a:xfrm>
            <a:off x="960120" y="3790569"/>
            <a:ext cx="5166360" cy="619125"/>
          </a:xfrm>
          <a:prstGeom prst="rect">
            <a:avLst/>
          </a:prstGeom>
          <a:noFill/>
        </p:spPr>
        <p:txBody>
          <a:bodyPr wrap="square" anchor="t">
            <a:spAutoFit/>
          </a:bodyPr>
          <a:lstStyle/>
          <a:p>
            <a:pPr algn="l">
              <a:spcAft>
                <a:spcPts val="400"/>
              </a:spcAft>
            </a:pPr>
            <a:r>
              <a:rPr sz="1250" b="1">
                <a:solidFill>
                  <a:srgbClr val="161B26"/>
                </a:solidFill>
                <a:latin typeface="Arial"/>
              </a:rPr>
              <a:t>A protected trunk-based GitHub repo with an open/merged PR, plus an AVAILABLE AWS CodeConnections connection to GitHub ready to drive CodeBuild and CodePipeline.</a:t>
            </a:r>
          </a:p>
        </p:txBody>
      </p:sp>
      <p:sp>
        <p:nvSpPr>
          <p:cNvPr id="15" name="TextBox 14"/>
          <p:cNvSpPr txBox="1"/>
          <p:nvPr/>
        </p:nvSpPr>
        <p:spPr>
          <a:xfrm>
            <a:off x="960120" y="4464558"/>
            <a:ext cx="5166360" cy="346710"/>
          </a:xfrm>
          <a:prstGeom prst="rect">
            <a:avLst/>
          </a:prstGeom>
          <a:noFill/>
        </p:spPr>
        <p:txBody>
          <a:bodyPr wrap="square" anchor="t">
            <a:spAutoFit/>
          </a:bodyPr>
          <a:lstStyle/>
          <a:p>
            <a:pPr algn="l">
              <a:spcAft>
                <a:spcPts val="400"/>
              </a:spcAft>
            </a:pPr>
            <a:r>
              <a:rPr sz="1050" b="0">
                <a:solidFill>
                  <a:srgbClr val="5B6372"/>
                </a:solidFill>
                <a:latin typeface="Arial"/>
              </a:rPr>
              <a:t>Tools:  GitHub, AWS CodeConnections, Git, AWS CodePipeline (source stage)</a:t>
            </a:r>
          </a:p>
        </p:txBody>
      </p:sp>
      <p:sp>
        <p:nvSpPr>
          <p:cNvPr id="16" name="Rectangle 15"/>
          <p:cNvSpPr/>
          <p:nvPr/>
        </p:nvSpPr>
        <p:spPr>
          <a:xfrm>
            <a:off x="777240" y="5049012"/>
            <a:ext cx="5486400" cy="1278636"/>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049012"/>
            <a:ext cx="91440" cy="127863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5177028"/>
            <a:ext cx="5120640" cy="274320"/>
          </a:xfrm>
          <a:prstGeom prst="rect">
            <a:avLst/>
          </a:prstGeom>
          <a:noFill/>
        </p:spPr>
        <p:txBody>
          <a:bodyPr wrap="square" anchor="t">
            <a:spAutoFit/>
          </a:bodyPr>
          <a:lstStyle/>
          <a:p>
            <a:pPr algn="l">
              <a:spcAft>
                <a:spcPts val="400"/>
              </a:spcAft>
            </a:pPr>
            <a:r>
              <a:rPr sz="1200" b="1">
                <a:solidFill>
                  <a:srgbClr val="10B981"/>
                </a:solidFill>
                <a:latin typeface="Arial"/>
              </a:rPr>
              <a:t>OUTCOME &amp; EVIDENCE</a:t>
            </a:r>
          </a:p>
        </p:txBody>
      </p:sp>
      <p:sp>
        <p:nvSpPr>
          <p:cNvPr id="19" name="TextBox 18"/>
          <p:cNvSpPr txBox="1"/>
          <p:nvPr/>
        </p:nvSpPr>
        <p:spPr>
          <a:xfrm>
            <a:off x="960120" y="5451348"/>
            <a:ext cx="5166360" cy="693420"/>
          </a:xfrm>
          <a:prstGeom prst="rect">
            <a:avLst/>
          </a:prstGeom>
          <a:noFill/>
        </p:spPr>
        <p:txBody>
          <a:bodyPr wrap="square" anchor="t">
            <a:spAutoFit/>
          </a:bodyPr>
          <a:lstStyle/>
          <a:p>
            <a:pPr algn="l">
              <a:spcAft>
                <a:spcPts val="300"/>
              </a:spcAft>
            </a:pPr>
            <a:r>
              <a:rPr sz="1050" b="0">
                <a:solidFill>
                  <a:srgbClr val="5B6372"/>
                </a:solidFill>
                <a:latin typeface="Arial"/>
              </a:rPr>
              <a:t>Outcome:  Adopt a trunk-based Git workflow and connect the repository to AWS with CodeConnections.</a:t>
            </a:r>
          </a:p>
          <a:p>
            <a:pPr algn="l">
              <a:spcAft>
                <a:spcPts val="300"/>
              </a:spcAft>
            </a:pPr>
            <a:r>
              <a:rPr sz="1050" b="0">
                <a:solidFill>
                  <a:srgbClr val="5B6372"/>
                </a:solidFill>
                <a:latin typeface="Arial"/>
              </a:rPr>
              <a:t>Evidence:  The GitHub PR page for feature/bump-version showing the diff and an approving review.</a:t>
            </a:r>
          </a:p>
        </p:txBody>
      </p:sp>
      <p:sp>
        <p:nvSpPr>
          <p:cNvPr id="20" name="Rectangle 19"/>
          <p:cNvSpPr/>
          <p:nvPr/>
        </p:nvSpPr>
        <p:spPr>
          <a:xfrm>
            <a:off x="6446520" y="1783080"/>
            <a:ext cx="5029200" cy="290140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ab-02-source-workflow-branching.jpg"/>
          <p:cNvPicPr>
            <a:picLocks noChangeAspect="1"/>
          </p:cNvPicPr>
          <p:nvPr/>
        </p:nvPicPr>
        <p:blipFill>
          <a:blip r:embed="rId2"/>
          <a:stretch>
            <a:fillRect/>
          </a:stretch>
        </p:blipFill>
        <p:spPr>
          <a:xfrm>
            <a:off x="6492240" y="1828800"/>
            <a:ext cx="4937760" cy="2809963"/>
          </a:xfrm>
          <a:prstGeom prst="rect">
            <a:avLst/>
          </a:prstGeom>
        </p:spPr>
      </p:pic>
      <p:sp>
        <p:nvSpPr>
          <p:cNvPr id="22" name="TextBox 21"/>
          <p:cNvSpPr txBox="1"/>
          <p:nvPr/>
        </p:nvSpPr>
        <p:spPr>
          <a:xfrm>
            <a:off x="6492240" y="4730203"/>
            <a:ext cx="4937760" cy="365760"/>
          </a:xfrm>
          <a:prstGeom prst="rect">
            <a:avLst/>
          </a:prstGeom>
          <a:noFill/>
        </p:spPr>
        <p:txBody>
          <a:bodyPr wrap="square" anchor="t">
            <a:spAutoFit/>
          </a:bodyPr>
          <a:lstStyle/>
          <a:p>
            <a:pPr algn="ctr">
              <a:spcAft>
                <a:spcPts val="400"/>
              </a:spcAft>
            </a:pPr>
            <a:r>
              <a:rPr sz="1100" b="1">
                <a:solidFill>
                  <a:srgbClr val="5B6372"/>
                </a:solidFill>
                <a:latin typeface="Arial"/>
              </a:rPr>
              <a:t>Reference architecture</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143</a:t>
            </a:r>
          </a:p>
        </p:txBody>
      </p:sp>
    </p:spTree>
  </p:cSld>
  <p:clrMapOvr>
    <a:masterClrMapping/>
  </p:clrMapOvr>
  <p:transition xmlns:p14="http://schemas.microsoft.com/office/powerpoint/2010/main" p14:dur="380">
    <p:fade/>
  </p:transition>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LAB 3 · DAY 1 · LO1 · HANDS-ON</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700" b="1">
                <a:solidFill>
                  <a:srgbClr val="161B26"/>
                </a:solidFill>
                <a:latin typeface="Arial"/>
              </a:rPr>
              <a:t>Run Automated Tests on Every Commit with AWS CodeBuild</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37360"/>
            <a:ext cx="1417320"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83080"/>
            <a:ext cx="1417320" cy="365760"/>
          </a:xfrm>
          <a:prstGeom prst="rect">
            <a:avLst/>
          </a:prstGeom>
          <a:noFill/>
        </p:spPr>
        <p:txBody>
          <a:bodyPr wrap="square" anchor="t">
            <a:spAutoFit/>
          </a:bodyPr>
          <a:lstStyle/>
          <a:p>
            <a:pPr algn="ctr">
              <a:spcAft>
                <a:spcPts val="400"/>
              </a:spcAft>
            </a:pPr>
            <a:r>
              <a:rPr sz="1600" b="1">
                <a:solidFill>
                  <a:srgbClr val="FFFFFF"/>
                </a:solidFill>
                <a:latin typeface="Arial"/>
              </a:rPr>
              <a:t>LAB 3</a:t>
            </a:r>
          </a:p>
        </p:txBody>
      </p:sp>
      <p:sp>
        <p:nvSpPr>
          <p:cNvPr id="9" name="TextBox 8"/>
          <p:cNvSpPr txBox="1"/>
          <p:nvPr/>
        </p:nvSpPr>
        <p:spPr>
          <a:xfrm>
            <a:off x="2514600" y="1783080"/>
            <a:ext cx="3749039" cy="365760"/>
          </a:xfrm>
          <a:prstGeom prst="rect">
            <a:avLst/>
          </a:prstGeom>
          <a:noFill/>
        </p:spPr>
        <p:txBody>
          <a:bodyPr wrap="square" anchor="t">
            <a:spAutoFit/>
          </a:bodyPr>
          <a:lstStyle/>
          <a:p>
            <a:pPr algn="l">
              <a:spcAft>
                <a:spcPts val="400"/>
              </a:spcAft>
            </a:pPr>
            <a:r>
              <a:rPr sz="1150" b="1">
                <a:solidFill>
                  <a:srgbClr val="5B6372"/>
                </a:solidFill>
                <a:latin typeface="Arial"/>
              </a:rPr>
              <a:t>Day 1 · LO1 · K1, A1</a:t>
            </a:r>
          </a:p>
        </p:txBody>
      </p:sp>
      <p:sp>
        <p:nvSpPr>
          <p:cNvPr id="10" name="TextBox 9"/>
          <p:cNvSpPr txBox="1"/>
          <p:nvPr/>
        </p:nvSpPr>
        <p:spPr>
          <a:xfrm>
            <a:off x="777240" y="2286000"/>
            <a:ext cx="5486400" cy="1372235"/>
          </a:xfrm>
          <a:prstGeom prst="rect">
            <a:avLst/>
          </a:prstGeom>
          <a:noFill/>
        </p:spPr>
        <p:txBody>
          <a:bodyPr wrap="square" anchor="t">
            <a:spAutoFit/>
          </a:bodyPr>
          <a:lstStyle/>
          <a:p>
            <a:pPr algn="l">
              <a:spcAft>
                <a:spcPts val="400"/>
              </a:spcAft>
            </a:pPr>
            <a:r>
              <a:rPr sz="1350" b="0">
                <a:solidFill>
                  <a:srgbClr val="161B26"/>
                </a:solidFill>
                <a:latin typeface="Arial"/>
              </a:rPr>
              <a:t>Automated tests are the gate that keeps broken code out of production.</a:t>
            </a:r>
          </a:p>
        </p:txBody>
      </p:sp>
      <p:sp>
        <p:nvSpPr>
          <p:cNvPr id="11" name="Rectangle 10"/>
          <p:cNvSpPr/>
          <p:nvPr/>
        </p:nvSpPr>
        <p:spPr>
          <a:xfrm>
            <a:off x="777240" y="3767963"/>
            <a:ext cx="5486400" cy="117132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767963"/>
            <a:ext cx="91440" cy="117132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3895979"/>
            <a:ext cx="5120640" cy="274320"/>
          </a:xfrm>
          <a:prstGeom prst="rect">
            <a:avLst/>
          </a:prstGeom>
          <a:noFill/>
        </p:spPr>
        <p:txBody>
          <a:bodyPr wrap="square" anchor="t">
            <a:spAutoFit/>
          </a:bodyPr>
          <a:lstStyle/>
          <a:p>
            <a:pPr algn="l">
              <a:spcAft>
                <a:spcPts val="400"/>
              </a:spcAft>
            </a:pPr>
            <a:r>
              <a:rPr sz="1200" b="1">
                <a:solidFill>
                  <a:srgbClr val="1F6FEB"/>
                </a:solidFill>
                <a:latin typeface="Arial"/>
              </a:rPr>
              <a:t>YOU'LL BUILD</a:t>
            </a:r>
          </a:p>
        </p:txBody>
      </p:sp>
      <p:sp>
        <p:nvSpPr>
          <p:cNvPr id="14" name="TextBox 13"/>
          <p:cNvSpPr txBox="1"/>
          <p:nvPr/>
        </p:nvSpPr>
        <p:spPr>
          <a:xfrm>
            <a:off x="960120" y="4170299"/>
            <a:ext cx="5166360" cy="412750"/>
          </a:xfrm>
          <a:prstGeom prst="rect">
            <a:avLst/>
          </a:prstGeom>
          <a:noFill/>
        </p:spPr>
        <p:txBody>
          <a:bodyPr wrap="square" anchor="t">
            <a:spAutoFit/>
          </a:bodyPr>
          <a:lstStyle/>
          <a:p>
            <a:pPr algn="l">
              <a:spcAft>
                <a:spcPts val="400"/>
              </a:spcAft>
            </a:pPr>
            <a:r>
              <a:rPr sz="1250" b="1">
                <a:solidFill>
                  <a:srgbClr val="161B26"/>
                </a:solidFill>
                <a:latin typeface="Arial"/>
              </a:rPr>
              <a:t>A CodeBuild project that runs the linter and, streams phase logs to CloudWatch, and fails loudly when a test is broken.</a:t>
            </a:r>
          </a:p>
        </p:txBody>
      </p:sp>
      <p:sp>
        <p:nvSpPr>
          <p:cNvPr id="15" name="TextBox 14"/>
          <p:cNvSpPr txBox="1"/>
          <p:nvPr/>
        </p:nvSpPr>
        <p:spPr>
          <a:xfrm>
            <a:off x="960120" y="4637913"/>
            <a:ext cx="5166360" cy="173355"/>
          </a:xfrm>
          <a:prstGeom prst="rect">
            <a:avLst/>
          </a:prstGeom>
          <a:noFill/>
        </p:spPr>
        <p:txBody>
          <a:bodyPr wrap="square" anchor="t">
            <a:spAutoFit/>
          </a:bodyPr>
          <a:lstStyle/>
          <a:p>
            <a:pPr algn="l">
              <a:spcAft>
                <a:spcPts val="400"/>
              </a:spcAft>
            </a:pPr>
            <a:r>
              <a:rPr sz="1050" b="0">
                <a:solidFill>
                  <a:srgbClr val="5B6372"/>
                </a:solidFill>
                <a:latin typeface="Arial"/>
              </a:rPr>
              <a:t>Tools:  AWS CodeBuild, Amazon S3, AWS IAM, Amazon CloudWatch Logs</a:t>
            </a:r>
          </a:p>
        </p:txBody>
      </p:sp>
      <p:sp>
        <p:nvSpPr>
          <p:cNvPr id="16" name="Rectangle 15"/>
          <p:cNvSpPr/>
          <p:nvPr/>
        </p:nvSpPr>
        <p:spPr>
          <a:xfrm>
            <a:off x="777240" y="5049012"/>
            <a:ext cx="5486400" cy="1278636"/>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049012"/>
            <a:ext cx="91440" cy="127863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5177028"/>
            <a:ext cx="5120640" cy="274320"/>
          </a:xfrm>
          <a:prstGeom prst="rect">
            <a:avLst/>
          </a:prstGeom>
          <a:noFill/>
        </p:spPr>
        <p:txBody>
          <a:bodyPr wrap="square" anchor="t">
            <a:spAutoFit/>
          </a:bodyPr>
          <a:lstStyle/>
          <a:p>
            <a:pPr algn="l">
              <a:spcAft>
                <a:spcPts val="400"/>
              </a:spcAft>
            </a:pPr>
            <a:r>
              <a:rPr sz="1200" b="1">
                <a:solidFill>
                  <a:srgbClr val="10B981"/>
                </a:solidFill>
                <a:latin typeface="Arial"/>
              </a:rPr>
              <a:t>OUTCOME &amp; EVIDENCE</a:t>
            </a:r>
          </a:p>
        </p:txBody>
      </p:sp>
      <p:sp>
        <p:nvSpPr>
          <p:cNvPr id="19" name="TextBox 18"/>
          <p:cNvSpPr txBox="1"/>
          <p:nvPr/>
        </p:nvSpPr>
        <p:spPr>
          <a:xfrm>
            <a:off x="960120" y="5451348"/>
            <a:ext cx="5166360" cy="693420"/>
          </a:xfrm>
          <a:prstGeom prst="rect">
            <a:avLst/>
          </a:prstGeom>
          <a:noFill/>
        </p:spPr>
        <p:txBody>
          <a:bodyPr wrap="square" anchor="t">
            <a:spAutoFit/>
          </a:bodyPr>
          <a:lstStyle/>
          <a:p>
            <a:pPr algn="l">
              <a:spcAft>
                <a:spcPts val="300"/>
              </a:spcAft>
            </a:pPr>
            <a:r>
              <a:rPr sz="1050" b="0">
                <a:solidFill>
                  <a:srgbClr val="5B6372"/>
                </a:solidFill>
                <a:latin typeface="Arial"/>
              </a:rPr>
              <a:t>Outcome:  Author a buildspec and a CodeBuild project that automatically lints and tests the app.</a:t>
            </a:r>
          </a:p>
          <a:p>
            <a:pPr algn="l">
              <a:spcAft>
                <a:spcPts val="300"/>
              </a:spcAft>
            </a:pPr>
            <a:r>
              <a:rPr sz="1050" b="0">
                <a:solidFill>
                  <a:srgbClr val="5B6372"/>
                </a:solidFill>
                <a:latin typeface="Arial"/>
              </a:rPr>
              <a:t>Evidence:  The CodeBuild build page showing buildStatus SUCCEEDED with INSTALL/PRE_BUILD/BUILD green.</a:t>
            </a:r>
          </a:p>
        </p:txBody>
      </p:sp>
      <p:sp>
        <p:nvSpPr>
          <p:cNvPr id="20" name="Rectangle 19"/>
          <p:cNvSpPr/>
          <p:nvPr/>
        </p:nvSpPr>
        <p:spPr>
          <a:xfrm>
            <a:off x="6446520" y="1783080"/>
            <a:ext cx="5029200" cy="290140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ab-03-codebuild-automated-tests.jpg"/>
          <p:cNvPicPr>
            <a:picLocks noChangeAspect="1"/>
          </p:cNvPicPr>
          <p:nvPr/>
        </p:nvPicPr>
        <p:blipFill>
          <a:blip r:embed="rId2"/>
          <a:stretch>
            <a:fillRect/>
          </a:stretch>
        </p:blipFill>
        <p:spPr>
          <a:xfrm>
            <a:off x="6492240" y="1828800"/>
            <a:ext cx="4937760" cy="2809963"/>
          </a:xfrm>
          <a:prstGeom prst="rect">
            <a:avLst/>
          </a:prstGeom>
        </p:spPr>
      </p:pic>
      <p:sp>
        <p:nvSpPr>
          <p:cNvPr id="22" name="TextBox 21"/>
          <p:cNvSpPr txBox="1"/>
          <p:nvPr/>
        </p:nvSpPr>
        <p:spPr>
          <a:xfrm>
            <a:off x="6492240" y="4730203"/>
            <a:ext cx="4937760" cy="365760"/>
          </a:xfrm>
          <a:prstGeom prst="rect">
            <a:avLst/>
          </a:prstGeom>
          <a:noFill/>
        </p:spPr>
        <p:txBody>
          <a:bodyPr wrap="square" anchor="t">
            <a:spAutoFit/>
          </a:bodyPr>
          <a:lstStyle/>
          <a:p>
            <a:pPr algn="ctr">
              <a:spcAft>
                <a:spcPts val="400"/>
              </a:spcAft>
            </a:pPr>
            <a:r>
              <a:rPr sz="1100" b="1">
                <a:solidFill>
                  <a:srgbClr val="5B6372"/>
                </a:solidFill>
                <a:latin typeface="Arial"/>
              </a:rPr>
              <a:t>Reference architecture</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144</a:t>
            </a:r>
          </a:p>
        </p:txBody>
      </p:sp>
    </p:spTree>
  </p:cSld>
  <p:clrMapOvr>
    <a:masterClrMapping/>
  </p:clrMapOvr>
  <p:transition xmlns:p14="http://schemas.microsoft.com/office/powerpoint/2010/main" p14:dur="380">
    <p:fade/>
  </p:transition>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LAB 4 · DAY 1 · LO1 · HANDS-ON</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500" b="1">
                <a:solidFill>
                  <a:srgbClr val="161B26"/>
                </a:solidFill>
                <a:latin typeface="Arial"/>
              </a:rPr>
              <a:t>Produce and Store Versioned Build Artifacts with a Buildspec</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37360"/>
            <a:ext cx="1417320"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83080"/>
            <a:ext cx="1417320" cy="365760"/>
          </a:xfrm>
          <a:prstGeom prst="rect">
            <a:avLst/>
          </a:prstGeom>
          <a:noFill/>
        </p:spPr>
        <p:txBody>
          <a:bodyPr wrap="square" anchor="t">
            <a:spAutoFit/>
          </a:bodyPr>
          <a:lstStyle/>
          <a:p>
            <a:pPr algn="ctr">
              <a:spcAft>
                <a:spcPts val="400"/>
              </a:spcAft>
            </a:pPr>
            <a:r>
              <a:rPr sz="1600" b="1">
                <a:solidFill>
                  <a:srgbClr val="FFFFFF"/>
                </a:solidFill>
                <a:latin typeface="Arial"/>
              </a:rPr>
              <a:t>LAB 4</a:t>
            </a:r>
          </a:p>
        </p:txBody>
      </p:sp>
      <p:sp>
        <p:nvSpPr>
          <p:cNvPr id="9" name="TextBox 8"/>
          <p:cNvSpPr txBox="1"/>
          <p:nvPr/>
        </p:nvSpPr>
        <p:spPr>
          <a:xfrm>
            <a:off x="2514600" y="1783080"/>
            <a:ext cx="3749039" cy="365760"/>
          </a:xfrm>
          <a:prstGeom prst="rect">
            <a:avLst/>
          </a:prstGeom>
          <a:noFill/>
        </p:spPr>
        <p:txBody>
          <a:bodyPr wrap="square" anchor="t">
            <a:spAutoFit/>
          </a:bodyPr>
          <a:lstStyle/>
          <a:p>
            <a:pPr algn="l">
              <a:spcAft>
                <a:spcPts val="400"/>
              </a:spcAft>
            </a:pPr>
            <a:r>
              <a:rPr sz="1150" b="1">
                <a:solidFill>
                  <a:srgbClr val="5B6372"/>
                </a:solidFill>
                <a:latin typeface="Arial"/>
              </a:rPr>
              <a:t>Day 1 · LO1 · K1, A1</a:t>
            </a:r>
          </a:p>
        </p:txBody>
      </p:sp>
      <p:sp>
        <p:nvSpPr>
          <p:cNvPr id="10" name="TextBox 9"/>
          <p:cNvSpPr txBox="1"/>
          <p:nvPr/>
        </p:nvSpPr>
        <p:spPr>
          <a:xfrm>
            <a:off x="777240" y="2286000"/>
            <a:ext cx="5486400" cy="1339215"/>
          </a:xfrm>
          <a:prstGeom prst="rect">
            <a:avLst/>
          </a:prstGeom>
          <a:noFill/>
        </p:spPr>
        <p:txBody>
          <a:bodyPr wrap="square" anchor="t">
            <a:spAutoFit/>
          </a:bodyPr>
          <a:lstStyle/>
          <a:p>
            <a:pPr algn="l">
              <a:spcAft>
                <a:spcPts val="400"/>
              </a:spcAft>
            </a:pPr>
            <a:r>
              <a:rPr sz="1350" b="0">
                <a:solidFill>
                  <a:srgbClr val="161B26"/>
                </a:solidFill>
                <a:latin typeface="Arial"/>
              </a:rPr>
              <a:t>A pipeline is only trustworthy if you can identify and reproduce exactly what it built.</a:t>
            </a:r>
          </a:p>
        </p:txBody>
      </p:sp>
      <p:sp>
        <p:nvSpPr>
          <p:cNvPr id="11" name="Rectangle 10"/>
          <p:cNvSpPr/>
          <p:nvPr/>
        </p:nvSpPr>
        <p:spPr>
          <a:xfrm>
            <a:off x="777240" y="3734943"/>
            <a:ext cx="5486400" cy="13776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734943"/>
            <a:ext cx="91440" cy="13776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3862959"/>
            <a:ext cx="5120640" cy="274320"/>
          </a:xfrm>
          <a:prstGeom prst="rect">
            <a:avLst/>
          </a:prstGeom>
          <a:noFill/>
        </p:spPr>
        <p:txBody>
          <a:bodyPr wrap="square" anchor="t">
            <a:spAutoFit/>
          </a:bodyPr>
          <a:lstStyle/>
          <a:p>
            <a:pPr algn="l">
              <a:spcAft>
                <a:spcPts val="400"/>
              </a:spcAft>
            </a:pPr>
            <a:r>
              <a:rPr sz="1200" b="1">
                <a:solidFill>
                  <a:srgbClr val="1F6FEB"/>
                </a:solidFill>
                <a:latin typeface="Arial"/>
              </a:rPr>
              <a:t>YOU'LL BUILD</a:t>
            </a:r>
          </a:p>
        </p:txBody>
      </p:sp>
      <p:sp>
        <p:nvSpPr>
          <p:cNvPr id="14" name="TextBox 13"/>
          <p:cNvSpPr txBox="1"/>
          <p:nvPr/>
        </p:nvSpPr>
        <p:spPr>
          <a:xfrm>
            <a:off x="960120" y="4137279"/>
            <a:ext cx="5166360" cy="619125"/>
          </a:xfrm>
          <a:prstGeom prst="rect">
            <a:avLst/>
          </a:prstGeom>
          <a:noFill/>
        </p:spPr>
        <p:txBody>
          <a:bodyPr wrap="square" anchor="t">
            <a:spAutoFit/>
          </a:bodyPr>
          <a:lstStyle/>
          <a:p>
            <a:pPr algn="l">
              <a:spcAft>
                <a:spcPts val="400"/>
              </a:spcAft>
            </a:pPr>
            <a:r>
              <a:rPr sz="1250" b="1">
                <a:solidFill>
                  <a:srgbClr val="161B26"/>
                </a:solidFill>
                <a:latin typeface="Arial"/>
              </a:rPr>
              <a:t>An encrypted, version-enabled S3 artifact bucket holding immutable, commit/semver-named build artifacts that you can list, retrieve and reproduce.</a:t>
            </a:r>
          </a:p>
        </p:txBody>
      </p:sp>
      <p:sp>
        <p:nvSpPr>
          <p:cNvPr id="15" name="TextBox 14"/>
          <p:cNvSpPr txBox="1"/>
          <p:nvPr/>
        </p:nvSpPr>
        <p:spPr>
          <a:xfrm>
            <a:off x="960120" y="4811268"/>
            <a:ext cx="5166360" cy="173355"/>
          </a:xfrm>
          <a:prstGeom prst="rect">
            <a:avLst/>
          </a:prstGeom>
          <a:noFill/>
        </p:spPr>
        <p:txBody>
          <a:bodyPr wrap="square" anchor="t">
            <a:spAutoFit/>
          </a:bodyPr>
          <a:lstStyle/>
          <a:p>
            <a:pPr algn="l">
              <a:spcAft>
                <a:spcPts val="400"/>
              </a:spcAft>
            </a:pPr>
            <a:r>
              <a:rPr sz="1050" b="0">
                <a:solidFill>
                  <a:srgbClr val="5B6372"/>
                </a:solidFill>
                <a:latin typeface="Arial"/>
              </a:rPr>
              <a:t>Tools:  AWS CodeBuild, Amazon S3, AWS CodeArtifact, AWS IAM</a:t>
            </a:r>
          </a:p>
        </p:txBody>
      </p:sp>
      <p:sp>
        <p:nvSpPr>
          <p:cNvPr id="16" name="Rectangle 15"/>
          <p:cNvSpPr/>
          <p:nvPr/>
        </p:nvSpPr>
        <p:spPr>
          <a:xfrm>
            <a:off x="777240" y="5222367"/>
            <a:ext cx="5486400" cy="110528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222367"/>
            <a:ext cx="91440" cy="11052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5350383"/>
            <a:ext cx="5120640" cy="274320"/>
          </a:xfrm>
          <a:prstGeom prst="rect">
            <a:avLst/>
          </a:prstGeom>
          <a:noFill/>
        </p:spPr>
        <p:txBody>
          <a:bodyPr wrap="square" anchor="t">
            <a:spAutoFit/>
          </a:bodyPr>
          <a:lstStyle/>
          <a:p>
            <a:pPr algn="l">
              <a:spcAft>
                <a:spcPts val="400"/>
              </a:spcAft>
            </a:pPr>
            <a:r>
              <a:rPr sz="1200" b="1">
                <a:solidFill>
                  <a:srgbClr val="10B981"/>
                </a:solidFill>
                <a:latin typeface="Arial"/>
              </a:rPr>
              <a:t>OUTCOME &amp; EVIDENCE</a:t>
            </a:r>
          </a:p>
        </p:txBody>
      </p:sp>
      <p:sp>
        <p:nvSpPr>
          <p:cNvPr id="19" name="TextBox 18"/>
          <p:cNvSpPr txBox="1"/>
          <p:nvPr/>
        </p:nvSpPr>
        <p:spPr>
          <a:xfrm>
            <a:off x="960120" y="5624703"/>
            <a:ext cx="5166360" cy="520065"/>
          </a:xfrm>
          <a:prstGeom prst="rect">
            <a:avLst/>
          </a:prstGeom>
          <a:noFill/>
        </p:spPr>
        <p:txBody>
          <a:bodyPr wrap="square" anchor="t">
            <a:spAutoFit/>
          </a:bodyPr>
          <a:lstStyle/>
          <a:p>
            <a:pPr algn="l">
              <a:spcAft>
                <a:spcPts val="300"/>
              </a:spcAft>
            </a:pPr>
            <a:r>
              <a:rPr sz="1050" b="0">
                <a:solidFill>
                  <a:srgbClr val="5B6372"/>
                </a:solidFill>
                <a:latin typeface="Arial"/>
              </a:rPr>
              <a:t>Outcome:  Extend the buildspec to package versioned artifacts and store them in an encrypted, versioned bucket.</a:t>
            </a:r>
          </a:p>
          <a:p>
            <a:pPr algn="l">
              <a:spcAft>
                <a:spcPts val="300"/>
              </a:spcAft>
            </a:pPr>
            <a:r>
              <a:rPr sz="1050" b="0">
                <a:solidFill>
                  <a:srgbClr val="5B6372"/>
                </a:solidFill>
                <a:latin typeface="Arial"/>
              </a:rPr>
              <a:t>Evidence:  output showing Status: Enabled.</a:t>
            </a:r>
          </a:p>
        </p:txBody>
      </p:sp>
      <p:sp>
        <p:nvSpPr>
          <p:cNvPr id="20" name="Rectangle 19"/>
          <p:cNvSpPr/>
          <p:nvPr/>
        </p:nvSpPr>
        <p:spPr>
          <a:xfrm>
            <a:off x="6446520" y="1783080"/>
            <a:ext cx="5029200" cy="290140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ab-04-versioned-artifacts-buildspec.jpg"/>
          <p:cNvPicPr>
            <a:picLocks noChangeAspect="1"/>
          </p:cNvPicPr>
          <p:nvPr/>
        </p:nvPicPr>
        <p:blipFill>
          <a:blip r:embed="rId2"/>
          <a:stretch>
            <a:fillRect/>
          </a:stretch>
        </p:blipFill>
        <p:spPr>
          <a:xfrm>
            <a:off x="6492240" y="1828800"/>
            <a:ext cx="4937760" cy="2809963"/>
          </a:xfrm>
          <a:prstGeom prst="rect">
            <a:avLst/>
          </a:prstGeom>
        </p:spPr>
      </p:pic>
      <p:sp>
        <p:nvSpPr>
          <p:cNvPr id="22" name="TextBox 21"/>
          <p:cNvSpPr txBox="1"/>
          <p:nvPr/>
        </p:nvSpPr>
        <p:spPr>
          <a:xfrm>
            <a:off x="6492240" y="4730203"/>
            <a:ext cx="4937760" cy="365760"/>
          </a:xfrm>
          <a:prstGeom prst="rect">
            <a:avLst/>
          </a:prstGeom>
          <a:noFill/>
        </p:spPr>
        <p:txBody>
          <a:bodyPr wrap="square" anchor="t">
            <a:spAutoFit/>
          </a:bodyPr>
          <a:lstStyle/>
          <a:p>
            <a:pPr algn="ctr">
              <a:spcAft>
                <a:spcPts val="400"/>
              </a:spcAft>
            </a:pPr>
            <a:r>
              <a:rPr sz="1100" b="1">
                <a:solidFill>
                  <a:srgbClr val="5B6372"/>
                </a:solidFill>
                <a:latin typeface="Arial"/>
              </a:rPr>
              <a:t>Reference architecture</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145</a:t>
            </a:r>
          </a:p>
        </p:txBody>
      </p:sp>
    </p:spTree>
  </p:cSld>
  <p:clrMapOvr>
    <a:masterClrMapping/>
  </p:clrMapOvr>
  <p:transition xmlns:p14="http://schemas.microsoft.com/office/powerpoint/2010/main" p14:dur="380">
    <p:fade/>
  </p:transition>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LAB 5 · DAY 1 · LO1 · HANDS-ON</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100" b="1">
                <a:solidFill>
                  <a:srgbClr val="161B26"/>
                </a:solidFill>
                <a:latin typeface="Arial"/>
              </a:rPr>
              <a:t>Assemble a CodePipeline with Manual Approval and a Deployment Strategy</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37360"/>
            <a:ext cx="1417320"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83080"/>
            <a:ext cx="1417320" cy="365760"/>
          </a:xfrm>
          <a:prstGeom prst="rect">
            <a:avLst/>
          </a:prstGeom>
          <a:noFill/>
        </p:spPr>
        <p:txBody>
          <a:bodyPr wrap="square" anchor="t">
            <a:spAutoFit/>
          </a:bodyPr>
          <a:lstStyle/>
          <a:p>
            <a:pPr algn="ctr">
              <a:spcAft>
                <a:spcPts val="400"/>
              </a:spcAft>
            </a:pPr>
            <a:r>
              <a:rPr sz="1600" b="1">
                <a:solidFill>
                  <a:srgbClr val="FFFFFF"/>
                </a:solidFill>
                <a:latin typeface="Arial"/>
              </a:rPr>
              <a:t>LAB 5</a:t>
            </a:r>
          </a:p>
        </p:txBody>
      </p:sp>
      <p:sp>
        <p:nvSpPr>
          <p:cNvPr id="9" name="TextBox 8"/>
          <p:cNvSpPr txBox="1"/>
          <p:nvPr/>
        </p:nvSpPr>
        <p:spPr>
          <a:xfrm>
            <a:off x="2514600" y="1783080"/>
            <a:ext cx="3749039" cy="365760"/>
          </a:xfrm>
          <a:prstGeom prst="rect">
            <a:avLst/>
          </a:prstGeom>
          <a:noFill/>
        </p:spPr>
        <p:txBody>
          <a:bodyPr wrap="square" anchor="t">
            <a:spAutoFit/>
          </a:bodyPr>
          <a:lstStyle/>
          <a:p>
            <a:pPr algn="l">
              <a:spcAft>
                <a:spcPts val="400"/>
              </a:spcAft>
            </a:pPr>
            <a:r>
              <a:rPr sz="1150" b="1">
                <a:solidFill>
                  <a:srgbClr val="5B6372"/>
                </a:solidFill>
                <a:latin typeface="Arial"/>
              </a:rPr>
              <a:t>Day 1 · LO1 · K1, A1</a:t>
            </a:r>
          </a:p>
        </p:txBody>
      </p:sp>
      <p:sp>
        <p:nvSpPr>
          <p:cNvPr id="10" name="TextBox 9"/>
          <p:cNvSpPr txBox="1"/>
          <p:nvPr/>
        </p:nvSpPr>
        <p:spPr>
          <a:xfrm>
            <a:off x="777240" y="2286000"/>
            <a:ext cx="5486400" cy="992505"/>
          </a:xfrm>
          <a:prstGeom prst="rect">
            <a:avLst/>
          </a:prstGeom>
          <a:noFill/>
        </p:spPr>
        <p:txBody>
          <a:bodyPr wrap="square" anchor="t">
            <a:spAutoFit/>
          </a:bodyPr>
          <a:lstStyle/>
          <a:p>
            <a:pPr algn="l">
              <a:spcAft>
                <a:spcPts val="400"/>
              </a:spcAft>
            </a:pPr>
            <a:r>
              <a:rPr sz="1350" b="0">
                <a:solidFill>
                  <a:srgbClr val="161B26"/>
                </a:solidFill>
                <a:latin typeface="Arial"/>
              </a:rPr>
              <a:t>Now you connect everything into one governed release path.</a:t>
            </a:r>
          </a:p>
        </p:txBody>
      </p:sp>
      <p:sp>
        <p:nvSpPr>
          <p:cNvPr id="11" name="Rectangle 10"/>
          <p:cNvSpPr/>
          <p:nvPr/>
        </p:nvSpPr>
        <p:spPr>
          <a:xfrm>
            <a:off x="777240" y="3388233"/>
            <a:ext cx="5486400" cy="155105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388233"/>
            <a:ext cx="91440" cy="155105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3516249"/>
            <a:ext cx="5120640" cy="274320"/>
          </a:xfrm>
          <a:prstGeom prst="rect">
            <a:avLst/>
          </a:prstGeom>
          <a:noFill/>
        </p:spPr>
        <p:txBody>
          <a:bodyPr wrap="square" anchor="t">
            <a:spAutoFit/>
          </a:bodyPr>
          <a:lstStyle/>
          <a:p>
            <a:pPr algn="l">
              <a:spcAft>
                <a:spcPts val="400"/>
              </a:spcAft>
            </a:pPr>
            <a:r>
              <a:rPr sz="1200" b="1">
                <a:solidFill>
                  <a:srgbClr val="1F6FEB"/>
                </a:solidFill>
                <a:latin typeface="Arial"/>
              </a:rPr>
              <a:t>YOU'LL BUILD</a:t>
            </a:r>
          </a:p>
        </p:txBody>
      </p:sp>
      <p:sp>
        <p:nvSpPr>
          <p:cNvPr id="14" name="TextBox 13"/>
          <p:cNvSpPr txBox="1"/>
          <p:nvPr/>
        </p:nvSpPr>
        <p:spPr>
          <a:xfrm>
            <a:off x="960120" y="3790569"/>
            <a:ext cx="5166360" cy="619125"/>
          </a:xfrm>
          <a:prstGeom prst="rect">
            <a:avLst/>
          </a:prstGeom>
          <a:noFill/>
        </p:spPr>
        <p:txBody>
          <a:bodyPr wrap="square" anchor="t">
            <a:spAutoFit/>
          </a:bodyPr>
          <a:lstStyle/>
          <a:p>
            <a:pPr algn="l">
              <a:spcAft>
                <a:spcPts val="400"/>
              </a:spcAft>
            </a:pPr>
            <a:r>
              <a:rPr sz="1250" b="1">
                <a:solidFill>
                  <a:srgbClr val="161B26"/>
                </a:solidFill>
                <a:latin typeface="Arial"/>
              </a:rPr>
              <a:t>A four-stage CodePipeline (Source -&gt; Build -&gt; Approve -&gt; Deploy) with a manual approval gate, a chosen deployment strategy and alarm-based automatic rollback.</a:t>
            </a:r>
          </a:p>
        </p:txBody>
      </p:sp>
      <p:sp>
        <p:nvSpPr>
          <p:cNvPr id="15" name="TextBox 14"/>
          <p:cNvSpPr txBox="1"/>
          <p:nvPr/>
        </p:nvSpPr>
        <p:spPr>
          <a:xfrm>
            <a:off x="960120" y="4464558"/>
            <a:ext cx="5166360" cy="346710"/>
          </a:xfrm>
          <a:prstGeom prst="rect">
            <a:avLst/>
          </a:prstGeom>
          <a:noFill/>
        </p:spPr>
        <p:txBody>
          <a:bodyPr wrap="square" anchor="t">
            <a:spAutoFit/>
          </a:bodyPr>
          <a:lstStyle/>
          <a:p>
            <a:pPr algn="l">
              <a:spcAft>
                <a:spcPts val="400"/>
              </a:spcAft>
            </a:pPr>
            <a:r>
              <a:rPr sz="1050" b="0">
                <a:solidFill>
                  <a:srgbClr val="5B6372"/>
                </a:solidFill>
                <a:latin typeface="Arial"/>
              </a:rPr>
              <a:t>Tools:  AWS CodePipeline, CodeBuild, CodeDeploy, CodeConnections, Amazon S3 + 2 more</a:t>
            </a:r>
          </a:p>
        </p:txBody>
      </p:sp>
      <p:sp>
        <p:nvSpPr>
          <p:cNvPr id="16" name="Rectangle 15"/>
          <p:cNvSpPr/>
          <p:nvPr/>
        </p:nvSpPr>
        <p:spPr>
          <a:xfrm>
            <a:off x="777240" y="5049012"/>
            <a:ext cx="5486400" cy="1278636"/>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049012"/>
            <a:ext cx="91440" cy="127863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5177028"/>
            <a:ext cx="5120640" cy="274320"/>
          </a:xfrm>
          <a:prstGeom prst="rect">
            <a:avLst/>
          </a:prstGeom>
          <a:noFill/>
        </p:spPr>
        <p:txBody>
          <a:bodyPr wrap="square" anchor="t">
            <a:spAutoFit/>
          </a:bodyPr>
          <a:lstStyle/>
          <a:p>
            <a:pPr algn="l">
              <a:spcAft>
                <a:spcPts val="400"/>
              </a:spcAft>
            </a:pPr>
            <a:r>
              <a:rPr sz="1200" b="1">
                <a:solidFill>
                  <a:srgbClr val="10B981"/>
                </a:solidFill>
                <a:latin typeface="Arial"/>
              </a:rPr>
              <a:t>OUTCOME &amp; EVIDENCE</a:t>
            </a:r>
          </a:p>
        </p:txBody>
      </p:sp>
      <p:sp>
        <p:nvSpPr>
          <p:cNvPr id="19" name="TextBox 18"/>
          <p:cNvSpPr txBox="1"/>
          <p:nvPr/>
        </p:nvSpPr>
        <p:spPr>
          <a:xfrm>
            <a:off x="960120" y="5451348"/>
            <a:ext cx="5166360" cy="693420"/>
          </a:xfrm>
          <a:prstGeom prst="rect">
            <a:avLst/>
          </a:prstGeom>
          <a:noFill/>
        </p:spPr>
        <p:txBody>
          <a:bodyPr wrap="square" anchor="t">
            <a:spAutoFit/>
          </a:bodyPr>
          <a:lstStyle/>
          <a:p>
            <a:pPr algn="l">
              <a:spcAft>
                <a:spcPts val="300"/>
              </a:spcAft>
            </a:pPr>
            <a:r>
              <a:rPr sz="1050" b="0">
                <a:solidFill>
                  <a:srgbClr val="5B6372"/>
                </a:solidFill>
                <a:latin typeface="Arial"/>
              </a:rPr>
              <a:t>Outcome:  Wire an end-to-end pipeline with a manual approval gate, a deployment strategy and auto-rollback.</a:t>
            </a:r>
          </a:p>
          <a:p>
            <a:pPr algn="l">
              <a:spcAft>
                <a:spcPts val="300"/>
              </a:spcAft>
            </a:pPr>
            <a:r>
              <a:rPr sz="1050" b="0">
                <a:solidFill>
                  <a:srgbClr val="5B6372"/>
                </a:solidFill>
                <a:latin typeface="Arial"/>
              </a:rPr>
              <a:t>Evidence:  The CodePipeline view showing Source, Build, Approve and Deploy, paused at the Approve gate.</a:t>
            </a:r>
          </a:p>
        </p:txBody>
      </p:sp>
      <p:sp>
        <p:nvSpPr>
          <p:cNvPr id="20" name="Rectangle 19"/>
          <p:cNvSpPr/>
          <p:nvPr/>
        </p:nvSpPr>
        <p:spPr>
          <a:xfrm>
            <a:off x="6446520" y="1783080"/>
            <a:ext cx="5029200" cy="290140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ab-05-codepipeline-approval-deploy.jpg"/>
          <p:cNvPicPr>
            <a:picLocks noChangeAspect="1"/>
          </p:cNvPicPr>
          <p:nvPr/>
        </p:nvPicPr>
        <p:blipFill>
          <a:blip r:embed="rId2"/>
          <a:stretch>
            <a:fillRect/>
          </a:stretch>
        </p:blipFill>
        <p:spPr>
          <a:xfrm>
            <a:off x="6492240" y="1828800"/>
            <a:ext cx="4937760" cy="2809963"/>
          </a:xfrm>
          <a:prstGeom prst="rect">
            <a:avLst/>
          </a:prstGeom>
        </p:spPr>
      </p:pic>
      <p:sp>
        <p:nvSpPr>
          <p:cNvPr id="22" name="TextBox 21"/>
          <p:cNvSpPr txBox="1"/>
          <p:nvPr/>
        </p:nvSpPr>
        <p:spPr>
          <a:xfrm>
            <a:off x="6492240" y="4730203"/>
            <a:ext cx="4937760" cy="365760"/>
          </a:xfrm>
          <a:prstGeom prst="rect">
            <a:avLst/>
          </a:prstGeom>
          <a:noFill/>
        </p:spPr>
        <p:txBody>
          <a:bodyPr wrap="square" anchor="t">
            <a:spAutoFit/>
          </a:bodyPr>
          <a:lstStyle/>
          <a:p>
            <a:pPr algn="ctr">
              <a:spcAft>
                <a:spcPts val="400"/>
              </a:spcAft>
            </a:pPr>
            <a:r>
              <a:rPr sz="1100" b="1">
                <a:solidFill>
                  <a:srgbClr val="5B6372"/>
                </a:solidFill>
                <a:latin typeface="Arial"/>
              </a:rPr>
              <a:t>Reference architecture</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146</a:t>
            </a:r>
          </a:p>
        </p:txBody>
      </p:sp>
    </p:spTree>
  </p:cSld>
  <p:clrMapOvr>
    <a:masterClrMapping/>
  </p:clrMapOvr>
  <p:transition xmlns:p14="http://schemas.microsoft.com/office/powerpoint/2010/main" p14:dur="380">
    <p:fade/>
  </p:transition>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RECAP</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Recap — SDLC Automation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10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6408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6408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127760"/>
          </a:xfrm>
          <a:prstGeom prst="rect">
            <a:avLst/>
          </a:prstGeom>
          <a:noFill/>
        </p:spPr>
        <p:txBody>
          <a:bodyPr wrap="square" anchor="ctr">
            <a:spAutoFit/>
          </a:bodyPr>
          <a:lstStyle/>
          <a:p>
            <a:pPr algn="l">
              <a:spcAft>
                <a:spcPts val="300"/>
              </a:spcAft>
            </a:pPr>
            <a:r>
              <a:rPr sz="1350" b="1">
                <a:solidFill>
                  <a:srgbClr val="161B26"/>
                </a:solidFill>
                <a:latin typeface="Arial"/>
              </a:rPr>
              <a:t>Lab 1</a:t>
            </a:r>
          </a:p>
          <a:p>
            <a:pPr algn="l">
              <a:spcAft>
                <a:spcPts val="300"/>
              </a:spcAft>
            </a:pPr>
            <a:r>
              <a:rPr sz="950" b="0">
                <a:solidFill>
                  <a:srgbClr val="5B6372"/>
                </a:solidFill>
                <a:latin typeface="Arial"/>
              </a:rPr>
              <a:t>Stand up a least-privilege AWS CLI/Git workspace and confirm your identity.</a:t>
            </a:r>
          </a:p>
        </p:txBody>
      </p:sp>
      <p:sp>
        <p:nvSpPr>
          <p:cNvPr id="12" name="Rectangle 11"/>
          <p:cNvSpPr/>
          <p:nvPr/>
        </p:nvSpPr>
        <p:spPr>
          <a:xfrm>
            <a:off x="6231636" y="1783080"/>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3106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6408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6408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127760"/>
          </a:xfrm>
          <a:prstGeom prst="rect">
            <a:avLst/>
          </a:prstGeom>
          <a:noFill/>
        </p:spPr>
        <p:txBody>
          <a:bodyPr wrap="square" anchor="ctr">
            <a:spAutoFit/>
          </a:bodyPr>
          <a:lstStyle/>
          <a:p>
            <a:pPr algn="l">
              <a:spcAft>
                <a:spcPts val="300"/>
              </a:spcAft>
            </a:pPr>
            <a:r>
              <a:rPr sz="1350" b="1">
                <a:solidFill>
                  <a:srgbClr val="161B26"/>
                </a:solidFill>
                <a:latin typeface="Arial"/>
              </a:rPr>
              <a:t>Lab 2</a:t>
            </a:r>
          </a:p>
          <a:p>
            <a:pPr algn="l">
              <a:spcAft>
                <a:spcPts val="300"/>
              </a:spcAft>
            </a:pPr>
            <a:r>
              <a:rPr sz="950" b="0">
                <a:solidFill>
                  <a:srgbClr val="5B6372"/>
                </a:solidFill>
                <a:latin typeface="Arial"/>
              </a:rPr>
              <a:t>Adopt a trunk-based Git workflow and connect the repository to AWS with CodeConnections.</a:t>
            </a:r>
          </a:p>
        </p:txBody>
      </p:sp>
      <p:sp>
        <p:nvSpPr>
          <p:cNvPr id="17" name="Rectangle 16"/>
          <p:cNvSpPr/>
          <p:nvPr/>
        </p:nvSpPr>
        <p:spPr>
          <a:xfrm>
            <a:off x="777240" y="3313176"/>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3176"/>
            <a:ext cx="91440" cy="13106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422904"/>
            <a:ext cx="3973068" cy="1127760"/>
          </a:xfrm>
          <a:prstGeom prst="rect">
            <a:avLst/>
          </a:prstGeom>
          <a:noFill/>
        </p:spPr>
        <p:txBody>
          <a:bodyPr wrap="square" anchor="ctr">
            <a:spAutoFit/>
          </a:bodyPr>
          <a:lstStyle/>
          <a:p>
            <a:pPr algn="l">
              <a:spcAft>
                <a:spcPts val="300"/>
              </a:spcAft>
            </a:pPr>
            <a:r>
              <a:rPr sz="1350" b="1">
                <a:solidFill>
                  <a:srgbClr val="161B26"/>
                </a:solidFill>
                <a:latin typeface="Arial"/>
              </a:rPr>
              <a:t>Lab 3</a:t>
            </a:r>
          </a:p>
          <a:p>
            <a:pPr algn="l">
              <a:spcAft>
                <a:spcPts val="300"/>
              </a:spcAft>
            </a:pPr>
            <a:r>
              <a:rPr sz="950" b="0">
                <a:solidFill>
                  <a:srgbClr val="5B6372"/>
                </a:solidFill>
                <a:latin typeface="Arial"/>
              </a:rPr>
              <a:t>Author a buildspec and a CodeBuild project that automatically lints and tests the app.</a:t>
            </a:r>
          </a:p>
        </p:txBody>
      </p:sp>
      <p:sp>
        <p:nvSpPr>
          <p:cNvPr id="22" name="Rectangle 21"/>
          <p:cNvSpPr/>
          <p:nvPr/>
        </p:nvSpPr>
        <p:spPr>
          <a:xfrm>
            <a:off x="6231636" y="3313176"/>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3176"/>
            <a:ext cx="91440" cy="13106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422904"/>
            <a:ext cx="3973068" cy="1127760"/>
          </a:xfrm>
          <a:prstGeom prst="rect">
            <a:avLst/>
          </a:prstGeom>
          <a:noFill/>
        </p:spPr>
        <p:txBody>
          <a:bodyPr wrap="square" anchor="ctr">
            <a:spAutoFit/>
          </a:bodyPr>
          <a:lstStyle/>
          <a:p>
            <a:pPr algn="l">
              <a:spcAft>
                <a:spcPts val="300"/>
              </a:spcAft>
            </a:pPr>
            <a:r>
              <a:rPr sz="1350" b="1">
                <a:solidFill>
                  <a:srgbClr val="161B26"/>
                </a:solidFill>
                <a:latin typeface="Arial"/>
              </a:rPr>
              <a:t>Lab 4</a:t>
            </a:r>
          </a:p>
          <a:p>
            <a:pPr algn="l">
              <a:spcAft>
                <a:spcPts val="300"/>
              </a:spcAft>
            </a:pPr>
            <a:r>
              <a:rPr sz="950" b="0">
                <a:solidFill>
                  <a:srgbClr val="5B6372"/>
                </a:solidFill>
                <a:latin typeface="Arial"/>
              </a:rPr>
              <a:t>Extend the buildspec to package versioned artifacts and store them in an encrypted, versioned bucket.</a:t>
            </a:r>
          </a:p>
        </p:txBody>
      </p:sp>
      <p:sp>
        <p:nvSpPr>
          <p:cNvPr id="27" name="Rectangle 26"/>
          <p:cNvSpPr/>
          <p:nvPr/>
        </p:nvSpPr>
        <p:spPr>
          <a:xfrm>
            <a:off x="777240" y="4843272"/>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43272"/>
            <a:ext cx="91440" cy="13106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24272"/>
            <a:ext cx="548640" cy="548640"/>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2427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953000"/>
            <a:ext cx="3973068" cy="1127760"/>
          </a:xfrm>
          <a:prstGeom prst="rect">
            <a:avLst/>
          </a:prstGeom>
          <a:noFill/>
        </p:spPr>
        <p:txBody>
          <a:bodyPr wrap="square" anchor="ctr">
            <a:spAutoFit/>
          </a:bodyPr>
          <a:lstStyle/>
          <a:p>
            <a:pPr algn="l">
              <a:spcAft>
                <a:spcPts val="300"/>
              </a:spcAft>
            </a:pPr>
            <a:r>
              <a:rPr sz="1350" b="1">
                <a:solidFill>
                  <a:srgbClr val="161B26"/>
                </a:solidFill>
                <a:latin typeface="Arial"/>
              </a:rPr>
              <a:t>Lab 5</a:t>
            </a:r>
          </a:p>
          <a:p>
            <a:pPr algn="l">
              <a:spcAft>
                <a:spcPts val="300"/>
              </a:spcAft>
            </a:pPr>
            <a:r>
              <a:rPr sz="950" b="0">
                <a:solidFill>
                  <a:srgbClr val="5B6372"/>
                </a:solidFill>
                <a:latin typeface="Arial"/>
              </a:rPr>
              <a:t>Wire an end-to-end pipeline with a manual approval gate, a deployment strategy and auto-rollback.</a:t>
            </a:r>
          </a:p>
        </p:txBody>
      </p:sp>
      <p:sp>
        <p:nvSpPr>
          <p:cNvPr id="32" name="Rectangle 31"/>
          <p:cNvSpPr/>
          <p:nvPr/>
        </p:nvSpPr>
        <p:spPr>
          <a:xfrm>
            <a:off x="6231636" y="4843272"/>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43272"/>
            <a:ext cx="91440" cy="1310640"/>
          </a:xfrm>
          <a:prstGeom prst="rect">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24272"/>
            <a:ext cx="548640" cy="548640"/>
          </a:xfrm>
          <a:prstGeom prst="ellipse">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2427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953000"/>
            <a:ext cx="3973068" cy="1127760"/>
          </a:xfrm>
          <a:prstGeom prst="rect">
            <a:avLst/>
          </a:prstGeom>
          <a:noFill/>
        </p:spPr>
        <p:txBody>
          <a:bodyPr wrap="square" anchor="ctr">
            <a:spAutoFit/>
          </a:bodyPr>
          <a:lstStyle/>
          <a:p>
            <a:pPr algn="l">
              <a:spcAft>
                <a:spcPts val="300"/>
              </a:spcAft>
            </a:pPr>
            <a:r>
              <a:rPr sz="1350" b="1">
                <a:solidFill>
                  <a:srgbClr val="161B26"/>
                </a:solidFill>
                <a:latin typeface="Arial"/>
              </a:rPr>
              <a:t>Key principle</a:t>
            </a:r>
          </a:p>
          <a:p>
            <a:pPr algn="l">
              <a:spcAft>
                <a:spcPts val="300"/>
              </a:spcAft>
            </a:pPr>
            <a:r>
              <a:rPr sz="950" b="0">
                <a:solidFill>
                  <a:srgbClr val="5B6372"/>
                </a:solidFill>
                <a:latin typeface="Arial"/>
              </a:rPr>
              <a:t>Developers push often; CodeBuild runs the build and tests on every commit so bugs are found early, not at release.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147</a:t>
            </a:r>
          </a:p>
        </p:txBody>
      </p:sp>
    </p:spTree>
  </p:cSld>
  <p:clrMapOvr>
    <a:masterClrMapping/>
  </p:clrMapOvr>
  <p:transition xmlns:p14="http://schemas.microsoft.com/office/powerpoint/2010/main" p14:dur="380">
    <p:fade/>
  </p:transition>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DOMAIN 02</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Configuration Management and IaC</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Exam weighting 17%  ·  Infrastructure as Code · reusable templates · multi-account &amp; multi-Region</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02</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148</a:t>
            </a:r>
          </a:p>
        </p:txBody>
      </p:sp>
    </p:spTree>
  </p:cSld>
  <p:clrMapOvr>
    <a:masterClrMapping/>
  </p:clrMapOvr>
  <p:transition xmlns:p14="http://schemas.microsoft.com/office/powerpoint/2010/main" p14:dur="380">
    <p:fade/>
  </p:transition>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DOMAIN 02 · WEIGHTING 17%</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Key Concepts — Configuration Management and IaC</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10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6408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6408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Infrastructure as Code</a:t>
            </a:r>
          </a:p>
          <a:p>
            <a:pPr algn="l">
              <a:spcAft>
                <a:spcPts val="300"/>
              </a:spcAft>
            </a:pPr>
            <a:r>
              <a:rPr sz="1150" b="0">
                <a:solidFill>
                  <a:srgbClr val="5B6372"/>
                </a:solidFill>
                <a:latin typeface="Arial"/>
              </a:rPr>
              <a:t>Declare infrastructure in version-controlled templates so environments are repeatable, reviewable and disposable.</a:t>
            </a:r>
          </a:p>
        </p:txBody>
      </p:sp>
      <p:sp>
        <p:nvSpPr>
          <p:cNvPr id="12" name="Rectangle 11"/>
          <p:cNvSpPr/>
          <p:nvPr/>
        </p:nvSpPr>
        <p:spPr>
          <a:xfrm>
            <a:off x="6231636" y="1783080"/>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3106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6408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6408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CloudFormation</a:t>
            </a:r>
          </a:p>
          <a:p>
            <a:pPr algn="l">
              <a:spcAft>
                <a:spcPts val="300"/>
              </a:spcAft>
            </a:pPr>
            <a:r>
              <a:rPr sz="1150" b="0">
                <a:solidFill>
                  <a:srgbClr val="5B6372"/>
                </a:solidFill>
                <a:latin typeface="Arial"/>
              </a:rPr>
              <a:t>Declarative JSON/YAML stacks with parameters, mappings, outputs, change sets, drift detection and automatic rollback.</a:t>
            </a:r>
          </a:p>
        </p:txBody>
      </p:sp>
      <p:sp>
        <p:nvSpPr>
          <p:cNvPr id="17" name="Rectangle 16"/>
          <p:cNvSpPr/>
          <p:nvPr/>
        </p:nvSpPr>
        <p:spPr>
          <a:xfrm>
            <a:off x="777240" y="3313176"/>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3176"/>
            <a:ext cx="91440" cy="13106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422904"/>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Reusable components</a:t>
            </a:r>
          </a:p>
          <a:p>
            <a:pPr algn="l">
              <a:spcAft>
                <a:spcPts val="300"/>
              </a:spcAft>
            </a:pPr>
            <a:r>
              <a:rPr sz="1150" b="0">
                <a:solidFill>
                  <a:srgbClr val="5B6372"/>
                </a:solidFill>
                <a:latin typeface="Arial"/>
              </a:rPr>
              <a:t>Nested stacks and modules parameterise a pattern once and reuse it across teams and Regions.</a:t>
            </a:r>
          </a:p>
        </p:txBody>
      </p:sp>
      <p:sp>
        <p:nvSpPr>
          <p:cNvPr id="22" name="Rectangle 21"/>
          <p:cNvSpPr/>
          <p:nvPr/>
        </p:nvSpPr>
        <p:spPr>
          <a:xfrm>
            <a:off x="6231636" y="3313176"/>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3176"/>
            <a:ext cx="91440" cy="13106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422904"/>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CDK vs CloudFormation vs Terraform</a:t>
            </a:r>
          </a:p>
          <a:p>
            <a:pPr algn="l">
              <a:spcAft>
                <a:spcPts val="300"/>
              </a:spcAft>
            </a:pPr>
            <a:r>
              <a:rPr sz="1150" b="0">
                <a:solidFill>
                  <a:srgbClr val="5B6372"/>
                </a:solidFill>
                <a:latin typeface="Arial"/>
              </a:rPr>
              <a:t>CDK generates CloudFormation from real code; Terraform is multi-cloud — all describe desired state.</a:t>
            </a:r>
          </a:p>
        </p:txBody>
      </p:sp>
      <p:sp>
        <p:nvSpPr>
          <p:cNvPr id="27" name="Rectangle 26"/>
          <p:cNvSpPr/>
          <p:nvPr/>
        </p:nvSpPr>
        <p:spPr>
          <a:xfrm>
            <a:off x="777240" y="4843272"/>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43272"/>
            <a:ext cx="91440" cy="13106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24272"/>
            <a:ext cx="548640" cy="548640"/>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2427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953000"/>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Configuration management</a:t>
            </a:r>
          </a:p>
          <a:p>
            <a:pPr algn="l">
              <a:spcAft>
                <a:spcPts val="300"/>
              </a:spcAft>
            </a:pPr>
            <a:r>
              <a:rPr sz="1150" b="0">
                <a:solidFill>
                  <a:srgbClr val="5B6372"/>
                </a:solidFill>
                <a:latin typeface="Arial"/>
              </a:rPr>
              <a:t>Systems Manager (State Manager, Automation, Parameter Store) keeps running instances in their desired configuration.</a:t>
            </a:r>
          </a:p>
        </p:txBody>
      </p:sp>
      <p:sp>
        <p:nvSpPr>
          <p:cNvPr id="32" name="Rectangle 31"/>
          <p:cNvSpPr/>
          <p:nvPr/>
        </p:nvSpPr>
        <p:spPr>
          <a:xfrm>
            <a:off x="6231636" y="4843272"/>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43272"/>
            <a:ext cx="91440" cy="1310640"/>
          </a:xfrm>
          <a:prstGeom prst="rect">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24272"/>
            <a:ext cx="548640" cy="548640"/>
          </a:xfrm>
          <a:prstGeom prst="ellipse">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2427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953000"/>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Multi-account &amp; multi-Region</a:t>
            </a:r>
          </a:p>
          <a:p>
            <a:pPr algn="l">
              <a:spcAft>
                <a:spcPts val="300"/>
              </a:spcAft>
            </a:pPr>
            <a:r>
              <a:rPr sz="1150" b="0">
                <a:solidFill>
                  <a:srgbClr val="5B6372"/>
                </a:solidFill>
                <a:latin typeface="Arial"/>
              </a:rPr>
              <a:t>Organizations, StackSets and Control Tower create, onboard and secure accounts at scale.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149</a:t>
            </a:r>
          </a:p>
        </p:txBody>
      </p:sp>
    </p:spTree>
  </p:cSld>
  <p:clrMapOvr>
    <a:masterClrMapping/>
  </p:clrMapOvr>
  <p:transition xmlns:p14="http://schemas.microsoft.com/office/powerpoint/2010/main" p14:dur="380">
    <p:fade/>
  </p:transition>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DECLARE DESIRED STATE</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IaC Options on AWS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126894" cy="5029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6968" y="1783080"/>
            <a:ext cx="1944014" cy="502920"/>
          </a:xfrm>
          <a:prstGeom prst="rect">
            <a:avLst/>
          </a:prstGeom>
          <a:noFill/>
        </p:spPr>
        <p:txBody>
          <a:bodyPr wrap="square" anchor="ctr">
            <a:spAutoFit/>
          </a:bodyPr>
          <a:lstStyle/>
          <a:p>
            <a:pPr algn="l">
              <a:spcAft>
                <a:spcPts val="400"/>
              </a:spcAft>
            </a:pPr>
            <a:r>
              <a:rPr sz="1400" b="1">
                <a:solidFill>
                  <a:srgbClr val="FFFFFF"/>
                </a:solidFill>
                <a:latin typeface="Arial"/>
              </a:rPr>
              <a:t>Tool</a:t>
            </a:r>
          </a:p>
        </p:txBody>
      </p:sp>
      <p:sp>
        <p:nvSpPr>
          <p:cNvPr id="9" name="Rectangle 8"/>
          <p:cNvSpPr/>
          <p:nvPr/>
        </p:nvSpPr>
        <p:spPr>
          <a:xfrm>
            <a:off x="2904134" y="1783080"/>
            <a:ext cx="2552273" cy="5029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13862" y="1783080"/>
            <a:ext cx="2369393" cy="502920"/>
          </a:xfrm>
          <a:prstGeom prst="rect">
            <a:avLst/>
          </a:prstGeom>
          <a:noFill/>
        </p:spPr>
        <p:txBody>
          <a:bodyPr wrap="square" anchor="ctr">
            <a:spAutoFit/>
          </a:bodyPr>
          <a:lstStyle/>
          <a:p>
            <a:pPr algn="ctr">
              <a:spcAft>
                <a:spcPts val="400"/>
              </a:spcAft>
            </a:pPr>
            <a:r>
              <a:rPr sz="1400" b="1">
                <a:solidFill>
                  <a:srgbClr val="FFFFFF"/>
                </a:solidFill>
                <a:latin typeface="Arial"/>
              </a:rPr>
              <a:t>Language</a:t>
            </a:r>
          </a:p>
        </p:txBody>
      </p:sp>
      <p:sp>
        <p:nvSpPr>
          <p:cNvPr id="11" name="Rectangle 10"/>
          <p:cNvSpPr/>
          <p:nvPr/>
        </p:nvSpPr>
        <p:spPr>
          <a:xfrm>
            <a:off x="5456407" y="1783080"/>
            <a:ext cx="2977652" cy="5029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566135" y="1783080"/>
            <a:ext cx="2794772" cy="502920"/>
          </a:xfrm>
          <a:prstGeom prst="rect">
            <a:avLst/>
          </a:prstGeom>
          <a:noFill/>
        </p:spPr>
        <p:txBody>
          <a:bodyPr wrap="square" anchor="ctr">
            <a:spAutoFit/>
          </a:bodyPr>
          <a:lstStyle/>
          <a:p>
            <a:pPr algn="ctr">
              <a:spcAft>
                <a:spcPts val="400"/>
              </a:spcAft>
            </a:pPr>
            <a:r>
              <a:rPr sz="1400" b="1">
                <a:solidFill>
                  <a:srgbClr val="FFFFFF"/>
                </a:solidFill>
                <a:latin typeface="Arial"/>
              </a:rPr>
              <a:t>Scope</a:t>
            </a:r>
          </a:p>
        </p:txBody>
      </p:sp>
      <p:sp>
        <p:nvSpPr>
          <p:cNvPr id="13" name="Rectangle 12"/>
          <p:cNvSpPr/>
          <p:nvPr/>
        </p:nvSpPr>
        <p:spPr>
          <a:xfrm>
            <a:off x="8434059" y="1783080"/>
            <a:ext cx="2977652" cy="5029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43787" y="1783080"/>
            <a:ext cx="2794772" cy="502920"/>
          </a:xfrm>
          <a:prstGeom prst="rect">
            <a:avLst/>
          </a:prstGeom>
          <a:noFill/>
        </p:spPr>
        <p:txBody>
          <a:bodyPr wrap="square" anchor="ctr">
            <a:spAutoFit/>
          </a:bodyPr>
          <a:lstStyle/>
          <a:p>
            <a:pPr algn="ctr">
              <a:spcAft>
                <a:spcPts val="400"/>
              </a:spcAft>
            </a:pPr>
            <a:r>
              <a:rPr sz="1400" b="1">
                <a:solidFill>
                  <a:srgbClr val="FFFFFF"/>
                </a:solidFill>
                <a:latin typeface="Arial"/>
              </a:rPr>
              <a:t>When to use</a:t>
            </a:r>
          </a:p>
        </p:txBody>
      </p:sp>
      <p:sp>
        <p:nvSpPr>
          <p:cNvPr id="15" name="Rectangle 14"/>
          <p:cNvSpPr/>
          <p:nvPr/>
        </p:nvSpPr>
        <p:spPr>
          <a:xfrm>
            <a:off x="777240" y="2286000"/>
            <a:ext cx="2126894"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6968" y="2286000"/>
            <a:ext cx="1944014" cy="822960"/>
          </a:xfrm>
          <a:prstGeom prst="rect">
            <a:avLst/>
          </a:prstGeom>
          <a:noFill/>
        </p:spPr>
        <p:txBody>
          <a:bodyPr wrap="square" anchor="ctr">
            <a:spAutoFit/>
          </a:bodyPr>
          <a:lstStyle/>
          <a:p>
            <a:pPr algn="l">
              <a:spcAft>
                <a:spcPts val="400"/>
              </a:spcAft>
            </a:pPr>
            <a:r>
              <a:rPr sz="1250" b="1">
                <a:solidFill>
                  <a:srgbClr val="161B26"/>
                </a:solidFill>
                <a:latin typeface="Arial"/>
              </a:rPr>
              <a:t>CloudFormation</a:t>
            </a:r>
          </a:p>
        </p:txBody>
      </p:sp>
      <p:sp>
        <p:nvSpPr>
          <p:cNvPr id="17" name="Rectangle 16"/>
          <p:cNvSpPr/>
          <p:nvPr/>
        </p:nvSpPr>
        <p:spPr>
          <a:xfrm>
            <a:off x="2904134" y="2286000"/>
            <a:ext cx="2552273"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013862" y="2286000"/>
            <a:ext cx="2369393" cy="822960"/>
          </a:xfrm>
          <a:prstGeom prst="rect">
            <a:avLst/>
          </a:prstGeom>
          <a:noFill/>
        </p:spPr>
        <p:txBody>
          <a:bodyPr wrap="square" anchor="ctr">
            <a:spAutoFit/>
          </a:bodyPr>
          <a:lstStyle/>
          <a:p>
            <a:pPr algn="ctr">
              <a:spcAft>
                <a:spcPts val="400"/>
              </a:spcAft>
            </a:pPr>
            <a:r>
              <a:rPr sz="1250" b="0">
                <a:solidFill>
                  <a:srgbClr val="5B6372"/>
                </a:solidFill>
                <a:latin typeface="Arial"/>
              </a:rPr>
              <a:t>YAML / JSON</a:t>
            </a:r>
          </a:p>
        </p:txBody>
      </p:sp>
      <p:sp>
        <p:nvSpPr>
          <p:cNvPr id="19" name="Rectangle 18"/>
          <p:cNvSpPr/>
          <p:nvPr/>
        </p:nvSpPr>
        <p:spPr>
          <a:xfrm>
            <a:off x="5456407" y="2286000"/>
            <a:ext cx="2977652"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566135" y="2286000"/>
            <a:ext cx="2794772" cy="822960"/>
          </a:xfrm>
          <a:prstGeom prst="rect">
            <a:avLst/>
          </a:prstGeom>
          <a:noFill/>
        </p:spPr>
        <p:txBody>
          <a:bodyPr wrap="square" anchor="ctr">
            <a:spAutoFit/>
          </a:bodyPr>
          <a:lstStyle/>
          <a:p>
            <a:pPr algn="ctr">
              <a:spcAft>
                <a:spcPts val="400"/>
              </a:spcAft>
            </a:pPr>
            <a:r>
              <a:rPr sz="1250" b="0">
                <a:solidFill>
                  <a:srgbClr val="5B6372"/>
                </a:solidFill>
                <a:latin typeface="Arial"/>
              </a:rPr>
              <a:t>AWS-native declarative</a:t>
            </a:r>
          </a:p>
        </p:txBody>
      </p:sp>
      <p:sp>
        <p:nvSpPr>
          <p:cNvPr id="21" name="Rectangle 20"/>
          <p:cNvSpPr/>
          <p:nvPr/>
        </p:nvSpPr>
        <p:spPr>
          <a:xfrm>
            <a:off x="8434059" y="2286000"/>
            <a:ext cx="2977652"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43787" y="2286000"/>
            <a:ext cx="2794772" cy="822960"/>
          </a:xfrm>
          <a:prstGeom prst="rect">
            <a:avLst/>
          </a:prstGeom>
          <a:noFill/>
        </p:spPr>
        <p:txBody>
          <a:bodyPr wrap="square" anchor="ctr">
            <a:spAutoFit/>
          </a:bodyPr>
          <a:lstStyle/>
          <a:p>
            <a:pPr algn="ctr">
              <a:spcAft>
                <a:spcPts val="400"/>
              </a:spcAft>
            </a:pPr>
            <a:r>
              <a:rPr sz="1250" b="0">
                <a:solidFill>
                  <a:srgbClr val="5B6372"/>
                </a:solidFill>
                <a:latin typeface="Arial"/>
              </a:rPr>
              <a:t>Standard AWS IaC, StackSets</a:t>
            </a:r>
          </a:p>
        </p:txBody>
      </p:sp>
      <p:sp>
        <p:nvSpPr>
          <p:cNvPr id="23" name="Rectangle 22"/>
          <p:cNvSpPr/>
          <p:nvPr/>
        </p:nvSpPr>
        <p:spPr>
          <a:xfrm>
            <a:off x="777240" y="3108960"/>
            <a:ext cx="2126894"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86968" y="3108960"/>
            <a:ext cx="1944014" cy="822960"/>
          </a:xfrm>
          <a:prstGeom prst="rect">
            <a:avLst/>
          </a:prstGeom>
          <a:noFill/>
        </p:spPr>
        <p:txBody>
          <a:bodyPr wrap="square" anchor="ctr">
            <a:spAutoFit/>
          </a:bodyPr>
          <a:lstStyle/>
          <a:p>
            <a:pPr algn="l">
              <a:spcAft>
                <a:spcPts val="400"/>
              </a:spcAft>
            </a:pPr>
            <a:r>
              <a:rPr sz="1250" b="1">
                <a:solidFill>
                  <a:srgbClr val="161B26"/>
                </a:solidFill>
                <a:latin typeface="Arial"/>
              </a:rPr>
              <a:t>AWS CDK</a:t>
            </a:r>
          </a:p>
        </p:txBody>
      </p:sp>
      <p:sp>
        <p:nvSpPr>
          <p:cNvPr id="25" name="Rectangle 24"/>
          <p:cNvSpPr/>
          <p:nvPr/>
        </p:nvSpPr>
        <p:spPr>
          <a:xfrm>
            <a:off x="2904134" y="3108960"/>
            <a:ext cx="2552273"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013862" y="3108960"/>
            <a:ext cx="2369393" cy="822960"/>
          </a:xfrm>
          <a:prstGeom prst="rect">
            <a:avLst/>
          </a:prstGeom>
          <a:noFill/>
        </p:spPr>
        <p:txBody>
          <a:bodyPr wrap="square" anchor="ctr">
            <a:spAutoFit/>
          </a:bodyPr>
          <a:lstStyle/>
          <a:p>
            <a:pPr algn="ctr">
              <a:spcAft>
                <a:spcPts val="400"/>
              </a:spcAft>
            </a:pPr>
            <a:r>
              <a:rPr sz="1250" b="0">
                <a:solidFill>
                  <a:srgbClr val="5B6372"/>
                </a:solidFill>
                <a:latin typeface="Arial"/>
              </a:rPr>
              <a:t>Python / TS / Java</a:t>
            </a:r>
          </a:p>
        </p:txBody>
      </p:sp>
      <p:sp>
        <p:nvSpPr>
          <p:cNvPr id="27" name="Rectangle 26"/>
          <p:cNvSpPr/>
          <p:nvPr/>
        </p:nvSpPr>
        <p:spPr>
          <a:xfrm>
            <a:off x="5456407" y="3108960"/>
            <a:ext cx="2977652"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566135" y="3108960"/>
            <a:ext cx="2794772" cy="822960"/>
          </a:xfrm>
          <a:prstGeom prst="rect">
            <a:avLst/>
          </a:prstGeom>
          <a:noFill/>
        </p:spPr>
        <p:txBody>
          <a:bodyPr wrap="square" anchor="ctr">
            <a:spAutoFit/>
          </a:bodyPr>
          <a:lstStyle/>
          <a:p>
            <a:pPr algn="ctr">
              <a:spcAft>
                <a:spcPts val="400"/>
              </a:spcAft>
            </a:pPr>
            <a:r>
              <a:rPr sz="1250" b="0">
                <a:solidFill>
                  <a:srgbClr val="5B6372"/>
                </a:solidFill>
                <a:latin typeface="Arial"/>
              </a:rPr>
              <a:t>Code → CloudFormation</a:t>
            </a:r>
          </a:p>
        </p:txBody>
      </p:sp>
      <p:sp>
        <p:nvSpPr>
          <p:cNvPr id="29" name="Rectangle 28"/>
          <p:cNvSpPr/>
          <p:nvPr/>
        </p:nvSpPr>
        <p:spPr>
          <a:xfrm>
            <a:off x="8434059" y="3108960"/>
            <a:ext cx="2977652"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43787" y="3108960"/>
            <a:ext cx="2794772" cy="822960"/>
          </a:xfrm>
          <a:prstGeom prst="rect">
            <a:avLst/>
          </a:prstGeom>
          <a:noFill/>
        </p:spPr>
        <p:txBody>
          <a:bodyPr wrap="square" anchor="ctr">
            <a:spAutoFit/>
          </a:bodyPr>
          <a:lstStyle/>
          <a:p>
            <a:pPr algn="ctr">
              <a:spcAft>
                <a:spcPts val="400"/>
              </a:spcAft>
            </a:pPr>
            <a:r>
              <a:rPr sz="1250" b="0">
                <a:solidFill>
                  <a:srgbClr val="5B6372"/>
                </a:solidFill>
                <a:latin typeface="Arial"/>
              </a:rPr>
              <a:t>Reusable, testable constructs</a:t>
            </a:r>
          </a:p>
        </p:txBody>
      </p:sp>
      <p:sp>
        <p:nvSpPr>
          <p:cNvPr id="31" name="Rectangle 30"/>
          <p:cNvSpPr/>
          <p:nvPr/>
        </p:nvSpPr>
        <p:spPr>
          <a:xfrm>
            <a:off x="777240" y="3931920"/>
            <a:ext cx="2126894"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6968" y="3931920"/>
            <a:ext cx="1944014" cy="822960"/>
          </a:xfrm>
          <a:prstGeom prst="rect">
            <a:avLst/>
          </a:prstGeom>
          <a:noFill/>
        </p:spPr>
        <p:txBody>
          <a:bodyPr wrap="square" anchor="ctr">
            <a:spAutoFit/>
          </a:bodyPr>
          <a:lstStyle/>
          <a:p>
            <a:pPr algn="l">
              <a:spcAft>
                <a:spcPts val="400"/>
              </a:spcAft>
            </a:pPr>
            <a:r>
              <a:rPr sz="1250" b="1">
                <a:solidFill>
                  <a:srgbClr val="161B26"/>
                </a:solidFill>
                <a:latin typeface="Arial"/>
              </a:rPr>
              <a:t>Terraform</a:t>
            </a:r>
          </a:p>
        </p:txBody>
      </p:sp>
      <p:sp>
        <p:nvSpPr>
          <p:cNvPr id="33" name="Rectangle 32"/>
          <p:cNvSpPr/>
          <p:nvPr/>
        </p:nvSpPr>
        <p:spPr>
          <a:xfrm>
            <a:off x="2904134" y="3931920"/>
            <a:ext cx="2552273"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013862" y="3931920"/>
            <a:ext cx="2369393" cy="822960"/>
          </a:xfrm>
          <a:prstGeom prst="rect">
            <a:avLst/>
          </a:prstGeom>
          <a:noFill/>
        </p:spPr>
        <p:txBody>
          <a:bodyPr wrap="square" anchor="ctr">
            <a:spAutoFit/>
          </a:bodyPr>
          <a:lstStyle/>
          <a:p>
            <a:pPr algn="ctr">
              <a:spcAft>
                <a:spcPts val="400"/>
              </a:spcAft>
            </a:pPr>
            <a:r>
              <a:rPr sz="1250" b="0">
                <a:solidFill>
                  <a:srgbClr val="5B6372"/>
                </a:solidFill>
                <a:latin typeface="Arial"/>
              </a:rPr>
              <a:t>HCL</a:t>
            </a:r>
          </a:p>
        </p:txBody>
      </p:sp>
      <p:sp>
        <p:nvSpPr>
          <p:cNvPr id="35" name="Rectangle 34"/>
          <p:cNvSpPr/>
          <p:nvPr/>
        </p:nvSpPr>
        <p:spPr>
          <a:xfrm>
            <a:off x="5456407" y="3931920"/>
            <a:ext cx="2977652"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566135" y="3931920"/>
            <a:ext cx="2794772" cy="822960"/>
          </a:xfrm>
          <a:prstGeom prst="rect">
            <a:avLst/>
          </a:prstGeom>
          <a:noFill/>
        </p:spPr>
        <p:txBody>
          <a:bodyPr wrap="square" anchor="ctr">
            <a:spAutoFit/>
          </a:bodyPr>
          <a:lstStyle/>
          <a:p>
            <a:pPr algn="ctr">
              <a:spcAft>
                <a:spcPts val="400"/>
              </a:spcAft>
            </a:pPr>
            <a:r>
              <a:rPr sz="1250" b="0">
                <a:solidFill>
                  <a:srgbClr val="5B6372"/>
                </a:solidFill>
                <a:latin typeface="Arial"/>
              </a:rPr>
              <a:t>Multi-cloud</a:t>
            </a:r>
          </a:p>
        </p:txBody>
      </p:sp>
      <p:sp>
        <p:nvSpPr>
          <p:cNvPr id="37" name="Rectangle 36"/>
          <p:cNvSpPr/>
          <p:nvPr/>
        </p:nvSpPr>
        <p:spPr>
          <a:xfrm>
            <a:off x="8434059" y="3931920"/>
            <a:ext cx="2977652"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43787" y="3931920"/>
            <a:ext cx="2794772" cy="822960"/>
          </a:xfrm>
          <a:prstGeom prst="rect">
            <a:avLst/>
          </a:prstGeom>
          <a:noFill/>
        </p:spPr>
        <p:txBody>
          <a:bodyPr wrap="square" anchor="ctr">
            <a:spAutoFit/>
          </a:bodyPr>
          <a:lstStyle/>
          <a:p>
            <a:pPr algn="ctr">
              <a:spcAft>
                <a:spcPts val="400"/>
              </a:spcAft>
            </a:pPr>
            <a:r>
              <a:rPr sz="1250" b="0">
                <a:solidFill>
                  <a:srgbClr val="5B6372"/>
                </a:solidFill>
                <a:latin typeface="Arial"/>
              </a:rPr>
              <a:t>Mixed-cloud estates</a:t>
            </a:r>
          </a:p>
        </p:txBody>
      </p:sp>
      <p:sp>
        <p:nvSpPr>
          <p:cNvPr id="39" name="Rectangle 38"/>
          <p:cNvSpPr/>
          <p:nvPr/>
        </p:nvSpPr>
        <p:spPr>
          <a:xfrm>
            <a:off x="777240" y="4754880"/>
            <a:ext cx="2126894"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86968" y="4754880"/>
            <a:ext cx="1944014" cy="822960"/>
          </a:xfrm>
          <a:prstGeom prst="rect">
            <a:avLst/>
          </a:prstGeom>
          <a:noFill/>
        </p:spPr>
        <p:txBody>
          <a:bodyPr wrap="square" anchor="ctr">
            <a:spAutoFit/>
          </a:bodyPr>
          <a:lstStyle/>
          <a:p>
            <a:pPr algn="l">
              <a:spcAft>
                <a:spcPts val="400"/>
              </a:spcAft>
            </a:pPr>
            <a:r>
              <a:rPr sz="1250" b="1">
                <a:solidFill>
                  <a:srgbClr val="161B26"/>
                </a:solidFill>
                <a:latin typeface="Arial"/>
              </a:rPr>
              <a:t>SAM</a:t>
            </a:r>
          </a:p>
        </p:txBody>
      </p:sp>
      <p:sp>
        <p:nvSpPr>
          <p:cNvPr id="41" name="Rectangle 40"/>
          <p:cNvSpPr/>
          <p:nvPr/>
        </p:nvSpPr>
        <p:spPr>
          <a:xfrm>
            <a:off x="2904134" y="4754880"/>
            <a:ext cx="2552273"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013862" y="4754880"/>
            <a:ext cx="2369393" cy="822960"/>
          </a:xfrm>
          <a:prstGeom prst="rect">
            <a:avLst/>
          </a:prstGeom>
          <a:noFill/>
        </p:spPr>
        <p:txBody>
          <a:bodyPr wrap="square" anchor="ctr">
            <a:spAutoFit/>
          </a:bodyPr>
          <a:lstStyle/>
          <a:p>
            <a:pPr algn="ctr">
              <a:spcAft>
                <a:spcPts val="400"/>
              </a:spcAft>
            </a:pPr>
            <a:r>
              <a:rPr sz="1250" b="0">
                <a:solidFill>
                  <a:srgbClr val="5B6372"/>
                </a:solidFill>
                <a:latin typeface="Arial"/>
              </a:rPr>
              <a:t>YAML</a:t>
            </a:r>
          </a:p>
        </p:txBody>
      </p:sp>
      <p:sp>
        <p:nvSpPr>
          <p:cNvPr id="43" name="Rectangle 42"/>
          <p:cNvSpPr/>
          <p:nvPr/>
        </p:nvSpPr>
        <p:spPr>
          <a:xfrm>
            <a:off x="5456407" y="4754880"/>
            <a:ext cx="2977652"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566135" y="4754880"/>
            <a:ext cx="2794772" cy="822960"/>
          </a:xfrm>
          <a:prstGeom prst="rect">
            <a:avLst/>
          </a:prstGeom>
          <a:noFill/>
        </p:spPr>
        <p:txBody>
          <a:bodyPr wrap="square" anchor="ctr">
            <a:spAutoFit/>
          </a:bodyPr>
          <a:lstStyle/>
          <a:p>
            <a:pPr algn="ctr">
              <a:spcAft>
                <a:spcPts val="400"/>
              </a:spcAft>
            </a:pPr>
            <a:r>
              <a:rPr sz="1250" b="0">
                <a:solidFill>
                  <a:srgbClr val="5B6372"/>
                </a:solidFill>
                <a:latin typeface="Arial"/>
              </a:rPr>
              <a:t>Serverless-focused</a:t>
            </a:r>
          </a:p>
        </p:txBody>
      </p:sp>
      <p:sp>
        <p:nvSpPr>
          <p:cNvPr id="45" name="Rectangle 44"/>
          <p:cNvSpPr/>
          <p:nvPr/>
        </p:nvSpPr>
        <p:spPr>
          <a:xfrm>
            <a:off x="8434059" y="4754880"/>
            <a:ext cx="2977652"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543787" y="4754880"/>
            <a:ext cx="2794772" cy="822960"/>
          </a:xfrm>
          <a:prstGeom prst="rect">
            <a:avLst/>
          </a:prstGeom>
          <a:noFill/>
        </p:spPr>
        <p:txBody>
          <a:bodyPr wrap="square" anchor="ctr">
            <a:spAutoFit/>
          </a:bodyPr>
          <a:lstStyle/>
          <a:p>
            <a:pPr algn="ctr">
              <a:spcAft>
                <a:spcPts val="400"/>
              </a:spcAft>
            </a:pPr>
            <a:r>
              <a:rPr sz="1250" b="0">
                <a:solidFill>
                  <a:srgbClr val="5B6372"/>
                </a:solidFill>
                <a:latin typeface="Arial"/>
              </a:rPr>
              <a:t>Lambda / API / event apps</a:t>
            </a:r>
          </a:p>
        </p:txBody>
      </p:sp>
      <p:sp>
        <p:nvSpPr>
          <p:cNvPr id="47" name="TextBox 4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48" name="TextBox 4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150</a:t>
            </a:r>
          </a:p>
        </p:txBody>
      </p:sp>
    </p:spTree>
  </p:cSld>
  <p:clrMapOvr>
    <a:masterClrMapping/>
  </p:clrMapOvr>
  <p:transition xmlns:p14="http://schemas.microsoft.com/office/powerpoint/2010/main" p14:dur="380">
    <p:fade/>
  </p:transition>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DOMAIN 02 · INFRASTRUCTURE AS CODE</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CloudFormation — Reusable Stacks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965960"/>
            <a:ext cx="2377440" cy="1051560"/>
          </a:xfrm>
          <a:prstGeom prst="roundRect">
            <a:avLst/>
          </a:prstGeom>
          <a:solidFill>
            <a:srgbClr val="F5F8FC"/>
          </a:solidFill>
          <a:ln w="15875">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965960"/>
            <a:ext cx="237744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075688"/>
            <a:ext cx="2194560" cy="868680"/>
          </a:xfrm>
          <a:prstGeom prst="rect">
            <a:avLst/>
          </a:prstGeom>
          <a:noFill/>
        </p:spPr>
        <p:txBody>
          <a:bodyPr wrap="square" anchor="ctr">
            <a:spAutoFit/>
          </a:bodyPr>
          <a:lstStyle/>
          <a:p>
            <a:pPr algn="ctr">
              <a:spcAft>
                <a:spcPts val="400"/>
              </a:spcAft>
            </a:pPr>
            <a:r>
              <a:rPr sz="1300" b="1">
                <a:solidFill>
                  <a:srgbClr val="161B26"/>
                </a:solidFill>
                <a:latin typeface="Arial"/>
              </a:rPr>
              <a:t>Template
network.yaml / app.yaml</a:t>
            </a:r>
          </a:p>
        </p:txBody>
      </p:sp>
      <p:sp>
        <p:nvSpPr>
          <p:cNvPr id="10" name="Rounded Rectangle 9"/>
          <p:cNvSpPr/>
          <p:nvPr/>
        </p:nvSpPr>
        <p:spPr>
          <a:xfrm>
            <a:off x="777240" y="3657600"/>
            <a:ext cx="2377440" cy="1051560"/>
          </a:xfrm>
          <a:prstGeom prst="roundRect">
            <a:avLst/>
          </a:prstGeom>
          <a:solidFill>
            <a:srgbClr val="F5F8FC"/>
          </a:solidFill>
          <a:ln w="15875">
            <a:solidFill>
              <a:srgbClr val="5B63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3657600"/>
            <a:ext cx="2377440" cy="82296"/>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767328"/>
            <a:ext cx="2194560" cy="868680"/>
          </a:xfrm>
          <a:prstGeom prst="rect">
            <a:avLst/>
          </a:prstGeom>
          <a:noFill/>
        </p:spPr>
        <p:txBody>
          <a:bodyPr wrap="square" anchor="ctr">
            <a:spAutoFit/>
          </a:bodyPr>
          <a:lstStyle/>
          <a:p>
            <a:pPr algn="ctr">
              <a:spcAft>
                <a:spcPts val="400"/>
              </a:spcAft>
            </a:pPr>
            <a:r>
              <a:rPr sz="1300" b="1">
                <a:solidFill>
                  <a:srgbClr val="161B26"/>
                </a:solidFill>
                <a:latin typeface="Arial"/>
              </a:rPr>
              <a:t>Parameters
per environment</a:t>
            </a:r>
          </a:p>
        </p:txBody>
      </p:sp>
      <p:sp>
        <p:nvSpPr>
          <p:cNvPr id="13" name="Rounded Rectangle 12"/>
          <p:cNvSpPr/>
          <p:nvPr/>
        </p:nvSpPr>
        <p:spPr>
          <a:xfrm>
            <a:off x="3520440" y="1965960"/>
            <a:ext cx="2377440" cy="1051560"/>
          </a:xfrm>
          <a:prstGeom prst="roundRect">
            <a:avLst/>
          </a:prstGeom>
          <a:solidFill>
            <a:srgbClr val="F5F8FC"/>
          </a:solidFill>
          <a:ln w="15875">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0440" y="1965960"/>
            <a:ext cx="2377440"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11880" y="2075688"/>
            <a:ext cx="2194560" cy="868680"/>
          </a:xfrm>
          <a:prstGeom prst="rect">
            <a:avLst/>
          </a:prstGeom>
          <a:noFill/>
        </p:spPr>
        <p:txBody>
          <a:bodyPr wrap="square" anchor="ctr">
            <a:spAutoFit/>
          </a:bodyPr>
          <a:lstStyle/>
          <a:p>
            <a:pPr algn="ctr">
              <a:spcAft>
                <a:spcPts val="400"/>
              </a:spcAft>
            </a:pPr>
            <a:r>
              <a:rPr sz="1300" b="1">
                <a:solidFill>
                  <a:srgbClr val="161B26"/>
                </a:solidFill>
                <a:latin typeface="Arial"/>
              </a:rPr>
              <a:t>Change Set
preview diff</a:t>
            </a:r>
          </a:p>
        </p:txBody>
      </p:sp>
      <p:sp>
        <p:nvSpPr>
          <p:cNvPr id="16" name="Rounded Rectangle 15"/>
          <p:cNvSpPr/>
          <p:nvPr/>
        </p:nvSpPr>
        <p:spPr>
          <a:xfrm>
            <a:off x="6263640" y="1965960"/>
            <a:ext cx="2377440" cy="1051560"/>
          </a:xfrm>
          <a:prstGeom prst="roundRect">
            <a:avLst/>
          </a:prstGeom>
          <a:solidFill>
            <a:srgbClr val="F5F8FC"/>
          </a:solidFill>
          <a:ln w="15875">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63640" y="1965960"/>
            <a:ext cx="237744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55080" y="2075688"/>
            <a:ext cx="2194560" cy="868680"/>
          </a:xfrm>
          <a:prstGeom prst="rect">
            <a:avLst/>
          </a:prstGeom>
          <a:noFill/>
        </p:spPr>
        <p:txBody>
          <a:bodyPr wrap="square" anchor="ctr">
            <a:spAutoFit/>
          </a:bodyPr>
          <a:lstStyle/>
          <a:p>
            <a:pPr algn="ctr">
              <a:spcAft>
                <a:spcPts val="400"/>
              </a:spcAft>
            </a:pPr>
            <a:r>
              <a:rPr sz="1300" b="1">
                <a:solidFill>
                  <a:srgbClr val="161B26"/>
                </a:solidFill>
                <a:latin typeface="Arial"/>
              </a:rPr>
              <a:t>Stack
managed resources</a:t>
            </a:r>
          </a:p>
        </p:txBody>
      </p:sp>
      <p:sp>
        <p:nvSpPr>
          <p:cNvPr id="19" name="Rounded Rectangle 18"/>
          <p:cNvSpPr/>
          <p:nvPr/>
        </p:nvSpPr>
        <p:spPr>
          <a:xfrm>
            <a:off x="9006840" y="1965960"/>
            <a:ext cx="2377440" cy="1051560"/>
          </a:xfrm>
          <a:prstGeom prst="roundRect">
            <a:avLst/>
          </a:prstGeom>
          <a:solidFill>
            <a:srgbClr val="F5F8FC"/>
          </a:solidFill>
          <a:ln w="15875">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006840" y="1965960"/>
            <a:ext cx="2377440"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98280" y="2075688"/>
            <a:ext cx="2194560" cy="868680"/>
          </a:xfrm>
          <a:prstGeom prst="rect">
            <a:avLst/>
          </a:prstGeom>
          <a:noFill/>
        </p:spPr>
        <p:txBody>
          <a:bodyPr wrap="square" anchor="ctr">
            <a:spAutoFit/>
          </a:bodyPr>
          <a:lstStyle/>
          <a:p>
            <a:pPr algn="ctr">
              <a:spcAft>
                <a:spcPts val="400"/>
              </a:spcAft>
            </a:pPr>
            <a:r>
              <a:rPr sz="1300" b="1">
                <a:solidFill>
                  <a:srgbClr val="161B26"/>
                </a:solidFill>
                <a:latin typeface="Arial"/>
              </a:rPr>
              <a:t>VPC / Subnets</a:t>
            </a:r>
          </a:p>
        </p:txBody>
      </p:sp>
      <p:sp>
        <p:nvSpPr>
          <p:cNvPr id="22" name="Rounded Rectangle 21"/>
          <p:cNvSpPr/>
          <p:nvPr/>
        </p:nvSpPr>
        <p:spPr>
          <a:xfrm>
            <a:off x="9006840" y="3657600"/>
            <a:ext cx="2377440" cy="1051560"/>
          </a:xfrm>
          <a:prstGeom prst="roundRect">
            <a:avLst/>
          </a:prstGeom>
          <a:solidFill>
            <a:srgbClr val="F5F8FC"/>
          </a:solidFill>
          <a:ln w="15875">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006840" y="3657600"/>
            <a:ext cx="237744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98280" y="3767328"/>
            <a:ext cx="2194560" cy="868680"/>
          </a:xfrm>
          <a:prstGeom prst="rect">
            <a:avLst/>
          </a:prstGeom>
          <a:noFill/>
        </p:spPr>
        <p:txBody>
          <a:bodyPr wrap="square" anchor="ctr">
            <a:spAutoFit/>
          </a:bodyPr>
          <a:lstStyle/>
          <a:p>
            <a:pPr algn="ctr">
              <a:spcAft>
                <a:spcPts val="400"/>
              </a:spcAft>
            </a:pPr>
            <a:r>
              <a:rPr sz="1300" b="1">
                <a:solidFill>
                  <a:srgbClr val="161B26"/>
                </a:solidFill>
                <a:latin typeface="Arial"/>
              </a:rPr>
              <a:t>EC2 / App</a:t>
            </a:r>
          </a:p>
        </p:txBody>
      </p:sp>
      <p:sp>
        <p:nvSpPr>
          <p:cNvPr id="25" name="Rounded Rectangle 24"/>
          <p:cNvSpPr/>
          <p:nvPr/>
        </p:nvSpPr>
        <p:spPr>
          <a:xfrm>
            <a:off x="6263640" y="3657600"/>
            <a:ext cx="2377440" cy="1051560"/>
          </a:xfrm>
          <a:prstGeom prst="roundRect">
            <a:avLst/>
          </a:prstGeom>
          <a:solidFill>
            <a:srgbClr val="F5F8FC"/>
          </a:solidFill>
          <a:ln w="15875">
            <a:solidFill>
              <a:srgbClr val="EC71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63640" y="3657600"/>
            <a:ext cx="2377440" cy="82296"/>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55080" y="3767328"/>
            <a:ext cx="2194560" cy="868680"/>
          </a:xfrm>
          <a:prstGeom prst="rect">
            <a:avLst/>
          </a:prstGeom>
          <a:noFill/>
        </p:spPr>
        <p:txBody>
          <a:bodyPr wrap="square" anchor="ctr">
            <a:spAutoFit/>
          </a:bodyPr>
          <a:lstStyle/>
          <a:p>
            <a:pPr algn="ctr">
              <a:spcAft>
                <a:spcPts val="400"/>
              </a:spcAft>
            </a:pPr>
            <a:r>
              <a:rPr sz="1300" b="1">
                <a:solidFill>
                  <a:srgbClr val="161B26"/>
                </a:solidFill>
                <a:latin typeface="Arial"/>
              </a:rPr>
              <a:t>Drift Detection</a:t>
            </a:r>
          </a:p>
        </p:txBody>
      </p:sp>
      <p:cxnSp>
        <p:nvCxnSpPr>
          <p:cNvPr id="28" name="Connector 27"/>
          <p:cNvCxnSpPr/>
          <p:nvPr/>
        </p:nvCxnSpPr>
        <p:spPr>
          <a:xfrm>
            <a:off x="3154680" y="2491740"/>
            <a:ext cx="365760" cy="0"/>
          </a:xfrm>
          <a:prstGeom prst="line">
            <a:avLst/>
          </a:prstGeom>
          <a:ln w="22225">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154680" y="2491740"/>
            <a:ext cx="365760" cy="1691640"/>
          </a:xfrm>
          <a:prstGeom prst="line">
            <a:avLst/>
          </a:prstGeom>
          <a:ln w="22225">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897880" y="2491740"/>
            <a:ext cx="365760" cy="0"/>
          </a:xfrm>
          <a:prstGeom prst="line">
            <a:avLst/>
          </a:prstGeom>
          <a:ln w="22225">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641080" y="2491740"/>
            <a:ext cx="365760" cy="0"/>
          </a:xfrm>
          <a:prstGeom prst="line">
            <a:avLst/>
          </a:prstGeom>
          <a:ln w="22225">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8641080" y="2491740"/>
            <a:ext cx="365760" cy="1691640"/>
          </a:xfrm>
          <a:prstGeom prst="line">
            <a:avLst/>
          </a:prstGeom>
          <a:ln w="22225">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452360" y="3017520"/>
            <a:ext cx="0" cy="640080"/>
          </a:xfrm>
          <a:prstGeom prst="line">
            <a:avLst/>
          </a:prstGeom>
          <a:ln w="22225">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777240" y="5669280"/>
            <a:ext cx="10634472" cy="548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5840" y="5742432"/>
            <a:ext cx="10241280" cy="411480"/>
          </a:xfrm>
          <a:prstGeom prst="rect">
            <a:avLst/>
          </a:prstGeom>
          <a:noFill/>
        </p:spPr>
        <p:txBody>
          <a:bodyPr wrap="square" anchor="ctr">
            <a:spAutoFit/>
          </a:bodyPr>
          <a:lstStyle/>
          <a:p>
            <a:pPr algn="l">
              <a:spcAft>
                <a:spcPts val="400"/>
              </a:spcAft>
            </a:pPr>
            <a:r>
              <a:rPr sz="1300" b="1">
                <a:solidFill>
                  <a:srgbClr val="7C3AED"/>
                </a:solidFill>
                <a:latin typeface="Arial"/>
              </a:rPr>
              <a:t>▶  </a:t>
            </a:r>
            <a:r>
              <a:rPr sz="1300" b="0">
                <a:solidFill>
                  <a:srgbClr val="161B26"/>
                </a:solidFill>
                <a:latin typeface="Arial"/>
              </a:rPr>
              <a:t>One parameterised template deploys identical dev, test and prod environments; change sets preview, drift detection audits.</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151</a:t>
            </a:r>
          </a:p>
        </p:txBody>
      </p:sp>
    </p:spTree>
  </p:cSld>
  <p:clrMapOvr>
    <a:masterClrMapping/>
  </p:clrMapOvr>
  <p:transition xmlns:p14="http://schemas.microsoft.com/office/powerpoint/2010/main" p14:dur="380">
    <p:fade/>
  </p:transition>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MULTI-ACCOUNT / MULTI-REGION</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Configuration Management &amp; Governance at Scale</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600" b="1">
                <a:solidFill>
                  <a:srgbClr val="161B26"/>
                </a:solidFill>
                <a:latin typeface="Arial"/>
              </a:rPr>
              <a:t>Nested stacks / modules</a:t>
            </a:r>
          </a:p>
          <a:p>
            <a:pPr algn="l">
              <a:spcAft>
                <a:spcPts val="300"/>
              </a:spcAft>
            </a:pPr>
            <a:r>
              <a:rPr sz="1200" b="0">
                <a:solidFill>
                  <a:srgbClr val="5B6372"/>
                </a:solidFill>
                <a:latin typeface="Arial"/>
              </a:rPr>
              <a:t>Package a pattern once and reuse it across teams.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600" b="1">
                <a:solidFill>
                  <a:srgbClr val="161B26"/>
                </a:solidFill>
                <a:latin typeface="Arial"/>
              </a:rPr>
              <a:t>Systems Manager</a:t>
            </a:r>
          </a:p>
          <a:p>
            <a:pPr algn="l">
              <a:spcAft>
                <a:spcPts val="300"/>
              </a:spcAft>
            </a:pPr>
            <a:r>
              <a:rPr sz="1200" b="0">
                <a:solidFill>
                  <a:srgbClr val="5B6372"/>
                </a:solidFill>
                <a:latin typeface="Arial"/>
              </a:rPr>
              <a:t>State Manager, Automation and Parameter Store keep instances in desired state.</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600" b="1">
                <a:solidFill>
                  <a:srgbClr val="161B26"/>
                </a:solidFill>
                <a:latin typeface="Arial"/>
              </a:rPr>
              <a:t>StackSets</a:t>
            </a:r>
          </a:p>
          <a:p>
            <a:pPr algn="l">
              <a:spcAft>
                <a:spcPts val="300"/>
              </a:spcAft>
            </a:pPr>
            <a:r>
              <a:rPr sz="1200" b="0">
                <a:solidFill>
                  <a:srgbClr val="5B6372"/>
                </a:solidFill>
                <a:latin typeface="Arial"/>
              </a:rPr>
              <a:t>Deploy the same stack across many accounts and Regions.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600" b="1">
                <a:solidFill>
                  <a:srgbClr val="161B26"/>
                </a:solidFill>
                <a:latin typeface="Arial"/>
              </a:rPr>
              <a:t>Organizations &amp; Control Tower</a:t>
            </a:r>
          </a:p>
          <a:p>
            <a:pPr algn="l">
              <a:spcAft>
                <a:spcPts val="300"/>
              </a:spcAft>
            </a:pPr>
            <a:r>
              <a:rPr sz="1200" b="0">
                <a:solidFill>
                  <a:srgbClr val="5B6372"/>
                </a:solidFill>
                <a:latin typeface="Arial"/>
              </a:rPr>
              <a:t>Create, onboard and secure accounts with a landing zone.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152</a:t>
            </a:r>
          </a:p>
        </p:txBody>
      </p:sp>
    </p:spTree>
  </p:cSld>
  <p:clrMapOvr>
    <a:masterClrMapping/>
  </p:clrMapOvr>
  <p:transition xmlns:p14="http://schemas.microsoft.com/office/powerpoint/2010/main" p14:dur="380">
    <p:fade/>
  </p:transition>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TEMPLATE STRUCTURE</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Anatomy of a CloudFormation Template</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10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6408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6408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Parameters</a:t>
            </a:r>
          </a:p>
          <a:p>
            <a:pPr algn="l">
              <a:spcAft>
                <a:spcPts val="300"/>
              </a:spcAft>
            </a:pPr>
            <a:r>
              <a:rPr sz="1150" b="0">
                <a:solidFill>
                  <a:srgbClr val="5B6372"/>
                </a:solidFill>
                <a:latin typeface="Arial"/>
              </a:rPr>
              <a:t>Inputs that make the template reusable across environments.</a:t>
            </a:r>
          </a:p>
        </p:txBody>
      </p:sp>
      <p:sp>
        <p:nvSpPr>
          <p:cNvPr id="12" name="Rectangle 11"/>
          <p:cNvSpPr/>
          <p:nvPr/>
        </p:nvSpPr>
        <p:spPr>
          <a:xfrm>
            <a:off x="6231636" y="1783080"/>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3106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6408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6408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Mappings</a:t>
            </a:r>
          </a:p>
          <a:p>
            <a:pPr algn="l">
              <a:spcAft>
                <a:spcPts val="300"/>
              </a:spcAft>
            </a:pPr>
            <a:r>
              <a:rPr sz="1150" b="0">
                <a:solidFill>
                  <a:srgbClr val="5B6372"/>
                </a:solidFill>
                <a:latin typeface="Arial"/>
              </a:rPr>
              <a:t>Static lookup tables (e.g. AMI by Region).</a:t>
            </a:r>
          </a:p>
        </p:txBody>
      </p:sp>
      <p:sp>
        <p:nvSpPr>
          <p:cNvPr id="17" name="Rectangle 16"/>
          <p:cNvSpPr/>
          <p:nvPr/>
        </p:nvSpPr>
        <p:spPr>
          <a:xfrm>
            <a:off x="777240" y="3313176"/>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3176"/>
            <a:ext cx="91440" cy="13106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422904"/>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Conditions</a:t>
            </a:r>
          </a:p>
          <a:p>
            <a:pPr algn="l">
              <a:spcAft>
                <a:spcPts val="300"/>
              </a:spcAft>
            </a:pPr>
            <a:r>
              <a:rPr sz="1150" b="0">
                <a:solidFill>
                  <a:srgbClr val="5B6372"/>
                </a:solidFill>
                <a:latin typeface="Arial"/>
              </a:rPr>
              <a:t>Create resources only when a condition is met.</a:t>
            </a:r>
          </a:p>
        </p:txBody>
      </p:sp>
      <p:sp>
        <p:nvSpPr>
          <p:cNvPr id="22" name="Rectangle 21"/>
          <p:cNvSpPr/>
          <p:nvPr/>
        </p:nvSpPr>
        <p:spPr>
          <a:xfrm>
            <a:off x="6231636" y="3313176"/>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3176"/>
            <a:ext cx="91440" cy="13106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422904"/>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Resources</a:t>
            </a:r>
          </a:p>
          <a:p>
            <a:pPr algn="l">
              <a:spcAft>
                <a:spcPts val="300"/>
              </a:spcAft>
            </a:pPr>
            <a:r>
              <a:rPr sz="1150" b="0">
                <a:solidFill>
                  <a:srgbClr val="5B6372"/>
                </a:solidFill>
                <a:latin typeface="Arial"/>
              </a:rPr>
              <a:t>The AWS resources to provision (the only required section).</a:t>
            </a:r>
          </a:p>
        </p:txBody>
      </p:sp>
      <p:sp>
        <p:nvSpPr>
          <p:cNvPr id="27" name="Rectangle 26"/>
          <p:cNvSpPr/>
          <p:nvPr/>
        </p:nvSpPr>
        <p:spPr>
          <a:xfrm>
            <a:off x="777240" y="4843272"/>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43272"/>
            <a:ext cx="91440" cy="13106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24272"/>
            <a:ext cx="548640" cy="548640"/>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2427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953000"/>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Outputs</a:t>
            </a:r>
          </a:p>
          <a:p>
            <a:pPr algn="l">
              <a:spcAft>
                <a:spcPts val="300"/>
              </a:spcAft>
            </a:pPr>
            <a:r>
              <a:rPr sz="1150" b="0">
                <a:solidFill>
                  <a:srgbClr val="5B6372"/>
                </a:solidFill>
                <a:latin typeface="Arial"/>
              </a:rPr>
              <a:t>Values to export and import into other stacks.</a:t>
            </a:r>
          </a:p>
        </p:txBody>
      </p:sp>
      <p:sp>
        <p:nvSpPr>
          <p:cNvPr id="32" name="Rectangle 31"/>
          <p:cNvSpPr/>
          <p:nvPr/>
        </p:nvSpPr>
        <p:spPr>
          <a:xfrm>
            <a:off x="6231636" y="4843272"/>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43272"/>
            <a:ext cx="91440" cy="1310640"/>
          </a:xfrm>
          <a:prstGeom prst="rect">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24272"/>
            <a:ext cx="548640" cy="548640"/>
          </a:xfrm>
          <a:prstGeom prst="ellipse">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2427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953000"/>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Metadata</a:t>
            </a:r>
          </a:p>
          <a:p>
            <a:pPr algn="l">
              <a:spcAft>
                <a:spcPts val="300"/>
              </a:spcAft>
            </a:pPr>
            <a:r>
              <a:rPr sz="1150" b="0">
                <a:solidFill>
                  <a:srgbClr val="5B6372"/>
                </a:solidFill>
                <a:latin typeface="Arial"/>
              </a:rPr>
              <a:t>Extra structured information about the template.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153</a:t>
            </a:r>
          </a:p>
        </p:txBody>
      </p:sp>
    </p:spTree>
  </p:cSld>
  <p:clrMapOvr>
    <a:masterClrMapping/>
  </p:clrMapOvr>
  <p:transition xmlns:p14="http://schemas.microsoft.com/office/powerpoint/2010/main" p14:dur="380">
    <p:fade/>
  </p:transition>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SAFE CHANGE MANAGEMENT</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The Stack Lifecycle</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51333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59002"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59002"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220724" cy="1325880"/>
          </a:xfrm>
          <a:prstGeom prst="rect">
            <a:avLst/>
          </a:prstGeom>
          <a:noFill/>
        </p:spPr>
        <p:txBody>
          <a:bodyPr wrap="square" anchor="t">
            <a:spAutoFit/>
          </a:bodyPr>
          <a:lstStyle/>
          <a:p>
            <a:pPr algn="ctr">
              <a:spcAft>
                <a:spcPts val="400"/>
              </a:spcAft>
            </a:pPr>
            <a:r>
              <a:rPr sz="1300" b="0">
                <a:solidFill>
                  <a:srgbClr val="161B26"/>
                </a:solidFill>
                <a:latin typeface="Arial"/>
              </a:rPr>
              <a:t>Author
template</a:t>
            </a:r>
          </a:p>
        </p:txBody>
      </p:sp>
      <p:sp>
        <p:nvSpPr>
          <p:cNvPr id="12" name="TextBox 11"/>
          <p:cNvSpPr txBox="1"/>
          <p:nvPr/>
        </p:nvSpPr>
        <p:spPr>
          <a:xfrm>
            <a:off x="2253996"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3" name="Rectangle 12"/>
          <p:cNvSpPr/>
          <p:nvPr/>
        </p:nvSpPr>
        <p:spPr>
          <a:xfrm>
            <a:off x="2601468"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601468" y="2331720"/>
            <a:ext cx="151333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2983230"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8323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2747772" y="3749040"/>
            <a:ext cx="1220724" cy="1325880"/>
          </a:xfrm>
          <a:prstGeom prst="rect">
            <a:avLst/>
          </a:prstGeom>
          <a:noFill/>
        </p:spPr>
        <p:txBody>
          <a:bodyPr wrap="square" anchor="t">
            <a:spAutoFit/>
          </a:bodyPr>
          <a:lstStyle/>
          <a:p>
            <a:pPr algn="ctr">
              <a:spcAft>
                <a:spcPts val="400"/>
              </a:spcAft>
            </a:pPr>
            <a:r>
              <a:rPr sz="1300" b="0">
                <a:solidFill>
                  <a:srgbClr val="161B26"/>
                </a:solidFill>
                <a:latin typeface="Arial"/>
              </a:rPr>
              <a:t>Validate
&amp; lint</a:t>
            </a:r>
          </a:p>
        </p:txBody>
      </p:sp>
      <p:sp>
        <p:nvSpPr>
          <p:cNvPr id="18" name="TextBox 17"/>
          <p:cNvSpPr txBox="1"/>
          <p:nvPr/>
        </p:nvSpPr>
        <p:spPr>
          <a:xfrm>
            <a:off x="4078224"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9" name="Rectangle 18"/>
          <p:cNvSpPr/>
          <p:nvPr/>
        </p:nvSpPr>
        <p:spPr>
          <a:xfrm>
            <a:off x="4425696"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25696" y="2331720"/>
            <a:ext cx="151333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807458"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07458"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4572000" y="3749040"/>
            <a:ext cx="1220724" cy="1325880"/>
          </a:xfrm>
          <a:prstGeom prst="rect">
            <a:avLst/>
          </a:prstGeom>
          <a:noFill/>
        </p:spPr>
        <p:txBody>
          <a:bodyPr wrap="square" anchor="t">
            <a:spAutoFit/>
          </a:bodyPr>
          <a:lstStyle/>
          <a:p>
            <a:pPr algn="ctr">
              <a:spcAft>
                <a:spcPts val="400"/>
              </a:spcAft>
            </a:pPr>
            <a:r>
              <a:rPr sz="1300" b="0">
                <a:solidFill>
                  <a:srgbClr val="161B26"/>
                </a:solidFill>
                <a:latin typeface="Arial"/>
              </a:rPr>
              <a:t>Create Set /
Change Set</a:t>
            </a:r>
          </a:p>
        </p:txBody>
      </p:sp>
      <p:sp>
        <p:nvSpPr>
          <p:cNvPr id="24" name="TextBox 23"/>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25" name="Rectangle 24"/>
          <p:cNvSpPr/>
          <p:nvPr/>
        </p:nvSpPr>
        <p:spPr>
          <a:xfrm>
            <a:off x="6249924"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49924" y="2331720"/>
            <a:ext cx="151333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631686"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3168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6396228" y="3749040"/>
            <a:ext cx="1220724" cy="1325880"/>
          </a:xfrm>
          <a:prstGeom prst="rect">
            <a:avLst/>
          </a:prstGeom>
          <a:noFill/>
        </p:spPr>
        <p:txBody>
          <a:bodyPr wrap="square" anchor="t">
            <a:spAutoFit/>
          </a:bodyPr>
          <a:lstStyle/>
          <a:p>
            <a:pPr algn="ctr">
              <a:spcAft>
                <a:spcPts val="400"/>
              </a:spcAft>
            </a:pPr>
            <a:r>
              <a:rPr sz="1300" b="0">
                <a:solidFill>
                  <a:srgbClr val="161B26"/>
                </a:solidFill>
                <a:latin typeface="Arial"/>
              </a:rPr>
              <a:t>Execute
provision</a:t>
            </a:r>
          </a:p>
        </p:txBody>
      </p:sp>
      <p:sp>
        <p:nvSpPr>
          <p:cNvPr id="30" name="TextBox 29"/>
          <p:cNvSpPr txBox="1"/>
          <p:nvPr/>
        </p:nvSpPr>
        <p:spPr>
          <a:xfrm>
            <a:off x="7726680"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31" name="Rectangle 30"/>
          <p:cNvSpPr/>
          <p:nvPr/>
        </p:nvSpPr>
        <p:spPr>
          <a:xfrm>
            <a:off x="8074152"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074152" y="2331720"/>
            <a:ext cx="151333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455914"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45591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8220456" y="3749040"/>
            <a:ext cx="1220724" cy="1325880"/>
          </a:xfrm>
          <a:prstGeom prst="rect">
            <a:avLst/>
          </a:prstGeom>
          <a:noFill/>
        </p:spPr>
        <p:txBody>
          <a:bodyPr wrap="square" anchor="t">
            <a:spAutoFit/>
          </a:bodyPr>
          <a:lstStyle/>
          <a:p>
            <a:pPr algn="ctr">
              <a:spcAft>
                <a:spcPts val="400"/>
              </a:spcAft>
            </a:pPr>
            <a:r>
              <a:rPr sz="1300" b="0">
                <a:solidFill>
                  <a:srgbClr val="161B26"/>
                </a:solidFill>
                <a:latin typeface="Arial"/>
              </a:rPr>
              <a:t>Detect Drift
audit</a:t>
            </a:r>
          </a:p>
        </p:txBody>
      </p:sp>
      <p:sp>
        <p:nvSpPr>
          <p:cNvPr id="36" name="TextBox 35"/>
          <p:cNvSpPr txBox="1"/>
          <p:nvPr/>
        </p:nvSpPr>
        <p:spPr>
          <a:xfrm>
            <a:off x="9550908"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37" name="Rectangle 36"/>
          <p:cNvSpPr/>
          <p:nvPr/>
        </p:nvSpPr>
        <p:spPr>
          <a:xfrm>
            <a:off x="9898380"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98380" y="2331720"/>
            <a:ext cx="151333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280142"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280142"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6</a:t>
            </a:r>
          </a:p>
        </p:txBody>
      </p:sp>
      <p:sp>
        <p:nvSpPr>
          <p:cNvPr id="41" name="TextBox 40"/>
          <p:cNvSpPr txBox="1"/>
          <p:nvPr/>
        </p:nvSpPr>
        <p:spPr>
          <a:xfrm>
            <a:off x="10044684" y="3749040"/>
            <a:ext cx="1220724" cy="1325880"/>
          </a:xfrm>
          <a:prstGeom prst="rect">
            <a:avLst/>
          </a:prstGeom>
          <a:noFill/>
        </p:spPr>
        <p:txBody>
          <a:bodyPr wrap="square" anchor="t">
            <a:spAutoFit/>
          </a:bodyPr>
          <a:lstStyle/>
          <a:p>
            <a:pPr algn="ctr">
              <a:spcAft>
                <a:spcPts val="400"/>
              </a:spcAft>
            </a:pPr>
            <a:r>
              <a:rPr sz="1300" b="0">
                <a:solidFill>
                  <a:srgbClr val="161B26"/>
                </a:solidFill>
                <a:latin typeface="Arial"/>
              </a:rPr>
              <a:t>Update or
Delete</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154</a:t>
            </a:r>
          </a:p>
        </p:txBody>
      </p:sp>
    </p:spTree>
  </p:cSld>
  <p:clrMapOvr>
    <a:masterClrMapping/>
  </p:clrMapOvr>
  <p:transition xmlns:p14="http://schemas.microsoft.com/office/powerpoint/2010/main" p14:dur="380">
    <p:fade/>
  </p:transition>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CONFIG &amp; SECRETS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Parameter Store vs Secrets Manager</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552273" cy="5029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6968" y="1783080"/>
            <a:ext cx="2369393" cy="502920"/>
          </a:xfrm>
          <a:prstGeom prst="rect">
            <a:avLst/>
          </a:prstGeom>
          <a:noFill/>
        </p:spPr>
        <p:txBody>
          <a:bodyPr wrap="square" anchor="ctr">
            <a:spAutoFit/>
          </a:bodyPr>
          <a:lstStyle/>
          <a:p>
            <a:pPr algn="l">
              <a:spcAft>
                <a:spcPts val="400"/>
              </a:spcAft>
            </a:pPr>
            <a:r>
              <a:rPr sz="1400" b="1">
                <a:solidFill>
                  <a:srgbClr val="FFFFFF"/>
                </a:solidFill>
                <a:latin typeface="Arial"/>
              </a:rPr>
              <a:t>Store</a:t>
            </a:r>
          </a:p>
        </p:txBody>
      </p:sp>
      <p:sp>
        <p:nvSpPr>
          <p:cNvPr id="9" name="Rectangle 8"/>
          <p:cNvSpPr/>
          <p:nvPr/>
        </p:nvSpPr>
        <p:spPr>
          <a:xfrm>
            <a:off x="3329513" y="1783080"/>
            <a:ext cx="4253788" cy="5029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39241" y="1783080"/>
            <a:ext cx="4070908" cy="502920"/>
          </a:xfrm>
          <a:prstGeom prst="rect">
            <a:avLst/>
          </a:prstGeom>
          <a:noFill/>
        </p:spPr>
        <p:txBody>
          <a:bodyPr wrap="square" anchor="ctr">
            <a:spAutoFit/>
          </a:bodyPr>
          <a:lstStyle/>
          <a:p>
            <a:pPr algn="ctr">
              <a:spcAft>
                <a:spcPts val="400"/>
              </a:spcAft>
            </a:pPr>
            <a:r>
              <a:rPr sz="1400" b="1">
                <a:solidFill>
                  <a:srgbClr val="FFFFFF"/>
                </a:solidFill>
                <a:latin typeface="Arial"/>
              </a:rPr>
              <a:t>Best for</a:t>
            </a:r>
          </a:p>
        </p:txBody>
      </p:sp>
      <p:sp>
        <p:nvSpPr>
          <p:cNvPr id="11" name="Rectangle 10"/>
          <p:cNvSpPr/>
          <p:nvPr/>
        </p:nvSpPr>
        <p:spPr>
          <a:xfrm>
            <a:off x="7583301" y="1783080"/>
            <a:ext cx="1914204" cy="5029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93029" y="1783080"/>
            <a:ext cx="1731324" cy="502920"/>
          </a:xfrm>
          <a:prstGeom prst="rect">
            <a:avLst/>
          </a:prstGeom>
          <a:noFill/>
        </p:spPr>
        <p:txBody>
          <a:bodyPr wrap="square" anchor="ctr">
            <a:spAutoFit/>
          </a:bodyPr>
          <a:lstStyle/>
          <a:p>
            <a:pPr algn="ctr">
              <a:spcAft>
                <a:spcPts val="400"/>
              </a:spcAft>
            </a:pPr>
            <a:r>
              <a:rPr sz="1400" b="1">
                <a:solidFill>
                  <a:srgbClr val="FFFFFF"/>
                </a:solidFill>
                <a:latin typeface="Arial"/>
              </a:rPr>
              <a:t>Rotation</a:t>
            </a:r>
          </a:p>
        </p:txBody>
      </p:sp>
      <p:sp>
        <p:nvSpPr>
          <p:cNvPr id="13" name="Rectangle 12"/>
          <p:cNvSpPr/>
          <p:nvPr/>
        </p:nvSpPr>
        <p:spPr>
          <a:xfrm>
            <a:off x="9497505" y="1783080"/>
            <a:ext cx="1914204" cy="5029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7233" y="1783080"/>
            <a:ext cx="1731324" cy="502920"/>
          </a:xfrm>
          <a:prstGeom prst="rect">
            <a:avLst/>
          </a:prstGeom>
          <a:noFill/>
        </p:spPr>
        <p:txBody>
          <a:bodyPr wrap="square" anchor="ctr">
            <a:spAutoFit/>
          </a:bodyPr>
          <a:lstStyle/>
          <a:p>
            <a:pPr algn="ctr">
              <a:spcAft>
                <a:spcPts val="400"/>
              </a:spcAft>
            </a:pPr>
            <a:r>
              <a:rPr sz="1400" b="1">
                <a:solidFill>
                  <a:srgbClr val="FFFFFF"/>
                </a:solidFill>
                <a:latin typeface="Arial"/>
              </a:rPr>
              <a:t>Cost</a:t>
            </a:r>
          </a:p>
        </p:txBody>
      </p:sp>
      <p:sp>
        <p:nvSpPr>
          <p:cNvPr id="15" name="Rectangle 14"/>
          <p:cNvSpPr/>
          <p:nvPr/>
        </p:nvSpPr>
        <p:spPr>
          <a:xfrm>
            <a:off x="777240" y="2286000"/>
            <a:ext cx="2552273"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6968" y="2286000"/>
            <a:ext cx="2369393" cy="822960"/>
          </a:xfrm>
          <a:prstGeom prst="rect">
            <a:avLst/>
          </a:prstGeom>
          <a:noFill/>
        </p:spPr>
        <p:txBody>
          <a:bodyPr wrap="square" anchor="ctr">
            <a:spAutoFit/>
          </a:bodyPr>
          <a:lstStyle/>
          <a:p>
            <a:pPr algn="l">
              <a:spcAft>
                <a:spcPts val="400"/>
              </a:spcAft>
            </a:pPr>
            <a:r>
              <a:rPr sz="1250" b="1">
                <a:solidFill>
                  <a:srgbClr val="161B26"/>
                </a:solidFill>
                <a:latin typeface="Arial"/>
              </a:rPr>
              <a:t>SSM Parameter Store</a:t>
            </a:r>
          </a:p>
        </p:txBody>
      </p:sp>
      <p:sp>
        <p:nvSpPr>
          <p:cNvPr id="17" name="Rectangle 16"/>
          <p:cNvSpPr/>
          <p:nvPr/>
        </p:nvSpPr>
        <p:spPr>
          <a:xfrm>
            <a:off x="3329513" y="2286000"/>
            <a:ext cx="4253788"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39241" y="2286000"/>
            <a:ext cx="4070908" cy="822960"/>
          </a:xfrm>
          <a:prstGeom prst="rect">
            <a:avLst/>
          </a:prstGeom>
          <a:noFill/>
        </p:spPr>
        <p:txBody>
          <a:bodyPr wrap="square" anchor="ctr">
            <a:spAutoFit/>
          </a:bodyPr>
          <a:lstStyle/>
          <a:p>
            <a:pPr algn="ctr">
              <a:spcAft>
                <a:spcPts val="400"/>
              </a:spcAft>
            </a:pPr>
            <a:r>
              <a:rPr sz="1250" b="0">
                <a:solidFill>
                  <a:srgbClr val="5B6372"/>
                </a:solidFill>
                <a:latin typeface="Arial"/>
              </a:rPr>
              <a:t>Config values &amp; non-secret parameters</a:t>
            </a:r>
          </a:p>
        </p:txBody>
      </p:sp>
      <p:sp>
        <p:nvSpPr>
          <p:cNvPr id="19" name="Rectangle 18"/>
          <p:cNvSpPr/>
          <p:nvPr/>
        </p:nvSpPr>
        <p:spPr>
          <a:xfrm>
            <a:off x="7583301" y="2286000"/>
            <a:ext cx="1914204"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93029" y="2286000"/>
            <a:ext cx="1731324" cy="822960"/>
          </a:xfrm>
          <a:prstGeom prst="rect">
            <a:avLst/>
          </a:prstGeom>
          <a:noFill/>
        </p:spPr>
        <p:txBody>
          <a:bodyPr wrap="square" anchor="ctr">
            <a:spAutoFit/>
          </a:bodyPr>
          <a:lstStyle/>
          <a:p>
            <a:pPr algn="ctr">
              <a:spcAft>
                <a:spcPts val="400"/>
              </a:spcAft>
            </a:pPr>
            <a:r>
              <a:rPr sz="1250" b="0">
                <a:solidFill>
                  <a:srgbClr val="5B6372"/>
                </a:solidFill>
                <a:latin typeface="Arial"/>
              </a:rPr>
              <a:t>Manual</a:t>
            </a:r>
          </a:p>
        </p:txBody>
      </p:sp>
      <p:sp>
        <p:nvSpPr>
          <p:cNvPr id="21" name="Rectangle 20"/>
          <p:cNvSpPr/>
          <p:nvPr/>
        </p:nvSpPr>
        <p:spPr>
          <a:xfrm>
            <a:off x="9497505" y="2286000"/>
            <a:ext cx="1914204"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07233" y="2286000"/>
            <a:ext cx="1731324" cy="822960"/>
          </a:xfrm>
          <a:prstGeom prst="rect">
            <a:avLst/>
          </a:prstGeom>
          <a:noFill/>
        </p:spPr>
        <p:txBody>
          <a:bodyPr wrap="square" anchor="ctr">
            <a:spAutoFit/>
          </a:bodyPr>
          <a:lstStyle/>
          <a:p>
            <a:pPr algn="ctr">
              <a:spcAft>
                <a:spcPts val="400"/>
              </a:spcAft>
            </a:pPr>
            <a:r>
              <a:rPr sz="1250" b="0">
                <a:solidFill>
                  <a:srgbClr val="5B6372"/>
                </a:solidFill>
                <a:latin typeface="Arial"/>
              </a:rPr>
              <a:t>Free (standard)</a:t>
            </a:r>
          </a:p>
        </p:txBody>
      </p:sp>
      <p:sp>
        <p:nvSpPr>
          <p:cNvPr id="23" name="Rectangle 22"/>
          <p:cNvSpPr/>
          <p:nvPr/>
        </p:nvSpPr>
        <p:spPr>
          <a:xfrm>
            <a:off x="777240" y="3108960"/>
            <a:ext cx="2552273"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86968" y="3108960"/>
            <a:ext cx="2369393" cy="822960"/>
          </a:xfrm>
          <a:prstGeom prst="rect">
            <a:avLst/>
          </a:prstGeom>
          <a:noFill/>
        </p:spPr>
        <p:txBody>
          <a:bodyPr wrap="square" anchor="ctr">
            <a:spAutoFit/>
          </a:bodyPr>
          <a:lstStyle/>
          <a:p>
            <a:pPr algn="l">
              <a:spcAft>
                <a:spcPts val="400"/>
              </a:spcAft>
            </a:pPr>
            <a:r>
              <a:rPr sz="1250" b="1">
                <a:solidFill>
                  <a:srgbClr val="161B26"/>
                </a:solidFill>
                <a:latin typeface="Arial"/>
              </a:rPr>
              <a:t>Secrets Manager</a:t>
            </a:r>
          </a:p>
        </p:txBody>
      </p:sp>
      <p:sp>
        <p:nvSpPr>
          <p:cNvPr id="25" name="Rectangle 24"/>
          <p:cNvSpPr/>
          <p:nvPr/>
        </p:nvSpPr>
        <p:spPr>
          <a:xfrm>
            <a:off x="3329513" y="3108960"/>
            <a:ext cx="4253788"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439241" y="3108960"/>
            <a:ext cx="4070908" cy="822960"/>
          </a:xfrm>
          <a:prstGeom prst="rect">
            <a:avLst/>
          </a:prstGeom>
          <a:noFill/>
        </p:spPr>
        <p:txBody>
          <a:bodyPr wrap="square" anchor="ctr">
            <a:spAutoFit/>
          </a:bodyPr>
          <a:lstStyle/>
          <a:p>
            <a:pPr algn="ctr">
              <a:spcAft>
                <a:spcPts val="400"/>
              </a:spcAft>
            </a:pPr>
            <a:r>
              <a:rPr sz="1250" b="0">
                <a:solidFill>
                  <a:srgbClr val="5B6372"/>
                </a:solidFill>
                <a:latin typeface="Arial"/>
              </a:rPr>
              <a:t>Passwords, API keys, DB credentials</a:t>
            </a:r>
          </a:p>
        </p:txBody>
      </p:sp>
      <p:sp>
        <p:nvSpPr>
          <p:cNvPr id="27" name="Rectangle 26"/>
          <p:cNvSpPr/>
          <p:nvPr/>
        </p:nvSpPr>
        <p:spPr>
          <a:xfrm>
            <a:off x="7583301" y="3108960"/>
            <a:ext cx="1914204"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93029" y="3108960"/>
            <a:ext cx="1731324" cy="822960"/>
          </a:xfrm>
          <a:prstGeom prst="rect">
            <a:avLst/>
          </a:prstGeom>
          <a:noFill/>
        </p:spPr>
        <p:txBody>
          <a:bodyPr wrap="square" anchor="ctr">
            <a:spAutoFit/>
          </a:bodyPr>
          <a:lstStyle/>
          <a:p>
            <a:pPr algn="ctr">
              <a:spcAft>
                <a:spcPts val="400"/>
              </a:spcAft>
            </a:pPr>
            <a:r>
              <a:rPr sz="1250" b="0">
                <a:solidFill>
                  <a:srgbClr val="5B6372"/>
                </a:solidFill>
                <a:latin typeface="Arial"/>
              </a:rPr>
              <a:t>Automatic</a:t>
            </a:r>
          </a:p>
        </p:txBody>
      </p:sp>
      <p:sp>
        <p:nvSpPr>
          <p:cNvPr id="29" name="Rectangle 28"/>
          <p:cNvSpPr/>
          <p:nvPr/>
        </p:nvSpPr>
        <p:spPr>
          <a:xfrm>
            <a:off x="9497505" y="3108960"/>
            <a:ext cx="1914204"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7233" y="3108960"/>
            <a:ext cx="1731324" cy="822960"/>
          </a:xfrm>
          <a:prstGeom prst="rect">
            <a:avLst/>
          </a:prstGeom>
          <a:noFill/>
        </p:spPr>
        <p:txBody>
          <a:bodyPr wrap="square" anchor="ctr">
            <a:spAutoFit/>
          </a:bodyPr>
          <a:lstStyle/>
          <a:p>
            <a:pPr algn="ctr">
              <a:spcAft>
                <a:spcPts val="400"/>
              </a:spcAft>
            </a:pPr>
            <a:r>
              <a:rPr sz="1250" b="0">
                <a:solidFill>
                  <a:srgbClr val="5B6372"/>
                </a:solidFill>
                <a:latin typeface="Arial"/>
              </a:rPr>
              <a:t>Per-secret</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155</a:t>
            </a:r>
          </a:p>
        </p:txBody>
      </p:sp>
    </p:spTree>
  </p:cSld>
  <p:clrMapOvr>
    <a:masterClrMapping/>
  </p:clrMapOvr>
  <p:transition xmlns:p14="http://schemas.microsoft.com/office/powerpoint/2010/main" p14:dur="380">
    <p:fade/>
  </p:transition>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IN DEPTH</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Infrastructure as Code — declarative desired state</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51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21208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38528"/>
            <a:ext cx="4754880" cy="365760"/>
          </a:xfrm>
          <a:prstGeom prst="rect">
            <a:avLst/>
          </a:prstGeom>
          <a:noFill/>
        </p:spPr>
        <p:txBody>
          <a:bodyPr wrap="square" anchor="t">
            <a:spAutoFit/>
          </a:bodyPr>
          <a:lstStyle/>
          <a:p>
            <a:pPr algn="l">
              <a:spcAft>
                <a:spcPts val="400"/>
              </a:spcAft>
            </a:pPr>
            <a:r>
              <a:rPr sz="1200" b="1">
                <a:solidFill>
                  <a:srgbClr val="7C3AED"/>
                </a:solidFill>
                <a:latin typeface="Arial"/>
              </a:rPr>
              <a:t>IN DEPTH</a:t>
            </a:r>
          </a:p>
        </p:txBody>
      </p:sp>
      <p:sp>
        <p:nvSpPr>
          <p:cNvPr id="10" name="TextBox 9"/>
          <p:cNvSpPr txBox="1"/>
          <p:nvPr/>
        </p:nvSpPr>
        <p:spPr>
          <a:xfrm>
            <a:off x="1005840" y="2377440"/>
            <a:ext cx="4754880" cy="3566160"/>
          </a:xfrm>
          <a:prstGeom prst="rect">
            <a:avLst/>
          </a:prstGeom>
          <a:noFill/>
        </p:spPr>
        <p:txBody>
          <a:bodyPr wrap="square">
            <a:spAutoFit/>
          </a:bodyPr>
          <a:lstStyle/>
          <a:p>
            <a:pPr>
              <a:spcAft>
                <a:spcPts val="800"/>
              </a:spcAft>
            </a:pPr>
            <a:r>
              <a:rPr sz="1350" b="0">
                <a:solidFill>
                  <a:srgbClr val="161B26"/>
                </a:solidFill>
                <a:latin typeface="Arial"/>
              </a:rPr>
              <a:t>•  You describe the target state of infrastructure in version-controlled templates; the service computes and applies the difference.</a:t>
            </a:r>
          </a:p>
          <a:p>
            <a:pPr>
              <a:spcAft>
                <a:spcPts val="800"/>
              </a:spcAft>
            </a:pPr>
            <a:r>
              <a:rPr sz="1350" b="0">
                <a:solidFill>
                  <a:srgbClr val="161B26"/>
                </a:solidFill>
                <a:latin typeface="Arial"/>
              </a:rPr>
              <a:t>•  The same template deploys identical dev, test and prod environments — parameters, not copy-paste, capture the differences.</a:t>
            </a:r>
          </a:p>
          <a:p>
            <a:pPr>
              <a:spcAft>
                <a:spcPts val="800"/>
              </a:spcAft>
            </a:pPr>
            <a:r>
              <a:rPr sz="1350" b="0">
                <a:solidFill>
                  <a:srgbClr val="161B26"/>
                </a:solidFill>
                <a:latin typeface="Arial"/>
              </a:rPr>
              <a:t>•  Infrastructure changes go through code review and the pipeline, just like application code.</a:t>
            </a:r>
          </a:p>
        </p:txBody>
      </p:sp>
      <p:sp>
        <p:nvSpPr>
          <p:cNvPr id="11" name="Rectangle 10"/>
          <p:cNvSpPr/>
          <p:nvPr/>
        </p:nvSpPr>
        <p:spPr>
          <a:xfrm>
            <a:off x="6172200" y="178308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1783080"/>
            <a:ext cx="91440" cy="1325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8232" y="1892808"/>
            <a:ext cx="4782312" cy="320040"/>
          </a:xfrm>
          <a:prstGeom prst="rect">
            <a:avLst/>
          </a:prstGeom>
          <a:noFill/>
        </p:spPr>
        <p:txBody>
          <a:bodyPr wrap="square" anchor="t">
            <a:spAutoFit/>
          </a:bodyPr>
          <a:lstStyle/>
          <a:p>
            <a:pPr algn="l">
              <a:spcAft>
                <a:spcPts val="400"/>
              </a:spcAft>
            </a:pPr>
            <a:r>
              <a:rPr sz="1150" b="1">
                <a:solidFill>
                  <a:srgbClr val="7C3AED"/>
                </a:solidFill>
                <a:latin typeface="Arial"/>
              </a:rPr>
              <a:t>WHY IT MATTERS</a:t>
            </a:r>
          </a:p>
        </p:txBody>
      </p:sp>
      <p:sp>
        <p:nvSpPr>
          <p:cNvPr id="14" name="TextBox 13"/>
          <p:cNvSpPr txBox="1"/>
          <p:nvPr/>
        </p:nvSpPr>
        <p:spPr>
          <a:xfrm>
            <a:off x="6428232" y="222199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Repeatable, reviewable, disposable environments eliminate configuration drift and the 'it works on that server' class of failure.</a:t>
            </a:r>
          </a:p>
        </p:txBody>
      </p:sp>
      <p:sp>
        <p:nvSpPr>
          <p:cNvPr id="15" name="Rectangle 14"/>
          <p:cNvSpPr/>
          <p:nvPr/>
        </p:nvSpPr>
        <p:spPr>
          <a:xfrm>
            <a:off x="6172200" y="324612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3246120"/>
            <a:ext cx="91440" cy="13258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8232" y="3355848"/>
            <a:ext cx="4782312" cy="320040"/>
          </a:xfrm>
          <a:prstGeom prst="rect">
            <a:avLst/>
          </a:prstGeom>
          <a:noFill/>
        </p:spPr>
        <p:txBody>
          <a:bodyPr wrap="square" anchor="t">
            <a:spAutoFit/>
          </a:bodyPr>
          <a:lstStyle/>
          <a:p>
            <a:pPr algn="l">
              <a:spcAft>
                <a:spcPts val="400"/>
              </a:spcAft>
            </a:pPr>
            <a:r>
              <a:rPr sz="1150" b="1">
                <a:solidFill>
                  <a:srgbClr val="C0392B"/>
                </a:solidFill>
                <a:latin typeface="Arial"/>
              </a:rPr>
              <a:t>FAILURE MODE</a:t>
            </a:r>
          </a:p>
        </p:txBody>
      </p:sp>
      <p:sp>
        <p:nvSpPr>
          <p:cNvPr id="18" name="TextBox 17"/>
          <p:cNvSpPr txBox="1"/>
          <p:nvPr/>
        </p:nvSpPr>
        <p:spPr>
          <a:xfrm>
            <a:off x="6428232" y="368503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Mixing manual console changes with IaC creates drift the template no longer describes — the next deploy can revert or clash with them.</a:t>
            </a:r>
          </a:p>
        </p:txBody>
      </p:sp>
      <p:sp>
        <p:nvSpPr>
          <p:cNvPr id="19" name="Rectangle 18"/>
          <p:cNvSpPr/>
          <p:nvPr/>
        </p:nvSpPr>
        <p:spPr>
          <a:xfrm>
            <a:off x="6172200" y="470916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2200" y="4709160"/>
            <a:ext cx="91440" cy="1325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28232" y="4818888"/>
            <a:ext cx="4782312" cy="320040"/>
          </a:xfrm>
          <a:prstGeom prst="rect">
            <a:avLst/>
          </a:prstGeom>
          <a:noFill/>
        </p:spPr>
        <p:txBody>
          <a:bodyPr wrap="square" anchor="t">
            <a:spAutoFit/>
          </a:bodyPr>
          <a:lstStyle/>
          <a:p>
            <a:pPr algn="l">
              <a:spcAft>
                <a:spcPts val="400"/>
              </a:spcAft>
            </a:pPr>
            <a:r>
              <a:rPr sz="1150" b="1">
                <a:solidFill>
                  <a:srgbClr val="F59E0B"/>
                </a:solidFill>
                <a:latin typeface="Arial"/>
              </a:rPr>
              <a:t>TRADE-OFF / DECISION</a:t>
            </a:r>
          </a:p>
        </p:txBody>
      </p:sp>
      <p:sp>
        <p:nvSpPr>
          <p:cNvPr id="22" name="TextBox 21"/>
          <p:cNvSpPr txBox="1"/>
          <p:nvPr/>
        </p:nvSpPr>
        <p:spPr>
          <a:xfrm>
            <a:off x="6428232" y="514807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Declarative IaC is safe and auditable but less flexible than imperative scripts — use change sets and modules to regain expressiveness.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156</a:t>
            </a:r>
          </a:p>
        </p:txBody>
      </p:sp>
    </p:spTree>
  </p:cSld>
  <p:clrMapOvr>
    <a:masterClrMapping/>
  </p:clrMapOvr>
  <p:transition xmlns:p14="http://schemas.microsoft.com/office/powerpoint/2010/main" p14:dur="380">
    <p:fade/>
  </p:transition>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IN DEPTH</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CloudFormation stacks, change sets and rollback</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51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21208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38528"/>
            <a:ext cx="4754880" cy="365760"/>
          </a:xfrm>
          <a:prstGeom prst="rect">
            <a:avLst/>
          </a:prstGeom>
          <a:noFill/>
        </p:spPr>
        <p:txBody>
          <a:bodyPr wrap="square" anchor="t">
            <a:spAutoFit/>
          </a:bodyPr>
          <a:lstStyle/>
          <a:p>
            <a:pPr algn="l">
              <a:spcAft>
                <a:spcPts val="400"/>
              </a:spcAft>
            </a:pPr>
            <a:r>
              <a:rPr sz="1200" b="1">
                <a:solidFill>
                  <a:srgbClr val="7C3AED"/>
                </a:solidFill>
                <a:latin typeface="Arial"/>
              </a:rPr>
              <a:t>IN DEPTH</a:t>
            </a:r>
          </a:p>
        </p:txBody>
      </p:sp>
      <p:sp>
        <p:nvSpPr>
          <p:cNvPr id="10" name="TextBox 9"/>
          <p:cNvSpPr txBox="1"/>
          <p:nvPr/>
        </p:nvSpPr>
        <p:spPr>
          <a:xfrm>
            <a:off x="1005840" y="2377440"/>
            <a:ext cx="4754880" cy="3566160"/>
          </a:xfrm>
          <a:prstGeom prst="rect">
            <a:avLst/>
          </a:prstGeom>
          <a:noFill/>
        </p:spPr>
        <p:txBody>
          <a:bodyPr wrap="square">
            <a:spAutoFit/>
          </a:bodyPr>
          <a:lstStyle/>
          <a:p>
            <a:pPr>
              <a:spcAft>
                <a:spcPts val="800"/>
              </a:spcAft>
            </a:pPr>
            <a:r>
              <a:rPr sz="1350" b="0">
                <a:solidFill>
                  <a:srgbClr val="161B26"/>
                </a:solidFill>
                <a:latin typeface="Arial"/>
              </a:rPr>
              <a:t>•  A stack is a unit of resources created, updated and deleted together from one template.</a:t>
            </a:r>
          </a:p>
          <a:p>
            <a:pPr>
              <a:spcAft>
                <a:spcPts val="800"/>
              </a:spcAft>
            </a:pPr>
            <a:r>
              <a:rPr sz="1350" b="0">
                <a:solidFill>
                  <a:srgbClr val="161B26"/>
                </a:solidFill>
                <a:latin typeface="Arial"/>
              </a:rPr>
              <a:t>•  A change set previews exactly what an update will add, modify or replace before you execute it.</a:t>
            </a:r>
          </a:p>
          <a:p>
            <a:pPr>
              <a:spcAft>
                <a:spcPts val="800"/>
              </a:spcAft>
            </a:pPr>
            <a:r>
              <a:rPr sz="1350" b="0">
                <a:solidFill>
                  <a:srgbClr val="161B26"/>
                </a:solidFill>
                <a:latin typeface="Arial"/>
              </a:rPr>
              <a:t>•  On failure, CloudFormation automatically rolls the stack back to its last known-good state.</a:t>
            </a:r>
          </a:p>
        </p:txBody>
      </p:sp>
      <p:sp>
        <p:nvSpPr>
          <p:cNvPr id="11" name="Rectangle 10"/>
          <p:cNvSpPr/>
          <p:nvPr/>
        </p:nvSpPr>
        <p:spPr>
          <a:xfrm>
            <a:off x="6172200" y="178308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1783080"/>
            <a:ext cx="91440" cy="1325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8232" y="1892808"/>
            <a:ext cx="4782312" cy="320040"/>
          </a:xfrm>
          <a:prstGeom prst="rect">
            <a:avLst/>
          </a:prstGeom>
          <a:noFill/>
        </p:spPr>
        <p:txBody>
          <a:bodyPr wrap="square" anchor="t">
            <a:spAutoFit/>
          </a:bodyPr>
          <a:lstStyle/>
          <a:p>
            <a:pPr algn="l">
              <a:spcAft>
                <a:spcPts val="400"/>
              </a:spcAft>
            </a:pPr>
            <a:r>
              <a:rPr sz="1150" b="1">
                <a:solidFill>
                  <a:srgbClr val="7C3AED"/>
                </a:solidFill>
                <a:latin typeface="Arial"/>
              </a:rPr>
              <a:t>WHY IT MATTERS</a:t>
            </a:r>
          </a:p>
        </p:txBody>
      </p:sp>
      <p:sp>
        <p:nvSpPr>
          <p:cNvPr id="14" name="TextBox 13"/>
          <p:cNvSpPr txBox="1"/>
          <p:nvPr/>
        </p:nvSpPr>
        <p:spPr>
          <a:xfrm>
            <a:off x="6428232" y="222199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Preview-then-apply plus automatic rollback make infrastructure changes as safe and reversible as a code deployment.</a:t>
            </a:r>
          </a:p>
        </p:txBody>
      </p:sp>
      <p:sp>
        <p:nvSpPr>
          <p:cNvPr id="15" name="Rectangle 14"/>
          <p:cNvSpPr/>
          <p:nvPr/>
        </p:nvSpPr>
        <p:spPr>
          <a:xfrm>
            <a:off x="6172200" y="324612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3246120"/>
            <a:ext cx="91440" cy="13258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8232" y="3355848"/>
            <a:ext cx="4782312" cy="320040"/>
          </a:xfrm>
          <a:prstGeom prst="rect">
            <a:avLst/>
          </a:prstGeom>
          <a:noFill/>
        </p:spPr>
        <p:txBody>
          <a:bodyPr wrap="square" anchor="t">
            <a:spAutoFit/>
          </a:bodyPr>
          <a:lstStyle/>
          <a:p>
            <a:pPr algn="l">
              <a:spcAft>
                <a:spcPts val="400"/>
              </a:spcAft>
            </a:pPr>
            <a:r>
              <a:rPr sz="1150" b="1">
                <a:solidFill>
                  <a:srgbClr val="C0392B"/>
                </a:solidFill>
                <a:latin typeface="Arial"/>
              </a:rPr>
              <a:t>FAILURE MODE</a:t>
            </a:r>
          </a:p>
        </p:txBody>
      </p:sp>
      <p:sp>
        <p:nvSpPr>
          <p:cNvPr id="18" name="TextBox 17"/>
          <p:cNvSpPr txBox="1"/>
          <p:nvPr/>
        </p:nvSpPr>
        <p:spPr>
          <a:xfrm>
            <a:off x="6428232" y="368503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A resource that must be replaced (not updated in place) can cause downtime or data loss if you don't read the change set's Replacement column.</a:t>
            </a:r>
          </a:p>
        </p:txBody>
      </p:sp>
      <p:sp>
        <p:nvSpPr>
          <p:cNvPr id="19" name="Rectangle 18"/>
          <p:cNvSpPr/>
          <p:nvPr/>
        </p:nvSpPr>
        <p:spPr>
          <a:xfrm>
            <a:off x="6172200" y="470916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2200" y="4709160"/>
            <a:ext cx="91440" cy="1325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28232" y="4818888"/>
            <a:ext cx="4782312" cy="320040"/>
          </a:xfrm>
          <a:prstGeom prst="rect">
            <a:avLst/>
          </a:prstGeom>
          <a:noFill/>
        </p:spPr>
        <p:txBody>
          <a:bodyPr wrap="square" anchor="t">
            <a:spAutoFit/>
          </a:bodyPr>
          <a:lstStyle/>
          <a:p>
            <a:pPr algn="l">
              <a:spcAft>
                <a:spcPts val="400"/>
              </a:spcAft>
            </a:pPr>
            <a:r>
              <a:rPr sz="1150" b="1">
                <a:solidFill>
                  <a:srgbClr val="F59E0B"/>
                </a:solidFill>
                <a:latin typeface="Arial"/>
              </a:rPr>
              <a:t>TRADE-OFF / DECISION</a:t>
            </a:r>
          </a:p>
        </p:txBody>
      </p:sp>
      <p:sp>
        <p:nvSpPr>
          <p:cNvPr id="22" name="TextBox 21"/>
          <p:cNvSpPr txBox="1"/>
          <p:nvPr/>
        </p:nvSpPr>
        <p:spPr>
          <a:xfrm>
            <a:off x="6428232" y="514807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Automatic rollback protects you but can mask the real error — always read the stack Events for the first failing resource.</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157</a:t>
            </a:r>
          </a:p>
        </p:txBody>
      </p:sp>
    </p:spTree>
  </p:cSld>
  <p:clrMapOvr>
    <a:masterClrMapping/>
  </p:clrMapOvr>
  <p:transition xmlns:p14="http://schemas.microsoft.com/office/powerpoint/2010/main" p14:dur="380">
    <p:fade/>
  </p:transition>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IN DEPTH</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500" b="1">
                <a:solidFill>
                  <a:srgbClr val="161B26"/>
                </a:solidFill>
                <a:latin typeface="Arial"/>
              </a:rPr>
              <a:t>Template anatomy — parameters, mappings, conditions, outputs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51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21208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38528"/>
            <a:ext cx="4754880" cy="365760"/>
          </a:xfrm>
          <a:prstGeom prst="rect">
            <a:avLst/>
          </a:prstGeom>
          <a:noFill/>
        </p:spPr>
        <p:txBody>
          <a:bodyPr wrap="square" anchor="t">
            <a:spAutoFit/>
          </a:bodyPr>
          <a:lstStyle/>
          <a:p>
            <a:pPr algn="l">
              <a:spcAft>
                <a:spcPts val="400"/>
              </a:spcAft>
            </a:pPr>
            <a:r>
              <a:rPr sz="1200" b="1">
                <a:solidFill>
                  <a:srgbClr val="7C3AED"/>
                </a:solidFill>
                <a:latin typeface="Arial"/>
              </a:rPr>
              <a:t>IN DEPTH</a:t>
            </a:r>
          </a:p>
        </p:txBody>
      </p:sp>
      <p:sp>
        <p:nvSpPr>
          <p:cNvPr id="10" name="TextBox 9"/>
          <p:cNvSpPr txBox="1"/>
          <p:nvPr/>
        </p:nvSpPr>
        <p:spPr>
          <a:xfrm>
            <a:off x="1005840" y="2377440"/>
            <a:ext cx="4754880" cy="3566160"/>
          </a:xfrm>
          <a:prstGeom prst="rect">
            <a:avLst/>
          </a:prstGeom>
          <a:noFill/>
        </p:spPr>
        <p:txBody>
          <a:bodyPr wrap="square">
            <a:spAutoFit/>
          </a:bodyPr>
          <a:lstStyle/>
          <a:p>
            <a:pPr>
              <a:spcAft>
                <a:spcPts val="800"/>
              </a:spcAft>
            </a:pPr>
            <a:r>
              <a:rPr sz="1350" b="0">
                <a:solidFill>
                  <a:srgbClr val="161B26"/>
                </a:solidFill>
                <a:latin typeface="Arial"/>
              </a:rPr>
              <a:t>•  Parameters make a template reusable across environments; Mappings hold static lookups such as AMI-by-Region.</a:t>
            </a:r>
          </a:p>
          <a:p>
            <a:pPr>
              <a:spcAft>
                <a:spcPts val="800"/>
              </a:spcAft>
            </a:pPr>
            <a:r>
              <a:rPr sz="1350" b="0">
                <a:solidFill>
                  <a:srgbClr val="161B26"/>
                </a:solidFill>
                <a:latin typeface="Arial"/>
              </a:rPr>
              <a:t>•  Conditions create resources only when appropriate (e.g. a NAT gateway only in prod); Outputs export values for other stacks.</a:t>
            </a:r>
          </a:p>
          <a:p>
            <a:pPr>
              <a:spcAft>
                <a:spcPts val="800"/>
              </a:spcAft>
            </a:pPr>
            <a:r>
              <a:rPr sz="1350" b="0">
                <a:solidFill>
                  <a:srgbClr val="161B26"/>
                </a:solidFill>
                <a:latin typeface="Arial"/>
              </a:rPr>
              <a:t>•  Only the Resources section is mandatory — everything else exists to make templates reusable and composable.</a:t>
            </a:r>
          </a:p>
        </p:txBody>
      </p:sp>
      <p:sp>
        <p:nvSpPr>
          <p:cNvPr id="11" name="Rectangle 10"/>
          <p:cNvSpPr/>
          <p:nvPr/>
        </p:nvSpPr>
        <p:spPr>
          <a:xfrm>
            <a:off x="6172200" y="178308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1783080"/>
            <a:ext cx="91440" cy="1325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8232" y="1892808"/>
            <a:ext cx="4782312" cy="320040"/>
          </a:xfrm>
          <a:prstGeom prst="rect">
            <a:avLst/>
          </a:prstGeom>
          <a:noFill/>
        </p:spPr>
        <p:txBody>
          <a:bodyPr wrap="square" anchor="t">
            <a:spAutoFit/>
          </a:bodyPr>
          <a:lstStyle/>
          <a:p>
            <a:pPr algn="l">
              <a:spcAft>
                <a:spcPts val="400"/>
              </a:spcAft>
            </a:pPr>
            <a:r>
              <a:rPr sz="1150" b="1">
                <a:solidFill>
                  <a:srgbClr val="7C3AED"/>
                </a:solidFill>
                <a:latin typeface="Arial"/>
              </a:rPr>
              <a:t>WHY IT MATTERS</a:t>
            </a:r>
          </a:p>
        </p:txBody>
      </p:sp>
      <p:sp>
        <p:nvSpPr>
          <p:cNvPr id="14" name="TextBox 13"/>
          <p:cNvSpPr txBox="1"/>
          <p:nvPr/>
        </p:nvSpPr>
        <p:spPr>
          <a:xfrm>
            <a:off x="6428232" y="222199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A well-structured template is a reusable product, not a one-off script — one artifact serves many teams and Regions.</a:t>
            </a:r>
          </a:p>
        </p:txBody>
      </p:sp>
      <p:sp>
        <p:nvSpPr>
          <p:cNvPr id="15" name="Rectangle 14"/>
          <p:cNvSpPr/>
          <p:nvPr/>
        </p:nvSpPr>
        <p:spPr>
          <a:xfrm>
            <a:off x="6172200" y="324612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3246120"/>
            <a:ext cx="91440" cy="13258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8232" y="3355848"/>
            <a:ext cx="4782312" cy="320040"/>
          </a:xfrm>
          <a:prstGeom prst="rect">
            <a:avLst/>
          </a:prstGeom>
          <a:noFill/>
        </p:spPr>
        <p:txBody>
          <a:bodyPr wrap="square" anchor="t">
            <a:spAutoFit/>
          </a:bodyPr>
          <a:lstStyle/>
          <a:p>
            <a:pPr algn="l">
              <a:spcAft>
                <a:spcPts val="400"/>
              </a:spcAft>
            </a:pPr>
            <a:r>
              <a:rPr sz="1150" b="1">
                <a:solidFill>
                  <a:srgbClr val="C0392B"/>
                </a:solidFill>
                <a:latin typeface="Arial"/>
              </a:rPr>
              <a:t>FAILURE MODE</a:t>
            </a:r>
          </a:p>
        </p:txBody>
      </p:sp>
      <p:sp>
        <p:nvSpPr>
          <p:cNvPr id="18" name="TextBox 17"/>
          <p:cNvSpPr txBox="1"/>
          <p:nvPr/>
        </p:nvSpPr>
        <p:spPr>
          <a:xfrm>
            <a:off x="6428232" y="368503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Hard-coded AMI IDs, account numbers or Region strings make a template that only works in the account it was written in.</a:t>
            </a:r>
          </a:p>
        </p:txBody>
      </p:sp>
      <p:sp>
        <p:nvSpPr>
          <p:cNvPr id="19" name="Rectangle 18"/>
          <p:cNvSpPr/>
          <p:nvPr/>
        </p:nvSpPr>
        <p:spPr>
          <a:xfrm>
            <a:off x="6172200" y="470916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2200" y="4709160"/>
            <a:ext cx="91440" cy="1325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28232" y="4818888"/>
            <a:ext cx="4782312" cy="320040"/>
          </a:xfrm>
          <a:prstGeom prst="rect">
            <a:avLst/>
          </a:prstGeom>
          <a:noFill/>
        </p:spPr>
        <p:txBody>
          <a:bodyPr wrap="square" anchor="t">
            <a:spAutoFit/>
          </a:bodyPr>
          <a:lstStyle/>
          <a:p>
            <a:pPr algn="l">
              <a:spcAft>
                <a:spcPts val="400"/>
              </a:spcAft>
            </a:pPr>
            <a:r>
              <a:rPr sz="1150" b="1">
                <a:solidFill>
                  <a:srgbClr val="F59E0B"/>
                </a:solidFill>
                <a:latin typeface="Arial"/>
              </a:rPr>
              <a:t>TRADE-OFF / DECISION</a:t>
            </a:r>
          </a:p>
        </p:txBody>
      </p:sp>
      <p:sp>
        <p:nvSpPr>
          <p:cNvPr id="22" name="TextBox 21"/>
          <p:cNvSpPr txBox="1"/>
          <p:nvPr/>
        </p:nvSpPr>
        <p:spPr>
          <a:xfrm>
            <a:off x="6428232" y="514807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Heavy parameterisation increases flexibility but reduces readability — prefer sensible defaults and SSM public parameters.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158</a:t>
            </a:r>
          </a:p>
        </p:txBody>
      </p:sp>
    </p:spTree>
  </p:cSld>
  <p:clrMapOvr>
    <a:masterClrMapping/>
  </p:clrMapOvr>
  <p:transition xmlns:p14="http://schemas.microsoft.com/office/powerpoint/2010/main" p14:dur="380">
    <p:fade/>
  </p:transition>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IN DEPTH</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Reuse — nested stacks, modules and StackSets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51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21208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38528"/>
            <a:ext cx="4754880" cy="365760"/>
          </a:xfrm>
          <a:prstGeom prst="rect">
            <a:avLst/>
          </a:prstGeom>
          <a:noFill/>
        </p:spPr>
        <p:txBody>
          <a:bodyPr wrap="square" anchor="t">
            <a:spAutoFit/>
          </a:bodyPr>
          <a:lstStyle/>
          <a:p>
            <a:pPr algn="l">
              <a:spcAft>
                <a:spcPts val="400"/>
              </a:spcAft>
            </a:pPr>
            <a:r>
              <a:rPr sz="1200" b="1">
                <a:solidFill>
                  <a:srgbClr val="7C3AED"/>
                </a:solidFill>
                <a:latin typeface="Arial"/>
              </a:rPr>
              <a:t>IN DEPTH</a:t>
            </a:r>
          </a:p>
        </p:txBody>
      </p:sp>
      <p:sp>
        <p:nvSpPr>
          <p:cNvPr id="10" name="TextBox 9"/>
          <p:cNvSpPr txBox="1"/>
          <p:nvPr/>
        </p:nvSpPr>
        <p:spPr>
          <a:xfrm>
            <a:off x="1005840" y="2377440"/>
            <a:ext cx="4754880" cy="3566160"/>
          </a:xfrm>
          <a:prstGeom prst="rect">
            <a:avLst/>
          </a:prstGeom>
          <a:noFill/>
        </p:spPr>
        <p:txBody>
          <a:bodyPr wrap="square">
            <a:spAutoFit/>
          </a:bodyPr>
          <a:lstStyle/>
          <a:p>
            <a:pPr>
              <a:spcAft>
                <a:spcPts val="800"/>
              </a:spcAft>
            </a:pPr>
            <a:r>
              <a:rPr sz="1350" b="0">
                <a:solidFill>
                  <a:srgbClr val="161B26"/>
                </a:solidFill>
                <a:latin typeface="Arial"/>
              </a:rPr>
              <a:t>•  Nested stacks and CloudFormation modules package a pattern once and reuse it across many stacks.</a:t>
            </a:r>
          </a:p>
          <a:p>
            <a:pPr>
              <a:spcAft>
                <a:spcPts val="800"/>
              </a:spcAft>
            </a:pPr>
            <a:r>
              <a:rPr sz="1350" b="0">
                <a:solidFill>
                  <a:srgbClr val="161B26"/>
                </a:solidFill>
                <a:latin typeface="Arial"/>
              </a:rPr>
              <a:t>•  StackSets deploy the same stack across many accounts and Regions from a single operation.</a:t>
            </a:r>
          </a:p>
          <a:p>
            <a:pPr>
              <a:spcAft>
                <a:spcPts val="800"/>
              </a:spcAft>
            </a:pPr>
            <a:r>
              <a:rPr sz="1350" b="0">
                <a:solidFill>
                  <a:srgbClr val="161B26"/>
                </a:solidFill>
                <a:latin typeface="Arial"/>
              </a:rPr>
              <a:t>•  Cross-stack references and exports let a network stack publish IDs that app stacks import.</a:t>
            </a:r>
          </a:p>
        </p:txBody>
      </p:sp>
      <p:sp>
        <p:nvSpPr>
          <p:cNvPr id="11" name="Rectangle 10"/>
          <p:cNvSpPr/>
          <p:nvPr/>
        </p:nvSpPr>
        <p:spPr>
          <a:xfrm>
            <a:off x="6172200" y="178308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1783080"/>
            <a:ext cx="91440" cy="1325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8232" y="1892808"/>
            <a:ext cx="4782312" cy="320040"/>
          </a:xfrm>
          <a:prstGeom prst="rect">
            <a:avLst/>
          </a:prstGeom>
          <a:noFill/>
        </p:spPr>
        <p:txBody>
          <a:bodyPr wrap="square" anchor="t">
            <a:spAutoFit/>
          </a:bodyPr>
          <a:lstStyle/>
          <a:p>
            <a:pPr algn="l">
              <a:spcAft>
                <a:spcPts val="400"/>
              </a:spcAft>
            </a:pPr>
            <a:r>
              <a:rPr sz="1150" b="1">
                <a:solidFill>
                  <a:srgbClr val="7C3AED"/>
                </a:solidFill>
                <a:latin typeface="Arial"/>
              </a:rPr>
              <a:t>WHY IT MATTERS</a:t>
            </a:r>
          </a:p>
        </p:txBody>
      </p:sp>
      <p:sp>
        <p:nvSpPr>
          <p:cNvPr id="14" name="TextBox 13"/>
          <p:cNvSpPr txBox="1"/>
          <p:nvPr/>
        </p:nvSpPr>
        <p:spPr>
          <a:xfrm>
            <a:off x="6428232" y="222199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Reuse turns a proven design into an organisational standard, so every team gets the same secure, compliant baseline.</a:t>
            </a:r>
          </a:p>
        </p:txBody>
      </p:sp>
      <p:sp>
        <p:nvSpPr>
          <p:cNvPr id="15" name="Rectangle 14"/>
          <p:cNvSpPr/>
          <p:nvPr/>
        </p:nvSpPr>
        <p:spPr>
          <a:xfrm>
            <a:off x="6172200" y="324612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3246120"/>
            <a:ext cx="91440" cy="13258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8232" y="3355848"/>
            <a:ext cx="4782312" cy="320040"/>
          </a:xfrm>
          <a:prstGeom prst="rect">
            <a:avLst/>
          </a:prstGeom>
          <a:noFill/>
        </p:spPr>
        <p:txBody>
          <a:bodyPr wrap="square" anchor="t">
            <a:spAutoFit/>
          </a:bodyPr>
          <a:lstStyle/>
          <a:p>
            <a:pPr algn="l">
              <a:spcAft>
                <a:spcPts val="400"/>
              </a:spcAft>
            </a:pPr>
            <a:r>
              <a:rPr sz="1150" b="1">
                <a:solidFill>
                  <a:srgbClr val="C0392B"/>
                </a:solidFill>
                <a:latin typeface="Arial"/>
              </a:rPr>
              <a:t>FAILURE MODE</a:t>
            </a:r>
          </a:p>
        </p:txBody>
      </p:sp>
      <p:sp>
        <p:nvSpPr>
          <p:cNvPr id="18" name="TextBox 17"/>
          <p:cNvSpPr txBox="1"/>
          <p:nvPr/>
        </p:nvSpPr>
        <p:spPr>
          <a:xfrm>
            <a:off x="6428232" y="368503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Over-nesting creates tightly coupled stacks where one change forces wide, slow updates and hard-to-debug failures.</a:t>
            </a:r>
          </a:p>
        </p:txBody>
      </p:sp>
      <p:sp>
        <p:nvSpPr>
          <p:cNvPr id="19" name="Rectangle 18"/>
          <p:cNvSpPr/>
          <p:nvPr/>
        </p:nvSpPr>
        <p:spPr>
          <a:xfrm>
            <a:off x="6172200" y="470916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2200" y="4709160"/>
            <a:ext cx="91440" cy="1325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28232" y="4818888"/>
            <a:ext cx="4782312" cy="320040"/>
          </a:xfrm>
          <a:prstGeom prst="rect">
            <a:avLst/>
          </a:prstGeom>
          <a:noFill/>
        </p:spPr>
        <p:txBody>
          <a:bodyPr wrap="square" anchor="t">
            <a:spAutoFit/>
          </a:bodyPr>
          <a:lstStyle/>
          <a:p>
            <a:pPr algn="l">
              <a:spcAft>
                <a:spcPts val="400"/>
              </a:spcAft>
            </a:pPr>
            <a:r>
              <a:rPr sz="1150" b="1">
                <a:solidFill>
                  <a:srgbClr val="F59E0B"/>
                </a:solidFill>
                <a:latin typeface="Arial"/>
              </a:rPr>
              <a:t>TRADE-OFF / DECISION</a:t>
            </a:r>
          </a:p>
        </p:txBody>
      </p:sp>
      <p:sp>
        <p:nvSpPr>
          <p:cNvPr id="22" name="TextBox 21"/>
          <p:cNvSpPr txBox="1"/>
          <p:nvPr/>
        </p:nvSpPr>
        <p:spPr>
          <a:xfrm>
            <a:off x="6428232" y="514807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Central StackSets enforce consistency but need governance so account teams aren't blocked waiting on the platform team.</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159</a:t>
            </a:r>
          </a:p>
        </p:txBody>
      </p:sp>
    </p:spTree>
  </p:cSld>
  <p:clrMapOvr>
    <a:masterClrMapping/>
  </p:clrMapOvr>
  <p:transition xmlns:p14="http://schemas.microsoft.com/office/powerpoint/2010/main" p14:dur="380">
    <p:fade/>
  </p:transition>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IN DEPTH</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CDK, SAM and Terraform — when to reach for each</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51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21208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38528"/>
            <a:ext cx="4754880" cy="365760"/>
          </a:xfrm>
          <a:prstGeom prst="rect">
            <a:avLst/>
          </a:prstGeom>
          <a:noFill/>
        </p:spPr>
        <p:txBody>
          <a:bodyPr wrap="square" anchor="t">
            <a:spAutoFit/>
          </a:bodyPr>
          <a:lstStyle/>
          <a:p>
            <a:pPr algn="l">
              <a:spcAft>
                <a:spcPts val="400"/>
              </a:spcAft>
            </a:pPr>
            <a:r>
              <a:rPr sz="1200" b="1">
                <a:solidFill>
                  <a:srgbClr val="7C3AED"/>
                </a:solidFill>
                <a:latin typeface="Arial"/>
              </a:rPr>
              <a:t>IN DEPTH</a:t>
            </a:r>
          </a:p>
        </p:txBody>
      </p:sp>
      <p:sp>
        <p:nvSpPr>
          <p:cNvPr id="10" name="TextBox 9"/>
          <p:cNvSpPr txBox="1"/>
          <p:nvPr/>
        </p:nvSpPr>
        <p:spPr>
          <a:xfrm>
            <a:off x="1005840" y="2377440"/>
            <a:ext cx="4754880" cy="3566160"/>
          </a:xfrm>
          <a:prstGeom prst="rect">
            <a:avLst/>
          </a:prstGeom>
          <a:noFill/>
        </p:spPr>
        <p:txBody>
          <a:bodyPr wrap="square">
            <a:spAutoFit/>
          </a:bodyPr>
          <a:lstStyle/>
          <a:p>
            <a:pPr>
              <a:spcAft>
                <a:spcPts val="800"/>
              </a:spcAft>
            </a:pPr>
            <a:r>
              <a:rPr sz="1350" b="0">
                <a:solidFill>
                  <a:srgbClr val="161B26"/>
                </a:solidFill>
                <a:latin typeface="Arial"/>
              </a:rPr>
              <a:t>•  The AWS CDK lets you express infrastructure in a general-purpose language and synthesises CloudFormation.</a:t>
            </a:r>
          </a:p>
          <a:p>
            <a:pPr>
              <a:spcAft>
                <a:spcPts val="800"/>
              </a:spcAft>
            </a:pPr>
            <a:r>
              <a:rPr sz="1350" b="0">
                <a:solidFill>
                  <a:srgbClr val="161B26"/>
                </a:solidFill>
                <a:latin typeface="Arial"/>
              </a:rPr>
              <a:t>•  AWS SAM is a CloudFormation extension optimised for serverless apps.</a:t>
            </a:r>
          </a:p>
          <a:p>
            <a:pPr>
              <a:spcAft>
                <a:spcPts val="800"/>
              </a:spcAft>
            </a:pPr>
            <a:r>
              <a:rPr sz="1350" b="0">
                <a:solidFill>
                  <a:srgbClr val="161B26"/>
                </a:solidFill>
                <a:latin typeface="Arial"/>
              </a:rPr>
              <a:t>•  Terraform describes desired state in HCL across many clouds and providers.</a:t>
            </a:r>
          </a:p>
        </p:txBody>
      </p:sp>
      <p:sp>
        <p:nvSpPr>
          <p:cNvPr id="11" name="Rectangle 10"/>
          <p:cNvSpPr/>
          <p:nvPr/>
        </p:nvSpPr>
        <p:spPr>
          <a:xfrm>
            <a:off x="6172200" y="178308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1783080"/>
            <a:ext cx="91440" cy="1325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8232" y="1892808"/>
            <a:ext cx="4782312" cy="320040"/>
          </a:xfrm>
          <a:prstGeom prst="rect">
            <a:avLst/>
          </a:prstGeom>
          <a:noFill/>
        </p:spPr>
        <p:txBody>
          <a:bodyPr wrap="square" anchor="t">
            <a:spAutoFit/>
          </a:bodyPr>
          <a:lstStyle/>
          <a:p>
            <a:pPr algn="l">
              <a:spcAft>
                <a:spcPts val="400"/>
              </a:spcAft>
            </a:pPr>
            <a:r>
              <a:rPr sz="1150" b="1">
                <a:solidFill>
                  <a:srgbClr val="7C3AED"/>
                </a:solidFill>
                <a:latin typeface="Arial"/>
              </a:rPr>
              <a:t>WHY IT MATTERS</a:t>
            </a:r>
          </a:p>
        </p:txBody>
      </p:sp>
      <p:sp>
        <p:nvSpPr>
          <p:cNvPr id="14" name="TextBox 13"/>
          <p:cNvSpPr txBox="1"/>
          <p:nvPr/>
        </p:nvSpPr>
        <p:spPr>
          <a:xfrm>
            <a:off x="6428232" y="222199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Choosing the right tool matches the team's skills and estate — real code for testable constructs, SAM for serverless, Terraform for multi-cloud.</a:t>
            </a:r>
          </a:p>
        </p:txBody>
      </p:sp>
      <p:sp>
        <p:nvSpPr>
          <p:cNvPr id="15" name="Rectangle 14"/>
          <p:cNvSpPr/>
          <p:nvPr/>
        </p:nvSpPr>
        <p:spPr>
          <a:xfrm>
            <a:off x="6172200" y="324612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3246120"/>
            <a:ext cx="91440" cy="13258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8232" y="3355848"/>
            <a:ext cx="4782312" cy="320040"/>
          </a:xfrm>
          <a:prstGeom prst="rect">
            <a:avLst/>
          </a:prstGeom>
          <a:noFill/>
        </p:spPr>
        <p:txBody>
          <a:bodyPr wrap="square" anchor="t">
            <a:spAutoFit/>
          </a:bodyPr>
          <a:lstStyle/>
          <a:p>
            <a:pPr algn="l">
              <a:spcAft>
                <a:spcPts val="400"/>
              </a:spcAft>
            </a:pPr>
            <a:r>
              <a:rPr sz="1150" b="1">
                <a:solidFill>
                  <a:srgbClr val="C0392B"/>
                </a:solidFill>
                <a:latin typeface="Arial"/>
              </a:rPr>
              <a:t>FAILURE MODE</a:t>
            </a:r>
          </a:p>
        </p:txBody>
      </p:sp>
      <p:sp>
        <p:nvSpPr>
          <p:cNvPr id="18" name="TextBox 17"/>
          <p:cNvSpPr txBox="1"/>
          <p:nvPr/>
        </p:nvSpPr>
        <p:spPr>
          <a:xfrm>
            <a:off x="6428232" y="368503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Adopting CDK without CloudFormation literacy hides what is really deployed and makes drift and failures harder to reason about.</a:t>
            </a:r>
          </a:p>
        </p:txBody>
      </p:sp>
      <p:sp>
        <p:nvSpPr>
          <p:cNvPr id="19" name="Rectangle 18"/>
          <p:cNvSpPr/>
          <p:nvPr/>
        </p:nvSpPr>
        <p:spPr>
          <a:xfrm>
            <a:off x="6172200" y="470916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2200" y="4709160"/>
            <a:ext cx="91440" cy="1325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28232" y="4818888"/>
            <a:ext cx="4782312" cy="320040"/>
          </a:xfrm>
          <a:prstGeom prst="rect">
            <a:avLst/>
          </a:prstGeom>
          <a:noFill/>
        </p:spPr>
        <p:txBody>
          <a:bodyPr wrap="square" anchor="t">
            <a:spAutoFit/>
          </a:bodyPr>
          <a:lstStyle/>
          <a:p>
            <a:pPr algn="l">
              <a:spcAft>
                <a:spcPts val="400"/>
              </a:spcAft>
            </a:pPr>
            <a:r>
              <a:rPr sz="1150" b="1">
                <a:solidFill>
                  <a:srgbClr val="F59E0B"/>
                </a:solidFill>
                <a:latin typeface="Arial"/>
              </a:rPr>
              <a:t>TRADE-OFF / DECISION</a:t>
            </a:r>
          </a:p>
        </p:txBody>
      </p:sp>
      <p:sp>
        <p:nvSpPr>
          <p:cNvPr id="22" name="TextBox 21"/>
          <p:cNvSpPr txBox="1"/>
          <p:nvPr/>
        </p:nvSpPr>
        <p:spPr>
          <a:xfrm>
            <a:off x="6428232" y="514807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Higher-level abstractions boost productivity but add a layer to debug when the generated template misbehaves.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160</a:t>
            </a:r>
          </a:p>
        </p:txBody>
      </p:sp>
    </p:spTree>
  </p:cSld>
  <p:clrMapOvr>
    <a:masterClrMapping/>
  </p:clrMapOvr>
  <p:transition xmlns:p14="http://schemas.microsoft.com/office/powerpoint/2010/main" p14:dur="380">
    <p:fade/>
  </p:transition>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IN DEPTH</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Configuration management with Systems Manager</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51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21208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38528"/>
            <a:ext cx="4754880" cy="365760"/>
          </a:xfrm>
          <a:prstGeom prst="rect">
            <a:avLst/>
          </a:prstGeom>
          <a:noFill/>
        </p:spPr>
        <p:txBody>
          <a:bodyPr wrap="square" anchor="t">
            <a:spAutoFit/>
          </a:bodyPr>
          <a:lstStyle/>
          <a:p>
            <a:pPr algn="l">
              <a:spcAft>
                <a:spcPts val="400"/>
              </a:spcAft>
            </a:pPr>
            <a:r>
              <a:rPr sz="1200" b="1">
                <a:solidFill>
                  <a:srgbClr val="7C3AED"/>
                </a:solidFill>
                <a:latin typeface="Arial"/>
              </a:rPr>
              <a:t>IN DEPTH</a:t>
            </a:r>
          </a:p>
        </p:txBody>
      </p:sp>
      <p:sp>
        <p:nvSpPr>
          <p:cNvPr id="10" name="TextBox 9"/>
          <p:cNvSpPr txBox="1"/>
          <p:nvPr/>
        </p:nvSpPr>
        <p:spPr>
          <a:xfrm>
            <a:off x="1005840" y="2377440"/>
            <a:ext cx="4754880" cy="3566160"/>
          </a:xfrm>
          <a:prstGeom prst="rect">
            <a:avLst/>
          </a:prstGeom>
          <a:noFill/>
        </p:spPr>
        <p:txBody>
          <a:bodyPr wrap="square">
            <a:spAutoFit/>
          </a:bodyPr>
          <a:lstStyle/>
          <a:p>
            <a:pPr>
              <a:spcAft>
                <a:spcPts val="800"/>
              </a:spcAft>
            </a:pPr>
            <a:r>
              <a:rPr sz="1350" b="0">
                <a:solidFill>
                  <a:srgbClr val="161B26"/>
                </a:solidFill>
                <a:latin typeface="Arial"/>
              </a:rPr>
              <a:t>•  State Manager keeps instances in a defined configuration; Automation documents run repeatable operational runbooks.</a:t>
            </a:r>
          </a:p>
          <a:p>
            <a:pPr>
              <a:spcAft>
                <a:spcPts val="800"/>
              </a:spcAft>
            </a:pPr>
            <a:r>
              <a:rPr sz="1350" b="0">
                <a:solidFill>
                  <a:srgbClr val="161B26"/>
                </a:solidFill>
                <a:latin typeface="Arial"/>
              </a:rPr>
              <a:t>•  Parameter Store holds configuration and (with Secrets Manager) secrets, versioned and access-controlled.</a:t>
            </a:r>
          </a:p>
          <a:p>
            <a:pPr>
              <a:spcAft>
                <a:spcPts val="800"/>
              </a:spcAft>
            </a:pPr>
            <a:r>
              <a:rPr sz="1350" b="0">
                <a:solidFill>
                  <a:srgbClr val="161B26"/>
                </a:solidFill>
                <a:latin typeface="Arial"/>
              </a:rPr>
              <a:t>•  Patch Manager and Inventory keep fleets patched and auditable without SSH access.</a:t>
            </a:r>
          </a:p>
        </p:txBody>
      </p:sp>
      <p:sp>
        <p:nvSpPr>
          <p:cNvPr id="11" name="Rectangle 10"/>
          <p:cNvSpPr/>
          <p:nvPr/>
        </p:nvSpPr>
        <p:spPr>
          <a:xfrm>
            <a:off x="6172200" y="178308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1783080"/>
            <a:ext cx="91440" cy="1325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8232" y="1892808"/>
            <a:ext cx="4782312" cy="320040"/>
          </a:xfrm>
          <a:prstGeom prst="rect">
            <a:avLst/>
          </a:prstGeom>
          <a:noFill/>
        </p:spPr>
        <p:txBody>
          <a:bodyPr wrap="square" anchor="t">
            <a:spAutoFit/>
          </a:bodyPr>
          <a:lstStyle/>
          <a:p>
            <a:pPr algn="l">
              <a:spcAft>
                <a:spcPts val="400"/>
              </a:spcAft>
            </a:pPr>
            <a:r>
              <a:rPr sz="1150" b="1">
                <a:solidFill>
                  <a:srgbClr val="7C3AED"/>
                </a:solidFill>
                <a:latin typeface="Arial"/>
              </a:rPr>
              <a:t>WHY IT MATTERS</a:t>
            </a:r>
          </a:p>
        </p:txBody>
      </p:sp>
      <p:sp>
        <p:nvSpPr>
          <p:cNvPr id="14" name="TextBox 13"/>
          <p:cNvSpPr txBox="1"/>
          <p:nvPr/>
        </p:nvSpPr>
        <p:spPr>
          <a:xfrm>
            <a:off x="6428232" y="222199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Config management closes the gap between 'provisioned' and 'correctly configured and maintained over time'.</a:t>
            </a:r>
          </a:p>
        </p:txBody>
      </p:sp>
      <p:sp>
        <p:nvSpPr>
          <p:cNvPr id="15" name="Rectangle 14"/>
          <p:cNvSpPr/>
          <p:nvPr/>
        </p:nvSpPr>
        <p:spPr>
          <a:xfrm>
            <a:off x="6172200" y="324612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3246120"/>
            <a:ext cx="91440" cy="13258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8232" y="3355848"/>
            <a:ext cx="4782312" cy="320040"/>
          </a:xfrm>
          <a:prstGeom prst="rect">
            <a:avLst/>
          </a:prstGeom>
          <a:noFill/>
        </p:spPr>
        <p:txBody>
          <a:bodyPr wrap="square" anchor="t">
            <a:spAutoFit/>
          </a:bodyPr>
          <a:lstStyle/>
          <a:p>
            <a:pPr algn="l">
              <a:spcAft>
                <a:spcPts val="400"/>
              </a:spcAft>
            </a:pPr>
            <a:r>
              <a:rPr sz="1150" b="1">
                <a:solidFill>
                  <a:srgbClr val="C0392B"/>
                </a:solidFill>
                <a:latin typeface="Arial"/>
              </a:rPr>
              <a:t>FAILURE MODE</a:t>
            </a:r>
          </a:p>
        </p:txBody>
      </p:sp>
      <p:sp>
        <p:nvSpPr>
          <p:cNvPr id="18" name="TextBox 17"/>
          <p:cNvSpPr txBox="1"/>
          <p:nvPr/>
        </p:nvSpPr>
        <p:spPr>
          <a:xfrm>
            <a:off x="6428232" y="368503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Treating servers as pets you SSH into and hand-tune reintroduces drift that no template can track.</a:t>
            </a:r>
          </a:p>
        </p:txBody>
      </p:sp>
      <p:sp>
        <p:nvSpPr>
          <p:cNvPr id="19" name="Rectangle 18"/>
          <p:cNvSpPr/>
          <p:nvPr/>
        </p:nvSpPr>
        <p:spPr>
          <a:xfrm>
            <a:off x="6172200" y="470916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2200" y="4709160"/>
            <a:ext cx="91440" cy="1325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28232" y="4818888"/>
            <a:ext cx="4782312" cy="320040"/>
          </a:xfrm>
          <a:prstGeom prst="rect">
            <a:avLst/>
          </a:prstGeom>
          <a:noFill/>
        </p:spPr>
        <p:txBody>
          <a:bodyPr wrap="square" anchor="t">
            <a:spAutoFit/>
          </a:bodyPr>
          <a:lstStyle/>
          <a:p>
            <a:pPr algn="l">
              <a:spcAft>
                <a:spcPts val="400"/>
              </a:spcAft>
            </a:pPr>
            <a:r>
              <a:rPr sz="1150" b="1">
                <a:solidFill>
                  <a:srgbClr val="F59E0B"/>
                </a:solidFill>
                <a:latin typeface="Arial"/>
              </a:rPr>
              <a:t>TRADE-OFF / DECISION</a:t>
            </a:r>
          </a:p>
        </p:txBody>
      </p:sp>
      <p:sp>
        <p:nvSpPr>
          <p:cNvPr id="22" name="TextBox 21"/>
          <p:cNvSpPr txBox="1"/>
          <p:nvPr/>
        </p:nvSpPr>
        <p:spPr>
          <a:xfrm>
            <a:off x="6428232" y="514807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Agent-based management adds an agent to run and secure, but removes bastion hosts and standing SSH access.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161</a:t>
            </a:r>
          </a:p>
        </p:txBody>
      </p:sp>
    </p:spTree>
  </p:cSld>
  <p:clrMapOvr>
    <a:masterClrMapping/>
  </p:clrMapOvr>
  <p:transition xmlns:p14="http://schemas.microsoft.com/office/powerpoint/2010/main" p14:dur="380">
    <p:fade/>
  </p:transition>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IN DEPTH</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Drift detection and remediation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51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21208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38528"/>
            <a:ext cx="4754880" cy="365760"/>
          </a:xfrm>
          <a:prstGeom prst="rect">
            <a:avLst/>
          </a:prstGeom>
          <a:noFill/>
        </p:spPr>
        <p:txBody>
          <a:bodyPr wrap="square" anchor="t">
            <a:spAutoFit/>
          </a:bodyPr>
          <a:lstStyle/>
          <a:p>
            <a:pPr algn="l">
              <a:spcAft>
                <a:spcPts val="400"/>
              </a:spcAft>
            </a:pPr>
            <a:r>
              <a:rPr sz="1200" b="1">
                <a:solidFill>
                  <a:srgbClr val="7C3AED"/>
                </a:solidFill>
                <a:latin typeface="Arial"/>
              </a:rPr>
              <a:t>IN DEPTH</a:t>
            </a:r>
          </a:p>
        </p:txBody>
      </p:sp>
      <p:sp>
        <p:nvSpPr>
          <p:cNvPr id="10" name="TextBox 9"/>
          <p:cNvSpPr txBox="1"/>
          <p:nvPr/>
        </p:nvSpPr>
        <p:spPr>
          <a:xfrm>
            <a:off x="1005840" y="2377440"/>
            <a:ext cx="4754880" cy="3566160"/>
          </a:xfrm>
          <a:prstGeom prst="rect">
            <a:avLst/>
          </a:prstGeom>
          <a:noFill/>
        </p:spPr>
        <p:txBody>
          <a:bodyPr wrap="square">
            <a:spAutoFit/>
          </a:bodyPr>
          <a:lstStyle/>
          <a:p>
            <a:pPr>
              <a:spcAft>
                <a:spcPts val="800"/>
              </a:spcAft>
            </a:pPr>
            <a:r>
              <a:rPr sz="1350" b="0">
                <a:solidFill>
                  <a:srgbClr val="161B26"/>
                </a:solidFill>
                <a:latin typeface="Arial"/>
              </a:rPr>
              <a:t>•  Drift detection compares live resources against the template and reports what changed out-of-band.</a:t>
            </a:r>
          </a:p>
          <a:p>
            <a:pPr>
              <a:spcAft>
                <a:spcPts val="800"/>
              </a:spcAft>
            </a:pPr>
            <a:r>
              <a:rPr sz="1350" b="0">
                <a:solidFill>
                  <a:srgbClr val="161B26"/>
                </a:solidFill>
                <a:latin typeface="Arial"/>
              </a:rPr>
              <a:t>•  Config rules can watch for the same drift continuously and trigger remediation.</a:t>
            </a:r>
          </a:p>
          <a:p>
            <a:pPr>
              <a:spcAft>
                <a:spcPts val="800"/>
              </a:spcAft>
            </a:pPr>
            <a:r>
              <a:rPr sz="1350" b="0">
                <a:solidFill>
                  <a:srgbClr val="161B26"/>
                </a:solidFill>
                <a:latin typeface="Arial"/>
              </a:rPr>
              <a:t>•  The fix is to update the template to match intent or revert the resource to the template.</a:t>
            </a:r>
          </a:p>
        </p:txBody>
      </p:sp>
      <p:sp>
        <p:nvSpPr>
          <p:cNvPr id="11" name="Rectangle 10"/>
          <p:cNvSpPr/>
          <p:nvPr/>
        </p:nvSpPr>
        <p:spPr>
          <a:xfrm>
            <a:off x="6172200" y="178308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1783080"/>
            <a:ext cx="91440" cy="1325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8232" y="1892808"/>
            <a:ext cx="4782312" cy="320040"/>
          </a:xfrm>
          <a:prstGeom prst="rect">
            <a:avLst/>
          </a:prstGeom>
          <a:noFill/>
        </p:spPr>
        <p:txBody>
          <a:bodyPr wrap="square" anchor="t">
            <a:spAutoFit/>
          </a:bodyPr>
          <a:lstStyle/>
          <a:p>
            <a:pPr algn="l">
              <a:spcAft>
                <a:spcPts val="400"/>
              </a:spcAft>
            </a:pPr>
            <a:r>
              <a:rPr sz="1150" b="1">
                <a:solidFill>
                  <a:srgbClr val="7C3AED"/>
                </a:solidFill>
                <a:latin typeface="Arial"/>
              </a:rPr>
              <a:t>WHY IT MATTERS</a:t>
            </a:r>
          </a:p>
        </p:txBody>
      </p:sp>
      <p:sp>
        <p:nvSpPr>
          <p:cNvPr id="14" name="TextBox 13"/>
          <p:cNvSpPr txBox="1"/>
          <p:nvPr/>
        </p:nvSpPr>
        <p:spPr>
          <a:xfrm>
            <a:off x="6428232" y="222199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Detecting drift early prevents the slow divergence that eventually makes a stack un-updatable.</a:t>
            </a:r>
          </a:p>
        </p:txBody>
      </p:sp>
      <p:sp>
        <p:nvSpPr>
          <p:cNvPr id="15" name="Rectangle 14"/>
          <p:cNvSpPr/>
          <p:nvPr/>
        </p:nvSpPr>
        <p:spPr>
          <a:xfrm>
            <a:off x="6172200" y="324612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3246120"/>
            <a:ext cx="91440" cy="13258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8232" y="3355848"/>
            <a:ext cx="4782312" cy="320040"/>
          </a:xfrm>
          <a:prstGeom prst="rect">
            <a:avLst/>
          </a:prstGeom>
          <a:noFill/>
        </p:spPr>
        <p:txBody>
          <a:bodyPr wrap="square" anchor="t">
            <a:spAutoFit/>
          </a:bodyPr>
          <a:lstStyle/>
          <a:p>
            <a:pPr algn="l">
              <a:spcAft>
                <a:spcPts val="400"/>
              </a:spcAft>
            </a:pPr>
            <a:r>
              <a:rPr sz="1150" b="1">
                <a:solidFill>
                  <a:srgbClr val="C0392B"/>
                </a:solidFill>
                <a:latin typeface="Arial"/>
              </a:rPr>
              <a:t>FAILURE MODE</a:t>
            </a:r>
          </a:p>
        </p:txBody>
      </p:sp>
      <p:sp>
        <p:nvSpPr>
          <p:cNvPr id="18" name="TextBox 17"/>
          <p:cNvSpPr txBox="1"/>
          <p:nvPr/>
        </p:nvSpPr>
        <p:spPr>
          <a:xfrm>
            <a:off x="6428232" y="368503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Ignoring drift until an urgent change is needed means your 'safe' update now collides with undocumented manual edits.</a:t>
            </a:r>
          </a:p>
        </p:txBody>
      </p:sp>
      <p:sp>
        <p:nvSpPr>
          <p:cNvPr id="19" name="Rectangle 18"/>
          <p:cNvSpPr/>
          <p:nvPr/>
        </p:nvSpPr>
        <p:spPr>
          <a:xfrm>
            <a:off x="6172200" y="470916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2200" y="4709160"/>
            <a:ext cx="91440" cy="1325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28232" y="4818888"/>
            <a:ext cx="4782312" cy="320040"/>
          </a:xfrm>
          <a:prstGeom prst="rect">
            <a:avLst/>
          </a:prstGeom>
          <a:noFill/>
        </p:spPr>
        <p:txBody>
          <a:bodyPr wrap="square" anchor="t">
            <a:spAutoFit/>
          </a:bodyPr>
          <a:lstStyle/>
          <a:p>
            <a:pPr algn="l">
              <a:spcAft>
                <a:spcPts val="400"/>
              </a:spcAft>
            </a:pPr>
            <a:r>
              <a:rPr sz="1150" b="1">
                <a:solidFill>
                  <a:srgbClr val="F59E0B"/>
                </a:solidFill>
                <a:latin typeface="Arial"/>
              </a:rPr>
              <a:t>TRADE-OFF / DECISION</a:t>
            </a:r>
          </a:p>
        </p:txBody>
      </p:sp>
      <p:sp>
        <p:nvSpPr>
          <p:cNvPr id="22" name="TextBox 21"/>
          <p:cNvSpPr txBox="1"/>
          <p:nvPr/>
        </p:nvSpPr>
        <p:spPr>
          <a:xfrm>
            <a:off x="6428232" y="514807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Strict no-drift policies improve auditability but can slow emergency fixes — provide a documented break-glass path.</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162</a:t>
            </a:r>
          </a:p>
        </p:txBody>
      </p:sp>
    </p:spTree>
  </p:cSld>
  <p:clrMapOvr>
    <a:masterClrMapping/>
  </p:clrMapOvr>
  <p:transition xmlns:p14="http://schemas.microsoft.com/office/powerpoint/2010/main" p14:dur="380">
    <p:fade/>
  </p:transition>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IN DEPTH</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500" b="1">
                <a:solidFill>
                  <a:srgbClr val="161B26"/>
                </a:solidFill>
                <a:latin typeface="Arial"/>
              </a:rPr>
              <a:t>Multi-account governance — Organizations, Control Tower, SCPs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51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21208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38528"/>
            <a:ext cx="4754880" cy="365760"/>
          </a:xfrm>
          <a:prstGeom prst="rect">
            <a:avLst/>
          </a:prstGeom>
          <a:noFill/>
        </p:spPr>
        <p:txBody>
          <a:bodyPr wrap="square" anchor="t">
            <a:spAutoFit/>
          </a:bodyPr>
          <a:lstStyle/>
          <a:p>
            <a:pPr algn="l">
              <a:spcAft>
                <a:spcPts val="400"/>
              </a:spcAft>
            </a:pPr>
            <a:r>
              <a:rPr sz="1200" b="1">
                <a:solidFill>
                  <a:srgbClr val="7C3AED"/>
                </a:solidFill>
                <a:latin typeface="Arial"/>
              </a:rPr>
              <a:t>IN DEPTH</a:t>
            </a:r>
          </a:p>
        </p:txBody>
      </p:sp>
      <p:sp>
        <p:nvSpPr>
          <p:cNvPr id="10" name="TextBox 9"/>
          <p:cNvSpPr txBox="1"/>
          <p:nvPr/>
        </p:nvSpPr>
        <p:spPr>
          <a:xfrm>
            <a:off x="1005840" y="2377440"/>
            <a:ext cx="4754880" cy="3566160"/>
          </a:xfrm>
          <a:prstGeom prst="rect">
            <a:avLst/>
          </a:prstGeom>
          <a:noFill/>
        </p:spPr>
        <p:txBody>
          <a:bodyPr wrap="square">
            <a:spAutoFit/>
          </a:bodyPr>
          <a:lstStyle/>
          <a:p>
            <a:pPr>
              <a:spcAft>
                <a:spcPts val="800"/>
              </a:spcAft>
            </a:pPr>
            <a:r>
              <a:rPr sz="1350" b="0">
                <a:solidFill>
                  <a:srgbClr val="161B26"/>
                </a:solidFill>
                <a:latin typeface="Arial"/>
              </a:rPr>
              <a:t>•  AWS Organizations groups accounts; Service Control Policies set the maximum permissions any account can grant.</a:t>
            </a:r>
          </a:p>
          <a:p>
            <a:pPr>
              <a:spcAft>
                <a:spcPts val="800"/>
              </a:spcAft>
            </a:pPr>
            <a:r>
              <a:rPr sz="1350" b="0">
                <a:solidFill>
                  <a:srgbClr val="161B26"/>
                </a:solidFill>
                <a:latin typeface="Arial"/>
              </a:rPr>
              <a:t>•  Control Tower stands up a landing zone with guardrails, a shared logging account and account factory.</a:t>
            </a:r>
          </a:p>
          <a:p>
            <a:pPr>
              <a:spcAft>
                <a:spcPts val="800"/>
              </a:spcAft>
            </a:pPr>
            <a:r>
              <a:rPr sz="1350" b="0">
                <a:solidFill>
                  <a:srgbClr val="161B26"/>
                </a:solidFill>
                <a:latin typeface="Arial"/>
              </a:rPr>
              <a:t>•  New accounts are vended pre-configured to the security and network baseline.</a:t>
            </a:r>
          </a:p>
        </p:txBody>
      </p:sp>
      <p:sp>
        <p:nvSpPr>
          <p:cNvPr id="11" name="Rectangle 10"/>
          <p:cNvSpPr/>
          <p:nvPr/>
        </p:nvSpPr>
        <p:spPr>
          <a:xfrm>
            <a:off x="6172200" y="178308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1783080"/>
            <a:ext cx="91440" cy="1325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8232" y="1892808"/>
            <a:ext cx="4782312" cy="320040"/>
          </a:xfrm>
          <a:prstGeom prst="rect">
            <a:avLst/>
          </a:prstGeom>
          <a:noFill/>
        </p:spPr>
        <p:txBody>
          <a:bodyPr wrap="square" anchor="t">
            <a:spAutoFit/>
          </a:bodyPr>
          <a:lstStyle/>
          <a:p>
            <a:pPr algn="l">
              <a:spcAft>
                <a:spcPts val="400"/>
              </a:spcAft>
            </a:pPr>
            <a:r>
              <a:rPr sz="1150" b="1">
                <a:solidFill>
                  <a:srgbClr val="7C3AED"/>
                </a:solidFill>
                <a:latin typeface="Arial"/>
              </a:rPr>
              <a:t>WHY IT MATTERS</a:t>
            </a:r>
          </a:p>
        </p:txBody>
      </p:sp>
      <p:sp>
        <p:nvSpPr>
          <p:cNvPr id="14" name="TextBox 13"/>
          <p:cNvSpPr txBox="1"/>
          <p:nvPr/>
        </p:nvSpPr>
        <p:spPr>
          <a:xfrm>
            <a:off x="6428232" y="222199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Account-level isolation plus org-wide guardrails give strong blast-radius control and a consistent, auditable baseline.</a:t>
            </a:r>
          </a:p>
        </p:txBody>
      </p:sp>
      <p:sp>
        <p:nvSpPr>
          <p:cNvPr id="15" name="Rectangle 14"/>
          <p:cNvSpPr/>
          <p:nvPr/>
        </p:nvSpPr>
        <p:spPr>
          <a:xfrm>
            <a:off x="6172200" y="324612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3246120"/>
            <a:ext cx="91440" cy="13258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8232" y="3355848"/>
            <a:ext cx="4782312" cy="320040"/>
          </a:xfrm>
          <a:prstGeom prst="rect">
            <a:avLst/>
          </a:prstGeom>
          <a:noFill/>
        </p:spPr>
        <p:txBody>
          <a:bodyPr wrap="square" anchor="t">
            <a:spAutoFit/>
          </a:bodyPr>
          <a:lstStyle/>
          <a:p>
            <a:pPr algn="l">
              <a:spcAft>
                <a:spcPts val="400"/>
              </a:spcAft>
            </a:pPr>
            <a:r>
              <a:rPr sz="1150" b="1">
                <a:solidFill>
                  <a:srgbClr val="C0392B"/>
                </a:solidFill>
                <a:latin typeface="Arial"/>
              </a:rPr>
              <a:t>FAILURE MODE</a:t>
            </a:r>
          </a:p>
        </p:txBody>
      </p:sp>
      <p:sp>
        <p:nvSpPr>
          <p:cNvPr id="18" name="TextBox 17"/>
          <p:cNvSpPr txBox="1"/>
          <p:nvPr/>
        </p:nvSpPr>
        <p:spPr>
          <a:xfrm>
            <a:off x="6428232" y="368503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A single shared account for everything makes least-privilege impossible and one mistake blast-radius huge.</a:t>
            </a:r>
          </a:p>
        </p:txBody>
      </p:sp>
      <p:sp>
        <p:nvSpPr>
          <p:cNvPr id="19" name="Rectangle 18"/>
          <p:cNvSpPr/>
          <p:nvPr/>
        </p:nvSpPr>
        <p:spPr>
          <a:xfrm>
            <a:off x="6172200" y="470916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2200" y="4709160"/>
            <a:ext cx="91440" cy="1325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28232" y="4818888"/>
            <a:ext cx="4782312" cy="320040"/>
          </a:xfrm>
          <a:prstGeom prst="rect">
            <a:avLst/>
          </a:prstGeom>
          <a:noFill/>
        </p:spPr>
        <p:txBody>
          <a:bodyPr wrap="square" anchor="t">
            <a:spAutoFit/>
          </a:bodyPr>
          <a:lstStyle/>
          <a:p>
            <a:pPr algn="l">
              <a:spcAft>
                <a:spcPts val="400"/>
              </a:spcAft>
            </a:pPr>
            <a:r>
              <a:rPr sz="1150" b="1">
                <a:solidFill>
                  <a:srgbClr val="F59E0B"/>
                </a:solidFill>
                <a:latin typeface="Arial"/>
              </a:rPr>
              <a:t>TRADE-OFF / DECISION</a:t>
            </a:r>
          </a:p>
        </p:txBody>
      </p:sp>
      <p:sp>
        <p:nvSpPr>
          <p:cNvPr id="22" name="TextBox 21"/>
          <p:cNvSpPr txBox="1"/>
          <p:nvPr/>
        </p:nvSpPr>
        <p:spPr>
          <a:xfrm>
            <a:off x="6428232" y="514807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More accounts improve isolation but add networking and operational overhead — automate account vending to keep it manageable.</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163</a:t>
            </a:r>
          </a:p>
        </p:txBody>
      </p:sp>
    </p:spTree>
  </p:cSld>
  <p:clrMapOvr>
    <a:masterClrMapping/>
  </p:clrMapOvr>
  <p:transition xmlns:p14="http://schemas.microsoft.com/office/powerpoint/2010/main" p14:dur="380">
    <p:fade/>
  </p:transition>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IN DEPTH</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500" b="1">
                <a:solidFill>
                  <a:srgbClr val="161B26"/>
                </a:solidFill>
                <a:latin typeface="Arial"/>
              </a:rPr>
              <a:t>Secrets &amp; configuration — Parameter Store vs Secrets Manager</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51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21208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38528"/>
            <a:ext cx="4754880" cy="365760"/>
          </a:xfrm>
          <a:prstGeom prst="rect">
            <a:avLst/>
          </a:prstGeom>
          <a:noFill/>
        </p:spPr>
        <p:txBody>
          <a:bodyPr wrap="square" anchor="t">
            <a:spAutoFit/>
          </a:bodyPr>
          <a:lstStyle/>
          <a:p>
            <a:pPr algn="l">
              <a:spcAft>
                <a:spcPts val="400"/>
              </a:spcAft>
            </a:pPr>
            <a:r>
              <a:rPr sz="1200" b="1">
                <a:solidFill>
                  <a:srgbClr val="7C3AED"/>
                </a:solidFill>
                <a:latin typeface="Arial"/>
              </a:rPr>
              <a:t>IN DEPTH</a:t>
            </a:r>
          </a:p>
        </p:txBody>
      </p:sp>
      <p:sp>
        <p:nvSpPr>
          <p:cNvPr id="10" name="TextBox 9"/>
          <p:cNvSpPr txBox="1"/>
          <p:nvPr/>
        </p:nvSpPr>
        <p:spPr>
          <a:xfrm>
            <a:off x="1005840" y="2377440"/>
            <a:ext cx="4754880" cy="3566160"/>
          </a:xfrm>
          <a:prstGeom prst="rect">
            <a:avLst/>
          </a:prstGeom>
          <a:noFill/>
        </p:spPr>
        <p:txBody>
          <a:bodyPr wrap="square">
            <a:spAutoFit/>
          </a:bodyPr>
          <a:lstStyle/>
          <a:p>
            <a:pPr>
              <a:spcAft>
                <a:spcPts val="800"/>
              </a:spcAft>
            </a:pPr>
            <a:r>
              <a:rPr sz="1350" b="0">
                <a:solidFill>
                  <a:srgbClr val="161B26"/>
                </a:solidFill>
                <a:latin typeface="Arial"/>
              </a:rPr>
              <a:t>•  Parameter Store holds configuration values (and SecureString secrets) with a generous free tier.</a:t>
            </a:r>
          </a:p>
          <a:p>
            <a:pPr>
              <a:spcAft>
                <a:spcPts val="800"/>
              </a:spcAft>
            </a:pPr>
            <a:r>
              <a:rPr sz="1350" b="0">
                <a:solidFill>
                  <a:srgbClr val="161B26"/>
                </a:solidFill>
                <a:latin typeface="Arial"/>
              </a:rPr>
              <a:t>•  Secrets Manager adds built-in, scheduled rotation and tight integration with RDS and other services.</a:t>
            </a:r>
          </a:p>
          <a:p>
            <a:pPr>
              <a:spcAft>
                <a:spcPts val="800"/>
              </a:spcAft>
            </a:pPr>
            <a:r>
              <a:rPr sz="1350" b="0">
                <a:solidFill>
                  <a:srgbClr val="161B26"/>
                </a:solidFill>
                <a:latin typeface="Arial"/>
              </a:rPr>
              <a:t>•  Both keep sensitive values out of templates, code and logs, retrieved at deploy/run time by IAM-scoped principals.</a:t>
            </a:r>
          </a:p>
        </p:txBody>
      </p:sp>
      <p:sp>
        <p:nvSpPr>
          <p:cNvPr id="11" name="Rectangle 10"/>
          <p:cNvSpPr/>
          <p:nvPr/>
        </p:nvSpPr>
        <p:spPr>
          <a:xfrm>
            <a:off x="6172200" y="178308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1783080"/>
            <a:ext cx="91440" cy="1325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8232" y="1892808"/>
            <a:ext cx="4782312" cy="320040"/>
          </a:xfrm>
          <a:prstGeom prst="rect">
            <a:avLst/>
          </a:prstGeom>
          <a:noFill/>
        </p:spPr>
        <p:txBody>
          <a:bodyPr wrap="square" anchor="t">
            <a:spAutoFit/>
          </a:bodyPr>
          <a:lstStyle/>
          <a:p>
            <a:pPr algn="l">
              <a:spcAft>
                <a:spcPts val="400"/>
              </a:spcAft>
            </a:pPr>
            <a:r>
              <a:rPr sz="1150" b="1">
                <a:solidFill>
                  <a:srgbClr val="7C3AED"/>
                </a:solidFill>
                <a:latin typeface="Arial"/>
              </a:rPr>
              <a:t>WHY IT MATTERS</a:t>
            </a:r>
          </a:p>
        </p:txBody>
      </p:sp>
      <p:sp>
        <p:nvSpPr>
          <p:cNvPr id="14" name="TextBox 13"/>
          <p:cNvSpPr txBox="1"/>
          <p:nvPr/>
        </p:nvSpPr>
        <p:spPr>
          <a:xfrm>
            <a:off x="6428232" y="222199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Externalising configuration and secrets lets one immutable artifact run safely in every environment.</a:t>
            </a:r>
          </a:p>
        </p:txBody>
      </p:sp>
      <p:sp>
        <p:nvSpPr>
          <p:cNvPr id="15" name="Rectangle 14"/>
          <p:cNvSpPr/>
          <p:nvPr/>
        </p:nvSpPr>
        <p:spPr>
          <a:xfrm>
            <a:off x="6172200" y="324612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3246120"/>
            <a:ext cx="91440" cy="13258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8232" y="3355848"/>
            <a:ext cx="4782312" cy="320040"/>
          </a:xfrm>
          <a:prstGeom prst="rect">
            <a:avLst/>
          </a:prstGeom>
          <a:noFill/>
        </p:spPr>
        <p:txBody>
          <a:bodyPr wrap="square" anchor="t">
            <a:spAutoFit/>
          </a:bodyPr>
          <a:lstStyle/>
          <a:p>
            <a:pPr algn="l">
              <a:spcAft>
                <a:spcPts val="400"/>
              </a:spcAft>
            </a:pPr>
            <a:r>
              <a:rPr sz="1150" b="1">
                <a:solidFill>
                  <a:srgbClr val="C0392B"/>
                </a:solidFill>
                <a:latin typeface="Arial"/>
              </a:rPr>
              <a:t>FAILURE MODE</a:t>
            </a:r>
          </a:p>
        </p:txBody>
      </p:sp>
      <p:sp>
        <p:nvSpPr>
          <p:cNvPr id="18" name="TextBox 17"/>
          <p:cNvSpPr txBox="1"/>
          <p:nvPr/>
        </p:nvSpPr>
        <p:spPr>
          <a:xfrm>
            <a:off x="6428232" y="368503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Baking a database password into a template or AMI leaks it into every copy and every log line.</a:t>
            </a:r>
          </a:p>
        </p:txBody>
      </p:sp>
      <p:sp>
        <p:nvSpPr>
          <p:cNvPr id="19" name="Rectangle 18"/>
          <p:cNvSpPr/>
          <p:nvPr/>
        </p:nvSpPr>
        <p:spPr>
          <a:xfrm>
            <a:off x="6172200" y="470916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2200" y="4709160"/>
            <a:ext cx="91440" cy="1325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28232" y="4818888"/>
            <a:ext cx="4782312" cy="320040"/>
          </a:xfrm>
          <a:prstGeom prst="rect">
            <a:avLst/>
          </a:prstGeom>
          <a:noFill/>
        </p:spPr>
        <p:txBody>
          <a:bodyPr wrap="square" anchor="t">
            <a:spAutoFit/>
          </a:bodyPr>
          <a:lstStyle/>
          <a:p>
            <a:pPr algn="l">
              <a:spcAft>
                <a:spcPts val="400"/>
              </a:spcAft>
            </a:pPr>
            <a:r>
              <a:rPr sz="1150" b="1">
                <a:solidFill>
                  <a:srgbClr val="F59E0B"/>
                </a:solidFill>
                <a:latin typeface="Arial"/>
              </a:rPr>
              <a:t>TRADE-OFF / DECISION</a:t>
            </a:r>
          </a:p>
        </p:txBody>
      </p:sp>
      <p:sp>
        <p:nvSpPr>
          <p:cNvPr id="22" name="TextBox 21"/>
          <p:cNvSpPr txBox="1"/>
          <p:nvPr/>
        </p:nvSpPr>
        <p:spPr>
          <a:xfrm>
            <a:off x="6428232" y="514807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Automatic rotation is safest but must be tested — a rotation that apps don't reload can cause outages.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164</a:t>
            </a:r>
          </a:p>
        </p:txBody>
      </p:sp>
    </p:spTree>
  </p:cSld>
  <p:clrMapOvr>
    <a:masterClrMapping/>
  </p:clrMapOvr>
  <p:transition xmlns:p14="http://schemas.microsoft.com/office/powerpoint/2010/main" p14:dur="380">
    <p:fade/>
  </p:transition>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AVOIDING SURPRISE DOWNTIME</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Change Set Replacement — Read Before You Execute</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5029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6968" y="1783080"/>
            <a:ext cx="2582082" cy="502920"/>
          </a:xfrm>
          <a:prstGeom prst="rect">
            <a:avLst/>
          </a:prstGeom>
          <a:noFill/>
        </p:spPr>
        <p:txBody>
          <a:bodyPr wrap="square" anchor="ctr">
            <a:spAutoFit/>
          </a:bodyPr>
          <a:lstStyle/>
          <a:p>
            <a:pPr algn="l">
              <a:spcAft>
                <a:spcPts val="400"/>
              </a:spcAft>
            </a:pPr>
            <a:r>
              <a:rPr sz="1400" b="1">
                <a:solidFill>
                  <a:srgbClr val="FFFFFF"/>
                </a:solidFill>
                <a:latin typeface="Arial"/>
              </a:rPr>
              <a:t>Change type</a:t>
            </a:r>
          </a:p>
        </p:txBody>
      </p:sp>
      <p:sp>
        <p:nvSpPr>
          <p:cNvPr id="9" name="Rectangle 8"/>
          <p:cNvSpPr/>
          <p:nvPr/>
        </p:nvSpPr>
        <p:spPr>
          <a:xfrm>
            <a:off x="3542202" y="1783080"/>
            <a:ext cx="4253788" cy="5029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1930" y="1783080"/>
            <a:ext cx="4070908" cy="502920"/>
          </a:xfrm>
          <a:prstGeom prst="rect">
            <a:avLst/>
          </a:prstGeom>
          <a:noFill/>
        </p:spPr>
        <p:txBody>
          <a:bodyPr wrap="square" anchor="ctr">
            <a:spAutoFit/>
          </a:bodyPr>
          <a:lstStyle/>
          <a:p>
            <a:pPr algn="ctr">
              <a:spcAft>
                <a:spcPts val="400"/>
              </a:spcAft>
            </a:pPr>
            <a:r>
              <a:rPr sz="1400" b="1">
                <a:solidFill>
                  <a:srgbClr val="FFFFFF"/>
                </a:solidFill>
                <a:latin typeface="Arial"/>
              </a:rPr>
              <a:t>CloudFormation action</a:t>
            </a:r>
          </a:p>
        </p:txBody>
      </p:sp>
      <p:sp>
        <p:nvSpPr>
          <p:cNvPr id="11" name="Rectangle 10"/>
          <p:cNvSpPr/>
          <p:nvPr/>
        </p:nvSpPr>
        <p:spPr>
          <a:xfrm>
            <a:off x="7795990" y="1783080"/>
            <a:ext cx="3615720" cy="5029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05718" y="1783080"/>
            <a:ext cx="3432840" cy="502920"/>
          </a:xfrm>
          <a:prstGeom prst="rect">
            <a:avLst/>
          </a:prstGeom>
          <a:noFill/>
        </p:spPr>
        <p:txBody>
          <a:bodyPr wrap="square" anchor="ctr">
            <a:spAutoFit/>
          </a:bodyPr>
          <a:lstStyle/>
          <a:p>
            <a:pPr algn="ctr">
              <a:spcAft>
                <a:spcPts val="400"/>
              </a:spcAft>
            </a:pPr>
            <a:r>
              <a:rPr sz="1400" b="1">
                <a:solidFill>
                  <a:srgbClr val="FFFFFF"/>
                </a:solidFill>
                <a:latin typeface="Arial"/>
              </a:rPr>
              <a:t>Operational risk</a:t>
            </a:r>
          </a:p>
        </p:txBody>
      </p:sp>
      <p:sp>
        <p:nvSpPr>
          <p:cNvPr id="13" name="Rectangle 12"/>
          <p:cNvSpPr/>
          <p:nvPr/>
        </p:nvSpPr>
        <p:spPr>
          <a:xfrm>
            <a:off x="777240" y="2286000"/>
            <a:ext cx="2764962"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6968" y="2286000"/>
            <a:ext cx="2582082" cy="822960"/>
          </a:xfrm>
          <a:prstGeom prst="rect">
            <a:avLst/>
          </a:prstGeom>
          <a:noFill/>
        </p:spPr>
        <p:txBody>
          <a:bodyPr wrap="square" anchor="ctr">
            <a:spAutoFit/>
          </a:bodyPr>
          <a:lstStyle/>
          <a:p>
            <a:pPr algn="l">
              <a:spcAft>
                <a:spcPts val="400"/>
              </a:spcAft>
            </a:pPr>
            <a:r>
              <a:rPr sz="1250" b="1">
                <a:solidFill>
                  <a:srgbClr val="161B26"/>
                </a:solidFill>
                <a:latin typeface="Arial"/>
              </a:rPr>
              <a:t>Update in place</a:t>
            </a:r>
          </a:p>
        </p:txBody>
      </p:sp>
      <p:sp>
        <p:nvSpPr>
          <p:cNvPr id="15" name="Rectangle 14"/>
          <p:cNvSpPr/>
          <p:nvPr/>
        </p:nvSpPr>
        <p:spPr>
          <a:xfrm>
            <a:off x="3542202" y="2286000"/>
            <a:ext cx="4253788"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1930" y="2286000"/>
            <a:ext cx="4070908" cy="822960"/>
          </a:xfrm>
          <a:prstGeom prst="rect">
            <a:avLst/>
          </a:prstGeom>
          <a:noFill/>
        </p:spPr>
        <p:txBody>
          <a:bodyPr wrap="square" anchor="ctr">
            <a:spAutoFit/>
          </a:bodyPr>
          <a:lstStyle/>
          <a:p>
            <a:pPr algn="ctr">
              <a:spcAft>
                <a:spcPts val="400"/>
              </a:spcAft>
            </a:pPr>
            <a:r>
              <a:rPr sz="1250" b="0">
                <a:solidFill>
                  <a:srgbClr val="5B6372"/>
                </a:solidFill>
                <a:latin typeface="Arial"/>
              </a:rPr>
              <a:t>Modify the existing resource</a:t>
            </a:r>
          </a:p>
        </p:txBody>
      </p:sp>
      <p:sp>
        <p:nvSpPr>
          <p:cNvPr id="17" name="Rectangle 16"/>
          <p:cNvSpPr/>
          <p:nvPr/>
        </p:nvSpPr>
        <p:spPr>
          <a:xfrm>
            <a:off x="7795990" y="2286000"/>
            <a:ext cx="3615720"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5718" y="2286000"/>
            <a:ext cx="3432840" cy="822960"/>
          </a:xfrm>
          <a:prstGeom prst="rect">
            <a:avLst/>
          </a:prstGeom>
          <a:noFill/>
        </p:spPr>
        <p:txBody>
          <a:bodyPr wrap="square" anchor="ctr">
            <a:spAutoFit/>
          </a:bodyPr>
          <a:lstStyle/>
          <a:p>
            <a:pPr algn="ctr">
              <a:spcAft>
                <a:spcPts val="400"/>
              </a:spcAft>
            </a:pPr>
            <a:r>
              <a:rPr sz="1250" b="0">
                <a:solidFill>
                  <a:srgbClr val="5B6372"/>
                </a:solidFill>
                <a:latin typeface="Arial"/>
              </a:rPr>
              <a:t>Low — no replacement</a:t>
            </a:r>
          </a:p>
        </p:txBody>
      </p:sp>
      <p:sp>
        <p:nvSpPr>
          <p:cNvPr id="19" name="Rectangle 18"/>
          <p:cNvSpPr/>
          <p:nvPr/>
        </p:nvSpPr>
        <p:spPr>
          <a:xfrm>
            <a:off x="777240" y="3108960"/>
            <a:ext cx="2764962"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3108960"/>
            <a:ext cx="2582082" cy="822960"/>
          </a:xfrm>
          <a:prstGeom prst="rect">
            <a:avLst/>
          </a:prstGeom>
          <a:noFill/>
        </p:spPr>
        <p:txBody>
          <a:bodyPr wrap="square" anchor="ctr">
            <a:spAutoFit/>
          </a:bodyPr>
          <a:lstStyle/>
          <a:p>
            <a:pPr algn="l">
              <a:spcAft>
                <a:spcPts val="400"/>
              </a:spcAft>
            </a:pPr>
            <a:r>
              <a:rPr sz="1250" b="1">
                <a:solidFill>
                  <a:srgbClr val="161B26"/>
                </a:solidFill>
                <a:latin typeface="Arial"/>
              </a:rPr>
              <a:t>Replacement</a:t>
            </a:r>
          </a:p>
        </p:txBody>
      </p:sp>
      <p:sp>
        <p:nvSpPr>
          <p:cNvPr id="21" name="Rectangle 20"/>
          <p:cNvSpPr/>
          <p:nvPr/>
        </p:nvSpPr>
        <p:spPr>
          <a:xfrm>
            <a:off x="3542202" y="3108960"/>
            <a:ext cx="4253788"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51930" y="3108960"/>
            <a:ext cx="4070908" cy="822960"/>
          </a:xfrm>
          <a:prstGeom prst="rect">
            <a:avLst/>
          </a:prstGeom>
          <a:noFill/>
        </p:spPr>
        <p:txBody>
          <a:bodyPr wrap="square" anchor="ctr">
            <a:spAutoFit/>
          </a:bodyPr>
          <a:lstStyle/>
          <a:p>
            <a:pPr algn="ctr">
              <a:spcAft>
                <a:spcPts val="400"/>
              </a:spcAft>
            </a:pPr>
            <a:r>
              <a:rPr sz="1250" b="0">
                <a:solidFill>
                  <a:srgbClr val="5B6372"/>
                </a:solidFill>
                <a:latin typeface="Arial"/>
              </a:rPr>
              <a:t>Create new, delete old</a:t>
            </a:r>
          </a:p>
        </p:txBody>
      </p:sp>
      <p:sp>
        <p:nvSpPr>
          <p:cNvPr id="23" name="Rectangle 22"/>
          <p:cNvSpPr/>
          <p:nvPr/>
        </p:nvSpPr>
        <p:spPr>
          <a:xfrm>
            <a:off x="7795990" y="3108960"/>
            <a:ext cx="3615720"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05718" y="3108960"/>
            <a:ext cx="3432840" cy="822960"/>
          </a:xfrm>
          <a:prstGeom prst="rect">
            <a:avLst/>
          </a:prstGeom>
          <a:noFill/>
        </p:spPr>
        <p:txBody>
          <a:bodyPr wrap="square" anchor="ctr">
            <a:spAutoFit/>
          </a:bodyPr>
          <a:lstStyle/>
          <a:p>
            <a:pPr algn="ctr">
              <a:spcAft>
                <a:spcPts val="400"/>
              </a:spcAft>
            </a:pPr>
            <a:r>
              <a:rPr sz="1250" b="0">
                <a:solidFill>
                  <a:srgbClr val="5B6372"/>
                </a:solidFill>
                <a:latin typeface="Arial"/>
              </a:rPr>
              <a:t>High — new ID, possible data loss</a:t>
            </a:r>
          </a:p>
        </p:txBody>
      </p:sp>
      <p:sp>
        <p:nvSpPr>
          <p:cNvPr id="25" name="Rectangle 24"/>
          <p:cNvSpPr/>
          <p:nvPr/>
        </p:nvSpPr>
        <p:spPr>
          <a:xfrm>
            <a:off x="777240" y="3931920"/>
            <a:ext cx="2764962"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6968" y="3931920"/>
            <a:ext cx="2582082" cy="822960"/>
          </a:xfrm>
          <a:prstGeom prst="rect">
            <a:avLst/>
          </a:prstGeom>
          <a:noFill/>
        </p:spPr>
        <p:txBody>
          <a:bodyPr wrap="square" anchor="ctr">
            <a:spAutoFit/>
          </a:bodyPr>
          <a:lstStyle/>
          <a:p>
            <a:pPr algn="l">
              <a:spcAft>
                <a:spcPts val="400"/>
              </a:spcAft>
            </a:pPr>
            <a:r>
              <a:rPr sz="1250" b="1">
                <a:solidFill>
                  <a:srgbClr val="161B26"/>
                </a:solidFill>
                <a:latin typeface="Arial"/>
              </a:rPr>
              <a:t>Add / remove</a:t>
            </a:r>
          </a:p>
        </p:txBody>
      </p:sp>
      <p:sp>
        <p:nvSpPr>
          <p:cNvPr id="27" name="Rectangle 26"/>
          <p:cNvSpPr/>
          <p:nvPr/>
        </p:nvSpPr>
        <p:spPr>
          <a:xfrm>
            <a:off x="3542202" y="3931920"/>
            <a:ext cx="4253788"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1930" y="3931920"/>
            <a:ext cx="4070908" cy="822960"/>
          </a:xfrm>
          <a:prstGeom prst="rect">
            <a:avLst/>
          </a:prstGeom>
          <a:noFill/>
        </p:spPr>
        <p:txBody>
          <a:bodyPr wrap="square" anchor="ctr">
            <a:spAutoFit/>
          </a:bodyPr>
          <a:lstStyle/>
          <a:p>
            <a:pPr algn="ctr">
              <a:spcAft>
                <a:spcPts val="400"/>
              </a:spcAft>
            </a:pPr>
            <a:r>
              <a:rPr sz="1250" b="0">
                <a:solidFill>
                  <a:srgbClr val="5B6372"/>
                </a:solidFill>
                <a:latin typeface="Arial"/>
              </a:rPr>
              <a:t>Create or delete a resource</a:t>
            </a:r>
          </a:p>
        </p:txBody>
      </p:sp>
      <p:sp>
        <p:nvSpPr>
          <p:cNvPr id="29" name="Rectangle 28"/>
          <p:cNvSpPr/>
          <p:nvPr/>
        </p:nvSpPr>
        <p:spPr>
          <a:xfrm>
            <a:off x="7795990" y="3931920"/>
            <a:ext cx="3615720"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05718" y="3931920"/>
            <a:ext cx="3432840" cy="822960"/>
          </a:xfrm>
          <a:prstGeom prst="rect">
            <a:avLst/>
          </a:prstGeom>
          <a:noFill/>
        </p:spPr>
        <p:txBody>
          <a:bodyPr wrap="square" anchor="ctr">
            <a:spAutoFit/>
          </a:bodyPr>
          <a:lstStyle/>
          <a:p>
            <a:pPr algn="ctr">
              <a:spcAft>
                <a:spcPts val="400"/>
              </a:spcAft>
            </a:pPr>
            <a:r>
              <a:rPr sz="1250" b="0">
                <a:solidFill>
                  <a:srgbClr val="5B6372"/>
                </a:solidFill>
                <a:latin typeface="Arial"/>
              </a:rPr>
              <a:t>Medium — check dependencies</a:t>
            </a:r>
          </a:p>
        </p:txBody>
      </p:sp>
      <p:sp>
        <p:nvSpPr>
          <p:cNvPr id="31" name="Rectangle 30"/>
          <p:cNvSpPr/>
          <p:nvPr/>
        </p:nvSpPr>
        <p:spPr>
          <a:xfrm>
            <a:off x="777240" y="4754880"/>
            <a:ext cx="2764962"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6968" y="4754880"/>
            <a:ext cx="2582082" cy="822960"/>
          </a:xfrm>
          <a:prstGeom prst="rect">
            <a:avLst/>
          </a:prstGeom>
          <a:noFill/>
        </p:spPr>
        <p:txBody>
          <a:bodyPr wrap="square" anchor="ctr">
            <a:spAutoFit/>
          </a:bodyPr>
          <a:lstStyle/>
          <a:p>
            <a:pPr algn="l">
              <a:spcAft>
                <a:spcPts val="400"/>
              </a:spcAft>
            </a:pPr>
            <a:r>
              <a:rPr sz="1250" b="1">
                <a:solidFill>
                  <a:srgbClr val="161B26"/>
                </a:solidFill>
                <a:latin typeface="Arial"/>
              </a:rPr>
              <a:t>No interruption</a:t>
            </a:r>
          </a:p>
        </p:txBody>
      </p:sp>
      <p:sp>
        <p:nvSpPr>
          <p:cNvPr id="33" name="Rectangle 32"/>
          <p:cNvSpPr/>
          <p:nvPr/>
        </p:nvSpPr>
        <p:spPr>
          <a:xfrm>
            <a:off x="3542202" y="4754880"/>
            <a:ext cx="4253788"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51930" y="4754880"/>
            <a:ext cx="4070908" cy="822960"/>
          </a:xfrm>
          <a:prstGeom prst="rect">
            <a:avLst/>
          </a:prstGeom>
          <a:noFill/>
        </p:spPr>
        <p:txBody>
          <a:bodyPr wrap="square" anchor="ctr">
            <a:spAutoFit/>
          </a:bodyPr>
          <a:lstStyle/>
          <a:p>
            <a:pPr algn="ctr">
              <a:spcAft>
                <a:spcPts val="400"/>
              </a:spcAft>
            </a:pPr>
            <a:r>
              <a:rPr sz="1250" b="0">
                <a:solidFill>
                  <a:srgbClr val="5B6372"/>
                </a:solidFill>
                <a:latin typeface="Arial"/>
              </a:rPr>
              <a:t>Property change, resource kept</a:t>
            </a:r>
          </a:p>
        </p:txBody>
      </p:sp>
      <p:sp>
        <p:nvSpPr>
          <p:cNvPr id="35" name="Rectangle 34"/>
          <p:cNvSpPr/>
          <p:nvPr/>
        </p:nvSpPr>
        <p:spPr>
          <a:xfrm>
            <a:off x="7795990" y="4754880"/>
            <a:ext cx="3615720"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905718" y="4754880"/>
            <a:ext cx="3432840" cy="822960"/>
          </a:xfrm>
          <a:prstGeom prst="rect">
            <a:avLst/>
          </a:prstGeom>
          <a:noFill/>
        </p:spPr>
        <p:txBody>
          <a:bodyPr wrap="square" anchor="ctr">
            <a:spAutoFit/>
          </a:bodyPr>
          <a:lstStyle/>
          <a:p>
            <a:pPr algn="ctr">
              <a:spcAft>
                <a:spcPts val="400"/>
              </a:spcAft>
            </a:pPr>
            <a:r>
              <a:rPr sz="1250" b="0">
                <a:solidFill>
                  <a:srgbClr val="5B6372"/>
                </a:solidFill>
                <a:latin typeface="Arial"/>
              </a:rPr>
              <a:t>Low</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165</a:t>
            </a:r>
          </a:p>
        </p:txBody>
      </p:sp>
    </p:spTree>
  </p:cSld>
  <p:clrMapOvr>
    <a:masterClrMapping/>
  </p:clrMapOvr>
  <p:transition xmlns:p14="http://schemas.microsoft.com/office/powerpoint/2010/main" p14:dur="380">
    <p:fade/>
  </p:transition>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REPEATABILITY PAYS OFF</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Environment Provisioning — Manual vs IaC</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828800"/>
          <a:ext cx="10634472" cy="3291840"/>
        </p:xfrm>
        <a:graphic>
          <a:graphicData uri="http://schemas.openxmlformats.org/drawingml/2006/chart">
            <c:chart xmlns:c="http://schemas.openxmlformats.org/drawingml/2006/chart" r:id="rId2"/>
          </a:graphicData>
        </a:graphic>
      </p:graphicFrame>
      <p:sp>
        <p:nvSpPr>
          <p:cNvPr id="8" name="Rectangle 7"/>
          <p:cNvSpPr/>
          <p:nvPr/>
        </p:nvSpPr>
        <p:spPr>
          <a:xfrm>
            <a:off x="777240" y="5349240"/>
            <a:ext cx="10634472" cy="868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349240"/>
            <a:ext cx="91440" cy="8686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5440680"/>
            <a:ext cx="10241280" cy="320040"/>
          </a:xfrm>
          <a:prstGeom prst="rect">
            <a:avLst/>
          </a:prstGeom>
          <a:noFill/>
        </p:spPr>
        <p:txBody>
          <a:bodyPr wrap="square" anchor="t">
            <a:spAutoFit/>
          </a:bodyPr>
          <a:lstStyle/>
          <a:p>
            <a:pPr algn="l">
              <a:spcAft>
                <a:spcPts val="400"/>
              </a:spcAft>
            </a:pPr>
            <a:r>
              <a:rPr sz="1100" b="1">
                <a:solidFill>
                  <a:srgbClr val="7C3AED"/>
                </a:solidFill>
                <a:latin typeface="Arial"/>
              </a:rPr>
              <a:t>WHAT THE DATA SHOWS</a:t>
            </a:r>
          </a:p>
        </p:txBody>
      </p:sp>
      <p:sp>
        <p:nvSpPr>
          <p:cNvPr id="11" name="TextBox 10"/>
          <p:cNvSpPr txBox="1"/>
          <p:nvPr/>
        </p:nvSpPr>
        <p:spPr>
          <a:xfrm>
            <a:off x="1005840" y="5742432"/>
            <a:ext cx="10241280" cy="457200"/>
          </a:xfrm>
          <a:prstGeom prst="rect">
            <a:avLst/>
          </a:prstGeom>
          <a:noFill/>
        </p:spPr>
        <p:txBody>
          <a:bodyPr wrap="square" anchor="t">
            <a:spAutoFit/>
          </a:bodyPr>
          <a:lstStyle/>
          <a:p>
            <a:pPr algn="l">
              <a:spcAft>
                <a:spcPts val="400"/>
              </a:spcAft>
            </a:pPr>
            <a:r>
              <a:rPr sz="1350" b="0">
                <a:solidFill>
                  <a:srgbClr val="161B26"/>
                </a:solidFill>
                <a:latin typeface="Arial"/>
              </a:rPr>
              <a:t>IaC collapses environment build time and errors and — most importantly — makes every environment identical, so tests actually predict production.</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166</a:t>
            </a:r>
          </a:p>
        </p:txBody>
      </p:sp>
    </p:spTree>
  </p:cSld>
  <p:clrMapOvr>
    <a:masterClrMapping/>
  </p:clrMapOvr>
  <p:transition xmlns:p14="http://schemas.microsoft.com/office/powerpoint/2010/main" p14:dur="380">
    <p:fade/>
  </p:transition>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WHERE IaC GOES WRONG</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IaC Failure Modes &amp; Anti-Patterns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10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6408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6408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Out-of-band console edits</a:t>
            </a:r>
          </a:p>
          <a:p>
            <a:pPr algn="l">
              <a:spcAft>
                <a:spcPts val="300"/>
              </a:spcAft>
            </a:pPr>
            <a:r>
              <a:rPr sz="1100" b="0">
                <a:solidFill>
                  <a:srgbClr val="5B6372"/>
                </a:solidFill>
                <a:latin typeface="Arial"/>
              </a:rPr>
              <a:t>Drift the template can't see → detect drift; make console read-only in prod.</a:t>
            </a:r>
          </a:p>
        </p:txBody>
      </p:sp>
      <p:sp>
        <p:nvSpPr>
          <p:cNvPr id="12" name="Rectangle 11"/>
          <p:cNvSpPr/>
          <p:nvPr/>
        </p:nvSpPr>
        <p:spPr>
          <a:xfrm>
            <a:off x="6231636" y="1783080"/>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3106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6408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6408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Hard-coded IDs/Regions</a:t>
            </a:r>
          </a:p>
          <a:p>
            <a:pPr algn="l">
              <a:spcAft>
                <a:spcPts val="300"/>
              </a:spcAft>
            </a:pPr>
            <a:r>
              <a:rPr sz="1100" b="0">
                <a:solidFill>
                  <a:srgbClr val="5B6372"/>
                </a:solidFill>
                <a:latin typeface="Arial"/>
              </a:rPr>
              <a:t>Template only works in one account → parameters + SSM public parameters.</a:t>
            </a:r>
          </a:p>
        </p:txBody>
      </p:sp>
      <p:sp>
        <p:nvSpPr>
          <p:cNvPr id="17" name="Rectangle 16"/>
          <p:cNvSpPr/>
          <p:nvPr/>
        </p:nvSpPr>
        <p:spPr>
          <a:xfrm>
            <a:off x="777240" y="3313176"/>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3176"/>
            <a:ext cx="91440" cy="13106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422904"/>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Giant monolith stack</a:t>
            </a:r>
          </a:p>
          <a:p>
            <a:pPr algn="l">
              <a:spcAft>
                <a:spcPts val="300"/>
              </a:spcAft>
            </a:pPr>
            <a:r>
              <a:rPr sz="1100" b="0">
                <a:solidFill>
                  <a:srgbClr val="5B6372"/>
                </a:solidFill>
                <a:latin typeface="Arial"/>
              </a:rPr>
              <a:t>Slow, risky updates → split by lifecycle and blast radius.</a:t>
            </a:r>
          </a:p>
        </p:txBody>
      </p:sp>
      <p:sp>
        <p:nvSpPr>
          <p:cNvPr id="22" name="Rectangle 21"/>
          <p:cNvSpPr/>
          <p:nvPr/>
        </p:nvSpPr>
        <p:spPr>
          <a:xfrm>
            <a:off x="6231636" y="3313176"/>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3176"/>
            <a:ext cx="91440" cy="13106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422904"/>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No change-set review</a:t>
            </a:r>
          </a:p>
          <a:p>
            <a:pPr algn="l">
              <a:spcAft>
                <a:spcPts val="300"/>
              </a:spcAft>
            </a:pPr>
            <a:r>
              <a:rPr sz="1100" b="0">
                <a:solidFill>
                  <a:srgbClr val="5B6372"/>
                </a:solidFill>
                <a:latin typeface="Arial"/>
              </a:rPr>
              <a:t>Surprise replacements → always preview before execute.</a:t>
            </a:r>
          </a:p>
        </p:txBody>
      </p:sp>
      <p:sp>
        <p:nvSpPr>
          <p:cNvPr id="27" name="Rectangle 26"/>
          <p:cNvSpPr/>
          <p:nvPr/>
        </p:nvSpPr>
        <p:spPr>
          <a:xfrm>
            <a:off x="777240" y="4843272"/>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43272"/>
            <a:ext cx="91440" cy="13106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24272"/>
            <a:ext cx="548640" cy="548640"/>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2427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953000"/>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Secrets in templates</a:t>
            </a:r>
          </a:p>
          <a:p>
            <a:pPr algn="l">
              <a:spcAft>
                <a:spcPts val="300"/>
              </a:spcAft>
            </a:pPr>
            <a:r>
              <a:rPr sz="1100" b="0">
                <a:solidFill>
                  <a:srgbClr val="5B6372"/>
                </a:solidFill>
                <a:latin typeface="Arial"/>
              </a:rPr>
              <a:t>Leaked credentials → Secrets Manager / SSM SecureString.</a:t>
            </a:r>
          </a:p>
        </p:txBody>
      </p:sp>
      <p:sp>
        <p:nvSpPr>
          <p:cNvPr id="32" name="Rectangle 31"/>
          <p:cNvSpPr/>
          <p:nvPr/>
        </p:nvSpPr>
        <p:spPr>
          <a:xfrm>
            <a:off x="6231636" y="4843272"/>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43272"/>
            <a:ext cx="91440" cy="1310640"/>
          </a:xfrm>
          <a:prstGeom prst="rect">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24272"/>
            <a:ext cx="548640" cy="548640"/>
          </a:xfrm>
          <a:prstGeom prst="ellipse">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2427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953000"/>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Copy-paste per environment</a:t>
            </a:r>
          </a:p>
          <a:p>
            <a:pPr algn="l">
              <a:spcAft>
                <a:spcPts val="300"/>
              </a:spcAft>
            </a:pPr>
            <a:r>
              <a:rPr sz="1100" b="0">
                <a:solidFill>
                  <a:srgbClr val="5B6372"/>
                </a:solidFill>
                <a:latin typeface="Arial"/>
              </a:rPr>
              <a:t>Divergent envs → one template, many parameter sets.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167</a:t>
            </a:r>
          </a:p>
        </p:txBody>
      </p:sp>
    </p:spTree>
  </p:cSld>
  <p:clrMapOvr>
    <a:masterClrMapping/>
  </p:clrMapOvr>
  <p:transition xmlns:p14="http://schemas.microsoft.com/office/powerpoint/2010/main" p14:dur="380">
    <p:fade/>
  </p:transition>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PROVEN PRACTICES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IaC Patterns Worth Adopting</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10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6408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6408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Layered stacks</a:t>
            </a:r>
          </a:p>
          <a:p>
            <a:pPr algn="l">
              <a:spcAft>
                <a:spcPts val="300"/>
              </a:spcAft>
            </a:pPr>
            <a:r>
              <a:rPr sz="1100" b="0">
                <a:solidFill>
                  <a:srgbClr val="5B6372"/>
                </a:solidFill>
                <a:latin typeface="Arial"/>
              </a:rPr>
              <a:t>Separate network, platform and app stacks by change rate.</a:t>
            </a:r>
          </a:p>
        </p:txBody>
      </p:sp>
      <p:sp>
        <p:nvSpPr>
          <p:cNvPr id="12" name="Rectangle 11"/>
          <p:cNvSpPr/>
          <p:nvPr/>
        </p:nvSpPr>
        <p:spPr>
          <a:xfrm>
            <a:off x="6231636" y="1783080"/>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3106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6408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6408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Landing zone</a:t>
            </a:r>
          </a:p>
          <a:p>
            <a:pPr algn="l">
              <a:spcAft>
                <a:spcPts val="300"/>
              </a:spcAft>
            </a:pPr>
            <a:r>
              <a:rPr sz="1100" b="0">
                <a:solidFill>
                  <a:srgbClr val="5B6372"/>
                </a:solidFill>
                <a:latin typeface="Arial"/>
              </a:rPr>
              <a:t>Control Tower baseline + guardrails for every account.</a:t>
            </a:r>
          </a:p>
        </p:txBody>
      </p:sp>
      <p:sp>
        <p:nvSpPr>
          <p:cNvPr id="17" name="Rectangle 16"/>
          <p:cNvSpPr/>
          <p:nvPr/>
        </p:nvSpPr>
        <p:spPr>
          <a:xfrm>
            <a:off x="777240" y="3313176"/>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3176"/>
            <a:ext cx="91440" cy="13106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422904"/>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Immutable AMIs</a:t>
            </a:r>
          </a:p>
          <a:p>
            <a:pPr algn="l">
              <a:spcAft>
                <a:spcPts val="300"/>
              </a:spcAft>
            </a:pPr>
            <a:r>
              <a:rPr sz="1100" b="0">
                <a:solidFill>
                  <a:srgbClr val="5B6372"/>
                </a:solidFill>
                <a:latin typeface="Arial"/>
              </a:rPr>
              <a:t>Bake with a pipeline (e.g. EC2 Image Builder); replace, don't patch.</a:t>
            </a:r>
          </a:p>
        </p:txBody>
      </p:sp>
      <p:sp>
        <p:nvSpPr>
          <p:cNvPr id="22" name="Rectangle 21"/>
          <p:cNvSpPr/>
          <p:nvPr/>
        </p:nvSpPr>
        <p:spPr>
          <a:xfrm>
            <a:off x="6231636" y="3313176"/>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3176"/>
            <a:ext cx="91440" cy="13106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422904"/>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Public SSM parameters</a:t>
            </a:r>
          </a:p>
          <a:p>
            <a:pPr algn="l">
              <a:spcAft>
                <a:spcPts val="300"/>
              </a:spcAft>
            </a:pPr>
            <a:r>
              <a:rPr sz="1100" b="0">
                <a:solidFill>
                  <a:srgbClr val="5B6372"/>
                </a:solidFill>
                <a:latin typeface="Arial"/>
              </a:rPr>
              <a:t>Reference latest AMIs without hard-coding IDs.</a:t>
            </a:r>
          </a:p>
        </p:txBody>
      </p:sp>
      <p:sp>
        <p:nvSpPr>
          <p:cNvPr id="27" name="Rectangle 26"/>
          <p:cNvSpPr/>
          <p:nvPr/>
        </p:nvSpPr>
        <p:spPr>
          <a:xfrm>
            <a:off x="777240" y="4843272"/>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43272"/>
            <a:ext cx="91440" cy="13106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24272"/>
            <a:ext cx="548640" cy="548640"/>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2427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953000"/>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Policy as code</a:t>
            </a:r>
          </a:p>
          <a:p>
            <a:pPr algn="l">
              <a:spcAft>
                <a:spcPts val="300"/>
              </a:spcAft>
            </a:pPr>
            <a:r>
              <a:rPr sz="1100" b="0">
                <a:solidFill>
                  <a:srgbClr val="5B6372"/>
                </a:solidFill>
                <a:latin typeface="Arial"/>
              </a:rPr>
              <a:t>Guardrails via SCPs and Config rules, versioned like IaC.</a:t>
            </a:r>
          </a:p>
        </p:txBody>
      </p:sp>
      <p:sp>
        <p:nvSpPr>
          <p:cNvPr id="32" name="Rectangle 31"/>
          <p:cNvSpPr/>
          <p:nvPr/>
        </p:nvSpPr>
        <p:spPr>
          <a:xfrm>
            <a:off x="6231636" y="4843272"/>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43272"/>
            <a:ext cx="91440" cy="1310640"/>
          </a:xfrm>
          <a:prstGeom prst="rect">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24272"/>
            <a:ext cx="548640" cy="548640"/>
          </a:xfrm>
          <a:prstGeom prst="ellipse">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2427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953000"/>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Pipeline-deployed stacks</a:t>
            </a:r>
          </a:p>
          <a:p>
            <a:pPr algn="l">
              <a:spcAft>
                <a:spcPts val="300"/>
              </a:spcAft>
            </a:pPr>
            <a:r>
              <a:rPr sz="1100" b="0">
                <a:solidFill>
                  <a:srgbClr val="5B6372"/>
                </a:solidFill>
                <a:latin typeface="Arial"/>
              </a:rPr>
              <a:t>No manual stack updates in production.</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168</a:t>
            </a:r>
          </a:p>
        </p:txBody>
      </p:sp>
    </p:spTree>
  </p:cSld>
  <p:clrMapOvr>
    <a:masterClrMapping/>
  </p:clrMapOvr>
  <p:transition xmlns:p14="http://schemas.microsoft.com/office/powerpoint/2010/main" p14:dur="380">
    <p:fade/>
  </p:transition>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STACK DECOMPOSITION</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Architecture Decision — One Big Stack or Many?</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057400"/>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057400"/>
            <a:ext cx="457200" cy="457200"/>
          </a:xfrm>
          <a:prstGeom prst="rect">
            <a:avLst/>
          </a:prstGeom>
          <a:noFill/>
        </p:spPr>
        <p:txBody>
          <a:bodyPr wrap="square" anchor="ctr">
            <a:spAutoFit/>
          </a:bodyPr>
          <a:lstStyle/>
          <a:p>
            <a:pPr algn="ctr">
              <a:spcAft>
                <a:spcPts val="400"/>
              </a:spcAft>
            </a:pPr>
            <a:r>
              <a:rPr sz="2000" b="1">
                <a:solidFill>
                  <a:srgbClr val="FFFFFF"/>
                </a:solidFill>
                <a:latin typeface="Arial"/>
              </a:rPr>
              <a:t>A</a:t>
            </a:r>
          </a:p>
        </p:txBody>
      </p:sp>
      <p:sp>
        <p:nvSpPr>
          <p:cNvPr id="11" name="TextBox 10"/>
          <p:cNvSpPr txBox="1"/>
          <p:nvPr/>
        </p:nvSpPr>
        <p:spPr>
          <a:xfrm>
            <a:off x="1645920" y="2084831"/>
            <a:ext cx="2286000" cy="640080"/>
          </a:xfrm>
          <a:prstGeom prst="rect">
            <a:avLst/>
          </a:prstGeom>
          <a:noFill/>
        </p:spPr>
        <p:txBody>
          <a:bodyPr wrap="square" anchor="ctr">
            <a:spAutoFit/>
          </a:bodyPr>
          <a:lstStyle/>
          <a:p>
            <a:pPr algn="l">
              <a:spcAft>
                <a:spcPts val="400"/>
              </a:spcAft>
            </a:pPr>
            <a:r>
              <a:rPr sz="1450" b="1">
                <a:solidFill>
                  <a:srgbClr val="7C3AED"/>
                </a:solidFill>
                <a:latin typeface="Arial"/>
              </a:rPr>
              <a:t>Single stack</a:t>
            </a:r>
          </a:p>
        </p:txBody>
      </p:sp>
      <p:sp>
        <p:nvSpPr>
          <p:cNvPr id="12" name="TextBox 11"/>
          <p:cNvSpPr txBox="1"/>
          <p:nvPr/>
        </p:nvSpPr>
        <p:spPr>
          <a:xfrm>
            <a:off x="1033272" y="2788920"/>
            <a:ext cx="2880360" cy="3108960"/>
          </a:xfrm>
          <a:prstGeom prst="rect">
            <a:avLst/>
          </a:prstGeom>
          <a:noFill/>
        </p:spPr>
        <p:txBody>
          <a:bodyPr wrap="square" anchor="t">
            <a:spAutoFit/>
          </a:bodyPr>
          <a:lstStyle/>
          <a:p>
            <a:pPr algn="l">
              <a:spcAft>
                <a:spcPts val="400"/>
              </a:spcAft>
            </a:pPr>
            <a:r>
              <a:rPr sz="1250" b="0">
                <a:solidFill>
                  <a:srgbClr val="161B26"/>
                </a:solidFill>
                <a:latin typeface="Arial"/>
              </a:rPr>
              <a:t>Small app, one team, one lifecycle. Simple to reason about — but every change risks the whole system and updates get slow as it grows.</a:t>
            </a:r>
          </a:p>
        </p:txBody>
      </p:sp>
      <p:sp>
        <p:nvSpPr>
          <p:cNvPr id="13" name="Rectangle 12"/>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828032" y="2057400"/>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28032" y="2057400"/>
            <a:ext cx="457200" cy="457200"/>
          </a:xfrm>
          <a:prstGeom prst="rect">
            <a:avLst/>
          </a:prstGeom>
          <a:noFill/>
        </p:spPr>
        <p:txBody>
          <a:bodyPr wrap="square" anchor="ctr">
            <a:spAutoFit/>
          </a:bodyPr>
          <a:lstStyle/>
          <a:p>
            <a:pPr algn="ctr">
              <a:spcAft>
                <a:spcPts val="400"/>
              </a:spcAft>
            </a:pPr>
            <a:r>
              <a:rPr sz="2000" b="1">
                <a:solidFill>
                  <a:srgbClr val="FFFFFF"/>
                </a:solidFill>
                <a:latin typeface="Arial"/>
              </a:rPr>
              <a:t>B</a:t>
            </a:r>
          </a:p>
        </p:txBody>
      </p:sp>
      <p:sp>
        <p:nvSpPr>
          <p:cNvPr id="17" name="TextBox 16"/>
          <p:cNvSpPr txBox="1"/>
          <p:nvPr/>
        </p:nvSpPr>
        <p:spPr>
          <a:xfrm>
            <a:off x="5440680" y="2084831"/>
            <a:ext cx="2286000" cy="640080"/>
          </a:xfrm>
          <a:prstGeom prst="rect">
            <a:avLst/>
          </a:prstGeom>
          <a:noFill/>
        </p:spPr>
        <p:txBody>
          <a:bodyPr wrap="square" anchor="ctr">
            <a:spAutoFit/>
          </a:bodyPr>
          <a:lstStyle/>
          <a:p>
            <a:pPr algn="l">
              <a:spcAft>
                <a:spcPts val="400"/>
              </a:spcAft>
            </a:pPr>
            <a:r>
              <a:rPr sz="1450" b="1">
                <a:solidFill>
                  <a:srgbClr val="7C3AED"/>
                </a:solidFill>
                <a:latin typeface="Arial"/>
              </a:rPr>
              <a:t>Layered stacks</a:t>
            </a:r>
          </a:p>
        </p:txBody>
      </p:sp>
      <p:sp>
        <p:nvSpPr>
          <p:cNvPr id="18" name="TextBox 17"/>
          <p:cNvSpPr txBox="1"/>
          <p:nvPr/>
        </p:nvSpPr>
        <p:spPr>
          <a:xfrm>
            <a:off x="4828032" y="2788920"/>
            <a:ext cx="2880360" cy="3108960"/>
          </a:xfrm>
          <a:prstGeom prst="rect">
            <a:avLst/>
          </a:prstGeom>
          <a:noFill/>
        </p:spPr>
        <p:txBody>
          <a:bodyPr wrap="square" anchor="t">
            <a:spAutoFit/>
          </a:bodyPr>
          <a:lstStyle/>
          <a:p>
            <a:pPr algn="l">
              <a:spcAft>
                <a:spcPts val="400"/>
              </a:spcAft>
            </a:pPr>
            <a:r>
              <a:rPr sz="1250" b="0">
                <a:solidFill>
                  <a:srgbClr val="161B26"/>
                </a:solidFill>
                <a:latin typeface="Arial"/>
              </a:rPr>
              <a:t>Separate network / platform / app by change rate and owner. Smaller blast radius and faster updates — needs disciplined exports/imports.</a:t>
            </a:r>
          </a:p>
        </p:txBody>
      </p:sp>
      <p:sp>
        <p:nvSpPr>
          <p:cNvPr id="19" name="Rectangle 18"/>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36676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622792" y="205740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22792" y="2057400"/>
            <a:ext cx="457200" cy="457200"/>
          </a:xfrm>
          <a:prstGeom prst="rect">
            <a:avLst/>
          </a:prstGeom>
          <a:noFill/>
        </p:spPr>
        <p:txBody>
          <a:bodyPr wrap="square" anchor="ctr">
            <a:spAutoFit/>
          </a:bodyPr>
          <a:lstStyle/>
          <a:p>
            <a:pPr algn="ctr">
              <a:spcAft>
                <a:spcPts val="400"/>
              </a:spcAft>
            </a:pPr>
            <a:r>
              <a:rPr sz="2000" b="1">
                <a:solidFill>
                  <a:srgbClr val="FFFFFF"/>
                </a:solidFill>
                <a:latin typeface="Arial"/>
              </a:rPr>
              <a:t>C</a:t>
            </a:r>
          </a:p>
        </p:txBody>
      </p:sp>
      <p:sp>
        <p:nvSpPr>
          <p:cNvPr id="23" name="TextBox 22"/>
          <p:cNvSpPr txBox="1"/>
          <p:nvPr/>
        </p:nvSpPr>
        <p:spPr>
          <a:xfrm>
            <a:off x="9235440" y="2084831"/>
            <a:ext cx="2286000" cy="640080"/>
          </a:xfrm>
          <a:prstGeom prst="rect">
            <a:avLst/>
          </a:prstGeom>
          <a:noFill/>
        </p:spPr>
        <p:txBody>
          <a:bodyPr wrap="square" anchor="ctr">
            <a:spAutoFit/>
          </a:bodyPr>
          <a:lstStyle/>
          <a:p>
            <a:pPr algn="l">
              <a:spcAft>
                <a:spcPts val="400"/>
              </a:spcAft>
            </a:pPr>
            <a:r>
              <a:rPr sz="1450" b="1">
                <a:solidFill>
                  <a:srgbClr val="10B981"/>
                </a:solidFill>
                <a:latin typeface="Arial"/>
              </a:rPr>
              <a:t>StackSets across accounts</a:t>
            </a:r>
          </a:p>
        </p:txBody>
      </p:sp>
      <p:sp>
        <p:nvSpPr>
          <p:cNvPr id="24" name="TextBox 23"/>
          <p:cNvSpPr txBox="1"/>
          <p:nvPr/>
        </p:nvSpPr>
        <p:spPr>
          <a:xfrm>
            <a:off x="8622792" y="2788920"/>
            <a:ext cx="2880360" cy="3108960"/>
          </a:xfrm>
          <a:prstGeom prst="rect">
            <a:avLst/>
          </a:prstGeom>
          <a:noFill/>
        </p:spPr>
        <p:txBody>
          <a:bodyPr wrap="square" anchor="t">
            <a:spAutoFit/>
          </a:bodyPr>
          <a:lstStyle/>
          <a:p>
            <a:pPr algn="l">
              <a:spcAft>
                <a:spcPts val="400"/>
              </a:spcAft>
            </a:pPr>
            <a:r>
              <a:rPr sz="1250" b="0">
                <a:solidFill>
                  <a:srgbClr val="161B26"/>
                </a:solidFill>
                <a:latin typeface="Arial"/>
              </a:rPr>
              <a:t>Same baseline in many accounts/Regions. Enforces consistency at scale — requires central governance and account-team coordination.</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169</a:t>
            </a:r>
          </a:p>
        </p:txBody>
      </p:sp>
    </p:spTree>
  </p:cSld>
  <p:clrMapOvr>
    <a:masterClrMapping/>
  </p:clrMapOvr>
  <p:transition xmlns:p14="http://schemas.microsoft.com/office/powerpoint/2010/main" p14:dur="380">
    <p:fade/>
  </p:transition>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COST OF DRIFT</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Scenario — A 'quick' console fix breaks the next deploy</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91440" cy="91440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1847088"/>
            <a:ext cx="2194560" cy="320040"/>
          </a:xfrm>
          <a:prstGeom prst="rect">
            <a:avLst/>
          </a:prstGeom>
          <a:noFill/>
        </p:spPr>
        <p:txBody>
          <a:bodyPr wrap="square" anchor="t">
            <a:spAutoFit/>
          </a:bodyPr>
          <a:lstStyle/>
          <a:p>
            <a:pPr algn="l">
              <a:spcAft>
                <a:spcPts val="400"/>
              </a:spcAft>
            </a:pPr>
            <a:r>
              <a:rPr sz="1150" b="1">
                <a:solidFill>
                  <a:srgbClr val="5B6372"/>
                </a:solidFill>
                <a:latin typeface="Arial"/>
              </a:rPr>
              <a:t>SITUATION</a:t>
            </a:r>
          </a:p>
        </p:txBody>
      </p:sp>
      <p:sp>
        <p:nvSpPr>
          <p:cNvPr id="10" name="TextBox 9"/>
          <p:cNvSpPr txBox="1"/>
          <p:nvPr/>
        </p:nvSpPr>
        <p:spPr>
          <a:xfrm>
            <a:off x="1033272" y="2157984"/>
            <a:ext cx="10085832" cy="457200"/>
          </a:xfrm>
          <a:prstGeom prst="rect">
            <a:avLst/>
          </a:prstGeom>
          <a:noFill/>
        </p:spPr>
        <p:txBody>
          <a:bodyPr wrap="square" anchor="t">
            <a:spAutoFit/>
          </a:bodyPr>
          <a:lstStyle/>
          <a:p>
            <a:pPr algn="l">
              <a:spcAft>
                <a:spcPts val="400"/>
              </a:spcAft>
            </a:pPr>
            <a:r>
              <a:rPr sz="1300" b="0">
                <a:solidFill>
                  <a:srgbClr val="161B26"/>
                </a:solidFill>
                <a:latin typeface="Arial"/>
              </a:rPr>
              <a:t>An engineer widens a security group in the console during an incident. Two weeks later, a routine stack update fails or silently reverts the fix.</a:t>
            </a:r>
          </a:p>
        </p:txBody>
      </p:sp>
      <p:sp>
        <p:nvSpPr>
          <p:cNvPr id="11" name="Rectangle 10"/>
          <p:cNvSpPr/>
          <p:nvPr/>
        </p:nvSpPr>
        <p:spPr>
          <a:xfrm>
            <a:off x="777240" y="2788920"/>
            <a:ext cx="10634472" cy="21945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788920"/>
            <a:ext cx="91440" cy="21945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880360"/>
            <a:ext cx="2743200" cy="320040"/>
          </a:xfrm>
          <a:prstGeom prst="rect">
            <a:avLst/>
          </a:prstGeom>
          <a:noFill/>
        </p:spPr>
        <p:txBody>
          <a:bodyPr wrap="square" anchor="t">
            <a:spAutoFit/>
          </a:bodyPr>
          <a:lstStyle/>
          <a:p>
            <a:pPr algn="l">
              <a:spcAft>
                <a:spcPts val="400"/>
              </a:spcAft>
            </a:pPr>
            <a:r>
              <a:rPr sz="1150" b="1">
                <a:solidFill>
                  <a:srgbClr val="7C3AED"/>
                </a:solidFill>
                <a:latin typeface="Arial"/>
              </a:rPr>
              <a:t>ANALYSIS</a:t>
            </a:r>
          </a:p>
        </p:txBody>
      </p:sp>
      <p:sp>
        <p:nvSpPr>
          <p:cNvPr id="14" name="TextBox 13"/>
          <p:cNvSpPr txBox="1"/>
          <p:nvPr/>
        </p:nvSpPr>
        <p:spPr>
          <a:xfrm>
            <a:off x="1033272" y="3246120"/>
            <a:ext cx="9994392" cy="1645920"/>
          </a:xfrm>
          <a:prstGeom prst="rect">
            <a:avLst/>
          </a:prstGeom>
          <a:noFill/>
        </p:spPr>
        <p:txBody>
          <a:bodyPr wrap="square">
            <a:spAutoFit/>
          </a:bodyPr>
          <a:lstStyle/>
          <a:p>
            <a:pPr>
              <a:spcAft>
                <a:spcPts val="700"/>
              </a:spcAft>
            </a:pPr>
            <a:r>
              <a:rPr sz="1300" b="0">
                <a:solidFill>
                  <a:srgbClr val="161B26"/>
                </a:solidFill>
                <a:latin typeface="Arial"/>
              </a:rPr>
              <a:t>•  The live resource no longer matches the template, so CloudFormation's view of desired state is wrong.</a:t>
            </a:r>
          </a:p>
          <a:p>
            <a:pPr>
              <a:spcAft>
                <a:spcPts val="700"/>
              </a:spcAft>
            </a:pPr>
            <a:r>
              <a:rPr sz="1300" b="0">
                <a:solidFill>
                  <a:srgbClr val="161B26"/>
                </a:solidFill>
                <a:latin typeface="Arial"/>
              </a:rPr>
              <a:t>•  Drift detection would have flagged this the same day; Config rules could have alarmed on the open port immediately.</a:t>
            </a:r>
          </a:p>
          <a:p>
            <a:pPr>
              <a:spcAft>
                <a:spcPts val="700"/>
              </a:spcAft>
            </a:pPr>
            <a:r>
              <a:rPr sz="1300" b="0">
                <a:solidFill>
                  <a:srgbClr val="161B26"/>
                </a:solidFill>
                <a:latin typeface="Arial"/>
              </a:rPr>
              <a:t>•  The durable fix is to encode the change in the template and re-apply, not to keep patching by hand.</a:t>
            </a:r>
          </a:p>
        </p:txBody>
      </p:sp>
      <p:sp>
        <p:nvSpPr>
          <p:cNvPr id="15" name="Rectangle 14"/>
          <p:cNvSpPr/>
          <p:nvPr/>
        </p:nvSpPr>
        <p:spPr>
          <a:xfrm>
            <a:off x="777240" y="5102352"/>
            <a:ext cx="10634472"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5102352"/>
            <a:ext cx="91440" cy="9601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2" y="5193792"/>
            <a:ext cx="2743200" cy="320040"/>
          </a:xfrm>
          <a:prstGeom prst="rect">
            <a:avLst/>
          </a:prstGeom>
          <a:noFill/>
        </p:spPr>
        <p:txBody>
          <a:bodyPr wrap="square" anchor="t">
            <a:spAutoFit/>
          </a:bodyPr>
          <a:lstStyle/>
          <a:p>
            <a:pPr algn="l">
              <a:spcAft>
                <a:spcPts val="400"/>
              </a:spcAft>
            </a:pPr>
            <a:r>
              <a:rPr sz="1150" b="1">
                <a:solidFill>
                  <a:srgbClr val="10B981"/>
                </a:solidFill>
                <a:latin typeface="Arial"/>
              </a:rPr>
              <a:t>DECISION</a:t>
            </a:r>
          </a:p>
        </p:txBody>
      </p:sp>
      <p:sp>
        <p:nvSpPr>
          <p:cNvPr id="18" name="TextBox 17"/>
          <p:cNvSpPr txBox="1"/>
          <p:nvPr/>
        </p:nvSpPr>
        <p:spPr>
          <a:xfrm>
            <a:off x="1033272" y="5486400"/>
            <a:ext cx="10085832" cy="548640"/>
          </a:xfrm>
          <a:prstGeom prst="rect">
            <a:avLst/>
          </a:prstGeom>
          <a:noFill/>
        </p:spPr>
        <p:txBody>
          <a:bodyPr wrap="square" anchor="t">
            <a:spAutoFit/>
          </a:bodyPr>
          <a:lstStyle/>
          <a:p>
            <a:pPr algn="l">
              <a:spcAft>
                <a:spcPts val="400"/>
              </a:spcAft>
            </a:pPr>
            <a:r>
              <a:rPr sz="1300" b="1">
                <a:solidFill>
                  <a:srgbClr val="161B26"/>
                </a:solidFill>
                <a:latin typeface="Arial"/>
              </a:rPr>
              <a:t>Run drift detection on a schedule, alarm on security-group drift via Config, and require that emergency console changes are back-ported into the template within the incident's follow-up.</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170</a:t>
            </a:r>
          </a:p>
        </p:txBody>
      </p:sp>
    </p:spTree>
  </p:cSld>
  <p:clrMapOvr>
    <a:masterClrMapping/>
  </p:clrMapOvr>
  <p:transition xmlns:p14="http://schemas.microsoft.com/office/powerpoint/2010/main" p14:dur="380">
    <p:fade/>
  </p:transition>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SCALING GOVERNANCE</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Scenario — Standing up a compliant new account fast</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91440" cy="91440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1847088"/>
            <a:ext cx="2194560" cy="320040"/>
          </a:xfrm>
          <a:prstGeom prst="rect">
            <a:avLst/>
          </a:prstGeom>
          <a:noFill/>
        </p:spPr>
        <p:txBody>
          <a:bodyPr wrap="square" anchor="t">
            <a:spAutoFit/>
          </a:bodyPr>
          <a:lstStyle/>
          <a:p>
            <a:pPr algn="l">
              <a:spcAft>
                <a:spcPts val="400"/>
              </a:spcAft>
            </a:pPr>
            <a:r>
              <a:rPr sz="1150" b="1">
                <a:solidFill>
                  <a:srgbClr val="5B6372"/>
                </a:solidFill>
                <a:latin typeface="Arial"/>
              </a:rPr>
              <a:t>SITUATION</a:t>
            </a:r>
          </a:p>
        </p:txBody>
      </p:sp>
      <p:sp>
        <p:nvSpPr>
          <p:cNvPr id="10" name="TextBox 9"/>
          <p:cNvSpPr txBox="1"/>
          <p:nvPr/>
        </p:nvSpPr>
        <p:spPr>
          <a:xfrm>
            <a:off x="1033272" y="2157984"/>
            <a:ext cx="10085832" cy="457200"/>
          </a:xfrm>
          <a:prstGeom prst="rect">
            <a:avLst/>
          </a:prstGeom>
          <a:noFill/>
        </p:spPr>
        <p:txBody>
          <a:bodyPr wrap="square" anchor="t">
            <a:spAutoFit/>
          </a:bodyPr>
          <a:lstStyle/>
          <a:p>
            <a:pPr algn="l">
              <a:spcAft>
                <a:spcPts val="400"/>
              </a:spcAft>
            </a:pPr>
            <a:r>
              <a:rPr sz="1300" b="0">
                <a:solidFill>
                  <a:srgbClr val="161B26"/>
                </a:solidFill>
                <a:latin typeface="Arial"/>
              </a:rPr>
              <a:t>A new business unit needs an AWS account that already meets the company's security, logging and network standards on day one.</a:t>
            </a:r>
          </a:p>
        </p:txBody>
      </p:sp>
      <p:sp>
        <p:nvSpPr>
          <p:cNvPr id="11" name="Rectangle 10"/>
          <p:cNvSpPr/>
          <p:nvPr/>
        </p:nvSpPr>
        <p:spPr>
          <a:xfrm>
            <a:off x="777240" y="2788920"/>
            <a:ext cx="10634472" cy="21945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788920"/>
            <a:ext cx="91440" cy="21945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880360"/>
            <a:ext cx="2743200" cy="320040"/>
          </a:xfrm>
          <a:prstGeom prst="rect">
            <a:avLst/>
          </a:prstGeom>
          <a:noFill/>
        </p:spPr>
        <p:txBody>
          <a:bodyPr wrap="square" anchor="t">
            <a:spAutoFit/>
          </a:bodyPr>
          <a:lstStyle/>
          <a:p>
            <a:pPr algn="l">
              <a:spcAft>
                <a:spcPts val="400"/>
              </a:spcAft>
            </a:pPr>
            <a:r>
              <a:rPr sz="1150" b="1">
                <a:solidFill>
                  <a:srgbClr val="7C3AED"/>
                </a:solidFill>
                <a:latin typeface="Arial"/>
              </a:rPr>
              <a:t>ANALYSIS</a:t>
            </a:r>
          </a:p>
        </p:txBody>
      </p:sp>
      <p:sp>
        <p:nvSpPr>
          <p:cNvPr id="14" name="TextBox 13"/>
          <p:cNvSpPr txBox="1"/>
          <p:nvPr/>
        </p:nvSpPr>
        <p:spPr>
          <a:xfrm>
            <a:off x="1033272" y="3246120"/>
            <a:ext cx="9994392" cy="1645920"/>
          </a:xfrm>
          <a:prstGeom prst="rect">
            <a:avLst/>
          </a:prstGeom>
          <a:noFill/>
        </p:spPr>
        <p:txBody>
          <a:bodyPr wrap="square">
            <a:spAutoFit/>
          </a:bodyPr>
          <a:lstStyle/>
          <a:p>
            <a:pPr>
              <a:spcAft>
                <a:spcPts val="700"/>
              </a:spcAft>
            </a:pPr>
            <a:r>
              <a:rPr sz="1300" b="0">
                <a:solidFill>
                  <a:srgbClr val="161B26"/>
                </a:solidFill>
                <a:latin typeface="Arial"/>
              </a:rPr>
              <a:t>•  Hand-building the account is slow and error-prone and guarantees it drifts from the standard.</a:t>
            </a:r>
          </a:p>
          <a:p>
            <a:pPr>
              <a:spcAft>
                <a:spcPts val="700"/>
              </a:spcAft>
            </a:pPr>
            <a:r>
              <a:rPr sz="1300" b="0">
                <a:solidFill>
                  <a:srgbClr val="161B26"/>
                </a:solidFill>
                <a:latin typeface="Arial"/>
              </a:rPr>
              <a:t>•  Control Tower's account factory vends accounts pre-wired to guardrails and centralised logging.</a:t>
            </a:r>
          </a:p>
          <a:p>
            <a:pPr>
              <a:spcAft>
                <a:spcPts val="700"/>
              </a:spcAft>
            </a:pPr>
            <a:r>
              <a:rPr sz="1300" b="0">
                <a:solidFill>
                  <a:srgbClr val="161B26"/>
                </a:solidFill>
                <a:latin typeface="Arial"/>
              </a:rPr>
              <a:t>•  StackSets push the standard network and security stacks into the new account automatically.</a:t>
            </a:r>
          </a:p>
        </p:txBody>
      </p:sp>
      <p:sp>
        <p:nvSpPr>
          <p:cNvPr id="15" name="Rectangle 14"/>
          <p:cNvSpPr/>
          <p:nvPr/>
        </p:nvSpPr>
        <p:spPr>
          <a:xfrm>
            <a:off x="777240" y="5102352"/>
            <a:ext cx="10634472"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5102352"/>
            <a:ext cx="91440" cy="9601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2" y="5193792"/>
            <a:ext cx="2743200" cy="320040"/>
          </a:xfrm>
          <a:prstGeom prst="rect">
            <a:avLst/>
          </a:prstGeom>
          <a:noFill/>
        </p:spPr>
        <p:txBody>
          <a:bodyPr wrap="square" anchor="t">
            <a:spAutoFit/>
          </a:bodyPr>
          <a:lstStyle/>
          <a:p>
            <a:pPr algn="l">
              <a:spcAft>
                <a:spcPts val="400"/>
              </a:spcAft>
            </a:pPr>
            <a:r>
              <a:rPr sz="1150" b="1">
                <a:solidFill>
                  <a:srgbClr val="10B981"/>
                </a:solidFill>
                <a:latin typeface="Arial"/>
              </a:rPr>
              <a:t>DECISION</a:t>
            </a:r>
          </a:p>
        </p:txBody>
      </p:sp>
      <p:sp>
        <p:nvSpPr>
          <p:cNvPr id="18" name="TextBox 17"/>
          <p:cNvSpPr txBox="1"/>
          <p:nvPr/>
        </p:nvSpPr>
        <p:spPr>
          <a:xfrm>
            <a:off x="1033272" y="5486400"/>
            <a:ext cx="10085832" cy="548640"/>
          </a:xfrm>
          <a:prstGeom prst="rect">
            <a:avLst/>
          </a:prstGeom>
          <a:noFill/>
        </p:spPr>
        <p:txBody>
          <a:bodyPr wrap="square" anchor="t">
            <a:spAutoFit/>
          </a:bodyPr>
          <a:lstStyle/>
          <a:p>
            <a:pPr algn="l">
              <a:spcAft>
                <a:spcPts val="400"/>
              </a:spcAft>
            </a:pPr>
            <a:r>
              <a:rPr sz="1300" b="1">
                <a:solidFill>
                  <a:srgbClr val="161B26"/>
                </a:solidFill>
                <a:latin typeface="Arial"/>
              </a:rPr>
              <a:t>Vend the account through Control Tower and apply the baseline via StackSets, so 'compliant by default' is the path of least resistance rather than a later audit finding.</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171</a:t>
            </a:r>
          </a:p>
        </p:txBody>
      </p:sp>
    </p:spTree>
  </p:cSld>
  <p:clrMapOvr>
    <a:masterClrMapping/>
  </p:clrMapOvr>
  <p:transition xmlns:p14="http://schemas.microsoft.com/office/powerpoint/2010/main" p14:dur="380">
    <p:fade/>
  </p:transition>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ONE ARTIFACT, MANY ENVIRONMENTS</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100" b="1">
                <a:solidFill>
                  <a:srgbClr val="161B26"/>
                </a:solidFill>
                <a:latin typeface="Arial"/>
              </a:rPr>
              <a:t>Worked Analysis — Parameterising One Template for Three Environments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4253788" cy="76581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73152" cy="76581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31028" y="1783080"/>
            <a:ext cx="6380684" cy="76581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8408" y="1783080"/>
            <a:ext cx="3933748" cy="765810"/>
          </a:xfrm>
          <a:prstGeom prst="rect">
            <a:avLst/>
          </a:prstGeom>
          <a:noFill/>
        </p:spPr>
        <p:txBody>
          <a:bodyPr wrap="square" anchor="ctr">
            <a:spAutoFit/>
          </a:bodyPr>
          <a:lstStyle/>
          <a:p>
            <a:pPr algn="l">
              <a:spcAft>
                <a:spcPts val="400"/>
              </a:spcAft>
            </a:pPr>
            <a:r>
              <a:rPr sz="1250" b="1">
                <a:solidFill>
                  <a:srgbClr val="161B26"/>
                </a:solidFill>
                <a:latin typeface="Arial"/>
              </a:rPr>
              <a:t>Instance size by env</a:t>
            </a:r>
          </a:p>
        </p:txBody>
      </p:sp>
      <p:sp>
        <p:nvSpPr>
          <p:cNvPr id="11" name="TextBox 10"/>
          <p:cNvSpPr txBox="1"/>
          <p:nvPr/>
        </p:nvSpPr>
        <p:spPr>
          <a:xfrm>
            <a:off x="5213908" y="1783080"/>
            <a:ext cx="6060644" cy="765810"/>
          </a:xfrm>
          <a:prstGeom prst="rect">
            <a:avLst/>
          </a:prstGeom>
          <a:noFill/>
        </p:spPr>
        <p:txBody>
          <a:bodyPr wrap="square" anchor="ctr">
            <a:spAutoFit/>
          </a:bodyPr>
          <a:lstStyle/>
          <a:p>
            <a:pPr algn="l">
              <a:spcAft>
                <a:spcPts val="400"/>
              </a:spcAft>
            </a:pPr>
            <a:r>
              <a:rPr sz="1200" b="0">
                <a:solidFill>
                  <a:srgbClr val="5B6372"/>
                </a:solidFill>
                <a:latin typeface="Arial"/>
              </a:rPr>
              <a:t>dev t3.micro, staging t3.small, prod m5.large — a single InstanceType parameter.</a:t>
            </a:r>
          </a:p>
        </p:txBody>
      </p:sp>
      <p:sp>
        <p:nvSpPr>
          <p:cNvPr id="12" name="Rectangle 11"/>
          <p:cNvSpPr/>
          <p:nvPr/>
        </p:nvSpPr>
        <p:spPr>
          <a:xfrm>
            <a:off x="777240" y="2548890"/>
            <a:ext cx="4253788" cy="76581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548890"/>
            <a:ext cx="73152" cy="76581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31028" y="2548890"/>
            <a:ext cx="6380684" cy="76581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78408" y="2548890"/>
            <a:ext cx="3933748" cy="765810"/>
          </a:xfrm>
          <a:prstGeom prst="rect">
            <a:avLst/>
          </a:prstGeom>
          <a:noFill/>
        </p:spPr>
        <p:txBody>
          <a:bodyPr wrap="square" anchor="ctr">
            <a:spAutoFit/>
          </a:bodyPr>
          <a:lstStyle/>
          <a:p>
            <a:pPr algn="l">
              <a:spcAft>
                <a:spcPts val="400"/>
              </a:spcAft>
            </a:pPr>
            <a:r>
              <a:rPr sz="1250" b="1">
                <a:solidFill>
                  <a:srgbClr val="161B26"/>
                </a:solidFill>
                <a:latin typeface="Arial"/>
              </a:rPr>
              <a:t>High availability by env</a:t>
            </a:r>
          </a:p>
        </p:txBody>
      </p:sp>
      <p:sp>
        <p:nvSpPr>
          <p:cNvPr id="16" name="TextBox 15"/>
          <p:cNvSpPr txBox="1"/>
          <p:nvPr/>
        </p:nvSpPr>
        <p:spPr>
          <a:xfrm>
            <a:off x="5213908" y="2548890"/>
            <a:ext cx="6060644" cy="765810"/>
          </a:xfrm>
          <a:prstGeom prst="rect">
            <a:avLst/>
          </a:prstGeom>
          <a:noFill/>
        </p:spPr>
        <p:txBody>
          <a:bodyPr wrap="square" anchor="ctr">
            <a:spAutoFit/>
          </a:bodyPr>
          <a:lstStyle/>
          <a:p>
            <a:pPr algn="l">
              <a:spcAft>
                <a:spcPts val="400"/>
              </a:spcAft>
            </a:pPr>
            <a:r>
              <a:rPr sz="1200" b="0">
                <a:solidFill>
                  <a:srgbClr val="5B6372"/>
                </a:solidFill>
                <a:latin typeface="Arial"/>
              </a:rPr>
              <a:t>A Condition creates the Multi-AZ standby and NAT redundancy only when EnvName = prod.</a:t>
            </a:r>
          </a:p>
        </p:txBody>
      </p:sp>
      <p:sp>
        <p:nvSpPr>
          <p:cNvPr id="17" name="Rectangle 16"/>
          <p:cNvSpPr/>
          <p:nvPr/>
        </p:nvSpPr>
        <p:spPr>
          <a:xfrm>
            <a:off x="777240" y="3314700"/>
            <a:ext cx="4253788" cy="76581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4700"/>
            <a:ext cx="73152" cy="76581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31028" y="3314700"/>
            <a:ext cx="6380684" cy="76581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3314700"/>
            <a:ext cx="3933748" cy="765810"/>
          </a:xfrm>
          <a:prstGeom prst="rect">
            <a:avLst/>
          </a:prstGeom>
          <a:noFill/>
        </p:spPr>
        <p:txBody>
          <a:bodyPr wrap="square" anchor="ctr">
            <a:spAutoFit/>
          </a:bodyPr>
          <a:lstStyle/>
          <a:p>
            <a:pPr algn="l">
              <a:spcAft>
                <a:spcPts val="400"/>
              </a:spcAft>
            </a:pPr>
            <a:r>
              <a:rPr sz="1250" b="1">
                <a:solidFill>
                  <a:srgbClr val="161B26"/>
                </a:solidFill>
                <a:latin typeface="Arial"/>
              </a:rPr>
              <a:t>AMI without hard-coding</a:t>
            </a:r>
          </a:p>
        </p:txBody>
      </p:sp>
      <p:sp>
        <p:nvSpPr>
          <p:cNvPr id="21" name="TextBox 20"/>
          <p:cNvSpPr txBox="1"/>
          <p:nvPr/>
        </p:nvSpPr>
        <p:spPr>
          <a:xfrm>
            <a:off x="5213908" y="3314700"/>
            <a:ext cx="6060644" cy="765810"/>
          </a:xfrm>
          <a:prstGeom prst="rect">
            <a:avLst/>
          </a:prstGeom>
          <a:noFill/>
        </p:spPr>
        <p:txBody>
          <a:bodyPr wrap="square" anchor="ctr">
            <a:spAutoFit/>
          </a:bodyPr>
          <a:lstStyle/>
          <a:p>
            <a:pPr algn="l">
              <a:spcAft>
                <a:spcPts val="400"/>
              </a:spcAft>
            </a:pPr>
            <a:r>
              <a:rPr sz="1200" b="0">
                <a:solidFill>
                  <a:srgbClr val="5B6372"/>
                </a:solidFill>
                <a:latin typeface="Arial"/>
              </a:rPr>
              <a:t>An SSM public parameter resolves the latest patched Amazon Linux AMI at deploy time.</a:t>
            </a:r>
          </a:p>
        </p:txBody>
      </p:sp>
      <p:sp>
        <p:nvSpPr>
          <p:cNvPr id="22" name="Rectangle 21"/>
          <p:cNvSpPr/>
          <p:nvPr/>
        </p:nvSpPr>
        <p:spPr>
          <a:xfrm>
            <a:off x="777240" y="4080510"/>
            <a:ext cx="4253788" cy="76581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080510"/>
            <a:ext cx="73152" cy="76581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031028" y="4080510"/>
            <a:ext cx="6380684" cy="76581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8408" y="4080510"/>
            <a:ext cx="3933748" cy="765810"/>
          </a:xfrm>
          <a:prstGeom prst="rect">
            <a:avLst/>
          </a:prstGeom>
          <a:noFill/>
        </p:spPr>
        <p:txBody>
          <a:bodyPr wrap="square" anchor="ctr">
            <a:spAutoFit/>
          </a:bodyPr>
          <a:lstStyle/>
          <a:p>
            <a:pPr algn="l">
              <a:spcAft>
                <a:spcPts val="400"/>
              </a:spcAft>
            </a:pPr>
            <a:r>
              <a:rPr sz="1250" b="1">
                <a:solidFill>
                  <a:srgbClr val="161B26"/>
                </a:solidFill>
                <a:latin typeface="Arial"/>
              </a:rPr>
              <a:t>Secrets by env</a:t>
            </a:r>
          </a:p>
        </p:txBody>
      </p:sp>
      <p:sp>
        <p:nvSpPr>
          <p:cNvPr id="26" name="TextBox 25"/>
          <p:cNvSpPr txBox="1"/>
          <p:nvPr/>
        </p:nvSpPr>
        <p:spPr>
          <a:xfrm>
            <a:off x="5213908" y="4080510"/>
            <a:ext cx="6060644" cy="765810"/>
          </a:xfrm>
          <a:prstGeom prst="rect">
            <a:avLst/>
          </a:prstGeom>
          <a:noFill/>
        </p:spPr>
        <p:txBody>
          <a:bodyPr wrap="square" anchor="ctr">
            <a:spAutoFit/>
          </a:bodyPr>
          <a:lstStyle/>
          <a:p>
            <a:pPr algn="l">
              <a:spcAft>
                <a:spcPts val="400"/>
              </a:spcAft>
            </a:pPr>
            <a:r>
              <a:rPr sz="1200" b="0">
                <a:solidFill>
                  <a:srgbClr val="5B6372"/>
                </a:solidFill>
                <a:latin typeface="Arial"/>
              </a:rPr>
              <a:t>Each environment references its own Secrets Manager secret; none appear in the template.</a:t>
            </a:r>
          </a:p>
        </p:txBody>
      </p:sp>
      <p:sp>
        <p:nvSpPr>
          <p:cNvPr id="27" name="Rectangle 26"/>
          <p:cNvSpPr/>
          <p:nvPr/>
        </p:nvSpPr>
        <p:spPr>
          <a:xfrm>
            <a:off x="777240" y="5010912"/>
            <a:ext cx="10634472" cy="868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010912"/>
            <a:ext cx="91440" cy="8686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33272" y="5102352"/>
            <a:ext cx="2743200" cy="320040"/>
          </a:xfrm>
          <a:prstGeom prst="rect">
            <a:avLst/>
          </a:prstGeom>
          <a:noFill/>
        </p:spPr>
        <p:txBody>
          <a:bodyPr wrap="square" anchor="t">
            <a:spAutoFit/>
          </a:bodyPr>
          <a:lstStyle/>
          <a:p>
            <a:pPr algn="l">
              <a:spcAft>
                <a:spcPts val="400"/>
              </a:spcAft>
            </a:pPr>
            <a:r>
              <a:rPr sz="1150" b="1">
                <a:solidFill>
                  <a:srgbClr val="10B981"/>
                </a:solidFill>
                <a:latin typeface="Arial"/>
              </a:rPr>
              <a:t>TAKEAWAY</a:t>
            </a:r>
          </a:p>
        </p:txBody>
      </p:sp>
      <p:sp>
        <p:nvSpPr>
          <p:cNvPr id="30" name="TextBox 29"/>
          <p:cNvSpPr txBox="1"/>
          <p:nvPr/>
        </p:nvSpPr>
        <p:spPr>
          <a:xfrm>
            <a:off x="1033272" y="5394960"/>
            <a:ext cx="10085832" cy="457200"/>
          </a:xfrm>
          <a:prstGeom prst="rect">
            <a:avLst/>
          </a:prstGeom>
          <a:noFill/>
        </p:spPr>
        <p:txBody>
          <a:bodyPr wrap="square" anchor="t">
            <a:spAutoFit/>
          </a:bodyPr>
          <a:lstStyle/>
          <a:p>
            <a:pPr algn="l">
              <a:spcAft>
                <a:spcPts val="400"/>
              </a:spcAft>
            </a:pPr>
            <a:r>
              <a:rPr sz="1300" b="1">
                <a:solidFill>
                  <a:srgbClr val="161B26"/>
                </a:solidFill>
                <a:latin typeface="Arial"/>
              </a:rPr>
              <a:t>The differences between environments become a short parameter file — the template itself is identical, so staging genuinely predicts production.</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172</a:t>
            </a:r>
          </a:p>
        </p:txBody>
      </p:sp>
    </p:spTree>
  </p:cSld>
  <p:clrMapOvr>
    <a:masterClrMapping/>
  </p:clrMapOvr>
  <p:transition xmlns:p14="http://schemas.microsoft.com/office/powerpoint/2010/main" p14:dur="380">
    <p:fade/>
  </p:transition>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DOMAIN 2 · CLOUDFORMATION · CDK · SAM</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AWS foundations: Infrastructure as code engines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PURPOSE</a:t>
            </a:r>
          </a:p>
          <a:p>
            <a:pPr algn="l">
              <a:spcAft>
                <a:spcPts val="300"/>
              </a:spcAft>
            </a:pPr>
            <a:r>
              <a:rPr sz="1050" b="0">
                <a:solidFill>
                  <a:srgbClr val="5B6372"/>
                </a:solidFill>
                <a:latin typeface="Arial"/>
              </a:rPr>
              <a:t>Model infrastructure as reviewable desired state and apply it through controlled change sets.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FEATURE 1</a:t>
            </a:r>
          </a:p>
          <a:p>
            <a:pPr algn="l">
              <a:spcAft>
                <a:spcPts val="300"/>
              </a:spcAft>
            </a:pPr>
            <a:r>
              <a:rPr sz="1050" b="0">
                <a:solidFill>
                  <a:srgbClr val="5B6372"/>
                </a:solidFill>
                <a:latin typeface="Arial"/>
              </a:rPr>
              <a:t>CloudFormation manages dependency order, rollback, drift detection, stack policies and change sets.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FEATURE 2</a:t>
            </a:r>
          </a:p>
          <a:p>
            <a:pPr algn="l">
              <a:spcAft>
                <a:spcPts val="300"/>
              </a:spcAft>
            </a:pPr>
            <a:r>
              <a:rPr sz="1050" b="0">
                <a:solidFill>
                  <a:srgbClr val="5B6372"/>
                </a:solidFill>
                <a:latin typeface="Arial"/>
              </a:rPr>
              <a:t>CDK synthesises familiar programming constructs into CloudFormation templates.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FEATURE 3</a:t>
            </a:r>
          </a:p>
          <a:p>
            <a:pPr algn="l">
              <a:spcAft>
                <a:spcPts val="300"/>
              </a:spcAft>
            </a:pPr>
            <a:r>
              <a:rPr sz="1050" b="0">
                <a:solidFill>
                  <a:srgbClr val="5B6372"/>
                </a:solidFill>
                <a:latin typeface="Arial"/>
              </a:rPr>
              <a:t>SAM adds serverless shorthand while retaining CloudFormation deployment semantics.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173</a:t>
            </a:r>
          </a:p>
        </p:txBody>
      </p:sp>
    </p:spTree>
  </p:cSld>
  <p:clrMapOvr>
    <a:masterClrMapping/>
  </p:clrMapOvr>
  <p:transition xmlns:p14="http://schemas.microsoft.com/office/powerpoint/2010/main" p14:dur="380">
    <p:fade/>
  </p:transition>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DOMAIN 2 · SERVICE DECISION</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Infrastructure as code engines: selection and controls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CHOOSE WHEN</a:t>
            </a:r>
          </a:p>
          <a:p>
            <a:pPr algn="l">
              <a:spcAft>
                <a:spcPts val="300"/>
              </a:spcAft>
            </a:pPr>
            <a:r>
              <a:rPr sz="1050" b="0">
                <a:solidFill>
                  <a:srgbClr val="5B6372"/>
                </a:solidFill>
                <a:latin typeface="Arial"/>
              </a:rPr>
              <a:t>Use CloudFormation as the deployment contract; choose CDK for reusable programmatic constructs and SAM for serverless-focused applications.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DEVOPS ENGINEERING</a:t>
            </a:r>
          </a:p>
          <a:p>
            <a:pPr algn="l">
              <a:spcAft>
                <a:spcPts val="300"/>
              </a:spcAft>
            </a:pPr>
            <a:r>
              <a:rPr sz="1050" b="0">
                <a:solidFill>
                  <a:srgbClr val="5B6372"/>
                </a:solidFill>
                <a:latin typeface="Arial"/>
              </a:rPr>
              <a:t>Lint, synthesize, test, create a change set, review replacement impact, deploy and detect drift.</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MODE</a:t>
            </a:r>
          </a:p>
          <a:p>
            <a:pPr algn="l">
              <a:spcAft>
                <a:spcPts val="300"/>
              </a:spcAft>
            </a:pPr>
            <a:r>
              <a:rPr sz="1050" b="0">
                <a:solidFill>
                  <a:srgbClr val="5B6372"/>
                </a:solidFill>
                <a:latin typeface="Arial"/>
              </a:rPr>
              <a:t>Generated IaC does not remove the need to review IAM expansion, data replacement and destructive removal policies.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EVIDENCE</a:t>
            </a:r>
          </a:p>
          <a:p>
            <a:pPr algn="l">
              <a:spcAft>
                <a:spcPts val="300"/>
              </a:spcAft>
            </a:pPr>
            <a:r>
              <a:rPr sz="1050" b="0">
                <a:solidFill>
                  <a:srgbClr val="5B6372"/>
                </a:solidFill>
                <a:latin typeface="Arial"/>
              </a:rPr>
              <a:t>Template digest, test output, change set, approval, stack event, drift status and rollback result.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174</a:t>
            </a:r>
          </a:p>
        </p:txBody>
      </p:sp>
    </p:spTree>
  </p:cSld>
  <p:clrMapOvr>
    <a:masterClrMapping/>
  </p:clrMapOvr>
  <p:transition xmlns:p14="http://schemas.microsoft.com/office/powerpoint/2010/main" p14:dur="380">
    <p:fade/>
  </p:transition>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DOMAIN 2 · ORGANIZATIONS · STACKSETS · CONTROL TOWER</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AWS foundations: Multi-account provisioning</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PURPOSE</a:t>
            </a:r>
          </a:p>
          <a:p>
            <a:pPr algn="l">
              <a:spcAft>
                <a:spcPts val="300"/>
              </a:spcAft>
            </a:pPr>
            <a:r>
              <a:rPr sz="1050" b="0">
                <a:solidFill>
                  <a:srgbClr val="5B6372"/>
                </a:solidFill>
                <a:latin typeface="Arial"/>
              </a:rPr>
              <a:t>Apply repeatable baselines across accounts and Regions while separating governance from workload delivery.</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FEATURE 1</a:t>
            </a:r>
          </a:p>
          <a:p>
            <a:pPr algn="l">
              <a:spcAft>
                <a:spcPts val="300"/>
              </a:spcAft>
            </a:pPr>
            <a:r>
              <a:rPr sz="1050" b="0">
                <a:solidFill>
                  <a:srgbClr val="5B6372"/>
                </a:solidFill>
                <a:latin typeface="Arial"/>
              </a:rPr>
              <a:t>Organizations groups accounts in OUs and applies policies at hierarchical boundaries.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FEATURE 2</a:t>
            </a:r>
          </a:p>
          <a:p>
            <a:pPr algn="l">
              <a:spcAft>
                <a:spcPts val="300"/>
              </a:spcAft>
            </a:pPr>
            <a:r>
              <a:rPr sz="1050" b="0">
                <a:solidFill>
                  <a:srgbClr val="5B6372"/>
                </a:solidFill>
                <a:latin typeface="Arial"/>
              </a:rPr>
              <a:t>StackSets deploys CloudFormation stacks across target accounts/Regions with concurrency and failure controls.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FEATURE 3</a:t>
            </a:r>
          </a:p>
          <a:p>
            <a:pPr algn="l">
              <a:spcAft>
                <a:spcPts val="300"/>
              </a:spcAft>
            </a:pPr>
            <a:r>
              <a:rPr sz="1050" b="0">
                <a:solidFill>
                  <a:srgbClr val="5B6372"/>
                </a:solidFill>
                <a:latin typeface="Arial"/>
              </a:rPr>
              <a:t>Control Tower adds landing-zone guardrails, account vending and drift visibility.</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175</a:t>
            </a:r>
          </a:p>
        </p:txBody>
      </p:sp>
    </p:spTree>
  </p:cSld>
  <p:clrMapOvr>
    <a:masterClrMapping/>
  </p:clrMapOvr>
  <p:transition xmlns:p14="http://schemas.microsoft.com/office/powerpoint/2010/main" p14:dur="380">
    <p:fade/>
  </p:transition>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DOMAIN 2 · SERVICE DECISION</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Multi-account provisioning: selection and controls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CHOOSE WHEN</a:t>
            </a:r>
          </a:p>
          <a:p>
            <a:pPr algn="l">
              <a:spcAft>
                <a:spcPts val="300"/>
              </a:spcAft>
            </a:pPr>
            <a:r>
              <a:rPr sz="1050" b="0">
                <a:solidFill>
                  <a:srgbClr val="5B6372"/>
                </a:solidFill>
                <a:latin typeface="Arial"/>
              </a:rPr>
              <a:t>Use StackSets for repeatable resources and Control Tower when managed landing-zone governance and account lifecycle are needed.</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DEVOPS ENGINEERING</a:t>
            </a:r>
          </a:p>
          <a:p>
            <a:pPr algn="l">
              <a:spcAft>
                <a:spcPts val="300"/>
              </a:spcAft>
            </a:pPr>
            <a:r>
              <a:rPr sz="1050" b="0">
                <a:solidFill>
                  <a:srgbClr val="5B6372"/>
                </a:solidFill>
                <a:latin typeface="Arial"/>
              </a:rPr>
              <a:t>Pilot in one OU, bound concurrency/failure tolerance, preserve delegated administration and verify every target instance.</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MODE</a:t>
            </a:r>
          </a:p>
          <a:p>
            <a:pPr algn="l">
              <a:spcAft>
                <a:spcPts val="300"/>
              </a:spcAft>
            </a:pPr>
            <a:r>
              <a:rPr sz="1050" b="0">
                <a:solidFill>
                  <a:srgbClr val="5B6372"/>
                </a:solidFill>
                <a:latin typeface="Arial"/>
              </a:rPr>
              <a:t>A broad organization rollout can multiply one template or policy defect across the estate.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EVIDENCE</a:t>
            </a:r>
          </a:p>
          <a:p>
            <a:pPr algn="l">
              <a:spcAft>
                <a:spcPts val="300"/>
              </a:spcAft>
            </a:pPr>
            <a:r>
              <a:rPr sz="1050" b="0">
                <a:solidFill>
                  <a:srgbClr val="5B6372"/>
                </a:solidFill>
                <a:latin typeface="Arial"/>
              </a:rPr>
              <a:t>OU target list, stack-instance status, failed-account list, policy version and drift record.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176</a:t>
            </a:r>
          </a:p>
        </p:txBody>
      </p:sp>
    </p:spTree>
  </p:cSld>
  <p:clrMapOvr>
    <a:masterClrMapping/>
  </p:clrMapOvr>
  <p:transition xmlns:p14="http://schemas.microsoft.com/office/powerpoint/2010/main" p14:dur="380">
    <p:fade/>
  </p:transition>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DOMAIN 2 · SYSTEMS MANAGER · STATE MANAGER · PATCH MANAGER · PARAMETER STORE</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AWS foundations: Fleet configuration and patching</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PURPOSE</a:t>
            </a:r>
          </a:p>
          <a:p>
            <a:pPr algn="l">
              <a:spcAft>
                <a:spcPts val="300"/>
              </a:spcAft>
            </a:pPr>
            <a:r>
              <a:rPr sz="1050" b="0">
                <a:solidFill>
                  <a:srgbClr val="5B6372"/>
                </a:solidFill>
                <a:latin typeface="Arial"/>
              </a:rPr>
              <a:t>Operate heterogeneous compute without inbound administrative ports or manual host-by-host changes.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FEATURE 1</a:t>
            </a:r>
          </a:p>
          <a:p>
            <a:pPr algn="l">
              <a:spcAft>
                <a:spcPts val="300"/>
              </a:spcAft>
            </a:pPr>
            <a:r>
              <a:rPr sz="1050" b="0">
                <a:solidFill>
                  <a:srgbClr val="5B6372"/>
                </a:solidFill>
                <a:latin typeface="Arial"/>
              </a:rPr>
              <a:t>Managed nodes use the SSM Agent and an instance/hybrid activation identity.</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FEATURE 2</a:t>
            </a:r>
          </a:p>
          <a:p>
            <a:pPr algn="l">
              <a:spcAft>
                <a:spcPts val="300"/>
              </a:spcAft>
            </a:pPr>
            <a:r>
              <a:rPr sz="1050" b="0">
                <a:solidFill>
                  <a:srgbClr val="5B6372"/>
                </a:solidFill>
                <a:latin typeface="Arial"/>
              </a:rPr>
              <a:t>State Manager enforces associations; Patch Manager evaluates baselines and compliance.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FEATURE 3</a:t>
            </a:r>
          </a:p>
          <a:p>
            <a:pPr algn="l">
              <a:spcAft>
                <a:spcPts val="300"/>
              </a:spcAft>
            </a:pPr>
            <a:r>
              <a:rPr sz="1050" b="0">
                <a:solidFill>
                  <a:srgbClr val="5B6372"/>
                </a:solidFill>
                <a:latin typeface="Arial"/>
              </a:rPr>
              <a:t>Automation runbooks compose AWS API actions, commands, approvals, branching and rollback.</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177</a:t>
            </a:r>
          </a:p>
        </p:txBody>
      </p:sp>
    </p:spTree>
  </p:cSld>
  <p:clrMapOvr>
    <a:masterClrMapping/>
  </p:clrMapOvr>
  <p:transition xmlns:p14="http://schemas.microsoft.com/office/powerpoint/2010/main" p14:dur="380">
    <p:fade/>
  </p:transition>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DOMAIN 2 · SERVICE DECISION</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Fleet configuration and patching: selection and controls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CHOOSE WHEN</a:t>
            </a:r>
          </a:p>
          <a:p>
            <a:pPr algn="l">
              <a:spcAft>
                <a:spcPts val="300"/>
              </a:spcAft>
            </a:pPr>
            <a:r>
              <a:rPr sz="1050" b="0">
                <a:solidFill>
                  <a:srgbClr val="5B6372"/>
                </a:solidFill>
                <a:latin typeface="Arial"/>
              </a:rPr>
              <a:t>Use State Manager for desired configuration, Patch Manager for patch compliance and Automation for multi-step operational workflows.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DEVOPS ENGINEERING</a:t>
            </a:r>
          </a:p>
          <a:p>
            <a:pPr algn="l">
              <a:spcAft>
                <a:spcPts val="300"/>
              </a:spcAft>
            </a:pPr>
            <a:r>
              <a:rPr sz="1050" b="0">
                <a:solidFill>
                  <a:srgbClr val="5B6372"/>
                </a:solidFill>
                <a:latin typeface="Arial"/>
              </a:rPr>
              <a:t>Target by tags/resource groups, use MaxConcurrency/MaxErrors, canary first and keep parameters out of scripts.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MODE</a:t>
            </a:r>
          </a:p>
          <a:p>
            <a:pPr algn="l">
              <a:spcAft>
                <a:spcPts val="300"/>
              </a:spcAft>
            </a:pPr>
            <a:r>
              <a:rPr sz="1050" b="0">
                <a:solidFill>
                  <a:srgbClr val="5B6372"/>
                </a:solidFill>
                <a:latin typeface="Arial"/>
              </a:rPr>
              <a:t>A command that targets all instances at once can turn routine remediation into a fleet-wide outage.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EVIDENCE</a:t>
            </a:r>
          </a:p>
          <a:p>
            <a:pPr algn="l">
              <a:spcAft>
                <a:spcPts val="300"/>
              </a:spcAft>
            </a:pPr>
            <a:r>
              <a:rPr sz="1050" b="0">
                <a:solidFill>
                  <a:srgbClr val="5B6372"/>
                </a:solidFill>
                <a:latin typeface="Arial"/>
              </a:rPr>
              <a:t>Target query, association/runbook version, command output, compliance state, error threshold and rollback.</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178</a:t>
            </a:r>
          </a:p>
        </p:txBody>
      </p:sp>
    </p:spTree>
  </p:cSld>
  <p:clrMapOvr>
    <a:masterClrMapping/>
  </p:clrMapOvr>
  <p:transition xmlns:p14="http://schemas.microsoft.com/office/powerpoint/2010/main" p14:dur="380">
    <p:fade/>
  </p:transition>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DOMAIN 2 · EVENTBRIDGE · STEP FUNCTIONS · LAMBDA · SQS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AWS foundations: Workflow and event automation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PURPOSE</a:t>
            </a:r>
          </a:p>
          <a:p>
            <a:pPr algn="l">
              <a:spcAft>
                <a:spcPts val="300"/>
              </a:spcAft>
            </a:pPr>
            <a:r>
              <a:rPr sz="1050" b="0">
                <a:solidFill>
                  <a:srgbClr val="5B6372"/>
                </a:solidFill>
                <a:latin typeface="Arial"/>
              </a:rPr>
              <a:t>Decouple operational events from durable, observable automation workflows.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FEATURE 1</a:t>
            </a:r>
          </a:p>
          <a:p>
            <a:pPr algn="l">
              <a:spcAft>
                <a:spcPts val="300"/>
              </a:spcAft>
            </a:pPr>
            <a:r>
              <a:rPr sz="1050" b="0">
                <a:solidFill>
                  <a:srgbClr val="5B6372"/>
                </a:solidFill>
                <a:latin typeface="Arial"/>
              </a:rPr>
              <a:t>EventBridge rules and event buses route matched events between producers and targets.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FEATURE 2</a:t>
            </a:r>
          </a:p>
          <a:p>
            <a:pPr algn="l">
              <a:spcAft>
                <a:spcPts val="300"/>
              </a:spcAft>
            </a:pPr>
            <a:r>
              <a:rPr sz="1050" b="0">
                <a:solidFill>
                  <a:srgbClr val="5B6372"/>
                </a:solidFill>
                <a:latin typeface="Arial"/>
              </a:rPr>
              <a:t>Step Functions models state, retries, catches, parallelism, waits and human approval.</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FEATURE 3</a:t>
            </a:r>
          </a:p>
          <a:p>
            <a:pPr algn="l">
              <a:spcAft>
                <a:spcPts val="300"/>
              </a:spcAft>
            </a:pPr>
            <a:r>
              <a:rPr sz="1050" b="0">
                <a:solidFill>
                  <a:srgbClr val="5B6372"/>
                </a:solidFill>
                <a:latin typeface="Arial"/>
              </a:rPr>
              <a:t>SQS buffers work and provides visibility timeouts, redrive and dead-letter queues.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179</a:t>
            </a:r>
          </a:p>
        </p:txBody>
      </p:sp>
    </p:spTree>
  </p:cSld>
  <p:clrMapOvr>
    <a:masterClrMapping/>
  </p:clrMapOvr>
  <p:transition xmlns:p14="http://schemas.microsoft.com/office/powerpoint/2010/main" p14:dur="380">
    <p:fade/>
  </p:transition>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DOMAIN 2 · SERVICE DECISION</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Workflow and event automation: selection and controls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CHOOSE WHEN</a:t>
            </a:r>
          </a:p>
          <a:p>
            <a:pPr algn="l">
              <a:spcAft>
                <a:spcPts val="300"/>
              </a:spcAft>
            </a:pPr>
            <a:r>
              <a:rPr sz="1050" b="0">
                <a:solidFill>
                  <a:srgbClr val="5B6372"/>
                </a:solidFill>
                <a:latin typeface="Arial"/>
              </a:rPr>
              <a:t>Use EventBridge for routing, Step Functions for stateful orchestration and SQS when buffering/back-pressure are required.</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DEVOPS ENGINEERING</a:t>
            </a:r>
          </a:p>
          <a:p>
            <a:pPr algn="l">
              <a:spcAft>
                <a:spcPts val="300"/>
              </a:spcAft>
            </a:pPr>
            <a:r>
              <a:rPr sz="1050" b="0">
                <a:solidFill>
                  <a:srgbClr val="5B6372"/>
                </a:solidFill>
                <a:latin typeface="Arial"/>
              </a:rPr>
              <a:t>Design idempotent tasks, bounded retries with jitter/backoff, explicit timeouts and dead-letter handling.</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MODE</a:t>
            </a:r>
          </a:p>
          <a:p>
            <a:pPr algn="l">
              <a:spcAft>
                <a:spcPts val="300"/>
              </a:spcAft>
            </a:pPr>
            <a:r>
              <a:rPr sz="1050" b="0">
                <a:solidFill>
                  <a:srgbClr val="5B6372"/>
                </a:solidFill>
                <a:latin typeface="Arial"/>
              </a:rPr>
              <a:t>Unlimited retry or non-idempotent recovery can amplify failure and duplicate side effects.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EVIDENCE</a:t>
            </a:r>
          </a:p>
          <a:p>
            <a:pPr algn="l">
              <a:spcAft>
                <a:spcPts val="300"/>
              </a:spcAft>
            </a:pPr>
            <a:r>
              <a:rPr sz="1050" b="0">
                <a:solidFill>
                  <a:srgbClr val="5B6372"/>
                </a:solidFill>
                <a:latin typeface="Arial"/>
              </a:rPr>
              <a:t>Event ID, rule match, execution history, retry count, DLQ depth and final state.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180</a:t>
            </a:r>
          </a:p>
        </p:txBody>
      </p:sp>
    </p:spTree>
  </p:cSld>
  <p:clrMapOvr>
    <a:masterClrMapping/>
  </p:clrMapOvr>
  <p:transition xmlns:p14="http://schemas.microsoft.com/office/powerpoint/2010/main" p14:dur="380">
    <p:fade/>
  </p:transition>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DOMAIN 2 · AWS DEVELOPER SERVICES</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500" b="1">
                <a:solidFill>
                  <a:srgbClr val="161B26"/>
                </a:solidFill>
                <a:latin typeface="Arial"/>
              </a:rPr>
              <a:t>Developer deep dive: CloudFormation template and stack lifecycle</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PURPOSE</a:t>
            </a:r>
          </a:p>
          <a:p>
            <a:pPr algn="l">
              <a:spcAft>
                <a:spcPts val="300"/>
              </a:spcAft>
            </a:pPr>
            <a:r>
              <a:rPr sz="1050" b="0">
                <a:solidFill>
                  <a:srgbClr val="5B6372"/>
                </a:solidFill>
                <a:latin typeface="Arial"/>
              </a:rPr>
              <a:t>Represent infrastructure as desired state, preview resource impact and preserve data through controlled lifecycle policies.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SERVICE BOUNDARY</a:t>
            </a:r>
          </a:p>
          <a:p>
            <a:pPr algn="l">
              <a:spcAft>
                <a:spcPts val="300"/>
              </a:spcAft>
            </a:pPr>
            <a:r>
              <a:rPr sz="1050" b="0">
                <a:solidFill>
                  <a:srgbClr val="5B6372"/>
                </a:solidFill>
                <a:latin typeface="Arial"/>
              </a:rPr>
              <a:t>CloudFormation · change sets · drift detection · hooks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PRIMARY DESIGN DECISION</a:t>
            </a:r>
          </a:p>
          <a:p>
            <a:pPr algn="l">
              <a:spcAft>
                <a:spcPts val="300"/>
              </a:spcAft>
            </a:pPr>
            <a:r>
              <a:rPr sz="1050" b="0">
                <a:solidFill>
                  <a:srgbClr val="5B6372"/>
                </a:solidFill>
                <a:latin typeface="Arial"/>
              </a:rPr>
              <a:t>Generate a change set, inspect replacement flags, snapshot or migrate data explicitly, apply retention policies and rehearse the recovery path.</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BOUNDARY</a:t>
            </a:r>
          </a:p>
          <a:p>
            <a:pPr algn="l">
              <a:spcAft>
                <a:spcPts val="300"/>
              </a:spcAft>
            </a:pPr>
            <a:r>
              <a:rPr sz="1050" b="0">
                <a:solidFill>
                  <a:srgbClr val="5B6372"/>
                </a:solidFill>
                <a:latin typeface="Arial"/>
              </a:rPr>
              <a:t>Treating every stack update as in-place can delete or orphan stateful resources; drift can make the preview incomplete.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181</a:t>
            </a:r>
          </a:p>
        </p:txBody>
      </p:sp>
    </p:spTree>
  </p:cSld>
  <p:clrMapOvr>
    <a:masterClrMapping/>
  </p:clrMapOvr>
  <p:transition xmlns:p14="http://schemas.microsoft.com/office/powerpoint/2010/main" p14:dur="380">
    <p:fade/>
  </p:transition>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DOMAIN 2 · SERVICE MECHANICS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700" b="1">
                <a:solidFill>
                  <a:srgbClr val="161B26"/>
                </a:solidFill>
                <a:latin typeface="Arial"/>
              </a:rPr>
              <a:t>CloudFormation template and stack lifecycle: how it works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1</a:t>
            </a:r>
          </a:p>
          <a:p>
            <a:pPr algn="l">
              <a:spcAft>
                <a:spcPts val="300"/>
              </a:spcAft>
            </a:pPr>
            <a:r>
              <a:rPr sz="1050" b="0">
                <a:solidFill>
                  <a:srgbClr val="5B6372"/>
                </a:solidFill>
                <a:latin typeface="Arial"/>
              </a:rPr>
              <a:t>Parameters provide deployment-time values, mappings hold known lookup data and conditions control resource inclusion without duplicating templates.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2</a:t>
            </a:r>
          </a:p>
          <a:p>
            <a:pPr algn="l">
              <a:spcAft>
                <a:spcPts val="300"/>
              </a:spcAft>
            </a:pPr>
            <a:r>
              <a:rPr sz="1050" b="0">
                <a:solidFill>
                  <a:srgbClr val="5B6372"/>
                </a:solidFill>
                <a:latin typeface="Arial"/>
              </a:rPr>
              <a:t>References and `Fn::GetAtt` build dependency edges; explicit `DependsOn` is reserved for dependencies CloudFormation cannot infer.</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3</a:t>
            </a:r>
          </a:p>
          <a:p>
            <a:pPr algn="l">
              <a:spcAft>
                <a:spcPts val="300"/>
              </a:spcAft>
            </a:pPr>
            <a:r>
              <a:rPr sz="1050" b="0">
                <a:solidFill>
                  <a:srgbClr val="5B6372"/>
                </a:solidFill>
                <a:latin typeface="Arial"/>
              </a:rPr>
              <a:t>Update and replacement behavior is resource-property specific, so a change set must be read for replacement, deletion and import consequences.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4</a:t>
            </a:r>
          </a:p>
          <a:p>
            <a:pPr algn="l">
              <a:spcAft>
                <a:spcPts val="300"/>
              </a:spcAft>
            </a:pPr>
            <a:r>
              <a:rPr sz="1050" b="0">
                <a:solidFill>
                  <a:srgbClr val="5B6372"/>
                </a:solidFill>
                <a:latin typeface="Arial"/>
              </a:rPr>
              <a:t>DeletionPolicy and UpdateReplacePolicy govern retained data; stack policies and hooks protect or validate sensitive changes.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182</a:t>
            </a:r>
          </a:p>
        </p:txBody>
      </p:sp>
    </p:spTree>
  </p:cSld>
  <p:clrMapOvr>
    <a:masterClrMapping/>
  </p:clrMapOvr>
  <p:transition xmlns:p14="http://schemas.microsoft.com/office/powerpoint/2010/main" p14:dur="380">
    <p:fade/>
  </p:transition>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DOMAIN 2 · CONTROL AND DATA FLOW</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700" b="1">
                <a:solidFill>
                  <a:srgbClr val="161B26"/>
                </a:solidFill>
                <a:latin typeface="Arial"/>
              </a:rPr>
              <a:t>CloudFormation template and stack lifecycle: operating flow</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6354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79829"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982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Lint and test template</a:t>
            </a:r>
          </a:p>
        </p:txBody>
      </p:sp>
      <p:sp>
        <p:nvSpPr>
          <p:cNvPr id="12" name="Rectangle 11"/>
          <p:cNvSpPr/>
          <p:nvPr/>
        </p:nvSpPr>
        <p:spPr>
          <a:xfrm>
            <a:off x="2969971"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69971" y="2148840"/>
            <a:ext cx="186354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572560"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72560"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6" name="TextBox 15"/>
          <p:cNvSpPr txBox="1"/>
          <p:nvPr/>
        </p:nvSpPr>
        <p:spPr>
          <a:xfrm>
            <a:off x="3088843"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Create change set</a:t>
            </a:r>
          </a:p>
        </p:txBody>
      </p:sp>
      <p:sp>
        <p:nvSpPr>
          <p:cNvPr id="17" name="Rectangle 16"/>
          <p:cNvSpPr/>
          <p:nvPr/>
        </p:nvSpPr>
        <p:spPr>
          <a:xfrm>
            <a:off x="5162702"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62702" y="2148840"/>
            <a:ext cx="186354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765291"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6529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1" name="TextBox 20"/>
          <p:cNvSpPr txBox="1"/>
          <p:nvPr/>
        </p:nvSpPr>
        <p:spPr>
          <a:xfrm>
            <a:off x="5281574"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Review IAM and replacement</a:t>
            </a:r>
          </a:p>
        </p:txBody>
      </p:sp>
      <p:sp>
        <p:nvSpPr>
          <p:cNvPr id="22" name="Rectangle 21"/>
          <p:cNvSpPr/>
          <p:nvPr/>
        </p:nvSpPr>
        <p:spPr>
          <a:xfrm>
            <a:off x="7355433"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355433" y="2148840"/>
            <a:ext cx="186354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958022"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5802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6" name="TextBox 25"/>
          <p:cNvSpPr txBox="1"/>
          <p:nvPr/>
        </p:nvSpPr>
        <p:spPr>
          <a:xfrm>
            <a:off x="7474305"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Execute monitored update</a:t>
            </a:r>
          </a:p>
        </p:txBody>
      </p:sp>
      <p:sp>
        <p:nvSpPr>
          <p:cNvPr id="27" name="Rectangle 26"/>
          <p:cNvSpPr/>
          <p:nvPr/>
        </p:nvSpPr>
        <p:spPr>
          <a:xfrm>
            <a:off x="9548164"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548164" y="2148840"/>
            <a:ext cx="1863547" cy="914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50753" y="2532888"/>
            <a:ext cx="658368" cy="658368"/>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5075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5</a:t>
            </a:r>
          </a:p>
        </p:txBody>
      </p:sp>
      <p:sp>
        <p:nvSpPr>
          <p:cNvPr id="31" name="TextBox 30"/>
          <p:cNvSpPr txBox="1"/>
          <p:nvPr/>
        </p:nvSpPr>
        <p:spPr>
          <a:xfrm>
            <a:off x="9667036"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Detect drift and retain events</a:t>
            </a:r>
          </a:p>
        </p:txBody>
      </p:sp>
      <p:cxnSp>
        <p:nvCxnSpPr>
          <p:cNvPr id="32" name="Connector 31"/>
          <p:cNvCxnSpPr/>
          <p:nvPr/>
        </p:nvCxnSpPr>
        <p:spPr>
          <a:xfrm>
            <a:off x="2640787"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83351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026249"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21898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7C3AED"/>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8" name="TextBox 3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9" name="TextBox 3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0" name="TextBox 3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183</a:t>
            </a:r>
          </a:p>
        </p:txBody>
      </p:sp>
    </p:spTree>
  </p:cSld>
  <p:clrMapOvr>
    <a:masterClrMapping/>
  </p:clrMapOvr>
  <p:transition xmlns:p14="http://schemas.microsoft.com/office/powerpoint/2010/main" p14:dur="380">
    <p:fade/>
  </p:transition>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DOMAIN 2 · CHOOSE DELIBERATELY</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300" b="1">
                <a:solidFill>
                  <a:srgbClr val="161B26"/>
                </a:solidFill>
                <a:latin typeface="Arial"/>
              </a:rPr>
              <a:t>CloudFormation template and stack lifecycle: configuration decisions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NESTED STACKS</a:t>
            </a:r>
          </a:p>
          <a:p>
            <a:pPr algn="l">
              <a:spcAft>
                <a:spcPts val="300"/>
              </a:spcAft>
            </a:pPr>
            <a:r>
              <a:rPr sz="1050" b="0">
                <a:solidFill>
                  <a:srgbClr val="5B6372"/>
                </a:solidFill>
                <a:latin typeface="Arial"/>
              </a:rPr>
              <a:t>Compose separately owned templates but manage update order and exported dependencies deliberately.</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MODULES</a:t>
            </a:r>
          </a:p>
          <a:p>
            <a:pPr algn="l">
              <a:spcAft>
                <a:spcPts val="300"/>
              </a:spcAft>
            </a:pPr>
            <a:r>
              <a:rPr sz="1050" b="0">
                <a:solidFill>
                  <a:srgbClr val="5B6372"/>
                </a:solidFill>
                <a:latin typeface="Arial"/>
              </a:rPr>
              <a:t>Package reusable resource patterns while retaining native CloudFormation semantics.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IMPORTS</a:t>
            </a:r>
          </a:p>
          <a:p>
            <a:pPr algn="l">
              <a:spcAft>
                <a:spcPts val="300"/>
              </a:spcAft>
            </a:pPr>
            <a:r>
              <a:rPr sz="1050" b="0">
                <a:solidFill>
                  <a:srgbClr val="5B6372"/>
                </a:solidFill>
                <a:latin typeface="Arial"/>
              </a:rPr>
              <a:t>Bring existing resources under management only after identifiers and property compatibility are verified.</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ROLLBACK</a:t>
            </a:r>
          </a:p>
          <a:p>
            <a:pPr algn="l">
              <a:spcAft>
                <a:spcPts val="300"/>
              </a:spcAft>
            </a:pPr>
            <a:r>
              <a:rPr sz="1050" b="0">
                <a:solidFill>
                  <a:srgbClr val="5B6372"/>
                </a:solidFill>
                <a:latin typeface="Arial"/>
              </a:rPr>
              <a:t>Use stack events and continue-update-rollback carefully; never delete diagnostic evidence first.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184</a:t>
            </a:r>
          </a:p>
        </p:txBody>
      </p:sp>
    </p:spTree>
  </p:cSld>
  <p:clrMapOvr>
    <a:masterClrMapping/>
  </p:clrMapOvr>
  <p:transition xmlns:p14="http://schemas.microsoft.com/office/powerpoint/2010/main" p14:dur="380">
    <p:fade/>
  </p:transition>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DOMAIN 2 · APPLIED ARCHITECTURE</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100" b="1">
                <a:solidFill>
                  <a:srgbClr val="161B26"/>
                </a:solidFill>
                <a:latin typeface="Arial"/>
              </a:rPr>
              <a:t>CloudFormation template and stack lifecycle: worked architecture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SCENARIO</a:t>
            </a:r>
          </a:p>
          <a:p>
            <a:pPr algn="l">
              <a:spcAft>
                <a:spcPts val="300"/>
              </a:spcAft>
            </a:pPr>
            <a:r>
              <a:rPr sz="1050" b="0">
                <a:solidFill>
                  <a:srgbClr val="5B6372"/>
                </a:solidFill>
                <a:latin typeface="Arial"/>
              </a:rPr>
              <a:t>A database encryption change may replace a resource holding production data and must be proven safe before execution.</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DESIGN DECISION</a:t>
            </a:r>
          </a:p>
          <a:p>
            <a:pPr algn="l">
              <a:spcAft>
                <a:spcPts val="300"/>
              </a:spcAft>
            </a:pPr>
            <a:r>
              <a:rPr sz="1050" b="0">
                <a:solidFill>
                  <a:srgbClr val="5B6372"/>
                </a:solidFill>
                <a:latin typeface="Arial"/>
              </a:rPr>
              <a:t>Generate a change set, inspect replacement flags, snapshot or migrate data explicitly, apply retention policies and rehearse the recovery path.</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TO AVOID</a:t>
            </a:r>
          </a:p>
          <a:p>
            <a:pPr algn="l">
              <a:spcAft>
                <a:spcPts val="300"/>
              </a:spcAft>
            </a:pPr>
            <a:r>
              <a:rPr sz="1050" b="0">
                <a:solidFill>
                  <a:srgbClr val="5B6372"/>
                </a:solidFill>
                <a:latin typeface="Arial"/>
              </a:rPr>
              <a:t>Treating every stack update as in-place can delete or orphan stateful resources; drift can make the preview incomplete.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ACCEPTANCE EVIDENCE</a:t>
            </a:r>
          </a:p>
          <a:p>
            <a:pPr algn="l">
              <a:spcAft>
                <a:spcPts val="300"/>
              </a:spcAft>
            </a:pPr>
            <a:r>
              <a:rPr sz="1050" b="0">
                <a:solidFill>
                  <a:srgbClr val="5B6372"/>
                </a:solidFill>
                <a:latin typeface="Arial"/>
              </a:rPr>
              <a:t>Template digest, validation output, change set, policy review, stack events, retained snapshot and drift status.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185</a:t>
            </a:r>
          </a:p>
        </p:txBody>
      </p:sp>
    </p:spTree>
  </p:cSld>
  <p:clrMapOvr>
    <a:masterClrMapping/>
  </p:clrMapOvr>
  <p:transition xmlns:p14="http://schemas.microsoft.com/office/powerpoint/2010/main" p14:dur="380">
    <p:fade/>
  </p:transition>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DOMAIN 2 · AWS DEVELOPER SERVICES</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500" b="1">
                <a:solidFill>
                  <a:srgbClr val="161B26"/>
                </a:solidFill>
                <a:latin typeface="Arial"/>
              </a:rPr>
              <a:t>Developer deep dive: AWS CDK and SAM synthesis boundaries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PURPOSE</a:t>
            </a:r>
          </a:p>
          <a:p>
            <a:pPr algn="l">
              <a:spcAft>
                <a:spcPts val="300"/>
              </a:spcAft>
            </a:pPr>
            <a:r>
              <a:rPr sz="1050" b="0">
                <a:solidFill>
                  <a:srgbClr val="5B6372"/>
                </a:solidFill>
                <a:latin typeface="Arial"/>
              </a:rPr>
              <a:t>Use higher-level authoring tools without skipping review of the CloudFormation contract they generate.</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SERVICE BOUNDARY</a:t>
            </a:r>
          </a:p>
          <a:p>
            <a:pPr algn="l">
              <a:spcAft>
                <a:spcPts val="300"/>
              </a:spcAft>
            </a:pPr>
            <a:r>
              <a:rPr sz="1050" b="0">
                <a:solidFill>
                  <a:srgbClr val="5B6372"/>
                </a:solidFill>
                <a:latin typeface="Arial"/>
              </a:rPr>
              <a:t>AWS CDK · constructs · SAM · CloudFormation</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PRIMARY DESIGN DECISION</a:t>
            </a:r>
          </a:p>
          <a:p>
            <a:pPr algn="l">
              <a:spcAft>
                <a:spcPts val="300"/>
              </a:spcAft>
            </a:pPr>
            <a:r>
              <a:rPr sz="1050" b="0">
                <a:solidFill>
                  <a:srgbClr val="5B6372"/>
                </a:solidFill>
                <a:latin typeface="Arial"/>
              </a:rPr>
              <a:t>Add policy assertions, narrow grants, parameterise environment behavior and require retention in production before publishing the construct version.</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BOUNDARY</a:t>
            </a:r>
          </a:p>
          <a:p>
            <a:pPr algn="l">
              <a:spcAft>
                <a:spcPts val="300"/>
              </a:spcAft>
            </a:pPr>
            <a:r>
              <a:rPr sz="1050" b="0">
                <a:solidFill>
                  <a:srgbClr val="5B6372"/>
                </a:solidFill>
                <a:latin typeface="Arial"/>
              </a:rPr>
              <a:t>High-level constructs can hide resources, IAM expansion and destructive defaults; a successful synth is not a security review.</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186</a:t>
            </a:r>
          </a:p>
        </p:txBody>
      </p:sp>
    </p:spTree>
  </p:cSld>
  <p:clrMapOvr>
    <a:masterClrMapping/>
  </p:clrMapOvr>
  <p:transition xmlns:p14="http://schemas.microsoft.com/office/powerpoint/2010/main" p14:dur="380">
    <p:fade/>
  </p:transition>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DOMAIN 2 · SERVICE MECHANICS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AWS CDK and SAM synthesis boundaries: how it works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1</a:t>
            </a:r>
          </a:p>
          <a:p>
            <a:pPr algn="l">
              <a:spcAft>
                <a:spcPts val="300"/>
              </a:spcAft>
            </a:pPr>
            <a:r>
              <a:rPr sz="1050" b="0">
                <a:solidFill>
                  <a:srgbClr val="5B6372"/>
                </a:solidFill>
                <a:latin typeface="Arial"/>
              </a:rPr>
              <a:t>CDK constructs range from low-level resource mappings to opinionated patterns; all synthesize into CloudFormation resources and IAM statements.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2</a:t>
            </a:r>
          </a:p>
          <a:p>
            <a:pPr algn="l">
              <a:spcAft>
                <a:spcPts val="300"/>
              </a:spcAft>
            </a:pPr>
            <a:r>
              <a:rPr sz="1050" b="0">
                <a:solidFill>
                  <a:srgbClr val="5B6372"/>
                </a:solidFill>
                <a:latin typeface="Arial"/>
              </a:rPr>
              <a:t>Context values, feature flags and asset hashes affect synthesis, so toolchain versions and context files must be controlled.</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3</a:t>
            </a:r>
          </a:p>
          <a:p>
            <a:pPr algn="l">
              <a:spcAft>
                <a:spcPts val="300"/>
              </a:spcAft>
            </a:pPr>
            <a:r>
              <a:rPr sz="1050" b="0">
                <a:solidFill>
                  <a:srgbClr val="5B6372"/>
                </a:solidFill>
                <a:latin typeface="Arial"/>
              </a:rPr>
              <a:t>CDK bootstrap resources support asset publishing and deployment roles; modern bootstrap trust must be scoped to intended accounts.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4</a:t>
            </a:r>
          </a:p>
          <a:p>
            <a:pPr algn="l">
              <a:spcAft>
                <a:spcPts val="300"/>
              </a:spcAft>
            </a:pPr>
            <a:r>
              <a:rPr sz="1050" b="0">
                <a:solidFill>
                  <a:srgbClr val="5B6372"/>
                </a:solidFill>
                <a:latin typeface="Arial"/>
              </a:rPr>
              <a:t>SAM transforms concise serverless resources into CloudFormation and can attach deployment preferences, API events and policies.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187</a:t>
            </a:r>
          </a:p>
        </p:txBody>
      </p:sp>
    </p:spTree>
  </p:cSld>
  <p:clrMapOvr>
    <a:masterClrMapping/>
  </p:clrMapOvr>
  <p:transition xmlns:p14="http://schemas.microsoft.com/office/powerpoint/2010/main" p14:dur="380">
    <p:fade/>
  </p:transition>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DOMAIN 2 · CONTROL AND DATA FLOW</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700" b="1">
                <a:solidFill>
                  <a:srgbClr val="161B26"/>
                </a:solidFill>
                <a:latin typeface="Arial"/>
              </a:rPr>
              <a:t>AWS CDK and SAM synthesis boundaries: operating flow</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6354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79829"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982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Define construct or SAM resource</a:t>
            </a:r>
          </a:p>
        </p:txBody>
      </p:sp>
      <p:sp>
        <p:nvSpPr>
          <p:cNvPr id="12" name="Rectangle 11"/>
          <p:cNvSpPr/>
          <p:nvPr/>
        </p:nvSpPr>
        <p:spPr>
          <a:xfrm>
            <a:off x="2969971"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69971" y="2148840"/>
            <a:ext cx="186354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572560"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72560"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6" name="TextBox 15"/>
          <p:cNvSpPr txBox="1"/>
          <p:nvPr/>
        </p:nvSpPr>
        <p:spPr>
          <a:xfrm>
            <a:off x="3088843"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Run unit assertions</a:t>
            </a:r>
          </a:p>
        </p:txBody>
      </p:sp>
      <p:sp>
        <p:nvSpPr>
          <p:cNvPr id="17" name="Rectangle 16"/>
          <p:cNvSpPr/>
          <p:nvPr/>
        </p:nvSpPr>
        <p:spPr>
          <a:xfrm>
            <a:off x="5162702"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62702" y="2148840"/>
            <a:ext cx="186354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765291"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6529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1" name="TextBox 20"/>
          <p:cNvSpPr txBox="1"/>
          <p:nvPr/>
        </p:nvSpPr>
        <p:spPr>
          <a:xfrm>
            <a:off x="5281574"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Synthesise template</a:t>
            </a:r>
          </a:p>
        </p:txBody>
      </p:sp>
      <p:sp>
        <p:nvSpPr>
          <p:cNvPr id="22" name="Rectangle 21"/>
          <p:cNvSpPr/>
          <p:nvPr/>
        </p:nvSpPr>
        <p:spPr>
          <a:xfrm>
            <a:off x="7355433"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355433" y="2148840"/>
            <a:ext cx="186354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958022"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5802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6" name="TextBox 25"/>
          <p:cNvSpPr txBox="1"/>
          <p:nvPr/>
        </p:nvSpPr>
        <p:spPr>
          <a:xfrm>
            <a:off x="7474305"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Review IAM/change set</a:t>
            </a:r>
          </a:p>
        </p:txBody>
      </p:sp>
      <p:sp>
        <p:nvSpPr>
          <p:cNvPr id="27" name="Rectangle 26"/>
          <p:cNvSpPr/>
          <p:nvPr/>
        </p:nvSpPr>
        <p:spPr>
          <a:xfrm>
            <a:off x="9548164"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548164" y="2148840"/>
            <a:ext cx="1863547" cy="914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50753" y="2532888"/>
            <a:ext cx="658368" cy="658368"/>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5075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5</a:t>
            </a:r>
          </a:p>
        </p:txBody>
      </p:sp>
      <p:sp>
        <p:nvSpPr>
          <p:cNvPr id="31" name="TextBox 30"/>
          <p:cNvSpPr txBox="1"/>
          <p:nvPr/>
        </p:nvSpPr>
        <p:spPr>
          <a:xfrm>
            <a:off x="9667036"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Deploy and detect drift</a:t>
            </a:r>
          </a:p>
        </p:txBody>
      </p:sp>
      <p:cxnSp>
        <p:nvCxnSpPr>
          <p:cNvPr id="32" name="Connector 31"/>
          <p:cNvCxnSpPr/>
          <p:nvPr/>
        </p:nvCxnSpPr>
        <p:spPr>
          <a:xfrm>
            <a:off x="2640787"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83351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026249"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21898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7C3AED"/>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8" name="TextBox 3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9" name="TextBox 3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0" name="TextBox 3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188</a:t>
            </a:r>
          </a:p>
        </p:txBody>
      </p:sp>
    </p:spTree>
  </p:cSld>
  <p:clrMapOvr>
    <a:masterClrMapping/>
  </p:clrMapOvr>
  <p:transition xmlns:p14="http://schemas.microsoft.com/office/powerpoint/2010/main" p14:dur="380">
    <p:fade/>
  </p:transition>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DOMAIN 2 · CHOOSE DELIBERATELY</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500" b="1">
                <a:solidFill>
                  <a:srgbClr val="161B26"/>
                </a:solidFill>
                <a:latin typeface="Arial"/>
              </a:rPr>
              <a:t>AWS CDK and SAM synthesis boundaries: configuration decisions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L1/L2/L3</a:t>
            </a:r>
          </a:p>
          <a:p>
            <a:pPr algn="l">
              <a:spcAft>
                <a:spcPts val="300"/>
              </a:spcAft>
            </a:pPr>
            <a:r>
              <a:rPr sz="1050" b="0">
                <a:solidFill>
                  <a:srgbClr val="5B6372"/>
                </a:solidFill>
                <a:latin typeface="Arial"/>
              </a:rPr>
              <a:t>Choose low-level control, intent-based resource abstractions or complete patterns according to ownership and audit needs.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ASSETS</a:t>
            </a:r>
          </a:p>
          <a:p>
            <a:pPr algn="l">
              <a:spcAft>
                <a:spcPts val="300"/>
              </a:spcAft>
            </a:pPr>
            <a:r>
              <a:rPr sz="1050" b="0">
                <a:solidFill>
                  <a:srgbClr val="5B6372"/>
                </a:solidFill>
                <a:latin typeface="Arial"/>
              </a:rPr>
              <a:t>Pin dependencies and publish deterministic assets; do not let a local path silently change production content.</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POLICY GENERATION</a:t>
            </a:r>
          </a:p>
          <a:p>
            <a:pPr algn="l">
              <a:spcAft>
                <a:spcPts val="300"/>
              </a:spcAft>
            </a:pPr>
            <a:r>
              <a:rPr sz="1050" b="0">
                <a:solidFill>
                  <a:srgbClr val="5B6372"/>
                </a:solidFill>
                <a:latin typeface="Arial"/>
              </a:rPr>
              <a:t>Inspect generated IAM permissions and replace broad convenience grants with resource/action constraints.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REMOVAL</a:t>
            </a:r>
          </a:p>
          <a:p>
            <a:pPr algn="l">
              <a:spcAft>
                <a:spcPts val="300"/>
              </a:spcAft>
            </a:pPr>
            <a:r>
              <a:rPr sz="1050" b="0">
                <a:solidFill>
                  <a:srgbClr val="5B6372"/>
                </a:solidFill>
                <a:latin typeface="Arial"/>
              </a:rPr>
              <a:t>Set retention or destruction behavior explicitly for every stateful resource and environment.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189</a:t>
            </a:r>
          </a:p>
        </p:txBody>
      </p:sp>
    </p:spTree>
  </p:cSld>
  <p:clrMapOvr>
    <a:masterClrMapping/>
  </p:clrMapOvr>
  <p:transition xmlns:p14="http://schemas.microsoft.com/office/powerpoint/2010/main" p14:dur="380">
    <p:fade/>
  </p:transition>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DOMAIN 2 · APPLIED ARCHITECTURE</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100" b="1">
                <a:solidFill>
                  <a:srgbClr val="161B26"/>
                </a:solidFill>
                <a:latin typeface="Arial"/>
              </a:rPr>
              <a:t>AWS CDK and SAM synthesis boundaries: worked architecture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SCENARIO</a:t>
            </a:r>
          </a:p>
          <a:p>
            <a:pPr algn="l">
              <a:spcAft>
                <a:spcPts val="300"/>
              </a:spcAft>
            </a:pPr>
            <a:r>
              <a:rPr sz="1050" b="0">
                <a:solidFill>
                  <a:srgbClr val="5B6372"/>
                </a:solidFill>
                <a:latin typeface="Arial"/>
              </a:rPr>
              <a:t>A reusable construct speeds delivery but currently creates wildcard permissions and destroys a bucket when a test stack is removed.</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DESIGN DECISION</a:t>
            </a:r>
          </a:p>
          <a:p>
            <a:pPr algn="l">
              <a:spcAft>
                <a:spcPts val="300"/>
              </a:spcAft>
            </a:pPr>
            <a:r>
              <a:rPr sz="1050" b="0">
                <a:solidFill>
                  <a:srgbClr val="5B6372"/>
                </a:solidFill>
                <a:latin typeface="Arial"/>
              </a:rPr>
              <a:t>Add policy assertions, narrow grants, parameterise environment behavior and require retention in production before publishing the construct version.</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TO AVOID</a:t>
            </a:r>
          </a:p>
          <a:p>
            <a:pPr algn="l">
              <a:spcAft>
                <a:spcPts val="300"/>
              </a:spcAft>
            </a:pPr>
            <a:r>
              <a:rPr sz="1050" b="0">
                <a:solidFill>
                  <a:srgbClr val="5B6372"/>
                </a:solidFill>
                <a:latin typeface="Arial"/>
              </a:rPr>
              <a:t>High-level constructs can hide resources, IAM expansion and destructive defaults; a successful synth is not a security review.</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ACCEPTANCE EVIDENCE</a:t>
            </a:r>
          </a:p>
          <a:p>
            <a:pPr algn="l">
              <a:spcAft>
                <a:spcPts val="300"/>
              </a:spcAft>
            </a:pPr>
            <a:r>
              <a:rPr sz="1050" b="0">
                <a:solidFill>
                  <a:srgbClr val="5B6372"/>
                </a:solidFill>
                <a:latin typeface="Arial"/>
              </a:rPr>
              <a:t>Toolchain lock, synth output, assertion tests, IAM diff, asset digest, change set and stack state.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190</a:t>
            </a:r>
          </a:p>
        </p:txBody>
      </p:sp>
    </p:spTree>
  </p:cSld>
  <p:clrMapOvr>
    <a:masterClrMapping/>
  </p:clrMapOvr>
  <p:transition xmlns:p14="http://schemas.microsoft.com/office/powerpoint/2010/main" p14:dur="380">
    <p:fade/>
  </p:transition>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DOMAIN 2 · AWS DEVELOPER SERVICES</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300" b="1">
                <a:solidFill>
                  <a:srgbClr val="161B26"/>
                </a:solidFill>
                <a:latin typeface="Arial"/>
              </a:rPr>
              <a:t>Developer deep dive: Runtime configuration and safe feature release</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PURPOSE</a:t>
            </a:r>
          </a:p>
          <a:p>
            <a:pPr algn="l">
              <a:spcAft>
                <a:spcPts val="300"/>
              </a:spcAft>
            </a:pPr>
            <a:r>
              <a:rPr sz="1050" b="0">
                <a:solidFill>
                  <a:srgbClr val="5B6372"/>
                </a:solidFill>
                <a:latin typeface="Arial"/>
              </a:rPr>
              <a:t>Separate deployable code from environment configuration and change high-risk values through validation and progressive rollout.</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SERVICE BOUNDARY</a:t>
            </a:r>
          </a:p>
          <a:p>
            <a:pPr algn="l">
              <a:spcAft>
                <a:spcPts val="300"/>
              </a:spcAft>
            </a:pPr>
            <a:r>
              <a:rPr sz="1050" b="0">
                <a:solidFill>
                  <a:srgbClr val="5B6372"/>
                </a:solidFill>
                <a:latin typeface="Arial"/>
              </a:rPr>
              <a:t>AppConfig · Parameter Store · Secrets Manager · Lambda extensions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PRIMARY DESIGN DECISION</a:t>
            </a:r>
          </a:p>
          <a:p>
            <a:pPr algn="l">
              <a:spcAft>
                <a:spcPts val="300"/>
              </a:spcAft>
            </a:pPr>
            <a:r>
              <a:rPr sz="1050" b="0">
                <a:solidFill>
                  <a:srgbClr val="5B6372"/>
                </a:solidFill>
                <a:latin typeface="Arial"/>
              </a:rPr>
              <a:t>Store the flag in AppConfig, validate its schema, deploy gradually, bind a latency alarm and use the local agent for cached retrieval.</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BOUNDARY</a:t>
            </a:r>
          </a:p>
          <a:p>
            <a:pPr algn="l">
              <a:spcAft>
                <a:spcPts val="300"/>
              </a:spcAft>
            </a:pPr>
            <a:r>
              <a:rPr sz="1050" b="0">
                <a:solidFill>
                  <a:srgbClr val="5B6372"/>
                </a:solidFill>
                <a:latin typeface="Arial"/>
              </a:rPr>
              <a:t>Reading a parameter on every request can create throttling and latency; logging resolved values can expose secrets.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191</a:t>
            </a:r>
          </a:p>
        </p:txBody>
      </p:sp>
    </p:spTree>
  </p:cSld>
  <p:clrMapOvr>
    <a:masterClrMapping/>
  </p:clrMapOvr>
  <p:transition xmlns:p14="http://schemas.microsoft.com/office/powerpoint/2010/main" p14:dur="380">
    <p:fade/>
  </p:transition>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DOMAIN 2 · SERVICE MECHANICS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700" b="1">
                <a:solidFill>
                  <a:srgbClr val="161B26"/>
                </a:solidFill>
                <a:latin typeface="Arial"/>
              </a:rPr>
              <a:t>Runtime configuration and safe feature release: how it works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1</a:t>
            </a:r>
          </a:p>
          <a:p>
            <a:pPr algn="l">
              <a:spcAft>
                <a:spcPts val="300"/>
              </a:spcAft>
            </a:pPr>
            <a:r>
              <a:rPr sz="1050" b="0">
                <a:solidFill>
                  <a:srgbClr val="5B6372"/>
                </a:solidFill>
                <a:latin typeface="Arial"/>
              </a:rPr>
              <a:t>Parameter Store supports hierarchical values, versions and SecureString encryption; it is suited to configuration that does not require managed rotation.</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2</a:t>
            </a:r>
          </a:p>
          <a:p>
            <a:pPr algn="l">
              <a:spcAft>
                <a:spcPts val="300"/>
              </a:spcAft>
            </a:pPr>
            <a:r>
              <a:rPr sz="1050" b="0">
                <a:solidFill>
                  <a:srgbClr val="5B6372"/>
                </a:solidFill>
                <a:latin typeface="Arial"/>
              </a:rPr>
              <a:t>Secrets Manager manages secret versions and staging labels and can coordinate rotation through a Lambda function.</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3</a:t>
            </a:r>
          </a:p>
          <a:p>
            <a:pPr algn="l">
              <a:spcAft>
                <a:spcPts val="300"/>
              </a:spcAft>
            </a:pPr>
            <a:r>
              <a:rPr sz="1050" b="0">
                <a:solidFill>
                  <a:srgbClr val="5B6372"/>
                </a:solidFill>
                <a:latin typeface="Arial"/>
              </a:rPr>
              <a:t>AppConfig profiles can source hosted or external configuration, validate content and deploy through linear, canary or exponential strategies.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4</a:t>
            </a:r>
          </a:p>
          <a:p>
            <a:pPr algn="l">
              <a:spcAft>
                <a:spcPts val="300"/>
              </a:spcAft>
            </a:pPr>
            <a:r>
              <a:rPr sz="1050" b="0">
                <a:solidFill>
                  <a:srgbClr val="5B6372"/>
                </a:solidFill>
                <a:latin typeface="Arial"/>
              </a:rPr>
              <a:t>The AppConfig agent or Lambda extension caches configuration locally, reducing API calls and providing controlled retrieval behavior.</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192</a:t>
            </a:r>
          </a:p>
        </p:txBody>
      </p:sp>
    </p:spTree>
  </p:cSld>
  <p:clrMapOvr>
    <a:masterClrMapping/>
  </p:clrMapOvr>
  <p:transition xmlns:p14="http://schemas.microsoft.com/office/powerpoint/2010/main" p14:dur="380">
    <p:fade/>
  </p:transition>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DOMAIN 2 · CONTROL AND DATA FLOW</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500" b="1">
                <a:solidFill>
                  <a:srgbClr val="161B26"/>
                </a:solidFill>
                <a:latin typeface="Arial"/>
              </a:rPr>
              <a:t>Runtime configuration and safe feature release: operating flow</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6354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79829"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982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Author versioned configuration</a:t>
            </a:r>
          </a:p>
        </p:txBody>
      </p:sp>
      <p:sp>
        <p:nvSpPr>
          <p:cNvPr id="12" name="Rectangle 11"/>
          <p:cNvSpPr/>
          <p:nvPr/>
        </p:nvSpPr>
        <p:spPr>
          <a:xfrm>
            <a:off x="2969971"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69971" y="2148840"/>
            <a:ext cx="186354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572560"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72560"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6" name="TextBox 15"/>
          <p:cNvSpPr txBox="1"/>
          <p:nvPr/>
        </p:nvSpPr>
        <p:spPr>
          <a:xfrm>
            <a:off x="3088843"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Validate schema or policy</a:t>
            </a:r>
          </a:p>
        </p:txBody>
      </p:sp>
      <p:sp>
        <p:nvSpPr>
          <p:cNvPr id="17" name="Rectangle 16"/>
          <p:cNvSpPr/>
          <p:nvPr/>
        </p:nvSpPr>
        <p:spPr>
          <a:xfrm>
            <a:off x="5162702"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62702" y="2148840"/>
            <a:ext cx="186354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765291"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6529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1" name="TextBox 20"/>
          <p:cNvSpPr txBox="1"/>
          <p:nvPr/>
        </p:nvSpPr>
        <p:spPr>
          <a:xfrm>
            <a:off x="5281574"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Deploy to small segment</a:t>
            </a:r>
          </a:p>
        </p:txBody>
      </p:sp>
      <p:sp>
        <p:nvSpPr>
          <p:cNvPr id="22" name="Rectangle 21"/>
          <p:cNvSpPr/>
          <p:nvPr/>
        </p:nvSpPr>
        <p:spPr>
          <a:xfrm>
            <a:off x="7355433"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355433" y="2148840"/>
            <a:ext cx="186354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958022"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5802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6" name="TextBox 25"/>
          <p:cNvSpPr txBox="1"/>
          <p:nvPr/>
        </p:nvSpPr>
        <p:spPr>
          <a:xfrm>
            <a:off x="7474305"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Watch alarms</a:t>
            </a:r>
          </a:p>
        </p:txBody>
      </p:sp>
      <p:sp>
        <p:nvSpPr>
          <p:cNvPr id="27" name="Rectangle 26"/>
          <p:cNvSpPr/>
          <p:nvPr/>
        </p:nvSpPr>
        <p:spPr>
          <a:xfrm>
            <a:off x="9548164"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548164" y="2148840"/>
            <a:ext cx="1863547" cy="914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50753" y="2532888"/>
            <a:ext cx="658368" cy="658368"/>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5075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5</a:t>
            </a:r>
          </a:p>
        </p:txBody>
      </p:sp>
      <p:sp>
        <p:nvSpPr>
          <p:cNvPr id="31" name="TextBox 30"/>
          <p:cNvSpPr txBox="1"/>
          <p:nvPr/>
        </p:nvSpPr>
        <p:spPr>
          <a:xfrm>
            <a:off x="9667036"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Bake or roll back</a:t>
            </a:r>
          </a:p>
        </p:txBody>
      </p:sp>
      <p:cxnSp>
        <p:nvCxnSpPr>
          <p:cNvPr id="32" name="Connector 31"/>
          <p:cNvCxnSpPr/>
          <p:nvPr/>
        </p:nvCxnSpPr>
        <p:spPr>
          <a:xfrm>
            <a:off x="2640787"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83351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026249"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21898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7C3AED"/>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8" name="TextBox 3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9" name="TextBox 3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0" name="TextBox 3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193</a:t>
            </a:r>
          </a:p>
        </p:txBody>
      </p:sp>
    </p:spTree>
  </p:cSld>
  <p:clrMapOvr>
    <a:masterClrMapping/>
  </p:clrMapOvr>
  <p:transition xmlns:p14="http://schemas.microsoft.com/office/powerpoint/2010/main" p14:dur="380">
    <p:fade/>
  </p:transition>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DOMAIN 2 · CHOOSE DELIBERATELY</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100" b="1">
                <a:solidFill>
                  <a:srgbClr val="161B26"/>
                </a:solidFill>
                <a:latin typeface="Arial"/>
              </a:rPr>
              <a:t>Runtime configuration and safe feature release: configuration decisions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PARAMETER</a:t>
            </a:r>
          </a:p>
          <a:p>
            <a:pPr algn="l">
              <a:spcAft>
                <a:spcPts val="300"/>
              </a:spcAft>
            </a:pPr>
            <a:r>
              <a:rPr sz="1050" b="0">
                <a:solidFill>
                  <a:srgbClr val="5B6372"/>
                </a:solidFill>
                <a:latin typeface="Arial"/>
              </a:rPr>
              <a:t>Use for non-secret or encrypted configuration with hierarchy and straightforward versioning.</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SECRET</a:t>
            </a:r>
          </a:p>
          <a:p>
            <a:pPr algn="l">
              <a:spcAft>
                <a:spcPts val="300"/>
              </a:spcAft>
            </a:pPr>
            <a:r>
              <a:rPr sz="1050" b="0">
                <a:solidFill>
                  <a:srgbClr val="5B6372"/>
                </a:solidFill>
                <a:latin typeface="Arial"/>
              </a:rPr>
              <a:t>Use when credential rotation, secret staging and secret-specific access are required.</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APPCONFIG</a:t>
            </a:r>
          </a:p>
          <a:p>
            <a:pPr algn="l">
              <a:spcAft>
                <a:spcPts val="300"/>
              </a:spcAft>
            </a:pPr>
            <a:r>
              <a:rPr sz="1050" b="0">
                <a:solidFill>
                  <a:srgbClr val="5B6372"/>
                </a:solidFill>
                <a:latin typeface="Arial"/>
              </a:rPr>
              <a:t>Use when validation, progressive rollout and automatic rollback are required independently of code deployment.</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CACHING</a:t>
            </a:r>
          </a:p>
          <a:p>
            <a:pPr algn="l">
              <a:spcAft>
                <a:spcPts val="300"/>
              </a:spcAft>
            </a:pPr>
            <a:r>
              <a:rPr sz="1050" b="0">
                <a:solidFill>
                  <a:srgbClr val="5B6372"/>
                </a:solidFill>
                <a:latin typeface="Arial"/>
              </a:rPr>
              <a:t>Define refresh and stale-value behavior so a temporary control-plane issue does not overload or stop the application.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194</a:t>
            </a:r>
          </a:p>
        </p:txBody>
      </p:sp>
    </p:spTree>
  </p:cSld>
  <p:clrMapOvr>
    <a:masterClrMapping/>
  </p:clrMapOvr>
  <p:transition xmlns:p14="http://schemas.microsoft.com/office/powerpoint/2010/main" p14:dur="380">
    <p:fade/>
  </p:transition>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DOMAIN 2 · APPLIED ARCHITECTURE</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100" b="1">
                <a:solidFill>
                  <a:srgbClr val="161B26"/>
                </a:solidFill>
                <a:latin typeface="Arial"/>
              </a:rPr>
              <a:t>Runtime configuration and safe feature release: worked architecture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SCENARIO</a:t>
            </a:r>
          </a:p>
          <a:p>
            <a:pPr algn="l">
              <a:spcAft>
                <a:spcPts val="300"/>
              </a:spcAft>
            </a:pPr>
            <a:r>
              <a:rPr sz="1050" b="0">
                <a:solidFill>
                  <a:srgbClr val="5B6372"/>
                </a:solidFill>
                <a:latin typeface="Arial"/>
              </a:rPr>
              <a:t>A feature flag can increase database load and must be reversed automatically if latency crosses the release threshold.</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DESIGN DECISION</a:t>
            </a:r>
          </a:p>
          <a:p>
            <a:pPr algn="l">
              <a:spcAft>
                <a:spcPts val="300"/>
              </a:spcAft>
            </a:pPr>
            <a:r>
              <a:rPr sz="1050" b="0">
                <a:solidFill>
                  <a:srgbClr val="5B6372"/>
                </a:solidFill>
                <a:latin typeface="Arial"/>
              </a:rPr>
              <a:t>Store the flag in AppConfig, validate its schema, deploy gradually, bind a latency alarm and use the local agent for cached retrieval.</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TO AVOID</a:t>
            </a:r>
          </a:p>
          <a:p>
            <a:pPr algn="l">
              <a:spcAft>
                <a:spcPts val="300"/>
              </a:spcAft>
            </a:pPr>
            <a:r>
              <a:rPr sz="1050" b="0">
                <a:solidFill>
                  <a:srgbClr val="5B6372"/>
                </a:solidFill>
                <a:latin typeface="Arial"/>
              </a:rPr>
              <a:t>Reading a parameter on every request can create throttling and latency; logging resolved values can expose secrets.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ACCEPTANCE EVIDENCE</a:t>
            </a:r>
          </a:p>
          <a:p>
            <a:pPr algn="l">
              <a:spcAft>
                <a:spcPts val="300"/>
              </a:spcAft>
            </a:pPr>
            <a:r>
              <a:rPr sz="1050" b="0">
                <a:solidFill>
                  <a:srgbClr val="5B6372"/>
                </a:solidFill>
                <a:latin typeface="Arial"/>
              </a:rPr>
              <a:t>Configuration version, validator result, deployment strategy, retrieval version, alarm state and rollback event.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195</a:t>
            </a:r>
          </a:p>
        </p:txBody>
      </p:sp>
    </p:spTree>
  </p:cSld>
  <p:clrMapOvr>
    <a:masterClrMapping/>
  </p:clrMapOvr>
  <p:transition xmlns:p14="http://schemas.microsoft.com/office/powerpoint/2010/main" p14:dur="380">
    <p:fade/>
  </p:transition>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DOMAIN 2 · AWS DEVELOPER SERVICES</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500" b="1">
                <a:solidFill>
                  <a:srgbClr val="161B26"/>
                </a:solidFill>
                <a:latin typeface="Arial"/>
              </a:rPr>
              <a:t>Developer deep dive: Step Functions orchestration semantics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PURPOSE</a:t>
            </a:r>
          </a:p>
          <a:p>
            <a:pPr algn="l">
              <a:spcAft>
                <a:spcPts val="300"/>
              </a:spcAft>
            </a:pPr>
            <a:r>
              <a:rPr sz="1050" b="0">
                <a:solidFill>
                  <a:srgbClr val="5B6372"/>
                </a:solidFill>
                <a:latin typeface="Arial"/>
              </a:rPr>
              <a:t>Model stateful workflows with explicit data flow, timeout, retry and compensation behavior instead of hiding orchestration in code.</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SERVICE BOUNDARY</a:t>
            </a:r>
          </a:p>
          <a:p>
            <a:pPr algn="l">
              <a:spcAft>
                <a:spcPts val="300"/>
              </a:spcAft>
            </a:pPr>
            <a:r>
              <a:rPr sz="1050" b="0">
                <a:solidFill>
                  <a:srgbClr val="5B6372"/>
                </a:solidFill>
                <a:latin typeface="Arial"/>
              </a:rPr>
              <a:t>Step Functions Standard · Express · service integrations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PRIMARY DESIGN DECISION</a:t>
            </a:r>
          </a:p>
          <a:p>
            <a:pPr algn="l">
              <a:spcAft>
                <a:spcPts val="300"/>
              </a:spcAft>
            </a:pPr>
            <a:r>
              <a:rPr sz="1050" b="0">
                <a:solidFill>
                  <a:srgbClr val="5B6372"/>
                </a:solidFill>
                <a:latin typeface="Arial"/>
              </a:rPr>
              <a:t>Persist an idempotency key, retry only transient errors, catch business rejection separately and compensate completed steps before terminal failure.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BOUNDARY</a:t>
            </a:r>
          </a:p>
          <a:p>
            <a:pPr algn="l">
              <a:spcAft>
                <a:spcPts val="300"/>
              </a:spcAft>
            </a:pPr>
            <a:r>
              <a:rPr sz="1050" b="0">
                <a:solidFill>
                  <a:srgbClr val="5B6372"/>
                </a:solidFill>
                <a:latin typeface="Arial"/>
              </a:rPr>
              <a:t>A catch-all retry can repeat permanent errors or duplicate side effects; missing timeouts leave executions indefinitely open.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196</a:t>
            </a:r>
          </a:p>
        </p:txBody>
      </p:sp>
    </p:spTree>
  </p:cSld>
  <p:clrMapOvr>
    <a:masterClrMapping/>
  </p:clrMapOvr>
  <p:transition xmlns:p14="http://schemas.microsoft.com/office/powerpoint/2010/main" p14:dur="380">
    <p:fade/>
  </p:transition>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DOMAIN 2 · SERVICE MECHANICS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Step Functions orchestration semantics: how it works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1</a:t>
            </a:r>
          </a:p>
          <a:p>
            <a:pPr algn="l">
              <a:spcAft>
                <a:spcPts val="300"/>
              </a:spcAft>
            </a:pPr>
            <a:r>
              <a:rPr sz="1050" b="0">
                <a:solidFill>
                  <a:srgbClr val="5B6372"/>
                </a:solidFill>
                <a:latin typeface="Arial"/>
              </a:rPr>
              <a:t>InputPath, Parameters, ResultSelector, ResultPath and OutputPath shape JSON between states; uncontrolled payload growth can breach limits and obscure contracts.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2</a:t>
            </a:r>
          </a:p>
          <a:p>
            <a:pPr algn="l">
              <a:spcAft>
                <a:spcPts val="300"/>
              </a:spcAft>
            </a:pPr>
            <a:r>
              <a:rPr sz="1050" b="0">
                <a:solidFill>
                  <a:srgbClr val="5B6372"/>
                </a:solidFill>
                <a:latin typeface="Arial"/>
              </a:rPr>
              <a:t>Retry policies match error names and apply interval, backoff and maximum attempts; Catch transitions to recovery or terminal states.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3</a:t>
            </a:r>
          </a:p>
          <a:p>
            <a:pPr algn="l">
              <a:spcAft>
                <a:spcPts val="300"/>
              </a:spcAft>
            </a:pPr>
            <a:r>
              <a:rPr sz="1050" b="0">
                <a:solidFill>
                  <a:srgbClr val="5B6372"/>
                </a:solidFill>
                <a:latin typeface="Arial"/>
              </a:rPr>
              <a:t>Standard workflows provide durable, exactly-once workflow execution semantics for long-running auditable flows; Express targets high-rate short workflows with different delivery semantics.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4</a:t>
            </a:r>
          </a:p>
          <a:p>
            <a:pPr algn="l">
              <a:spcAft>
                <a:spcPts val="300"/>
              </a:spcAft>
            </a:pPr>
            <a:r>
              <a:rPr sz="1050" b="0">
                <a:solidFill>
                  <a:srgbClr val="5B6372"/>
                </a:solidFill>
                <a:latin typeface="Arial"/>
              </a:rPr>
              <a:t>Optimized service integrations can call AWS APIs, run jobs or wait for callback task tokens without custom polling Lambda functions.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197</a:t>
            </a:r>
          </a:p>
        </p:txBody>
      </p:sp>
    </p:spTree>
  </p:cSld>
  <p:clrMapOvr>
    <a:masterClrMapping/>
  </p:clrMapOvr>
  <p:transition xmlns:p14="http://schemas.microsoft.com/office/powerpoint/2010/main" p14:dur="380">
    <p:fade/>
  </p:transition>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DOMAIN 2 · CONTROL AND DATA FLOW</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Step Functions orchestration semantics: operating flow</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6354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79829"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982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Validate input contract</a:t>
            </a:r>
          </a:p>
        </p:txBody>
      </p:sp>
      <p:sp>
        <p:nvSpPr>
          <p:cNvPr id="12" name="Rectangle 11"/>
          <p:cNvSpPr/>
          <p:nvPr/>
        </p:nvSpPr>
        <p:spPr>
          <a:xfrm>
            <a:off x="2969971"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69971" y="2148840"/>
            <a:ext cx="186354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572560"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72560"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6" name="TextBox 15"/>
          <p:cNvSpPr txBox="1"/>
          <p:nvPr/>
        </p:nvSpPr>
        <p:spPr>
          <a:xfrm>
            <a:off x="3088843"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Invoke integrated task</a:t>
            </a:r>
          </a:p>
        </p:txBody>
      </p:sp>
      <p:sp>
        <p:nvSpPr>
          <p:cNvPr id="17" name="Rectangle 16"/>
          <p:cNvSpPr/>
          <p:nvPr/>
        </p:nvSpPr>
        <p:spPr>
          <a:xfrm>
            <a:off x="5162702"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62702" y="2148840"/>
            <a:ext cx="186354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765291"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6529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1" name="TextBox 20"/>
          <p:cNvSpPr txBox="1"/>
          <p:nvPr/>
        </p:nvSpPr>
        <p:spPr>
          <a:xfrm>
            <a:off x="5281574"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Retry transient failure</a:t>
            </a:r>
          </a:p>
        </p:txBody>
      </p:sp>
      <p:sp>
        <p:nvSpPr>
          <p:cNvPr id="22" name="Rectangle 21"/>
          <p:cNvSpPr/>
          <p:nvPr/>
        </p:nvSpPr>
        <p:spPr>
          <a:xfrm>
            <a:off x="7355433"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355433" y="2148840"/>
            <a:ext cx="186354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958022"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5802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6" name="TextBox 25"/>
          <p:cNvSpPr txBox="1"/>
          <p:nvPr/>
        </p:nvSpPr>
        <p:spPr>
          <a:xfrm>
            <a:off x="7474305"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Catch and compensate</a:t>
            </a:r>
          </a:p>
        </p:txBody>
      </p:sp>
      <p:sp>
        <p:nvSpPr>
          <p:cNvPr id="27" name="Rectangle 26"/>
          <p:cNvSpPr/>
          <p:nvPr/>
        </p:nvSpPr>
        <p:spPr>
          <a:xfrm>
            <a:off x="9548164"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548164" y="2148840"/>
            <a:ext cx="1863547" cy="914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50753" y="2532888"/>
            <a:ext cx="658368" cy="658368"/>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5075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5</a:t>
            </a:r>
          </a:p>
        </p:txBody>
      </p:sp>
      <p:sp>
        <p:nvSpPr>
          <p:cNvPr id="31" name="TextBox 30"/>
          <p:cNvSpPr txBox="1"/>
          <p:nvPr/>
        </p:nvSpPr>
        <p:spPr>
          <a:xfrm>
            <a:off x="9667036"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Publish terminal evidence</a:t>
            </a:r>
          </a:p>
        </p:txBody>
      </p:sp>
      <p:cxnSp>
        <p:nvCxnSpPr>
          <p:cNvPr id="32" name="Connector 31"/>
          <p:cNvCxnSpPr/>
          <p:nvPr/>
        </p:nvCxnSpPr>
        <p:spPr>
          <a:xfrm>
            <a:off x="2640787"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83351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026249"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21898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7C3AED"/>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8" name="TextBox 3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9" name="TextBox 3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0" name="TextBox 3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198</a:t>
            </a:r>
          </a:p>
        </p:txBody>
      </p:sp>
    </p:spTree>
  </p:cSld>
  <p:clrMapOvr>
    <a:masterClrMapping/>
  </p:clrMapOvr>
  <p:transition xmlns:p14="http://schemas.microsoft.com/office/powerpoint/2010/main" p14:dur="380">
    <p:fade/>
  </p:transition>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DOMAIN 2 · CHOOSE DELIBERATELY</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500" b="1">
                <a:solidFill>
                  <a:srgbClr val="161B26"/>
                </a:solidFill>
                <a:latin typeface="Arial"/>
              </a:rPr>
              <a:t>Step Functions orchestration semantics: configuration decisions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STANDARD</a:t>
            </a:r>
          </a:p>
          <a:p>
            <a:pPr algn="l">
              <a:spcAft>
                <a:spcPts val="300"/>
              </a:spcAft>
            </a:pPr>
            <a:r>
              <a:rPr sz="1050" b="0">
                <a:solidFill>
                  <a:srgbClr val="5B6372"/>
                </a:solidFill>
                <a:latin typeface="Arial"/>
              </a:rPr>
              <a:t>Choose for durable history, long waits, human approval or non-idempotent workflow coordination.</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EXPRESS</a:t>
            </a:r>
          </a:p>
          <a:p>
            <a:pPr algn="l">
              <a:spcAft>
                <a:spcPts val="300"/>
              </a:spcAft>
            </a:pPr>
            <a:r>
              <a:rPr sz="1050" b="0">
                <a:solidFill>
                  <a:srgbClr val="5B6372"/>
                </a:solidFill>
                <a:latin typeface="Arial"/>
              </a:rPr>
              <a:t>Choose for high-volume, short, idempotent processing with logging configured for required evidence.</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MAP</a:t>
            </a:r>
          </a:p>
          <a:p>
            <a:pPr algn="l">
              <a:spcAft>
                <a:spcPts val="300"/>
              </a:spcAft>
            </a:pPr>
            <a:r>
              <a:rPr sz="1050" b="0">
                <a:solidFill>
                  <a:srgbClr val="5B6372"/>
                </a:solidFill>
                <a:latin typeface="Arial"/>
              </a:rPr>
              <a:t>Use inline or distributed map based on item count, concurrency, payload source and isolation requirements.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CALLBACK</a:t>
            </a:r>
          </a:p>
          <a:p>
            <a:pPr algn="l">
              <a:spcAft>
                <a:spcPts val="300"/>
              </a:spcAft>
            </a:pPr>
            <a:r>
              <a:rPr sz="1050" b="0">
                <a:solidFill>
                  <a:srgbClr val="5B6372"/>
                </a:solidFill>
                <a:latin typeface="Arial"/>
              </a:rPr>
              <a:t>Use task tokens for external approval or asynchronous work and set a heartbeat/timeout to avoid stuck executions.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199</a:t>
            </a:r>
          </a:p>
        </p:txBody>
      </p:sp>
    </p:spTree>
  </p:cSld>
  <p:clrMapOvr>
    <a:masterClrMapping/>
  </p:clrMapOvr>
  <p:transition xmlns:p14="http://schemas.microsoft.com/office/powerpoint/2010/main" p14:dur="380">
    <p:fade/>
  </p:transition>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DOMAIN 2 · APPLIED ARCHITECTURE</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300" b="1">
                <a:solidFill>
                  <a:srgbClr val="161B26"/>
                </a:solidFill>
                <a:latin typeface="Arial"/>
              </a:rPr>
              <a:t>Step Functions orchestration semantics: worked architecture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SCENARIO</a:t>
            </a:r>
          </a:p>
          <a:p>
            <a:pPr algn="l">
              <a:spcAft>
                <a:spcPts val="300"/>
              </a:spcAft>
            </a:pPr>
            <a:r>
              <a:rPr sz="1050" b="0">
                <a:solidFill>
                  <a:srgbClr val="5B6372"/>
                </a:solidFill>
                <a:latin typeface="Arial"/>
              </a:rPr>
              <a:t>An order workflow calls an unreliable partner and must not charge twice when a response is lost.</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DESIGN DECISION</a:t>
            </a:r>
          </a:p>
          <a:p>
            <a:pPr algn="l">
              <a:spcAft>
                <a:spcPts val="300"/>
              </a:spcAft>
            </a:pPr>
            <a:r>
              <a:rPr sz="1050" b="0">
                <a:solidFill>
                  <a:srgbClr val="5B6372"/>
                </a:solidFill>
                <a:latin typeface="Arial"/>
              </a:rPr>
              <a:t>Persist an idempotency key, retry only transient errors, catch business rejection separately and compensate completed steps before terminal failure.</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TO AVOID</a:t>
            </a:r>
          </a:p>
          <a:p>
            <a:pPr algn="l">
              <a:spcAft>
                <a:spcPts val="300"/>
              </a:spcAft>
            </a:pPr>
            <a:r>
              <a:rPr sz="1050" b="0">
                <a:solidFill>
                  <a:srgbClr val="5B6372"/>
                </a:solidFill>
                <a:latin typeface="Arial"/>
              </a:rPr>
              <a:t>A catch-all retry can repeat permanent errors or duplicate side effects; missing timeouts leave executions indefinitely open.</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ACCEPTANCE EVIDENCE</a:t>
            </a:r>
          </a:p>
          <a:p>
            <a:pPr algn="l">
              <a:spcAft>
                <a:spcPts val="300"/>
              </a:spcAft>
            </a:pPr>
            <a:r>
              <a:rPr sz="1050" b="0">
                <a:solidFill>
                  <a:srgbClr val="5B6372"/>
                </a:solidFill>
                <a:latin typeface="Arial"/>
              </a:rPr>
              <a:t>Execution ARN, input version, state transitions, retry count, idempotency record, compensation result and terminal status.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200</a:t>
            </a:r>
          </a:p>
        </p:txBody>
      </p:sp>
    </p:spTree>
  </p:cSld>
  <p:clrMapOvr>
    <a:masterClrMapping/>
  </p:clrMapOvr>
  <p:transition xmlns:p14="http://schemas.microsoft.com/office/powerpoint/2010/main" p14:dur="380">
    <p:fade/>
  </p:transition>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DOMAIN 2 · CONFIGURATION MANAGEMENT AND IAC</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CloudFormation lifecycle</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OUTCOME</a:t>
            </a:r>
          </a:p>
          <a:p>
            <a:pPr algn="l">
              <a:spcAft>
                <a:spcPts val="300"/>
              </a:spcAft>
            </a:pPr>
            <a:r>
              <a:rPr sz="1050" b="0">
                <a:solidFill>
                  <a:srgbClr val="5B6372"/>
                </a:solidFill>
                <a:latin typeface="Arial"/>
              </a:rPr>
              <a:t>Treat infrastructure changes as reviewed, previewable and recoverable releases.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ARCHITECTURE</a:t>
            </a:r>
          </a:p>
          <a:p>
            <a:pPr algn="l">
              <a:spcAft>
                <a:spcPts val="300"/>
              </a:spcAft>
            </a:pPr>
            <a:r>
              <a:rPr sz="1050" b="0">
                <a:solidFill>
                  <a:srgbClr val="5B6372"/>
                </a:solidFill>
                <a:latin typeface="Arial"/>
              </a:rPr>
              <a:t>Validate templates, create change sets, inspect replacements, execute with a service role and capture stack events.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MODE</a:t>
            </a:r>
          </a:p>
          <a:p>
            <a:pPr algn="l">
              <a:spcAft>
                <a:spcPts val="300"/>
              </a:spcAft>
            </a:pPr>
            <a:r>
              <a:rPr sz="1050" b="0">
                <a:solidFill>
                  <a:srgbClr val="5B6372"/>
                </a:solidFill>
                <a:latin typeface="Arial"/>
              </a:rPr>
              <a:t>Unexpected replacement of a stateful resource can turn a routine change into data loss.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EVIDENCE</a:t>
            </a:r>
          </a:p>
          <a:p>
            <a:pPr algn="l">
              <a:spcAft>
                <a:spcPts val="300"/>
              </a:spcAft>
            </a:pPr>
            <a:r>
              <a:rPr sz="1050" b="0">
                <a:solidFill>
                  <a:srgbClr val="5B6372"/>
                </a:solidFill>
                <a:latin typeface="Arial"/>
              </a:rPr>
              <a:t>Template digest, parameters, change-set diff, execution role and stack event timeline.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201</a:t>
            </a:r>
          </a:p>
        </p:txBody>
      </p:sp>
    </p:spTree>
  </p:cSld>
  <p:clrMapOvr>
    <a:masterClrMapping/>
  </p:clrMapOvr>
  <p:transition xmlns:p14="http://schemas.microsoft.com/office/powerpoint/2010/main" p14:dur="380">
    <p:fade/>
  </p:transition>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DOMAIN 2 · PROCESS MODEL</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CloudFormation lifecycle: operating flow</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49809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97102"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9710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Author</a:t>
            </a:r>
          </a:p>
        </p:txBody>
      </p:sp>
      <p:sp>
        <p:nvSpPr>
          <p:cNvPr id="12" name="Rectangle 11"/>
          <p:cNvSpPr/>
          <p:nvPr/>
        </p:nvSpPr>
        <p:spPr>
          <a:xfrm>
            <a:off x="2604516"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04516" y="2148840"/>
            <a:ext cx="149809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024378"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24378"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6" name="TextBox 15"/>
          <p:cNvSpPr txBox="1"/>
          <p:nvPr/>
        </p:nvSpPr>
        <p:spPr>
          <a:xfrm>
            <a:off x="2723388"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Lint</a:t>
            </a:r>
          </a:p>
        </p:txBody>
      </p:sp>
      <p:sp>
        <p:nvSpPr>
          <p:cNvPr id="17" name="Rectangle 16"/>
          <p:cNvSpPr/>
          <p:nvPr/>
        </p:nvSpPr>
        <p:spPr>
          <a:xfrm>
            <a:off x="4431792"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431792" y="2148840"/>
            <a:ext cx="149809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851654"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51654"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1" name="TextBox 20"/>
          <p:cNvSpPr txBox="1"/>
          <p:nvPr/>
        </p:nvSpPr>
        <p:spPr>
          <a:xfrm>
            <a:off x="4550664"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Preview change set</a:t>
            </a:r>
          </a:p>
        </p:txBody>
      </p:sp>
      <p:sp>
        <p:nvSpPr>
          <p:cNvPr id="22" name="Rectangle 21"/>
          <p:cNvSpPr/>
          <p:nvPr/>
        </p:nvSpPr>
        <p:spPr>
          <a:xfrm>
            <a:off x="6259068"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59068" y="2148840"/>
            <a:ext cx="149809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678930"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78930"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6" name="TextBox 25"/>
          <p:cNvSpPr txBox="1"/>
          <p:nvPr/>
        </p:nvSpPr>
        <p:spPr>
          <a:xfrm>
            <a:off x="6377940"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Approve</a:t>
            </a:r>
          </a:p>
        </p:txBody>
      </p:sp>
      <p:sp>
        <p:nvSpPr>
          <p:cNvPr id="27" name="Rectangle 26"/>
          <p:cNvSpPr/>
          <p:nvPr/>
        </p:nvSpPr>
        <p:spPr>
          <a:xfrm>
            <a:off x="8086344"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086344" y="2148840"/>
            <a:ext cx="1498092" cy="914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506206" y="2532888"/>
            <a:ext cx="658368" cy="658368"/>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06206"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5</a:t>
            </a:r>
          </a:p>
        </p:txBody>
      </p:sp>
      <p:sp>
        <p:nvSpPr>
          <p:cNvPr id="31" name="TextBox 30"/>
          <p:cNvSpPr txBox="1"/>
          <p:nvPr/>
        </p:nvSpPr>
        <p:spPr>
          <a:xfrm>
            <a:off x="8205216"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Execute</a:t>
            </a:r>
          </a:p>
        </p:txBody>
      </p:sp>
      <p:sp>
        <p:nvSpPr>
          <p:cNvPr id="32" name="Rectangle 31"/>
          <p:cNvSpPr/>
          <p:nvPr/>
        </p:nvSpPr>
        <p:spPr>
          <a:xfrm>
            <a:off x="9913620"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913620" y="2148840"/>
            <a:ext cx="1498092" cy="91440"/>
          </a:xfrm>
          <a:prstGeom prst="rect">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333482" y="2532888"/>
            <a:ext cx="658368" cy="658368"/>
          </a:xfrm>
          <a:prstGeom prst="ellipse">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3348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6</a:t>
            </a:r>
          </a:p>
        </p:txBody>
      </p:sp>
      <p:sp>
        <p:nvSpPr>
          <p:cNvPr id="36" name="TextBox 35"/>
          <p:cNvSpPr txBox="1"/>
          <p:nvPr/>
        </p:nvSpPr>
        <p:spPr>
          <a:xfrm>
            <a:off x="10032492"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Observe events</a:t>
            </a:r>
          </a:p>
        </p:txBody>
      </p:sp>
      <p:cxnSp>
        <p:nvCxnSpPr>
          <p:cNvPr id="37" name="Connector 36"/>
          <p:cNvCxnSpPr/>
          <p:nvPr/>
        </p:nvCxnSpPr>
        <p:spPr>
          <a:xfrm>
            <a:off x="2275332"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10260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929884"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775716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9584436"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7C3AED"/>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44" name="TextBox 4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45" name="TextBox 4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6" name="TextBox 4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202</a:t>
            </a:r>
          </a:p>
        </p:txBody>
      </p:sp>
    </p:spTree>
  </p:cSld>
  <p:clrMapOvr>
    <a:masterClrMapping/>
  </p:clrMapOvr>
  <p:transition xmlns:p14="http://schemas.microsoft.com/office/powerpoint/2010/main" p14:dur="380">
    <p:fade/>
  </p:transition>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DOMAIN 2 ·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CloudFormation lifecycle: design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83280" cy="43708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708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01168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011680"/>
            <a:ext cx="530352" cy="530352"/>
          </a:xfrm>
          <a:prstGeom prst="rect">
            <a:avLst/>
          </a:prstGeom>
          <a:noFill/>
        </p:spPr>
        <p:txBody>
          <a:bodyPr wrap="square" anchor="ctr">
            <a:spAutoFit/>
          </a:bodyPr>
          <a:lstStyle/>
          <a:p>
            <a:pPr algn="ctr">
              <a:spcAft>
                <a:spcPts val="400"/>
              </a:spcAft>
            </a:pPr>
            <a:r>
              <a:rPr sz="2000" b="1">
                <a:solidFill>
                  <a:srgbClr val="FFFFFF"/>
                </a:solidFill>
                <a:latin typeface="Arial"/>
              </a:rPr>
              <a:t>?</a:t>
            </a:r>
          </a:p>
        </p:txBody>
      </p:sp>
      <p:sp>
        <p:nvSpPr>
          <p:cNvPr id="11" name="TextBox 10"/>
          <p:cNvSpPr txBox="1"/>
          <p:nvPr/>
        </p:nvSpPr>
        <p:spPr>
          <a:xfrm>
            <a:off x="1709928" y="1984248"/>
            <a:ext cx="2212848" cy="502920"/>
          </a:xfrm>
          <a:prstGeom prst="rect">
            <a:avLst/>
          </a:prstGeom>
          <a:noFill/>
        </p:spPr>
        <p:txBody>
          <a:bodyPr wrap="square" anchor="ctr">
            <a:spAutoFit/>
          </a:bodyPr>
          <a:lstStyle/>
          <a:p>
            <a:pPr algn="l">
              <a:spcAft>
                <a:spcPts val="400"/>
              </a:spcAft>
            </a:pPr>
            <a:r>
              <a:rPr sz="1350" b="1">
                <a:solidFill>
                  <a:srgbClr val="7C3AED"/>
                </a:solidFill>
                <a:latin typeface="Arial"/>
              </a:rPr>
              <a:t>SCENARIO</a:t>
            </a:r>
          </a:p>
        </p:txBody>
      </p:sp>
      <p:sp>
        <p:nvSpPr>
          <p:cNvPr id="12" name="TextBox 11"/>
          <p:cNvSpPr txBox="1"/>
          <p:nvPr/>
        </p:nvSpPr>
        <p:spPr>
          <a:xfrm>
            <a:off x="1051560" y="2743200"/>
            <a:ext cx="2834640" cy="3136392"/>
          </a:xfrm>
          <a:prstGeom prst="rect">
            <a:avLst/>
          </a:prstGeom>
          <a:noFill/>
        </p:spPr>
        <p:txBody>
          <a:bodyPr wrap="square" anchor="t">
            <a:spAutoFit/>
          </a:bodyPr>
          <a:lstStyle/>
          <a:p>
            <a:pPr algn="l">
              <a:spcAft>
                <a:spcPts val="400"/>
              </a:spcAft>
            </a:pPr>
            <a:r>
              <a:rPr sz="1300" b="0">
                <a:solidFill>
                  <a:srgbClr val="161B26"/>
                </a:solidFill>
                <a:latin typeface="Arial"/>
              </a:rPr>
              <a:t>A database parameter update may replace a resource; the team needs proof before execution.</a:t>
            </a:r>
          </a:p>
        </p:txBody>
      </p:sp>
      <p:sp>
        <p:nvSpPr>
          <p:cNvPr id="13" name="Rectangle 12"/>
          <p:cNvSpPr/>
          <p:nvPr/>
        </p:nvSpPr>
        <p:spPr>
          <a:xfrm>
            <a:off x="4434840"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34840" y="1783080"/>
            <a:ext cx="91440"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636008" y="1965960"/>
            <a:ext cx="438912" cy="43891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6008"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7" name="TextBox 16"/>
          <p:cNvSpPr txBox="1"/>
          <p:nvPr/>
        </p:nvSpPr>
        <p:spPr>
          <a:xfrm>
            <a:off x="5212080" y="1929384"/>
            <a:ext cx="2286000" cy="475488"/>
          </a:xfrm>
          <a:prstGeom prst="rect">
            <a:avLst/>
          </a:prstGeom>
          <a:noFill/>
        </p:spPr>
        <p:txBody>
          <a:bodyPr wrap="square" anchor="ctr">
            <a:spAutoFit/>
          </a:bodyPr>
          <a:lstStyle/>
          <a:p>
            <a:pPr algn="l">
              <a:spcAft>
                <a:spcPts val="400"/>
              </a:spcAft>
            </a:pPr>
            <a:r>
              <a:rPr sz="1250" b="1">
                <a:solidFill>
                  <a:srgbClr val="10B981"/>
                </a:solidFill>
                <a:latin typeface="Arial"/>
              </a:rPr>
              <a:t>DESIGN RESPONSE</a:t>
            </a:r>
          </a:p>
        </p:txBody>
      </p:sp>
      <p:sp>
        <p:nvSpPr>
          <p:cNvPr id="18" name="TextBox 17"/>
          <p:cNvSpPr txBox="1"/>
          <p:nvPr/>
        </p:nvSpPr>
        <p:spPr>
          <a:xfrm>
            <a:off x="4663440"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Validate templates, create change sets, inspect replacements, execute with a service role and capture stack events.</a:t>
            </a:r>
          </a:p>
        </p:txBody>
      </p:sp>
      <p:sp>
        <p:nvSpPr>
          <p:cNvPr id="19" name="Rectangle 18"/>
          <p:cNvSpPr/>
          <p:nvPr/>
        </p:nvSpPr>
        <p:spPr>
          <a:xfrm>
            <a:off x="7973568"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973568" y="1783080"/>
            <a:ext cx="91440" cy="21488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174736" y="1965960"/>
            <a:ext cx="438912" cy="43891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74736"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23" name="TextBox 22"/>
          <p:cNvSpPr txBox="1"/>
          <p:nvPr/>
        </p:nvSpPr>
        <p:spPr>
          <a:xfrm>
            <a:off x="8750808" y="1929384"/>
            <a:ext cx="2286000" cy="475488"/>
          </a:xfrm>
          <a:prstGeom prst="rect">
            <a:avLst/>
          </a:prstGeom>
          <a:noFill/>
        </p:spPr>
        <p:txBody>
          <a:bodyPr wrap="square" anchor="ctr">
            <a:spAutoFit/>
          </a:bodyPr>
          <a:lstStyle/>
          <a:p>
            <a:pPr algn="l">
              <a:spcAft>
                <a:spcPts val="400"/>
              </a:spcAft>
            </a:pPr>
            <a:r>
              <a:rPr sz="1250" b="1">
                <a:solidFill>
                  <a:srgbClr val="7C3AED"/>
                </a:solidFill>
                <a:latin typeface="Arial"/>
              </a:rPr>
              <a:t>PRIMARY SERVICES</a:t>
            </a:r>
          </a:p>
        </p:txBody>
      </p:sp>
      <p:sp>
        <p:nvSpPr>
          <p:cNvPr id="24" name="TextBox 23"/>
          <p:cNvSpPr txBox="1"/>
          <p:nvPr/>
        </p:nvSpPr>
        <p:spPr>
          <a:xfrm>
            <a:off x="8202168"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CloudFormation · Change Sets · CloudTrail</a:t>
            </a:r>
          </a:p>
        </p:txBody>
      </p:sp>
      <p:sp>
        <p:nvSpPr>
          <p:cNvPr id="25" name="Rectangle 24"/>
          <p:cNvSpPr/>
          <p:nvPr/>
        </p:nvSpPr>
        <p:spPr>
          <a:xfrm>
            <a:off x="4434840"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34840" y="4005072"/>
            <a:ext cx="91440" cy="21488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636008" y="4187952"/>
            <a:ext cx="438912" cy="43891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36008"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9" name="TextBox 28"/>
          <p:cNvSpPr txBox="1"/>
          <p:nvPr/>
        </p:nvSpPr>
        <p:spPr>
          <a:xfrm>
            <a:off x="5212080" y="4151376"/>
            <a:ext cx="2286000" cy="475488"/>
          </a:xfrm>
          <a:prstGeom prst="rect">
            <a:avLst/>
          </a:prstGeom>
          <a:noFill/>
        </p:spPr>
        <p:txBody>
          <a:bodyPr wrap="square" anchor="ctr">
            <a:spAutoFit/>
          </a:bodyPr>
          <a:lstStyle/>
          <a:p>
            <a:pPr algn="l">
              <a:spcAft>
                <a:spcPts val="400"/>
              </a:spcAft>
            </a:pPr>
            <a:r>
              <a:rPr sz="1250" b="1">
                <a:solidFill>
                  <a:srgbClr val="F59E0B"/>
                </a:solidFill>
                <a:latin typeface="Arial"/>
              </a:rPr>
              <a:t>FAILURE MODE</a:t>
            </a:r>
          </a:p>
        </p:txBody>
      </p:sp>
      <p:sp>
        <p:nvSpPr>
          <p:cNvPr id="30" name="TextBox 29"/>
          <p:cNvSpPr txBox="1"/>
          <p:nvPr/>
        </p:nvSpPr>
        <p:spPr>
          <a:xfrm>
            <a:off x="4663440"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Unexpected replacement of a stateful resource can turn a routine change into data loss.</a:t>
            </a:r>
          </a:p>
        </p:txBody>
      </p:sp>
      <p:sp>
        <p:nvSpPr>
          <p:cNvPr id="31" name="Rectangle 30"/>
          <p:cNvSpPr/>
          <p:nvPr/>
        </p:nvSpPr>
        <p:spPr>
          <a:xfrm>
            <a:off x="7973568"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73568" y="4005072"/>
            <a:ext cx="91440" cy="21488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174736" y="4187952"/>
            <a:ext cx="438912" cy="438912"/>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74736"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5" name="TextBox 34"/>
          <p:cNvSpPr txBox="1"/>
          <p:nvPr/>
        </p:nvSpPr>
        <p:spPr>
          <a:xfrm>
            <a:off x="8750808" y="4151376"/>
            <a:ext cx="2286000" cy="475488"/>
          </a:xfrm>
          <a:prstGeom prst="rect">
            <a:avLst/>
          </a:prstGeom>
          <a:noFill/>
        </p:spPr>
        <p:txBody>
          <a:bodyPr wrap="square" anchor="ctr">
            <a:spAutoFit/>
          </a:bodyPr>
          <a:lstStyle/>
          <a:p>
            <a:pPr algn="l">
              <a:spcAft>
                <a:spcPts val="400"/>
              </a:spcAft>
            </a:pPr>
            <a:r>
              <a:rPr sz="1250" b="1">
                <a:solidFill>
                  <a:srgbClr val="EC711E"/>
                </a:solidFill>
                <a:latin typeface="Arial"/>
              </a:rPr>
              <a:t>PROOF</a:t>
            </a:r>
          </a:p>
        </p:txBody>
      </p:sp>
      <p:sp>
        <p:nvSpPr>
          <p:cNvPr id="36" name="TextBox 35"/>
          <p:cNvSpPr txBox="1"/>
          <p:nvPr/>
        </p:nvSpPr>
        <p:spPr>
          <a:xfrm>
            <a:off x="8202168"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Template digest, parameters, change-set diff, execution role and stack event timeline.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203</a:t>
            </a:r>
          </a:p>
        </p:txBody>
      </p:sp>
    </p:spTree>
  </p:cSld>
  <p:clrMapOvr>
    <a:masterClrMapping/>
  </p:clrMapOvr>
  <p:transition xmlns:p14="http://schemas.microsoft.com/office/powerpoint/2010/main" p14:dur="380">
    <p:fade/>
  </p:transition>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DOMAIN 2 · OPERATIONS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CloudFormation lifecycle: failure diagnostic</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RECOGNISE</a:t>
            </a:r>
          </a:p>
          <a:p>
            <a:pPr algn="l">
              <a:spcAft>
                <a:spcPts val="300"/>
              </a:spcAft>
            </a:pPr>
            <a:r>
              <a:rPr sz="1050" b="0">
                <a:solidFill>
                  <a:srgbClr val="5B6372"/>
                </a:solidFill>
                <a:latin typeface="Arial"/>
              </a:rPr>
              <a:t>Observable failure condition: Unexpected replacement of a stateful resource can turn a routine change into data loss.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CONTAIN</a:t>
            </a:r>
          </a:p>
          <a:p>
            <a:pPr algn="l">
              <a:spcAft>
                <a:spcPts val="300"/>
              </a:spcAft>
            </a:pPr>
            <a:r>
              <a:rPr sz="1050" b="0">
                <a:solidFill>
                  <a:srgbClr val="5B6372"/>
                </a:solidFill>
                <a:latin typeface="Arial"/>
              </a:rPr>
              <a:t>Pause promotion, preserve evidence and reduce impact without destroying diagnostic state.</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DIAGNOSE</a:t>
            </a:r>
          </a:p>
          <a:p>
            <a:pPr algn="l">
              <a:spcAft>
                <a:spcPts val="300"/>
              </a:spcAft>
            </a:pPr>
            <a:r>
              <a:rPr sz="1050" b="0">
                <a:solidFill>
                  <a:srgbClr val="5B6372"/>
                </a:solidFill>
                <a:latin typeface="Arial"/>
              </a:rPr>
              <a:t>Trace the workflow from Author through Observe events; compare intended configuration with runtime state.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RECOVER</a:t>
            </a:r>
          </a:p>
          <a:p>
            <a:pPr algn="l">
              <a:spcAft>
                <a:spcPts val="300"/>
              </a:spcAft>
            </a:pPr>
            <a:r>
              <a:rPr sz="1050" b="0">
                <a:solidFill>
                  <a:srgbClr val="5B6372"/>
                </a:solidFill>
                <a:latin typeface="Arial"/>
              </a:rPr>
              <a:t>Restore the last known-good state, then prove recovery with Template digest, parameters, change-set diff, execution role and stack event timeline.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204</a:t>
            </a:r>
          </a:p>
        </p:txBody>
      </p:sp>
    </p:spTree>
  </p:cSld>
  <p:clrMapOvr>
    <a:masterClrMapping/>
  </p:clrMapOvr>
  <p:transition xmlns:p14="http://schemas.microsoft.com/office/powerpoint/2010/main" p14:dur="380">
    <p:fade/>
  </p:transition>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DOMAIN 2 · APPLIED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CloudFormation lifecycle: worked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CONSTRAINT</a:t>
            </a:r>
          </a:p>
          <a:p>
            <a:pPr algn="l">
              <a:spcAft>
                <a:spcPts val="300"/>
              </a:spcAft>
            </a:pPr>
            <a:r>
              <a:rPr sz="1050" b="0">
                <a:solidFill>
                  <a:srgbClr val="5B6372"/>
                </a:solidFill>
                <a:latin typeface="Arial"/>
              </a:rPr>
              <a:t>A database parameter update may replace a resource; the team needs proof before execution.</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DECISION</a:t>
            </a:r>
          </a:p>
          <a:p>
            <a:pPr algn="l">
              <a:spcAft>
                <a:spcPts val="300"/>
              </a:spcAft>
            </a:pPr>
            <a:r>
              <a:rPr sz="1050" b="0">
                <a:solidFill>
                  <a:srgbClr val="5B6372"/>
                </a:solidFill>
                <a:latin typeface="Arial"/>
              </a:rPr>
              <a:t>Validate templates, create change sets, inspect replacements, execute with a service role and capture stack events.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WHY ALTERNATIVES LOSE</a:t>
            </a:r>
          </a:p>
          <a:p>
            <a:pPr algn="l">
              <a:spcAft>
                <a:spcPts val="300"/>
              </a:spcAft>
            </a:pPr>
            <a:r>
              <a:rPr sz="1050" b="0">
                <a:solidFill>
                  <a:srgbClr val="5B6372"/>
                </a:solidFill>
                <a:latin typeface="Arial"/>
              </a:rPr>
              <a:t>Reject options that do not change the stated failure boundary: Unexpected replacement of a stateful resource can turn a routine change into data loss.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ACCEPTANCE TEST</a:t>
            </a:r>
          </a:p>
          <a:p>
            <a:pPr algn="l">
              <a:spcAft>
                <a:spcPts val="300"/>
              </a:spcAft>
            </a:pPr>
            <a:r>
              <a:rPr sz="1050" b="0">
                <a:solidFill>
                  <a:srgbClr val="5B6372"/>
                </a:solidFill>
                <a:latin typeface="Arial"/>
              </a:rPr>
              <a:t>The decision is complete only when this proof exists: Template digest, parameters, change-set diff, execution role and stack event timeline.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205</a:t>
            </a:r>
          </a:p>
        </p:txBody>
      </p:sp>
    </p:spTree>
  </p:cSld>
  <p:clrMapOvr>
    <a:masterClrMapping/>
  </p:clrMapOvr>
  <p:transition xmlns:p14="http://schemas.microsoft.com/office/powerpoint/2010/main" p14:dur="380">
    <p:fade/>
  </p:transition>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DOMAIN 2 · CONFIGURATION MANAGEMENT AND IAC</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Reusable infrastructure components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OUTCOME</a:t>
            </a:r>
          </a:p>
          <a:p>
            <a:pPr algn="l">
              <a:spcAft>
                <a:spcPts val="300"/>
              </a:spcAft>
            </a:pPr>
            <a:r>
              <a:rPr sz="1050" b="0">
                <a:solidFill>
                  <a:srgbClr val="5B6372"/>
                </a:solidFill>
                <a:latin typeface="Arial"/>
              </a:rPr>
              <a:t>Create governed building blocks that teams can reuse without copying templates.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ARCHITECTURE</a:t>
            </a:r>
          </a:p>
          <a:p>
            <a:pPr algn="l">
              <a:spcAft>
                <a:spcPts val="300"/>
              </a:spcAft>
            </a:pPr>
            <a:r>
              <a:rPr sz="1050" b="0">
                <a:solidFill>
                  <a:srgbClr val="5B6372"/>
                </a:solidFill>
                <a:latin typeface="Arial"/>
              </a:rPr>
              <a:t>Define stable interfaces, semantic versions, ownership, safe defaults and deprecation paths for components.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MODE</a:t>
            </a:r>
          </a:p>
          <a:p>
            <a:pPr algn="l">
              <a:spcAft>
                <a:spcPts val="300"/>
              </a:spcAft>
            </a:pPr>
            <a:r>
              <a:rPr sz="1050" b="0">
                <a:solidFill>
                  <a:srgbClr val="5B6372"/>
                </a:solidFill>
                <a:latin typeface="Arial"/>
              </a:rPr>
              <a:t>Copy-and-edit templates fork controls and make security fixes inconsistent.</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EVIDENCE</a:t>
            </a:r>
          </a:p>
          <a:p>
            <a:pPr algn="l">
              <a:spcAft>
                <a:spcPts val="300"/>
              </a:spcAft>
            </a:pPr>
            <a:r>
              <a:rPr sz="1050" b="0">
                <a:solidFill>
                  <a:srgbClr val="5B6372"/>
                </a:solidFill>
                <a:latin typeface="Arial"/>
              </a:rPr>
              <a:t>Component version, input contract, output contract, policy checks and consuming stacks.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206</a:t>
            </a:r>
          </a:p>
        </p:txBody>
      </p:sp>
    </p:spTree>
  </p:cSld>
  <p:clrMapOvr>
    <a:masterClrMapping/>
  </p:clrMapOvr>
  <p:transition xmlns:p14="http://schemas.microsoft.com/office/powerpoint/2010/main" p14:dur="380">
    <p:fade/>
  </p:transition>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DOMAIN 2 · PROCESS MODEL</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Reusable infrastructure components: operating flow</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49809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97102"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9710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Define interface</a:t>
            </a:r>
          </a:p>
        </p:txBody>
      </p:sp>
      <p:sp>
        <p:nvSpPr>
          <p:cNvPr id="12" name="Rectangle 11"/>
          <p:cNvSpPr/>
          <p:nvPr/>
        </p:nvSpPr>
        <p:spPr>
          <a:xfrm>
            <a:off x="2604516"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04516" y="2148840"/>
            <a:ext cx="149809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024378"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24378"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6" name="TextBox 15"/>
          <p:cNvSpPr txBox="1"/>
          <p:nvPr/>
        </p:nvSpPr>
        <p:spPr>
          <a:xfrm>
            <a:off x="2723388"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Implement component</a:t>
            </a:r>
          </a:p>
        </p:txBody>
      </p:sp>
      <p:sp>
        <p:nvSpPr>
          <p:cNvPr id="17" name="Rectangle 16"/>
          <p:cNvSpPr/>
          <p:nvPr/>
        </p:nvSpPr>
        <p:spPr>
          <a:xfrm>
            <a:off x="4431792"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431792" y="2148840"/>
            <a:ext cx="149809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851654"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51654"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1" name="TextBox 20"/>
          <p:cNvSpPr txBox="1"/>
          <p:nvPr/>
        </p:nvSpPr>
        <p:spPr>
          <a:xfrm>
            <a:off x="4550664"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Test</a:t>
            </a:r>
          </a:p>
        </p:txBody>
      </p:sp>
      <p:sp>
        <p:nvSpPr>
          <p:cNvPr id="22" name="Rectangle 21"/>
          <p:cNvSpPr/>
          <p:nvPr/>
        </p:nvSpPr>
        <p:spPr>
          <a:xfrm>
            <a:off x="6259068"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59068" y="2148840"/>
            <a:ext cx="149809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678930"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78930"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6" name="TextBox 25"/>
          <p:cNvSpPr txBox="1"/>
          <p:nvPr/>
        </p:nvSpPr>
        <p:spPr>
          <a:xfrm>
            <a:off x="6377940"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Publish version</a:t>
            </a:r>
          </a:p>
        </p:txBody>
      </p:sp>
      <p:sp>
        <p:nvSpPr>
          <p:cNvPr id="27" name="Rectangle 26"/>
          <p:cNvSpPr/>
          <p:nvPr/>
        </p:nvSpPr>
        <p:spPr>
          <a:xfrm>
            <a:off x="8086344"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086344" y="2148840"/>
            <a:ext cx="1498092" cy="914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506206" y="2532888"/>
            <a:ext cx="658368" cy="658368"/>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06206"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5</a:t>
            </a:r>
          </a:p>
        </p:txBody>
      </p:sp>
      <p:sp>
        <p:nvSpPr>
          <p:cNvPr id="31" name="TextBox 30"/>
          <p:cNvSpPr txBox="1"/>
          <p:nvPr/>
        </p:nvSpPr>
        <p:spPr>
          <a:xfrm>
            <a:off x="8205216"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Consume</a:t>
            </a:r>
          </a:p>
        </p:txBody>
      </p:sp>
      <p:sp>
        <p:nvSpPr>
          <p:cNvPr id="32" name="Rectangle 31"/>
          <p:cNvSpPr/>
          <p:nvPr/>
        </p:nvSpPr>
        <p:spPr>
          <a:xfrm>
            <a:off x="9913620"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913620" y="2148840"/>
            <a:ext cx="1498092" cy="91440"/>
          </a:xfrm>
          <a:prstGeom prst="rect">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333482" y="2532888"/>
            <a:ext cx="658368" cy="658368"/>
          </a:xfrm>
          <a:prstGeom prst="ellipse">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3348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6</a:t>
            </a:r>
          </a:p>
        </p:txBody>
      </p:sp>
      <p:sp>
        <p:nvSpPr>
          <p:cNvPr id="36" name="TextBox 35"/>
          <p:cNvSpPr txBox="1"/>
          <p:nvPr/>
        </p:nvSpPr>
        <p:spPr>
          <a:xfrm>
            <a:off x="10032492"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Deprecate safely</a:t>
            </a:r>
          </a:p>
        </p:txBody>
      </p:sp>
      <p:cxnSp>
        <p:nvCxnSpPr>
          <p:cNvPr id="37" name="Connector 36"/>
          <p:cNvCxnSpPr/>
          <p:nvPr/>
        </p:nvCxnSpPr>
        <p:spPr>
          <a:xfrm>
            <a:off x="2275332"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10260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929884"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775716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9584436"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7C3AED"/>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44" name="TextBox 4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45" name="TextBox 4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6" name="TextBox 4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207</a:t>
            </a:r>
          </a:p>
        </p:txBody>
      </p:sp>
    </p:spTree>
  </p:cSld>
  <p:clrMapOvr>
    <a:masterClrMapping/>
  </p:clrMapOvr>
  <p:transition xmlns:p14="http://schemas.microsoft.com/office/powerpoint/2010/main" p14:dur="380">
    <p:fade/>
  </p:transition>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DOMAIN 2 ·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Reusable infrastructure components: design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83280" cy="43708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708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01168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011680"/>
            <a:ext cx="530352" cy="530352"/>
          </a:xfrm>
          <a:prstGeom prst="rect">
            <a:avLst/>
          </a:prstGeom>
          <a:noFill/>
        </p:spPr>
        <p:txBody>
          <a:bodyPr wrap="square" anchor="ctr">
            <a:spAutoFit/>
          </a:bodyPr>
          <a:lstStyle/>
          <a:p>
            <a:pPr algn="ctr">
              <a:spcAft>
                <a:spcPts val="400"/>
              </a:spcAft>
            </a:pPr>
            <a:r>
              <a:rPr sz="2000" b="1">
                <a:solidFill>
                  <a:srgbClr val="FFFFFF"/>
                </a:solidFill>
                <a:latin typeface="Arial"/>
              </a:rPr>
              <a:t>?</a:t>
            </a:r>
          </a:p>
        </p:txBody>
      </p:sp>
      <p:sp>
        <p:nvSpPr>
          <p:cNvPr id="11" name="TextBox 10"/>
          <p:cNvSpPr txBox="1"/>
          <p:nvPr/>
        </p:nvSpPr>
        <p:spPr>
          <a:xfrm>
            <a:off x="1709928" y="1984248"/>
            <a:ext cx="2212848" cy="502920"/>
          </a:xfrm>
          <a:prstGeom prst="rect">
            <a:avLst/>
          </a:prstGeom>
          <a:noFill/>
        </p:spPr>
        <p:txBody>
          <a:bodyPr wrap="square" anchor="ctr">
            <a:spAutoFit/>
          </a:bodyPr>
          <a:lstStyle/>
          <a:p>
            <a:pPr algn="l">
              <a:spcAft>
                <a:spcPts val="400"/>
              </a:spcAft>
            </a:pPr>
            <a:r>
              <a:rPr sz="1350" b="1">
                <a:solidFill>
                  <a:srgbClr val="7C3AED"/>
                </a:solidFill>
                <a:latin typeface="Arial"/>
              </a:rPr>
              <a:t>SCENARIO</a:t>
            </a:r>
          </a:p>
        </p:txBody>
      </p:sp>
      <p:sp>
        <p:nvSpPr>
          <p:cNvPr id="12" name="TextBox 11"/>
          <p:cNvSpPr txBox="1"/>
          <p:nvPr/>
        </p:nvSpPr>
        <p:spPr>
          <a:xfrm>
            <a:off x="1051560" y="2743200"/>
            <a:ext cx="2834640" cy="3136392"/>
          </a:xfrm>
          <a:prstGeom prst="rect">
            <a:avLst/>
          </a:prstGeom>
          <a:noFill/>
        </p:spPr>
        <p:txBody>
          <a:bodyPr wrap="square" anchor="t">
            <a:spAutoFit/>
          </a:bodyPr>
          <a:lstStyle/>
          <a:p>
            <a:pPr algn="l">
              <a:spcAft>
                <a:spcPts val="400"/>
              </a:spcAft>
            </a:pPr>
            <a:r>
              <a:rPr sz="1300" b="0">
                <a:solidFill>
                  <a:srgbClr val="161B26"/>
                </a:solidFill>
                <a:latin typeface="Arial"/>
              </a:rPr>
              <a:t>Twenty application teams need the same encrypted logging bucket with centrally managed controls.</a:t>
            </a:r>
          </a:p>
        </p:txBody>
      </p:sp>
      <p:sp>
        <p:nvSpPr>
          <p:cNvPr id="13" name="Rectangle 12"/>
          <p:cNvSpPr/>
          <p:nvPr/>
        </p:nvSpPr>
        <p:spPr>
          <a:xfrm>
            <a:off x="4434840"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34840" y="1783080"/>
            <a:ext cx="91440"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636008" y="1965960"/>
            <a:ext cx="438912" cy="43891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6008"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7" name="TextBox 16"/>
          <p:cNvSpPr txBox="1"/>
          <p:nvPr/>
        </p:nvSpPr>
        <p:spPr>
          <a:xfrm>
            <a:off x="5212080" y="1929384"/>
            <a:ext cx="2286000" cy="475488"/>
          </a:xfrm>
          <a:prstGeom prst="rect">
            <a:avLst/>
          </a:prstGeom>
          <a:noFill/>
        </p:spPr>
        <p:txBody>
          <a:bodyPr wrap="square" anchor="ctr">
            <a:spAutoFit/>
          </a:bodyPr>
          <a:lstStyle/>
          <a:p>
            <a:pPr algn="l">
              <a:spcAft>
                <a:spcPts val="400"/>
              </a:spcAft>
            </a:pPr>
            <a:r>
              <a:rPr sz="1250" b="1">
                <a:solidFill>
                  <a:srgbClr val="10B981"/>
                </a:solidFill>
                <a:latin typeface="Arial"/>
              </a:rPr>
              <a:t>DESIGN RESPONSE</a:t>
            </a:r>
          </a:p>
        </p:txBody>
      </p:sp>
      <p:sp>
        <p:nvSpPr>
          <p:cNvPr id="18" name="TextBox 17"/>
          <p:cNvSpPr txBox="1"/>
          <p:nvPr/>
        </p:nvSpPr>
        <p:spPr>
          <a:xfrm>
            <a:off x="4663440"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Define stable interfaces, semantic versions, ownership, safe defaults and deprecation paths for components.</a:t>
            </a:r>
          </a:p>
        </p:txBody>
      </p:sp>
      <p:sp>
        <p:nvSpPr>
          <p:cNvPr id="19" name="Rectangle 18"/>
          <p:cNvSpPr/>
          <p:nvPr/>
        </p:nvSpPr>
        <p:spPr>
          <a:xfrm>
            <a:off x="7973568"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973568" y="1783080"/>
            <a:ext cx="91440" cy="21488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174736" y="1965960"/>
            <a:ext cx="438912" cy="43891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74736"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23" name="TextBox 22"/>
          <p:cNvSpPr txBox="1"/>
          <p:nvPr/>
        </p:nvSpPr>
        <p:spPr>
          <a:xfrm>
            <a:off x="8750808" y="1929384"/>
            <a:ext cx="2286000" cy="475488"/>
          </a:xfrm>
          <a:prstGeom prst="rect">
            <a:avLst/>
          </a:prstGeom>
          <a:noFill/>
        </p:spPr>
        <p:txBody>
          <a:bodyPr wrap="square" anchor="ctr">
            <a:spAutoFit/>
          </a:bodyPr>
          <a:lstStyle/>
          <a:p>
            <a:pPr algn="l">
              <a:spcAft>
                <a:spcPts val="400"/>
              </a:spcAft>
            </a:pPr>
            <a:r>
              <a:rPr sz="1250" b="1">
                <a:solidFill>
                  <a:srgbClr val="7C3AED"/>
                </a:solidFill>
                <a:latin typeface="Arial"/>
              </a:rPr>
              <a:t>PRIMARY SERVICES</a:t>
            </a:r>
          </a:p>
        </p:txBody>
      </p:sp>
      <p:sp>
        <p:nvSpPr>
          <p:cNvPr id="24" name="TextBox 23"/>
          <p:cNvSpPr txBox="1"/>
          <p:nvPr/>
        </p:nvSpPr>
        <p:spPr>
          <a:xfrm>
            <a:off x="8202168"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Nested stacks · Modules · CDK constructs · Service Catalog</a:t>
            </a:r>
          </a:p>
        </p:txBody>
      </p:sp>
      <p:sp>
        <p:nvSpPr>
          <p:cNvPr id="25" name="Rectangle 24"/>
          <p:cNvSpPr/>
          <p:nvPr/>
        </p:nvSpPr>
        <p:spPr>
          <a:xfrm>
            <a:off x="4434840"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34840" y="4005072"/>
            <a:ext cx="91440" cy="21488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636008" y="4187952"/>
            <a:ext cx="438912" cy="43891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36008"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9" name="TextBox 28"/>
          <p:cNvSpPr txBox="1"/>
          <p:nvPr/>
        </p:nvSpPr>
        <p:spPr>
          <a:xfrm>
            <a:off x="5212080" y="4151376"/>
            <a:ext cx="2286000" cy="475488"/>
          </a:xfrm>
          <a:prstGeom prst="rect">
            <a:avLst/>
          </a:prstGeom>
          <a:noFill/>
        </p:spPr>
        <p:txBody>
          <a:bodyPr wrap="square" anchor="ctr">
            <a:spAutoFit/>
          </a:bodyPr>
          <a:lstStyle/>
          <a:p>
            <a:pPr algn="l">
              <a:spcAft>
                <a:spcPts val="400"/>
              </a:spcAft>
            </a:pPr>
            <a:r>
              <a:rPr sz="1250" b="1">
                <a:solidFill>
                  <a:srgbClr val="F59E0B"/>
                </a:solidFill>
                <a:latin typeface="Arial"/>
              </a:rPr>
              <a:t>FAILURE MODE</a:t>
            </a:r>
          </a:p>
        </p:txBody>
      </p:sp>
      <p:sp>
        <p:nvSpPr>
          <p:cNvPr id="30" name="TextBox 29"/>
          <p:cNvSpPr txBox="1"/>
          <p:nvPr/>
        </p:nvSpPr>
        <p:spPr>
          <a:xfrm>
            <a:off x="4663440"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Copy-and-edit templates fork controls and make security fixes inconsistent.</a:t>
            </a:r>
          </a:p>
        </p:txBody>
      </p:sp>
      <p:sp>
        <p:nvSpPr>
          <p:cNvPr id="31" name="Rectangle 30"/>
          <p:cNvSpPr/>
          <p:nvPr/>
        </p:nvSpPr>
        <p:spPr>
          <a:xfrm>
            <a:off x="7973568"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73568" y="4005072"/>
            <a:ext cx="91440" cy="21488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174736" y="4187952"/>
            <a:ext cx="438912" cy="438912"/>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74736"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5" name="TextBox 34"/>
          <p:cNvSpPr txBox="1"/>
          <p:nvPr/>
        </p:nvSpPr>
        <p:spPr>
          <a:xfrm>
            <a:off x="8750808" y="4151376"/>
            <a:ext cx="2286000" cy="475488"/>
          </a:xfrm>
          <a:prstGeom prst="rect">
            <a:avLst/>
          </a:prstGeom>
          <a:noFill/>
        </p:spPr>
        <p:txBody>
          <a:bodyPr wrap="square" anchor="ctr">
            <a:spAutoFit/>
          </a:bodyPr>
          <a:lstStyle/>
          <a:p>
            <a:pPr algn="l">
              <a:spcAft>
                <a:spcPts val="400"/>
              </a:spcAft>
            </a:pPr>
            <a:r>
              <a:rPr sz="1250" b="1">
                <a:solidFill>
                  <a:srgbClr val="EC711E"/>
                </a:solidFill>
                <a:latin typeface="Arial"/>
              </a:rPr>
              <a:t>PROOF</a:t>
            </a:r>
          </a:p>
        </p:txBody>
      </p:sp>
      <p:sp>
        <p:nvSpPr>
          <p:cNvPr id="36" name="TextBox 35"/>
          <p:cNvSpPr txBox="1"/>
          <p:nvPr/>
        </p:nvSpPr>
        <p:spPr>
          <a:xfrm>
            <a:off x="8202168"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Component version, input contract, output contract, policy checks and consuming stacks.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208</a:t>
            </a:r>
          </a:p>
        </p:txBody>
      </p:sp>
    </p:spTree>
  </p:cSld>
  <p:clrMapOvr>
    <a:masterClrMapping/>
  </p:clrMapOvr>
  <p:transition xmlns:p14="http://schemas.microsoft.com/office/powerpoint/2010/main" p14:dur="380">
    <p:fade/>
  </p:transition>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DOMAIN 2 · OPERATIONS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Reusable infrastructure components: failure diagnostic</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RECOGNISE</a:t>
            </a:r>
          </a:p>
          <a:p>
            <a:pPr algn="l">
              <a:spcAft>
                <a:spcPts val="300"/>
              </a:spcAft>
            </a:pPr>
            <a:r>
              <a:rPr sz="1050" b="0">
                <a:solidFill>
                  <a:srgbClr val="5B6372"/>
                </a:solidFill>
                <a:latin typeface="Arial"/>
              </a:rPr>
              <a:t>Observable failure condition: Copy-and-edit templates fork controls and make security fixes inconsistent.</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CONTAIN</a:t>
            </a:r>
          </a:p>
          <a:p>
            <a:pPr algn="l">
              <a:spcAft>
                <a:spcPts val="300"/>
              </a:spcAft>
            </a:pPr>
            <a:r>
              <a:rPr sz="1050" b="0">
                <a:solidFill>
                  <a:srgbClr val="5B6372"/>
                </a:solidFill>
                <a:latin typeface="Arial"/>
              </a:rPr>
              <a:t>Pause promotion, preserve evidence and reduce impact without destroying diagnostic state.</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DIAGNOSE</a:t>
            </a:r>
          </a:p>
          <a:p>
            <a:pPr algn="l">
              <a:spcAft>
                <a:spcPts val="300"/>
              </a:spcAft>
            </a:pPr>
            <a:r>
              <a:rPr sz="1050" b="0">
                <a:solidFill>
                  <a:srgbClr val="5B6372"/>
                </a:solidFill>
                <a:latin typeface="Arial"/>
              </a:rPr>
              <a:t>Trace the workflow from Define interface through Deprecate safely; compare intended configuration with runtime state.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RECOVER</a:t>
            </a:r>
          </a:p>
          <a:p>
            <a:pPr algn="l">
              <a:spcAft>
                <a:spcPts val="300"/>
              </a:spcAft>
            </a:pPr>
            <a:r>
              <a:rPr sz="1050" b="0">
                <a:solidFill>
                  <a:srgbClr val="5B6372"/>
                </a:solidFill>
                <a:latin typeface="Arial"/>
              </a:rPr>
              <a:t>Restore the last known-good state, then prove recovery with Component version, input contract, output contract, policy checks and consuming stacks.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209</a:t>
            </a:r>
          </a:p>
        </p:txBody>
      </p:sp>
    </p:spTree>
  </p:cSld>
  <p:clrMapOvr>
    <a:masterClrMapping/>
  </p:clrMapOvr>
  <p:transition xmlns:p14="http://schemas.microsoft.com/office/powerpoint/2010/main" p14:dur="380">
    <p:fade/>
  </p:transition>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DOMAIN 2 · APPLIED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Reusable infrastructure components: worked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CONSTRAINT</a:t>
            </a:r>
          </a:p>
          <a:p>
            <a:pPr algn="l">
              <a:spcAft>
                <a:spcPts val="300"/>
              </a:spcAft>
            </a:pPr>
            <a:r>
              <a:rPr sz="1050" b="0">
                <a:solidFill>
                  <a:srgbClr val="5B6372"/>
                </a:solidFill>
                <a:latin typeface="Arial"/>
              </a:rPr>
              <a:t>Twenty application teams need the same encrypted logging bucket with centrally managed controls.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DECISION</a:t>
            </a:r>
          </a:p>
          <a:p>
            <a:pPr algn="l">
              <a:spcAft>
                <a:spcPts val="300"/>
              </a:spcAft>
            </a:pPr>
            <a:r>
              <a:rPr sz="1050" b="0">
                <a:solidFill>
                  <a:srgbClr val="5B6372"/>
                </a:solidFill>
                <a:latin typeface="Arial"/>
              </a:rPr>
              <a:t>Define stable interfaces, semantic versions, ownership, safe defaults and deprecation paths for components.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WHY ALTERNATIVES LOSE</a:t>
            </a:r>
          </a:p>
          <a:p>
            <a:pPr algn="l">
              <a:spcAft>
                <a:spcPts val="300"/>
              </a:spcAft>
            </a:pPr>
            <a:r>
              <a:rPr sz="1050" b="0">
                <a:solidFill>
                  <a:srgbClr val="5B6372"/>
                </a:solidFill>
                <a:latin typeface="Arial"/>
              </a:rPr>
              <a:t>Reject options that do not change the stated failure boundary: Copy-and-edit templates fork controls and make security fixes inconsistent.</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ACCEPTANCE TEST</a:t>
            </a:r>
          </a:p>
          <a:p>
            <a:pPr algn="l">
              <a:spcAft>
                <a:spcPts val="300"/>
              </a:spcAft>
            </a:pPr>
            <a:r>
              <a:rPr sz="1050" b="0">
                <a:solidFill>
                  <a:srgbClr val="5B6372"/>
                </a:solidFill>
                <a:latin typeface="Arial"/>
              </a:rPr>
              <a:t>The decision is complete only when this proof exists: Component version, input contract, output contract, policy checks and consuming stacks.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210</a:t>
            </a:r>
          </a:p>
        </p:txBody>
      </p:sp>
    </p:spTree>
  </p:cSld>
  <p:clrMapOvr>
    <a:masterClrMapping/>
  </p:clrMapOvr>
  <p:transition xmlns:p14="http://schemas.microsoft.com/office/powerpoint/2010/main" p14:dur="380">
    <p:fade/>
  </p:transition>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DOMAIN 2 · CONFIGURATION MANAGEMENT AND IAC</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Parameters, mappings and dynamic references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OUTCOME</a:t>
            </a:r>
          </a:p>
          <a:p>
            <a:pPr algn="l">
              <a:spcAft>
                <a:spcPts val="300"/>
              </a:spcAft>
            </a:pPr>
            <a:r>
              <a:rPr sz="1050" b="0">
                <a:solidFill>
                  <a:srgbClr val="5B6372"/>
                </a:solidFill>
                <a:latin typeface="Arial"/>
              </a:rPr>
              <a:t>Separate environment configuration and secrets from reusable infrastructure code.</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ARCHITECTURE</a:t>
            </a:r>
          </a:p>
          <a:p>
            <a:pPr algn="l">
              <a:spcAft>
                <a:spcPts val="300"/>
              </a:spcAft>
            </a:pPr>
            <a:r>
              <a:rPr sz="1050" b="0">
                <a:solidFill>
                  <a:srgbClr val="5B6372"/>
                </a:solidFill>
                <a:latin typeface="Arial"/>
              </a:rPr>
              <a:t>Use parameters for deployment choices, mappings for curated constants and dynamic references for secret values.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MODE</a:t>
            </a:r>
          </a:p>
          <a:p>
            <a:pPr algn="l">
              <a:spcAft>
                <a:spcPts val="300"/>
              </a:spcAft>
            </a:pPr>
            <a:r>
              <a:rPr sz="1050" b="0">
                <a:solidFill>
                  <a:srgbClr val="5B6372"/>
                </a:solidFill>
                <a:latin typeface="Arial"/>
              </a:rPr>
              <a:t>Embedding secrets in templates, outputs or pipeline logs creates durable exposure.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EVIDENCE</a:t>
            </a:r>
          </a:p>
          <a:p>
            <a:pPr algn="l">
              <a:spcAft>
                <a:spcPts val="300"/>
              </a:spcAft>
            </a:pPr>
            <a:r>
              <a:rPr sz="1050" b="0">
                <a:solidFill>
                  <a:srgbClr val="5B6372"/>
                </a:solidFill>
                <a:latin typeface="Arial"/>
              </a:rPr>
              <a:t>Parameter type, allowed values, secret ARN/version, access policy and redacted execution logs.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211</a:t>
            </a:r>
          </a:p>
        </p:txBody>
      </p:sp>
    </p:spTree>
  </p:cSld>
  <p:clrMapOvr>
    <a:masterClrMapping/>
  </p:clrMapOvr>
  <p:transition xmlns:p14="http://schemas.microsoft.com/office/powerpoint/2010/main" p14:dur="380">
    <p:fade/>
  </p:transition>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DOMAIN 2 · PROCESS MODEL</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500" b="1">
                <a:solidFill>
                  <a:srgbClr val="161B26"/>
                </a:solidFill>
                <a:latin typeface="Arial"/>
              </a:rPr>
              <a:t>Parameters, mappings and dynamic references: operating flow</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6354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79829"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982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Declare input</a:t>
            </a:r>
          </a:p>
        </p:txBody>
      </p:sp>
      <p:sp>
        <p:nvSpPr>
          <p:cNvPr id="12" name="Rectangle 11"/>
          <p:cNvSpPr/>
          <p:nvPr/>
        </p:nvSpPr>
        <p:spPr>
          <a:xfrm>
            <a:off x="2969971"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69971" y="2148840"/>
            <a:ext cx="186354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572560"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72560"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6" name="TextBox 15"/>
          <p:cNvSpPr txBox="1"/>
          <p:nvPr/>
        </p:nvSpPr>
        <p:spPr>
          <a:xfrm>
            <a:off x="3088843"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Validate</a:t>
            </a:r>
          </a:p>
        </p:txBody>
      </p:sp>
      <p:sp>
        <p:nvSpPr>
          <p:cNvPr id="17" name="Rectangle 16"/>
          <p:cNvSpPr/>
          <p:nvPr/>
        </p:nvSpPr>
        <p:spPr>
          <a:xfrm>
            <a:off x="5162702"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62702" y="2148840"/>
            <a:ext cx="186354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765291"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6529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1" name="TextBox 20"/>
          <p:cNvSpPr txBox="1"/>
          <p:nvPr/>
        </p:nvSpPr>
        <p:spPr>
          <a:xfrm>
            <a:off x="5281574"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Resolve secure value</a:t>
            </a:r>
          </a:p>
        </p:txBody>
      </p:sp>
      <p:sp>
        <p:nvSpPr>
          <p:cNvPr id="22" name="Rectangle 21"/>
          <p:cNvSpPr/>
          <p:nvPr/>
        </p:nvSpPr>
        <p:spPr>
          <a:xfrm>
            <a:off x="7355433"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355433" y="2148840"/>
            <a:ext cx="186354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958022"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5802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6" name="TextBox 25"/>
          <p:cNvSpPr txBox="1"/>
          <p:nvPr/>
        </p:nvSpPr>
        <p:spPr>
          <a:xfrm>
            <a:off x="7474305"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Deploy</a:t>
            </a:r>
          </a:p>
        </p:txBody>
      </p:sp>
      <p:sp>
        <p:nvSpPr>
          <p:cNvPr id="27" name="Rectangle 26"/>
          <p:cNvSpPr/>
          <p:nvPr/>
        </p:nvSpPr>
        <p:spPr>
          <a:xfrm>
            <a:off x="9548164"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548164" y="2148840"/>
            <a:ext cx="1863547" cy="914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50753" y="2532888"/>
            <a:ext cx="658368" cy="658368"/>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5075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5</a:t>
            </a:r>
          </a:p>
        </p:txBody>
      </p:sp>
      <p:sp>
        <p:nvSpPr>
          <p:cNvPr id="31" name="TextBox 30"/>
          <p:cNvSpPr txBox="1"/>
          <p:nvPr/>
        </p:nvSpPr>
        <p:spPr>
          <a:xfrm>
            <a:off x="9667036"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Rotate independently</a:t>
            </a:r>
          </a:p>
        </p:txBody>
      </p:sp>
      <p:cxnSp>
        <p:nvCxnSpPr>
          <p:cNvPr id="32" name="Connector 31"/>
          <p:cNvCxnSpPr/>
          <p:nvPr/>
        </p:nvCxnSpPr>
        <p:spPr>
          <a:xfrm>
            <a:off x="2640787"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83351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026249"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21898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7C3AED"/>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8" name="TextBox 3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9" name="TextBox 3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0" name="TextBox 3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212</a:t>
            </a:r>
          </a:p>
        </p:txBody>
      </p:sp>
    </p:spTree>
  </p:cSld>
  <p:clrMapOvr>
    <a:masterClrMapping/>
  </p:clrMapOvr>
  <p:transition xmlns:p14="http://schemas.microsoft.com/office/powerpoint/2010/main" p14:dur="380">
    <p:fade/>
  </p:transition>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DOMAIN 2 · SCENARIO</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500" b="1">
                <a:solidFill>
                  <a:srgbClr val="161B26"/>
                </a:solidFill>
                <a:latin typeface="Arial"/>
              </a:rPr>
              <a:t>Parameters, mappings and dynamic references: design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83280" cy="43708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708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01168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011680"/>
            <a:ext cx="530352" cy="530352"/>
          </a:xfrm>
          <a:prstGeom prst="rect">
            <a:avLst/>
          </a:prstGeom>
          <a:noFill/>
        </p:spPr>
        <p:txBody>
          <a:bodyPr wrap="square" anchor="ctr">
            <a:spAutoFit/>
          </a:bodyPr>
          <a:lstStyle/>
          <a:p>
            <a:pPr algn="ctr">
              <a:spcAft>
                <a:spcPts val="400"/>
              </a:spcAft>
            </a:pPr>
            <a:r>
              <a:rPr sz="2000" b="1">
                <a:solidFill>
                  <a:srgbClr val="FFFFFF"/>
                </a:solidFill>
                <a:latin typeface="Arial"/>
              </a:rPr>
              <a:t>?</a:t>
            </a:r>
          </a:p>
        </p:txBody>
      </p:sp>
      <p:sp>
        <p:nvSpPr>
          <p:cNvPr id="11" name="TextBox 10"/>
          <p:cNvSpPr txBox="1"/>
          <p:nvPr/>
        </p:nvSpPr>
        <p:spPr>
          <a:xfrm>
            <a:off x="1709928" y="1984248"/>
            <a:ext cx="2212848" cy="502920"/>
          </a:xfrm>
          <a:prstGeom prst="rect">
            <a:avLst/>
          </a:prstGeom>
          <a:noFill/>
        </p:spPr>
        <p:txBody>
          <a:bodyPr wrap="square" anchor="ctr">
            <a:spAutoFit/>
          </a:bodyPr>
          <a:lstStyle/>
          <a:p>
            <a:pPr algn="l">
              <a:spcAft>
                <a:spcPts val="400"/>
              </a:spcAft>
            </a:pPr>
            <a:r>
              <a:rPr sz="1350" b="1">
                <a:solidFill>
                  <a:srgbClr val="7C3AED"/>
                </a:solidFill>
                <a:latin typeface="Arial"/>
              </a:rPr>
              <a:t>SCENARIO</a:t>
            </a:r>
          </a:p>
        </p:txBody>
      </p:sp>
      <p:sp>
        <p:nvSpPr>
          <p:cNvPr id="12" name="TextBox 11"/>
          <p:cNvSpPr txBox="1"/>
          <p:nvPr/>
        </p:nvSpPr>
        <p:spPr>
          <a:xfrm>
            <a:off x="1051560" y="2743200"/>
            <a:ext cx="2834640" cy="3136392"/>
          </a:xfrm>
          <a:prstGeom prst="rect">
            <a:avLst/>
          </a:prstGeom>
          <a:noFill/>
        </p:spPr>
        <p:txBody>
          <a:bodyPr wrap="square" anchor="t">
            <a:spAutoFit/>
          </a:bodyPr>
          <a:lstStyle/>
          <a:p>
            <a:pPr algn="l">
              <a:spcAft>
                <a:spcPts val="400"/>
              </a:spcAft>
            </a:pPr>
            <a:r>
              <a:rPr sz="1300" b="0">
                <a:solidFill>
                  <a:srgbClr val="161B26"/>
                </a:solidFill>
                <a:latin typeface="Arial"/>
              </a:rPr>
              <a:t>One template serves three environments while database credentials rotate every 30 days.</a:t>
            </a:r>
          </a:p>
        </p:txBody>
      </p:sp>
      <p:sp>
        <p:nvSpPr>
          <p:cNvPr id="13" name="Rectangle 12"/>
          <p:cNvSpPr/>
          <p:nvPr/>
        </p:nvSpPr>
        <p:spPr>
          <a:xfrm>
            <a:off x="4434840"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34840" y="1783080"/>
            <a:ext cx="91440"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636008" y="1965960"/>
            <a:ext cx="438912" cy="43891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6008"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7" name="TextBox 16"/>
          <p:cNvSpPr txBox="1"/>
          <p:nvPr/>
        </p:nvSpPr>
        <p:spPr>
          <a:xfrm>
            <a:off x="5212080" y="1929384"/>
            <a:ext cx="2286000" cy="475488"/>
          </a:xfrm>
          <a:prstGeom prst="rect">
            <a:avLst/>
          </a:prstGeom>
          <a:noFill/>
        </p:spPr>
        <p:txBody>
          <a:bodyPr wrap="square" anchor="ctr">
            <a:spAutoFit/>
          </a:bodyPr>
          <a:lstStyle/>
          <a:p>
            <a:pPr algn="l">
              <a:spcAft>
                <a:spcPts val="400"/>
              </a:spcAft>
            </a:pPr>
            <a:r>
              <a:rPr sz="1250" b="1">
                <a:solidFill>
                  <a:srgbClr val="10B981"/>
                </a:solidFill>
                <a:latin typeface="Arial"/>
              </a:rPr>
              <a:t>DESIGN RESPONSE</a:t>
            </a:r>
          </a:p>
        </p:txBody>
      </p:sp>
      <p:sp>
        <p:nvSpPr>
          <p:cNvPr id="18" name="TextBox 17"/>
          <p:cNvSpPr txBox="1"/>
          <p:nvPr/>
        </p:nvSpPr>
        <p:spPr>
          <a:xfrm>
            <a:off x="4663440"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Use parameters for deployment choices, mappings for curated constants and dynamic references for secret values.</a:t>
            </a:r>
          </a:p>
        </p:txBody>
      </p:sp>
      <p:sp>
        <p:nvSpPr>
          <p:cNvPr id="19" name="Rectangle 18"/>
          <p:cNvSpPr/>
          <p:nvPr/>
        </p:nvSpPr>
        <p:spPr>
          <a:xfrm>
            <a:off x="7973568"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973568" y="1783080"/>
            <a:ext cx="91440" cy="21488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174736" y="1965960"/>
            <a:ext cx="438912" cy="43891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74736"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23" name="TextBox 22"/>
          <p:cNvSpPr txBox="1"/>
          <p:nvPr/>
        </p:nvSpPr>
        <p:spPr>
          <a:xfrm>
            <a:off x="8750808" y="1929384"/>
            <a:ext cx="2286000" cy="475488"/>
          </a:xfrm>
          <a:prstGeom prst="rect">
            <a:avLst/>
          </a:prstGeom>
          <a:noFill/>
        </p:spPr>
        <p:txBody>
          <a:bodyPr wrap="square" anchor="ctr">
            <a:spAutoFit/>
          </a:bodyPr>
          <a:lstStyle/>
          <a:p>
            <a:pPr algn="l">
              <a:spcAft>
                <a:spcPts val="400"/>
              </a:spcAft>
            </a:pPr>
            <a:r>
              <a:rPr sz="1250" b="1">
                <a:solidFill>
                  <a:srgbClr val="7C3AED"/>
                </a:solidFill>
                <a:latin typeface="Arial"/>
              </a:rPr>
              <a:t>PRIMARY SERVICES</a:t>
            </a:r>
          </a:p>
        </p:txBody>
      </p:sp>
      <p:sp>
        <p:nvSpPr>
          <p:cNvPr id="24" name="TextBox 23"/>
          <p:cNvSpPr txBox="1"/>
          <p:nvPr/>
        </p:nvSpPr>
        <p:spPr>
          <a:xfrm>
            <a:off x="8202168"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CloudFormation · Parameter Store · Secrets Manager</a:t>
            </a:r>
          </a:p>
        </p:txBody>
      </p:sp>
      <p:sp>
        <p:nvSpPr>
          <p:cNvPr id="25" name="Rectangle 24"/>
          <p:cNvSpPr/>
          <p:nvPr/>
        </p:nvSpPr>
        <p:spPr>
          <a:xfrm>
            <a:off x="4434840"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34840" y="4005072"/>
            <a:ext cx="91440" cy="21488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636008" y="4187952"/>
            <a:ext cx="438912" cy="43891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36008"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9" name="TextBox 28"/>
          <p:cNvSpPr txBox="1"/>
          <p:nvPr/>
        </p:nvSpPr>
        <p:spPr>
          <a:xfrm>
            <a:off x="5212080" y="4151376"/>
            <a:ext cx="2286000" cy="475488"/>
          </a:xfrm>
          <a:prstGeom prst="rect">
            <a:avLst/>
          </a:prstGeom>
          <a:noFill/>
        </p:spPr>
        <p:txBody>
          <a:bodyPr wrap="square" anchor="ctr">
            <a:spAutoFit/>
          </a:bodyPr>
          <a:lstStyle/>
          <a:p>
            <a:pPr algn="l">
              <a:spcAft>
                <a:spcPts val="400"/>
              </a:spcAft>
            </a:pPr>
            <a:r>
              <a:rPr sz="1250" b="1">
                <a:solidFill>
                  <a:srgbClr val="F59E0B"/>
                </a:solidFill>
                <a:latin typeface="Arial"/>
              </a:rPr>
              <a:t>FAILURE MODE</a:t>
            </a:r>
          </a:p>
        </p:txBody>
      </p:sp>
      <p:sp>
        <p:nvSpPr>
          <p:cNvPr id="30" name="TextBox 29"/>
          <p:cNvSpPr txBox="1"/>
          <p:nvPr/>
        </p:nvSpPr>
        <p:spPr>
          <a:xfrm>
            <a:off x="4663440"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Embedding secrets in templates, outputs or pipeline logs creates durable exposure.</a:t>
            </a:r>
          </a:p>
        </p:txBody>
      </p:sp>
      <p:sp>
        <p:nvSpPr>
          <p:cNvPr id="31" name="Rectangle 30"/>
          <p:cNvSpPr/>
          <p:nvPr/>
        </p:nvSpPr>
        <p:spPr>
          <a:xfrm>
            <a:off x="7973568"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73568" y="4005072"/>
            <a:ext cx="91440" cy="21488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174736" y="4187952"/>
            <a:ext cx="438912" cy="438912"/>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74736"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5" name="TextBox 34"/>
          <p:cNvSpPr txBox="1"/>
          <p:nvPr/>
        </p:nvSpPr>
        <p:spPr>
          <a:xfrm>
            <a:off x="8750808" y="4151376"/>
            <a:ext cx="2286000" cy="475488"/>
          </a:xfrm>
          <a:prstGeom prst="rect">
            <a:avLst/>
          </a:prstGeom>
          <a:noFill/>
        </p:spPr>
        <p:txBody>
          <a:bodyPr wrap="square" anchor="ctr">
            <a:spAutoFit/>
          </a:bodyPr>
          <a:lstStyle/>
          <a:p>
            <a:pPr algn="l">
              <a:spcAft>
                <a:spcPts val="400"/>
              </a:spcAft>
            </a:pPr>
            <a:r>
              <a:rPr sz="1250" b="1">
                <a:solidFill>
                  <a:srgbClr val="EC711E"/>
                </a:solidFill>
                <a:latin typeface="Arial"/>
              </a:rPr>
              <a:t>PROOF</a:t>
            </a:r>
          </a:p>
        </p:txBody>
      </p:sp>
      <p:sp>
        <p:nvSpPr>
          <p:cNvPr id="36" name="TextBox 35"/>
          <p:cNvSpPr txBox="1"/>
          <p:nvPr/>
        </p:nvSpPr>
        <p:spPr>
          <a:xfrm>
            <a:off x="8202168"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Parameter type, allowed values, secret ARN/version, access policy and redacted execution logs.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213</a:t>
            </a:r>
          </a:p>
        </p:txBody>
      </p:sp>
    </p:spTree>
  </p:cSld>
  <p:clrMapOvr>
    <a:masterClrMapping/>
  </p:clrMapOvr>
  <p:transition xmlns:p14="http://schemas.microsoft.com/office/powerpoint/2010/main" p14:dur="380">
    <p:fade/>
  </p:transition>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DOMAIN 2 · OPERATIONS</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500" b="1">
                <a:solidFill>
                  <a:srgbClr val="161B26"/>
                </a:solidFill>
                <a:latin typeface="Arial"/>
              </a:rPr>
              <a:t>Parameters, mappings and dynamic references: failure diagnostic</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RECOGNISE</a:t>
            </a:r>
          </a:p>
          <a:p>
            <a:pPr algn="l">
              <a:spcAft>
                <a:spcPts val="300"/>
              </a:spcAft>
            </a:pPr>
            <a:r>
              <a:rPr sz="1050" b="0">
                <a:solidFill>
                  <a:srgbClr val="5B6372"/>
                </a:solidFill>
                <a:latin typeface="Arial"/>
              </a:rPr>
              <a:t>Observable failure condition: Embedding secrets in templates, outputs or pipeline logs creates durable exposure.</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CONTAIN</a:t>
            </a:r>
          </a:p>
          <a:p>
            <a:pPr algn="l">
              <a:spcAft>
                <a:spcPts val="300"/>
              </a:spcAft>
            </a:pPr>
            <a:r>
              <a:rPr sz="1050" b="0">
                <a:solidFill>
                  <a:srgbClr val="5B6372"/>
                </a:solidFill>
                <a:latin typeface="Arial"/>
              </a:rPr>
              <a:t>Pause promotion, preserve evidence and reduce impact without destroying diagnostic state.</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DIAGNOSE</a:t>
            </a:r>
          </a:p>
          <a:p>
            <a:pPr algn="l">
              <a:spcAft>
                <a:spcPts val="300"/>
              </a:spcAft>
            </a:pPr>
            <a:r>
              <a:rPr sz="1050" b="0">
                <a:solidFill>
                  <a:srgbClr val="5B6372"/>
                </a:solidFill>
                <a:latin typeface="Arial"/>
              </a:rPr>
              <a:t>Trace the workflow from Declare input through Rotate independently; compare intended configuration with runtime state.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RECOVER</a:t>
            </a:r>
          </a:p>
          <a:p>
            <a:pPr algn="l">
              <a:spcAft>
                <a:spcPts val="300"/>
              </a:spcAft>
            </a:pPr>
            <a:r>
              <a:rPr sz="1050" b="0">
                <a:solidFill>
                  <a:srgbClr val="5B6372"/>
                </a:solidFill>
                <a:latin typeface="Arial"/>
              </a:rPr>
              <a:t>Restore the last known-good state, then prove recovery with Parameter type, allowed values, secret ARN/version, access policy and redacted execution logs.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214</a:t>
            </a:r>
          </a:p>
        </p:txBody>
      </p:sp>
    </p:spTree>
  </p:cSld>
  <p:clrMapOvr>
    <a:masterClrMapping/>
  </p:clrMapOvr>
  <p:transition xmlns:p14="http://schemas.microsoft.com/office/powerpoint/2010/main" p14:dur="380">
    <p:fade/>
  </p:transition>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DOMAIN 2 · APPLIED SCENARIO</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500" b="1">
                <a:solidFill>
                  <a:srgbClr val="161B26"/>
                </a:solidFill>
                <a:latin typeface="Arial"/>
              </a:rPr>
              <a:t>Parameters, mappings and dynamic references: worked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CONSTRAINT</a:t>
            </a:r>
          </a:p>
          <a:p>
            <a:pPr algn="l">
              <a:spcAft>
                <a:spcPts val="300"/>
              </a:spcAft>
            </a:pPr>
            <a:r>
              <a:rPr sz="1050" b="0">
                <a:solidFill>
                  <a:srgbClr val="5B6372"/>
                </a:solidFill>
                <a:latin typeface="Arial"/>
              </a:rPr>
              <a:t>One template serves three environments while database credentials rotate every 30 days.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DECISION</a:t>
            </a:r>
          </a:p>
          <a:p>
            <a:pPr algn="l">
              <a:spcAft>
                <a:spcPts val="300"/>
              </a:spcAft>
            </a:pPr>
            <a:r>
              <a:rPr sz="1050" b="0">
                <a:solidFill>
                  <a:srgbClr val="5B6372"/>
                </a:solidFill>
                <a:latin typeface="Arial"/>
              </a:rPr>
              <a:t>Use parameters for deployment choices, mappings for curated constants and dynamic references for secret values.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WHY ALTERNATIVES LOSE</a:t>
            </a:r>
          </a:p>
          <a:p>
            <a:pPr algn="l">
              <a:spcAft>
                <a:spcPts val="300"/>
              </a:spcAft>
            </a:pPr>
            <a:r>
              <a:rPr sz="1050" b="0">
                <a:solidFill>
                  <a:srgbClr val="5B6372"/>
                </a:solidFill>
                <a:latin typeface="Arial"/>
              </a:rPr>
              <a:t>Reject options that do not change the stated failure boundary: Embedding secrets in templates, outputs or pipeline logs creates durable exposure.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ACCEPTANCE TEST</a:t>
            </a:r>
          </a:p>
          <a:p>
            <a:pPr algn="l">
              <a:spcAft>
                <a:spcPts val="300"/>
              </a:spcAft>
            </a:pPr>
            <a:r>
              <a:rPr sz="1050" b="0">
                <a:solidFill>
                  <a:srgbClr val="5B6372"/>
                </a:solidFill>
                <a:latin typeface="Arial"/>
              </a:rPr>
              <a:t>The decision is complete only when this proof exists: Parameter type, allowed values, secret ARN/version, access policy and redacted execution logs.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215</a:t>
            </a:r>
          </a:p>
        </p:txBody>
      </p:sp>
    </p:spTree>
  </p:cSld>
  <p:clrMapOvr>
    <a:masterClrMapping/>
  </p:clrMapOvr>
  <p:transition xmlns:p14="http://schemas.microsoft.com/office/powerpoint/2010/main" p14:dur="380">
    <p:fade/>
  </p:transition>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DOMAIN 2 · CONFIGURATION MANAGEMENT AND IAC</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Drift, change control and rollback</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OUTCOME</a:t>
            </a:r>
          </a:p>
          <a:p>
            <a:pPr algn="l">
              <a:spcAft>
                <a:spcPts val="300"/>
              </a:spcAft>
            </a:pPr>
            <a:r>
              <a:rPr sz="1050" b="0">
                <a:solidFill>
                  <a:srgbClr val="5B6372"/>
                </a:solidFill>
                <a:latin typeface="Arial"/>
              </a:rPr>
              <a:t>Detect unmanaged changes and return resources to an approved state without masking the cause.</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ARCHITECTURE</a:t>
            </a:r>
          </a:p>
          <a:p>
            <a:pPr algn="l">
              <a:spcAft>
                <a:spcPts val="300"/>
              </a:spcAft>
            </a:pPr>
            <a:r>
              <a:rPr sz="1050" b="0">
                <a:solidFill>
                  <a:srgbClr val="5B6372"/>
                </a:solidFill>
                <a:latin typeface="Arial"/>
              </a:rPr>
              <a:t>Schedule drift detection, triage intent, import legitimate changes into code or remediate unauthorized variance.</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MODE</a:t>
            </a:r>
          </a:p>
          <a:p>
            <a:pPr algn="l">
              <a:spcAft>
                <a:spcPts val="300"/>
              </a:spcAft>
            </a:pPr>
            <a:r>
              <a:rPr sz="1050" b="0">
                <a:solidFill>
                  <a:srgbClr val="5B6372"/>
                </a:solidFill>
                <a:latin typeface="Arial"/>
              </a:rPr>
              <a:t>Blindly reapplying a stack can overwrite an emergency repair before it is understood.</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EVIDENCE</a:t>
            </a:r>
          </a:p>
          <a:p>
            <a:pPr algn="l">
              <a:spcAft>
                <a:spcPts val="300"/>
              </a:spcAft>
            </a:pPr>
            <a:r>
              <a:rPr sz="1050" b="0">
                <a:solidFill>
                  <a:srgbClr val="5B6372"/>
                </a:solidFill>
                <a:latin typeface="Arial"/>
              </a:rPr>
              <a:t>Drift result, actor from CloudTrail, approved exception, change set and post-remediation state.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216</a:t>
            </a:r>
          </a:p>
        </p:txBody>
      </p:sp>
    </p:spTree>
  </p:cSld>
  <p:clrMapOvr>
    <a:masterClrMapping/>
  </p:clrMapOvr>
  <p:transition xmlns:p14="http://schemas.microsoft.com/office/powerpoint/2010/main" p14:dur="380">
    <p:fade/>
  </p:transition>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DOMAIN 2 · PROCESS MODEL</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Drift, change control and rollback: operating flow</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6354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79829"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982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Detect drift</a:t>
            </a:r>
          </a:p>
        </p:txBody>
      </p:sp>
      <p:sp>
        <p:nvSpPr>
          <p:cNvPr id="12" name="Rectangle 11"/>
          <p:cNvSpPr/>
          <p:nvPr/>
        </p:nvSpPr>
        <p:spPr>
          <a:xfrm>
            <a:off x="2969971"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69971" y="2148840"/>
            <a:ext cx="186354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572560"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72560"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6" name="TextBox 15"/>
          <p:cNvSpPr txBox="1"/>
          <p:nvPr/>
        </p:nvSpPr>
        <p:spPr>
          <a:xfrm>
            <a:off x="3088843"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Identify actor</a:t>
            </a:r>
          </a:p>
        </p:txBody>
      </p:sp>
      <p:sp>
        <p:nvSpPr>
          <p:cNvPr id="17" name="Rectangle 16"/>
          <p:cNvSpPr/>
          <p:nvPr/>
        </p:nvSpPr>
        <p:spPr>
          <a:xfrm>
            <a:off x="5162702"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62702" y="2148840"/>
            <a:ext cx="186354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765291"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6529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1" name="TextBox 20"/>
          <p:cNvSpPr txBox="1"/>
          <p:nvPr/>
        </p:nvSpPr>
        <p:spPr>
          <a:xfrm>
            <a:off x="5281574"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Classify intent</a:t>
            </a:r>
          </a:p>
        </p:txBody>
      </p:sp>
      <p:sp>
        <p:nvSpPr>
          <p:cNvPr id="22" name="Rectangle 21"/>
          <p:cNvSpPr/>
          <p:nvPr/>
        </p:nvSpPr>
        <p:spPr>
          <a:xfrm>
            <a:off x="7355433"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355433" y="2148840"/>
            <a:ext cx="186354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958022"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5802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6" name="TextBox 25"/>
          <p:cNvSpPr txBox="1"/>
          <p:nvPr/>
        </p:nvSpPr>
        <p:spPr>
          <a:xfrm>
            <a:off x="7474305"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Update code or remediate</a:t>
            </a:r>
          </a:p>
        </p:txBody>
      </p:sp>
      <p:sp>
        <p:nvSpPr>
          <p:cNvPr id="27" name="Rectangle 26"/>
          <p:cNvSpPr/>
          <p:nvPr/>
        </p:nvSpPr>
        <p:spPr>
          <a:xfrm>
            <a:off x="9548164"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548164" y="2148840"/>
            <a:ext cx="1863547" cy="914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50753" y="2532888"/>
            <a:ext cx="658368" cy="658368"/>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5075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5</a:t>
            </a:r>
          </a:p>
        </p:txBody>
      </p:sp>
      <p:sp>
        <p:nvSpPr>
          <p:cNvPr id="31" name="TextBox 30"/>
          <p:cNvSpPr txBox="1"/>
          <p:nvPr/>
        </p:nvSpPr>
        <p:spPr>
          <a:xfrm>
            <a:off x="9667036"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Recheck</a:t>
            </a:r>
          </a:p>
        </p:txBody>
      </p:sp>
      <p:cxnSp>
        <p:nvCxnSpPr>
          <p:cNvPr id="32" name="Connector 31"/>
          <p:cNvCxnSpPr/>
          <p:nvPr/>
        </p:nvCxnSpPr>
        <p:spPr>
          <a:xfrm>
            <a:off x="2640787"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83351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026249"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21898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7C3AED"/>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8" name="TextBox 3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9" name="TextBox 3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0" name="TextBox 3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217</a:t>
            </a:r>
          </a:p>
        </p:txBody>
      </p:sp>
    </p:spTree>
  </p:cSld>
  <p:clrMapOvr>
    <a:masterClrMapping/>
  </p:clrMapOvr>
  <p:transition xmlns:p14="http://schemas.microsoft.com/office/powerpoint/2010/main" p14:dur="380">
    <p:fade/>
  </p:transition>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DOMAIN 2 ·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Drift, change control and rollback: design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83280" cy="43708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708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01168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011680"/>
            <a:ext cx="530352" cy="530352"/>
          </a:xfrm>
          <a:prstGeom prst="rect">
            <a:avLst/>
          </a:prstGeom>
          <a:noFill/>
        </p:spPr>
        <p:txBody>
          <a:bodyPr wrap="square" anchor="ctr">
            <a:spAutoFit/>
          </a:bodyPr>
          <a:lstStyle/>
          <a:p>
            <a:pPr algn="ctr">
              <a:spcAft>
                <a:spcPts val="400"/>
              </a:spcAft>
            </a:pPr>
            <a:r>
              <a:rPr sz="2000" b="1">
                <a:solidFill>
                  <a:srgbClr val="FFFFFF"/>
                </a:solidFill>
                <a:latin typeface="Arial"/>
              </a:rPr>
              <a:t>?</a:t>
            </a:r>
          </a:p>
        </p:txBody>
      </p:sp>
      <p:sp>
        <p:nvSpPr>
          <p:cNvPr id="11" name="TextBox 10"/>
          <p:cNvSpPr txBox="1"/>
          <p:nvPr/>
        </p:nvSpPr>
        <p:spPr>
          <a:xfrm>
            <a:off x="1709928" y="1984248"/>
            <a:ext cx="2212848" cy="502920"/>
          </a:xfrm>
          <a:prstGeom prst="rect">
            <a:avLst/>
          </a:prstGeom>
          <a:noFill/>
        </p:spPr>
        <p:txBody>
          <a:bodyPr wrap="square" anchor="ctr">
            <a:spAutoFit/>
          </a:bodyPr>
          <a:lstStyle/>
          <a:p>
            <a:pPr algn="l">
              <a:spcAft>
                <a:spcPts val="400"/>
              </a:spcAft>
            </a:pPr>
            <a:r>
              <a:rPr sz="1350" b="1">
                <a:solidFill>
                  <a:srgbClr val="7C3AED"/>
                </a:solidFill>
                <a:latin typeface="Arial"/>
              </a:rPr>
              <a:t>SCENARIO</a:t>
            </a:r>
          </a:p>
        </p:txBody>
      </p:sp>
      <p:sp>
        <p:nvSpPr>
          <p:cNvPr id="12" name="TextBox 11"/>
          <p:cNvSpPr txBox="1"/>
          <p:nvPr/>
        </p:nvSpPr>
        <p:spPr>
          <a:xfrm>
            <a:off x="1051560" y="2743200"/>
            <a:ext cx="2834640" cy="3136392"/>
          </a:xfrm>
          <a:prstGeom prst="rect">
            <a:avLst/>
          </a:prstGeom>
          <a:noFill/>
        </p:spPr>
        <p:txBody>
          <a:bodyPr wrap="square" anchor="t">
            <a:spAutoFit/>
          </a:bodyPr>
          <a:lstStyle/>
          <a:p>
            <a:pPr algn="l">
              <a:spcAft>
                <a:spcPts val="400"/>
              </a:spcAft>
            </a:pPr>
            <a:r>
              <a:rPr sz="1300" b="0">
                <a:solidFill>
                  <a:srgbClr val="161B26"/>
                </a:solidFill>
                <a:latin typeface="Arial"/>
              </a:rPr>
              <a:t>An operator changes a security group during an incident and forgets to restore it.</a:t>
            </a:r>
          </a:p>
        </p:txBody>
      </p:sp>
      <p:sp>
        <p:nvSpPr>
          <p:cNvPr id="13" name="Rectangle 12"/>
          <p:cNvSpPr/>
          <p:nvPr/>
        </p:nvSpPr>
        <p:spPr>
          <a:xfrm>
            <a:off x="4434840"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34840" y="1783080"/>
            <a:ext cx="91440"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636008" y="1965960"/>
            <a:ext cx="438912" cy="43891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6008"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7" name="TextBox 16"/>
          <p:cNvSpPr txBox="1"/>
          <p:nvPr/>
        </p:nvSpPr>
        <p:spPr>
          <a:xfrm>
            <a:off x="5212080" y="1929384"/>
            <a:ext cx="2286000" cy="475488"/>
          </a:xfrm>
          <a:prstGeom prst="rect">
            <a:avLst/>
          </a:prstGeom>
          <a:noFill/>
        </p:spPr>
        <p:txBody>
          <a:bodyPr wrap="square" anchor="ctr">
            <a:spAutoFit/>
          </a:bodyPr>
          <a:lstStyle/>
          <a:p>
            <a:pPr algn="l">
              <a:spcAft>
                <a:spcPts val="400"/>
              </a:spcAft>
            </a:pPr>
            <a:r>
              <a:rPr sz="1250" b="1">
                <a:solidFill>
                  <a:srgbClr val="10B981"/>
                </a:solidFill>
                <a:latin typeface="Arial"/>
              </a:rPr>
              <a:t>DESIGN RESPONSE</a:t>
            </a:r>
          </a:p>
        </p:txBody>
      </p:sp>
      <p:sp>
        <p:nvSpPr>
          <p:cNvPr id="18" name="TextBox 17"/>
          <p:cNvSpPr txBox="1"/>
          <p:nvPr/>
        </p:nvSpPr>
        <p:spPr>
          <a:xfrm>
            <a:off x="4663440"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Schedule drift detection, triage intent, import legitimate changes into code or remediate unauthorized variance.</a:t>
            </a:r>
          </a:p>
        </p:txBody>
      </p:sp>
      <p:sp>
        <p:nvSpPr>
          <p:cNvPr id="19" name="Rectangle 18"/>
          <p:cNvSpPr/>
          <p:nvPr/>
        </p:nvSpPr>
        <p:spPr>
          <a:xfrm>
            <a:off x="7973568"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973568" y="1783080"/>
            <a:ext cx="91440" cy="21488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174736" y="1965960"/>
            <a:ext cx="438912" cy="43891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74736"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23" name="TextBox 22"/>
          <p:cNvSpPr txBox="1"/>
          <p:nvPr/>
        </p:nvSpPr>
        <p:spPr>
          <a:xfrm>
            <a:off x="8750808" y="1929384"/>
            <a:ext cx="2286000" cy="475488"/>
          </a:xfrm>
          <a:prstGeom prst="rect">
            <a:avLst/>
          </a:prstGeom>
          <a:noFill/>
        </p:spPr>
        <p:txBody>
          <a:bodyPr wrap="square" anchor="ctr">
            <a:spAutoFit/>
          </a:bodyPr>
          <a:lstStyle/>
          <a:p>
            <a:pPr algn="l">
              <a:spcAft>
                <a:spcPts val="400"/>
              </a:spcAft>
            </a:pPr>
            <a:r>
              <a:rPr sz="1250" b="1">
                <a:solidFill>
                  <a:srgbClr val="7C3AED"/>
                </a:solidFill>
                <a:latin typeface="Arial"/>
              </a:rPr>
              <a:t>PRIMARY SERVICES</a:t>
            </a:r>
          </a:p>
        </p:txBody>
      </p:sp>
      <p:sp>
        <p:nvSpPr>
          <p:cNvPr id="24" name="TextBox 23"/>
          <p:cNvSpPr txBox="1"/>
          <p:nvPr/>
        </p:nvSpPr>
        <p:spPr>
          <a:xfrm>
            <a:off x="8202168"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CloudFormation Drift · Config · Change Sets</a:t>
            </a:r>
          </a:p>
        </p:txBody>
      </p:sp>
      <p:sp>
        <p:nvSpPr>
          <p:cNvPr id="25" name="Rectangle 24"/>
          <p:cNvSpPr/>
          <p:nvPr/>
        </p:nvSpPr>
        <p:spPr>
          <a:xfrm>
            <a:off x="4434840"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34840" y="4005072"/>
            <a:ext cx="91440" cy="21488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636008" y="4187952"/>
            <a:ext cx="438912" cy="43891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36008"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9" name="TextBox 28"/>
          <p:cNvSpPr txBox="1"/>
          <p:nvPr/>
        </p:nvSpPr>
        <p:spPr>
          <a:xfrm>
            <a:off x="5212080" y="4151376"/>
            <a:ext cx="2286000" cy="475488"/>
          </a:xfrm>
          <a:prstGeom prst="rect">
            <a:avLst/>
          </a:prstGeom>
          <a:noFill/>
        </p:spPr>
        <p:txBody>
          <a:bodyPr wrap="square" anchor="ctr">
            <a:spAutoFit/>
          </a:bodyPr>
          <a:lstStyle/>
          <a:p>
            <a:pPr algn="l">
              <a:spcAft>
                <a:spcPts val="400"/>
              </a:spcAft>
            </a:pPr>
            <a:r>
              <a:rPr sz="1250" b="1">
                <a:solidFill>
                  <a:srgbClr val="F59E0B"/>
                </a:solidFill>
                <a:latin typeface="Arial"/>
              </a:rPr>
              <a:t>FAILURE MODE</a:t>
            </a:r>
          </a:p>
        </p:txBody>
      </p:sp>
      <p:sp>
        <p:nvSpPr>
          <p:cNvPr id="30" name="TextBox 29"/>
          <p:cNvSpPr txBox="1"/>
          <p:nvPr/>
        </p:nvSpPr>
        <p:spPr>
          <a:xfrm>
            <a:off x="4663440"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Blindly reapplying a stack can overwrite an emergency repair before it is understood.</a:t>
            </a:r>
          </a:p>
        </p:txBody>
      </p:sp>
      <p:sp>
        <p:nvSpPr>
          <p:cNvPr id="31" name="Rectangle 30"/>
          <p:cNvSpPr/>
          <p:nvPr/>
        </p:nvSpPr>
        <p:spPr>
          <a:xfrm>
            <a:off x="7973568"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73568" y="4005072"/>
            <a:ext cx="91440" cy="21488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174736" y="4187952"/>
            <a:ext cx="438912" cy="438912"/>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74736"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5" name="TextBox 34"/>
          <p:cNvSpPr txBox="1"/>
          <p:nvPr/>
        </p:nvSpPr>
        <p:spPr>
          <a:xfrm>
            <a:off x="8750808" y="4151376"/>
            <a:ext cx="2286000" cy="475488"/>
          </a:xfrm>
          <a:prstGeom prst="rect">
            <a:avLst/>
          </a:prstGeom>
          <a:noFill/>
        </p:spPr>
        <p:txBody>
          <a:bodyPr wrap="square" anchor="ctr">
            <a:spAutoFit/>
          </a:bodyPr>
          <a:lstStyle/>
          <a:p>
            <a:pPr algn="l">
              <a:spcAft>
                <a:spcPts val="400"/>
              </a:spcAft>
            </a:pPr>
            <a:r>
              <a:rPr sz="1250" b="1">
                <a:solidFill>
                  <a:srgbClr val="EC711E"/>
                </a:solidFill>
                <a:latin typeface="Arial"/>
              </a:rPr>
              <a:t>PROOF</a:t>
            </a:r>
          </a:p>
        </p:txBody>
      </p:sp>
      <p:sp>
        <p:nvSpPr>
          <p:cNvPr id="36" name="TextBox 35"/>
          <p:cNvSpPr txBox="1"/>
          <p:nvPr/>
        </p:nvSpPr>
        <p:spPr>
          <a:xfrm>
            <a:off x="8202168"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Drift result, actor from CloudTrail, approved exception, change set and post-remediation state.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218</a:t>
            </a:r>
          </a:p>
        </p:txBody>
      </p:sp>
    </p:spTree>
  </p:cSld>
  <p:clrMapOvr>
    <a:masterClrMapping/>
  </p:clrMapOvr>
  <p:transition xmlns:p14="http://schemas.microsoft.com/office/powerpoint/2010/main" p14:dur="380">
    <p:fade/>
  </p:transition>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DOMAIN 2 · OPERATIONS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Drift, change control and rollback: failure diagnostic</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RECOGNISE</a:t>
            </a:r>
          </a:p>
          <a:p>
            <a:pPr algn="l">
              <a:spcAft>
                <a:spcPts val="300"/>
              </a:spcAft>
            </a:pPr>
            <a:r>
              <a:rPr sz="1050" b="0">
                <a:solidFill>
                  <a:srgbClr val="5B6372"/>
                </a:solidFill>
                <a:latin typeface="Arial"/>
              </a:rPr>
              <a:t>Observable failure condition: Blindly reapplying a stack can overwrite an emergency repair before it is understood.</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CONTAIN</a:t>
            </a:r>
          </a:p>
          <a:p>
            <a:pPr algn="l">
              <a:spcAft>
                <a:spcPts val="300"/>
              </a:spcAft>
            </a:pPr>
            <a:r>
              <a:rPr sz="1050" b="0">
                <a:solidFill>
                  <a:srgbClr val="5B6372"/>
                </a:solidFill>
                <a:latin typeface="Arial"/>
              </a:rPr>
              <a:t>Pause promotion, preserve evidence and reduce impact without destroying diagnostic state.</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DIAGNOSE</a:t>
            </a:r>
          </a:p>
          <a:p>
            <a:pPr algn="l">
              <a:spcAft>
                <a:spcPts val="300"/>
              </a:spcAft>
            </a:pPr>
            <a:r>
              <a:rPr sz="1050" b="0">
                <a:solidFill>
                  <a:srgbClr val="5B6372"/>
                </a:solidFill>
                <a:latin typeface="Arial"/>
              </a:rPr>
              <a:t>Trace the workflow from Detect drift through Recheck; compare intended configuration with runtime state.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RECOVER</a:t>
            </a:r>
          </a:p>
          <a:p>
            <a:pPr algn="l">
              <a:spcAft>
                <a:spcPts val="300"/>
              </a:spcAft>
            </a:pPr>
            <a:r>
              <a:rPr sz="1050" b="0">
                <a:solidFill>
                  <a:srgbClr val="5B6372"/>
                </a:solidFill>
                <a:latin typeface="Arial"/>
              </a:rPr>
              <a:t>Restore the last known-good state, then prove recovery with Drift result, actor from CloudTrail, approved exception, change set and post-remediation state.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219</a:t>
            </a:r>
          </a:p>
        </p:txBody>
      </p:sp>
    </p:spTree>
  </p:cSld>
  <p:clrMapOvr>
    <a:masterClrMapping/>
  </p:clrMapOvr>
  <p:transition xmlns:p14="http://schemas.microsoft.com/office/powerpoint/2010/main" p14:dur="380">
    <p:fade/>
  </p:transition>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DOMAIN 2 · APPLIED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Drift, change control and rollback: worked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CONSTRAINT</a:t>
            </a:r>
          </a:p>
          <a:p>
            <a:pPr algn="l">
              <a:spcAft>
                <a:spcPts val="300"/>
              </a:spcAft>
            </a:pPr>
            <a:r>
              <a:rPr sz="1050" b="0">
                <a:solidFill>
                  <a:srgbClr val="5B6372"/>
                </a:solidFill>
                <a:latin typeface="Arial"/>
              </a:rPr>
              <a:t>An operator changes a security group during an incident and forgets to restore it.</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DECISION</a:t>
            </a:r>
          </a:p>
          <a:p>
            <a:pPr algn="l">
              <a:spcAft>
                <a:spcPts val="300"/>
              </a:spcAft>
            </a:pPr>
            <a:r>
              <a:rPr sz="1050" b="0">
                <a:solidFill>
                  <a:srgbClr val="5B6372"/>
                </a:solidFill>
                <a:latin typeface="Arial"/>
              </a:rPr>
              <a:t>Schedule drift detection, triage intent, import legitimate changes into code or remediate unauthorized variance.</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WHY ALTERNATIVES LOSE</a:t>
            </a:r>
          </a:p>
          <a:p>
            <a:pPr algn="l">
              <a:spcAft>
                <a:spcPts val="300"/>
              </a:spcAft>
            </a:pPr>
            <a:r>
              <a:rPr sz="1050" b="0">
                <a:solidFill>
                  <a:srgbClr val="5B6372"/>
                </a:solidFill>
                <a:latin typeface="Arial"/>
              </a:rPr>
              <a:t>Reject options that do not change the stated failure boundary: Blindly reapplying a stack can overwrite an emergency repair before it is understood.</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ACCEPTANCE TEST</a:t>
            </a:r>
          </a:p>
          <a:p>
            <a:pPr algn="l">
              <a:spcAft>
                <a:spcPts val="300"/>
              </a:spcAft>
            </a:pPr>
            <a:r>
              <a:rPr sz="1050" b="0">
                <a:solidFill>
                  <a:srgbClr val="5B6372"/>
                </a:solidFill>
                <a:latin typeface="Arial"/>
              </a:rPr>
              <a:t>The decision is complete only when this proof exists: Drift result, actor from CloudTrail, approved exception, change set and post-remediation state.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220</a:t>
            </a:r>
          </a:p>
        </p:txBody>
      </p:sp>
    </p:spTree>
  </p:cSld>
  <p:clrMapOvr>
    <a:masterClrMapping/>
  </p:clrMapOvr>
  <p:transition xmlns:p14="http://schemas.microsoft.com/office/powerpoint/2010/main" p14:dur="380">
    <p:fade/>
  </p:transition>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DOMAIN 2 · CONFIGURATION MANAGEMENT AND IAC</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StackSets and account vending</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OUTCOME</a:t>
            </a:r>
          </a:p>
          <a:p>
            <a:pPr algn="l">
              <a:spcAft>
                <a:spcPts val="300"/>
              </a:spcAft>
            </a:pPr>
            <a:r>
              <a:rPr sz="1050" b="0">
                <a:solidFill>
                  <a:srgbClr val="5B6372"/>
                </a:solidFill>
                <a:latin typeface="Arial"/>
              </a:rPr>
              <a:t>Deploy mandatory baselines consistently as accounts and Regions are created.</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ARCHITECTURE</a:t>
            </a:r>
          </a:p>
          <a:p>
            <a:pPr algn="l">
              <a:spcAft>
                <a:spcPts val="300"/>
              </a:spcAft>
            </a:pPr>
            <a:r>
              <a:rPr sz="1050" b="0">
                <a:solidFill>
                  <a:srgbClr val="5B6372"/>
                </a:solidFill>
                <a:latin typeface="Arial"/>
              </a:rPr>
              <a:t>Use organizational units, delegated administration, automatic deployment and controlled failure tolerance.</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MODE</a:t>
            </a:r>
          </a:p>
          <a:p>
            <a:pPr algn="l">
              <a:spcAft>
                <a:spcPts val="300"/>
              </a:spcAft>
            </a:pPr>
            <a:r>
              <a:rPr sz="1050" b="0">
                <a:solidFill>
                  <a:srgbClr val="5B6372"/>
                </a:solidFill>
                <a:latin typeface="Arial"/>
              </a:rPr>
              <a:t>An aggressive concurrent rollout can spread a faulty baseline across the organization.</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EVIDENCE</a:t>
            </a:r>
          </a:p>
          <a:p>
            <a:pPr algn="l">
              <a:spcAft>
                <a:spcPts val="300"/>
              </a:spcAft>
            </a:pPr>
            <a:r>
              <a:rPr sz="1050" b="0">
                <a:solidFill>
                  <a:srgbClr val="5B6372"/>
                </a:solidFill>
                <a:latin typeface="Arial"/>
              </a:rPr>
              <a:t>OU target, permission model, operation preferences, per-account status and drift result.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221</a:t>
            </a:r>
          </a:p>
        </p:txBody>
      </p:sp>
    </p:spTree>
  </p:cSld>
  <p:clrMapOvr>
    <a:masterClrMapping/>
  </p:clrMapOvr>
  <p:transition xmlns:p14="http://schemas.microsoft.com/office/powerpoint/2010/main" p14:dur="380">
    <p:fade/>
  </p:transition>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DOMAIN 2 · PROCESS MODEL</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StackSets and account vending: operating flow</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6354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79829"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982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Create account</a:t>
            </a:r>
          </a:p>
        </p:txBody>
      </p:sp>
      <p:sp>
        <p:nvSpPr>
          <p:cNvPr id="12" name="Rectangle 11"/>
          <p:cNvSpPr/>
          <p:nvPr/>
        </p:nvSpPr>
        <p:spPr>
          <a:xfrm>
            <a:off x="2969971"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69971" y="2148840"/>
            <a:ext cx="186354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572560"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72560"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6" name="TextBox 15"/>
          <p:cNvSpPr txBox="1"/>
          <p:nvPr/>
        </p:nvSpPr>
        <p:spPr>
          <a:xfrm>
            <a:off x="3088843"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Place in OU</a:t>
            </a:r>
          </a:p>
        </p:txBody>
      </p:sp>
      <p:sp>
        <p:nvSpPr>
          <p:cNvPr id="17" name="Rectangle 16"/>
          <p:cNvSpPr/>
          <p:nvPr/>
        </p:nvSpPr>
        <p:spPr>
          <a:xfrm>
            <a:off x="5162702"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62702" y="2148840"/>
            <a:ext cx="186354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765291"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6529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1" name="TextBox 20"/>
          <p:cNvSpPr txBox="1"/>
          <p:nvPr/>
        </p:nvSpPr>
        <p:spPr>
          <a:xfrm>
            <a:off x="5281574"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Apply baseline Stack Set</a:t>
            </a:r>
          </a:p>
        </p:txBody>
      </p:sp>
      <p:sp>
        <p:nvSpPr>
          <p:cNvPr id="22" name="Rectangle 21"/>
          <p:cNvSpPr/>
          <p:nvPr/>
        </p:nvSpPr>
        <p:spPr>
          <a:xfrm>
            <a:off x="7355433"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355433" y="2148840"/>
            <a:ext cx="186354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958022"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5802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6" name="TextBox 25"/>
          <p:cNvSpPr txBox="1"/>
          <p:nvPr/>
        </p:nvSpPr>
        <p:spPr>
          <a:xfrm>
            <a:off x="7474305"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Verify guardrails</a:t>
            </a:r>
          </a:p>
        </p:txBody>
      </p:sp>
      <p:sp>
        <p:nvSpPr>
          <p:cNvPr id="27" name="Rectangle 26"/>
          <p:cNvSpPr/>
          <p:nvPr/>
        </p:nvSpPr>
        <p:spPr>
          <a:xfrm>
            <a:off x="9548164"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548164" y="2148840"/>
            <a:ext cx="1863547" cy="914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50753" y="2532888"/>
            <a:ext cx="658368" cy="658368"/>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5075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5</a:t>
            </a:r>
          </a:p>
        </p:txBody>
      </p:sp>
      <p:sp>
        <p:nvSpPr>
          <p:cNvPr id="31" name="TextBox 30"/>
          <p:cNvSpPr txBox="1"/>
          <p:nvPr/>
        </p:nvSpPr>
        <p:spPr>
          <a:xfrm>
            <a:off x="9667036"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Hand over</a:t>
            </a:r>
          </a:p>
        </p:txBody>
      </p:sp>
      <p:cxnSp>
        <p:nvCxnSpPr>
          <p:cNvPr id="32" name="Connector 31"/>
          <p:cNvCxnSpPr/>
          <p:nvPr/>
        </p:nvCxnSpPr>
        <p:spPr>
          <a:xfrm>
            <a:off x="2640787"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83351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026249"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21898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7C3AED"/>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8" name="TextBox 3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9" name="TextBox 3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0" name="TextBox 3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222</a:t>
            </a:r>
          </a:p>
        </p:txBody>
      </p:sp>
    </p:spTree>
  </p:cSld>
  <p:clrMapOvr>
    <a:masterClrMapping/>
  </p:clrMapOvr>
  <p:transition xmlns:p14="http://schemas.microsoft.com/office/powerpoint/2010/main" p14:dur="380">
    <p:fade/>
  </p:transition>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DOMAIN 2 ·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StackSets and account vending: design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83280" cy="43708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708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01168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011680"/>
            <a:ext cx="530352" cy="530352"/>
          </a:xfrm>
          <a:prstGeom prst="rect">
            <a:avLst/>
          </a:prstGeom>
          <a:noFill/>
        </p:spPr>
        <p:txBody>
          <a:bodyPr wrap="square" anchor="ctr">
            <a:spAutoFit/>
          </a:bodyPr>
          <a:lstStyle/>
          <a:p>
            <a:pPr algn="ctr">
              <a:spcAft>
                <a:spcPts val="400"/>
              </a:spcAft>
            </a:pPr>
            <a:r>
              <a:rPr sz="2000" b="1">
                <a:solidFill>
                  <a:srgbClr val="FFFFFF"/>
                </a:solidFill>
                <a:latin typeface="Arial"/>
              </a:rPr>
              <a:t>?</a:t>
            </a:r>
          </a:p>
        </p:txBody>
      </p:sp>
      <p:sp>
        <p:nvSpPr>
          <p:cNvPr id="11" name="TextBox 10"/>
          <p:cNvSpPr txBox="1"/>
          <p:nvPr/>
        </p:nvSpPr>
        <p:spPr>
          <a:xfrm>
            <a:off x="1709928" y="1984248"/>
            <a:ext cx="2212848" cy="502920"/>
          </a:xfrm>
          <a:prstGeom prst="rect">
            <a:avLst/>
          </a:prstGeom>
          <a:noFill/>
        </p:spPr>
        <p:txBody>
          <a:bodyPr wrap="square" anchor="ctr">
            <a:spAutoFit/>
          </a:bodyPr>
          <a:lstStyle/>
          <a:p>
            <a:pPr algn="l">
              <a:spcAft>
                <a:spcPts val="400"/>
              </a:spcAft>
            </a:pPr>
            <a:r>
              <a:rPr sz="1350" b="1">
                <a:solidFill>
                  <a:srgbClr val="7C3AED"/>
                </a:solidFill>
                <a:latin typeface="Arial"/>
              </a:rPr>
              <a:t>SCENARIO</a:t>
            </a:r>
          </a:p>
        </p:txBody>
      </p:sp>
      <p:sp>
        <p:nvSpPr>
          <p:cNvPr id="12" name="TextBox 11"/>
          <p:cNvSpPr txBox="1"/>
          <p:nvPr/>
        </p:nvSpPr>
        <p:spPr>
          <a:xfrm>
            <a:off x="1051560" y="2743200"/>
            <a:ext cx="2834640" cy="3136392"/>
          </a:xfrm>
          <a:prstGeom prst="rect">
            <a:avLst/>
          </a:prstGeom>
          <a:noFill/>
        </p:spPr>
        <p:txBody>
          <a:bodyPr wrap="square" anchor="t">
            <a:spAutoFit/>
          </a:bodyPr>
          <a:lstStyle/>
          <a:p>
            <a:pPr algn="l">
              <a:spcAft>
                <a:spcPts val="400"/>
              </a:spcAft>
            </a:pPr>
            <a:r>
              <a:rPr sz="1300" b="0">
                <a:solidFill>
                  <a:srgbClr val="161B26"/>
                </a:solidFill>
                <a:latin typeface="Arial"/>
              </a:rPr>
              <a:t>A new production account must receive logging, security roles and Config before application access.</a:t>
            </a:r>
          </a:p>
        </p:txBody>
      </p:sp>
      <p:sp>
        <p:nvSpPr>
          <p:cNvPr id="13" name="Rectangle 12"/>
          <p:cNvSpPr/>
          <p:nvPr/>
        </p:nvSpPr>
        <p:spPr>
          <a:xfrm>
            <a:off x="4434840"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34840" y="1783080"/>
            <a:ext cx="91440"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636008" y="1965960"/>
            <a:ext cx="438912" cy="43891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6008"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7" name="TextBox 16"/>
          <p:cNvSpPr txBox="1"/>
          <p:nvPr/>
        </p:nvSpPr>
        <p:spPr>
          <a:xfrm>
            <a:off x="5212080" y="1929384"/>
            <a:ext cx="2286000" cy="475488"/>
          </a:xfrm>
          <a:prstGeom prst="rect">
            <a:avLst/>
          </a:prstGeom>
          <a:noFill/>
        </p:spPr>
        <p:txBody>
          <a:bodyPr wrap="square" anchor="ctr">
            <a:spAutoFit/>
          </a:bodyPr>
          <a:lstStyle/>
          <a:p>
            <a:pPr algn="l">
              <a:spcAft>
                <a:spcPts val="400"/>
              </a:spcAft>
            </a:pPr>
            <a:r>
              <a:rPr sz="1250" b="1">
                <a:solidFill>
                  <a:srgbClr val="10B981"/>
                </a:solidFill>
                <a:latin typeface="Arial"/>
              </a:rPr>
              <a:t>DESIGN RESPONSE</a:t>
            </a:r>
          </a:p>
        </p:txBody>
      </p:sp>
      <p:sp>
        <p:nvSpPr>
          <p:cNvPr id="18" name="TextBox 17"/>
          <p:cNvSpPr txBox="1"/>
          <p:nvPr/>
        </p:nvSpPr>
        <p:spPr>
          <a:xfrm>
            <a:off x="4663440"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Use organizational units, delegated administration, automatic deployment and controlled failure tolerance.</a:t>
            </a:r>
          </a:p>
        </p:txBody>
      </p:sp>
      <p:sp>
        <p:nvSpPr>
          <p:cNvPr id="19" name="Rectangle 18"/>
          <p:cNvSpPr/>
          <p:nvPr/>
        </p:nvSpPr>
        <p:spPr>
          <a:xfrm>
            <a:off x="7973568"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973568" y="1783080"/>
            <a:ext cx="91440" cy="21488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174736" y="1965960"/>
            <a:ext cx="438912" cy="43891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74736"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23" name="TextBox 22"/>
          <p:cNvSpPr txBox="1"/>
          <p:nvPr/>
        </p:nvSpPr>
        <p:spPr>
          <a:xfrm>
            <a:off x="8750808" y="1929384"/>
            <a:ext cx="2286000" cy="475488"/>
          </a:xfrm>
          <a:prstGeom prst="rect">
            <a:avLst/>
          </a:prstGeom>
          <a:noFill/>
        </p:spPr>
        <p:txBody>
          <a:bodyPr wrap="square" anchor="ctr">
            <a:spAutoFit/>
          </a:bodyPr>
          <a:lstStyle/>
          <a:p>
            <a:pPr algn="l">
              <a:spcAft>
                <a:spcPts val="400"/>
              </a:spcAft>
            </a:pPr>
            <a:r>
              <a:rPr sz="1250" b="1">
                <a:solidFill>
                  <a:srgbClr val="7C3AED"/>
                </a:solidFill>
                <a:latin typeface="Arial"/>
              </a:rPr>
              <a:t>PRIMARY SERVICES</a:t>
            </a:r>
          </a:p>
        </p:txBody>
      </p:sp>
      <p:sp>
        <p:nvSpPr>
          <p:cNvPr id="24" name="TextBox 23"/>
          <p:cNvSpPr txBox="1"/>
          <p:nvPr/>
        </p:nvSpPr>
        <p:spPr>
          <a:xfrm>
            <a:off x="8202168"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Organizations · StackSets · Control Tower · Account Factory</a:t>
            </a:r>
          </a:p>
        </p:txBody>
      </p:sp>
      <p:sp>
        <p:nvSpPr>
          <p:cNvPr id="25" name="Rectangle 24"/>
          <p:cNvSpPr/>
          <p:nvPr/>
        </p:nvSpPr>
        <p:spPr>
          <a:xfrm>
            <a:off x="4434840"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34840" y="4005072"/>
            <a:ext cx="91440" cy="21488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636008" y="4187952"/>
            <a:ext cx="438912" cy="43891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36008"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9" name="TextBox 28"/>
          <p:cNvSpPr txBox="1"/>
          <p:nvPr/>
        </p:nvSpPr>
        <p:spPr>
          <a:xfrm>
            <a:off x="5212080" y="4151376"/>
            <a:ext cx="2286000" cy="475488"/>
          </a:xfrm>
          <a:prstGeom prst="rect">
            <a:avLst/>
          </a:prstGeom>
          <a:noFill/>
        </p:spPr>
        <p:txBody>
          <a:bodyPr wrap="square" anchor="ctr">
            <a:spAutoFit/>
          </a:bodyPr>
          <a:lstStyle/>
          <a:p>
            <a:pPr algn="l">
              <a:spcAft>
                <a:spcPts val="400"/>
              </a:spcAft>
            </a:pPr>
            <a:r>
              <a:rPr sz="1250" b="1">
                <a:solidFill>
                  <a:srgbClr val="F59E0B"/>
                </a:solidFill>
                <a:latin typeface="Arial"/>
              </a:rPr>
              <a:t>FAILURE MODE</a:t>
            </a:r>
          </a:p>
        </p:txBody>
      </p:sp>
      <p:sp>
        <p:nvSpPr>
          <p:cNvPr id="30" name="TextBox 29"/>
          <p:cNvSpPr txBox="1"/>
          <p:nvPr/>
        </p:nvSpPr>
        <p:spPr>
          <a:xfrm>
            <a:off x="4663440"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An aggressive concurrent rollout can spread a faulty baseline across the organization.</a:t>
            </a:r>
          </a:p>
        </p:txBody>
      </p:sp>
      <p:sp>
        <p:nvSpPr>
          <p:cNvPr id="31" name="Rectangle 30"/>
          <p:cNvSpPr/>
          <p:nvPr/>
        </p:nvSpPr>
        <p:spPr>
          <a:xfrm>
            <a:off x="7973568"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73568" y="4005072"/>
            <a:ext cx="91440" cy="21488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174736" y="4187952"/>
            <a:ext cx="438912" cy="438912"/>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74736"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5" name="TextBox 34"/>
          <p:cNvSpPr txBox="1"/>
          <p:nvPr/>
        </p:nvSpPr>
        <p:spPr>
          <a:xfrm>
            <a:off x="8750808" y="4151376"/>
            <a:ext cx="2286000" cy="475488"/>
          </a:xfrm>
          <a:prstGeom prst="rect">
            <a:avLst/>
          </a:prstGeom>
          <a:noFill/>
        </p:spPr>
        <p:txBody>
          <a:bodyPr wrap="square" anchor="ctr">
            <a:spAutoFit/>
          </a:bodyPr>
          <a:lstStyle/>
          <a:p>
            <a:pPr algn="l">
              <a:spcAft>
                <a:spcPts val="400"/>
              </a:spcAft>
            </a:pPr>
            <a:r>
              <a:rPr sz="1250" b="1">
                <a:solidFill>
                  <a:srgbClr val="EC711E"/>
                </a:solidFill>
                <a:latin typeface="Arial"/>
              </a:rPr>
              <a:t>PROOF</a:t>
            </a:r>
          </a:p>
        </p:txBody>
      </p:sp>
      <p:sp>
        <p:nvSpPr>
          <p:cNvPr id="36" name="TextBox 35"/>
          <p:cNvSpPr txBox="1"/>
          <p:nvPr/>
        </p:nvSpPr>
        <p:spPr>
          <a:xfrm>
            <a:off x="8202168"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OU target, permission model, operation preferences, per-account status and drift result.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223</a:t>
            </a:r>
          </a:p>
        </p:txBody>
      </p:sp>
    </p:spTree>
  </p:cSld>
  <p:clrMapOvr>
    <a:masterClrMapping/>
  </p:clrMapOvr>
  <p:transition xmlns:p14="http://schemas.microsoft.com/office/powerpoint/2010/main" p14:dur="380">
    <p:fade/>
  </p:transition>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DOMAIN 2 · OPERATIONS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StackSets and account vending: failure diagnostic</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RECOGNISE</a:t>
            </a:r>
          </a:p>
          <a:p>
            <a:pPr algn="l">
              <a:spcAft>
                <a:spcPts val="300"/>
              </a:spcAft>
            </a:pPr>
            <a:r>
              <a:rPr sz="1050" b="0">
                <a:solidFill>
                  <a:srgbClr val="5B6372"/>
                </a:solidFill>
                <a:latin typeface="Arial"/>
              </a:rPr>
              <a:t>Observable failure condition: An aggressive concurrent rollout can spread a faulty baseline across the organization.</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CONTAIN</a:t>
            </a:r>
          </a:p>
          <a:p>
            <a:pPr algn="l">
              <a:spcAft>
                <a:spcPts val="300"/>
              </a:spcAft>
            </a:pPr>
            <a:r>
              <a:rPr sz="1050" b="0">
                <a:solidFill>
                  <a:srgbClr val="5B6372"/>
                </a:solidFill>
                <a:latin typeface="Arial"/>
              </a:rPr>
              <a:t>Pause promotion, preserve evidence and reduce impact without destroying diagnostic state.</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DIAGNOSE</a:t>
            </a:r>
          </a:p>
          <a:p>
            <a:pPr algn="l">
              <a:spcAft>
                <a:spcPts val="300"/>
              </a:spcAft>
            </a:pPr>
            <a:r>
              <a:rPr sz="1050" b="0">
                <a:solidFill>
                  <a:srgbClr val="5B6372"/>
                </a:solidFill>
                <a:latin typeface="Arial"/>
              </a:rPr>
              <a:t>Trace the workflow from Create account through Hand over; compare intended configuration with runtime state.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RECOVER</a:t>
            </a:r>
          </a:p>
          <a:p>
            <a:pPr algn="l">
              <a:spcAft>
                <a:spcPts val="300"/>
              </a:spcAft>
            </a:pPr>
            <a:r>
              <a:rPr sz="1050" b="0">
                <a:solidFill>
                  <a:srgbClr val="5B6372"/>
                </a:solidFill>
                <a:latin typeface="Arial"/>
              </a:rPr>
              <a:t>Restore the last known-good state, then prove recovery with OU target, permission model, operation preferences, per-account status and drift result.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224</a:t>
            </a:r>
          </a:p>
        </p:txBody>
      </p:sp>
    </p:spTree>
  </p:cSld>
  <p:clrMapOvr>
    <a:masterClrMapping/>
  </p:clrMapOvr>
  <p:transition xmlns:p14="http://schemas.microsoft.com/office/powerpoint/2010/main" p14:dur="380">
    <p:fade/>
  </p:transition>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DOMAIN 2 · APPLIED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StackSets and account vending: worked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CONSTRAINT</a:t>
            </a:r>
          </a:p>
          <a:p>
            <a:pPr algn="l">
              <a:spcAft>
                <a:spcPts val="300"/>
              </a:spcAft>
            </a:pPr>
            <a:r>
              <a:rPr sz="1050" b="0">
                <a:solidFill>
                  <a:srgbClr val="5B6372"/>
                </a:solidFill>
                <a:latin typeface="Arial"/>
              </a:rPr>
              <a:t>A new production account must receive logging, security roles and Config before application access.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DECISION</a:t>
            </a:r>
          </a:p>
          <a:p>
            <a:pPr algn="l">
              <a:spcAft>
                <a:spcPts val="300"/>
              </a:spcAft>
            </a:pPr>
            <a:r>
              <a:rPr sz="1050" b="0">
                <a:solidFill>
                  <a:srgbClr val="5B6372"/>
                </a:solidFill>
                <a:latin typeface="Arial"/>
              </a:rPr>
              <a:t>Use organizational units, delegated administration, automatic deployment and controlled failure tolerance.</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WHY ALTERNATIVES LOSE</a:t>
            </a:r>
          </a:p>
          <a:p>
            <a:pPr algn="l">
              <a:spcAft>
                <a:spcPts val="300"/>
              </a:spcAft>
            </a:pPr>
            <a:r>
              <a:rPr sz="1050" b="0">
                <a:solidFill>
                  <a:srgbClr val="5B6372"/>
                </a:solidFill>
                <a:latin typeface="Arial"/>
              </a:rPr>
              <a:t>Reject options that do not change the stated failure boundary: An aggressive concurrent rollout can spread a faulty baseline across the organization.</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ACCEPTANCE TEST</a:t>
            </a:r>
          </a:p>
          <a:p>
            <a:pPr algn="l">
              <a:spcAft>
                <a:spcPts val="300"/>
              </a:spcAft>
            </a:pPr>
            <a:r>
              <a:rPr sz="1050" b="0">
                <a:solidFill>
                  <a:srgbClr val="5B6372"/>
                </a:solidFill>
                <a:latin typeface="Arial"/>
              </a:rPr>
              <a:t>The decision is complete only when this proof exists: OU target, permission model, operation preferences, per-account status and drift result.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225</a:t>
            </a:r>
          </a:p>
        </p:txBody>
      </p:sp>
    </p:spTree>
  </p:cSld>
  <p:clrMapOvr>
    <a:masterClrMapping/>
  </p:clrMapOvr>
  <p:transition xmlns:p14="http://schemas.microsoft.com/office/powerpoint/2010/main" p14:dur="380">
    <p:fade/>
  </p:transition>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DOMAIN 2 · CONFIGURATION MANAGEMENT AND IAC</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Systems Manager fleet automation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OUTCOME</a:t>
            </a:r>
          </a:p>
          <a:p>
            <a:pPr algn="l">
              <a:spcAft>
                <a:spcPts val="300"/>
              </a:spcAft>
            </a:pPr>
            <a:r>
              <a:rPr sz="1050" b="0">
                <a:solidFill>
                  <a:srgbClr val="5B6372"/>
                </a:solidFill>
                <a:latin typeface="Arial"/>
              </a:rPr>
              <a:t>Operate hybrid and EC2 fleets without inbound administrative ports or unmanaged scripts.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ARCHITECTURE</a:t>
            </a:r>
          </a:p>
          <a:p>
            <a:pPr algn="l">
              <a:spcAft>
                <a:spcPts val="300"/>
              </a:spcAft>
            </a:pPr>
            <a:r>
              <a:rPr sz="1050" b="0">
                <a:solidFill>
                  <a:srgbClr val="5B6372"/>
                </a:solidFill>
                <a:latin typeface="Arial"/>
              </a:rPr>
              <a:t>Use tags, documents, maintenance windows, rate controls, concurrency limits and command output encryption.</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MODE</a:t>
            </a:r>
          </a:p>
          <a:p>
            <a:pPr algn="l">
              <a:spcAft>
                <a:spcPts val="300"/>
              </a:spcAft>
            </a:pPr>
            <a:r>
              <a:rPr sz="1050" b="0">
                <a:solidFill>
                  <a:srgbClr val="5B6372"/>
                </a:solidFill>
                <a:latin typeface="Arial"/>
              </a:rPr>
              <a:t>A fleet-wide command without error thresholds can create a synchronized outage.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EVIDENCE</a:t>
            </a:r>
          </a:p>
          <a:p>
            <a:pPr algn="l">
              <a:spcAft>
                <a:spcPts val="300"/>
              </a:spcAft>
            </a:pPr>
            <a:r>
              <a:rPr sz="1050" b="0">
                <a:solidFill>
                  <a:srgbClr val="5B6372"/>
                </a:solidFill>
                <a:latin typeface="Arial"/>
              </a:rPr>
              <a:t>Target query, document version, invocation output, compliance result and exception record.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226</a:t>
            </a:r>
          </a:p>
        </p:txBody>
      </p:sp>
    </p:spTree>
  </p:cSld>
  <p:clrMapOvr>
    <a:masterClrMapping/>
  </p:clrMapOvr>
  <p:transition xmlns:p14="http://schemas.microsoft.com/office/powerpoint/2010/main" p14:dur="380">
    <p:fade/>
  </p:transition>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DOMAIN 2 · PROCESS MODEL</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Systems Manager fleet automation: operating flow</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6354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79829"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982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Select by tag</a:t>
            </a:r>
          </a:p>
        </p:txBody>
      </p:sp>
      <p:sp>
        <p:nvSpPr>
          <p:cNvPr id="12" name="Rectangle 11"/>
          <p:cNvSpPr/>
          <p:nvPr/>
        </p:nvSpPr>
        <p:spPr>
          <a:xfrm>
            <a:off x="2969971"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69971" y="2148840"/>
            <a:ext cx="186354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572560"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72560"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6" name="TextBox 15"/>
          <p:cNvSpPr txBox="1"/>
          <p:nvPr/>
        </p:nvSpPr>
        <p:spPr>
          <a:xfrm>
            <a:off x="3088843"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Run canary</a:t>
            </a:r>
          </a:p>
        </p:txBody>
      </p:sp>
      <p:sp>
        <p:nvSpPr>
          <p:cNvPr id="17" name="Rectangle 16"/>
          <p:cNvSpPr/>
          <p:nvPr/>
        </p:nvSpPr>
        <p:spPr>
          <a:xfrm>
            <a:off x="5162702"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62702" y="2148840"/>
            <a:ext cx="186354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765291"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6529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1" name="TextBox 20"/>
          <p:cNvSpPr txBox="1"/>
          <p:nvPr/>
        </p:nvSpPr>
        <p:spPr>
          <a:xfrm>
            <a:off x="5281574"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Check output</a:t>
            </a:r>
          </a:p>
        </p:txBody>
      </p:sp>
      <p:sp>
        <p:nvSpPr>
          <p:cNvPr id="22" name="Rectangle 21"/>
          <p:cNvSpPr/>
          <p:nvPr/>
        </p:nvSpPr>
        <p:spPr>
          <a:xfrm>
            <a:off x="7355433"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355433" y="2148840"/>
            <a:ext cx="186354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958022"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5802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6" name="TextBox 25"/>
          <p:cNvSpPr txBox="1"/>
          <p:nvPr/>
        </p:nvSpPr>
        <p:spPr>
          <a:xfrm>
            <a:off x="7474305"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Expand concurrency</a:t>
            </a:r>
          </a:p>
        </p:txBody>
      </p:sp>
      <p:sp>
        <p:nvSpPr>
          <p:cNvPr id="27" name="Rectangle 26"/>
          <p:cNvSpPr/>
          <p:nvPr/>
        </p:nvSpPr>
        <p:spPr>
          <a:xfrm>
            <a:off x="9548164"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548164" y="2148840"/>
            <a:ext cx="1863547" cy="914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50753" y="2532888"/>
            <a:ext cx="658368" cy="658368"/>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5075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5</a:t>
            </a:r>
          </a:p>
        </p:txBody>
      </p:sp>
      <p:sp>
        <p:nvSpPr>
          <p:cNvPr id="31" name="TextBox 30"/>
          <p:cNvSpPr txBox="1"/>
          <p:nvPr/>
        </p:nvSpPr>
        <p:spPr>
          <a:xfrm>
            <a:off x="9667036"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Record compliance</a:t>
            </a:r>
          </a:p>
        </p:txBody>
      </p:sp>
      <p:cxnSp>
        <p:nvCxnSpPr>
          <p:cNvPr id="32" name="Connector 31"/>
          <p:cNvCxnSpPr/>
          <p:nvPr/>
        </p:nvCxnSpPr>
        <p:spPr>
          <a:xfrm>
            <a:off x="2640787"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83351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026249"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21898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7C3AED"/>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8" name="TextBox 3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9" name="TextBox 3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0" name="TextBox 3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227</a:t>
            </a:r>
          </a:p>
        </p:txBody>
      </p:sp>
    </p:spTree>
  </p:cSld>
  <p:clrMapOvr>
    <a:masterClrMapping/>
  </p:clrMapOvr>
  <p:transition xmlns:p14="http://schemas.microsoft.com/office/powerpoint/2010/main" p14:dur="380">
    <p:fade/>
  </p:transition>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DOMAIN 2 ·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Systems Manager fleet automation: design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83280" cy="43708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708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01168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011680"/>
            <a:ext cx="530352" cy="530352"/>
          </a:xfrm>
          <a:prstGeom prst="rect">
            <a:avLst/>
          </a:prstGeom>
          <a:noFill/>
        </p:spPr>
        <p:txBody>
          <a:bodyPr wrap="square" anchor="ctr">
            <a:spAutoFit/>
          </a:bodyPr>
          <a:lstStyle/>
          <a:p>
            <a:pPr algn="ctr">
              <a:spcAft>
                <a:spcPts val="400"/>
              </a:spcAft>
            </a:pPr>
            <a:r>
              <a:rPr sz="2000" b="1">
                <a:solidFill>
                  <a:srgbClr val="FFFFFF"/>
                </a:solidFill>
                <a:latin typeface="Arial"/>
              </a:rPr>
              <a:t>?</a:t>
            </a:r>
          </a:p>
        </p:txBody>
      </p:sp>
      <p:sp>
        <p:nvSpPr>
          <p:cNvPr id="11" name="TextBox 10"/>
          <p:cNvSpPr txBox="1"/>
          <p:nvPr/>
        </p:nvSpPr>
        <p:spPr>
          <a:xfrm>
            <a:off x="1709928" y="1984248"/>
            <a:ext cx="2212848" cy="502920"/>
          </a:xfrm>
          <a:prstGeom prst="rect">
            <a:avLst/>
          </a:prstGeom>
          <a:noFill/>
        </p:spPr>
        <p:txBody>
          <a:bodyPr wrap="square" anchor="ctr">
            <a:spAutoFit/>
          </a:bodyPr>
          <a:lstStyle/>
          <a:p>
            <a:pPr algn="l">
              <a:spcAft>
                <a:spcPts val="400"/>
              </a:spcAft>
            </a:pPr>
            <a:r>
              <a:rPr sz="1350" b="1">
                <a:solidFill>
                  <a:srgbClr val="7C3AED"/>
                </a:solidFill>
                <a:latin typeface="Arial"/>
              </a:rPr>
              <a:t>SCENARIO</a:t>
            </a:r>
          </a:p>
        </p:txBody>
      </p:sp>
      <p:sp>
        <p:nvSpPr>
          <p:cNvPr id="12" name="TextBox 11"/>
          <p:cNvSpPr txBox="1"/>
          <p:nvPr/>
        </p:nvSpPr>
        <p:spPr>
          <a:xfrm>
            <a:off x="1051560" y="2743200"/>
            <a:ext cx="2834640" cy="3136392"/>
          </a:xfrm>
          <a:prstGeom prst="rect">
            <a:avLst/>
          </a:prstGeom>
          <a:noFill/>
        </p:spPr>
        <p:txBody>
          <a:bodyPr wrap="square" anchor="t">
            <a:spAutoFit/>
          </a:bodyPr>
          <a:lstStyle/>
          <a:p>
            <a:pPr algn="l">
              <a:spcAft>
                <a:spcPts val="400"/>
              </a:spcAft>
            </a:pPr>
            <a:r>
              <a:rPr sz="1300" b="0">
                <a:solidFill>
                  <a:srgbClr val="161B26"/>
                </a:solidFill>
                <a:latin typeface="Arial"/>
              </a:rPr>
              <a:t>A monthly patch cycle must update hundreds of instances while limiting simultaneous disruption.</a:t>
            </a:r>
          </a:p>
        </p:txBody>
      </p:sp>
      <p:sp>
        <p:nvSpPr>
          <p:cNvPr id="13" name="Rectangle 12"/>
          <p:cNvSpPr/>
          <p:nvPr/>
        </p:nvSpPr>
        <p:spPr>
          <a:xfrm>
            <a:off x="4434840"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34840" y="1783080"/>
            <a:ext cx="91440"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636008" y="1965960"/>
            <a:ext cx="438912" cy="43891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6008"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7" name="TextBox 16"/>
          <p:cNvSpPr txBox="1"/>
          <p:nvPr/>
        </p:nvSpPr>
        <p:spPr>
          <a:xfrm>
            <a:off x="5212080" y="1929384"/>
            <a:ext cx="2286000" cy="475488"/>
          </a:xfrm>
          <a:prstGeom prst="rect">
            <a:avLst/>
          </a:prstGeom>
          <a:noFill/>
        </p:spPr>
        <p:txBody>
          <a:bodyPr wrap="square" anchor="ctr">
            <a:spAutoFit/>
          </a:bodyPr>
          <a:lstStyle/>
          <a:p>
            <a:pPr algn="l">
              <a:spcAft>
                <a:spcPts val="400"/>
              </a:spcAft>
            </a:pPr>
            <a:r>
              <a:rPr sz="1250" b="1">
                <a:solidFill>
                  <a:srgbClr val="10B981"/>
                </a:solidFill>
                <a:latin typeface="Arial"/>
              </a:rPr>
              <a:t>DESIGN RESPONSE</a:t>
            </a:r>
          </a:p>
        </p:txBody>
      </p:sp>
      <p:sp>
        <p:nvSpPr>
          <p:cNvPr id="18" name="TextBox 17"/>
          <p:cNvSpPr txBox="1"/>
          <p:nvPr/>
        </p:nvSpPr>
        <p:spPr>
          <a:xfrm>
            <a:off x="4663440"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Use tags, documents, maintenance windows, rate controls, concurrency limits and command output encryption.</a:t>
            </a:r>
          </a:p>
        </p:txBody>
      </p:sp>
      <p:sp>
        <p:nvSpPr>
          <p:cNvPr id="19" name="Rectangle 18"/>
          <p:cNvSpPr/>
          <p:nvPr/>
        </p:nvSpPr>
        <p:spPr>
          <a:xfrm>
            <a:off x="7973568"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973568" y="1783080"/>
            <a:ext cx="91440" cy="21488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174736" y="1965960"/>
            <a:ext cx="438912" cy="43891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74736"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23" name="TextBox 22"/>
          <p:cNvSpPr txBox="1"/>
          <p:nvPr/>
        </p:nvSpPr>
        <p:spPr>
          <a:xfrm>
            <a:off x="8750808" y="1929384"/>
            <a:ext cx="2286000" cy="475488"/>
          </a:xfrm>
          <a:prstGeom prst="rect">
            <a:avLst/>
          </a:prstGeom>
          <a:noFill/>
        </p:spPr>
        <p:txBody>
          <a:bodyPr wrap="square" anchor="ctr">
            <a:spAutoFit/>
          </a:bodyPr>
          <a:lstStyle/>
          <a:p>
            <a:pPr algn="l">
              <a:spcAft>
                <a:spcPts val="400"/>
              </a:spcAft>
            </a:pPr>
            <a:r>
              <a:rPr sz="1250" b="1">
                <a:solidFill>
                  <a:srgbClr val="7C3AED"/>
                </a:solidFill>
                <a:latin typeface="Arial"/>
              </a:rPr>
              <a:t>PRIMARY SERVICES</a:t>
            </a:r>
          </a:p>
        </p:txBody>
      </p:sp>
      <p:sp>
        <p:nvSpPr>
          <p:cNvPr id="24" name="TextBox 23"/>
          <p:cNvSpPr txBox="1"/>
          <p:nvPr/>
        </p:nvSpPr>
        <p:spPr>
          <a:xfrm>
            <a:off x="8202168"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Systems Manager · Run Command · Automation · Patch Manager</a:t>
            </a:r>
          </a:p>
        </p:txBody>
      </p:sp>
      <p:sp>
        <p:nvSpPr>
          <p:cNvPr id="25" name="Rectangle 24"/>
          <p:cNvSpPr/>
          <p:nvPr/>
        </p:nvSpPr>
        <p:spPr>
          <a:xfrm>
            <a:off x="4434840"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34840" y="4005072"/>
            <a:ext cx="91440" cy="21488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636008" y="4187952"/>
            <a:ext cx="438912" cy="43891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36008"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9" name="TextBox 28"/>
          <p:cNvSpPr txBox="1"/>
          <p:nvPr/>
        </p:nvSpPr>
        <p:spPr>
          <a:xfrm>
            <a:off x="5212080" y="4151376"/>
            <a:ext cx="2286000" cy="475488"/>
          </a:xfrm>
          <a:prstGeom prst="rect">
            <a:avLst/>
          </a:prstGeom>
          <a:noFill/>
        </p:spPr>
        <p:txBody>
          <a:bodyPr wrap="square" anchor="ctr">
            <a:spAutoFit/>
          </a:bodyPr>
          <a:lstStyle/>
          <a:p>
            <a:pPr algn="l">
              <a:spcAft>
                <a:spcPts val="400"/>
              </a:spcAft>
            </a:pPr>
            <a:r>
              <a:rPr sz="1250" b="1">
                <a:solidFill>
                  <a:srgbClr val="F59E0B"/>
                </a:solidFill>
                <a:latin typeface="Arial"/>
              </a:rPr>
              <a:t>FAILURE MODE</a:t>
            </a:r>
          </a:p>
        </p:txBody>
      </p:sp>
      <p:sp>
        <p:nvSpPr>
          <p:cNvPr id="30" name="TextBox 29"/>
          <p:cNvSpPr txBox="1"/>
          <p:nvPr/>
        </p:nvSpPr>
        <p:spPr>
          <a:xfrm>
            <a:off x="4663440"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A fleet-wide command without error thresholds can create a synchronized outage.</a:t>
            </a:r>
          </a:p>
        </p:txBody>
      </p:sp>
      <p:sp>
        <p:nvSpPr>
          <p:cNvPr id="31" name="Rectangle 30"/>
          <p:cNvSpPr/>
          <p:nvPr/>
        </p:nvSpPr>
        <p:spPr>
          <a:xfrm>
            <a:off x="7973568"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73568" y="4005072"/>
            <a:ext cx="91440" cy="21488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174736" y="4187952"/>
            <a:ext cx="438912" cy="438912"/>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74736"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5" name="TextBox 34"/>
          <p:cNvSpPr txBox="1"/>
          <p:nvPr/>
        </p:nvSpPr>
        <p:spPr>
          <a:xfrm>
            <a:off x="8750808" y="4151376"/>
            <a:ext cx="2286000" cy="475488"/>
          </a:xfrm>
          <a:prstGeom prst="rect">
            <a:avLst/>
          </a:prstGeom>
          <a:noFill/>
        </p:spPr>
        <p:txBody>
          <a:bodyPr wrap="square" anchor="ctr">
            <a:spAutoFit/>
          </a:bodyPr>
          <a:lstStyle/>
          <a:p>
            <a:pPr algn="l">
              <a:spcAft>
                <a:spcPts val="400"/>
              </a:spcAft>
            </a:pPr>
            <a:r>
              <a:rPr sz="1250" b="1">
                <a:solidFill>
                  <a:srgbClr val="EC711E"/>
                </a:solidFill>
                <a:latin typeface="Arial"/>
              </a:rPr>
              <a:t>PROOF</a:t>
            </a:r>
          </a:p>
        </p:txBody>
      </p:sp>
      <p:sp>
        <p:nvSpPr>
          <p:cNvPr id="36" name="TextBox 35"/>
          <p:cNvSpPr txBox="1"/>
          <p:nvPr/>
        </p:nvSpPr>
        <p:spPr>
          <a:xfrm>
            <a:off x="8202168"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Target query, document version, invocation output, compliance result and exception record.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228</a:t>
            </a:r>
          </a:p>
        </p:txBody>
      </p:sp>
    </p:spTree>
  </p:cSld>
  <p:clrMapOvr>
    <a:masterClrMapping/>
  </p:clrMapOvr>
  <p:transition xmlns:p14="http://schemas.microsoft.com/office/powerpoint/2010/main" p14:dur="380">
    <p:fade/>
  </p:transition>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DOMAIN 2 · OPERATIONS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Systems Manager fleet automation: failure diagnostic</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RECOGNISE</a:t>
            </a:r>
          </a:p>
          <a:p>
            <a:pPr algn="l">
              <a:spcAft>
                <a:spcPts val="300"/>
              </a:spcAft>
            </a:pPr>
            <a:r>
              <a:rPr sz="1050" b="0">
                <a:solidFill>
                  <a:srgbClr val="5B6372"/>
                </a:solidFill>
                <a:latin typeface="Arial"/>
              </a:rPr>
              <a:t>Observable failure condition: A fleet-wide command without error thresholds can create a synchronized outage.</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CONTAIN</a:t>
            </a:r>
          </a:p>
          <a:p>
            <a:pPr algn="l">
              <a:spcAft>
                <a:spcPts val="300"/>
              </a:spcAft>
            </a:pPr>
            <a:r>
              <a:rPr sz="1050" b="0">
                <a:solidFill>
                  <a:srgbClr val="5B6372"/>
                </a:solidFill>
                <a:latin typeface="Arial"/>
              </a:rPr>
              <a:t>Pause promotion, preserve evidence and reduce impact without destroying diagnostic state.</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DIAGNOSE</a:t>
            </a:r>
          </a:p>
          <a:p>
            <a:pPr algn="l">
              <a:spcAft>
                <a:spcPts val="300"/>
              </a:spcAft>
            </a:pPr>
            <a:r>
              <a:rPr sz="1050" b="0">
                <a:solidFill>
                  <a:srgbClr val="5B6372"/>
                </a:solidFill>
                <a:latin typeface="Arial"/>
              </a:rPr>
              <a:t>Trace the workflow from Select by tag through Record compliance; compare intended configuration with runtime state.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RECOVER</a:t>
            </a:r>
          </a:p>
          <a:p>
            <a:pPr algn="l">
              <a:spcAft>
                <a:spcPts val="300"/>
              </a:spcAft>
            </a:pPr>
            <a:r>
              <a:rPr sz="1050" b="0">
                <a:solidFill>
                  <a:srgbClr val="5B6372"/>
                </a:solidFill>
                <a:latin typeface="Arial"/>
              </a:rPr>
              <a:t>Restore the last known-good state, then prove recovery with Target query, document version, invocation output, compliance result and exception record.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229</a:t>
            </a:r>
          </a:p>
        </p:txBody>
      </p:sp>
    </p:spTree>
  </p:cSld>
  <p:clrMapOvr>
    <a:masterClrMapping/>
  </p:clrMapOvr>
  <p:transition xmlns:p14="http://schemas.microsoft.com/office/powerpoint/2010/main" p14:dur="380">
    <p:fade/>
  </p:transition>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DOMAIN 2 · APPLIED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Systems Manager fleet automation: worked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CONSTRAINT</a:t>
            </a:r>
          </a:p>
          <a:p>
            <a:pPr algn="l">
              <a:spcAft>
                <a:spcPts val="300"/>
              </a:spcAft>
            </a:pPr>
            <a:r>
              <a:rPr sz="1050" b="0">
                <a:solidFill>
                  <a:srgbClr val="5B6372"/>
                </a:solidFill>
                <a:latin typeface="Arial"/>
              </a:rPr>
              <a:t>A monthly patch cycle must update hundreds of instances while limiting simultaneous disruption.</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DECISION</a:t>
            </a:r>
          </a:p>
          <a:p>
            <a:pPr algn="l">
              <a:spcAft>
                <a:spcPts val="300"/>
              </a:spcAft>
            </a:pPr>
            <a:r>
              <a:rPr sz="1050" b="0">
                <a:solidFill>
                  <a:srgbClr val="5B6372"/>
                </a:solidFill>
                <a:latin typeface="Arial"/>
              </a:rPr>
              <a:t>Use tags, documents, maintenance windows, rate controls, concurrency limits and command output encryption.</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WHY ALTERNATIVES LOSE</a:t>
            </a:r>
          </a:p>
          <a:p>
            <a:pPr algn="l">
              <a:spcAft>
                <a:spcPts val="300"/>
              </a:spcAft>
            </a:pPr>
            <a:r>
              <a:rPr sz="1050" b="0">
                <a:solidFill>
                  <a:srgbClr val="5B6372"/>
                </a:solidFill>
                <a:latin typeface="Arial"/>
              </a:rPr>
              <a:t>Reject options that do not change the stated failure boundary: A fleet-wide command without error thresholds can create a synchronized outage.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ACCEPTANCE TEST</a:t>
            </a:r>
          </a:p>
          <a:p>
            <a:pPr algn="l">
              <a:spcAft>
                <a:spcPts val="300"/>
              </a:spcAft>
            </a:pPr>
            <a:r>
              <a:rPr sz="1050" b="0">
                <a:solidFill>
                  <a:srgbClr val="5B6372"/>
                </a:solidFill>
                <a:latin typeface="Arial"/>
              </a:rPr>
              <a:t>The decision is complete only when this proof exists: Target query, document version, invocation output, compliance result and exception record.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230</a:t>
            </a:r>
          </a:p>
        </p:txBody>
      </p:sp>
    </p:spTree>
  </p:cSld>
  <p:clrMapOvr>
    <a:masterClrMapping/>
  </p:clrMapOvr>
  <p:transition xmlns:p14="http://schemas.microsoft.com/office/powerpoint/2010/main" p14:dur="380">
    <p:fade/>
  </p:transition>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DOMAIN 2 · CONFIGURATION MANAGEMENT AND IAC</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CDK, SAM and workflow orchestration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OUTCOME</a:t>
            </a:r>
          </a:p>
          <a:p>
            <a:pPr algn="l">
              <a:spcAft>
                <a:spcPts val="300"/>
              </a:spcAft>
            </a:pPr>
            <a:r>
              <a:rPr sz="1050" b="0">
                <a:solidFill>
                  <a:srgbClr val="5B6372"/>
                </a:solidFill>
                <a:latin typeface="Arial"/>
              </a:rPr>
              <a:t>Choose the right abstraction while preserving reviewable infrastructure output and safe runtime change.</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ARCHITECTURE</a:t>
            </a:r>
          </a:p>
          <a:p>
            <a:pPr algn="l">
              <a:spcAft>
                <a:spcPts val="300"/>
              </a:spcAft>
            </a:pPr>
            <a:r>
              <a:rPr sz="1050" b="0">
                <a:solidFill>
                  <a:srgbClr val="5B6372"/>
                </a:solidFill>
                <a:latin typeface="Arial"/>
              </a:rPr>
              <a:t>Synthesize templates, test constructs, separate build-time from runtime configuration, and orchestrate retries explicitly.</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MODE</a:t>
            </a:r>
          </a:p>
          <a:p>
            <a:pPr algn="l">
              <a:spcAft>
                <a:spcPts val="300"/>
              </a:spcAft>
            </a:pPr>
            <a:r>
              <a:rPr sz="1050" b="0">
                <a:solidFill>
                  <a:srgbClr val="5B6372"/>
                </a:solidFill>
                <a:latin typeface="Arial"/>
              </a:rPr>
              <a:t>High-level abstractions can hide IAM expansion or replacement behavior unless synthesized output is reviewed.</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EVIDENCE</a:t>
            </a:r>
          </a:p>
          <a:p>
            <a:pPr algn="l">
              <a:spcAft>
                <a:spcPts val="300"/>
              </a:spcAft>
            </a:pPr>
            <a:r>
              <a:rPr sz="1050" b="0">
                <a:solidFill>
                  <a:srgbClr val="5B6372"/>
                </a:solidFill>
                <a:latin typeface="Arial"/>
              </a:rPr>
              <a:t>Synthesized template, assertions, state-machine history, configuration version and deployment strategy.</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231</a:t>
            </a:r>
          </a:p>
        </p:txBody>
      </p:sp>
    </p:spTree>
  </p:cSld>
  <p:clrMapOvr>
    <a:masterClrMapping/>
  </p:clrMapOvr>
  <p:transition xmlns:p14="http://schemas.microsoft.com/office/powerpoint/2010/main" p14:dur="380">
    <p:fade/>
  </p:transition>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DOMAIN 2 · PROCESS MODEL</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CDK, SAM and workflow orchestration: operating flow</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49809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97102"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9710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Model</a:t>
            </a:r>
          </a:p>
        </p:txBody>
      </p:sp>
      <p:sp>
        <p:nvSpPr>
          <p:cNvPr id="12" name="Rectangle 11"/>
          <p:cNvSpPr/>
          <p:nvPr/>
        </p:nvSpPr>
        <p:spPr>
          <a:xfrm>
            <a:off x="2604516"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04516" y="2148840"/>
            <a:ext cx="149809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024378"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24378"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6" name="TextBox 15"/>
          <p:cNvSpPr txBox="1"/>
          <p:nvPr/>
        </p:nvSpPr>
        <p:spPr>
          <a:xfrm>
            <a:off x="2723388"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Synthesize</a:t>
            </a:r>
          </a:p>
        </p:txBody>
      </p:sp>
      <p:sp>
        <p:nvSpPr>
          <p:cNvPr id="17" name="Rectangle 16"/>
          <p:cNvSpPr/>
          <p:nvPr/>
        </p:nvSpPr>
        <p:spPr>
          <a:xfrm>
            <a:off x="4431792"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431792" y="2148840"/>
            <a:ext cx="149809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851654"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51654"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1" name="TextBox 20"/>
          <p:cNvSpPr txBox="1"/>
          <p:nvPr/>
        </p:nvSpPr>
        <p:spPr>
          <a:xfrm>
            <a:off x="4550664"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Test policy</a:t>
            </a:r>
          </a:p>
        </p:txBody>
      </p:sp>
      <p:sp>
        <p:nvSpPr>
          <p:cNvPr id="22" name="Rectangle 21"/>
          <p:cNvSpPr/>
          <p:nvPr/>
        </p:nvSpPr>
        <p:spPr>
          <a:xfrm>
            <a:off x="6259068"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59068" y="2148840"/>
            <a:ext cx="149809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678930"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78930"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6" name="TextBox 25"/>
          <p:cNvSpPr txBox="1"/>
          <p:nvPr/>
        </p:nvSpPr>
        <p:spPr>
          <a:xfrm>
            <a:off x="6377940"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Deploy</a:t>
            </a:r>
          </a:p>
        </p:txBody>
      </p:sp>
      <p:sp>
        <p:nvSpPr>
          <p:cNvPr id="27" name="Rectangle 26"/>
          <p:cNvSpPr/>
          <p:nvPr/>
        </p:nvSpPr>
        <p:spPr>
          <a:xfrm>
            <a:off x="8086344"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086344" y="2148840"/>
            <a:ext cx="1498092" cy="914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506206" y="2532888"/>
            <a:ext cx="658368" cy="658368"/>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06206"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5</a:t>
            </a:r>
          </a:p>
        </p:txBody>
      </p:sp>
      <p:sp>
        <p:nvSpPr>
          <p:cNvPr id="31" name="TextBox 30"/>
          <p:cNvSpPr txBox="1"/>
          <p:nvPr/>
        </p:nvSpPr>
        <p:spPr>
          <a:xfrm>
            <a:off x="8205216"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Release config</a:t>
            </a:r>
          </a:p>
        </p:txBody>
      </p:sp>
      <p:sp>
        <p:nvSpPr>
          <p:cNvPr id="32" name="Rectangle 31"/>
          <p:cNvSpPr/>
          <p:nvPr/>
        </p:nvSpPr>
        <p:spPr>
          <a:xfrm>
            <a:off x="9913620"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913620" y="2148840"/>
            <a:ext cx="1498092" cy="91440"/>
          </a:xfrm>
          <a:prstGeom prst="rect">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333482" y="2532888"/>
            <a:ext cx="658368" cy="658368"/>
          </a:xfrm>
          <a:prstGeom prst="ellipse">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3348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6</a:t>
            </a:r>
          </a:p>
        </p:txBody>
      </p:sp>
      <p:sp>
        <p:nvSpPr>
          <p:cNvPr id="36" name="TextBox 35"/>
          <p:cNvSpPr txBox="1"/>
          <p:nvPr/>
        </p:nvSpPr>
        <p:spPr>
          <a:xfrm>
            <a:off x="10032492"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Observe execution</a:t>
            </a:r>
          </a:p>
        </p:txBody>
      </p:sp>
      <p:cxnSp>
        <p:nvCxnSpPr>
          <p:cNvPr id="37" name="Connector 36"/>
          <p:cNvCxnSpPr/>
          <p:nvPr/>
        </p:nvCxnSpPr>
        <p:spPr>
          <a:xfrm>
            <a:off x="2275332"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10260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929884"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775716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9584436"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7C3AED"/>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44" name="TextBox 4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45" name="TextBox 4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6" name="TextBox 4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232</a:t>
            </a:r>
          </a:p>
        </p:txBody>
      </p:sp>
    </p:spTree>
  </p:cSld>
  <p:clrMapOvr>
    <a:masterClrMapping/>
  </p:clrMapOvr>
  <p:transition xmlns:p14="http://schemas.microsoft.com/office/powerpoint/2010/main" p14:dur="380">
    <p:fade/>
  </p:transition>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DOMAIN 2 ·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CDK, SAM and workflow orchestration: design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83280" cy="43708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708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01168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011680"/>
            <a:ext cx="530352" cy="530352"/>
          </a:xfrm>
          <a:prstGeom prst="rect">
            <a:avLst/>
          </a:prstGeom>
          <a:noFill/>
        </p:spPr>
        <p:txBody>
          <a:bodyPr wrap="square" anchor="ctr">
            <a:spAutoFit/>
          </a:bodyPr>
          <a:lstStyle/>
          <a:p>
            <a:pPr algn="ctr">
              <a:spcAft>
                <a:spcPts val="400"/>
              </a:spcAft>
            </a:pPr>
            <a:r>
              <a:rPr sz="2000" b="1">
                <a:solidFill>
                  <a:srgbClr val="FFFFFF"/>
                </a:solidFill>
                <a:latin typeface="Arial"/>
              </a:rPr>
              <a:t>?</a:t>
            </a:r>
          </a:p>
        </p:txBody>
      </p:sp>
      <p:sp>
        <p:nvSpPr>
          <p:cNvPr id="11" name="TextBox 10"/>
          <p:cNvSpPr txBox="1"/>
          <p:nvPr/>
        </p:nvSpPr>
        <p:spPr>
          <a:xfrm>
            <a:off x="1709928" y="1984248"/>
            <a:ext cx="2212848" cy="502920"/>
          </a:xfrm>
          <a:prstGeom prst="rect">
            <a:avLst/>
          </a:prstGeom>
          <a:noFill/>
        </p:spPr>
        <p:txBody>
          <a:bodyPr wrap="square" anchor="ctr">
            <a:spAutoFit/>
          </a:bodyPr>
          <a:lstStyle/>
          <a:p>
            <a:pPr algn="l">
              <a:spcAft>
                <a:spcPts val="400"/>
              </a:spcAft>
            </a:pPr>
            <a:r>
              <a:rPr sz="1350" b="1">
                <a:solidFill>
                  <a:srgbClr val="7C3AED"/>
                </a:solidFill>
                <a:latin typeface="Arial"/>
              </a:rPr>
              <a:t>SCENARIO</a:t>
            </a:r>
          </a:p>
        </p:txBody>
      </p:sp>
      <p:sp>
        <p:nvSpPr>
          <p:cNvPr id="12" name="TextBox 11"/>
          <p:cNvSpPr txBox="1"/>
          <p:nvPr/>
        </p:nvSpPr>
        <p:spPr>
          <a:xfrm>
            <a:off x="1051560" y="2743200"/>
            <a:ext cx="2834640" cy="3136392"/>
          </a:xfrm>
          <a:prstGeom prst="rect">
            <a:avLst/>
          </a:prstGeom>
          <a:noFill/>
        </p:spPr>
        <p:txBody>
          <a:bodyPr wrap="square" anchor="t">
            <a:spAutoFit/>
          </a:bodyPr>
          <a:lstStyle/>
          <a:p>
            <a:pPr algn="l">
              <a:spcAft>
                <a:spcPts val="400"/>
              </a:spcAft>
            </a:pPr>
            <a:r>
              <a:rPr sz="1300" b="0">
                <a:solidFill>
                  <a:srgbClr val="161B26"/>
                </a:solidFill>
                <a:latin typeface="Arial"/>
              </a:rPr>
              <a:t>A serverless workflow needs bounded retries and a feature flag that can be rolled back independently.</a:t>
            </a:r>
          </a:p>
        </p:txBody>
      </p:sp>
      <p:sp>
        <p:nvSpPr>
          <p:cNvPr id="13" name="Rectangle 12"/>
          <p:cNvSpPr/>
          <p:nvPr/>
        </p:nvSpPr>
        <p:spPr>
          <a:xfrm>
            <a:off x="4434840"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34840" y="1783080"/>
            <a:ext cx="91440"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636008" y="1965960"/>
            <a:ext cx="438912" cy="43891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6008"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7" name="TextBox 16"/>
          <p:cNvSpPr txBox="1"/>
          <p:nvPr/>
        </p:nvSpPr>
        <p:spPr>
          <a:xfrm>
            <a:off x="5212080" y="1929384"/>
            <a:ext cx="2286000" cy="475488"/>
          </a:xfrm>
          <a:prstGeom prst="rect">
            <a:avLst/>
          </a:prstGeom>
          <a:noFill/>
        </p:spPr>
        <p:txBody>
          <a:bodyPr wrap="square" anchor="ctr">
            <a:spAutoFit/>
          </a:bodyPr>
          <a:lstStyle/>
          <a:p>
            <a:pPr algn="l">
              <a:spcAft>
                <a:spcPts val="400"/>
              </a:spcAft>
            </a:pPr>
            <a:r>
              <a:rPr sz="1250" b="1">
                <a:solidFill>
                  <a:srgbClr val="10B981"/>
                </a:solidFill>
                <a:latin typeface="Arial"/>
              </a:rPr>
              <a:t>DESIGN RESPONSE</a:t>
            </a:r>
          </a:p>
        </p:txBody>
      </p:sp>
      <p:sp>
        <p:nvSpPr>
          <p:cNvPr id="18" name="TextBox 17"/>
          <p:cNvSpPr txBox="1"/>
          <p:nvPr/>
        </p:nvSpPr>
        <p:spPr>
          <a:xfrm>
            <a:off x="4663440"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Synthesize templates, test constructs, separate build-time from runtime configuration, and orchestrate retries explicitly.</a:t>
            </a:r>
          </a:p>
        </p:txBody>
      </p:sp>
      <p:sp>
        <p:nvSpPr>
          <p:cNvPr id="19" name="Rectangle 18"/>
          <p:cNvSpPr/>
          <p:nvPr/>
        </p:nvSpPr>
        <p:spPr>
          <a:xfrm>
            <a:off x="7973568"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973568" y="1783080"/>
            <a:ext cx="91440" cy="21488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174736" y="1965960"/>
            <a:ext cx="438912" cy="43891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74736"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23" name="TextBox 22"/>
          <p:cNvSpPr txBox="1"/>
          <p:nvPr/>
        </p:nvSpPr>
        <p:spPr>
          <a:xfrm>
            <a:off x="8750808" y="1929384"/>
            <a:ext cx="2286000" cy="475488"/>
          </a:xfrm>
          <a:prstGeom prst="rect">
            <a:avLst/>
          </a:prstGeom>
          <a:noFill/>
        </p:spPr>
        <p:txBody>
          <a:bodyPr wrap="square" anchor="ctr">
            <a:spAutoFit/>
          </a:bodyPr>
          <a:lstStyle/>
          <a:p>
            <a:pPr algn="l">
              <a:spcAft>
                <a:spcPts val="400"/>
              </a:spcAft>
            </a:pPr>
            <a:r>
              <a:rPr sz="1250" b="1">
                <a:solidFill>
                  <a:srgbClr val="7C3AED"/>
                </a:solidFill>
                <a:latin typeface="Arial"/>
              </a:rPr>
              <a:t>PRIMARY SERVICES</a:t>
            </a:r>
          </a:p>
        </p:txBody>
      </p:sp>
      <p:sp>
        <p:nvSpPr>
          <p:cNvPr id="24" name="TextBox 23"/>
          <p:cNvSpPr txBox="1"/>
          <p:nvPr/>
        </p:nvSpPr>
        <p:spPr>
          <a:xfrm>
            <a:off x="8202168"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CDK · SAM · Step Functions · AppConfig</a:t>
            </a:r>
          </a:p>
        </p:txBody>
      </p:sp>
      <p:sp>
        <p:nvSpPr>
          <p:cNvPr id="25" name="Rectangle 24"/>
          <p:cNvSpPr/>
          <p:nvPr/>
        </p:nvSpPr>
        <p:spPr>
          <a:xfrm>
            <a:off x="4434840"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34840" y="4005072"/>
            <a:ext cx="91440" cy="21488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636008" y="4187952"/>
            <a:ext cx="438912" cy="43891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36008"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9" name="TextBox 28"/>
          <p:cNvSpPr txBox="1"/>
          <p:nvPr/>
        </p:nvSpPr>
        <p:spPr>
          <a:xfrm>
            <a:off x="5212080" y="4151376"/>
            <a:ext cx="2286000" cy="475488"/>
          </a:xfrm>
          <a:prstGeom prst="rect">
            <a:avLst/>
          </a:prstGeom>
          <a:noFill/>
        </p:spPr>
        <p:txBody>
          <a:bodyPr wrap="square" anchor="ctr">
            <a:spAutoFit/>
          </a:bodyPr>
          <a:lstStyle/>
          <a:p>
            <a:pPr algn="l">
              <a:spcAft>
                <a:spcPts val="400"/>
              </a:spcAft>
            </a:pPr>
            <a:r>
              <a:rPr sz="1250" b="1">
                <a:solidFill>
                  <a:srgbClr val="F59E0B"/>
                </a:solidFill>
                <a:latin typeface="Arial"/>
              </a:rPr>
              <a:t>FAILURE MODE</a:t>
            </a:r>
          </a:p>
        </p:txBody>
      </p:sp>
      <p:sp>
        <p:nvSpPr>
          <p:cNvPr id="30" name="TextBox 29"/>
          <p:cNvSpPr txBox="1"/>
          <p:nvPr/>
        </p:nvSpPr>
        <p:spPr>
          <a:xfrm>
            <a:off x="4663440"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High-level abstractions can hide IAM expansion or replacement behavior unless synthesized output is reviewed.</a:t>
            </a:r>
          </a:p>
        </p:txBody>
      </p:sp>
      <p:sp>
        <p:nvSpPr>
          <p:cNvPr id="31" name="Rectangle 30"/>
          <p:cNvSpPr/>
          <p:nvPr/>
        </p:nvSpPr>
        <p:spPr>
          <a:xfrm>
            <a:off x="7973568"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73568" y="4005072"/>
            <a:ext cx="91440" cy="21488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174736" y="4187952"/>
            <a:ext cx="438912" cy="438912"/>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74736"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5" name="TextBox 34"/>
          <p:cNvSpPr txBox="1"/>
          <p:nvPr/>
        </p:nvSpPr>
        <p:spPr>
          <a:xfrm>
            <a:off x="8750808" y="4151376"/>
            <a:ext cx="2286000" cy="475488"/>
          </a:xfrm>
          <a:prstGeom prst="rect">
            <a:avLst/>
          </a:prstGeom>
          <a:noFill/>
        </p:spPr>
        <p:txBody>
          <a:bodyPr wrap="square" anchor="ctr">
            <a:spAutoFit/>
          </a:bodyPr>
          <a:lstStyle/>
          <a:p>
            <a:pPr algn="l">
              <a:spcAft>
                <a:spcPts val="400"/>
              </a:spcAft>
            </a:pPr>
            <a:r>
              <a:rPr sz="1250" b="1">
                <a:solidFill>
                  <a:srgbClr val="EC711E"/>
                </a:solidFill>
                <a:latin typeface="Arial"/>
              </a:rPr>
              <a:t>PROOF</a:t>
            </a:r>
          </a:p>
        </p:txBody>
      </p:sp>
      <p:sp>
        <p:nvSpPr>
          <p:cNvPr id="36" name="TextBox 35"/>
          <p:cNvSpPr txBox="1"/>
          <p:nvPr/>
        </p:nvSpPr>
        <p:spPr>
          <a:xfrm>
            <a:off x="8202168"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Synthesized template, assertions, state-machine history, configuration version and deployment strategy.</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233</a:t>
            </a:r>
          </a:p>
        </p:txBody>
      </p:sp>
    </p:spTree>
  </p:cSld>
  <p:clrMapOvr>
    <a:masterClrMapping/>
  </p:clrMapOvr>
  <p:transition xmlns:p14="http://schemas.microsoft.com/office/powerpoint/2010/main" p14:dur="380">
    <p:fade/>
  </p:transition>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DOMAIN 2 · OPERATIONS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700" b="1">
                <a:solidFill>
                  <a:srgbClr val="161B26"/>
                </a:solidFill>
                <a:latin typeface="Arial"/>
              </a:rPr>
              <a:t>CDK, SAM and workflow orchestration: failure diagnostic</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RECOGNISE</a:t>
            </a:r>
          </a:p>
          <a:p>
            <a:pPr algn="l">
              <a:spcAft>
                <a:spcPts val="300"/>
              </a:spcAft>
            </a:pPr>
            <a:r>
              <a:rPr sz="1050" b="0">
                <a:solidFill>
                  <a:srgbClr val="5B6372"/>
                </a:solidFill>
                <a:latin typeface="Arial"/>
              </a:rPr>
              <a:t>Observable failure condition: High-level abstractions can hide IAM expansion or replacement behavior unless synthesized output is reviewed.</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CONTAIN</a:t>
            </a:r>
          </a:p>
          <a:p>
            <a:pPr algn="l">
              <a:spcAft>
                <a:spcPts val="300"/>
              </a:spcAft>
            </a:pPr>
            <a:r>
              <a:rPr sz="1050" b="0">
                <a:solidFill>
                  <a:srgbClr val="5B6372"/>
                </a:solidFill>
                <a:latin typeface="Arial"/>
              </a:rPr>
              <a:t>Pause promotion, preserve evidence and reduce impact without destroying diagnostic state.</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DIAGNOSE</a:t>
            </a:r>
          </a:p>
          <a:p>
            <a:pPr algn="l">
              <a:spcAft>
                <a:spcPts val="300"/>
              </a:spcAft>
            </a:pPr>
            <a:r>
              <a:rPr sz="1050" b="0">
                <a:solidFill>
                  <a:srgbClr val="5B6372"/>
                </a:solidFill>
                <a:latin typeface="Arial"/>
              </a:rPr>
              <a:t>Trace the workflow from Model through Observe execution; compare intended configuration with runtime state.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RECOVER</a:t>
            </a:r>
          </a:p>
          <a:p>
            <a:pPr algn="l">
              <a:spcAft>
                <a:spcPts val="300"/>
              </a:spcAft>
            </a:pPr>
            <a:r>
              <a:rPr sz="1050" b="0">
                <a:solidFill>
                  <a:srgbClr val="5B6372"/>
                </a:solidFill>
                <a:latin typeface="Arial"/>
              </a:rPr>
              <a:t>Restore the last known-good state, then prove recovery with Synthesized template, assertions, state-machine history, configuration version and deployment strategy.</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234</a:t>
            </a:r>
          </a:p>
        </p:txBody>
      </p:sp>
    </p:spTree>
  </p:cSld>
  <p:clrMapOvr>
    <a:masterClrMapping/>
  </p:clrMapOvr>
  <p:transition xmlns:p14="http://schemas.microsoft.com/office/powerpoint/2010/main" p14:dur="380">
    <p:fade/>
  </p:transition>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DOMAIN 2 · APPLIED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CDK, SAM and workflow orchestration: worked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CONSTRAINT</a:t>
            </a:r>
          </a:p>
          <a:p>
            <a:pPr algn="l">
              <a:spcAft>
                <a:spcPts val="300"/>
              </a:spcAft>
            </a:pPr>
            <a:r>
              <a:rPr sz="1050" b="0">
                <a:solidFill>
                  <a:srgbClr val="5B6372"/>
                </a:solidFill>
                <a:latin typeface="Arial"/>
              </a:rPr>
              <a:t>A serverless workflow needs bounded retries and a feature flag that can be rolled back independently.</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DECISION</a:t>
            </a:r>
          </a:p>
          <a:p>
            <a:pPr algn="l">
              <a:spcAft>
                <a:spcPts val="300"/>
              </a:spcAft>
            </a:pPr>
            <a:r>
              <a:rPr sz="1050" b="0">
                <a:solidFill>
                  <a:srgbClr val="5B6372"/>
                </a:solidFill>
                <a:latin typeface="Arial"/>
              </a:rPr>
              <a:t>Synthesize templates, test constructs, separate build-time from runtime configuration, and orchestrate retries explicitly.</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WHY ALTERNATIVES LOSE</a:t>
            </a:r>
          </a:p>
          <a:p>
            <a:pPr algn="l">
              <a:spcAft>
                <a:spcPts val="300"/>
              </a:spcAft>
            </a:pPr>
            <a:r>
              <a:rPr sz="1050" b="0">
                <a:solidFill>
                  <a:srgbClr val="5B6372"/>
                </a:solidFill>
                <a:latin typeface="Arial"/>
              </a:rPr>
              <a:t>Reject options that do not change the stated failure boundary: High-level abstractions can hide IAM expansion or replacement behavior unless synthesized output is reviewed.</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ACCEPTANCE TEST</a:t>
            </a:r>
          </a:p>
          <a:p>
            <a:pPr algn="l">
              <a:spcAft>
                <a:spcPts val="300"/>
              </a:spcAft>
            </a:pPr>
            <a:r>
              <a:rPr sz="1050" b="0">
                <a:solidFill>
                  <a:srgbClr val="5B6372"/>
                </a:solidFill>
                <a:latin typeface="Arial"/>
              </a:rPr>
              <a:t>The decision is complete only when this proof exists: Synthesized template, assertions, state-machine history, configuration version and deployment strategy.</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235</a:t>
            </a:r>
          </a:p>
        </p:txBody>
      </p:sp>
    </p:spTree>
  </p:cSld>
  <p:clrMapOvr>
    <a:masterClrMapping/>
  </p:clrMapOvr>
  <p:transition xmlns:p14="http://schemas.microsoft.com/office/powerpoint/2010/main" p14:dur="380">
    <p:fade/>
  </p:transition>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DOMAIN 2 · SERVICE BOUNDARIES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CloudFormation lifecycle: architecture map</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241173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53921"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5392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319272"/>
            <a:ext cx="2173986" cy="384048"/>
          </a:xfrm>
          <a:prstGeom prst="rect">
            <a:avLst/>
          </a:prstGeom>
          <a:noFill/>
        </p:spPr>
        <p:txBody>
          <a:bodyPr wrap="square" anchor="ctr">
            <a:spAutoFit/>
          </a:bodyPr>
          <a:lstStyle/>
          <a:p>
            <a:pPr algn="ctr">
              <a:spcAft>
                <a:spcPts val="400"/>
              </a:spcAft>
            </a:pPr>
            <a:r>
              <a:rPr sz="1150" b="1">
                <a:solidFill>
                  <a:srgbClr val="1F6FEB"/>
                </a:solidFill>
                <a:latin typeface="Arial"/>
              </a:rPr>
              <a:t>TRIGGER / INPUT</a:t>
            </a:r>
          </a:p>
        </p:txBody>
      </p:sp>
      <p:sp>
        <p:nvSpPr>
          <p:cNvPr id="12" name="TextBox 11"/>
          <p:cNvSpPr txBox="1"/>
          <p:nvPr/>
        </p:nvSpPr>
        <p:spPr>
          <a:xfrm>
            <a:off x="896112"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Author</a:t>
            </a:r>
          </a:p>
        </p:txBody>
      </p:sp>
      <p:sp>
        <p:nvSpPr>
          <p:cNvPr id="13" name="Rectangle 12"/>
          <p:cNvSpPr/>
          <p:nvPr/>
        </p:nvSpPr>
        <p:spPr>
          <a:xfrm>
            <a:off x="3518154"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18154" y="2148840"/>
            <a:ext cx="241173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394835"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94835"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7" name="TextBox 16"/>
          <p:cNvSpPr txBox="1"/>
          <p:nvPr/>
        </p:nvSpPr>
        <p:spPr>
          <a:xfrm>
            <a:off x="3637026" y="3319272"/>
            <a:ext cx="2173986" cy="384048"/>
          </a:xfrm>
          <a:prstGeom prst="rect">
            <a:avLst/>
          </a:prstGeom>
          <a:noFill/>
        </p:spPr>
        <p:txBody>
          <a:bodyPr wrap="square" anchor="ctr">
            <a:spAutoFit/>
          </a:bodyPr>
          <a:lstStyle/>
          <a:p>
            <a:pPr algn="ctr">
              <a:spcAft>
                <a:spcPts val="400"/>
              </a:spcAft>
            </a:pPr>
            <a:r>
              <a:rPr sz="1150" b="1">
                <a:solidFill>
                  <a:srgbClr val="10B981"/>
                </a:solidFill>
                <a:latin typeface="Arial"/>
              </a:rPr>
              <a:t>CONTROL PLANE</a:t>
            </a:r>
          </a:p>
        </p:txBody>
      </p:sp>
      <p:sp>
        <p:nvSpPr>
          <p:cNvPr id="18" name="TextBox 17"/>
          <p:cNvSpPr txBox="1"/>
          <p:nvPr/>
        </p:nvSpPr>
        <p:spPr>
          <a:xfrm>
            <a:off x="3637026"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Validate templates, create change sets, inspect replacements, execute with a service role and capture stack events.</a:t>
            </a:r>
          </a:p>
        </p:txBody>
      </p:sp>
      <p:sp>
        <p:nvSpPr>
          <p:cNvPr id="19" name="Rectangle 18"/>
          <p:cNvSpPr/>
          <p:nvPr/>
        </p:nvSpPr>
        <p:spPr>
          <a:xfrm>
            <a:off x="6259068"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9068" y="2148840"/>
            <a:ext cx="241173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5749"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574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3" name="TextBox 22"/>
          <p:cNvSpPr txBox="1"/>
          <p:nvPr/>
        </p:nvSpPr>
        <p:spPr>
          <a:xfrm>
            <a:off x="6377940" y="3319272"/>
            <a:ext cx="2173986" cy="384048"/>
          </a:xfrm>
          <a:prstGeom prst="rect">
            <a:avLst/>
          </a:prstGeom>
          <a:noFill/>
        </p:spPr>
        <p:txBody>
          <a:bodyPr wrap="square" anchor="ctr">
            <a:spAutoFit/>
          </a:bodyPr>
          <a:lstStyle/>
          <a:p>
            <a:pPr algn="ctr">
              <a:spcAft>
                <a:spcPts val="400"/>
              </a:spcAft>
            </a:pPr>
            <a:r>
              <a:rPr sz="1150" b="1">
                <a:solidFill>
                  <a:srgbClr val="7C3AED"/>
                </a:solidFill>
                <a:latin typeface="Arial"/>
              </a:rPr>
              <a:t>AWS SERVICES</a:t>
            </a:r>
          </a:p>
        </p:txBody>
      </p:sp>
      <p:sp>
        <p:nvSpPr>
          <p:cNvPr id="24" name="TextBox 23"/>
          <p:cNvSpPr txBox="1"/>
          <p:nvPr/>
        </p:nvSpPr>
        <p:spPr>
          <a:xfrm>
            <a:off x="6377940"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CloudFormation · Change Sets · CloudTrail</a:t>
            </a:r>
          </a:p>
        </p:txBody>
      </p:sp>
      <p:sp>
        <p:nvSpPr>
          <p:cNvPr id="25" name="Rectangle 24"/>
          <p:cNvSpPr/>
          <p:nvPr/>
        </p:nvSpPr>
        <p:spPr>
          <a:xfrm>
            <a:off x="8999982"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99982" y="2148840"/>
            <a:ext cx="2411730"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76663"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7666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9" name="TextBox 28"/>
          <p:cNvSpPr txBox="1"/>
          <p:nvPr/>
        </p:nvSpPr>
        <p:spPr>
          <a:xfrm>
            <a:off x="9118854" y="3319272"/>
            <a:ext cx="2173986" cy="384048"/>
          </a:xfrm>
          <a:prstGeom prst="rect">
            <a:avLst/>
          </a:prstGeom>
          <a:noFill/>
        </p:spPr>
        <p:txBody>
          <a:bodyPr wrap="square" anchor="ctr">
            <a:spAutoFit/>
          </a:bodyPr>
          <a:lstStyle/>
          <a:p>
            <a:pPr algn="ctr">
              <a:spcAft>
                <a:spcPts val="400"/>
              </a:spcAft>
            </a:pPr>
            <a:r>
              <a:rPr sz="1150" b="1">
                <a:solidFill>
                  <a:srgbClr val="F59E0B"/>
                </a:solidFill>
                <a:latin typeface="Arial"/>
              </a:rPr>
              <a:t>EVIDENCE BOUNDARY</a:t>
            </a:r>
          </a:p>
        </p:txBody>
      </p:sp>
      <p:sp>
        <p:nvSpPr>
          <p:cNvPr id="30" name="TextBox 29"/>
          <p:cNvSpPr txBox="1"/>
          <p:nvPr/>
        </p:nvSpPr>
        <p:spPr>
          <a:xfrm>
            <a:off x="9118854"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Template digest, parameters, change-set diff, execution role and stack event timeline.</a:t>
            </a:r>
          </a:p>
        </p:txBody>
      </p:sp>
      <p:cxnSp>
        <p:nvCxnSpPr>
          <p:cNvPr id="31" name="Connector 30"/>
          <p:cNvCxnSpPr/>
          <p:nvPr/>
        </p:nvCxnSpPr>
        <p:spPr>
          <a:xfrm>
            <a:off x="318897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929884"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67079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7C3AED"/>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236</a:t>
            </a:r>
          </a:p>
        </p:txBody>
      </p:sp>
    </p:spTree>
  </p:cSld>
  <p:clrMapOvr>
    <a:masterClrMapping/>
  </p:clrMapOvr>
  <p:transition xmlns:p14="http://schemas.microsoft.com/office/powerpoint/2010/main" p14:dur="380">
    <p:fade/>
  </p:transition>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DOMAIN 2 · SERVICE BOUNDARIES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Reusable infrastructure components: architecture map</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241173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53921"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5392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319272"/>
            <a:ext cx="2173986" cy="384048"/>
          </a:xfrm>
          <a:prstGeom prst="rect">
            <a:avLst/>
          </a:prstGeom>
          <a:noFill/>
        </p:spPr>
        <p:txBody>
          <a:bodyPr wrap="square" anchor="ctr">
            <a:spAutoFit/>
          </a:bodyPr>
          <a:lstStyle/>
          <a:p>
            <a:pPr algn="ctr">
              <a:spcAft>
                <a:spcPts val="400"/>
              </a:spcAft>
            </a:pPr>
            <a:r>
              <a:rPr sz="1150" b="1">
                <a:solidFill>
                  <a:srgbClr val="1F6FEB"/>
                </a:solidFill>
                <a:latin typeface="Arial"/>
              </a:rPr>
              <a:t>TRIGGER / INPUT</a:t>
            </a:r>
          </a:p>
        </p:txBody>
      </p:sp>
      <p:sp>
        <p:nvSpPr>
          <p:cNvPr id="12" name="TextBox 11"/>
          <p:cNvSpPr txBox="1"/>
          <p:nvPr/>
        </p:nvSpPr>
        <p:spPr>
          <a:xfrm>
            <a:off x="896112"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Define interface</a:t>
            </a:r>
          </a:p>
        </p:txBody>
      </p:sp>
      <p:sp>
        <p:nvSpPr>
          <p:cNvPr id="13" name="Rectangle 12"/>
          <p:cNvSpPr/>
          <p:nvPr/>
        </p:nvSpPr>
        <p:spPr>
          <a:xfrm>
            <a:off x="3518154"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18154" y="2148840"/>
            <a:ext cx="241173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394835"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94835"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7" name="TextBox 16"/>
          <p:cNvSpPr txBox="1"/>
          <p:nvPr/>
        </p:nvSpPr>
        <p:spPr>
          <a:xfrm>
            <a:off x="3637026" y="3319272"/>
            <a:ext cx="2173986" cy="384048"/>
          </a:xfrm>
          <a:prstGeom prst="rect">
            <a:avLst/>
          </a:prstGeom>
          <a:noFill/>
        </p:spPr>
        <p:txBody>
          <a:bodyPr wrap="square" anchor="ctr">
            <a:spAutoFit/>
          </a:bodyPr>
          <a:lstStyle/>
          <a:p>
            <a:pPr algn="ctr">
              <a:spcAft>
                <a:spcPts val="400"/>
              </a:spcAft>
            </a:pPr>
            <a:r>
              <a:rPr sz="1150" b="1">
                <a:solidFill>
                  <a:srgbClr val="10B981"/>
                </a:solidFill>
                <a:latin typeface="Arial"/>
              </a:rPr>
              <a:t>CONTROL PLANE</a:t>
            </a:r>
          </a:p>
        </p:txBody>
      </p:sp>
      <p:sp>
        <p:nvSpPr>
          <p:cNvPr id="18" name="TextBox 17"/>
          <p:cNvSpPr txBox="1"/>
          <p:nvPr/>
        </p:nvSpPr>
        <p:spPr>
          <a:xfrm>
            <a:off x="3637026"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Define stable interfaces, semantic versions, ownership, safe defaults and deprecation paths for components.</a:t>
            </a:r>
          </a:p>
        </p:txBody>
      </p:sp>
      <p:sp>
        <p:nvSpPr>
          <p:cNvPr id="19" name="Rectangle 18"/>
          <p:cNvSpPr/>
          <p:nvPr/>
        </p:nvSpPr>
        <p:spPr>
          <a:xfrm>
            <a:off x="6259068"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9068" y="2148840"/>
            <a:ext cx="241173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5749"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574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3" name="TextBox 22"/>
          <p:cNvSpPr txBox="1"/>
          <p:nvPr/>
        </p:nvSpPr>
        <p:spPr>
          <a:xfrm>
            <a:off x="6377940" y="3319272"/>
            <a:ext cx="2173986" cy="384048"/>
          </a:xfrm>
          <a:prstGeom prst="rect">
            <a:avLst/>
          </a:prstGeom>
          <a:noFill/>
        </p:spPr>
        <p:txBody>
          <a:bodyPr wrap="square" anchor="ctr">
            <a:spAutoFit/>
          </a:bodyPr>
          <a:lstStyle/>
          <a:p>
            <a:pPr algn="ctr">
              <a:spcAft>
                <a:spcPts val="400"/>
              </a:spcAft>
            </a:pPr>
            <a:r>
              <a:rPr sz="1150" b="1">
                <a:solidFill>
                  <a:srgbClr val="7C3AED"/>
                </a:solidFill>
                <a:latin typeface="Arial"/>
              </a:rPr>
              <a:t>AWS SERVICES</a:t>
            </a:r>
          </a:p>
        </p:txBody>
      </p:sp>
      <p:sp>
        <p:nvSpPr>
          <p:cNvPr id="24" name="TextBox 23"/>
          <p:cNvSpPr txBox="1"/>
          <p:nvPr/>
        </p:nvSpPr>
        <p:spPr>
          <a:xfrm>
            <a:off x="6377940"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Nested stacks · Modules · CDK constructs · Service Catalog</a:t>
            </a:r>
          </a:p>
        </p:txBody>
      </p:sp>
      <p:sp>
        <p:nvSpPr>
          <p:cNvPr id="25" name="Rectangle 24"/>
          <p:cNvSpPr/>
          <p:nvPr/>
        </p:nvSpPr>
        <p:spPr>
          <a:xfrm>
            <a:off x="8999982"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99982" y="2148840"/>
            <a:ext cx="2411730"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76663"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7666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9" name="TextBox 28"/>
          <p:cNvSpPr txBox="1"/>
          <p:nvPr/>
        </p:nvSpPr>
        <p:spPr>
          <a:xfrm>
            <a:off x="9118854" y="3319272"/>
            <a:ext cx="2173986" cy="384048"/>
          </a:xfrm>
          <a:prstGeom prst="rect">
            <a:avLst/>
          </a:prstGeom>
          <a:noFill/>
        </p:spPr>
        <p:txBody>
          <a:bodyPr wrap="square" anchor="ctr">
            <a:spAutoFit/>
          </a:bodyPr>
          <a:lstStyle/>
          <a:p>
            <a:pPr algn="ctr">
              <a:spcAft>
                <a:spcPts val="400"/>
              </a:spcAft>
            </a:pPr>
            <a:r>
              <a:rPr sz="1150" b="1">
                <a:solidFill>
                  <a:srgbClr val="F59E0B"/>
                </a:solidFill>
                <a:latin typeface="Arial"/>
              </a:rPr>
              <a:t>EVIDENCE BOUNDARY</a:t>
            </a:r>
          </a:p>
        </p:txBody>
      </p:sp>
      <p:sp>
        <p:nvSpPr>
          <p:cNvPr id="30" name="TextBox 29"/>
          <p:cNvSpPr txBox="1"/>
          <p:nvPr/>
        </p:nvSpPr>
        <p:spPr>
          <a:xfrm>
            <a:off x="9118854"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Component version, input contract, output contract, policy checks and consuming stacks.</a:t>
            </a:r>
          </a:p>
        </p:txBody>
      </p:sp>
      <p:cxnSp>
        <p:nvCxnSpPr>
          <p:cNvPr id="31" name="Connector 30"/>
          <p:cNvCxnSpPr/>
          <p:nvPr/>
        </p:nvCxnSpPr>
        <p:spPr>
          <a:xfrm>
            <a:off x="318897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929884"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67079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7C3AED"/>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237</a:t>
            </a:r>
          </a:p>
        </p:txBody>
      </p:sp>
    </p:spTree>
  </p:cSld>
  <p:clrMapOvr>
    <a:masterClrMapping/>
  </p:clrMapOvr>
  <p:transition xmlns:p14="http://schemas.microsoft.com/office/powerpoint/2010/main" p14:dur="380">
    <p:fade/>
  </p:transition>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DOMAIN 2 · SERVICE BOUNDARIES</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500" b="1">
                <a:solidFill>
                  <a:srgbClr val="161B26"/>
                </a:solidFill>
                <a:latin typeface="Arial"/>
              </a:rPr>
              <a:t>Parameters, mappings and dynamic references: architecture map</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241173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53921"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5392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319272"/>
            <a:ext cx="2173986" cy="384048"/>
          </a:xfrm>
          <a:prstGeom prst="rect">
            <a:avLst/>
          </a:prstGeom>
          <a:noFill/>
        </p:spPr>
        <p:txBody>
          <a:bodyPr wrap="square" anchor="ctr">
            <a:spAutoFit/>
          </a:bodyPr>
          <a:lstStyle/>
          <a:p>
            <a:pPr algn="ctr">
              <a:spcAft>
                <a:spcPts val="400"/>
              </a:spcAft>
            </a:pPr>
            <a:r>
              <a:rPr sz="1150" b="1">
                <a:solidFill>
                  <a:srgbClr val="1F6FEB"/>
                </a:solidFill>
                <a:latin typeface="Arial"/>
              </a:rPr>
              <a:t>TRIGGER / INPUT</a:t>
            </a:r>
          </a:p>
        </p:txBody>
      </p:sp>
      <p:sp>
        <p:nvSpPr>
          <p:cNvPr id="12" name="TextBox 11"/>
          <p:cNvSpPr txBox="1"/>
          <p:nvPr/>
        </p:nvSpPr>
        <p:spPr>
          <a:xfrm>
            <a:off x="896112"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Declare input</a:t>
            </a:r>
          </a:p>
        </p:txBody>
      </p:sp>
      <p:sp>
        <p:nvSpPr>
          <p:cNvPr id="13" name="Rectangle 12"/>
          <p:cNvSpPr/>
          <p:nvPr/>
        </p:nvSpPr>
        <p:spPr>
          <a:xfrm>
            <a:off x="3518154"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18154" y="2148840"/>
            <a:ext cx="241173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394835"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94835"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7" name="TextBox 16"/>
          <p:cNvSpPr txBox="1"/>
          <p:nvPr/>
        </p:nvSpPr>
        <p:spPr>
          <a:xfrm>
            <a:off x="3637026" y="3319272"/>
            <a:ext cx="2173986" cy="384048"/>
          </a:xfrm>
          <a:prstGeom prst="rect">
            <a:avLst/>
          </a:prstGeom>
          <a:noFill/>
        </p:spPr>
        <p:txBody>
          <a:bodyPr wrap="square" anchor="ctr">
            <a:spAutoFit/>
          </a:bodyPr>
          <a:lstStyle/>
          <a:p>
            <a:pPr algn="ctr">
              <a:spcAft>
                <a:spcPts val="400"/>
              </a:spcAft>
            </a:pPr>
            <a:r>
              <a:rPr sz="1150" b="1">
                <a:solidFill>
                  <a:srgbClr val="10B981"/>
                </a:solidFill>
                <a:latin typeface="Arial"/>
              </a:rPr>
              <a:t>CONTROL PLANE</a:t>
            </a:r>
          </a:p>
        </p:txBody>
      </p:sp>
      <p:sp>
        <p:nvSpPr>
          <p:cNvPr id="18" name="TextBox 17"/>
          <p:cNvSpPr txBox="1"/>
          <p:nvPr/>
        </p:nvSpPr>
        <p:spPr>
          <a:xfrm>
            <a:off x="3637026"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Use parameters for deployment choices, mappings for curated constants and dynamic references for secret values.</a:t>
            </a:r>
          </a:p>
        </p:txBody>
      </p:sp>
      <p:sp>
        <p:nvSpPr>
          <p:cNvPr id="19" name="Rectangle 18"/>
          <p:cNvSpPr/>
          <p:nvPr/>
        </p:nvSpPr>
        <p:spPr>
          <a:xfrm>
            <a:off x="6259068"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9068" y="2148840"/>
            <a:ext cx="241173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5749"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574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3" name="TextBox 22"/>
          <p:cNvSpPr txBox="1"/>
          <p:nvPr/>
        </p:nvSpPr>
        <p:spPr>
          <a:xfrm>
            <a:off x="6377940" y="3319272"/>
            <a:ext cx="2173986" cy="384048"/>
          </a:xfrm>
          <a:prstGeom prst="rect">
            <a:avLst/>
          </a:prstGeom>
          <a:noFill/>
        </p:spPr>
        <p:txBody>
          <a:bodyPr wrap="square" anchor="ctr">
            <a:spAutoFit/>
          </a:bodyPr>
          <a:lstStyle/>
          <a:p>
            <a:pPr algn="ctr">
              <a:spcAft>
                <a:spcPts val="400"/>
              </a:spcAft>
            </a:pPr>
            <a:r>
              <a:rPr sz="1150" b="1">
                <a:solidFill>
                  <a:srgbClr val="7C3AED"/>
                </a:solidFill>
                <a:latin typeface="Arial"/>
              </a:rPr>
              <a:t>AWS SERVICES</a:t>
            </a:r>
          </a:p>
        </p:txBody>
      </p:sp>
      <p:sp>
        <p:nvSpPr>
          <p:cNvPr id="24" name="TextBox 23"/>
          <p:cNvSpPr txBox="1"/>
          <p:nvPr/>
        </p:nvSpPr>
        <p:spPr>
          <a:xfrm>
            <a:off x="6377940"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CloudFormation · Parameter Store · Secrets Manager</a:t>
            </a:r>
          </a:p>
        </p:txBody>
      </p:sp>
      <p:sp>
        <p:nvSpPr>
          <p:cNvPr id="25" name="Rectangle 24"/>
          <p:cNvSpPr/>
          <p:nvPr/>
        </p:nvSpPr>
        <p:spPr>
          <a:xfrm>
            <a:off x="8999982"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99982" y="2148840"/>
            <a:ext cx="2411730"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76663"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7666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9" name="TextBox 28"/>
          <p:cNvSpPr txBox="1"/>
          <p:nvPr/>
        </p:nvSpPr>
        <p:spPr>
          <a:xfrm>
            <a:off x="9118854" y="3319272"/>
            <a:ext cx="2173986" cy="384048"/>
          </a:xfrm>
          <a:prstGeom prst="rect">
            <a:avLst/>
          </a:prstGeom>
          <a:noFill/>
        </p:spPr>
        <p:txBody>
          <a:bodyPr wrap="square" anchor="ctr">
            <a:spAutoFit/>
          </a:bodyPr>
          <a:lstStyle/>
          <a:p>
            <a:pPr algn="ctr">
              <a:spcAft>
                <a:spcPts val="400"/>
              </a:spcAft>
            </a:pPr>
            <a:r>
              <a:rPr sz="1150" b="1">
                <a:solidFill>
                  <a:srgbClr val="F59E0B"/>
                </a:solidFill>
                <a:latin typeface="Arial"/>
              </a:rPr>
              <a:t>EVIDENCE BOUNDARY</a:t>
            </a:r>
          </a:p>
        </p:txBody>
      </p:sp>
      <p:sp>
        <p:nvSpPr>
          <p:cNvPr id="30" name="TextBox 29"/>
          <p:cNvSpPr txBox="1"/>
          <p:nvPr/>
        </p:nvSpPr>
        <p:spPr>
          <a:xfrm>
            <a:off x="9118854"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Parameter type, allowed values, secret ARN/version, access policy and redacted execution logs.</a:t>
            </a:r>
          </a:p>
        </p:txBody>
      </p:sp>
      <p:cxnSp>
        <p:nvCxnSpPr>
          <p:cNvPr id="31" name="Connector 30"/>
          <p:cNvCxnSpPr/>
          <p:nvPr/>
        </p:nvCxnSpPr>
        <p:spPr>
          <a:xfrm>
            <a:off x="318897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929884"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67079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7C3AED"/>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238</a:t>
            </a:r>
          </a:p>
        </p:txBody>
      </p:sp>
    </p:spTree>
  </p:cSld>
  <p:clrMapOvr>
    <a:masterClrMapping/>
  </p:clrMapOvr>
  <p:transition xmlns:p14="http://schemas.microsoft.com/office/powerpoint/2010/main" p14:dur="380">
    <p:fade/>
  </p:transition>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DOMAIN 2 · SERVICE BOUNDARIES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Drift, change control and rollback: architecture map</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241173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53921"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5392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319272"/>
            <a:ext cx="2173986" cy="384048"/>
          </a:xfrm>
          <a:prstGeom prst="rect">
            <a:avLst/>
          </a:prstGeom>
          <a:noFill/>
        </p:spPr>
        <p:txBody>
          <a:bodyPr wrap="square" anchor="ctr">
            <a:spAutoFit/>
          </a:bodyPr>
          <a:lstStyle/>
          <a:p>
            <a:pPr algn="ctr">
              <a:spcAft>
                <a:spcPts val="400"/>
              </a:spcAft>
            </a:pPr>
            <a:r>
              <a:rPr sz="1150" b="1">
                <a:solidFill>
                  <a:srgbClr val="1F6FEB"/>
                </a:solidFill>
                <a:latin typeface="Arial"/>
              </a:rPr>
              <a:t>TRIGGER / INPUT</a:t>
            </a:r>
          </a:p>
        </p:txBody>
      </p:sp>
      <p:sp>
        <p:nvSpPr>
          <p:cNvPr id="12" name="TextBox 11"/>
          <p:cNvSpPr txBox="1"/>
          <p:nvPr/>
        </p:nvSpPr>
        <p:spPr>
          <a:xfrm>
            <a:off x="896112"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Detect drift</a:t>
            </a:r>
          </a:p>
        </p:txBody>
      </p:sp>
      <p:sp>
        <p:nvSpPr>
          <p:cNvPr id="13" name="Rectangle 12"/>
          <p:cNvSpPr/>
          <p:nvPr/>
        </p:nvSpPr>
        <p:spPr>
          <a:xfrm>
            <a:off x="3518154"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18154" y="2148840"/>
            <a:ext cx="241173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394835"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94835"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7" name="TextBox 16"/>
          <p:cNvSpPr txBox="1"/>
          <p:nvPr/>
        </p:nvSpPr>
        <p:spPr>
          <a:xfrm>
            <a:off x="3637026" y="3319272"/>
            <a:ext cx="2173986" cy="384048"/>
          </a:xfrm>
          <a:prstGeom prst="rect">
            <a:avLst/>
          </a:prstGeom>
          <a:noFill/>
        </p:spPr>
        <p:txBody>
          <a:bodyPr wrap="square" anchor="ctr">
            <a:spAutoFit/>
          </a:bodyPr>
          <a:lstStyle/>
          <a:p>
            <a:pPr algn="ctr">
              <a:spcAft>
                <a:spcPts val="400"/>
              </a:spcAft>
            </a:pPr>
            <a:r>
              <a:rPr sz="1150" b="1">
                <a:solidFill>
                  <a:srgbClr val="10B981"/>
                </a:solidFill>
                <a:latin typeface="Arial"/>
              </a:rPr>
              <a:t>CONTROL PLANE</a:t>
            </a:r>
          </a:p>
        </p:txBody>
      </p:sp>
      <p:sp>
        <p:nvSpPr>
          <p:cNvPr id="18" name="TextBox 17"/>
          <p:cNvSpPr txBox="1"/>
          <p:nvPr/>
        </p:nvSpPr>
        <p:spPr>
          <a:xfrm>
            <a:off x="3637026"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Schedule drift detection, triage intent, import legitimate changes into code or remediate unauthorized variance.</a:t>
            </a:r>
          </a:p>
        </p:txBody>
      </p:sp>
      <p:sp>
        <p:nvSpPr>
          <p:cNvPr id="19" name="Rectangle 18"/>
          <p:cNvSpPr/>
          <p:nvPr/>
        </p:nvSpPr>
        <p:spPr>
          <a:xfrm>
            <a:off x="6259068"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9068" y="2148840"/>
            <a:ext cx="241173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5749"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574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3" name="TextBox 22"/>
          <p:cNvSpPr txBox="1"/>
          <p:nvPr/>
        </p:nvSpPr>
        <p:spPr>
          <a:xfrm>
            <a:off x="6377940" y="3319272"/>
            <a:ext cx="2173986" cy="384048"/>
          </a:xfrm>
          <a:prstGeom prst="rect">
            <a:avLst/>
          </a:prstGeom>
          <a:noFill/>
        </p:spPr>
        <p:txBody>
          <a:bodyPr wrap="square" anchor="ctr">
            <a:spAutoFit/>
          </a:bodyPr>
          <a:lstStyle/>
          <a:p>
            <a:pPr algn="ctr">
              <a:spcAft>
                <a:spcPts val="400"/>
              </a:spcAft>
            </a:pPr>
            <a:r>
              <a:rPr sz="1150" b="1">
                <a:solidFill>
                  <a:srgbClr val="7C3AED"/>
                </a:solidFill>
                <a:latin typeface="Arial"/>
              </a:rPr>
              <a:t>AWS SERVICES</a:t>
            </a:r>
          </a:p>
        </p:txBody>
      </p:sp>
      <p:sp>
        <p:nvSpPr>
          <p:cNvPr id="24" name="TextBox 23"/>
          <p:cNvSpPr txBox="1"/>
          <p:nvPr/>
        </p:nvSpPr>
        <p:spPr>
          <a:xfrm>
            <a:off x="6377940"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CloudFormation Drift · Config · Change Sets</a:t>
            </a:r>
          </a:p>
        </p:txBody>
      </p:sp>
      <p:sp>
        <p:nvSpPr>
          <p:cNvPr id="25" name="Rectangle 24"/>
          <p:cNvSpPr/>
          <p:nvPr/>
        </p:nvSpPr>
        <p:spPr>
          <a:xfrm>
            <a:off x="8999982"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99982" y="2148840"/>
            <a:ext cx="2411730"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76663"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7666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9" name="TextBox 28"/>
          <p:cNvSpPr txBox="1"/>
          <p:nvPr/>
        </p:nvSpPr>
        <p:spPr>
          <a:xfrm>
            <a:off x="9118854" y="3319272"/>
            <a:ext cx="2173986" cy="384048"/>
          </a:xfrm>
          <a:prstGeom prst="rect">
            <a:avLst/>
          </a:prstGeom>
          <a:noFill/>
        </p:spPr>
        <p:txBody>
          <a:bodyPr wrap="square" anchor="ctr">
            <a:spAutoFit/>
          </a:bodyPr>
          <a:lstStyle/>
          <a:p>
            <a:pPr algn="ctr">
              <a:spcAft>
                <a:spcPts val="400"/>
              </a:spcAft>
            </a:pPr>
            <a:r>
              <a:rPr sz="1150" b="1">
                <a:solidFill>
                  <a:srgbClr val="F59E0B"/>
                </a:solidFill>
                <a:latin typeface="Arial"/>
              </a:rPr>
              <a:t>EVIDENCE BOUNDARY</a:t>
            </a:r>
          </a:p>
        </p:txBody>
      </p:sp>
      <p:sp>
        <p:nvSpPr>
          <p:cNvPr id="30" name="TextBox 29"/>
          <p:cNvSpPr txBox="1"/>
          <p:nvPr/>
        </p:nvSpPr>
        <p:spPr>
          <a:xfrm>
            <a:off x="9118854"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Drift result, actor from CloudTrail, approved exception, change set and post-remediation state.</a:t>
            </a:r>
          </a:p>
        </p:txBody>
      </p:sp>
      <p:cxnSp>
        <p:nvCxnSpPr>
          <p:cNvPr id="31" name="Connector 30"/>
          <p:cNvCxnSpPr/>
          <p:nvPr/>
        </p:nvCxnSpPr>
        <p:spPr>
          <a:xfrm>
            <a:off x="318897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929884"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67079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7C3AED"/>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239</a:t>
            </a:r>
          </a:p>
        </p:txBody>
      </p:sp>
    </p:spTree>
  </p:cSld>
  <p:clrMapOvr>
    <a:masterClrMapping/>
  </p:clrMapOvr>
  <p:transition xmlns:p14="http://schemas.microsoft.com/office/powerpoint/2010/main" p14:dur="380">
    <p:fade/>
  </p:transition>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DOMAIN 2 · SERVICE BOUNDARIES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StackSets and account vending: architecture map</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241173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53921"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5392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319272"/>
            <a:ext cx="2173986" cy="384048"/>
          </a:xfrm>
          <a:prstGeom prst="rect">
            <a:avLst/>
          </a:prstGeom>
          <a:noFill/>
        </p:spPr>
        <p:txBody>
          <a:bodyPr wrap="square" anchor="ctr">
            <a:spAutoFit/>
          </a:bodyPr>
          <a:lstStyle/>
          <a:p>
            <a:pPr algn="ctr">
              <a:spcAft>
                <a:spcPts val="400"/>
              </a:spcAft>
            </a:pPr>
            <a:r>
              <a:rPr sz="1150" b="1">
                <a:solidFill>
                  <a:srgbClr val="1F6FEB"/>
                </a:solidFill>
                <a:latin typeface="Arial"/>
              </a:rPr>
              <a:t>TRIGGER / INPUT</a:t>
            </a:r>
          </a:p>
        </p:txBody>
      </p:sp>
      <p:sp>
        <p:nvSpPr>
          <p:cNvPr id="12" name="TextBox 11"/>
          <p:cNvSpPr txBox="1"/>
          <p:nvPr/>
        </p:nvSpPr>
        <p:spPr>
          <a:xfrm>
            <a:off x="896112"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Create account</a:t>
            </a:r>
          </a:p>
        </p:txBody>
      </p:sp>
      <p:sp>
        <p:nvSpPr>
          <p:cNvPr id="13" name="Rectangle 12"/>
          <p:cNvSpPr/>
          <p:nvPr/>
        </p:nvSpPr>
        <p:spPr>
          <a:xfrm>
            <a:off x="3518154"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18154" y="2148840"/>
            <a:ext cx="241173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394835"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94835"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7" name="TextBox 16"/>
          <p:cNvSpPr txBox="1"/>
          <p:nvPr/>
        </p:nvSpPr>
        <p:spPr>
          <a:xfrm>
            <a:off x="3637026" y="3319272"/>
            <a:ext cx="2173986" cy="384048"/>
          </a:xfrm>
          <a:prstGeom prst="rect">
            <a:avLst/>
          </a:prstGeom>
          <a:noFill/>
        </p:spPr>
        <p:txBody>
          <a:bodyPr wrap="square" anchor="ctr">
            <a:spAutoFit/>
          </a:bodyPr>
          <a:lstStyle/>
          <a:p>
            <a:pPr algn="ctr">
              <a:spcAft>
                <a:spcPts val="400"/>
              </a:spcAft>
            </a:pPr>
            <a:r>
              <a:rPr sz="1150" b="1">
                <a:solidFill>
                  <a:srgbClr val="10B981"/>
                </a:solidFill>
                <a:latin typeface="Arial"/>
              </a:rPr>
              <a:t>CONTROL PLANE</a:t>
            </a:r>
          </a:p>
        </p:txBody>
      </p:sp>
      <p:sp>
        <p:nvSpPr>
          <p:cNvPr id="18" name="TextBox 17"/>
          <p:cNvSpPr txBox="1"/>
          <p:nvPr/>
        </p:nvSpPr>
        <p:spPr>
          <a:xfrm>
            <a:off x="3637026"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Use organizational units, delegated administration, automatic deployment and controlled failure tolerance.</a:t>
            </a:r>
          </a:p>
        </p:txBody>
      </p:sp>
      <p:sp>
        <p:nvSpPr>
          <p:cNvPr id="19" name="Rectangle 18"/>
          <p:cNvSpPr/>
          <p:nvPr/>
        </p:nvSpPr>
        <p:spPr>
          <a:xfrm>
            <a:off x="6259068"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9068" y="2148840"/>
            <a:ext cx="241173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5749"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574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3" name="TextBox 22"/>
          <p:cNvSpPr txBox="1"/>
          <p:nvPr/>
        </p:nvSpPr>
        <p:spPr>
          <a:xfrm>
            <a:off x="6377940" y="3319272"/>
            <a:ext cx="2173986" cy="384048"/>
          </a:xfrm>
          <a:prstGeom prst="rect">
            <a:avLst/>
          </a:prstGeom>
          <a:noFill/>
        </p:spPr>
        <p:txBody>
          <a:bodyPr wrap="square" anchor="ctr">
            <a:spAutoFit/>
          </a:bodyPr>
          <a:lstStyle/>
          <a:p>
            <a:pPr algn="ctr">
              <a:spcAft>
                <a:spcPts val="400"/>
              </a:spcAft>
            </a:pPr>
            <a:r>
              <a:rPr sz="1150" b="1">
                <a:solidFill>
                  <a:srgbClr val="7C3AED"/>
                </a:solidFill>
                <a:latin typeface="Arial"/>
              </a:rPr>
              <a:t>AWS SERVICES</a:t>
            </a:r>
          </a:p>
        </p:txBody>
      </p:sp>
      <p:sp>
        <p:nvSpPr>
          <p:cNvPr id="24" name="TextBox 23"/>
          <p:cNvSpPr txBox="1"/>
          <p:nvPr/>
        </p:nvSpPr>
        <p:spPr>
          <a:xfrm>
            <a:off x="6377940"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Organizations · StackSets · Control Tower · Account Factory</a:t>
            </a:r>
          </a:p>
        </p:txBody>
      </p:sp>
      <p:sp>
        <p:nvSpPr>
          <p:cNvPr id="25" name="Rectangle 24"/>
          <p:cNvSpPr/>
          <p:nvPr/>
        </p:nvSpPr>
        <p:spPr>
          <a:xfrm>
            <a:off x="8999982"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99982" y="2148840"/>
            <a:ext cx="2411730"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76663"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7666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9" name="TextBox 28"/>
          <p:cNvSpPr txBox="1"/>
          <p:nvPr/>
        </p:nvSpPr>
        <p:spPr>
          <a:xfrm>
            <a:off x="9118854" y="3319272"/>
            <a:ext cx="2173986" cy="384048"/>
          </a:xfrm>
          <a:prstGeom prst="rect">
            <a:avLst/>
          </a:prstGeom>
          <a:noFill/>
        </p:spPr>
        <p:txBody>
          <a:bodyPr wrap="square" anchor="ctr">
            <a:spAutoFit/>
          </a:bodyPr>
          <a:lstStyle/>
          <a:p>
            <a:pPr algn="ctr">
              <a:spcAft>
                <a:spcPts val="400"/>
              </a:spcAft>
            </a:pPr>
            <a:r>
              <a:rPr sz="1150" b="1">
                <a:solidFill>
                  <a:srgbClr val="F59E0B"/>
                </a:solidFill>
                <a:latin typeface="Arial"/>
              </a:rPr>
              <a:t>EVIDENCE BOUNDARY</a:t>
            </a:r>
          </a:p>
        </p:txBody>
      </p:sp>
      <p:sp>
        <p:nvSpPr>
          <p:cNvPr id="30" name="TextBox 29"/>
          <p:cNvSpPr txBox="1"/>
          <p:nvPr/>
        </p:nvSpPr>
        <p:spPr>
          <a:xfrm>
            <a:off x="9118854"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OU target, permission model, operation preferences, per-account status and drift result.</a:t>
            </a:r>
          </a:p>
        </p:txBody>
      </p:sp>
      <p:cxnSp>
        <p:nvCxnSpPr>
          <p:cNvPr id="31" name="Connector 30"/>
          <p:cNvCxnSpPr/>
          <p:nvPr/>
        </p:nvCxnSpPr>
        <p:spPr>
          <a:xfrm>
            <a:off x="318897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929884"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67079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7C3AED"/>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240</a:t>
            </a:r>
          </a:p>
        </p:txBody>
      </p:sp>
    </p:spTree>
  </p:cSld>
  <p:clrMapOvr>
    <a:masterClrMapping/>
  </p:clrMapOvr>
  <p:transition xmlns:p14="http://schemas.microsoft.com/office/powerpoint/2010/main" p14:dur="380">
    <p:fade/>
  </p:transition>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DOMAIN 2 · SERVICE BOUNDARIES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Systems Manager fleet automation: architecture map</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241173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53921"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5392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319272"/>
            <a:ext cx="2173986" cy="384048"/>
          </a:xfrm>
          <a:prstGeom prst="rect">
            <a:avLst/>
          </a:prstGeom>
          <a:noFill/>
        </p:spPr>
        <p:txBody>
          <a:bodyPr wrap="square" anchor="ctr">
            <a:spAutoFit/>
          </a:bodyPr>
          <a:lstStyle/>
          <a:p>
            <a:pPr algn="ctr">
              <a:spcAft>
                <a:spcPts val="400"/>
              </a:spcAft>
            </a:pPr>
            <a:r>
              <a:rPr sz="1150" b="1">
                <a:solidFill>
                  <a:srgbClr val="1F6FEB"/>
                </a:solidFill>
                <a:latin typeface="Arial"/>
              </a:rPr>
              <a:t>TRIGGER / INPUT</a:t>
            </a:r>
          </a:p>
        </p:txBody>
      </p:sp>
      <p:sp>
        <p:nvSpPr>
          <p:cNvPr id="12" name="TextBox 11"/>
          <p:cNvSpPr txBox="1"/>
          <p:nvPr/>
        </p:nvSpPr>
        <p:spPr>
          <a:xfrm>
            <a:off x="896112"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Select by tag</a:t>
            </a:r>
          </a:p>
        </p:txBody>
      </p:sp>
      <p:sp>
        <p:nvSpPr>
          <p:cNvPr id="13" name="Rectangle 12"/>
          <p:cNvSpPr/>
          <p:nvPr/>
        </p:nvSpPr>
        <p:spPr>
          <a:xfrm>
            <a:off x="3518154"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18154" y="2148840"/>
            <a:ext cx="241173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394835"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94835"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7" name="TextBox 16"/>
          <p:cNvSpPr txBox="1"/>
          <p:nvPr/>
        </p:nvSpPr>
        <p:spPr>
          <a:xfrm>
            <a:off x="3637026" y="3319272"/>
            <a:ext cx="2173986" cy="384048"/>
          </a:xfrm>
          <a:prstGeom prst="rect">
            <a:avLst/>
          </a:prstGeom>
          <a:noFill/>
        </p:spPr>
        <p:txBody>
          <a:bodyPr wrap="square" anchor="ctr">
            <a:spAutoFit/>
          </a:bodyPr>
          <a:lstStyle/>
          <a:p>
            <a:pPr algn="ctr">
              <a:spcAft>
                <a:spcPts val="400"/>
              </a:spcAft>
            </a:pPr>
            <a:r>
              <a:rPr sz="1150" b="1">
                <a:solidFill>
                  <a:srgbClr val="10B981"/>
                </a:solidFill>
                <a:latin typeface="Arial"/>
              </a:rPr>
              <a:t>CONTROL PLANE</a:t>
            </a:r>
          </a:p>
        </p:txBody>
      </p:sp>
      <p:sp>
        <p:nvSpPr>
          <p:cNvPr id="18" name="TextBox 17"/>
          <p:cNvSpPr txBox="1"/>
          <p:nvPr/>
        </p:nvSpPr>
        <p:spPr>
          <a:xfrm>
            <a:off x="3637026"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Use tags, documents, maintenance windows, rate controls, concurrency limits and command output encryption.</a:t>
            </a:r>
          </a:p>
        </p:txBody>
      </p:sp>
      <p:sp>
        <p:nvSpPr>
          <p:cNvPr id="19" name="Rectangle 18"/>
          <p:cNvSpPr/>
          <p:nvPr/>
        </p:nvSpPr>
        <p:spPr>
          <a:xfrm>
            <a:off x="6259068"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9068" y="2148840"/>
            <a:ext cx="241173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5749"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574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3" name="TextBox 22"/>
          <p:cNvSpPr txBox="1"/>
          <p:nvPr/>
        </p:nvSpPr>
        <p:spPr>
          <a:xfrm>
            <a:off x="6377940" y="3319272"/>
            <a:ext cx="2173986" cy="384048"/>
          </a:xfrm>
          <a:prstGeom prst="rect">
            <a:avLst/>
          </a:prstGeom>
          <a:noFill/>
        </p:spPr>
        <p:txBody>
          <a:bodyPr wrap="square" anchor="ctr">
            <a:spAutoFit/>
          </a:bodyPr>
          <a:lstStyle/>
          <a:p>
            <a:pPr algn="ctr">
              <a:spcAft>
                <a:spcPts val="400"/>
              </a:spcAft>
            </a:pPr>
            <a:r>
              <a:rPr sz="1150" b="1">
                <a:solidFill>
                  <a:srgbClr val="7C3AED"/>
                </a:solidFill>
                <a:latin typeface="Arial"/>
              </a:rPr>
              <a:t>AWS SERVICES</a:t>
            </a:r>
          </a:p>
        </p:txBody>
      </p:sp>
      <p:sp>
        <p:nvSpPr>
          <p:cNvPr id="24" name="TextBox 23"/>
          <p:cNvSpPr txBox="1"/>
          <p:nvPr/>
        </p:nvSpPr>
        <p:spPr>
          <a:xfrm>
            <a:off x="6377940"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Systems Manager · Run Command · Automation · Patch Manager</a:t>
            </a:r>
          </a:p>
        </p:txBody>
      </p:sp>
      <p:sp>
        <p:nvSpPr>
          <p:cNvPr id="25" name="Rectangle 24"/>
          <p:cNvSpPr/>
          <p:nvPr/>
        </p:nvSpPr>
        <p:spPr>
          <a:xfrm>
            <a:off x="8999982"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99982" y="2148840"/>
            <a:ext cx="2411730"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76663"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7666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9" name="TextBox 28"/>
          <p:cNvSpPr txBox="1"/>
          <p:nvPr/>
        </p:nvSpPr>
        <p:spPr>
          <a:xfrm>
            <a:off x="9118854" y="3319272"/>
            <a:ext cx="2173986" cy="384048"/>
          </a:xfrm>
          <a:prstGeom prst="rect">
            <a:avLst/>
          </a:prstGeom>
          <a:noFill/>
        </p:spPr>
        <p:txBody>
          <a:bodyPr wrap="square" anchor="ctr">
            <a:spAutoFit/>
          </a:bodyPr>
          <a:lstStyle/>
          <a:p>
            <a:pPr algn="ctr">
              <a:spcAft>
                <a:spcPts val="400"/>
              </a:spcAft>
            </a:pPr>
            <a:r>
              <a:rPr sz="1150" b="1">
                <a:solidFill>
                  <a:srgbClr val="F59E0B"/>
                </a:solidFill>
                <a:latin typeface="Arial"/>
              </a:rPr>
              <a:t>EVIDENCE BOUNDARY</a:t>
            </a:r>
          </a:p>
        </p:txBody>
      </p:sp>
      <p:sp>
        <p:nvSpPr>
          <p:cNvPr id="30" name="TextBox 29"/>
          <p:cNvSpPr txBox="1"/>
          <p:nvPr/>
        </p:nvSpPr>
        <p:spPr>
          <a:xfrm>
            <a:off x="9118854"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Target query, document version, invocation output, compliance result and exception record.</a:t>
            </a:r>
          </a:p>
        </p:txBody>
      </p:sp>
      <p:cxnSp>
        <p:nvCxnSpPr>
          <p:cNvPr id="31" name="Connector 30"/>
          <p:cNvCxnSpPr/>
          <p:nvPr/>
        </p:nvCxnSpPr>
        <p:spPr>
          <a:xfrm>
            <a:off x="318897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929884"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67079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7C3AED"/>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241</a:t>
            </a:r>
          </a:p>
        </p:txBody>
      </p:sp>
    </p:spTree>
  </p:cSld>
  <p:clrMapOvr>
    <a:masterClrMapping/>
  </p:clrMapOvr>
  <p:transition xmlns:p14="http://schemas.microsoft.com/office/powerpoint/2010/main" p14:dur="380">
    <p:fade/>
  </p:transition>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DOMAIN 2 · SERVICE BOUNDARIES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700" b="1">
                <a:solidFill>
                  <a:srgbClr val="161B26"/>
                </a:solidFill>
                <a:latin typeface="Arial"/>
              </a:rPr>
              <a:t>CDK, SAM and workflow orchestration: architecture map</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241173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53921"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5392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319272"/>
            <a:ext cx="2173986" cy="384048"/>
          </a:xfrm>
          <a:prstGeom prst="rect">
            <a:avLst/>
          </a:prstGeom>
          <a:noFill/>
        </p:spPr>
        <p:txBody>
          <a:bodyPr wrap="square" anchor="ctr">
            <a:spAutoFit/>
          </a:bodyPr>
          <a:lstStyle/>
          <a:p>
            <a:pPr algn="ctr">
              <a:spcAft>
                <a:spcPts val="400"/>
              </a:spcAft>
            </a:pPr>
            <a:r>
              <a:rPr sz="1150" b="1">
                <a:solidFill>
                  <a:srgbClr val="1F6FEB"/>
                </a:solidFill>
                <a:latin typeface="Arial"/>
              </a:rPr>
              <a:t>TRIGGER / INPUT</a:t>
            </a:r>
          </a:p>
        </p:txBody>
      </p:sp>
      <p:sp>
        <p:nvSpPr>
          <p:cNvPr id="12" name="TextBox 11"/>
          <p:cNvSpPr txBox="1"/>
          <p:nvPr/>
        </p:nvSpPr>
        <p:spPr>
          <a:xfrm>
            <a:off x="896112"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Model</a:t>
            </a:r>
          </a:p>
        </p:txBody>
      </p:sp>
      <p:sp>
        <p:nvSpPr>
          <p:cNvPr id="13" name="Rectangle 12"/>
          <p:cNvSpPr/>
          <p:nvPr/>
        </p:nvSpPr>
        <p:spPr>
          <a:xfrm>
            <a:off x="3518154"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18154" y="2148840"/>
            <a:ext cx="241173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394835"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94835"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7" name="TextBox 16"/>
          <p:cNvSpPr txBox="1"/>
          <p:nvPr/>
        </p:nvSpPr>
        <p:spPr>
          <a:xfrm>
            <a:off x="3637026" y="3319272"/>
            <a:ext cx="2173986" cy="384048"/>
          </a:xfrm>
          <a:prstGeom prst="rect">
            <a:avLst/>
          </a:prstGeom>
          <a:noFill/>
        </p:spPr>
        <p:txBody>
          <a:bodyPr wrap="square" anchor="ctr">
            <a:spAutoFit/>
          </a:bodyPr>
          <a:lstStyle/>
          <a:p>
            <a:pPr algn="ctr">
              <a:spcAft>
                <a:spcPts val="400"/>
              </a:spcAft>
            </a:pPr>
            <a:r>
              <a:rPr sz="1150" b="1">
                <a:solidFill>
                  <a:srgbClr val="10B981"/>
                </a:solidFill>
                <a:latin typeface="Arial"/>
              </a:rPr>
              <a:t>CONTROL PLANE</a:t>
            </a:r>
          </a:p>
        </p:txBody>
      </p:sp>
      <p:sp>
        <p:nvSpPr>
          <p:cNvPr id="18" name="TextBox 17"/>
          <p:cNvSpPr txBox="1"/>
          <p:nvPr/>
        </p:nvSpPr>
        <p:spPr>
          <a:xfrm>
            <a:off x="3637026"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Synthesize templates, test constructs, separate build-time from runtime configuration, and orchestrate retries explicitly.</a:t>
            </a:r>
          </a:p>
        </p:txBody>
      </p:sp>
      <p:sp>
        <p:nvSpPr>
          <p:cNvPr id="19" name="Rectangle 18"/>
          <p:cNvSpPr/>
          <p:nvPr/>
        </p:nvSpPr>
        <p:spPr>
          <a:xfrm>
            <a:off x="6259068"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9068" y="2148840"/>
            <a:ext cx="241173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5749"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574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3" name="TextBox 22"/>
          <p:cNvSpPr txBox="1"/>
          <p:nvPr/>
        </p:nvSpPr>
        <p:spPr>
          <a:xfrm>
            <a:off x="6377940" y="3319272"/>
            <a:ext cx="2173986" cy="384048"/>
          </a:xfrm>
          <a:prstGeom prst="rect">
            <a:avLst/>
          </a:prstGeom>
          <a:noFill/>
        </p:spPr>
        <p:txBody>
          <a:bodyPr wrap="square" anchor="ctr">
            <a:spAutoFit/>
          </a:bodyPr>
          <a:lstStyle/>
          <a:p>
            <a:pPr algn="ctr">
              <a:spcAft>
                <a:spcPts val="400"/>
              </a:spcAft>
            </a:pPr>
            <a:r>
              <a:rPr sz="1150" b="1">
                <a:solidFill>
                  <a:srgbClr val="7C3AED"/>
                </a:solidFill>
                <a:latin typeface="Arial"/>
              </a:rPr>
              <a:t>AWS SERVICES</a:t>
            </a:r>
          </a:p>
        </p:txBody>
      </p:sp>
      <p:sp>
        <p:nvSpPr>
          <p:cNvPr id="24" name="TextBox 23"/>
          <p:cNvSpPr txBox="1"/>
          <p:nvPr/>
        </p:nvSpPr>
        <p:spPr>
          <a:xfrm>
            <a:off x="6377940"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CDK · SAM · Step Functions · AppConfig</a:t>
            </a:r>
          </a:p>
        </p:txBody>
      </p:sp>
      <p:sp>
        <p:nvSpPr>
          <p:cNvPr id="25" name="Rectangle 24"/>
          <p:cNvSpPr/>
          <p:nvPr/>
        </p:nvSpPr>
        <p:spPr>
          <a:xfrm>
            <a:off x="8999982"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99982" y="2148840"/>
            <a:ext cx="2411730"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76663"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7666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9" name="TextBox 28"/>
          <p:cNvSpPr txBox="1"/>
          <p:nvPr/>
        </p:nvSpPr>
        <p:spPr>
          <a:xfrm>
            <a:off x="9118854" y="3319272"/>
            <a:ext cx="2173986" cy="384048"/>
          </a:xfrm>
          <a:prstGeom prst="rect">
            <a:avLst/>
          </a:prstGeom>
          <a:noFill/>
        </p:spPr>
        <p:txBody>
          <a:bodyPr wrap="square" anchor="ctr">
            <a:spAutoFit/>
          </a:bodyPr>
          <a:lstStyle/>
          <a:p>
            <a:pPr algn="ctr">
              <a:spcAft>
                <a:spcPts val="400"/>
              </a:spcAft>
            </a:pPr>
            <a:r>
              <a:rPr sz="1150" b="1">
                <a:solidFill>
                  <a:srgbClr val="F59E0B"/>
                </a:solidFill>
                <a:latin typeface="Arial"/>
              </a:rPr>
              <a:t>EVIDENCE BOUNDARY</a:t>
            </a:r>
          </a:p>
        </p:txBody>
      </p:sp>
      <p:sp>
        <p:nvSpPr>
          <p:cNvPr id="30" name="TextBox 29"/>
          <p:cNvSpPr txBox="1"/>
          <p:nvPr/>
        </p:nvSpPr>
        <p:spPr>
          <a:xfrm>
            <a:off x="9118854"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Synthesized template, assertions, state-machine history, configuration version and deployment strategy.</a:t>
            </a:r>
          </a:p>
        </p:txBody>
      </p:sp>
      <p:cxnSp>
        <p:nvCxnSpPr>
          <p:cNvPr id="31" name="Connector 30"/>
          <p:cNvCxnSpPr/>
          <p:nvPr/>
        </p:nvCxnSpPr>
        <p:spPr>
          <a:xfrm>
            <a:off x="318897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929884"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67079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7C3AED"/>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242</a:t>
            </a:r>
          </a:p>
        </p:txBody>
      </p:sp>
    </p:spTree>
  </p:cSld>
  <p:clrMapOvr>
    <a:masterClrMapping/>
  </p:clrMapOvr>
  <p:transition xmlns:p14="http://schemas.microsoft.com/office/powerpoint/2010/main" p14:dur="380">
    <p:fade/>
  </p:transition>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LAB 6 · DAY 2 · LO2 · HANDS-ON</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500" b="1">
                <a:solidFill>
                  <a:srgbClr val="161B26"/>
                </a:solidFill>
                <a:latin typeface="Arial"/>
              </a:rPr>
              <a:t>Deploy a Reusable VPC Network Baseline with CloudFormation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37360"/>
            <a:ext cx="1417320"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83080"/>
            <a:ext cx="1417320" cy="365760"/>
          </a:xfrm>
          <a:prstGeom prst="rect">
            <a:avLst/>
          </a:prstGeom>
          <a:noFill/>
        </p:spPr>
        <p:txBody>
          <a:bodyPr wrap="square" anchor="t">
            <a:spAutoFit/>
          </a:bodyPr>
          <a:lstStyle/>
          <a:p>
            <a:pPr algn="ctr">
              <a:spcAft>
                <a:spcPts val="400"/>
              </a:spcAft>
            </a:pPr>
            <a:r>
              <a:rPr sz="1600" b="1">
                <a:solidFill>
                  <a:srgbClr val="FFFFFF"/>
                </a:solidFill>
                <a:latin typeface="Arial"/>
              </a:rPr>
              <a:t>LAB 6</a:t>
            </a:r>
          </a:p>
        </p:txBody>
      </p:sp>
      <p:sp>
        <p:nvSpPr>
          <p:cNvPr id="9" name="TextBox 8"/>
          <p:cNvSpPr txBox="1"/>
          <p:nvPr/>
        </p:nvSpPr>
        <p:spPr>
          <a:xfrm>
            <a:off x="2514600" y="1783080"/>
            <a:ext cx="3749039" cy="365760"/>
          </a:xfrm>
          <a:prstGeom prst="rect">
            <a:avLst/>
          </a:prstGeom>
          <a:noFill/>
        </p:spPr>
        <p:txBody>
          <a:bodyPr wrap="square" anchor="t">
            <a:spAutoFit/>
          </a:bodyPr>
          <a:lstStyle/>
          <a:p>
            <a:pPr algn="l">
              <a:spcAft>
                <a:spcPts val="400"/>
              </a:spcAft>
            </a:pPr>
            <a:r>
              <a:rPr sz="1150" b="1">
                <a:solidFill>
                  <a:srgbClr val="5B6372"/>
                </a:solidFill>
                <a:latin typeface="Arial"/>
              </a:rPr>
              <a:t>Day 2 · LO2 · K3, A3</a:t>
            </a:r>
          </a:p>
        </p:txBody>
      </p:sp>
      <p:sp>
        <p:nvSpPr>
          <p:cNvPr id="10" name="TextBox 9"/>
          <p:cNvSpPr txBox="1"/>
          <p:nvPr/>
        </p:nvSpPr>
        <p:spPr>
          <a:xfrm>
            <a:off x="777240" y="2286000"/>
            <a:ext cx="5486400" cy="1215390"/>
          </a:xfrm>
          <a:prstGeom prst="rect">
            <a:avLst/>
          </a:prstGeom>
          <a:noFill/>
        </p:spPr>
        <p:txBody>
          <a:bodyPr wrap="square" anchor="t">
            <a:spAutoFit/>
          </a:bodyPr>
          <a:lstStyle/>
          <a:p>
            <a:pPr algn="l">
              <a:spcAft>
                <a:spcPts val="400"/>
              </a:spcAft>
            </a:pPr>
            <a:r>
              <a:rPr sz="1350" b="0">
                <a:solidFill>
                  <a:srgbClr val="161B26"/>
                </a:solidFill>
                <a:latin typeface="Arial"/>
              </a:rPr>
              <a:t>Your team keeps building VPCs by hand and no two look alike.</a:t>
            </a:r>
          </a:p>
        </p:txBody>
      </p:sp>
      <p:sp>
        <p:nvSpPr>
          <p:cNvPr id="11" name="Rectangle 10"/>
          <p:cNvSpPr/>
          <p:nvPr/>
        </p:nvSpPr>
        <p:spPr>
          <a:xfrm>
            <a:off x="777240" y="3611118"/>
            <a:ext cx="5486400" cy="132816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611118"/>
            <a:ext cx="91440" cy="132816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3739134"/>
            <a:ext cx="5120640" cy="274320"/>
          </a:xfrm>
          <a:prstGeom prst="rect">
            <a:avLst/>
          </a:prstGeom>
          <a:noFill/>
        </p:spPr>
        <p:txBody>
          <a:bodyPr wrap="square" anchor="t">
            <a:spAutoFit/>
          </a:bodyPr>
          <a:lstStyle/>
          <a:p>
            <a:pPr algn="l">
              <a:spcAft>
                <a:spcPts val="400"/>
              </a:spcAft>
            </a:pPr>
            <a:r>
              <a:rPr sz="1200" b="1">
                <a:solidFill>
                  <a:srgbClr val="7C3AED"/>
                </a:solidFill>
                <a:latin typeface="Arial"/>
              </a:rPr>
              <a:t>YOU'LL BUILD</a:t>
            </a:r>
          </a:p>
        </p:txBody>
      </p:sp>
      <p:sp>
        <p:nvSpPr>
          <p:cNvPr id="14" name="TextBox 13"/>
          <p:cNvSpPr txBox="1"/>
          <p:nvPr/>
        </p:nvSpPr>
        <p:spPr>
          <a:xfrm>
            <a:off x="960120" y="4013454"/>
            <a:ext cx="5166360" cy="569595"/>
          </a:xfrm>
          <a:prstGeom prst="rect">
            <a:avLst/>
          </a:prstGeom>
          <a:noFill/>
        </p:spPr>
        <p:txBody>
          <a:bodyPr wrap="square" anchor="t">
            <a:spAutoFit/>
          </a:bodyPr>
          <a:lstStyle/>
          <a:p>
            <a:pPr algn="l">
              <a:spcAft>
                <a:spcPts val="400"/>
              </a:spcAft>
            </a:pPr>
            <a:r>
              <a:rPr sz="1150" b="1">
                <a:solidFill>
                  <a:srgbClr val="161B26"/>
                </a:solidFill>
                <a:latin typeface="Arial"/>
              </a:rPr>
              <a:t>A version-controlled network.yaml that deploys a 2-AZ VPC (2 public + 2 private subnets, IGW, route tables) and publishes VpcId, subnet IDs and the VPC CIDR as reusable cross-stack Exports.</a:t>
            </a:r>
          </a:p>
        </p:txBody>
      </p:sp>
      <p:sp>
        <p:nvSpPr>
          <p:cNvPr id="15" name="TextBox 14"/>
          <p:cNvSpPr txBox="1"/>
          <p:nvPr/>
        </p:nvSpPr>
        <p:spPr>
          <a:xfrm>
            <a:off x="960120" y="4637913"/>
            <a:ext cx="5166360" cy="173355"/>
          </a:xfrm>
          <a:prstGeom prst="rect">
            <a:avLst/>
          </a:prstGeom>
          <a:noFill/>
        </p:spPr>
        <p:txBody>
          <a:bodyPr wrap="square" anchor="t">
            <a:spAutoFit/>
          </a:bodyPr>
          <a:lstStyle/>
          <a:p>
            <a:pPr algn="l">
              <a:spcAft>
                <a:spcPts val="400"/>
              </a:spcAft>
            </a:pPr>
            <a:r>
              <a:rPr sz="1050" b="0">
                <a:solidFill>
                  <a:srgbClr val="5B6372"/>
                </a:solidFill>
                <a:latin typeface="Arial"/>
              </a:rPr>
              <a:t>Tools:  AWS CloudFormation, Amazon VPC, Amazon EC2</a:t>
            </a:r>
          </a:p>
        </p:txBody>
      </p:sp>
      <p:sp>
        <p:nvSpPr>
          <p:cNvPr id="16" name="Rectangle 15"/>
          <p:cNvSpPr/>
          <p:nvPr/>
        </p:nvSpPr>
        <p:spPr>
          <a:xfrm>
            <a:off x="777240" y="5049012"/>
            <a:ext cx="5486400" cy="1278636"/>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049012"/>
            <a:ext cx="91440" cy="127863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5177028"/>
            <a:ext cx="5120640" cy="274320"/>
          </a:xfrm>
          <a:prstGeom prst="rect">
            <a:avLst/>
          </a:prstGeom>
          <a:noFill/>
        </p:spPr>
        <p:txBody>
          <a:bodyPr wrap="square" anchor="t">
            <a:spAutoFit/>
          </a:bodyPr>
          <a:lstStyle/>
          <a:p>
            <a:pPr algn="l">
              <a:spcAft>
                <a:spcPts val="400"/>
              </a:spcAft>
            </a:pPr>
            <a:r>
              <a:rPr sz="1200" b="1">
                <a:solidFill>
                  <a:srgbClr val="10B981"/>
                </a:solidFill>
                <a:latin typeface="Arial"/>
              </a:rPr>
              <a:t>OUTCOME &amp; EVIDENCE</a:t>
            </a:r>
          </a:p>
        </p:txBody>
      </p:sp>
      <p:sp>
        <p:nvSpPr>
          <p:cNvPr id="19" name="TextBox 18"/>
          <p:cNvSpPr txBox="1"/>
          <p:nvPr/>
        </p:nvSpPr>
        <p:spPr>
          <a:xfrm>
            <a:off x="960120" y="5451348"/>
            <a:ext cx="5166360" cy="693420"/>
          </a:xfrm>
          <a:prstGeom prst="rect">
            <a:avLst/>
          </a:prstGeom>
          <a:noFill/>
        </p:spPr>
        <p:txBody>
          <a:bodyPr wrap="square" anchor="t">
            <a:spAutoFit/>
          </a:bodyPr>
          <a:lstStyle/>
          <a:p>
            <a:pPr algn="l">
              <a:spcAft>
                <a:spcPts val="300"/>
              </a:spcAft>
            </a:pPr>
            <a:r>
              <a:rPr sz="1050" b="0">
                <a:solidFill>
                  <a:srgbClr val="5B6372"/>
                </a:solidFill>
                <a:latin typeface="Arial"/>
              </a:rPr>
              <a:t>Outcome:  Author, validate and deploy a reusable VPC network baseline with CloudFormation and publish cross-stack exports (LO2, K3, A3).</a:t>
            </a:r>
          </a:p>
          <a:p>
            <a:pPr algn="l">
              <a:spcAft>
                <a:spcPts val="300"/>
              </a:spcAft>
            </a:pPr>
            <a:r>
              <a:rPr sz="1050" b="0">
                <a:solidFill>
                  <a:srgbClr val="5B6372"/>
                </a:solidFill>
                <a:latin typeface="Arial"/>
              </a:rPr>
              <a:t>Evidence:  describe-stacks output showing net-dev at CREATE_COMPLETE with the Outputs tab populated.</a:t>
            </a:r>
          </a:p>
        </p:txBody>
      </p:sp>
      <p:sp>
        <p:nvSpPr>
          <p:cNvPr id="20" name="Rectangle 19"/>
          <p:cNvSpPr/>
          <p:nvPr/>
        </p:nvSpPr>
        <p:spPr>
          <a:xfrm>
            <a:off x="6446520" y="1783080"/>
            <a:ext cx="5029200" cy="290140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ab-06-cloudformation-network-baseline.jpg"/>
          <p:cNvPicPr>
            <a:picLocks noChangeAspect="1"/>
          </p:cNvPicPr>
          <p:nvPr/>
        </p:nvPicPr>
        <p:blipFill>
          <a:blip r:embed="rId2"/>
          <a:stretch>
            <a:fillRect/>
          </a:stretch>
        </p:blipFill>
        <p:spPr>
          <a:xfrm>
            <a:off x="6492240" y="1828800"/>
            <a:ext cx="4937760" cy="2809963"/>
          </a:xfrm>
          <a:prstGeom prst="rect">
            <a:avLst/>
          </a:prstGeom>
        </p:spPr>
      </p:pic>
      <p:sp>
        <p:nvSpPr>
          <p:cNvPr id="22" name="TextBox 21"/>
          <p:cNvSpPr txBox="1"/>
          <p:nvPr/>
        </p:nvSpPr>
        <p:spPr>
          <a:xfrm>
            <a:off x="6492240" y="4730203"/>
            <a:ext cx="4937760" cy="365760"/>
          </a:xfrm>
          <a:prstGeom prst="rect">
            <a:avLst/>
          </a:prstGeom>
          <a:noFill/>
        </p:spPr>
        <p:txBody>
          <a:bodyPr wrap="square" anchor="t">
            <a:spAutoFit/>
          </a:bodyPr>
          <a:lstStyle/>
          <a:p>
            <a:pPr algn="ctr">
              <a:spcAft>
                <a:spcPts val="400"/>
              </a:spcAft>
            </a:pPr>
            <a:r>
              <a:rPr sz="1100" b="1">
                <a:solidFill>
                  <a:srgbClr val="5B6372"/>
                </a:solidFill>
                <a:latin typeface="Arial"/>
              </a:rPr>
              <a:t>Reference architecture</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243</a:t>
            </a:r>
          </a:p>
        </p:txBody>
      </p:sp>
    </p:spTree>
  </p:cSld>
  <p:clrMapOvr>
    <a:masterClrMapping/>
  </p:clrMapOvr>
  <p:transition xmlns:p14="http://schemas.microsoft.com/office/powerpoint/2010/main" p14:dur="380">
    <p:fade/>
  </p:transition>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LAB 7 · DAY 2 · LO2 · HANDS-ON</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100" b="1">
                <a:solidFill>
                  <a:srgbClr val="161B26"/>
                </a:solidFill>
                <a:latin typeface="Arial"/>
              </a:rPr>
              <a:t>Deploy a Parameterized Application Stack that Imports Network Exports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37360"/>
            <a:ext cx="1417320"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83080"/>
            <a:ext cx="1417320" cy="365760"/>
          </a:xfrm>
          <a:prstGeom prst="rect">
            <a:avLst/>
          </a:prstGeom>
          <a:noFill/>
        </p:spPr>
        <p:txBody>
          <a:bodyPr wrap="square" anchor="t">
            <a:spAutoFit/>
          </a:bodyPr>
          <a:lstStyle/>
          <a:p>
            <a:pPr algn="ctr">
              <a:spcAft>
                <a:spcPts val="400"/>
              </a:spcAft>
            </a:pPr>
            <a:r>
              <a:rPr sz="1600" b="1">
                <a:solidFill>
                  <a:srgbClr val="FFFFFF"/>
                </a:solidFill>
                <a:latin typeface="Arial"/>
              </a:rPr>
              <a:t>LAB 7</a:t>
            </a:r>
          </a:p>
        </p:txBody>
      </p:sp>
      <p:sp>
        <p:nvSpPr>
          <p:cNvPr id="9" name="TextBox 8"/>
          <p:cNvSpPr txBox="1"/>
          <p:nvPr/>
        </p:nvSpPr>
        <p:spPr>
          <a:xfrm>
            <a:off x="2514600" y="1783080"/>
            <a:ext cx="3749039" cy="365760"/>
          </a:xfrm>
          <a:prstGeom prst="rect">
            <a:avLst/>
          </a:prstGeom>
          <a:noFill/>
        </p:spPr>
        <p:txBody>
          <a:bodyPr wrap="square" anchor="t">
            <a:spAutoFit/>
          </a:bodyPr>
          <a:lstStyle/>
          <a:p>
            <a:pPr algn="l">
              <a:spcAft>
                <a:spcPts val="400"/>
              </a:spcAft>
            </a:pPr>
            <a:r>
              <a:rPr sz="1150" b="1">
                <a:solidFill>
                  <a:srgbClr val="5B6372"/>
                </a:solidFill>
                <a:latin typeface="Arial"/>
              </a:rPr>
              <a:t>Day 2 · LO2 · K3, A3</a:t>
            </a:r>
          </a:p>
        </p:txBody>
      </p:sp>
      <p:sp>
        <p:nvSpPr>
          <p:cNvPr id="10" name="TextBox 9"/>
          <p:cNvSpPr txBox="1"/>
          <p:nvPr/>
        </p:nvSpPr>
        <p:spPr>
          <a:xfrm>
            <a:off x="777240" y="2286000"/>
            <a:ext cx="5486400" cy="1025525"/>
          </a:xfrm>
          <a:prstGeom prst="rect">
            <a:avLst/>
          </a:prstGeom>
          <a:noFill/>
        </p:spPr>
        <p:txBody>
          <a:bodyPr wrap="square" anchor="t">
            <a:spAutoFit/>
          </a:bodyPr>
          <a:lstStyle/>
          <a:p>
            <a:pPr algn="l">
              <a:spcAft>
                <a:spcPts val="400"/>
              </a:spcAft>
            </a:pPr>
            <a:r>
              <a:rPr sz="1350" b="0">
                <a:solidFill>
                  <a:srgbClr val="161B26"/>
                </a:solidFill>
                <a:latin typeface="Arial"/>
              </a:rPr>
              <a:t>With the network baseline from Lab 6 in place, you now deploy the application tier on top of it — without copy-pasting a single subnet or VPC ID.</a:t>
            </a:r>
          </a:p>
        </p:txBody>
      </p:sp>
      <p:sp>
        <p:nvSpPr>
          <p:cNvPr id="11" name="Rectangle 10"/>
          <p:cNvSpPr/>
          <p:nvPr/>
        </p:nvSpPr>
        <p:spPr>
          <a:xfrm>
            <a:off x="777240" y="3421253"/>
            <a:ext cx="5486400" cy="134467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21253"/>
            <a:ext cx="91440" cy="134467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3549269"/>
            <a:ext cx="5120640" cy="274320"/>
          </a:xfrm>
          <a:prstGeom prst="rect">
            <a:avLst/>
          </a:prstGeom>
          <a:noFill/>
        </p:spPr>
        <p:txBody>
          <a:bodyPr wrap="square" anchor="t">
            <a:spAutoFit/>
          </a:bodyPr>
          <a:lstStyle/>
          <a:p>
            <a:pPr algn="l">
              <a:spcAft>
                <a:spcPts val="400"/>
              </a:spcAft>
            </a:pPr>
            <a:r>
              <a:rPr sz="1200" b="1">
                <a:solidFill>
                  <a:srgbClr val="7C3AED"/>
                </a:solidFill>
                <a:latin typeface="Arial"/>
              </a:rPr>
              <a:t>YOU'LL BUILD</a:t>
            </a:r>
          </a:p>
        </p:txBody>
      </p:sp>
      <p:sp>
        <p:nvSpPr>
          <p:cNvPr id="14" name="TextBox 13"/>
          <p:cNvSpPr txBox="1"/>
          <p:nvPr/>
        </p:nvSpPr>
        <p:spPr>
          <a:xfrm>
            <a:off x="960120" y="3823589"/>
            <a:ext cx="5166360" cy="412750"/>
          </a:xfrm>
          <a:prstGeom prst="rect">
            <a:avLst/>
          </a:prstGeom>
          <a:noFill/>
        </p:spPr>
        <p:txBody>
          <a:bodyPr wrap="square" anchor="t">
            <a:spAutoFit/>
          </a:bodyPr>
          <a:lstStyle/>
          <a:p>
            <a:pPr algn="l">
              <a:spcAft>
                <a:spcPts val="400"/>
              </a:spcAft>
            </a:pPr>
            <a:r>
              <a:rPr sz="1250" b="1">
                <a:solidFill>
                  <a:srgbClr val="161B26"/>
                </a:solidFill>
                <a:latin typeface="Arial"/>
              </a:rPr>
              <a:t>A parameterized app.yaml that imports the network exports, resolves the latest AMI via SSM.</a:t>
            </a:r>
          </a:p>
        </p:txBody>
      </p:sp>
      <p:sp>
        <p:nvSpPr>
          <p:cNvPr id="15" name="TextBox 14"/>
          <p:cNvSpPr txBox="1"/>
          <p:nvPr/>
        </p:nvSpPr>
        <p:spPr>
          <a:xfrm>
            <a:off x="960120" y="4291203"/>
            <a:ext cx="5166360" cy="346710"/>
          </a:xfrm>
          <a:prstGeom prst="rect">
            <a:avLst/>
          </a:prstGeom>
          <a:noFill/>
        </p:spPr>
        <p:txBody>
          <a:bodyPr wrap="square" anchor="t">
            <a:spAutoFit/>
          </a:bodyPr>
          <a:lstStyle/>
          <a:p>
            <a:pPr algn="l">
              <a:spcAft>
                <a:spcPts val="400"/>
              </a:spcAft>
            </a:pPr>
            <a:r>
              <a:rPr sz="1050" b="0">
                <a:solidFill>
                  <a:srgbClr val="5B6372"/>
                </a:solidFill>
                <a:latin typeface="Arial"/>
              </a:rPr>
              <a:t>Tools:  AWS CloudFormation, Amazon EC2, AWS Systems Manager (SSM public parameters)</a:t>
            </a:r>
          </a:p>
        </p:txBody>
      </p:sp>
      <p:sp>
        <p:nvSpPr>
          <p:cNvPr id="16" name="Rectangle 15"/>
          <p:cNvSpPr/>
          <p:nvPr/>
        </p:nvSpPr>
        <p:spPr>
          <a:xfrm>
            <a:off x="777240" y="4875657"/>
            <a:ext cx="5486400" cy="145199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875657"/>
            <a:ext cx="91440" cy="145199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5003673"/>
            <a:ext cx="5120640" cy="274320"/>
          </a:xfrm>
          <a:prstGeom prst="rect">
            <a:avLst/>
          </a:prstGeom>
          <a:noFill/>
        </p:spPr>
        <p:txBody>
          <a:bodyPr wrap="square" anchor="t">
            <a:spAutoFit/>
          </a:bodyPr>
          <a:lstStyle/>
          <a:p>
            <a:pPr algn="l">
              <a:spcAft>
                <a:spcPts val="400"/>
              </a:spcAft>
            </a:pPr>
            <a:r>
              <a:rPr sz="1200" b="1">
                <a:solidFill>
                  <a:srgbClr val="10B981"/>
                </a:solidFill>
                <a:latin typeface="Arial"/>
              </a:rPr>
              <a:t>OUTCOME &amp; EVIDENCE</a:t>
            </a:r>
          </a:p>
        </p:txBody>
      </p:sp>
      <p:sp>
        <p:nvSpPr>
          <p:cNvPr id="19" name="TextBox 18"/>
          <p:cNvSpPr txBox="1"/>
          <p:nvPr/>
        </p:nvSpPr>
        <p:spPr>
          <a:xfrm>
            <a:off x="960120" y="5277993"/>
            <a:ext cx="5166360" cy="866775"/>
          </a:xfrm>
          <a:prstGeom prst="rect">
            <a:avLst/>
          </a:prstGeom>
          <a:noFill/>
        </p:spPr>
        <p:txBody>
          <a:bodyPr wrap="square" anchor="t">
            <a:spAutoFit/>
          </a:bodyPr>
          <a:lstStyle/>
          <a:p>
            <a:pPr algn="l">
              <a:spcAft>
                <a:spcPts val="300"/>
              </a:spcAft>
            </a:pPr>
            <a:r>
              <a:rPr sz="1050" b="0">
                <a:solidFill>
                  <a:srgbClr val="5B6372"/>
                </a:solidFill>
                <a:latin typeface="Arial"/>
              </a:rPr>
              <a:t>Outcome:  Deploy a parameterized application stack that consumes cross-stack exports and reuse it for dev and test via parameter files (LO2, K3, A3).</a:t>
            </a:r>
          </a:p>
          <a:p>
            <a:pPr algn="l">
              <a:spcAft>
                <a:spcPts val="300"/>
              </a:spcAft>
            </a:pPr>
            <a:r>
              <a:rPr sz="1050" b="0">
                <a:solidFill>
                  <a:srgbClr val="5B6372"/>
                </a:solidFill>
                <a:latin typeface="Arial"/>
              </a:rPr>
              <a:t>Evidence:  describe-stacks output showing app-dev and app-test both at a *_COMPLETE status.</a:t>
            </a:r>
          </a:p>
        </p:txBody>
      </p:sp>
      <p:sp>
        <p:nvSpPr>
          <p:cNvPr id="20" name="Rectangle 19"/>
          <p:cNvSpPr/>
          <p:nvPr/>
        </p:nvSpPr>
        <p:spPr>
          <a:xfrm>
            <a:off x="6446520" y="1783080"/>
            <a:ext cx="5029200" cy="290140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ab-07-parameterized-app-stack.jpg"/>
          <p:cNvPicPr>
            <a:picLocks noChangeAspect="1"/>
          </p:cNvPicPr>
          <p:nvPr/>
        </p:nvPicPr>
        <p:blipFill>
          <a:blip r:embed="rId2"/>
          <a:stretch>
            <a:fillRect/>
          </a:stretch>
        </p:blipFill>
        <p:spPr>
          <a:xfrm>
            <a:off x="6492240" y="1828800"/>
            <a:ext cx="4937760" cy="2809963"/>
          </a:xfrm>
          <a:prstGeom prst="rect">
            <a:avLst/>
          </a:prstGeom>
        </p:spPr>
      </p:pic>
      <p:sp>
        <p:nvSpPr>
          <p:cNvPr id="22" name="TextBox 21"/>
          <p:cNvSpPr txBox="1"/>
          <p:nvPr/>
        </p:nvSpPr>
        <p:spPr>
          <a:xfrm>
            <a:off x="6492240" y="4730203"/>
            <a:ext cx="4937760" cy="365760"/>
          </a:xfrm>
          <a:prstGeom prst="rect">
            <a:avLst/>
          </a:prstGeom>
          <a:noFill/>
        </p:spPr>
        <p:txBody>
          <a:bodyPr wrap="square" anchor="t">
            <a:spAutoFit/>
          </a:bodyPr>
          <a:lstStyle/>
          <a:p>
            <a:pPr algn="ctr">
              <a:spcAft>
                <a:spcPts val="400"/>
              </a:spcAft>
            </a:pPr>
            <a:r>
              <a:rPr sz="1100" b="1">
                <a:solidFill>
                  <a:srgbClr val="5B6372"/>
                </a:solidFill>
                <a:latin typeface="Arial"/>
              </a:rPr>
              <a:t>Reference architecture</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244</a:t>
            </a:r>
          </a:p>
        </p:txBody>
      </p:sp>
    </p:spTree>
  </p:cSld>
  <p:clrMapOvr>
    <a:masterClrMapping/>
  </p:clrMapOvr>
  <p:transition xmlns:p14="http://schemas.microsoft.com/office/powerpoint/2010/main" p14:dur="380">
    <p:fade/>
  </p:transition>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LAB 8 · DAY 2 · LO2 · HANDS-ON</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500" b="1">
                <a:solidFill>
                  <a:srgbClr val="161B26"/>
                </a:solidFill>
                <a:latin typeface="Arial"/>
              </a:rPr>
              <a:t>Preview Changes with Change Sets and Detect &amp; Reconcile Drift</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37360"/>
            <a:ext cx="1417320"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83080"/>
            <a:ext cx="1417320" cy="365760"/>
          </a:xfrm>
          <a:prstGeom prst="rect">
            <a:avLst/>
          </a:prstGeom>
          <a:noFill/>
        </p:spPr>
        <p:txBody>
          <a:bodyPr wrap="square" anchor="t">
            <a:spAutoFit/>
          </a:bodyPr>
          <a:lstStyle/>
          <a:p>
            <a:pPr algn="ctr">
              <a:spcAft>
                <a:spcPts val="400"/>
              </a:spcAft>
            </a:pPr>
            <a:r>
              <a:rPr sz="1600" b="1">
                <a:solidFill>
                  <a:srgbClr val="FFFFFF"/>
                </a:solidFill>
                <a:latin typeface="Arial"/>
              </a:rPr>
              <a:t>LAB 8</a:t>
            </a:r>
          </a:p>
        </p:txBody>
      </p:sp>
      <p:sp>
        <p:nvSpPr>
          <p:cNvPr id="9" name="TextBox 8"/>
          <p:cNvSpPr txBox="1"/>
          <p:nvPr/>
        </p:nvSpPr>
        <p:spPr>
          <a:xfrm>
            <a:off x="2514600" y="1783080"/>
            <a:ext cx="3749039" cy="365760"/>
          </a:xfrm>
          <a:prstGeom prst="rect">
            <a:avLst/>
          </a:prstGeom>
          <a:noFill/>
        </p:spPr>
        <p:txBody>
          <a:bodyPr wrap="square" anchor="t">
            <a:spAutoFit/>
          </a:bodyPr>
          <a:lstStyle/>
          <a:p>
            <a:pPr algn="l">
              <a:spcAft>
                <a:spcPts val="400"/>
              </a:spcAft>
            </a:pPr>
            <a:r>
              <a:rPr sz="1150" b="1">
                <a:solidFill>
                  <a:srgbClr val="5B6372"/>
                </a:solidFill>
                <a:latin typeface="Arial"/>
              </a:rPr>
              <a:t>Day 2 · LO2 · K3, A3</a:t>
            </a:r>
          </a:p>
        </p:txBody>
      </p:sp>
      <p:sp>
        <p:nvSpPr>
          <p:cNvPr id="10" name="TextBox 9"/>
          <p:cNvSpPr txBox="1"/>
          <p:nvPr/>
        </p:nvSpPr>
        <p:spPr>
          <a:xfrm>
            <a:off x="777240" y="2286000"/>
            <a:ext cx="5486400" cy="1215390"/>
          </a:xfrm>
          <a:prstGeom prst="rect">
            <a:avLst/>
          </a:prstGeom>
          <a:noFill/>
        </p:spPr>
        <p:txBody>
          <a:bodyPr wrap="square" anchor="t">
            <a:spAutoFit/>
          </a:bodyPr>
          <a:lstStyle/>
          <a:p>
            <a:pPr algn="l">
              <a:spcAft>
                <a:spcPts val="400"/>
              </a:spcAft>
            </a:pPr>
            <a:r>
              <a:rPr sz="1350" b="0">
                <a:solidFill>
                  <a:srgbClr val="161B26"/>
                </a:solidFill>
                <a:latin typeface="Arial"/>
              </a:rPr>
              <a:t>Production changes are risky when you cannot see them coming, and infrastructure silently drifts when people click in the console.</a:t>
            </a:r>
          </a:p>
        </p:txBody>
      </p:sp>
      <p:sp>
        <p:nvSpPr>
          <p:cNvPr id="11" name="Rectangle 10"/>
          <p:cNvSpPr/>
          <p:nvPr/>
        </p:nvSpPr>
        <p:spPr>
          <a:xfrm>
            <a:off x="777240" y="3611118"/>
            <a:ext cx="5486400" cy="132816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611118"/>
            <a:ext cx="91440" cy="132816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3739134"/>
            <a:ext cx="5120640" cy="274320"/>
          </a:xfrm>
          <a:prstGeom prst="rect">
            <a:avLst/>
          </a:prstGeom>
          <a:noFill/>
        </p:spPr>
        <p:txBody>
          <a:bodyPr wrap="square" anchor="t">
            <a:spAutoFit/>
          </a:bodyPr>
          <a:lstStyle/>
          <a:p>
            <a:pPr algn="l">
              <a:spcAft>
                <a:spcPts val="400"/>
              </a:spcAft>
            </a:pPr>
            <a:r>
              <a:rPr sz="1200" b="1">
                <a:solidFill>
                  <a:srgbClr val="7C3AED"/>
                </a:solidFill>
                <a:latin typeface="Arial"/>
              </a:rPr>
              <a:t>YOU'LL BUILD</a:t>
            </a:r>
          </a:p>
        </p:txBody>
      </p:sp>
      <p:sp>
        <p:nvSpPr>
          <p:cNvPr id="14" name="TextBox 13"/>
          <p:cNvSpPr txBox="1"/>
          <p:nvPr/>
        </p:nvSpPr>
        <p:spPr>
          <a:xfrm>
            <a:off x="960120" y="4013454"/>
            <a:ext cx="5166360" cy="569595"/>
          </a:xfrm>
          <a:prstGeom prst="rect">
            <a:avLst/>
          </a:prstGeom>
          <a:noFill/>
        </p:spPr>
        <p:txBody>
          <a:bodyPr wrap="square" anchor="t">
            <a:spAutoFit/>
          </a:bodyPr>
          <a:lstStyle/>
          <a:p>
            <a:pPr algn="l">
              <a:spcAft>
                <a:spcPts val="400"/>
              </a:spcAft>
            </a:pPr>
            <a:r>
              <a:rPr sz="1150" b="1">
                <a:solidFill>
                  <a:srgbClr val="161B26"/>
                </a:solidFill>
                <a:latin typeface="Arial"/>
              </a:rPr>
              <a:t>A repeatable workflow: create-change-set.sh renders a reviewable preview of a stack change, and drift-check.sh detects and reports out-of-band drift so you can reconcile infrastructure back to code.</a:t>
            </a:r>
          </a:p>
        </p:txBody>
      </p:sp>
      <p:sp>
        <p:nvSpPr>
          <p:cNvPr id="15" name="TextBox 14"/>
          <p:cNvSpPr txBox="1"/>
          <p:nvPr/>
        </p:nvSpPr>
        <p:spPr>
          <a:xfrm>
            <a:off x="960120" y="4637913"/>
            <a:ext cx="5166360" cy="173355"/>
          </a:xfrm>
          <a:prstGeom prst="rect">
            <a:avLst/>
          </a:prstGeom>
          <a:noFill/>
        </p:spPr>
        <p:txBody>
          <a:bodyPr wrap="square" anchor="t">
            <a:spAutoFit/>
          </a:bodyPr>
          <a:lstStyle/>
          <a:p>
            <a:pPr algn="l">
              <a:spcAft>
                <a:spcPts val="400"/>
              </a:spcAft>
            </a:pPr>
            <a:r>
              <a:rPr sz="1050" b="0">
                <a:solidFill>
                  <a:srgbClr val="5B6372"/>
                </a:solidFill>
                <a:latin typeface="Arial"/>
              </a:rPr>
              <a:t>Tools:  AWS CloudFormation</a:t>
            </a:r>
          </a:p>
        </p:txBody>
      </p:sp>
      <p:sp>
        <p:nvSpPr>
          <p:cNvPr id="16" name="Rectangle 15"/>
          <p:cNvSpPr/>
          <p:nvPr/>
        </p:nvSpPr>
        <p:spPr>
          <a:xfrm>
            <a:off x="777240" y="5049012"/>
            <a:ext cx="5486400" cy="1278636"/>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049012"/>
            <a:ext cx="91440" cy="127863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5177028"/>
            <a:ext cx="5120640" cy="274320"/>
          </a:xfrm>
          <a:prstGeom prst="rect">
            <a:avLst/>
          </a:prstGeom>
          <a:noFill/>
        </p:spPr>
        <p:txBody>
          <a:bodyPr wrap="square" anchor="t">
            <a:spAutoFit/>
          </a:bodyPr>
          <a:lstStyle/>
          <a:p>
            <a:pPr algn="l">
              <a:spcAft>
                <a:spcPts val="400"/>
              </a:spcAft>
            </a:pPr>
            <a:r>
              <a:rPr sz="1200" b="1">
                <a:solidFill>
                  <a:srgbClr val="10B981"/>
                </a:solidFill>
                <a:latin typeface="Arial"/>
              </a:rPr>
              <a:t>OUTCOME &amp; EVIDENCE</a:t>
            </a:r>
          </a:p>
        </p:txBody>
      </p:sp>
      <p:sp>
        <p:nvSpPr>
          <p:cNvPr id="19" name="TextBox 18"/>
          <p:cNvSpPr txBox="1"/>
          <p:nvPr/>
        </p:nvSpPr>
        <p:spPr>
          <a:xfrm>
            <a:off x="960120" y="5451348"/>
            <a:ext cx="5166360" cy="693420"/>
          </a:xfrm>
          <a:prstGeom prst="rect">
            <a:avLst/>
          </a:prstGeom>
          <a:noFill/>
        </p:spPr>
        <p:txBody>
          <a:bodyPr wrap="square" anchor="t">
            <a:spAutoFit/>
          </a:bodyPr>
          <a:lstStyle/>
          <a:p>
            <a:pPr algn="l">
              <a:spcAft>
                <a:spcPts val="300"/>
              </a:spcAft>
            </a:pPr>
            <a:r>
              <a:rPr sz="1050" b="0">
                <a:solidFill>
                  <a:srgbClr val="5B6372"/>
                </a:solidFill>
                <a:latin typeface="Arial"/>
              </a:rPr>
              <a:t>Outcome:  Preview a stack modification safely with a change set before executing, then detect out-of-band drift and reconcile it (LO2, K3, A3).</a:t>
            </a:r>
          </a:p>
          <a:p>
            <a:pPr algn="l">
              <a:spcAft>
                <a:spcPts val="300"/>
              </a:spcAft>
            </a:pPr>
            <a:r>
              <a:rPr sz="1050" b="0">
                <a:solidFill>
                  <a:srgbClr val="5B6372"/>
                </a:solidFill>
                <a:latin typeface="Arial"/>
              </a:rPr>
              <a:t>Evidence:  describe-change-set output showing the previewed changes with Replacement=False (no destructive changes).</a:t>
            </a:r>
          </a:p>
        </p:txBody>
      </p:sp>
      <p:sp>
        <p:nvSpPr>
          <p:cNvPr id="20" name="Rectangle 19"/>
          <p:cNvSpPr/>
          <p:nvPr/>
        </p:nvSpPr>
        <p:spPr>
          <a:xfrm>
            <a:off x="6446520" y="1783080"/>
            <a:ext cx="5029200" cy="290140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ab-08-changesets-drift-detection.jpg"/>
          <p:cNvPicPr>
            <a:picLocks noChangeAspect="1"/>
          </p:cNvPicPr>
          <p:nvPr/>
        </p:nvPicPr>
        <p:blipFill>
          <a:blip r:embed="rId2"/>
          <a:stretch>
            <a:fillRect/>
          </a:stretch>
        </p:blipFill>
        <p:spPr>
          <a:xfrm>
            <a:off x="6492240" y="1828800"/>
            <a:ext cx="4937760" cy="2809963"/>
          </a:xfrm>
          <a:prstGeom prst="rect">
            <a:avLst/>
          </a:prstGeom>
        </p:spPr>
      </p:pic>
      <p:sp>
        <p:nvSpPr>
          <p:cNvPr id="22" name="TextBox 21"/>
          <p:cNvSpPr txBox="1"/>
          <p:nvPr/>
        </p:nvSpPr>
        <p:spPr>
          <a:xfrm>
            <a:off x="6492240" y="4730203"/>
            <a:ext cx="4937760" cy="365760"/>
          </a:xfrm>
          <a:prstGeom prst="rect">
            <a:avLst/>
          </a:prstGeom>
          <a:noFill/>
        </p:spPr>
        <p:txBody>
          <a:bodyPr wrap="square" anchor="t">
            <a:spAutoFit/>
          </a:bodyPr>
          <a:lstStyle/>
          <a:p>
            <a:pPr algn="ctr">
              <a:spcAft>
                <a:spcPts val="400"/>
              </a:spcAft>
            </a:pPr>
            <a:r>
              <a:rPr sz="1100" b="1">
                <a:solidFill>
                  <a:srgbClr val="5B6372"/>
                </a:solidFill>
                <a:latin typeface="Arial"/>
              </a:rPr>
              <a:t>Reference architecture</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245</a:t>
            </a:r>
          </a:p>
        </p:txBody>
      </p:sp>
    </p:spTree>
  </p:cSld>
  <p:clrMapOvr>
    <a:masterClrMapping/>
  </p:clrMapOvr>
  <p:transition xmlns:p14="http://schemas.microsoft.com/office/powerpoint/2010/main" p14:dur="380">
    <p:fade/>
  </p:transition>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LAB 9 · DAY 2 · LO2 · HANDS-ON</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Externalize Configuration with SSM Parameter Store</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37360"/>
            <a:ext cx="1417320"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83080"/>
            <a:ext cx="1417320" cy="365760"/>
          </a:xfrm>
          <a:prstGeom prst="rect">
            <a:avLst/>
          </a:prstGeom>
          <a:noFill/>
        </p:spPr>
        <p:txBody>
          <a:bodyPr wrap="square" anchor="t">
            <a:spAutoFit/>
          </a:bodyPr>
          <a:lstStyle/>
          <a:p>
            <a:pPr algn="ctr">
              <a:spcAft>
                <a:spcPts val="400"/>
              </a:spcAft>
            </a:pPr>
            <a:r>
              <a:rPr sz="1600" b="1">
                <a:solidFill>
                  <a:srgbClr val="FFFFFF"/>
                </a:solidFill>
                <a:latin typeface="Arial"/>
              </a:rPr>
              <a:t>LAB 9</a:t>
            </a:r>
          </a:p>
        </p:txBody>
      </p:sp>
      <p:sp>
        <p:nvSpPr>
          <p:cNvPr id="9" name="TextBox 8"/>
          <p:cNvSpPr txBox="1"/>
          <p:nvPr/>
        </p:nvSpPr>
        <p:spPr>
          <a:xfrm>
            <a:off x="2514600" y="1783080"/>
            <a:ext cx="3749039" cy="365760"/>
          </a:xfrm>
          <a:prstGeom prst="rect">
            <a:avLst/>
          </a:prstGeom>
          <a:noFill/>
        </p:spPr>
        <p:txBody>
          <a:bodyPr wrap="square" anchor="t">
            <a:spAutoFit/>
          </a:bodyPr>
          <a:lstStyle/>
          <a:p>
            <a:pPr algn="l">
              <a:spcAft>
                <a:spcPts val="400"/>
              </a:spcAft>
            </a:pPr>
            <a:r>
              <a:rPr sz="1150" b="1">
                <a:solidFill>
                  <a:srgbClr val="5B6372"/>
                </a:solidFill>
                <a:latin typeface="Arial"/>
              </a:rPr>
              <a:t>Day 2 · LO2 · K3, A3</a:t>
            </a:r>
          </a:p>
        </p:txBody>
      </p:sp>
      <p:sp>
        <p:nvSpPr>
          <p:cNvPr id="10" name="TextBox 9"/>
          <p:cNvSpPr txBox="1"/>
          <p:nvPr/>
        </p:nvSpPr>
        <p:spPr>
          <a:xfrm>
            <a:off x="777240" y="2286000"/>
            <a:ext cx="5486400" cy="1017270"/>
          </a:xfrm>
          <a:prstGeom prst="rect">
            <a:avLst/>
          </a:prstGeom>
          <a:noFill/>
        </p:spPr>
        <p:txBody>
          <a:bodyPr wrap="square" anchor="t">
            <a:spAutoFit/>
          </a:bodyPr>
          <a:lstStyle/>
          <a:p>
            <a:pPr algn="l">
              <a:spcAft>
                <a:spcPts val="400"/>
              </a:spcAft>
            </a:pPr>
            <a:r>
              <a:rPr sz="1350" b="0">
                <a:solidFill>
                  <a:srgbClr val="161B26"/>
                </a:solidFill>
                <a:latin typeface="Arial"/>
              </a:rPr>
              <a:t>Hard-coding configuration and credentials into code and templates is a recipe for leaks and rebuilds.</a:t>
            </a:r>
          </a:p>
        </p:txBody>
      </p:sp>
      <p:sp>
        <p:nvSpPr>
          <p:cNvPr id="11" name="Rectangle 10"/>
          <p:cNvSpPr/>
          <p:nvPr/>
        </p:nvSpPr>
        <p:spPr>
          <a:xfrm>
            <a:off x="777240" y="3412998"/>
            <a:ext cx="5486400" cy="152628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12998"/>
            <a:ext cx="91440" cy="152628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3541014"/>
            <a:ext cx="5120640" cy="274320"/>
          </a:xfrm>
          <a:prstGeom prst="rect">
            <a:avLst/>
          </a:prstGeom>
          <a:noFill/>
        </p:spPr>
        <p:txBody>
          <a:bodyPr wrap="square" anchor="t">
            <a:spAutoFit/>
          </a:bodyPr>
          <a:lstStyle/>
          <a:p>
            <a:pPr algn="l">
              <a:spcAft>
                <a:spcPts val="400"/>
              </a:spcAft>
            </a:pPr>
            <a:r>
              <a:rPr sz="1200" b="1">
                <a:solidFill>
                  <a:srgbClr val="7C3AED"/>
                </a:solidFill>
                <a:latin typeface="Arial"/>
              </a:rPr>
              <a:t>YOU'LL BUILD</a:t>
            </a:r>
          </a:p>
        </p:txBody>
      </p:sp>
      <p:sp>
        <p:nvSpPr>
          <p:cNvPr id="14" name="TextBox 13"/>
          <p:cNvSpPr txBox="1"/>
          <p:nvPr/>
        </p:nvSpPr>
        <p:spPr>
          <a:xfrm>
            <a:off x="960120" y="3815334"/>
            <a:ext cx="5166360" cy="594360"/>
          </a:xfrm>
          <a:prstGeom prst="rect">
            <a:avLst/>
          </a:prstGeom>
          <a:noFill/>
        </p:spPr>
        <p:txBody>
          <a:bodyPr wrap="square" anchor="t">
            <a:spAutoFit/>
          </a:bodyPr>
          <a:lstStyle/>
          <a:p>
            <a:pPr algn="l">
              <a:spcAft>
                <a:spcPts val="400"/>
              </a:spcAft>
            </a:pPr>
            <a:r>
              <a:rPr sz="1200" b="1">
                <a:solidFill>
                  <a:srgbClr val="161B26"/>
                </a:solidFill>
                <a:latin typeface="Arial"/>
              </a:rPr>
              <a:t>A /devops/app/* parameter hierarchy in SSM (String, StringList and KMS-encrypted SecureString) plus an app-config-reader.sh that pulls the whole configuration at runtime with decryption.</a:t>
            </a:r>
          </a:p>
        </p:txBody>
      </p:sp>
      <p:sp>
        <p:nvSpPr>
          <p:cNvPr id="15" name="TextBox 14"/>
          <p:cNvSpPr txBox="1"/>
          <p:nvPr/>
        </p:nvSpPr>
        <p:spPr>
          <a:xfrm>
            <a:off x="960120" y="4464558"/>
            <a:ext cx="5166360" cy="346710"/>
          </a:xfrm>
          <a:prstGeom prst="rect">
            <a:avLst/>
          </a:prstGeom>
          <a:noFill/>
        </p:spPr>
        <p:txBody>
          <a:bodyPr wrap="square" anchor="t">
            <a:spAutoFit/>
          </a:bodyPr>
          <a:lstStyle/>
          <a:p>
            <a:pPr algn="l">
              <a:spcAft>
                <a:spcPts val="400"/>
              </a:spcAft>
            </a:pPr>
            <a:r>
              <a:rPr sz="1050" b="0">
                <a:solidFill>
                  <a:srgbClr val="5B6372"/>
                </a:solidFill>
                <a:latin typeface="Arial"/>
              </a:rPr>
              <a:t>Tools:  AWS Systems Manager (Parameter Store, State Manager, Automation), AWS KMS, AWS CloudFormation</a:t>
            </a:r>
          </a:p>
        </p:txBody>
      </p:sp>
      <p:sp>
        <p:nvSpPr>
          <p:cNvPr id="16" name="Rectangle 15"/>
          <p:cNvSpPr/>
          <p:nvPr/>
        </p:nvSpPr>
        <p:spPr>
          <a:xfrm>
            <a:off x="777240" y="5049012"/>
            <a:ext cx="5486400" cy="1278636"/>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049012"/>
            <a:ext cx="91440" cy="127863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5177028"/>
            <a:ext cx="5120640" cy="274320"/>
          </a:xfrm>
          <a:prstGeom prst="rect">
            <a:avLst/>
          </a:prstGeom>
          <a:noFill/>
        </p:spPr>
        <p:txBody>
          <a:bodyPr wrap="square" anchor="t">
            <a:spAutoFit/>
          </a:bodyPr>
          <a:lstStyle/>
          <a:p>
            <a:pPr algn="l">
              <a:spcAft>
                <a:spcPts val="400"/>
              </a:spcAft>
            </a:pPr>
            <a:r>
              <a:rPr sz="1200" b="1">
                <a:solidFill>
                  <a:srgbClr val="10B981"/>
                </a:solidFill>
                <a:latin typeface="Arial"/>
              </a:rPr>
              <a:t>OUTCOME &amp; EVIDENCE</a:t>
            </a:r>
          </a:p>
        </p:txBody>
      </p:sp>
      <p:sp>
        <p:nvSpPr>
          <p:cNvPr id="19" name="TextBox 18"/>
          <p:cNvSpPr txBox="1"/>
          <p:nvPr/>
        </p:nvSpPr>
        <p:spPr>
          <a:xfrm>
            <a:off x="960120" y="5451348"/>
            <a:ext cx="5166360" cy="693420"/>
          </a:xfrm>
          <a:prstGeom prst="rect">
            <a:avLst/>
          </a:prstGeom>
          <a:noFill/>
        </p:spPr>
        <p:txBody>
          <a:bodyPr wrap="square" anchor="t">
            <a:spAutoFit/>
          </a:bodyPr>
          <a:lstStyle/>
          <a:p>
            <a:pPr algn="l">
              <a:spcAft>
                <a:spcPts val="300"/>
              </a:spcAft>
            </a:pPr>
            <a:r>
              <a:rPr sz="1050" b="0">
                <a:solidFill>
                  <a:srgbClr val="5B6372"/>
                </a:solidFill>
                <a:latin typeface="Arial"/>
              </a:rPr>
              <a:t>Outcome:  Externalize application configuration into SSM Parameter Store (String and SecureString), read it at runtime, and compare Parameter Store.</a:t>
            </a:r>
          </a:p>
          <a:p>
            <a:pPr algn="l">
              <a:spcAft>
                <a:spcPts val="300"/>
              </a:spcAft>
            </a:pPr>
            <a:r>
              <a:rPr sz="1050" b="0">
                <a:solidFill>
                  <a:srgbClr val="5B6372"/>
                </a:solidFill>
                <a:latin typeface="Arial"/>
              </a:rPr>
              <a:t>Evidence:  get-parameters-by-path output showing the /devops/app hierarchy with String, StringList and SecureString types.</a:t>
            </a:r>
          </a:p>
        </p:txBody>
      </p:sp>
      <p:sp>
        <p:nvSpPr>
          <p:cNvPr id="20" name="Rectangle 19"/>
          <p:cNvSpPr/>
          <p:nvPr/>
        </p:nvSpPr>
        <p:spPr>
          <a:xfrm>
            <a:off x="6446520" y="1783080"/>
            <a:ext cx="5029200" cy="290140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ab-09-ssm-parameter-store-config.jpg"/>
          <p:cNvPicPr>
            <a:picLocks noChangeAspect="1"/>
          </p:cNvPicPr>
          <p:nvPr/>
        </p:nvPicPr>
        <p:blipFill>
          <a:blip r:embed="rId2"/>
          <a:stretch>
            <a:fillRect/>
          </a:stretch>
        </p:blipFill>
        <p:spPr>
          <a:xfrm>
            <a:off x="6492240" y="1828800"/>
            <a:ext cx="4937760" cy="2809963"/>
          </a:xfrm>
          <a:prstGeom prst="rect">
            <a:avLst/>
          </a:prstGeom>
        </p:spPr>
      </p:pic>
      <p:sp>
        <p:nvSpPr>
          <p:cNvPr id="22" name="TextBox 21"/>
          <p:cNvSpPr txBox="1"/>
          <p:nvPr/>
        </p:nvSpPr>
        <p:spPr>
          <a:xfrm>
            <a:off x="6492240" y="4730203"/>
            <a:ext cx="4937760" cy="365760"/>
          </a:xfrm>
          <a:prstGeom prst="rect">
            <a:avLst/>
          </a:prstGeom>
          <a:noFill/>
        </p:spPr>
        <p:txBody>
          <a:bodyPr wrap="square" anchor="t">
            <a:spAutoFit/>
          </a:bodyPr>
          <a:lstStyle/>
          <a:p>
            <a:pPr algn="ctr">
              <a:spcAft>
                <a:spcPts val="400"/>
              </a:spcAft>
            </a:pPr>
            <a:r>
              <a:rPr sz="1100" b="1">
                <a:solidFill>
                  <a:srgbClr val="5B6372"/>
                </a:solidFill>
                <a:latin typeface="Arial"/>
              </a:rPr>
              <a:t>Reference architecture</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246</a:t>
            </a:r>
          </a:p>
        </p:txBody>
      </p:sp>
    </p:spTree>
  </p:cSld>
  <p:clrMapOvr>
    <a:masterClrMapping/>
  </p:clrMapOvr>
  <p:transition xmlns:p14="http://schemas.microsoft.com/office/powerpoint/2010/main" p14:dur="380">
    <p:fade/>
  </p:transition>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LAB 10 · DAY 2 · LO2 · HANDS-ON</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300" b="1">
                <a:solidFill>
                  <a:srgbClr val="161B26"/>
                </a:solidFill>
                <a:latin typeface="Arial"/>
              </a:rPr>
              <a:t>Multi-Account, Multi-Region Guardrails with CloudFormation StackSets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37360"/>
            <a:ext cx="1417320"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83080"/>
            <a:ext cx="1417320" cy="365760"/>
          </a:xfrm>
          <a:prstGeom prst="rect">
            <a:avLst/>
          </a:prstGeom>
          <a:noFill/>
        </p:spPr>
        <p:txBody>
          <a:bodyPr wrap="square" anchor="t">
            <a:spAutoFit/>
          </a:bodyPr>
          <a:lstStyle/>
          <a:p>
            <a:pPr algn="ctr">
              <a:spcAft>
                <a:spcPts val="400"/>
              </a:spcAft>
            </a:pPr>
            <a:r>
              <a:rPr sz="1600" b="1">
                <a:solidFill>
                  <a:srgbClr val="FFFFFF"/>
                </a:solidFill>
                <a:latin typeface="Arial"/>
              </a:rPr>
              <a:t>LAB 10</a:t>
            </a:r>
          </a:p>
        </p:txBody>
      </p:sp>
      <p:sp>
        <p:nvSpPr>
          <p:cNvPr id="9" name="TextBox 8"/>
          <p:cNvSpPr txBox="1"/>
          <p:nvPr/>
        </p:nvSpPr>
        <p:spPr>
          <a:xfrm>
            <a:off x="2514600" y="1783080"/>
            <a:ext cx="3749039" cy="365760"/>
          </a:xfrm>
          <a:prstGeom prst="rect">
            <a:avLst/>
          </a:prstGeom>
          <a:noFill/>
        </p:spPr>
        <p:txBody>
          <a:bodyPr wrap="square" anchor="t">
            <a:spAutoFit/>
          </a:bodyPr>
          <a:lstStyle/>
          <a:p>
            <a:pPr algn="l">
              <a:spcAft>
                <a:spcPts val="400"/>
              </a:spcAft>
            </a:pPr>
            <a:r>
              <a:rPr sz="1150" b="1">
                <a:solidFill>
                  <a:srgbClr val="5B6372"/>
                </a:solidFill>
                <a:latin typeface="Arial"/>
              </a:rPr>
              <a:t>Day 2 · LO2 · K3, A3</a:t>
            </a:r>
          </a:p>
        </p:txBody>
      </p:sp>
      <p:sp>
        <p:nvSpPr>
          <p:cNvPr id="10" name="TextBox 9"/>
          <p:cNvSpPr txBox="1"/>
          <p:nvPr/>
        </p:nvSpPr>
        <p:spPr>
          <a:xfrm>
            <a:off x="777240" y="2286000"/>
            <a:ext cx="5486400" cy="992505"/>
          </a:xfrm>
          <a:prstGeom prst="rect">
            <a:avLst/>
          </a:prstGeom>
          <a:noFill/>
        </p:spPr>
        <p:txBody>
          <a:bodyPr wrap="square" anchor="t">
            <a:spAutoFit/>
          </a:bodyPr>
          <a:lstStyle/>
          <a:p>
            <a:pPr algn="l">
              <a:spcAft>
                <a:spcPts val="400"/>
              </a:spcAft>
            </a:pPr>
            <a:r>
              <a:rPr sz="1350" b="0">
                <a:solidFill>
                  <a:srgbClr val="161B26"/>
                </a:solidFill>
                <a:latin typeface="Arial"/>
              </a:rPr>
              <a:t>Scaling infrastructure to many accounts by hand does not work.</a:t>
            </a:r>
          </a:p>
        </p:txBody>
      </p:sp>
      <p:sp>
        <p:nvSpPr>
          <p:cNvPr id="11" name="Rectangle 10"/>
          <p:cNvSpPr/>
          <p:nvPr/>
        </p:nvSpPr>
        <p:spPr>
          <a:xfrm>
            <a:off x="777240" y="3388233"/>
            <a:ext cx="5486400" cy="155105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388233"/>
            <a:ext cx="91440" cy="155105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3516249"/>
            <a:ext cx="5120640" cy="274320"/>
          </a:xfrm>
          <a:prstGeom prst="rect">
            <a:avLst/>
          </a:prstGeom>
          <a:noFill/>
        </p:spPr>
        <p:txBody>
          <a:bodyPr wrap="square" anchor="t">
            <a:spAutoFit/>
          </a:bodyPr>
          <a:lstStyle/>
          <a:p>
            <a:pPr algn="l">
              <a:spcAft>
                <a:spcPts val="400"/>
              </a:spcAft>
            </a:pPr>
            <a:r>
              <a:rPr sz="1200" b="1">
                <a:solidFill>
                  <a:srgbClr val="7C3AED"/>
                </a:solidFill>
                <a:latin typeface="Arial"/>
              </a:rPr>
              <a:t>YOU'LL BUILD</a:t>
            </a:r>
          </a:p>
        </p:txBody>
      </p:sp>
      <p:sp>
        <p:nvSpPr>
          <p:cNvPr id="14" name="TextBox 13"/>
          <p:cNvSpPr txBox="1"/>
          <p:nvPr/>
        </p:nvSpPr>
        <p:spPr>
          <a:xfrm>
            <a:off x="960120" y="3790569"/>
            <a:ext cx="5166360" cy="619125"/>
          </a:xfrm>
          <a:prstGeom prst="rect">
            <a:avLst/>
          </a:prstGeom>
          <a:noFill/>
        </p:spPr>
        <p:txBody>
          <a:bodyPr wrap="square" anchor="t">
            <a:spAutoFit/>
          </a:bodyPr>
          <a:lstStyle/>
          <a:p>
            <a:pPr algn="l">
              <a:spcAft>
                <a:spcPts val="400"/>
              </a:spcAft>
            </a:pPr>
            <a:r>
              <a:rPr sz="1250" b="1">
                <a:solidFill>
                  <a:srgbClr val="161B26"/>
                </a:solidFill>
                <a:latin typeface="Arial"/>
              </a:rPr>
              <a:t>A StackSet (service-managed) that fans a guardrail stack out to an OU across two Regions in one operation, plus an example SCP that enforces the same guardrail preventively.</a:t>
            </a:r>
          </a:p>
        </p:txBody>
      </p:sp>
      <p:sp>
        <p:nvSpPr>
          <p:cNvPr id="15" name="TextBox 14"/>
          <p:cNvSpPr txBox="1"/>
          <p:nvPr/>
        </p:nvSpPr>
        <p:spPr>
          <a:xfrm>
            <a:off x="960120" y="4464558"/>
            <a:ext cx="5166360" cy="346710"/>
          </a:xfrm>
          <a:prstGeom prst="rect">
            <a:avLst/>
          </a:prstGeom>
          <a:noFill/>
        </p:spPr>
        <p:txBody>
          <a:bodyPr wrap="square" anchor="t">
            <a:spAutoFit/>
          </a:bodyPr>
          <a:lstStyle/>
          <a:p>
            <a:pPr algn="l">
              <a:spcAft>
                <a:spcPts val="400"/>
              </a:spcAft>
            </a:pPr>
            <a:r>
              <a:rPr sz="1050" b="0">
                <a:solidFill>
                  <a:srgbClr val="5B6372"/>
                </a:solidFill>
                <a:latin typeface="Arial"/>
              </a:rPr>
              <a:t>Tools:  AWS CloudFormation StackSets, AWS Organizations, AWS Control Tower (concept)</a:t>
            </a:r>
          </a:p>
        </p:txBody>
      </p:sp>
      <p:sp>
        <p:nvSpPr>
          <p:cNvPr id="16" name="Rectangle 15"/>
          <p:cNvSpPr/>
          <p:nvPr/>
        </p:nvSpPr>
        <p:spPr>
          <a:xfrm>
            <a:off x="777240" y="5049012"/>
            <a:ext cx="5486400" cy="1278636"/>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049012"/>
            <a:ext cx="91440" cy="127863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5177028"/>
            <a:ext cx="5120640" cy="274320"/>
          </a:xfrm>
          <a:prstGeom prst="rect">
            <a:avLst/>
          </a:prstGeom>
          <a:noFill/>
        </p:spPr>
        <p:txBody>
          <a:bodyPr wrap="square" anchor="t">
            <a:spAutoFit/>
          </a:bodyPr>
          <a:lstStyle/>
          <a:p>
            <a:pPr algn="l">
              <a:spcAft>
                <a:spcPts val="400"/>
              </a:spcAft>
            </a:pPr>
            <a:r>
              <a:rPr sz="1200" b="1">
                <a:solidFill>
                  <a:srgbClr val="10B981"/>
                </a:solidFill>
                <a:latin typeface="Arial"/>
              </a:rPr>
              <a:t>OUTCOME &amp; EVIDENCE</a:t>
            </a:r>
          </a:p>
        </p:txBody>
      </p:sp>
      <p:sp>
        <p:nvSpPr>
          <p:cNvPr id="19" name="TextBox 18"/>
          <p:cNvSpPr txBox="1"/>
          <p:nvPr/>
        </p:nvSpPr>
        <p:spPr>
          <a:xfrm>
            <a:off x="960120" y="5451348"/>
            <a:ext cx="5166360" cy="693420"/>
          </a:xfrm>
          <a:prstGeom prst="rect">
            <a:avLst/>
          </a:prstGeom>
          <a:noFill/>
        </p:spPr>
        <p:txBody>
          <a:bodyPr wrap="square" anchor="t">
            <a:spAutoFit/>
          </a:bodyPr>
          <a:lstStyle/>
          <a:p>
            <a:pPr algn="l">
              <a:spcAft>
                <a:spcPts val="300"/>
              </a:spcAft>
            </a:pPr>
            <a:r>
              <a:rPr sz="1050" b="0">
                <a:solidFill>
                  <a:srgbClr val="5B6372"/>
                </a:solidFill>
                <a:latin typeface="Arial"/>
              </a:rPr>
              <a:t>Outcome:  Design and deploy a multi-account, multi-Region guardrail using CloudFormation StackSets.</a:t>
            </a:r>
          </a:p>
          <a:p>
            <a:pPr algn="l">
              <a:spcAft>
                <a:spcPts val="300"/>
              </a:spcAft>
            </a:pPr>
            <a:r>
              <a:rPr sz="1050" b="0">
                <a:solidFill>
                  <a:srgbClr val="5B6372"/>
                </a:solidFill>
                <a:latin typeface="Arial"/>
              </a:rPr>
              <a:t>Evidence:  list-stack-instances output showing the guardrail CURRENT in each account across both Regions.</a:t>
            </a:r>
          </a:p>
        </p:txBody>
      </p:sp>
      <p:sp>
        <p:nvSpPr>
          <p:cNvPr id="20" name="Rectangle 19"/>
          <p:cNvSpPr/>
          <p:nvPr/>
        </p:nvSpPr>
        <p:spPr>
          <a:xfrm>
            <a:off x="6446520" y="1783080"/>
            <a:ext cx="5029200" cy="290140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ab-10-multiaccount-region-stacksets.jpg"/>
          <p:cNvPicPr>
            <a:picLocks noChangeAspect="1"/>
          </p:cNvPicPr>
          <p:nvPr/>
        </p:nvPicPr>
        <p:blipFill>
          <a:blip r:embed="rId2"/>
          <a:stretch>
            <a:fillRect/>
          </a:stretch>
        </p:blipFill>
        <p:spPr>
          <a:xfrm>
            <a:off x="6492240" y="1828800"/>
            <a:ext cx="4937760" cy="2809963"/>
          </a:xfrm>
          <a:prstGeom prst="rect">
            <a:avLst/>
          </a:prstGeom>
        </p:spPr>
      </p:pic>
      <p:sp>
        <p:nvSpPr>
          <p:cNvPr id="22" name="TextBox 21"/>
          <p:cNvSpPr txBox="1"/>
          <p:nvPr/>
        </p:nvSpPr>
        <p:spPr>
          <a:xfrm>
            <a:off x="6492240" y="4730203"/>
            <a:ext cx="4937760" cy="365760"/>
          </a:xfrm>
          <a:prstGeom prst="rect">
            <a:avLst/>
          </a:prstGeom>
          <a:noFill/>
        </p:spPr>
        <p:txBody>
          <a:bodyPr wrap="square" anchor="t">
            <a:spAutoFit/>
          </a:bodyPr>
          <a:lstStyle/>
          <a:p>
            <a:pPr algn="ctr">
              <a:spcAft>
                <a:spcPts val="400"/>
              </a:spcAft>
            </a:pPr>
            <a:r>
              <a:rPr sz="1100" b="1">
                <a:solidFill>
                  <a:srgbClr val="5B6372"/>
                </a:solidFill>
                <a:latin typeface="Arial"/>
              </a:rPr>
              <a:t>Reference architecture</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247</a:t>
            </a:r>
          </a:p>
        </p:txBody>
      </p:sp>
    </p:spTree>
  </p:cSld>
  <p:clrMapOvr>
    <a:masterClrMapping/>
  </p:clrMapOvr>
  <p:transition xmlns:p14="http://schemas.microsoft.com/office/powerpoint/2010/main" p14:dur="380">
    <p:fade/>
  </p:transition>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DOMAIN RECAP</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Recap — Configuration Management and IaC</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10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6408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6408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127760"/>
          </a:xfrm>
          <a:prstGeom prst="rect">
            <a:avLst/>
          </a:prstGeom>
          <a:noFill/>
        </p:spPr>
        <p:txBody>
          <a:bodyPr wrap="square" anchor="ctr">
            <a:spAutoFit/>
          </a:bodyPr>
          <a:lstStyle/>
          <a:p>
            <a:pPr algn="l">
              <a:spcAft>
                <a:spcPts val="300"/>
              </a:spcAft>
            </a:pPr>
            <a:r>
              <a:rPr sz="1350" b="1">
                <a:solidFill>
                  <a:srgbClr val="161B26"/>
                </a:solidFill>
                <a:latin typeface="Arial"/>
              </a:rPr>
              <a:t>Lab 6</a:t>
            </a:r>
          </a:p>
          <a:p>
            <a:pPr algn="l">
              <a:spcAft>
                <a:spcPts val="300"/>
              </a:spcAft>
            </a:pPr>
            <a:r>
              <a:rPr sz="950" b="0">
                <a:solidFill>
                  <a:srgbClr val="5B6372"/>
                </a:solidFill>
                <a:latin typeface="Arial"/>
              </a:rPr>
              <a:t>Author, validate and deploy a reusable VPC network baseline with CloudFormation and publish cross-stack exports (LO2, K3, A3).</a:t>
            </a:r>
          </a:p>
        </p:txBody>
      </p:sp>
      <p:sp>
        <p:nvSpPr>
          <p:cNvPr id="12" name="Rectangle 11"/>
          <p:cNvSpPr/>
          <p:nvPr/>
        </p:nvSpPr>
        <p:spPr>
          <a:xfrm>
            <a:off x="6231636" y="1783080"/>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3106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6408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6408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127760"/>
          </a:xfrm>
          <a:prstGeom prst="rect">
            <a:avLst/>
          </a:prstGeom>
          <a:noFill/>
        </p:spPr>
        <p:txBody>
          <a:bodyPr wrap="square" anchor="ctr">
            <a:spAutoFit/>
          </a:bodyPr>
          <a:lstStyle/>
          <a:p>
            <a:pPr algn="l">
              <a:spcAft>
                <a:spcPts val="300"/>
              </a:spcAft>
            </a:pPr>
            <a:r>
              <a:rPr sz="1350" b="1">
                <a:solidFill>
                  <a:srgbClr val="161B26"/>
                </a:solidFill>
                <a:latin typeface="Arial"/>
              </a:rPr>
              <a:t>Lab 7</a:t>
            </a:r>
          </a:p>
          <a:p>
            <a:pPr algn="l">
              <a:spcAft>
                <a:spcPts val="300"/>
              </a:spcAft>
            </a:pPr>
            <a:r>
              <a:rPr sz="950" b="0">
                <a:solidFill>
                  <a:srgbClr val="5B6372"/>
                </a:solidFill>
                <a:latin typeface="Arial"/>
              </a:rPr>
              <a:t>Deploy a parameterized application stack that consumes cross-stack exports.</a:t>
            </a:r>
          </a:p>
        </p:txBody>
      </p:sp>
      <p:sp>
        <p:nvSpPr>
          <p:cNvPr id="17" name="Rectangle 16"/>
          <p:cNvSpPr/>
          <p:nvPr/>
        </p:nvSpPr>
        <p:spPr>
          <a:xfrm>
            <a:off x="777240" y="3313176"/>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3176"/>
            <a:ext cx="91440" cy="13106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422904"/>
            <a:ext cx="3973068" cy="1127760"/>
          </a:xfrm>
          <a:prstGeom prst="rect">
            <a:avLst/>
          </a:prstGeom>
          <a:noFill/>
        </p:spPr>
        <p:txBody>
          <a:bodyPr wrap="square" anchor="ctr">
            <a:spAutoFit/>
          </a:bodyPr>
          <a:lstStyle/>
          <a:p>
            <a:pPr algn="l">
              <a:spcAft>
                <a:spcPts val="300"/>
              </a:spcAft>
            </a:pPr>
            <a:r>
              <a:rPr sz="1350" b="1">
                <a:solidFill>
                  <a:srgbClr val="161B26"/>
                </a:solidFill>
                <a:latin typeface="Arial"/>
              </a:rPr>
              <a:t>Lab 8</a:t>
            </a:r>
          </a:p>
          <a:p>
            <a:pPr algn="l">
              <a:spcAft>
                <a:spcPts val="300"/>
              </a:spcAft>
            </a:pPr>
            <a:r>
              <a:rPr sz="950" b="0">
                <a:solidFill>
                  <a:srgbClr val="5B6372"/>
                </a:solidFill>
                <a:latin typeface="Arial"/>
              </a:rPr>
              <a:t>Preview a stack modification safely with a change set before executing, then detect out-of-band drift.</a:t>
            </a:r>
          </a:p>
        </p:txBody>
      </p:sp>
      <p:sp>
        <p:nvSpPr>
          <p:cNvPr id="22" name="Rectangle 21"/>
          <p:cNvSpPr/>
          <p:nvPr/>
        </p:nvSpPr>
        <p:spPr>
          <a:xfrm>
            <a:off x="6231636" y="3313176"/>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3176"/>
            <a:ext cx="91440" cy="13106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422904"/>
            <a:ext cx="3973068" cy="1127760"/>
          </a:xfrm>
          <a:prstGeom prst="rect">
            <a:avLst/>
          </a:prstGeom>
          <a:noFill/>
        </p:spPr>
        <p:txBody>
          <a:bodyPr wrap="square" anchor="ctr">
            <a:spAutoFit/>
          </a:bodyPr>
          <a:lstStyle/>
          <a:p>
            <a:pPr algn="l">
              <a:spcAft>
                <a:spcPts val="300"/>
              </a:spcAft>
            </a:pPr>
            <a:r>
              <a:rPr sz="1350" b="1">
                <a:solidFill>
                  <a:srgbClr val="161B26"/>
                </a:solidFill>
                <a:latin typeface="Arial"/>
              </a:rPr>
              <a:t>Lab 9</a:t>
            </a:r>
          </a:p>
          <a:p>
            <a:pPr algn="l">
              <a:spcAft>
                <a:spcPts val="300"/>
              </a:spcAft>
            </a:pPr>
            <a:r>
              <a:rPr sz="950" b="0">
                <a:solidFill>
                  <a:srgbClr val="5B6372"/>
                </a:solidFill>
                <a:latin typeface="Arial"/>
              </a:rPr>
              <a:t>Externalize application configuration into SSM Parameter Store (String and SecureString), read it at runtime, and compare Parameter Store.</a:t>
            </a:r>
          </a:p>
        </p:txBody>
      </p:sp>
      <p:sp>
        <p:nvSpPr>
          <p:cNvPr id="27" name="Rectangle 26"/>
          <p:cNvSpPr/>
          <p:nvPr/>
        </p:nvSpPr>
        <p:spPr>
          <a:xfrm>
            <a:off x="777240" y="4843272"/>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43272"/>
            <a:ext cx="91440" cy="13106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24272"/>
            <a:ext cx="548640" cy="548640"/>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2427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953000"/>
            <a:ext cx="3973068" cy="1127760"/>
          </a:xfrm>
          <a:prstGeom prst="rect">
            <a:avLst/>
          </a:prstGeom>
          <a:noFill/>
        </p:spPr>
        <p:txBody>
          <a:bodyPr wrap="square" anchor="ctr">
            <a:spAutoFit/>
          </a:bodyPr>
          <a:lstStyle/>
          <a:p>
            <a:pPr algn="l">
              <a:spcAft>
                <a:spcPts val="300"/>
              </a:spcAft>
            </a:pPr>
            <a:r>
              <a:rPr sz="1350" b="1">
                <a:solidFill>
                  <a:srgbClr val="161B26"/>
                </a:solidFill>
                <a:latin typeface="Arial"/>
              </a:rPr>
              <a:t>Lab 10</a:t>
            </a:r>
          </a:p>
          <a:p>
            <a:pPr algn="l">
              <a:spcAft>
                <a:spcPts val="300"/>
              </a:spcAft>
            </a:pPr>
            <a:r>
              <a:rPr sz="950" b="0">
                <a:solidFill>
                  <a:srgbClr val="5B6372"/>
                </a:solidFill>
                <a:latin typeface="Arial"/>
              </a:rPr>
              <a:t>Design and deploy a multi-account, multi-Region guardrail using CloudFormation StackSets.</a:t>
            </a:r>
          </a:p>
        </p:txBody>
      </p:sp>
      <p:sp>
        <p:nvSpPr>
          <p:cNvPr id="32" name="Rectangle 31"/>
          <p:cNvSpPr/>
          <p:nvPr/>
        </p:nvSpPr>
        <p:spPr>
          <a:xfrm>
            <a:off x="6231636" y="4843272"/>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43272"/>
            <a:ext cx="91440" cy="1310640"/>
          </a:xfrm>
          <a:prstGeom prst="rect">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24272"/>
            <a:ext cx="548640" cy="548640"/>
          </a:xfrm>
          <a:prstGeom prst="ellipse">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2427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953000"/>
            <a:ext cx="3973068" cy="1127760"/>
          </a:xfrm>
          <a:prstGeom prst="rect">
            <a:avLst/>
          </a:prstGeom>
          <a:noFill/>
        </p:spPr>
        <p:txBody>
          <a:bodyPr wrap="square" anchor="ctr">
            <a:spAutoFit/>
          </a:bodyPr>
          <a:lstStyle/>
          <a:p>
            <a:pPr algn="l">
              <a:spcAft>
                <a:spcPts val="300"/>
              </a:spcAft>
            </a:pPr>
            <a:r>
              <a:rPr sz="1350" b="1">
                <a:solidFill>
                  <a:srgbClr val="161B26"/>
                </a:solidFill>
                <a:latin typeface="Arial"/>
              </a:rPr>
              <a:t>Key principle</a:t>
            </a:r>
          </a:p>
          <a:p>
            <a:pPr algn="l">
              <a:spcAft>
                <a:spcPts val="300"/>
              </a:spcAft>
            </a:pPr>
            <a:r>
              <a:rPr sz="950" b="0">
                <a:solidFill>
                  <a:srgbClr val="5B6372"/>
                </a:solidFill>
                <a:latin typeface="Arial"/>
              </a:rPr>
              <a:t>Declare infrastructure in version-controlled templates so environments are repeatable, reviewable and disposable.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248</a:t>
            </a:r>
          </a:p>
        </p:txBody>
      </p:sp>
    </p:spTree>
  </p:cSld>
  <p:clrMapOvr>
    <a:masterClrMapping/>
  </p:clrMapOvr>
  <p:transition xmlns:p14="http://schemas.microsoft.com/office/powerpoint/2010/main" p14:dur="380">
    <p:fade/>
  </p:transition>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DOMAIN 03</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Resilient Cloud Solutions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Exam weighting 15%  ·  High availability · scalability · automated recovery (RTO/RPO)</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03</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249</a:t>
            </a:r>
          </a:p>
        </p:txBody>
      </p:sp>
    </p:spTree>
  </p:cSld>
  <p:clrMapOvr>
    <a:masterClrMapping/>
  </p:clrMapOvr>
  <p:transition xmlns:p14="http://schemas.microsoft.com/office/powerpoint/2010/main" p14:dur="380">
    <p:fade/>
  </p:transition>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03 · WEIGHTING 15%</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Key Concepts — Resilient Cloud Solutions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10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6408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6408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High availability</a:t>
            </a:r>
          </a:p>
          <a:p>
            <a:pPr algn="l">
              <a:spcAft>
                <a:spcPts val="300"/>
              </a:spcAft>
            </a:pPr>
            <a:r>
              <a:rPr sz="1150" b="0">
                <a:solidFill>
                  <a:srgbClr val="5B6372"/>
                </a:solidFill>
                <a:latin typeface="Arial"/>
              </a:rPr>
              <a:t>Spread compute across multiple Availability Zones behind an Elastic Load Balancer so one AZ failure is survivable.</a:t>
            </a:r>
          </a:p>
        </p:txBody>
      </p:sp>
      <p:sp>
        <p:nvSpPr>
          <p:cNvPr id="12" name="Rectangle 11"/>
          <p:cNvSpPr/>
          <p:nvPr/>
        </p:nvSpPr>
        <p:spPr>
          <a:xfrm>
            <a:off x="6231636" y="1783080"/>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3106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6408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6408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Elasticity &amp; Auto Scaling</a:t>
            </a:r>
          </a:p>
          <a:p>
            <a:pPr algn="l">
              <a:spcAft>
                <a:spcPts val="300"/>
              </a:spcAft>
            </a:pPr>
            <a:r>
              <a:rPr sz="1150" b="0">
                <a:solidFill>
                  <a:srgbClr val="5B6372"/>
                </a:solidFill>
                <a:latin typeface="Arial"/>
              </a:rPr>
              <a:t>Auto Scaling groups add and remove capacity on demand using target-tracking and step scaling policies.</a:t>
            </a:r>
          </a:p>
        </p:txBody>
      </p:sp>
      <p:sp>
        <p:nvSpPr>
          <p:cNvPr id="17" name="Rectangle 16"/>
          <p:cNvSpPr/>
          <p:nvPr/>
        </p:nvSpPr>
        <p:spPr>
          <a:xfrm>
            <a:off x="777240" y="3313176"/>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3176"/>
            <a:ext cx="91440" cy="13106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422904"/>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Decoupling</a:t>
            </a:r>
          </a:p>
          <a:p>
            <a:pPr algn="l">
              <a:spcAft>
                <a:spcPts val="300"/>
              </a:spcAft>
            </a:pPr>
            <a:r>
              <a:rPr sz="1150" b="0">
                <a:solidFill>
                  <a:srgbClr val="5B6372"/>
                </a:solidFill>
                <a:latin typeface="Arial"/>
              </a:rPr>
              <a:t>SQS, SNS and EventBridge decouple producers from consumers so components fail and scale independently.</a:t>
            </a:r>
          </a:p>
        </p:txBody>
      </p:sp>
      <p:sp>
        <p:nvSpPr>
          <p:cNvPr id="22" name="Rectangle 21"/>
          <p:cNvSpPr/>
          <p:nvPr/>
        </p:nvSpPr>
        <p:spPr>
          <a:xfrm>
            <a:off x="6231636" y="3313176"/>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3176"/>
            <a:ext cx="91440" cy="13106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422904"/>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RTO &amp; RPO</a:t>
            </a:r>
          </a:p>
          <a:p>
            <a:pPr algn="l">
              <a:spcAft>
                <a:spcPts val="300"/>
              </a:spcAft>
            </a:pPr>
            <a:r>
              <a:rPr sz="1150" b="0">
                <a:solidFill>
                  <a:srgbClr val="5B6372"/>
                </a:solidFill>
                <a:latin typeface="Arial"/>
              </a:rPr>
              <a:t>Recovery Time / Point Objectives drive the DR pattern: backup &amp; restore, pilot light, warm standby or multi-site active/active.</a:t>
            </a:r>
          </a:p>
        </p:txBody>
      </p:sp>
      <p:sp>
        <p:nvSpPr>
          <p:cNvPr id="27" name="Rectangle 26"/>
          <p:cNvSpPr/>
          <p:nvPr/>
        </p:nvSpPr>
        <p:spPr>
          <a:xfrm>
            <a:off x="777240" y="4843272"/>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43272"/>
            <a:ext cx="91440" cy="13106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24272"/>
            <a:ext cx="548640" cy="548640"/>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2427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953000"/>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Data durability</a:t>
            </a:r>
          </a:p>
          <a:p>
            <a:pPr algn="l">
              <a:spcAft>
                <a:spcPts val="300"/>
              </a:spcAft>
            </a:pPr>
            <a:r>
              <a:rPr sz="1150" b="0">
                <a:solidFill>
                  <a:srgbClr val="5B6372"/>
                </a:solidFill>
                <a:latin typeface="Arial"/>
              </a:rPr>
              <a:t>Multi-AZ RDS, DynamoDB global tables, S3 cross-Region replication and automated snapshots protect state.</a:t>
            </a:r>
          </a:p>
        </p:txBody>
      </p:sp>
      <p:sp>
        <p:nvSpPr>
          <p:cNvPr id="32" name="Rectangle 31"/>
          <p:cNvSpPr/>
          <p:nvPr/>
        </p:nvSpPr>
        <p:spPr>
          <a:xfrm>
            <a:off x="6231636" y="4843272"/>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43272"/>
            <a:ext cx="91440" cy="1310640"/>
          </a:xfrm>
          <a:prstGeom prst="rect">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24272"/>
            <a:ext cx="548640" cy="548640"/>
          </a:xfrm>
          <a:prstGeom prst="ellipse">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2427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953000"/>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Automated recovery</a:t>
            </a:r>
          </a:p>
          <a:p>
            <a:pPr algn="l">
              <a:spcAft>
                <a:spcPts val="300"/>
              </a:spcAft>
            </a:pPr>
            <a:r>
              <a:rPr sz="1150" b="0">
                <a:solidFill>
                  <a:srgbClr val="5B6372"/>
                </a:solidFill>
                <a:latin typeface="Arial"/>
              </a:rPr>
              <a:t>EC2 auto-recovery, ASG health checks and Route 53 health-check failover restore service without human action.</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250</a:t>
            </a:r>
          </a:p>
        </p:txBody>
      </p:sp>
    </p:spTree>
  </p:cSld>
  <p:clrMapOvr>
    <a:masterClrMapping/>
  </p:clrMapOvr>
  <p:transition xmlns:p14="http://schemas.microsoft.com/office/powerpoint/2010/main" p14:dur="380">
    <p:fade/>
  </p:transition>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03 · RESILIENCE</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Highly Available, Auto-Scaling Architecture</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965960"/>
            <a:ext cx="1828800" cy="1051560"/>
          </a:xfrm>
          <a:prstGeom prst="roundRect">
            <a:avLst/>
          </a:prstGeom>
          <a:solidFill>
            <a:srgbClr val="F5F8FC"/>
          </a:solidFill>
          <a:ln w="15875">
            <a:solidFill>
              <a:srgbClr val="5B63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965960"/>
            <a:ext cx="1828800" cy="82296"/>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075688"/>
            <a:ext cx="1645920" cy="868680"/>
          </a:xfrm>
          <a:prstGeom prst="rect">
            <a:avLst/>
          </a:prstGeom>
          <a:noFill/>
        </p:spPr>
        <p:txBody>
          <a:bodyPr wrap="square" anchor="ctr">
            <a:spAutoFit/>
          </a:bodyPr>
          <a:lstStyle/>
          <a:p>
            <a:pPr algn="ctr">
              <a:spcAft>
                <a:spcPts val="400"/>
              </a:spcAft>
            </a:pPr>
            <a:r>
              <a:rPr sz="1200" b="1">
                <a:solidFill>
                  <a:srgbClr val="161B26"/>
                </a:solidFill>
                <a:latin typeface="Arial"/>
              </a:rPr>
              <a:t>Users</a:t>
            </a:r>
          </a:p>
        </p:txBody>
      </p:sp>
      <p:sp>
        <p:nvSpPr>
          <p:cNvPr id="10" name="Rounded Rectangle 9"/>
          <p:cNvSpPr/>
          <p:nvPr/>
        </p:nvSpPr>
        <p:spPr>
          <a:xfrm>
            <a:off x="2971800" y="1965960"/>
            <a:ext cx="1828800" cy="1051560"/>
          </a:xfrm>
          <a:prstGeom prst="roundRect">
            <a:avLst/>
          </a:prstGeom>
          <a:solidFill>
            <a:srgbClr val="F5F8FC"/>
          </a:solidFill>
          <a:ln w="15875">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971800" y="1965960"/>
            <a:ext cx="1828800"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63240" y="2075688"/>
            <a:ext cx="1645920" cy="868680"/>
          </a:xfrm>
          <a:prstGeom prst="rect">
            <a:avLst/>
          </a:prstGeom>
          <a:noFill/>
        </p:spPr>
        <p:txBody>
          <a:bodyPr wrap="square" anchor="ctr">
            <a:spAutoFit/>
          </a:bodyPr>
          <a:lstStyle/>
          <a:p>
            <a:pPr algn="ctr">
              <a:spcAft>
                <a:spcPts val="400"/>
              </a:spcAft>
            </a:pPr>
            <a:r>
              <a:rPr sz="1200" b="1">
                <a:solidFill>
                  <a:srgbClr val="161B26"/>
                </a:solidFill>
                <a:latin typeface="Arial"/>
              </a:rPr>
              <a:t>Route 53
DNS + health checks</a:t>
            </a:r>
          </a:p>
        </p:txBody>
      </p:sp>
      <p:sp>
        <p:nvSpPr>
          <p:cNvPr id="13" name="Rounded Rectangle 12"/>
          <p:cNvSpPr/>
          <p:nvPr/>
        </p:nvSpPr>
        <p:spPr>
          <a:xfrm>
            <a:off x="5166360" y="1965960"/>
            <a:ext cx="1828800" cy="1051560"/>
          </a:xfrm>
          <a:prstGeom prst="roundRect">
            <a:avLst/>
          </a:prstGeom>
          <a:solidFill>
            <a:srgbClr val="F5F8FC"/>
          </a:solidFill>
          <a:ln w="15875">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166360" y="1965960"/>
            <a:ext cx="1828800"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57800" y="2075688"/>
            <a:ext cx="1645920" cy="868680"/>
          </a:xfrm>
          <a:prstGeom prst="rect">
            <a:avLst/>
          </a:prstGeom>
          <a:noFill/>
        </p:spPr>
        <p:txBody>
          <a:bodyPr wrap="square" anchor="ctr">
            <a:spAutoFit/>
          </a:bodyPr>
          <a:lstStyle/>
          <a:p>
            <a:pPr algn="ctr">
              <a:spcAft>
                <a:spcPts val="400"/>
              </a:spcAft>
            </a:pPr>
            <a:r>
              <a:rPr sz="1200" b="1">
                <a:solidFill>
                  <a:srgbClr val="161B26"/>
                </a:solidFill>
                <a:latin typeface="Arial"/>
              </a:rPr>
              <a:t>Application
Load Balancer</a:t>
            </a:r>
          </a:p>
        </p:txBody>
      </p:sp>
      <p:sp>
        <p:nvSpPr>
          <p:cNvPr id="16" name="Rounded Rectangle 15"/>
          <p:cNvSpPr/>
          <p:nvPr/>
        </p:nvSpPr>
        <p:spPr>
          <a:xfrm>
            <a:off x="7360920" y="1965960"/>
            <a:ext cx="1828800" cy="1051560"/>
          </a:xfrm>
          <a:prstGeom prst="roundRect">
            <a:avLst/>
          </a:prstGeom>
          <a:solidFill>
            <a:srgbClr val="F5F8FC"/>
          </a:solidFill>
          <a:ln w="15875">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60920" y="1965960"/>
            <a:ext cx="182880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2075688"/>
            <a:ext cx="1645920" cy="868680"/>
          </a:xfrm>
          <a:prstGeom prst="rect">
            <a:avLst/>
          </a:prstGeom>
          <a:noFill/>
        </p:spPr>
        <p:txBody>
          <a:bodyPr wrap="square" anchor="ctr">
            <a:spAutoFit/>
          </a:bodyPr>
          <a:lstStyle/>
          <a:p>
            <a:pPr algn="ctr">
              <a:spcAft>
                <a:spcPts val="400"/>
              </a:spcAft>
            </a:pPr>
            <a:r>
              <a:rPr sz="1200" b="1">
                <a:solidFill>
                  <a:srgbClr val="161B26"/>
                </a:solidFill>
                <a:latin typeface="Arial"/>
              </a:rPr>
              <a:t>AZ-A
EC2 (ASG)</a:t>
            </a:r>
          </a:p>
        </p:txBody>
      </p:sp>
      <p:sp>
        <p:nvSpPr>
          <p:cNvPr id="19" name="Rounded Rectangle 18"/>
          <p:cNvSpPr/>
          <p:nvPr/>
        </p:nvSpPr>
        <p:spPr>
          <a:xfrm>
            <a:off x="7360920" y="3657600"/>
            <a:ext cx="1828800" cy="1051560"/>
          </a:xfrm>
          <a:prstGeom prst="roundRect">
            <a:avLst/>
          </a:prstGeom>
          <a:solidFill>
            <a:srgbClr val="F5F8FC"/>
          </a:solidFill>
          <a:ln w="15875">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60920" y="3657600"/>
            <a:ext cx="182880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52360" y="3767328"/>
            <a:ext cx="1645920" cy="868680"/>
          </a:xfrm>
          <a:prstGeom prst="rect">
            <a:avLst/>
          </a:prstGeom>
          <a:noFill/>
        </p:spPr>
        <p:txBody>
          <a:bodyPr wrap="square" anchor="ctr">
            <a:spAutoFit/>
          </a:bodyPr>
          <a:lstStyle/>
          <a:p>
            <a:pPr algn="ctr">
              <a:spcAft>
                <a:spcPts val="400"/>
              </a:spcAft>
            </a:pPr>
            <a:r>
              <a:rPr sz="1200" b="1">
                <a:solidFill>
                  <a:srgbClr val="161B26"/>
                </a:solidFill>
                <a:latin typeface="Arial"/>
              </a:rPr>
              <a:t>AZ-B
EC2 (ASG)</a:t>
            </a:r>
          </a:p>
        </p:txBody>
      </p:sp>
      <p:sp>
        <p:nvSpPr>
          <p:cNvPr id="22" name="Rounded Rectangle 21"/>
          <p:cNvSpPr/>
          <p:nvPr/>
        </p:nvSpPr>
        <p:spPr>
          <a:xfrm>
            <a:off x="9555480" y="1965960"/>
            <a:ext cx="1828800" cy="1051560"/>
          </a:xfrm>
          <a:prstGeom prst="roundRect">
            <a:avLst/>
          </a:prstGeom>
          <a:solidFill>
            <a:srgbClr val="F5F8FC"/>
          </a:solidFill>
          <a:ln w="15875">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555480" y="1965960"/>
            <a:ext cx="182880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46920" y="2075688"/>
            <a:ext cx="1645920" cy="868680"/>
          </a:xfrm>
          <a:prstGeom prst="rect">
            <a:avLst/>
          </a:prstGeom>
          <a:noFill/>
        </p:spPr>
        <p:txBody>
          <a:bodyPr wrap="square" anchor="ctr">
            <a:spAutoFit/>
          </a:bodyPr>
          <a:lstStyle/>
          <a:p>
            <a:pPr algn="ctr">
              <a:spcAft>
                <a:spcPts val="400"/>
              </a:spcAft>
            </a:pPr>
            <a:r>
              <a:rPr sz="1200" b="1">
                <a:solidFill>
                  <a:srgbClr val="161B26"/>
                </a:solidFill>
                <a:latin typeface="Arial"/>
              </a:rPr>
              <a:t>Multi-AZ RDS</a:t>
            </a:r>
          </a:p>
        </p:txBody>
      </p:sp>
      <p:cxnSp>
        <p:nvCxnSpPr>
          <p:cNvPr id="25" name="Connector 24"/>
          <p:cNvCxnSpPr/>
          <p:nvPr/>
        </p:nvCxnSpPr>
        <p:spPr>
          <a:xfrm>
            <a:off x="2606040" y="2491740"/>
            <a:ext cx="365760" cy="0"/>
          </a:xfrm>
          <a:prstGeom prst="line">
            <a:avLst/>
          </a:prstGeom>
          <a:ln w="22225">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4800600" y="2491740"/>
            <a:ext cx="365760" cy="0"/>
          </a:xfrm>
          <a:prstGeom prst="line">
            <a:avLst/>
          </a:prstGeom>
          <a:ln w="22225">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995160" y="2491740"/>
            <a:ext cx="365760" cy="0"/>
          </a:xfrm>
          <a:prstGeom prst="line">
            <a:avLst/>
          </a:prstGeom>
          <a:ln w="22225">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6995160" y="2491740"/>
            <a:ext cx="365760" cy="1691640"/>
          </a:xfrm>
          <a:prstGeom prst="line">
            <a:avLst/>
          </a:prstGeom>
          <a:ln w="22225">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189720" y="2491740"/>
            <a:ext cx="365760" cy="0"/>
          </a:xfrm>
          <a:prstGeom prst="line">
            <a:avLst/>
          </a:prstGeom>
          <a:ln w="22225">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9189720" y="2491740"/>
            <a:ext cx="365760" cy="1691640"/>
          </a:xfrm>
          <a:prstGeom prst="line">
            <a:avLst/>
          </a:prstGeom>
          <a:ln w="22225">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777240" y="5669280"/>
            <a:ext cx="10634472" cy="548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05840" y="5742432"/>
            <a:ext cx="10241280" cy="411480"/>
          </a:xfrm>
          <a:prstGeom prst="rect">
            <a:avLst/>
          </a:prstGeom>
          <a:noFill/>
        </p:spPr>
        <p:txBody>
          <a:bodyPr wrap="square" anchor="ctr">
            <a:spAutoFit/>
          </a:bodyPr>
          <a:lstStyle/>
          <a:p>
            <a:pPr algn="l">
              <a:spcAft>
                <a:spcPts val="400"/>
              </a:spcAft>
            </a:pPr>
            <a:r>
              <a:rPr sz="1300" b="1">
                <a:solidFill>
                  <a:srgbClr val="10B981"/>
                </a:solidFill>
                <a:latin typeface="Arial"/>
              </a:rPr>
              <a:t>▶  </a:t>
            </a:r>
            <a:r>
              <a:rPr sz="1300" b="0">
                <a:solidFill>
                  <a:srgbClr val="161B26"/>
                </a:solidFill>
                <a:latin typeface="Arial"/>
              </a:rPr>
              <a:t>Traffic spreads across two AZs behind the ALB; the Auto Scaling group self-heals and Multi-AZ RDS protects data.</a:t>
            </a:r>
          </a:p>
        </p:txBody>
      </p:sp>
      <p:sp>
        <p:nvSpPr>
          <p:cNvPr id="33" name="TextBox 3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4" name="TextBox 3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5" name="TextBox 3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251</a:t>
            </a:r>
          </a:p>
        </p:txBody>
      </p:sp>
    </p:spTree>
  </p:cSld>
  <p:clrMapOvr>
    <a:masterClrMapping/>
  </p:clrMapOvr>
  <p:transition xmlns:p14="http://schemas.microsoft.com/office/powerpoint/2010/main" p14:dur="380">
    <p:fade/>
  </p:transition>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MEETING RTO / RPO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Disaster Recovery Strategies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615720" cy="5029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6968" y="1783080"/>
            <a:ext cx="3432840" cy="502920"/>
          </a:xfrm>
          <a:prstGeom prst="rect">
            <a:avLst/>
          </a:prstGeom>
          <a:noFill/>
        </p:spPr>
        <p:txBody>
          <a:bodyPr wrap="square" anchor="ctr">
            <a:spAutoFit/>
          </a:bodyPr>
          <a:lstStyle/>
          <a:p>
            <a:pPr algn="l">
              <a:spcAft>
                <a:spcPts val="400"/>
              </a:spcAft>
            </a:pPr>
            <a:r>
              <a:rPr sz="1400" b="1">
                <a:solidFill>
                  <a:srgbClr val="FFFFFF"/>
                </a:solidFill>
                <a:latin typeface="Arial"/>
              </a:rPr>
              <a:t>Pattern</a:t>
            </a:r>
          </a:p>
        </p:txBody>
      </p:sp>
      <p:sp>
        <p:nvSpPr>
          <p:cNvPr id="9" name="Rectangle 8"/>
          <p:cNvSpPr/>
          <p:nvPr/>
        </p:nvSpPr>
        <p:spPr>
          <a:xfrm>
            <a:off x="4392960" y="1783080"/>
            <a:ext cx="2339583" cy="5029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02688" y="1783080"/>
            <a:ext cx="2156703" cy="502920"/>
          </a:xfrm>
          <a:prstGeom prst="rect">
            <a:avLst/>
          </a:prstGeom>
          <a:noFill/>
        </p:spPr>
        <p:txBody>
          <a:bodyPr wrap="square" anchor="ctr">
            <a:spAutoFit/>
          </a:bodyPr>
          <a:lstStyle/>
          <a:p>
            <a:pPr algn="ctr">
              <a:spcAft>
                <a:spcPts val="400"/>
              </a:spcAft>
            </a:pPr>
            <a:r>
              <a:rPr sz="1400" b="1">
                <a:solidFill>
                  <a:srgbClr val="FFFFFF"/>
                </a:solidFill>
                <a:latin typeface="Arial"/>
              </a:rPr>
              <a:t>RTO</a:t>
            </a:r>
          </a:p>
        </p:txBody>
      </p:sp>
      <p:sp>
        <p:nvSpPr>
          <p:cNvPr id="11" name="Rectangle 10"/>
          <p:cNvSpPr/>
          <p:nvPr/>
        </p:nvSpPr>
        <p:spPr>
          <a:xfrm>
            <a:off x="6732543" y="1783080"/>
            <a:ext cx="2339583" cy="5029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42271" y="1783080"/>
            <a:ext cx="2156703" cy="502920"/>
          </a:xfrm>
          <a:prstGeom prst="rect">
            <a:avLst/>
          </a:prstGeom>
          <a:noFill/>
        </p:spPr>
        <p:txBody>
          <a:bodyPr wrap="square" anchor="ctr">
            <a:spAutoFit/>
          </a:bodyPr>
          <a:lstStyle/>
          <a:p>
            <a:pPr algn="ctr">
              <a:spcAft>
                <a:spcPts val="400"/>
              </a:spcAft>
            </a:pPr>
            <a:r>
              <a:rPr sz="1400" b="1">
                <a:solidFill>
                  <a:srgbClr val="FFFFFF"/>
                </a:solidFill>
                <a:latin typeface="Arial"/>
              </a:rPr>
              <a:t>RPO</a:t>
            </a:r>
          </a:p>
        </p:txBody>
      </p:sp>
      <p:sp>
        <p:nvSpPr>
          <p:cNvPr id="13" name="Rectangle 12"/>
          <p:cNvSpPr/>
          <p:nvPr/>
        </p:nvSpPr>
        <p:spPr>
          <a:xfrm>
            <a:off x="9072126" y="1783080"/>
            <a:ext cx="2339583" cy="5029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81854" y="1783080"/>
            <a:ext cx="2156703" cy="502920"/>
          </a:xfrm>
          <a:prstGeom prst="rect">
            <a:avLst/>
          </a:prstGeom>
          <a:noFill/>
        </p:spPr>
        <p:txBody>
          <a:bodyPr wrap="square" anchor="ctr">
            <a:spAutoFit/>
          </a:bodyPr>
          <a:lstStyle/>
          <a:p>
            <a:pPr algn="ctr">
              <a:spcAft>
                <a:spcPts val="400"/>
              </a:spcAft>
            </a:pPr>
            <a:r>
              <a:rPr sz="1400" b="1">
                <a:solidFill>
                  <a:srgbClr val="FFFFFF"/>
                </a:solidFill>
                <a:latin typeface="Arial"/>
              </a:rPr>
              <a:t>Cost</a:t>
            </a:r>
          </a:p>
        </p:txBody>
      </p:sp>
      <p:sp>
        <p:nvSpPr>
          <p:cNvPr id="15" name="Rectangle 14"/>
          <p:cNvSpPr/>
          <p:nvPr/>
        </p:nvSpPr>
        <p:spPr>
          <a:xfrm>
            <a:off x="777240" y="2286000"/>
            <a:ext cx="3615720"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6968" y="2286000"/>
            <a:ext cx="3432840" cy="822960"/>
          </a:xfrm>
          <a:prstGeom prst="rect">
            <a:avLst/>
          </a:prstGeom>
          <a:noFill/>
        </p:spPr>
        <p:txBody>
          <a:bodyPr wrap="square" anchor="ctr">
            <a:spAutoFit/>
          </a:bodyPr>
          <a:lstStyle/>
          <a:p>
            <a:pPr algn="l">
              <a:spcAft>
                <a:spcPts val="400"/>
              </a:spcAft>
            </a:pPr>
            <a:r>
              <a:rPr sz="1250" b="1">
                <a:solidFill>
                  <a:srgbClr val="161B26"/>
                </a:solidFill>
                <a:latin typeface="Arial"/>
              </a:rPr>
              <a:t>Backup &amp; Restore</a:t>
            </a:r>
          </a:p>
        </p:txBody>
      </p:sp>
      <p:sp>
        <p:nvSpPr>
          <p:cNvPr id="17" name="Rectangle 16"/>
          <p:cNvSpPr/>
          <p:nvPr/>
        </p:nvSpPr>
        <p:spPr>
          <a:xfrm>
            <a:off x="4392960" y="2286000"/>
            <a:ext cx="2339583"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2688" y="2286000"/>
            <a:ext cx="2156703" cy="822960"/>
          </a:xfrm>
          <a:prstGeom prst="rect">
            <a:avLst/>
          </a:prstGeom>
          <a:noFill/>
        </p:spPr>
        <p:txBody>
          <a:bodyPr wrap="square" anchor="ctr">
            <a:spAutoFit/>
          </a:bodyPr>
          <a:lstStyle/>
          <a:p>
            <a:pPr algn="ctr">
              <a:spcAft>
                <a:spcPts val="400"/>
              </a:spcAft>
            </a:pPr>
            <a:r>
              <a:rPr sz="1250" b="0">
                <a:solidFill>
                  <a:srgbClr val="5B6372"/>
                </a:solidFill>
                <a:latin typeface="Arial"/>
              </a:rPr>
              <a:t>Hours</a:t>
            </a:r>
          </a:p>
        </p:txBody>
      </p:sp>
      <p:sp>
        <p:nvSpPr>
          <p:cNvPr id="19" name="Rectangle 18"/>
          <p:cNvSpPr/>
          <p:nvPr/>
        </p:nvSpPr>
        <p:spPr>
          <a:xfrm>
            <a:off x="6732543" y="2286000"/>
            <a:ext cx="2339583"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42271" y="2286000"/>
            <a:ext cx="2156703" cy="822960"/>
          </a:xfrm>
          <a:prstGeom prst="rect">
            <a:avLst/>
          </a:prstGeom>
          <a:noFill/>
        </p:spPr>
        <p:txBody>
          <a:bodyPr wrap="square" anchor="ctr">
            <a:spAutoFit/>
          </a:bodyPr>
          <a:lstStyle/>
          <a:p>
            <a:pPr algn="ctr">
              <a:spcAft>
                <a:spcPts val="400"/>
              </a:spcAft>
            </a:pPr>
            <a:r>
              <a:rPr sz="1250" b="0">
                <a:solidFill>
                  <a:srgbClr val="5B6372"/>
                </a:solidFill>
                <a:latin typeface="Arial"/>
              </a:rPr>
              <a:t>Hours</a:t>
            </a:r>
          </a:p>
        </p:txBody>
      </p:sp>
      <p:sp>
        <p:nvSpPr>
          <p:cNvPr id="21" name="Rectangle 20"/>
          <p:cNvSpPr/>
          <p:nvPr/>
        </p:nvSpPr>
        <p:spPr>
          <a:xfrm>
            <a:off x="9072126" y="2286000"/>
            <a:ext cx="2339583"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1854" y="2286000"/>
            <a:ext cx="2156703" cy="822960"/>
          </a:xfrm>
          <a:prstGeom prst="rect">
            <a:avLst/>
          </a:prstGeom>
          <a:noFill/>
        </p:spPr>
        <p:txBody>
          <a:bodyPr wrap="square" anchor="ctr">
            <a:spAutoFit/>
          </a:bodyPr>
          <a:lstStyle/>
          <a:p>
            <a:pPr algn="ctr">
              <a:spcAft>
                <a:spcPts val="400"/>
              </a:spcAft>
            </a:pPr>
            <a:r>
              <a:rPr sz="1250" b="0">
                <a:solidFill>
                  <a:srgbClr val="5B6372"/>
                </a:solidFill>
                <a:latin typeface="Arial"/>
              </a:rPr>
              <a:t>$</a:t>
            </a:r>
          </a:p>
        </p:txBody>
      </p:sp>
      <p:sp>
        <p:nvSpPr>
          <p:cNvPr id="23" name="Rectangle 22"/>
          <p:cNvSpPr/>
          <p:nvPr/>
        </p:nvSpPr>
        <p:spPr>
          <a:xfrm>
            <a:off x="777240" y="3108960"/>
            <a:ext cx="3615720"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86968" y="3108960"/>
            <a:ext cx="3432840" cy="822960"/>
          </a:xfrm>
          <a:prstGeom prst="rect">
            <a:avLst/>
          </a:prstGeom>
          <a:noFill/>
        </p:spPr>
        <p:txBody>
          <a:bodyPr wrap="square" anchor="ctr">
            <a:spAutoFit/>
          </a:bodyPr>
          <a:lstStyle/>
          <a:p>
            <a:pPr algn="l">
              <a:spcAft>
                <a:spcPts val="400"/>
              </a:spcAft>
            </a:pPr>
            <a:r>
              <a:rPr sz="1250" b="1">
                <a:solidFill>
                  <a:srgbClr val="161B26"/>
                </a:solidFill>
                <a:latin typeface="Arial"/>
              </a:rPr>
              <a:t>Pilot Light</a:t>
            </a:r>
          </a:p>
        </p:txBody>
      </p:sp>
      <p:sp>
        <p:nvSpPr>
          <p:cNvPr id="25" name="Rectangle 24"/>
          <p:cNvSpPr/>
          <p:nvPr/>
        </p:nvSpPr>
        <p:spPr>
          <a:xfrm>
            <a:off x="4392960" y="3108960"/>
            <a:ext cx="2339583"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02688" y="3108960"/>
            <a:ext cx="2156703" cy="822960"/>
          </a:xfrm>
          <a:prstGeom prst="rect">
            <a:avLst/>
          </a:prstGeom>
          <a:noFill/>
        </p:spPr>
        <p:txBody>
          <a:bodyPr wrap="square" anchor="ctr">
            <a:spAutoFit/>
          </a:bodyPr>
          <a:lstStyle/>
          <a:p>
            <a:pPr algn="ctr">
              <a:spcAft>
                <a:spcPts val="400"/>
              </a:spcAft>
            </a:pPr>
            <a:r>
              <a:rPr sz="1250" b="0">
                <a:solidFill>
                  <a:srgbClr val="5B6372"/>
                </a:solidFill>
                <a:latin typeface="Arial"/>
              </a:rPr>
              <a:t>10s of min</a:t>
            </a:r>
          </a:p>
        </p:txBody>
      </p:sp>
      <p:sp>
        <p:nvSpPr>
          <p:cNvPr id="27" name="Rectangle 26"/>
          <p:cNvSpPr/>
          <p:nvPr/>
        </p:nvSpPr>
        <p:spPr>
          <a:xfrm>
            <a:off x="6732543" y="3108960"/>
            <a:ext cx="2339583"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42271" y="3108960"/>
            <a:ext cx="2156703" cy="822960"/>
          </a:xfrm>
          <a:prstGeom prst="rect">
            <a:avLst/>
          </a:prstGeom>
          <a:noFill/>
        </p:spPr>
        <p:txBody>
          <a:bodyPr wrap="square" anchor="ctr">
            <a:spAutoFit/>
          </a:bodyPr>
          <a:lstStyle/>
          <a:p>
            <a:pPr algn="ctr">
              <a:spcAft>
                <a:spcPts val="400"/>
              </a:spcAft>
            </a:pPr>
            <a:r>
              <a:rPr sz="1250" b="0">
                <a:solidFill>
                  <a:srgbClr val="5B6372"/>
                </a:solidFill>
                <a:latin typeface="Arial"/>
              </a:rPr>
              <a:t>Minutes</a:t>
            </a:r>
          </a:p>
        </p:txBody>
      </p:sp>
      <p:sp>
        <p:nvSpPr>
          <p:cNvPr id="29" name="Rectangle 28"/>
          <p:cNvSpPr/>
          <p:nvPr/>
        </p:nvSpPr>
        <p:spPr>
          <a:xfrm>
            <a:off x="9072126" y="3108960"/>
            <a:ext cx="2339583"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181854" y="3108960"/>
            <a:ext cx="2156703" cy="822960"/>
          </a:xfrm>
          <a:prstGeom prst="rect">
            <a:avLst/>
          </a:prstGeom>
          <a:noFill/>
        </p:spPr>
        <p:txBody>
          <a:bodyPr wrap="square" anchor="ctr">
            <a:spAutoFit/>
          </a:bodyPr>
          <a:lstStyle/>
          <a:p>
            <a:pPr algn="ctr">
              <a:spcAft>
                <a:spcPts val="400"/>
              </a:spcAft>
            </a:pPr>
            <a:r>
              <a:rPr sz="1250" b="0">
                <a:solidFill>
                  <a:srgbClr val="5B6372"/>
                </a:solidFill>
                <a:latin typeface="Arial"/>
              </a:rPr>
              <a:t>$$</a:t>
            </a:r>
          </a:p>
        </p:txBody>
      </p:sp>
      <p:sp>
        <p:nvSpPr>
          <p:cNvPr id="31" name="Rectangle 30"/>
          <p:cNvSpPr/>
          <p:nvPr/>
        </p:nvSpPr>
        <p:spPr>
          <a:xfrm>
            <a:off x="777240" y="3931920"/>
            <a:ext cx="3615720"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6968" y="3931920"/>
            <a:ext cx="3432840" cy="822960"/>
          </a:xfrm>
          <a:prstGeom prst="rect">
            <a:avLst/>
          </a:prstGeom>
          <a:noFill/>
        </p:spPr>
        <p:txBody>
          <a:bodyPr wrap="square" anchor="ctr">
            <a:spAutoFit/>
          </a:bodyPr>
          <a:lstStyle/>
          <a:p>
            <a:pPr algn="l">
              <a:spcAft>
                <a:spcPts val="400"/>
              </a:spcAft>
            </a:pPr>
            <a:r>
              <a:rPr sz="1250" b="1">
                <a:solidFill>
                  <a:srgbClr val="161B26"/>
                </a:solidFill>
                <a:latin typeface="Arial"/>
              </a:rPr>
              <a:t>Warm Standby</a:t>
            </a:r>
          </a:p>
        </p:txBody>
      </p:sp>
      <p:sp>
        <p:nvSpPr>
          <p:cNvPr id="33" name="Rectangle 32"/>
          <p:cNvSpPr/>
          <p:nvPr/>
        </p:nvSpPr>
        <p:spPr>
          <a:xfrm>
            <a:off x="4392960" y="3931920"/>
            <a:ext cx="2339583"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02688" y="3931920"/>
            <a:ext cx="2156703" cy="822960"/>
          </a:xfrm>
          <a:prstGeom prst="rect">
            <a:avLst/>
          </a:prstGeom>
          <a:noFill/>
        </p:spPr>
        <p:txBody>
          <a:bodyPr wrap="square" anchor="ctr">
            <a:spAutoFit/>
          </a:bodyPr>
          <a:lstStyle/>
          <a:p>
            <a:pPr algn="ctr">
              <a:spcAft>
                <a:spcPts val="400"/>
              </a:spcAft>
            </a:pPr>
            <a:r>
              <a:rPr sz="1250" b="0">
                <a:solidFill>
                  <a:srgbClr val="5B6372"/>
                </a:solidFill>
                <a:latin typeface="Arial"/>
              </a:rPr>
              <a:t>Minutes</a:t>
            </a:r>
          </a:p>
        </p:txBody>
      </p:sp>
      <p:sp>
        <p:nvSpPr>
          <p:cNvPr id="35" name="Rectangle 34"/>
          <p:cNvSpPr/>
          <p:nvPr/>
        </p:nvSpPr>
        <p:spPr>
          <a:xfrm>
            <a:off x="6732543" y="3931920"/>
            <a:ext cx="2339583"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42271" y="3931920"/>
            <a:ext cx="2156703" cy="822960"/>
          </a:xfrm>
          <a:prstGeom prst="rect">
            <a:avLst/>
          </a:prstGeom>
          <a:noFill/>
        </p:spPr>
        <p:txBody>
          <a:bodyPr wrap="square" anchor="ctr">
            <a:spAutoFit/>
          </a:bodyPr>
          <a:lstStyle/>
          <a:p>
            <a:pPr algn="ctr">
              <a:spcAft>
                <a:spcPts val="400"/>
              </a:spcAft>
            </a:pPr>
            <a:r>
              <a:rPr sz="1250" b="0">
                <a:solidFill>
                  <a:srgbClr val="5B6372"/>
                </a:solidFill>
                <a:latin typeface="Arial"/>
              </a:rPr>
              <a:t>Seconds</a:t>
            </a:r>
          </a:p>
        </p:txBody>
      </p:sp>
      <p:sp>
        <p:nvSpPr>
          <p:cNvPr id="37" name="Rectangle 36"/>
          <p:cNvSpPr/>
          <p:nvPr/>
        </p:nvSpPr>
        <p:spPr>
          <a:xfrm>
            <a:off x="9072126" y="3931920"/>
            <a:ext cx="2339583"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81854" y="3931920"/>
            <a:ext cx="2156703" cy="822960"/>
          </a:xfrm>
          <a:prstGeom prst="rect">
            <a:avLst/>
          </a:prstGeom>
          <a:noFill/>
        </p:spPr>
        <p:txBody>
          <a:bodyPr wrap="square" anchor="ctr">
            <a:spAutoFit/>
          </a:bodyPr>
          <a:lstStyle/>
          <a:p>
            <a:pPr algn="ctr">
              <a:spcAft>
                <a:spcPts val="400"/>
              </a:spcAft>
            </a:pPr>
            <a:r>
              <a:rPr sz="1250" b="0">
                <a:solidFill>
                  <a:srgbClr val="5B6372"/>
                </a:solidFill>
                <a:latin typeface="Arial"/>
              </a:rPr>
              <a:t>$$$</a:t>
            </a:r>
          </a:p>
        </p:txBody>
      </p:sp>
      <p:sp>
        <p:nvSpPr>
          <p:cNvPr id="39" name="Rectangle 38"/>
          <p:cNvSpPr/>
          <p:nvPr/>
        </p:nvSpPr>
        <p:spPr>
          <a:xfrm>
            <a:off x="777240" y="4754880"/>
            <a:ext cx="3615720"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86968" y="4754880"/>
            <a:ext cx="3432840" cy="822960"/>
          </a:xfrm>
          <a:prstGeom prst="rect">
            <a:avLst/>
          </a:prstGeom>
          <a:noFill/>
        </p:spPr>
        <p:txBody>
          <a:bodyPr wrap="square" anchor="ctr">
            <a:spAutoFit/>
          </a:bodyPr>
          <a:lstStyle/>
          <a:p>
            <a:pPr algn="l">
              <a:spcAft>
                <a:spcPts val="400"/>
              </a:spcAft>
            </a:pPr>
            <a:r>
              <a:rPr sz="1250" b="1">
                <a:solidFill>
                  <a:srgbClr val="161B26"/>
                </a:solidFill>
                <a:latin typeface="Arial"/>
              </a:rPr>
              <a:t>Multi-site Active/Active</a:t>
            </a:r>
          </a:p>
        </p:txBody>
      </p:sp>
      <p:sp>
        <p:nvSpPr>
          <p:cNvPr id="41" name="Rectangle 40"/>
          <p:cNvSpPr/>
          <p:nvPr/>
        </p:nvSpPr>
        <p:spPr>
          <a:xfrm>
            <a:off x="4392960" y="4754880"/>
            <a:ext cx="2339583"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502688" y="4754880"/>
            <a:ext cx="2156703" cy="822960"/>
          </a:xfrm>
          <a:prstGeom prst="rect">
            <a:avLst/>
          </a:prstGeom>
          <a:noFill/>
        </p:spPr>
        <p:txBody>
          <a:bodyPr wrap="square" anchor="ctr">
            <a:spAutoFit/>
          </a:bodyPr>
          <a:lstStyle/>
          <a:p>
            <a:pPr algn="ctr">
              <a:spcAft>
                <a:spcPts val="400"/>
              </a:spcAft>
            </a:pPr>
            <a:r>
              <a:rPr sz="1250" b="0">
                <a:solidFill>
                  <a:srgbClr val="5B6372"/>
                </a:solidFill>
                <a:latin typeface="Arial"/>
              </a:rPr>
              <a:t>Near-zero</a:t>
            </a:r>
          </a:p>
        </p:txBody>
      </p:sp>
      <p:sp>
        <p:nvSpPr>
          <p:cNvPr id="43" name="Rectangle 42"/>
          <p:cNvSpPr/>
          <p:nvPr/>
        </p:nvSpPr>
        <p:spPr>
          <a:xfrm>
            <a:off x="6732543" y="4754880"/>
            <a:ext cx="2339583"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842271" y="4754880"/>
            <a:ext cx="2156703" cy="822960"/>
          </a:xfrm>
          <a:prstGeom prst="rect">
            <a:avLst/>
          </a:prstGeom>
          <a:noFill/>
        </p:spPr>
        <p:txBody>
          <a:bodyPr wrap="square" anchor="ctr">
            <a:spAutoFit/>
          </a:bodyPr>
          <a:lstStyle/>
          <a:p>
            <a:pPr algn="ctr">
              <a:spcAft>
                <a:spcPts val="400"/>
              </a:spcAft>
            </a:pPr>
            <a:r>
              <a:rPr sz="1250" b="0">
                <a:solidFill>
                  <a:srgbClr val="5B6372"/>
                </a:solidFill>
                <a:latin typeface="Arial"/>
              </a:rPr>
              <a:t>Near-zero</a:t>
            </a:r>
          </a:p>
        </p:txBody>
      </p:sp>
      <p:sp>
        <p:nvSpPr>
          <p:cNvPr id="45" name="Rectangle 44"/>
          <p:cNvSpPr/>
          <p:nvPr/>
        </p:nvSpPr>
        <p:spPr>
          <a:xfrm>
            <a:off x="9072126" y="4754880"/>
            <a:ext cx="2339583"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181854" y="4754880"/>
            <a:ext cx="2156703" cy="822960"/>
          </a:xfrm>
          <a:prstGeom prst="rect">
            <a:avLst/>
          </a:prstGeom>
          <a:noFill/>
        </p:spPr>
        <p:txBody>
          <a:bodyPr wrap="square" anchor="ctr">
            <a:spAutoFit/>
          </a:bodyPr>
          <a:lstStyle/>
          <a:p>
            <a:pPr algn="ctr">
              <a:spcAft>
                <a:spcPts val="400"/>
              </a:spcAft>
            </a:pPr>
            <a:r>
              <a:rPr sz="1250" b="0">
                <a:solidFill>
                  <a:srgbClr val="5B6372"/>
                </a:solidFill>
                <a:latin typeface="Arial"/>
              </a:rPr>
              <a:t>$$$$</a:t>
            </a:r>
          </a:p>
        </p:txBody>
      </p:sp>
      <p:sp>
        <p:nvSpPr>
          <p:cNvPr id="47" name="TextBox 4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48" name="TextBox 4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252</a:t>
            </a:r>
          </a:p>
        </p:txBody>
      </p:sp>
    </p:spTree>
  </p:cSld>
  <p:clrMapOvr>
    <a:masterClrMapping/>
  </p:clrMapOvr>
  <p:transition xmlns:p14="http://schemas.microsoft.com/office/powerpoint/2010/main" p14:dur="380">
    <p:fade/>
  </p:transition>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LOWER IS BETTER</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DR Patterns — Approximate Recovery Time (RTO)</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828800"/>
          <a:ext cx="10634472" cy="3291840"/>
        </p:xfrm>
        <a:graphic>
          <a:graphicData uri="http://schemas.openxmlformats.org/drawingml/2006/chart">
            <c:chart xmlns:c="http://schemas.openxmlformats.org/drawingml/2006/chart" r:id="rId2"/>
          </a:graphicData>
        </a:graphic>
      </p:graphicFrame>
      <p:sp>
        <p:nvSpPr>
          <p:cNvPr id="8" name="Rectangle 7"/>
          <p:cNvSpPr/>
          <p:nvPr/>
        </p:nvSpPr>
        <p:spPr>
          <a:xfrm>
            <a:off x="777240" y="5349240"/>
            <a:ext cx="10634472" cy="868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349240"/>
            <a:ext cx="91440" cy="8686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5440680"/>
            <a:ext cx="10241280" cy="320040"/>
          </a:xfrm>
          <a:prstGeom prst="rect">
            <a:avLst/>
          </a:prstGeom>
          <a:noFill/>
        </p:spPr>
        <p:txBody>
          <a:bodyPr wrap="square" anchor="t">
            <a:spAutoFit/>
          </a:bodyPr>
          <a:lstStyle/>
          <a:p>
            <a:pPr algn="l">
              <a:spcAft>
                <a:spcPts val="400"/>
              </a:spcAft>
            </a:pPr>
            <a:r>
              <a:rPr sz="1100" b="1">
                <a:solidFill>
                  <a:srgbClr val="10B981"/>
                </a:solidFill>
                <a:latin typeface="Arial"/>
              </a:rPr>
              <a:t>WHAT THE DATA SHOWS</a:t>
            </a:r>
          </a:p>
        </p:txBody>
      </p:sp>
      <p:sp>
        <p:nvSpPr>
          <p:cNvPr id="11" name="TextBox 10"/>
          <p:cNvSpPr txBox="1"/>
          <p:nvPr/>
        </p:nvSpPr>
        <p:spPr>
          <a:xfrm>
            <a:off x="1005840" y="5742432"/>
            <a:ext cx="10241280" cy="457200"/>
          </a:xfrm>
          <a:prstGeom prst="rect">
            <a:avLst/>
          </a:prstGeom>
          <a:noFill/>
        </p:spPr>
        <p:txBody>
          <a:bodyPr wrap="square" anchor="t">
            <a:spAutoFit/>
          </a:bodyPr>
          <a:lstStyle/>
          <a:p>
            <a:pPr algn="l">
              <a:spcAft>
                <a:spcPts val="400"/>
              </a:spcAft>
            </a:pPr>
            <a:r>
              <a:rPr sz="1350" b="0">
                <a:solidFill>
                  <a:srgbClr val="161B26"/>
                </a:solidFill>
                <a:latin typeface="Arial"/>
              </a:rPr>
              <a:t>As you move from backup/restore to active/active, RTO falls from hours to near-zero — at rising cost.</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253</a:t>
            </a:r>
          </a:p>
        </p:txBody>
      </p:sp>
    </p:spTree>
  </p:cSld>
  <p:clrMapOvr>
    <a:masterClrMapping/>
  </p:clrMapOvr>
  <p:transition xmlns:p14="http://schemas.microsoft.com/office/powerpoint/2010/main" p14:dur="380">
    <p:fade/>
  </p:transition>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DESIGN PRINCIPLES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Building for Resilience</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600" b="1">
                <a:solidFill>
                  <a:srgbClr val="161B26"/>
                </a:solidFill>
                <a:latin typeface="Arial"/>
              </a:rPr>
              <a:t>Multi-AZ by default</a:t>
            </a:r>
          </a:p>
          <a:p>
            <a:pPr algn="l">
              <a:spcAft>
                <a:spcPts val="300"/>
              </a:spcAft>
            </a:pPr>
            <a:r>
              <a:rPr sz="1200" b="0">
                <a:solidFill>
                  <a:srgbClr val="5B6372"/>
                </a:solidFill>
                <a:latin typeface="Arial"/>
              </a:rPr>
              <a:t>Never depend on a single Availability Zone.</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600" b="1">
                <a:solidFill>
                  <a:srgbClr val="161B26"/>
                </a:solidFill>
                <a:latin typeface="Arial"/>
              </a:rPr>
              <a:t>Elastic Load Balancing</a:t>
            </a:r>
          </a:p>
          <a:p>
            <a:pPr algn="l">
              <a:spcAft>
                <a:spcPts val="300"/>
              </a:spcAft>
            </a:pPr>
            <a:r>
              <a:rPr sz="1200" b="0">
                <a:solidFill>
                  <a:srgbClr val="5B6372"/>
                </a:solidFill>
                <a:latin typeface="Arial"/>
              </a:rPr>
              <a:t>Distribute traffic and route around unhealthy targets.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600" b="1">
                <a:solidFill>
                  <a:srgbClr val="161B26"/>
                </a:solidFill>
                <a:latin typeface="Arial"/>
              </a:rPr>
              <a:t>Auto Scaling</a:t>
            </a:r>
          </a:p>
          <a:p>
            <a:pPr algn="l">
              <a:spcAft>
                <a:spcPts val="300"/>
              </a:spcAft>
            </a:pPr>
            <a:r>
              <a:rPr sz="1200" b="0">
                <a:solidFill>
                  <a:srgbClr val="5B6372"/>
                </a:solidFill>
                <a:latin typeface="Arial"/>
              </a:rPr>
              <a:t>Match capacity to demand; replace failed instances automatically.</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600" b="1">
                <a:solidFill>
                  <a:srgbClr val="161B26"/>
                </a:solidFill>
                <a:latin typeface="Arial"/>
              </a:rPr>
              <a:t>Decouple with queues</a:t>
            </a:r>
          </a:p>
          <a:p>
            <a:pPr algn="l">
              <a:spcAft>
                <a:spcPts val="300"/>
              </a:spcAft>
            </a:pPr>
            <a:r>
              <a:rPr sz="1200" b="0">
                <a:solidFill>
                  <a:srgbClr val="5B6372"/>
                </a:solidFill>
                <a:latin typeface="Arial"/>
              </a:rPr>
              <a:t>SQS / SNS / EventBridge let components fail independently.</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254</a:t>
            </a:r>
          </a:p>
        </p:txBody>
      </p:sp>
    </p:spTree>
  </p:cSld>
  <p:clrMapOvr>
    <a:masterClrMapping/>
  </p:clrMapOvr>
  <p:transition xmlns:p14="http://schemas.microsoft.com/office/powerpoint/2010/main" p14:dur="380">
    <p:fade/>
  </p:transition>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MATCHING CAPACITY TO DEMAND</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Auto Scaling Policy Types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339583" cy="5029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6968" y="1783080"/>
            <a:ext cx="2156703" cy="502920"/>
          </a:xfrm>
          <a:prstGeom prst="rect">
            <a:avLst/>
          </a:prstGeom>
          <a:noFill/>
        </p:spPr>
        <p:txBody>
          <a:bodyPr wrap="square" anchor="ctr">
            <a:spAutoFit/>
          </a:bodyPr>
          <a:lstStyle/>
          <a:p>
            <a:pPr algn="l">
              <a:spcAft>
                <a:spcPts val="400"/>
              </a:spcAft>
            </a:pPr>
            <a:r>
              <a:rPr sz="1400" b="1">
                <a:solidFill>
                  <a:srgbClr val="FFFFFF"/>
                </a:solidFill>
                <a:latin typeface="Arial"/>
              </a:rPr>
              <a:t>Policy</a:t>
            </a:r>
          </a:p>
        </p:txBody>
      </p:sp>
      <p:sp>
        <p:nvSpPr>
          <p:cNvPr id="9" name="Rectangle 8"/>
          <p:cNvSpPr/>
          <p:nvPr/>
        </p:nvSpPr>
        <p:spPr>
          <a:xfrm>
            <a:off x="3116823" y="1783080"/>
            <a:ext cx="4679167" cy="5029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26551" y="1783080"/>
            <a:ext cx="4496287" cy="502920"/>
          </a:xfrm>
          <a:prstGeom prst="rect">
            <a:avLst/>
          </a:prstGeom>
          <a:noFill/>
        </p:spPr>
        <p:txBody>
          <a:bodyPr wrap="square" anchor="ctr">
            <a:spAutoFit/>
          </a:bodyPr>
          <a:lstStyle/>
          <a:p>
            <a:pPr algn="ctr">
              <a:spcAft>
                <a:spcPts val="400"/>
              </a:spcAft>
            </a:pPr>
            <a:r>
              <a:rPr sz="1400" b="1">
                <a:solidFill>
                  <a:srgbClr val="FFFFFF"/>
                </a:solidFill>
                <a:latin typeface="Arial"/>
              </a:rPr>
              <a:t>How it decides</a:t>
            </a:r>
          </a:p>
        </p:txBody>
      </p:sp>
      <p:sp>
        <p:nvSpPr>
          <p:cNvPr id="11" name="Rectangle 10"/>
          <p:cNvSpPr/>
          <p:nvPr/>
        </p:nvSpPr>
        <p:spPr>
          <a:xfrm>
            <a:off x="7795990" y="1783080"/>
            <a:ext cx="3615720" cy="5029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05718" y="1783080"/>
            <a:ext cx="3432840" cy="502920"/>
          </a:xfrm>
          <a:prstGeom prst="rect">
            <a:avLst/>
          </a:prstGeom>
          <a:noFill/>
        </p:spPr>
        <p:txBody>
          <a:bodyPr wrap="square" anchor="ctr">
            <a:spAutoFit/>
          </a:bodyPr>
          <a:lstStyle/>
          <a:p>
            <a:pPr algn="ctr">
              <a:spcAft>
                <a:spcPts val="400"/>
              </a:spcAft>
            </a:pPr>
            <a:r>
              <a:rPr sz="1400" b="1">
                <a:solidFill>
                  <a:srgbClr val="FFFFFF"/>
                </a:solidFill>
                <a:latin typeface="Arial"/>
              </a:rPr>
              <a:t>Use when</a:t>
            </a:r>
          </a:p>
        </p:txBody>
      </p:sp>
      <p:sp>
        <p:nvSpPr>
          <p:cNvPr id="13" name="Rectangle 12"/>
          <p:cNvSpPr/>
          <p:nvPr/>
        </p:nvSpPr>
        <p:spPr>
          <a:xfrm>
            <a:off x="777240" y="2286000"/>
            <a:ext cx="2339583"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6968" y="2286000"/>
            <a:ext cx="2156703" cy="822960"/>
          </a:xfrm>
          <a:prstGeom prst="rect">
            <a:avLst/>
          </a:prstGeom>
          <a:noFill/>
        </p:spPr>
        <p:txBody>
          <a:bodyPr wrap="square" anchor="ctr">
            <a:spAutoFit/>
          </a:bodyPr>
          <a:lstStyle/>
          <a:p>
            <a:pPr algn="l">
              <a:spcAft>
                <a:spcPts val="400"/>
              </a:spcAft>
            </a:pPr>
            <a:r>
              <a:rPr sz="1250" b="1">
                <a:solidFill>
                  <a:srgbClr val="161B26"/>
                </a:solidFill>
                <a:latin typeface="Arial"/>
              </a:rPr>
              <a:t>Target tracking</a:t>
            </a:r>
          </a:p>
        </p:txBody>
      </p:sp>
      <p:sp>
        <p:nvSpPr>
          <p:cNvPr id="15" name="Rectangle 14"/>
          <p:cNvSpPr/>
          <p:nvPr/>
        </p:nvSpPr>
        <p:spPr>
          <a:xfrm>
            <a:off x="3116823" y="2286000"/>
            <a:ext cx="4679167"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26551" y="2286000"/>
            <a:ext cx="4496287" cy="822960"/>
          </a:xfrm>
          <a:prstGeom prst="rect">
            <a:avLst/>
          </a:prstGeom>
          <a:noFill/>
        </p:spPr>
        <p:txBody>
          <a:bodyPr wrap="square" anchor="ctr">
            <a:spAutoFit/>
          </a:bodyPr>
          <a:lstStyle/>
          <a:p>
            <a:pPr algn="ctr">
              <a:spcAft>
                <a:spcPts val="400"/>
              </a:spcAft>
            </a:pPr>
            <a:r>
              <a:rPr sz="1250" b="0">
                <a:solidFill>
                  <a:srgbClr val="5B6372"/>
                </a:solidFill>
                <a:latin typeface="Arial"/>
              </a:rPr>
              <a:t>Keep a metric at a target (e.g. 50% CPU)</a:t>
            </a:r>
          </a:p>
        </p:txBody>
      </p:sp>
      <p:sp>
        <p:nvSpPr>
          <p:cNvPr id="17" name="Rectangle 16"/>
          <p:cNvSpPr/>
          <p:nvPr/>
        </p:nvSpPr>
        <p:spPr>
          <a:xfrm>
            <a:off x="7795990" y="2286000"/>
            <a:ext cx="3615720"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5718" y="2286000"/>
            <a:ext cx="3432840" cy="822960"/>
          </a:xfrm>
          <a:prstGeom prst="rect">
            <a:avLst/>
          </a:prstGeom>
          <a:noFill/>
        </p:spPr>
        <p:txBody>
          <a:bodyPr wrap="square" anchor="ctr">
            <a:spAutoFit/>
          </a:bodyPr>
          <a:lstStyle/>
          <a:p>
            <a:pPr algn="ctr">
              <a:spcAft>
                <a:spcPts val="400"/>
              </a:spcAft>
            </a:pPr>
            <a:r>
              <a:rPr sz="1250" b="0">
                <a:solidFill>
                  <a:srgbClr val="5B6372"/>
                </a:solidFill>
                <a:latin typeface="Arial"/>
              </a:rPr>
              <a:t>Default, simplest</a:t>
            </a:r>
          </a:p>
        </p:txBody>
      </p:sp>
      <p:sp>
        <p:nvSpPr>
          <p:cNvPr id="19" name="Rectangle 18"/>
          <p:cNvSpPr/>
          <p:nvPr/>
        </p:nvSpPr>
        <p:spPr>
          <a:xfrm>
            <a:off x="777240" y="3108960"/>
            <a:ext cx="2339583"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3108960"/>
            <a:ext cx="2156703" cy="822960"/>
          </a:xfrm>
          <a:prstGeom prst="rect">
            <a:avLst/>
          </a:prstGeom>
          <a:noFill/>
        </p:spPr>
        <p:txBody>
          <a:bodyPr wrap="square" anchor="ctr">
            <a:spAutoFit/>
          </a:bodyPr>
          <a:lstStyle/>
          <a:p>
            <a:pPr algn="l">
              <a:spcAft>
                <a:spcPts val="400"/>
              </a:spcAft>
            </a:pPr>
            <a:r>
              <a:rPr sz="1250" b="1">
                <a:solidFill>
                  <a:srgbClr val="161B26"/>
                </a:solidFill>
                <a:latin typeface="Arial"/>
              </a:rPr>
              <a:t>Step scaling</a:t>
            </a:r>
          </a:p>
        </p:txBody>
      </p:sp>
      <p:sp>
        <p:nvSpPr>
          <p:cNvPr id="21" name="Rectangle 20"/>
          <p:cNvSpPr/>
          <p:nvPr/>
        </p:nvSpPr>
        <p:spPr>
          <a:xfrm>
            <a:off x="3116823" y="3108960"/>
            <a:ext cx="4679167"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26551" y="3108960"/>
            <a:ext cx="4496287" cy="822960"/>
          </a:xfrm>
          <a:prstGeom prst="rect">
            <a:avLst/>
          </a:prstGeom>
          <a:noFill/>
        </p:spPr>
        <p:txBody>
          <a:bodyPr wrap="square" anchor="ctr">
            <a:spAutoFit/>
          </a:bodyPr>
          <a:lstStyle/>
          <a:p>
            <a:pPr algn="ctr">
              <a:spcAft>
                <a:spcPts val="400"/>
              </a:spcAft>
            </a:pPr>
            <a:r>
              <a:rPr sz="1250" b="0">
                <a:solidFill>
                  <a:srgbClr val="5B6372"/>
                </a:solidFill>
                <a:latin typeface="Arial"/>
              </a:rPr>
              <a:t>Add/remove capacity by alarm breach size</a:t>
            </a:r>
          </a:p>
        </p:txBody>
      </p:sp>
      <p:sp>
        <p:nvSpPr>
          <p:cNvPr id="23" name="Rectangle 22"/>
          <p:cNvSpPr/>
          <p:nvPr/>
        </p:nvSpPr>
        <p:spPr>
          <a:xfrm>
            <a:off x="7795990" y="3108960"/>
            <a:ext cx="3615720"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05718" y="3108960"/>
            <a:ext cx="3432840" cy="822960"/>
          </a:xfrm>
          <a:prstGeom prst="rect">
            <a:avLst/>
          </a:prstGeom>
          <a:noFill/>
        </p:spPr>
        <p:txBody>
          <a:bodyPr wrap="square" anchor="ctr">
            <a:spAutoFit/>
          </a:bodyPr>
          <a:lstStyle/>
          <a:p>
            <a:pPr algn="ctr">
              <a:spcAft>
                <a:spcPts val="400"/>
              </a:spcAft>
            </a:pPr>
            <a:r>
              <a:rPr sz="1250" b="0">
                <a:solidFill>
                  <a:srgbClr val="5B6372"/>
                </a:solidFill>
                <a:latin typeface="Arial"/>
              </a:rPr>
              <a:t>Fine-grained control</a:t>
            </a:r>
          </a:p>
        </p:txBody>
      </p:sp>
      <p:sp>
        <p:nvSpPr>
          <p:cNvPr id="25" name="Rectangle 24"/>
          <p:cNvSpPr/>
          <p:nvPr/>
        </p:nvSpPr>
        <p:spPr>
          <a:xfrm>
            <a:off x="777240" y="3931920"/>
            <a:ext cx="2339583"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6968" y="3931920"/>
            <a:ext cx="2156703" cy="822960"/>
          </a:xfrm>
          <a:prstGeom prst="rect">
            <a:avLst/>
          </a:prstGeom>
          <a:noFill/>
        </p:spPr>
        <p:txBody>
          <a:bodyPr wrap="square" anchor="ctr">
            <a:spAutoFit/>
          </a:bodyPr>
          <a:lstStyle/>
          <a:p>
            <a:pPr algn="l">
              <a:spcAft>
                <a:spcPts val="400"/>
              </a:spcAft>
            </a:pPr>
            <a:r>
              <a:rPr sz="1250" b="1">
                <a:solidFill>
                  <a:srgbClr val="161B26"/>
                </a:solidFill>
                <a:latin typeface="Arial"/>
              </a:rPr>
              <a:t>Scheduled</a:t>
            </a:r>
          </a:p>
        </p:txBody>
      </p:sp>
      <p:sp>
        <p:nvSpPr>
          <p:cNvPr id="27" name="Rectangle 26"/>
          <p:cNvSpPr/>
          <p:nvPr/>
        </p:nvSpPr>
        <p:spPr>
          <a:xfrm>
            <a:off x="3116823" y="3931920"/>
            <a:ext cx="4679167"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26551" y="3931920"/>
            <a:ext cx="4496287" cy="822960"/>
          </a:xfrm>
          <a:prstGeom prst="rect">
            <a:avLst/>
          </a:prstGeom>
          <a:noFill/>
        </p:spPr>
        <p:txBody>
          <a:bodyPr wrap="square" anchor="ctr">
            <a:spAutoFit/>
          </a:bodyPr>
          <a:lstStyle/>
          <a:p>
            <a:pPr algn="ctr">
              <a:spcAft>
                <a:spcPts val="400"/>
              </a:spcAft>
            </a:pPr>
            <a:r>
              <a:rPr sz="1250" b="0">
                <a:solidFill>
                  <a:srgbClr val="5B6372"/>
                </a:solidFill>
                <a:latin typeface="Arial"/>
              </a:rPr>
              <a:t>Scale at known times</a:t>
            </a:r>
          </a:p>
        </p:txBody>
      </p:sp>
      <p:sp>
        <p:nvSpPr>
          <p:cNvPr id="29" name="Rectangle 28"/>
          <p:cNvSpPr/>
          <p:nvPr/>
        </p:nvSpPr>
        <p:spPr>
          <a:xfrm>
            <a:off x="7795990" y="3931920"/>
            <a:ext cx="3615720"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05718" y="3931920"/>
            <a:ext cx="3432840" cy="822960"/>
          </a:xfrm>
          <a:prstGeom prst="rect">
            <a:avLst/>
          </a:prstGeom>
          <a:noFill/>
        </p:spPr>
        <p:txBody>
          <a:bodyPr wrap="square" anchor="ctr">
            <a:spAutoFit/>
          </a:bodyPr>
          <a:lstStyle/>
          <a:p>
            <a:pPr algn="ctr">
              <a:spcAft>
                <a:spcPts val="400"/>
              </a:spcAft>
            </a:pPr>
            <a:r>
              <a:rPr sz="1250" b="0">
                <a:solidFill>
                  <a:srgbClr val="5B6372"/>
                </a:solidFill>
                <a:latin typeface="Arial"/>
              </a:rPr>
              <a:t>Predictable traffic patterns</a:t>
            </a:r>
          </a:p>
        </p:txBody>
      </p:sp>
      <p:sp>
        <p:nvSpPr>
          <p:cNvPr id="31" name="Rectangle 30"/>
          <p:cNvSpPr/>
          <p:nvPr/>
        </p:nvSpPr>
        <p:spPr>
          <a:xfrm>
            <a:off x="777240" y="4754880"/>
            <a:ext cx="2339583"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6968" y="4754880"/>
            <a:ext cx="2156703" cy="822960"/>
          </a:xfrm>
          <a:prstGeom prst="rect">
            <a:avLst/>
          </a:prstGeom>
          <a:noFill/>
        </p:spPr>
        <p:txBody>
          <a:bodyPr wrap="square" anchor="ctr">
            <a:spAutoFit/>
          </a:bodyPr>
          <a:lstStyle/>
          <a:p>
            <a:pPr algn="l">
              <a:spcAft>
                <a:spcPts val="400"/>
              </a:spcAft>
            </a:pPr>
            <a:r>
              <a:rPr sz="1250" b="1">
                <a:solidFill>
                  <a:srgbClr val="161B26"/>
                </a:solidFill>
                <a:latin typeface="Arial"/>
              </a:rPr>
              <a:t>Predictive</a:t>
            </a:r>
          </a:p>
        </p:txBody>
      </p:sp>
      <p:sp>
        <p:nvSpPr>
          <p:cNvPr id="33" name="Rectangle 32"/>
          <p:cNvSpPr/>
          <p:nvPr/>
        </p:nvSpPr>
        <p:spPr>
          <a:xfrm>
            <a:off x="3116823" y="4754880"/>
            <a:ext cx="4679167"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26551" y="4754880"/>
            <a:ext cx="4496287" cy="822960"/>
          </a:xfrm>
          <a:prstGeom prst="rect">
            <a:avLst/>
          </a:prstGeom>
          <a:noFill/>
        </p:spPr>
        <p:txBody>
          <a:bodyPr wrap="square" anchor="ctr">
            <a:spAutoFit/>
          </a:bodyPr>
          <a:lstStyle/>
          <a:p>
            <a:pPr algn="ctr">
              <a:spcAft>
                <a:spcPts val="400"/>
              </a:spcAft>
            </a:pPr>
            <a:r>
              <a:rPr sz="1250" b="0">
                <a:solidFill>
                  <a:srgbClr val="5B6372"/>
                </a:solidFill>
                <a:latin typeface="Arial"/>
              </a:rPr>
              <a:t>ML forecasts demand ahead of time</a:t>
            </a:r>
          </a:p>
        </p:txBody>
      </p:sp>
      <p:sp>
        <p:nvSpPr>
          <p:cNvPr id="35" name="Rectangle 34"/>
          <p:cNvSpPr/>
          <p:nvPr/>
        </p:nvSpPr>
        <p:spPr>
          <a:xfrm>
            <a:off x="7795990" y="4754880"/>
            <a:ext cx="3615720"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905718" y="4754880"/>
            <a:ext cx="3432840" cy="822960"/>
          </a:xfrm>
          <a:prstGeom prst="rect">
            <a:avLst/>
          </a:prstGeom>
          <a:noFill/>
        </p:spPr>
        <p:txBody>
          <a:bodyPr wrap="square" anchor="ctr">
            <a:spAutoFit/>
          </a:bodyPr>
          <a:lstStyle/>
          <a:p>
            <a:pPr algn="ctr">
              <a:spcAft>
                <a:spcPts val="400"/>
              </a:spcAft>
            </a:pPr>
            <a:r>
              <a:rPr sz="1250" b="0">
                <a:solidFill>
                  <a:srgbClr val="5B6372"/>
                </a:solidFill>
                <a:latin typeface="Arial"/>
              </a:rPr>
              <a:t>Recurring cyclical load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255</a:t>
            </a:r>
          </a:p>
        </p:txBody>
      </p:sp>
    </p:spTree>
  </p:cSld>
  <p:clrMapOvr>
    <a:masterClrMapping/>
  </p:clrMapOvr>
  <p:transition xmlns:p14="http://schemas.microsoft.com/office/powerpoint/2010/main" p14:dur="380">
    <p:fade/>
  </p:transition>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DISTRIBUTING TRAFFIC</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Elastic Load Balancer Types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190341" cy="5029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6968" y="1783080"/>
            <a:ext cx="3007461" cy="502920"/>
          </a:xfrm>
          <a:prstGeom prst="rect">
            <a:avLst/>
          </a:prstGeom>
          <a:noFill/>
        </p:spPr>
        <p:txBody>
          <a:bodyPr wrap="square" anchor="ctr">
            <a:spAutoFit/>
          </a:bodyPr>
          <a:lstStyle/>
          <a:p>
            <a:pPr algn="l">
              <a:spcAft>
                <a:spcPts val="400"/>
              </a:spcAft>
            </a:pPr>
            <a:r>
              <a:rPr sz="1400" b="1">
                <a:solidFill>
                  <a:srgbClr val="FFFFFF"/>
                </a:solidFill>
                <a:latin typeface="Arial"/>
              </a:rPr>
              <a:t>Type</a:t>
            </a:r>
          </a:p>
        </p:txBody>
      </p:sp>
      <p:sp>
        <p:nvSpPr>
          <p:cNvPr id="9" name="Rectangle 8"/>
          <p:cNvSpPr/>
          <p:nvPr/>
        </p:nvSpPr>
        <p:spPr>
          <a:xfrm>
            <a:off x="3967581" y="1783080"/>
            <a:ext cx="2977652" cy="5029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077309" y="1783080"/>
            <a:ext cx="2794772" cy="502920"/>
          </a:xfrm>
          <a:prstGeom prst="rect">
            <a:avLst/>
          </a:prstGeom>
          <a:noFill/>
        </p:spPr>
        <p:txBody>
          <a:bodyPr wrap="square" anchor="ctr">
            <a:spAutoFit/>
          </a:bodyPr>
          <a:lstStyle/>
          <a:p>
            <a:pPr algn="ctr">
              <a:spcAft>
                <a:spcPts val="400"/>
              </a:spcAft>
            </a:pPr>
            <a:r>
              <a:rPr sz="1400" b="1">
                <a:solidFill>
                  <a:srgbClr val="FFFFFF"/>
                </a:solidFill>
                <a:latin typeface="Arial"/>
              </a:rPr>
              <a:t>Layer</a:t>
            </a:r>
          </a:p>
        </p:txBody>
      </p:sp>
      <p:sp>
        <p:nvSpPr>
          <p:cNvPr id="11" name="Rectangle 10"/>
          <p:cNvSpPr/>
          <p:nvPr/>
        </p:nvSpPr>
        <p:spPr>
          <a:xfrm>
            <a:off x="6945233" y="1783080"/>
            <a:ext cx="4466478" cy="5029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54961" y="1783080"/>
            <a:ext cx="4283598" cy="502920"/>
          </a:xfrm>
          <a:prstGeom prst="rect">
            <a:avLst/>
          </a:prstGeom>
          <a:noFill/>
        </p:spPr>
        <p:txBody>
          <a:bodyPr wrap="square" anchor="ctr">
            <a:spAutoFit/>
          </a:bodyPr>
          <a:lstStyle/>
          <a:p>
            <a:pPr algn="ctr">
              <a:spcAft>
                <a:spcPts val="400"/>
              </a:spcAft>
            </a:pPr>
            <a:r>
              <a:rPr sz="1400" b="1">
                <a:solidFill>
                  <a:srgbClr val="FFFFFF"/>
                </a:solidFill>
                <a:latin typeface="Arial"/>
              </a:rPr>
              <a:t>Best for</a:t>
            </a:r>
          </a:p>
        </p:txBody>
      </p:sp>
      <p:sp>
        <p:nvSpPr>
          <p:cNvPr id="13" name="Rectangle 12"/>
          <p:cNvSpPr/>
          <p:nvPr/>
        </p:nvSpPr>
        <p:spPr>
          <a:xfrm>
            <a:off x="777240" y="2286000"/>
            <a:ext cx="3190341"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6968" y="2286000"/>
            <a:ext cx="3007461" cy="822960"/>
          </a:xfrm>
          <a:prstGeom prst="rect">
            <a:avLst/>
          </a:prstGeom>
          <a:noFill/>
        </p:spPr>
        <p:txBody>
          <a:bodyPr wrap="square" anchor="ctr">
            <a:spAutoFit/>
          </a:bodyPr>
          <a:lstStyle/>
          <a:p>
            <a:pPr algn="l">
              <a:spcAft>
                <a:spcPts val="400"/>
              </a:spcAft>
            </a:pPr>
            <a:r>
              <a:rPr sz="1250" b="1">
                <a:solidFill>
                  <a:srgbClr val="161B26"/>
                </a:solidFill>
                <a:latin typeface="Arial"/>
              </a:rPr>
              <a:t>Application LB (ALB)</a:t>
            </a:r>
          </a:p>
        </p:txBody>
      </p:sp>
      <p:sp>
        <p:nvSpPr>
          <p:cNvPr id="15" name="Rectangle 14"/>
          <p:cNvSpPr/>
          <p:nvPr/>
        </p:nvSpPr>
        <p:spPr>
          <a:xfrm>
            <a:off x="3967581" y="2286000"/>
            <a:ext cx="2977652"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77309" y="2286000"/>
            <a:ext cx="2794772" cy="822960"/>
          </a:xfrm>
          <a:prstGeom prst="rect">
            <a:avLst/>
          </a:prstGeom>
          <a:noFill/>
        </p:spPr>
        <p:txBody>
          <a:bodyPr wrap="square" anchor="ctr">
            <a:spAutoFit/>
          </a:bodyPr>
          <a:lstStyle/>
          <a:p>
            <a:pPr algn="ctr">
              <a:spcAft>
                <a:spcPts val="400"/>
              </a:spcAft>
            </a:pPr>
            <a:r>
              <a:rPr sz="1250" b="0">
                <a:solidFill>
                  <a:srgbClr val="5B6372"/>
                </a:solidFill>
                <a:latin typeface="Arial"/>
              </a:rPr>
              <a:t>HTTP/HTTPS (L7)</a:t>
            </a:r>
          </a:p>
        </p:txBody>
      </p:sp>
      <p:sp>
        <p:nvSpPr>
          <p:cNvPr id="17" name="Rectangle 16"/>
          <p:cNvSpPr/>
          <p:nvPr/>
        </p:nvSpPr>
        <p:spPr>
          <a:xfrm>
            <a:off x="6945233" y="2286000"/>
            <a:ext cx="4466478"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54961" y="2286000"/>
            <a:ext cx="4283598" cy="822960"/>
          </a:xfrm>
          <a:prstGeom prst="rect">
            <a:avLst/>
          </a:prstGeom>
          <a:noFill/>
        </p:spPr>
        <p:txBody>
          <a:bodyPr wrap="square" anchor="ctr">
            <a:spAutoFit/>
          </a:bodyPr>
          <a:lstStyle/>
          <a:p>
            <a:pPr algn="ctr">
              <a:spcAft>
                <a:spcPts val="400"/>
              </a:spcAft>
            </a:pPr>
            <a:r>
              <a:rPr sz="1250" b="0">
                <a:solidFill>
                  <a:srgbClr val="5B6372"/>
                </a:solidFill>
                <a:latin typeface="Arial"/>
              </a:rPr>
              <a:t>Web apps, path/host routing</a:t>
            </a:r>
          </a:p>
        </p:txBody>
      </p:sp>
      <p:sp>
        <p:nvSpPr>
          <p:cNvPr id="19" name="Rectangle 18"/>
          <p:cNvSpPr/>
          <p:nvPr/>
        </p:nvSpPr>
        <p:spPr>
          <a:xfrm>
            <a:off x="777240" y="3108960"/>
            <a:ext cx="3190341"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3108960"/>
            <a:ext cx="3007461" cy="822960"/>
          </a:xfrm>
          <a:prstGeom prst="rect">
            <a:avLst/>
          </a:prstGeom>
          <a:noFill/>
        </p:spPr>
        <p:txBody>
          <a:bodyPr wrap="square" anchor="ctr">
            <a:spAutoFit/>
          </a:bodyPr>
          <a:lstStyle/>
          <a:p>
            <a:pPr algn="l">
              <a:spcAft>
                <a:spcPts val="400"/>
              </a:spcAft>
            </a:pPr>
            <a:r>
              <a:rPr sz="1250" b="1">
                <a:solidFill>
                  <a:srgbClr val="161B26"/>
                </a:solidFill>
                <a:latin typeface="Arial"/>
              </a:rPr>
              <a:t>Network LB (NLB)</a:t>
            </a:r>
          </a:p>
        </p:txBody>
      </p:sp>
      <p:sp>
        <p:nvSpPr>
          <p:cNvPr id="21" name="Rectangle 20"/>
          <p:cNvSpPr/>
          <p:nvPr/>
        </p:nvSpPr>
        <p:spPr>
          <a:xfrm>
            <a:off x="3967581" y="3108960"/>
            <a:ext cx="2977652"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077309" y="3108960"/>
            <a:ext cx="2794772" cy="822960"/>
          </a:xfrm>
          <a:prstGeom prst="rect">
            <a:avLst/>
          </a:prstGeom>
          <a:noFill/>
        </p:spPr>
        <p:txBody>
          <a:bodyPr wrap="square" anchor="ctr">
            <a:spAutoFit/>
          </a:bodyPr>
          <a:lstStyle/>
          <a:p>
            <a:pPr algn="ctr">
              <a:spcAft>
                <a:spcPts val="400"/>
              </a:spcAft>
            </a:pPr>
            <a:r>
              <a:rPr sz="1250" b="0">
                <a:solidFill>
                  <a:srgbClr val="5B6372"/>
                </a:solidFill>
                <a:latin typeface="Arial"/>
              </a:rPr>
              <a:t>TCP/UDP (L4)</a:t>
            </a:r>
          </a:p>
        </p:txBody>
      </p:sp>
      <p:sp>
        <p:nvSpPr>
          <p:cNvPr id="23" name="Rectangle 22"/>
          <p:cNvSpPr/>
          <p:nvPr/>
        </p:nvSpPr>
        <p:spPr>
          <a:xfrm>
            <a:off x="6945233" y="3108960"/>
            <a:ext cx="4466478"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54961" y="3108960"/>
            <a:ext cx="4283598" cy="822960"/>
          </a:xfrm>
          <a:prstGeom prst="rect">
            <a:avLst/>
          </a:prstGeom>
          <a:noFill/>
        </p:spPr>
        <p:txBody>
          <a:bodyPr wrap="square" anchor="ctr">
            <a:spAutoFit/>
          </a:bodyPr>
          <a:lstStyle/>
          <a:p>
            <a:pPr algn="ctr">
              <a:spcAft>
                <a:spcPts val="400"/>
              </a:spcAft>
            </a:pPr>
            <a:r>
              <a:rPr sz="1250" b="0">
                <a:solidFill>
                  <a:srgbClr val="5B6372"/>
                </a:solidFill>
                <a:latin typeface="Arial"/>
              </a:rPr>
              <a:t>Ultra-low latency, static IP</a:t>
            </a:r>
          </a:p>
        </p:txBody>
      </p:sp>
      <p:sp>
        <p:nvSpPr>
          <p:cNvPr id="25" name="Rectangle 24"/>
          <p:cNvSpPr/>
          <p:nvPr/>
        </p:nvSpPr>
        <p:spPr>
          <a:xfrm>
            <a:off x="777240" y="3931920"/>
            <a:ext cx="3190341"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6968" y="3931920"/>
            <a:ext cx="3007461" cy="822960"/>
          </a:xfrm>
          <a:prstGeom prst="rect">
            <a:avLst/>
          </a:prstGeom>
          <a:noFill/>
        </p:spPr>
        <p:txBody>
          <a:bodyPr wrap="square" anchor="ctr">
            <a:spAutoFit/>
          </a:bodyPr>
          <a:lstStyle/>
          <a:p>
            <a:pPr algn="l">
              <a:spcAft>
                <a:spcPts val="400"/>
              </a:spcAft>
            </a:pPr>
            <a:r>
              <a:rPr sz="1250" b="1">
                <a:solidFill>
                  <a:srgbClr val="161B26"/>
                </a:solidFill>
                <a:latin typeface="Arial"/>
              </a:rPr>
              <a:t>Gateway LB (GWLB)</a:t>
            </a:r>
          </a:p>
        </p:txBody>
      </p:sp>
      <p:sp>
        <p:nvSpPr>
          <p:cNvPr id="27" name="Rectangle 26"/>
          <p:cNvSpPr/>
          <p:nvPr/>
        </p:nvSpPr>
        <p:spPr>
          <a:xfrm>
            <a:off x="3967581" y="3931920"/>
            <a:ext cx="2977652"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77309" y="3931920"/>
            <a:ext cx="2794772" cy="822960"/>
          </a:xfrm>
          <a:prstGeom prst="rect">
            <a:avLst/>
          </a:prstGeom>
          <a:noFill/>
        </p:spPr>
        <p:txBody>
          <a:bodyPr wrap="square" anchor="ctr">
            <a:spAutoFit/>
          </a:bodyPr>
          <a:lstStyle/>
          <a:p>
            <a:pPr algn="ctr">
              <a:spcAft>
                <a:spcPts val="400"/>
              </a:spcAft>
            </a:pPr>
            <a:r>
              <a:rPr sz="1250" b="0">
                <a:solidFill>
                  <a:srgbClr val="5B6372"/>
                </a:solidFill>
                <a:latin typeface="Arial"/>
              </a:rPr>
              <a:t>L3 gateway</a:t>
            </a:r>
          </a:p>
        </p:txBody>
      </p:sp>
      <p:sp>
        <p:nvSpPr>
          <p:cNvPr id="29" name="Rectangle 28"/>
          <p:cNvSpPr/>
          <p:nvPr/>
        </p:nvSpPr>
        <p:spPr>
          <a:xfrm>
            <a:off x="6945233" y="3931920"/>
            <a:ext cx="4466478"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54961" y="3931920"/>
            <a:ext cx="4283598" cy="822960"/>
          </a:xfrm>
          <a:prstGeom prst="rect">
            <a:avLst/>
          </a:prstGeom>
          <a:noFill/>
        </p:spPr>
        <p:txBody>
          <a:bodyPr wrap="square" anchor="ctr">
            <a:spAutoFit/>
          </a:bodyPr>
          <a:lstStyle/>
          <a:p>
            <a:pPr algn="ctr">
              <a:spcAft>
                <a:spcPts val="400"/>
              </a:spcAft>
            </a:pPr>
            <a:r>
              <a:rPr sz="1250" b="0">
                <a:solidFill>
                  <a:srgbClr val="5B6372"/>
                </a:solidFill>
                <a:latin typeface="Arial"/>
              </a:rPr>
              <a:t>Inline security appliances</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256</a:t>
            </a:r>
          </a:p>
        </p:txBody>
      </p:sp>
    </p:spTree>
  </p:cSld>
  <p:clrMapOvr>
    <a:masterClrMapping/>
  </p:clrMapOvr>
  <p:transition xmlns:p14="http://schemas.microsoft.com/office/powerpoint/2010/main" p14:dur="380">
    <p:fade/>
  </p:transition>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DURABILITY &amp; RECOVERY</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Protecting Your Data</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600" b="1">
                <a:solidFill>
                  <a:srgbClr val="161B26"/>
                </a:solidFill>
                <a:latin typeface="Arial"/>
              </a:rPr>
              <a:t>Multi-AZ RDS</a:t>
            </a:r>
          </a:p>
          <a:p>
            <a:pPr algn="l">
              <a:spcAft>
                <a:spcPts val="300"/>
              </a:spcAft>
            </a:pPr>
            <a:r>
              <a:rPr sz="1200" b="0">
                <a:solidFill>
                  <a:srgbClr val="5B6372"/>
                </a:solidFill>
                <a:latin typeface="Arial"/>
              </a:rPr>
              <a:t>Synchronous standby with automatic failover.</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600" b="1">
                <a:solidFill>
                  <a:srgbClr val="161B26"/>
                </a:solidFill>
                <a:latin typeface="Arial"/>
              </a:rPr>
              <a:t>DynamoDB global tables</a:t>
            </a:r>
          </a:p>
          <a:p>
            <a:pPr algn="l">
              <a:spcAft>
                <a:spcPts val="300"/>
              </a:spcAft>
            </a:pPr>
            <a:r>
              <a:rPr sz="1200" b="0">
                <a:solidFill>
                  <a:srgbClr val="5B6372"/>
                </a:solidFill>
                <a:latin typeface="Arial"/>
              </a:rPr>
              <a:t>Multi-Region, active-active replication.</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600" b="1">
                <a:solidFill>
                  <a:srgbClr val="161B26"/>
                </a:solidFill>
                <a:latin typeface="Arial"/>
              </a:rPr>
              <a:t>S3 cross-Region replication</a:t>
            </a:r>
          </a:p>
          <a:p>
            <a:pPr algn="l">
              <a:spcAft>
                <a:spcPts val="300"/>
              </a:spcAft>
            </a:pPr>
            <a:r>
              <a:rPr sz="1200" b="0">
                <a:solidFill>
                  <a:srgbClr val="5B6372"/>
                </a:solidFill>
                <a:latin typeface="Arial"/>
              </a:rPr>
              <a:t>Durable object copies in another Region.</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600" b="1">
                <a:solidFill>
                  <a:srgbClr val="161B26"/>
                </a:solidFill>
                <a:latin typeface="Arial"/>
              </a:rPr>
              <a:t>Automated snapshots</a:t>
            </a:r>
          </a:p>
          <a:p>
            <a:pPr algn="l">
              <a:spcAft>
                <a:spcPts val="300"/>
              </a:spcAft>
            </a:pPr>
            <a:r>
              <a:rPr sz="1200" b="0">
                <a:solidFill>
                  <a:srgbClr val="5B6372"/>
                </a:solidFill>
                <a:latin typeface="Arial"/>
              </a:rPr>
              <a:t>Point-in-time recovery for RDS/EBS.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257</a:t>
            </a:r>
          </a:p>
        </p:txBody>
      </p:sp>
    </p:spTree>
  </p:cSld>
  <p:clrMapOvr>
    <a:masterClrMapping/>
  </p:clrMapOvr>
  <p:transition xmlns:p14="http://schemas.microsoft.com/office/powerpoint/2010/main" p14:dur="380">
    <p:fade/>
  </p:transition>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IN DEPTH</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High availability across Availability Zones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51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21208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38528"/>
            <a:ext cx="4754880" cy="365760"/>
          </a:xfrm>
          <a:prstGeom prst="rect">
            <a:avLst/>
          </a:prstGeom>
          <a:noFill/>
        </p:spPr>
        <p:txBody>
          <a:bodyPr wrap="square" anchor="t">
            <a:spAutoFit/>
          </a:bodyPr>
          <a:lstStyle/>
          <a:p>
            <a:pPr algn="l">
              <a:spcAft>
                <a:spcPts val="400"/>
              </a:spcAft>
            </a:pPr>
            <a:r>
              <a:rPr sz="1200" b="1">
                <a:solidFill>
                  <a:srgbClr val="10B981"/>
                </a:solidFill>
                <a:latin typeface="Arial"/>
              </a:rPr>
              <a:t>IN DEPTH</a:t>
            </a:r>
          </a:p>
        </p:txBody>
      </p:sp>
      <p:sp>
        <p:nvSpPr>
          <p:cNvPr id="10" name="TextBox 9"/>
          <p:cNvSpPr txBox="1"/>
          <p:nvPr/>
        </p:nvSpPr>
        <p:spPr>
          <a:xfrm>
            <a:off x="1005840" y="2377440"/>
            <a:ext cx="4754880" cy="3566160"/>
          </a:xfrm>
          <a:prstGeom prst="rect">
            <a:avLst/>
          </a:prstGeom>
          <a:noFill/>
        </p:spPr>
        <p:txBody>
          <a:bodyPr wrap="square">
            <a:spAutoFit/>
          </a:bodyPr>
          <a:lstStyle/>
          <a:p>
            <a:pPr>
              <a:spcAft>
                <a:spcPts val="800"/>
              </a:spcAft>
            </a:pPr>
            <a:r>
              <a:rPr sz="1350" b="0">
                <a:solidFill>
                  <a:srgbClr val="161B26"/>
                </a:solidFill>
                <a:latin typeface="Arial"/>
              </a:rPr>
              <a:t>•  Availability Zones are physically isolated data centres within a Region with independent power, cooling and networking.</a:t>
            </a:r>
          </a:p>
          <a:p>
            <a:pPr>
              <a:spcAft>
                <a:spcPts val="800"/>
              </a:spcAft>
            </a:pPr>
            <a:r>
              <a:rPr sz="1350" b="0">
                <a:solidFill>
                  <a:srgbClr val="161B26"/>
                </a:solidFill>
                <a:latin typeface="Arial"/>
              </a:rPr>
              <a:t>•  Spreading compute across at least two AZs behind an Elastic Load Balancer lets the system survive a full AZ failure.</a:t>
            </a:r>
          </a:p>
          <a:p>
            <a:pPr>
              <a:spcAft>
                <a:spcPts val="800"/>
              </a:spcAft>
            </a:pPr>
            <a:r>
              <a:rPr sz="1350" b="0">
                <a:solidFill>
                  <a:srgbClr val="161B26"/>
                </a:solidFill>
                <a:latin typeface="Arial"/>
              </a:rPr>
              <a:t>•  Stateless application tiers make AZ-level redundancy trivial — any instance can serve any request.</a:t>
            </a:r>
          </a:p>
        </p:txBody>
      </p:sp>
      <p:sp>
        <p:nvSpPr>
          <p:cNvPr id="11" name="Rectangle 10"/>
          <p:cNvSpPr/>
          <p:nvPr/>
        </p:nvSpPr>
        <p:spPr>
          <a:xfrm>
            <a:off x="6172200" y="178308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1783080"/>
            <a:ext cx="91440" cy="1325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8232" y="1892808"/>
            <a:ext cx="4782312" cy="320040"/>
          </a:xfrm>
          <a:prstGeom prst="rect">
            <a:avLst/>
          </a:prstGeom>
          <a:noFill/>
        </p:spPr>
        <p:txBody>
          <a:bodyPr wrap="square" anchor="t">
            <a:spAutoFit/>
          </a:bodyPr>
          <a:lstStyle/>
          <a:p>
            <a:pPr algn="l">
              <a:spcAft>
                <a:spcPts val="400"/>
              </a:spcAft>
            </a:pPr>
            <a:r>
              <a:rPr sz="1150" b="1">
                <a:solidFill>
                  <a:srgbClr val="10B981"/>
                </a:solidFill>
                <a:latin typeface="Arial"/>
              </a:rPr>
              <a:t>WHY IT MATTERS</a:t>
            </a:r>
          </a:p>
        </p:txBody>
      </p:sp>
      <p:sp>
        <p:nvSpPr>
          <p:cNvPr id="14" name="TextBox 13"/>
          <p:cNvSpPr txBox="1"/>
          <p:nvPr/>
        </p:nvSpPr>
        <p:spPr>
          <a:xfrm>
            <a:off x="6428232" y="222199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Multi-AZ is the cheapest, highest-leverage resilience decision — most real outages are single-AZ or single-instance, both survivable.</a:t>
            </a:r>
          </a:p>
        </p:txBody>
      </p:sp>
      <p:sp>
        <p:nvSpPr>
          <p:cNvPr id="15" name="Rectangle 14"/>
          <p:cNvSpPr/>
          <p:nvPr/>
        </p:nvSpPr>
        <p:spPr>
          <a:xfrm>
            <a:off x="6172200" y="324612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3246120"/>
            <a:ext cx="91440" cy="13258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8232" y="3355848"/>
            <a:ext cx="4782312" cy="320040"/>
          </a:xfrm>
          <a:prstGeom prst="rect">
            <a:avLst/>
          </a:prstGeom>
          <a:noFill/>
        </p:spPr>
        <p:txBody>
          <a:bodyPr wrap="square" anchor="t">
            <a:spAutoFit/>
          </a:bodyPr>
          <a:lstStyle/>
          <a:p>
            <a:pPr algn="l">
              <a:spcAft>
                <a:spcPts val="400"/>
              </a:spcAft>
            </a:pPr>
            <a:r>
              <a:rPr sz="1150" b="1">
                <a:solidFill>
                  <a:srgbClr val="C0392B"/>
                </a:solidFill>
                <a:latin typeface="Arial"/>
              </a:rPr>
              <a:t>FAILURE MODE</a:t>
            </a:r>
          </a:p>
        </p:txBody>
      </p:sp>
      <p:sp>
        <p:nvSpPr>
          <p:cNvPr id="18" name="TextBox 17"/>
          <p:cNvSpPr txBox="1"/>
          <p:nvPr/>
        </p:nvSpPr>
        <p:spPr>
          <a:xfrm>
            <a:off x="6428232" y="368503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A single-AZ deployment, or a stateful session pinned to one instance, turns a routine hardware failure into a customer-visible outage.</a:t>
            </a:r>
          </a:p>
        </p:txBody>
      </p:sp>
      <p:sp>
        <p:nvSpPr>
          <p:cNvPr id="19" name="Rectangle 18"/>
          <p:cNvSpPr/>
          <p:nvPr/>
        </p:nvSpPr>
        <p:spPr>
          <a:xfrm>
            <a:off x="6172200" y="470916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2200" y="4709160"/>
            <a:ext cx="91440" cy="1325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28232" y="4818888"/>
            <a:ext cx="4782312" cy="320040"/>
          </a:xfrm>
          <a:prstGeom prst="rect">
            <a:avLst/>
          </a:prstGeom>
          <a:noFill/>
        </p:spPr>
        <p:txBody>
          <a:bodyPr wrap="square" anchor="t">
            <a:spAutoFit/>
          </a:bodyPr>
          <a:lstStyle/>
          <a:p>
            <a:pPr algn="l">
              <a:spcAft>
                <a:spcPts val="400"/>
              </a:spcAft>
            </a:pPr>
            <a:r>
              <a:rPr sz="1150" b="1">
                <a:solidFill>
                  <a:srgbClr val="F59E0B"/>
                </a:solidFill>
                <a:latin typeface="Arial"/>
              </a:rPr>
              <a:t>TRADE-OFF / DECISION</a:t>
            </a:r>
          </a:p>
        </p:txBody>
      </p:sp>
      <p:sp>
        <p:nvSpPr>
          <p:cNvPr id="22" name="TextBox 21"/>
          <p:cNvSpPr txBox="1"/>
          <p:nvPr/>
        </p:nvSpPr>
        <p:spPr>
          <a:xfrm>
            <a:off x="6428232" y="514807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Cross-AZ traffic incurs latency and data-transfer cost — a fair price for surviving an AZ loss.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258</a:t>
            </a:r>
          </a:p>
        </p:txBody>
      </p:sp>
    </p:spTree>
  </p:cSld>
  <p:clrMapOvr>
    <a:masterClrMapping/>
  </p:clrMapOvr>
  <p:transition xmlns:p14="http://schemas.microsoft.com/office/powerpoint/2010/main" p14:dur="380">
    <p:fade/>
  </p:transition>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IN DEPTH</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Elasticity and Auto Scaling</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51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21208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38528"/>
            <a:ext cx="4754880" cy="365760"/>
          </a:xfrm>
          <a:prstGeom prst="rect">
            <a:avLst/>
          </a:prstGeom>
          <a:noFill/>
        </p:spPr>
        <p:txBody>
          <a:bodyPr wrap="square" anchor="t">
            <a:spAutoFit/>
          </a:bodyPr>
          <a:lstStyle/>
          <a:p>
            <a:pPr algn="l">
              <a:spcAft>
                <a:spcPts val="400"/>
              </a:spcAft>
            </a:pPr>
            <a:r>
              <a:rPr sz="1200" b="1">
                <a:solidFill>
                  <a:srgbClr val="10B981"/>
                </a:solidFill>
                <a:latin typeface="Arial"/>
              </a:rPr>
              <a:t>IN DEPTH</a:t>
            </a:r>
          </a:p>
        </p:txBody>
      </p:sp>
      <p:sp>
        <p:nvSpPr>
          <p:cNvPr id="10" name="TextBox 9"/>
          <p:cNvSpPr txBox="1"/>
          <p:nvPr/>
        </p:nvSpPr>
        <p:spPr>
          <a:xfrm>
            <a:off x="1005840" y="2377440"/>
            <a:ext cx="4754880" cy="3566160"/>
          </a:xfrm>
          <a:prstGeom prst="rect">
            <a:avLst/>
          </a:prstGeom>
          <a:noFill/>
        </p:spPr>
        <p:txBody>
          <a:bodyPr wrap="square">
            <a:spAutoFit/>
          </a:bodyPr>
          <a:lstStyle/>
          <a:p>
            <a:pPr>
              <a:spcAft>
                <a:spcPts val="800"/>
              </a:spcAft>
            </a:pPr>
            <a:r>
              <a:rPr sz="1350" b="0">
                <a:solidFill>
                  <a:srgbClr val="161B26"/>
                </a:solidFill>
                <a:latin typeface="Arial"/>
              </a:rPr>
              <a:t>•  Auto Scaling groups add and remove instances to match demand and replace unhealthy ones automatically.</a:t>
            </a:r>
          </a:p>
          <a:p>
            <a:pPr>
              <a:spcAft>
                <a:spcPts val="800"/>
              </a:spcAft>
            </a:pPr>
            <a:r>
              <a:rPr sz="1350" b="0">
                <a:solidFill>
                  <a:srgbClr val="161B26"/>
                </a:solidFill>
                <a:latin typeface="Arial"/>
              </a:rPr>
              <a:t>•  Target tracking holds a metric (e.g. 50% CPU) at target; step and scheduled policies handle spikes and known patterns; predictive scaling forecasts demand.</a:t>
            </a:r>
          </a:p>
          <a:p>
            <a:pPr>
              <a:spcAft>
                <a:spcPts val="800"/>
              </a:spcAft>
            </a:pPr>
            <a:r>
              <a:rPr sz="1350" b="0">
                <a:solidFill>
                  <a:srgbClr val="161B26"/>
                </a:solidFill>
                <a:latin typeface="Arial"/>
              </a:rPr>
              <a:t>•  Health checks (EC2 and ELB) let the group cull and replace bad instances without human action.</a:t>
            </a:r>
          </a:p>
        </p:txBody>
      </p:sp>
      <p:sp>
        <p:nvSpPr>
          <p:cNvPr id="11" name="Rectangle 10"/>
          <p:cNvSpPr/>
          <p:nvPr/>
        </p:nvSpPr>
        <p:spPr>
          <a:xfrm>
            <a:off x="6172200" y="178308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1783080"/>
            <a:ext cx="91440" cy="1325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8232" y="1892808"/>
            <a:ext cx="4782312" cy="320040"/>
          </a:xfrm>
          <a:prstGeom prst="rect">
            <a:avLst/>
          </a:prstGeom>
          <a:noFill/>
        </p:spPr>
        <p:txBody>
          <a:bodyPr wrap="square" anchor="t">
            <a:spAutoFit/>
          </a:bodyPr>
          <a:lstStyle/>
          <a:p>
            <a:pPr algn="l">
              <a:spcAft>
                <a:spcPts val="400"/>
              </a:spcAft>
            </a:pPr>
            <a:r>
              <a:rPr sz="1150" b="1">
                <a:solidFill>
                  <a:srgbClr val="10B981"/>
                </a:solidFill>
                <a:latin typeface="Arial"/>
              </a:rPr>
              <a:t>WHY IT MATTERS</a:t>
            </a:r>
          </a:p>
        </p:txBody>
      </p:sp>
      <p:sp>
        <p:nvSpPr>
          <p:cNvPr id="14" name="TextBox 13"/>
          <p:cNvSpPr txBox="1"/>
          <p:nvPr/>
        </p:nvSpPr>
        <p:spPr>
          <a:xfrm>
            <a:off x="6428232" y="222199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Elasticity matches cost to demand and provides self-healing — a terminated instance is silently replaced.</a:t>
            </a:r>
          </a:p>
        </p:txBody>
      </p:sp>
      <p:sp>
        <p:nvSpPr>
          <p:cNvPr id="15" name="Rectangle 14"/>
          <p:cNvSpPr/>
          <p:nvPr/>
        </p:nvSpPr>
        <p:spPr>
          <a:xfrm>
            <a:off x="6172200" y="324612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3246120"/>
            <a:ext cx="91440" cy="13258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8232" y="3355848"/>
            <a:ext cx="4782312" cy="320040"/>
          </a:xfrm>
          <a:prstGeom prst="rect">
            <a:avLst/>
          </a:prstGeom>
          <a:noFill/>
        </p:spPr>
        <p:txBody>
          <a:bodyPr wrap="square" anchor="t">
            <a:spAutoFit/>
          </a:bodyPr>
          <a:lstStyle/>
          <a:p>
            <a:pPr algn="l">
              <a:spcAft>
                <a:spcPts val="400"/>
              </a:spcAft>
            </a:pPr>
            <a:r>
              <a:rPr sz="1150" b="1">
                <a:solidFill>
                  <a:srgbClr val="C0392B"/>
                </a:solidFill>
                <a:latin typeface="Arial"/>
              </a:rPr>
              <a:t>FAILURE MODE</a:t>
            </a:r>
          </a:p>
        </p:txBody>
      </p:sp>
      <p:sp>
        <p:nvSpPr>
          <p:cNvPr id="18" name="TextBox 17"/>
          <p:cNvSpPr txBox="1"/>
          <p:nvPr/>
        </p:nvSpPr>
        <p:spPr>
          <a:xfrm>
            <a:off x="6428232" y="368503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Scaling on the wrong metric (CPU for an I/O-bound app) leaves you slow under load and over-provisioned when idle.</a:t>
            </a:r>
          </a:p>
        </p:txBody>
      </p:sp>
      <p:sp>
        <p:nvSpPr>
          <p:cNvPr id="19" name="Rectangle 18"/>
          <p:cNvSpPr/>
          <p:nvPr/>
        </p:nvSpPr>
        <p:spPr>
          <a:xfrm>
            <a:off x="6172200" y="470916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2200" y="4709160"/>
            <a:ext cx="91440" cy="1325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28232" y="4818888"/>
            <a:ext cx="4782312" cy="320040"/>
          </a:xfrm>
          <a:prstGeom prst="rect">
            <a:avLst/>
          </a:prstGeom>
          <a:noFill/>
        </p:spPr>
        <p:txBody>
          <a:bodyPr wrap="square" anchor="t">
            <a:spAutoFit/>
          </a:bodyPr>
          <a:lstStyle/>
          <a:p>
            <a:pPr algn="l">
              <a:spcAft>
                <a:spcPts val="400"/>
              </a:spcAft>
            </a:pPr>
            <a:r>
              <a:rPr sz="1150" b="1">
                <a:solidFill>
                  <a:srgbClr val="F59E0B"/>
                </a:solidFill>
                <a:latin typeface="Arial"/>
              </a:rPr>
              <a:t>TRADE-OFF / DECISION</a:t>
            </a:r>
          </a:p>
        </p:txBody>
      </p:sp>
      <p:sp>
        <p:nvSpPr>
          <p:cNvPr id="22" name="TextBox 21"/>
          <p:cNvSpPr txBox="1"/>
          <p:nvPr/>
        </p:nvSpPr>
        <p:spPr>
          <a:xfrm>
            <a:off x="6428232" y="514807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Aggressive scaling reacts fast but can thrash — tune cooldowns and warm-up so the group settles.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259</a:t>
            </a:r>
          </a:p>
        </p:txBody>
      </p:sp>
    </p:spTree>
  </p:cSld>
  <p:clrMapOvr>
    <a:masterClrMapping/>
  </p:clrMapOvr>
  <p:transition xmlns:p14="http://schemas.microsoft.com/office/powerpoint/2010/main" p14:dur="380">
    <p:fade/>
  </p:transition>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IN DEPTH</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Load balancer types and when to use them</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51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21208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38528"/>
            <a:ext cx="4754880" cy="365760"/>
          </a:xfrm>
          <a:prstGeom prst="rect">
            <a:avLst/>
          </a:prstGeom>
          <a:noFill/>
        </p:spPr>
        <p:txBody>
          <a:bodyPr wrap="square" anchor="t">
            <a:spAutoFit/>
          </a:bodyPr>
          <a:lstStyle/>
          <a:p>
            <a:pPr algn="l">
              <a:spcAft>
                <a:spcPts val="400"/>
              </a:spcAft>
            </a:pPr>
            <a:r>
              <a:rPr sz="1200" b="1">
                <a:solidFill>
                  <a:srgbClr val="10B981"/>
                </a:solidFill>
                <a:latin typeface="Arial"/>
              </a:rPr>
              <a:t>IN DEPTH</a:t>
            </a:r>
          </a:p>
        </p:txBody>
      </p:sp>
      <p:sp>
        <p:nvSpPr>
          <p:cNvPr id="10" name="TextBox 9"/>
          <p:cNvSpPr txBox="1"/>
          <p:nvPr/>
        </p:nvSpPr>
        <p:spPr>
          <a:xfrm>
            <a:off x="1005840" y="2377440"/>
            <a:ext cx="4754880" cy="3566160"/>
          </a:xfrm>
          <a:prstGeom prst="rect">
            <a:avLst/>
          </a:prstGeom>
          <a:noFill/>
        </p:spPr>
        <p:txBody>
          <a:bodyPr wrap="square">
            <a:spAutoFit/>
          </a:bodyPr>
          <a:lstStyle/>
          <a:p>
            <a:pPr>
              <a:spcAft>
                <a:spcPts val="800"/>
              </a:spcAft>
            </a:pPr>
            <a:r>
              <a:rPr sz="1350" b="0">
                <a:solidFill>
                  <a:srgbClr val="161B26"/>
                </a:solidFill>
                <a:latin typeface="Arial"/>
              </a:rPr>
              <a:t>•  Application Load Balancer routes HTTP/HTTPS with host/path rules and works well with containers and Lambda targets.</a:t>
            </a:r>
          </a:p>
          <a:p>
            <a:pPr>
              <a:spcAft>
                <a:spcPts val="800"/>
              </a:spcAft>
            </a:pPr>
            <a:r>
              <a:rPr sz="1350" b="0">
                <a:solidFill>
                  <a:srgbClr val="161B26"/>
                </a:solidFill>
                <a:latin typeface="Arial"/>
              </a:rPr>
              <a:t>•  Network Load Balancer handles TCP/UDP at ultra-low latency with static IPs.</a:t>
            </a:r>
          </a:p>
          <a:p>
            <a:pPr>
              <a:spcAft>
                <a:spcPts val="800"/>
              </a:spcAft>
            </a:pPr>
            <a:r>
              <a:rPr sz="1350" b="0">
                <a:solidFill>
                  <a:srgbClr val="161B26"/>
                </a:solidFill>
                <a:latin typeface="Arial"/>
              </a:rPr>
              <a:t>•  Gateway Load Balancer inserts inline security appliances transparently.</a:t>
            </a:r>
          </a:p>
        </p:txBody>
      </p:sp>
      <p:sp>
        <p:nvSpPr>
          <p:cNvPr id="11" name="Rectangle 10"/>
          <p:cNvSpPr/>
          <p:nvPr/>
        </p:nvSpPr>
        <p:spPr>
          <a:xfrm>
            <a:off x="6172200" y="178308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1783080"/>
            <a:ext cx="91440" cy="1325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8232" y="1892808"/>
            <a:ext cx="4782312" cy="320040"/>
          </a:xfrm>
          <a:prstGeom prst="rect">
            <a:avLst/>
          </a:prstGeom>
          <a:noFill/>
        </p:spPr>
        <p:txBody>
          <a:bodyPr wrap="square" anchor="t">
            <a:spAutoFit/>
          </a:bodyPr>
          <a:lstStyle/>
          <a:p>
            <a:pPr algn="l">
              <a:spcAft>
                <a:spcPts val="400"/>
              </a:spcAft>
            </a:pPr>
            <a:r>
              <a:rPr sz="1150" b="1">
                <a:solidFill>
                  <a:srgbClr val="10B981"/>
                </a:solidFill>
                <a:latin typeface="Arial"/>
              </a:rPr>
              <a:t>WHY IT MATTERS</a:t>
            </a:r>
          </a:p>
        </p:txBody>
      </p:sp>
      <p:sp>
        <p:nvSpPr>
          <p:cNvPr id="14" name="TextBox 13"/>
          <p:cNvSpPr txBox="1"/>
          <p:nvPr/>
        </p:nvSpPr>
        <p:spPr>
          <a:xfrm>
            <a:off x="6428232" y="222199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Choosing the right layer-7 or layer-4 balancer shapes routing, TLS termination, latency and cost.</a:t>
            </a:r>
          </a:p>
        </p:txBody>
      </p:sp>
      <p:sp>
        <p:nvSpPr>
          <p:cNvPr id="15" name="Rectangle 14"/>
          <p:cNvSpPr/>
          <p:nvPr/>
        </p:nvSpPr>
        <p:spPr>
          <a:xfrm>
            <a:off x="6172200" y="324612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3246120"/>
            <a:ext cx="91440" cy="13258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8232" y="3355848"/>
            <a:ext cx="4782312" cy="320040"/>
          </a:xfrm>
          <a:prstGeom prst="rect">
            <a:avLst/>
          </a:prstGeom>
          <a:noFill/>
        </p:spPr>
        <p:txBody>
          <a:bodyPr wrap="square" anchor="t">
            <a:spAutoFit/>
          </a:bodyPr>
          <a:lstStyle/>
          <a:p>
            <a:pPr algn="l">
              <a:spcAft>
                <a:spcPts val="400"/>
              </a:spcAft>
            </a:pPr>
            <a:r>
              <a:rPr sz="1150" b="1">
                <a:solidFill>
                  <a:srgbClr val="C0392B"/>
                </a:solidFill>
                <a:latin typeface="Arial"/>
              </a:rPr>
              <a:t>FAILURE MODE</a:t>
            </a:r>
          </a:p>
        </p:txBody>
      </p:sp>
      <p:sp>
        <p:nvSpPr>
          <p:cNvPr id="18" name="TextBox 17"/>
          <p:cNvSpPr txBox="1"/>
          <p:nvPr/>
        </p:nvSpPr>
        <p:spPr>
          <a:xfrm>
            <a:off x="6428232" y="368503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Forcing an L7 ALB where you need raw TCP throughput or a static IP adds latency and misses the requirement.</a:t>
            </a:r>
          </a:p>
        </p:txBody>
      </p:sp>
      <p:sp>
        <p:nvSpPr>
          <p:cNvPr id="19" name="Rectangle 18"/>
          <p:cNvSpPr/>
          <p:nvPr/>
        </p:nvSpPr>
        <p:spPr>
          <a:xfrm>
            <a:off x="6172200" y="470916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2200" y="4709160"/>
            <a:ext cx="91440" cy="1325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28232" y="4818888"/>
            <a:ext cx="4782312" cy="320040"/>
          </a:xfrm>
          <a:prstGeom prst="rect">
            <a:avLst/>
          </a:prstGeom>
          <a:noFill/>
        </p:spPr>
        <p:txBody>
          <a:bodyPr wrap="square" anchor="t">
            <a:spAutoFit/>
          </a:bodyPr>
          <a:lstStyle/>
          <a:p>
            <a:pPr algn="l">
              <a:spcAft>
                <a:spcPts val="400"/>
              </a:spcAft>
            </a:pPr>
            <a:r>
              <a:rPr sz="1150" b="1">
                <a:solidFill>
                  <a:srgbClr val="F59E0B"/>
                </a:solidFill>
                <a:latin typeface="Arial"/>
              </a:rPr>
              <a:t>TRADE-OFF / DECISION</a:t>
            </a:r>
          </a:p>
        </p:txBody>
      </p:sp>
      <p:sp>
        <p:nvSpPr>
          <p:cNvPr id="22" name="TextBox 21"/>
          <p:cNvSpPr txBox="1"/>
          <p:nvPr/>
        </p:nvSpPr>
        <p:spPr>
          <a:xfrm>
            <a:off x="6428232" y="514807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ALB gives rich routing at higher per-request processing; NLB gives raw speed with fewer features.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260</a:t>
            </a:r>
          </a:p>
        </p:txBody>
      </p:sp>
    </p:spTree>
  </p:cSld>
  <p:clrMapOvr>
    <a:masterClrMapping/>
  </p:clrMapOvr>
  <p:transition xmlns:p14="http://schemas.microsoft.com/office/powerpoint/2010/main" p14:dur="380">
    <p:fade/>
  </p:transition>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IN DEPTH</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Decoupling with queues, topics and events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51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21208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38528"/>
            <a:ext cx="4754880" cy="365760"/>
          </a:xfrm>
          <a:prstGeom prst="rect">
            <a:avLst/>
          </a:prstGeom>
          <a:noFill/>
        </p:spPr>
        <p:txBody>
          <a:bodyPr wrap="square" anchor="t">
            <a:spAutoFit/>
          </a:bodyPr>
          <a:lstStyle/>
          <a:p>
            <a:pPr algn="l">
              <a:spcAft>
                <a:spcPts val="400"/>
              </a:spcAft>
            </a:pPr>
            <a:r>
              <a:rPr sz="1200" b="1">
                <a:solidFill>
                  <a:srgbClr val="10B981"/>
                </a:solidFill>
                <a:latin typeface="Arial"/>
              </a:rPr>
              <a:t>IN DEPTH</a:t>
            </a:r>
          </a:p>
        </p:txBody>
      </p:sp>
      <p:sp>
        <p:nvSpPr>
          <p:cNvPr id="10" name="TextBox 9"/>
          <p:cNvSpPr txBox="1"/>
          <p:nvPr/>
        </p:nvSpPr>
        <p:spPr>
          <a:xfrm>
            <a:off x="1005840" y="2377440"/>
            <a:ext cx="4754880" cy="3566160"/>
          </a:xfrm>
          <a:prstGeom prst="rect">
            <a:avLst/>
          </a:prstGeom>
          <a:noFill/>
        </p:spPr>
        <p:txBody>
          <a:bodyPr wrap="square">
            <a:spAutoFit/>
          </a:bodyPr>
          <a:lstStyle/>
          <a:p>
            <a:pPr>
              <a:spcAft>
                <a:spcPts val="800"/>
              </a:spcAft>
            </a:pPr>
            <a:r>
              <a:rPr sz="1350" b="0">
                <a:solidFill>
                  <a:srgbClr val="161B26"/>
                </a:solidFill>
                <a:latin typeface="Arial"/>
              </a:rPr>
              <a:t>•  SQS buffers work between producers and consumers so a slow or failed consumer doesn't drop requests.</a:t>
            </a:r>
          </a:p>
          <a:p>
            <a:pPr>
              <a:spcAft>
                <a:spcPts val="800"/>
              </a:spcAft>
            </a:pPr>
            <a:r>
              <a:rPr sz="1350" b="0">
                <a:solidFill>
                  <a:srgbClr val="161B26"/>
                </a:solidFill>
                <a:latin typeface="Arial"/>
              </a:rPr>
              <a:t>•  SNS fans a message out to many subscribers; EventBridge routes events by content to many targets.</a:t>
            </a:r>
          </a:p>
          <a:p>
            <a:pPr>
              <a:spcAft>
                <a:spcPts val="800"/>
              </a:spcAft>
            </a:pPr>
            <a:r>
              <a:rPr sz="1350" b="0">
                <a:solidFill>
                  <a:srgbClr val="161B26"/>
                </a:solidFill>
                <a:latin typeface="Arial"/>
              </a:rPr>
              <a:t>•  Decoupled components fail and scale independently and absorb spikes as backlog rather than errors.</a:t>
            </a:r>
          </a:p>
        </p:txBody>
      </p:sp>
      <p:sp>
        <p:nvSpPr>
          <p:cNvPr id="11" name="Rectangle 10"/>
          <p:cNvSpPr/>
          <p:nvPr/>
        </p:nvSpPr>
        <p:spPr>
          <a:xfrm>
            <a:off x="6172200" y="178308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1783080"/>
            <a:ext cx="91440" cy="1325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8232" y="1892808"/>
            <a:ext cx="4782312" cy="320040"/>
          </a:xfrm>
          <a:prstGeom prst="rect">
            <a:avLst/>
          </a:prstGeom>
          <a:noFill/>
        </p:spPr>
        <p:txBody>
          <a:bodyPr wrap="square" anchor="t">
            <a:spAutoFit/>
          </a:bodyPr>
          <a:lstStyle/>
          <a:p>
            <a:pPr algn="l">
              <a:spcAft>
                <a:spcPts val="400"/>
              </a:spcAft>
            </a:pPr>
            <a:r>
              <a:rPr sz="1150" b="1">
                <a:solidFill>
                  <a:srgbClr val="10B981"/>
                </a:solidFill>
                <a:latin typeface="Arial"/>
              </a:rPr>
              <a:t>WHY IT MATTERS</a:t>
            </a:r>
          </a:p>
        </p:txBody>
      </p:sp>
      <p:sp>
        <p:nvSpPr>
          <p:cNvPr id="14" name="TextBox 13"/>
          <p:cNvSpPr txBox="1"/>
          <p:nvPr/>
        </p:nvSpPr>
        <p:spPr>
          <a:xfrm>
            <a:off x="6428232" y="222199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Loose coupling converts synchronous, cascading failures into asynchronous backlogs the system can recover from.</a:t>
            </a:r>
          </a:p>
        </p:txBody>
      </p:sp>
      <p:sp>
        <p:nvSpPr>
          <p:cNvPr id="15" name="Rectangle 14"/>
          <p:cNvSpPr/>
          <p:nvPr/>
        </p:nvSpPr>
        <p:spPr>
          <a:xfrm>
            <a:off x="6172200" y="324612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3246120"/>
            <a:ext cx="91440" cy="13258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8232" y="3355848"/>
            <a:ext cx="4782312" cy="320040"/>
          </a:xfrm>
          <a:prstGeom prst="rect">
            <a:avLst/>
          </a:prstGeom>
          <a:noFill/>
        </p:spPr>
        <p:txBody>
          <a:bodyPr wrap="square" anchor="t">
            <a:spAutoFit/>
          </a:bodyPr>
          <a:lstStyle/>
          <a:p>
            <a:pPr algn="l">
              <a:spcAft>
                <a:spcPts val="400"/>
              </a:spcAft>
            </a:pPr>
            <a:r>
              <a:rPr sz="1150" b="1">
                <a:solidFill>
                  <a:srgbClr val="C0392B"/>
                </a:solidFill>
                <a:latin typeface="Arial"/>
              </a:rPr>
              <a:t>FAILURE MODE</a:t>
            </a:r>
          </a:p>
        </p:txBody>
      </p:sp>
      <p:sp>
        <p:nvSpPr>
          <p:cNvPr id="18" name="TextBox 17"/>
          <p:cNvSpPr txBox="1"/>
          <p:nvPr/>
        </p:nvSpPr>
        <p:spPr>
          <a:xfrm>
            <a:off x="6428232" y="368503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A synchronous call chain means one slow downstream service ties up threads and cascades into a full outage.</a:t>
            </a:r>
          </a:p>
        </p:txBody>
      </p:sp>
      <p:sp>
        <p:nvSpPr>
          <p:cNvPr id="19" name="Rectangle 18"/>
          <p:cNvSpPr/>
          <p:nvPr/>
        </p:nvSpPr>
        <p:spPr>
          <a:xfrm>
            <a:off x="6172200" y="470916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2200" y="4709160"/>
            <a:ext cx="91440" cy="1325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28232" y="4818888"/>
            <a:ext cx="4782312" cy="320040"/>
          </a:xfrm>
          <a:prstGeom prst="rect">
            <a:avLst/>
          </a:prstGeom>
          <a:noFill/>
        </p:spPr>
        <p:txBody>
          <a:bodyPr wrap="square" anchor="t">
            <a:spAutoFit/>
          </a:bodyPr>
          <a:lstStyle/>
          <a:p>
            <a:pPr algn="l">
              <a:spcAft>
                <a:spcPts val="400"/>
              </a:spcAft>
            </a:pPr>
            <a:r>
              <a:rPr sz="1150" b="1">
                <a:solidFill>
                  <a:srgbClr val="F59E0B"/>
                </a:solidFill>
                <a:latin typeface="Arial"/>
              </a:rPr>
              <a:t>TRADE-OFF / DECISION</a:t>
            </a:r>
          </a:p>
        </p:txBody>
      </p:sp>
      <p:sp>
        <p:nvSpPr>
          <p:cNvPr id="22" name="TextBox 21"/>
          <p:cNvSpPr txBox="1"/>
          <p:nvPr/>
        </p:nvSpPr>
        <p:spPr>
          <a:xfrm>
            <a:off x="6428232" y="514807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Asynchronous designs add eventual-consistency and idempotency concerns — consumers must handle duplicates and out-of-order delivery.</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261</a:t>
            </a:r>
          </a:p>
        </p:txBody>
      </p:sp>
    </p:spTree>
  </p:cSld>
  <p:clrMapOvr>
    <a:masterClrMapping/>
  </p:clrMapOvr>
  <p:transition xmlns:p14="http://schemas.microsoft.com/office/powerpoint/2010/main" p14:dur="380">
    <p:fade/>
  </p:transition>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IN DEPTH</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RTO and RPO drive the DR pattern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51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21208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38528"/>
            <a:ext cx="4754880" cy="365760"/>
          </a:xfrm>
          <a:prstGeom prst="rect">
            <a:avLst/>
          </a:prstGeom>
          <a:noFill/>
        </p:spPr>
        <p:txBody>
          <a:bodyPr wrap="square" anchor="t">
            <a:spAutoFit/>
          </a:bodyPr>
          <a:lstStyle/>
          <a:p>
            <a:pPr algn="l">
              <a:spcAft>
                <a:spcPts val="400"/>
              </a:spcAft>
            </a:pPr>
            <a:r>
              <a:rPr sz="1200" b="1">
                <a:solidFill>
                  <a:srgbClr val="10B981"/>
                </a:solidFill>
                <a:latin typeface="Arial"/>
              </a:rPr>
              <a:t>IN DEPTH</a:t>
            </a:r>
          </a:p>
        </p:txBody>
      </p:sp>
      <p:sp>
        <p:nvSpPr>
          <p:cNvPr id="10" name="TextBox 9"/>
          <p:cNvSpPr txBox="1"/>
          <p:nvPr/>
        </p:nvSpPr>
        <p:spPr>
          <a:xfrm>
            <a:off x="1005840" y="2377440"/>
            <a:ext cx="4754880" cy="3566160"/>
          </a:xfrm>
          <a:prstGeom prst="rect">
            <a:avLst/>
          </a:prstGeom>
          <a:noFill/>
        </p:spPr>
        <p:txBody>
          <a:bodyPr wrap="square">
            <a:spAutoFit/>
          </a:bodyPr>
          <a:lstStyle/>
          <a:p>
            <a:pPr>
              <a:spcAft>
                <a:spcPts val="800"/>
              </a:spcAft>
            </a:pPr>
            <a:r>
              <a:rPr sz="1350" b="0">
                <a:solidFill>
                  <a:srgbClr val="161B26"/>
                </a:solidFill>
                <a:latin typeface="Arial"/>
              </a:rPr>
              <a:t>•  Recovery Time Objective is how quickly you must restore service; Recovery Point Objective is how much data you can afford to lose.</a:t>
            </a:r>
          </a:p>
          <a:p>
            <a:pPr>
              <a:spcAft>
                <a:spcPts val="800"/>
              </a:spcAft>
            </a:pPr>
            <a:r>
              <a:rPr sz="1350" b="0">
                <a:solidFill>
                  <a:srgbClr val="161B26"/>
                </a:solidFill>
                <a:latin typeface="Arial"/>
              </a:rPr>
              <a:t>•  Backup &amp; restore, pilot light, warm standby and multi-site active/active trade rising cost for falling RTO/RPO.</a:t>
            </a:r>
          </a:p>
          <a:p>
            <a:pPr>
              <a:spcAft>
                <a:spcPts val="800"/>
              </a:spcAft>
            </a:pPr>
            <a:r>
              <a:rPr sz="1350" b="0">
                <a:solidFill>
                  <a:srgbClr val="161B26"/>
                </a:solidFill>
                <a:latin typeface="Arial"/>
              </a:rPr>
              <a:t>•  The right pattern is a business decision priced against the cost of downtime.</a:t>
            </a:r>
          </a:p>
        </p:txBody>
      </p:sp>
      <p:sp>
        <p:nvSpPr>
          <p:cNvPr id="11" name="Rectangle 10"/>
          <p:cNvSpPr/>
          <p:nvPr/>
        </p:nvSpPr>
        <p:spPr>
          <a:xfrm>
            <a:off x="6172200" y="178308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1783080"/>
            <a:ext cx="91440" cy="1325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8232" y="1892808"/>
            <a:ext cx="4782312" cy="320040"/>
          </a:xfrm>
          <a:prstGeom prst="rect">
            <a:avLst/>
          </a:prstGeom>
          <a:noFill/>
        </p:spPr>
        <p:txBody>
          <a:bodyPr wrap="square" anchor="t">
            <a:spAutoFit/>
          </a:bodyPr>
          <a:lstStyle/>
          <a:p>
            <a:pPr algn="l">
              <a:spcAft>
                <a:spcPts val="400"/>
              </a:spcAft>
            </a:pPr>
            <a:r>
              <a:rPr sz="1150" b="1">
                <a:solidFill>
                  <a:srgbClr val="10B981"/>
                </a:solidFill>
                <a:latin typeface="Arial"/>
              </a:rPr>
              <a:t>WHY IT MATTERS</a:t>
            </a:r>
          </a:p>
        </p:txBody>
      </p:sp>
      <p:sp>
        <p:nvSpPr>
          <p:cNvPr id="14" name="TextBox 13"/>
          <p:cNvSpPr txBox="1"/>
          <p:nvPr/>
        </p:nvSpPr>
        <p:spPr>
          <a:xfrm>
            <a:off x="6428232" y="222199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Naming RTO/RPO turns 'make it resilient' into a concrete, testable and budgetable design target.</a:t>
            </a:r>
          </a:p>
        </p:txBody>
      </p:sp>
      <p:sp>
        <p:nvSpPr>
          <p:cNvPr id="15" name="Rectangle 14"/>
          <p:cNvSpPr/>
          <p:nvPr/>
        </p:nvSpPr>
        <p:spPr>
          <a:xfrm>
            <a:off x="6172200" y="324612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3246120"/>
            <a:ext cx="91440" cy="13258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8232" y="3355848"/>
            <a:ext cx="4782312" cy="320040"/>
          </a:xfrm>
          <a:prstGeom prst="rect">
            <a:avLst/>
          </a:prstGeom>
          <a:noFill/>
        </p:spPr>
        <p:txBody>
          <a:bodyPr wrap="square" anchor="t">
            <a:spAutoFit/>
          </a:bodyPr>
          <a:lstStyle/>
          <a:p>
            <a:pPr algn="l">
              <a:spcAft>
                <a:spcPts val="400"/>
              </a:spcAft>
            </a:pPr>
            <a:r>
              <a:rPr sz="1150" b="1">
                <a:solidFill>
                  <a:srgbClr val="C0392B"/>
                </a:solidFill>
                <a:latin typeface="Arial"/>
              </a:rPr>
              <a:t>FAILURE MODE</a:t>
            </a:r>
          </a:p>
        </p:txBody>
      </p:sp>
      <p:sp>
        <p:nvSpPr>
          <p:cNvPr id="18" name="TextBox 17"/>
          <p:cNvSpPr txBox="1"/>
          <p:nvPr/>
        </p:nvSpPr>
        <p:spPr>
          <a:xfrm>
            <a:off x="6428232" y="368503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Buying active/active for a back-office app wastes money; choosing backup-and-restore for a payment system risks the business.</a:t>
            </a:r>
          </a:p>
        </p:txBody>
      </p:sp>
      <p:sp>
        <p:nvSpPr>
          <p:cNvPr id="19" name="Rectangle 18"/>
          <p:cNvSpPr/>
          <p:nvPr/>
        </p:nvSpPr>
        <p:spPr>
          <a:xfrm>
            <a:off x="6172200" y="470916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2200" y="4709160"/>
            <a:ext cx="91440" cy="1325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28232" y="4818888"/>
            <a:ext cx="4782312" cy="320040"/>
          </a:xfrm>
          <a:prstGeom prst="rect">
            <a:avLst/>
          </a:prstGeom>
          <a:noFill/>
        </p:spPr>
        <p:txBody>
          <a:bodyPr wrap="square" anchor="t">
            <a:spAutoFit/>
          </a:bodyPr>
          <a:lstStyle/>
          <a:p>
            <a:pPr algn="l">
              <a:spcAft>
                <a:spcPts val="400"/>
              </a:spcAft>
            </a:pPr>
            <a:r>
              <a:rPr sz="1150" b="1">
                <a:solidFill>
                  <a:srgbClr val="F59E0B"/>
                </a:solidFill>
                <a:latin typeface="Arial"/>
              </a:rPr>
              <a:t>TRADE-OFF / DECISION</a:t>
            </a:r>
          </a:p>
        </p:txBody>
      </p:sp>
      <p:sp>
        <p:nvSpPr>
          <p:cNvPr id="22" name="TextBox 21"/>
          <p:cNvSpPr txBox="1"/>
          <p:nvPr/>
        </p:nvSpPr>
        <p:spPr>
          <a:xfrm>
            <a:off x="6428232" y="514807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Lower RTO/RPO means more running (and paid-for) standby capacity — match spend to the revenue at risk.</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262</a:t>
            </a:r>
          </a:p>
        </p:txBody>
      </p:sp>
    </p:spTree>
  </p:cSld>
  <p:clrMapOvr>
    <a:masterClrMapping/>
  </p:clrMapOvr>
  <p:transition xmlns:p14="http://schemas.microsoft.com/office/powerpoint/2010/main" p14:dur="380">
    <p:fade/>
  </p:transition>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IN DEPTH</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Data durability and multi-Region protection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51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21208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38528"/>
            <a:ext cx="4754880" cy="365760"/>
          </a:xfrm>
          <a:prstGeom prst="rect">
            <a:avLst/>
          </a:prstGeom>
          <a:noFill/>
        </p:spPr>
        <p:txBody>
          <a:bodyPr wrap="square" anchor="t">
            <a:spAutoFit/>
          </a:bodyPr>
          <a:lstStyle/>
          <a:p>
            <a:pPr algn="l">
              <a:spcAft>
                <a:spcPts val="400"/>
              </a:spcAft>
            </a:pPr>
            <a:r>
              <a:rPr sz="1200" b="1">
                <a:solidFill>
                  <a:srgbClr val="10B981"/>
                </a:solidFill>
                <a:latin typeface="Arial"/>
              </a:rPr>
              <a:t>IN DEPTH</a:t>
            </a:r>
          </a:p>
        </p:txBody>
      </p:sp>
      <p:sp>
        <p:nvSpPr>
          <p:cNvPr id="10" name="TextBox 9"/>
          <p:cNvSpPr txBox="1"/>
          <p:nvPr/>
        </p:nvSpPr>
        <p:spPr>
          <a:xfrm>
            <a:off x="1005840" y="2377440"/>
            <a:ext cx="4754880" cy="3566160"/>
          </a:xfrm>
          <a:prstGeom prst="rect">
            <a:avLst/>
          </a:prstGeom>
          <a:noFill/>
        </p:spPr>
        <p:txBody>
          <a:bodyPr wrap="square">
            <a:spAutoFit/>
          </a:bodyPr>
          <a:lstStyle/>
          <a:p>
            <a:pPr>
              <a:spcAft>
                <a:spcPts val="800"/>
              </a:spcAft>
            </a:pPr>
            <a:r>
              <a:rPr sz="1350" b="0">
                <a:solidFill>
                  <a:srgbClr val="161B26"/>
                </a:solidFill>
                <a:latin typeface="Arial"/>
              </a:rPr>
              <a:t>•  Multi-AZ RDS keeps a synchronous standby with automatic failover; read replicas add scale and cross-Region copies.</a:t>
            </a:r>
          </a:p>
          <a:p>
            <a:pPr>
              <a:spcAft>
                <a:spcPts val="800"/>
              </a:spcAft>
            </a:pPr>
            <a:r>
              <a:rPr sz="1350" b="0">
                <a:solidFill>
                  <a:srgbClr val="161B26"/>
                </a:solidFill>
                <a:latin typeface="Arial"/>
              </a:rPr>
              <a:t>•  DynamoDB global tables replicate active-active across Regions; S3 offers cross-Region replication and eleven-nines durability.</a:t>
            </a:r>
          </a:p>
          <a:p>
            <a:pPr>
              <a:spcAft>
                <a:spcPts val="800"/>
              </a:spcAft>
            </a:pPr>
            <a:r>
              <a:rPr sz="1350" b="0">
                <a:solidFill>
                  <a:srgbClr val="161B26"/>
                </a:solidFill>
                <a:latin typeface="Arial"/>
              </a:rPr>
              <a:t>•  Automated snapshots and point-in-time recovery protect against data corruption and mistakes.</a:t>
            </a:r>
          </a:p>
        </p:txBody>
      </p:sp>
      <p:sp>
        <p:nvSpPr>
          <p:cNvPr id="11" name="Rectangle 10"/>
          <p:cNvSpPr/>
          <p:nvPr/>
        </p:nvSpPr>
        <p:spPr>
          <a:xfrm>
            <a:off x="6172200" y="178308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1783080"/>
            <a:ext cx="91440" cy="1325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8232" y="1892808"/>
            <a:ext cx="4782312" cy="320040"/>
          </a:xfrm>
          <a:prstGeom prst="rect">
            <a:avLst/>
          </a:prstGeom>
          <a:noFill/>
        </p:spPr>
        <p:txBody>
          <a:bodyPr wrap="square" anchor="t">
            <a:spAutoFit/>
          </a:bodyPr>
          <a:lstStyle/>
          <a:p>
            <a:pPr algn="l">
              <a:spcAft>
                <a:spcPts val="400"/>
              </a:spcAft>
            </a:pPr>
            <a:r>
              <a:rPr sz="1150" b="1">
                <a:solidFill>
                  <a:srgbClr val="10B981"/>
                </a:solidFill>
                <a:latin typeface="Arial"/>
              </a:rPr>
              <a:t>WHY IT MATTERS</a:t>
            </a:r>
          </a:p>
        </p:txBody>
      </p:sp>
      <p:sp>
        <p:nvSpPr>
          <p:cNvPr id="14" name="TextBox 13"/>
          <p:cNvSpPr txBox="1"/>
          <p:nvPr/>
        </p:nvSpPr>
        <p:spPr>
          <a:xfrm>
            <a:off x="6428232" y="222199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Compute is replaceable; data is not — durable, recoverable state is the foundation everything else rebuilds on.</a:t>
            </a:r>
          </a:p>
        </p:txBody>
      </p:sp>
      <p:sp>
        <p:nvSpPr>
          <p:cNvPr id="15" name="Rectangle 14"/>
          <p:cNvSpPr/>
          <p:nvPr/>
        </p:nvSpPr>
        <p:spPr>
          <a:xfrm>
            <a:off x="6172200" y="324612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3246120"/>
            <a:ext cx="91440" cy="13258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8232" y="3355848"/>
            <a:ext cx="4782312" cy="320040"/>
          </a:xfrm>
          <a:prstGeom prst="rect">
            <a:avLst/>
          </a:prstGeom>
          <a:noFill/>
        </p:spPr>
        <p:txBody>
          <a:bodyPr wrap="square" anchor="t">
            <a:spAutoFit/>
          </a:bodyPr>
          <a:lstStyle/>
          <a:p>
            <a:pPr algn="l">
              <a:spcAft>
                <a:spcPts val="400"/>
              </a:spcAft>
            </a:pPr>
            <a:r>
              <a:rPr sz="1150" b="1">
                <a:solidFill>
                  <a:srgbClr val="C0392B"/>
                </a:solidFill>
                <a:latin typeface="Arial"/>
              </a:rPr>
              <a:t>FAILURE MODE</a:t>
            </a:r>
          </a:p>
        </p:txBody>
      </p:sp>
      <p:sp>
        <p:nvSpPr>
          <p:cNvPr id="18" name="TextBox 17"/>
          <p:cNvSpPr txBox="1"/>
          <p:nvPr/>
        </p:nvSpPr>
        <p:spPr>
          <a:xfrm>
            <a:off x="6428232" y="368503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A single-AZ database or un-tested backups mean the app tier can be perfectly redundant yet still lose the business's data.</a:t>
            </a:r>
          </a:p>
        </p:txBody>
      </p:sp>
      <p:sp>
        <p:nvSpPr>
          <p:cNvPr id="19" name="Rectangle 18"/>
          <p:cNvSpPr/>
          <p:nvPr/>
        </p:nvSpPr>
        <p:spPr>
          <a:xfrm>
            <a:off x="6172200" y="470916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2200" y="4709160"/>
            <a:ext cx="91440" cy="1325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28232" y="4818888"/>
            <a:ext cx="4782312" cy="320040"/>
          </a:xfrm>
          <a:prstGeom prst="rect">
            <a:avLst/>
          </a:prstGeom>
          <a:noFill/>
        </p:spPr>
        <p:txBody>
          <a:bodyPr wrap="square" anchor="t">
            <a:spAutoFit/>
          </a:bodyPr>
          <a:lstStyle/>
          <a:p>
            <a:pPr algn="l">
              <a:spcAft>
                <a:spcPts val="400"/>
              </a:spcAft>
            </a:pPr>
            <a:r>
              <a:rPr sz="1150" b="1">
                <a:solidFill>
                  <a:srgbClr val="F59E0B"/>
                </a:solidFill>
                <a:latin typeface="Arial"/>
              </a:rPr>
              <a:t>TRADE-OFF / DECISION</a:t>
            </a:r>
          </a:p>
        </p:txBody>
      </p:sp>
      <p:sp>
        <p:nvSpPr>
          <p:cNvPr id="22" name="TextBox 21"/>
          <p:cNvSpPr txBox="1"/>
          <p:nvPr/>
        </p:nvSpPr>
        <p:spPr>
          <a:xfrm>
            <a:off x="6428232" y="514807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Synchronous replication protects data but adds write latency; cross-Region copies add cost and lag.</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263</a:t>
            </a:r>
          </a:p>
        </p:txBody>
      </p:sp>
    </p:spTree>
  </p:cSld>
  <p:clrMapOvr>
    <a:masterClrMapping/>
  </p:clrMapOvr>
  <p:transition xmlns:p14="http://schemas.microsoft.com/office/powerpoint/2010/main" p14:dur="380">
    <p:fade/>
  </p:transition>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IN DEPTH</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Automated recovery and self-healing</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51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21208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38528"/>
            <a:ext cx="4754880" cy="365760"/>
          </a:xfrm>
          <a:prstGeom prst="rect">
            <a:avLst/>
          </a:prstGeom>
          <a:noFill/>
        </p:spPr>
        <p:txBody>
          <a:bodyPr wrap="square" anchor="t">
            <a:spAutoFit/>
          </a:bodyPr>
          <a:lstStyle/>
          <a:p>
            <a:pPr algn="l">
              <a:spcAft>
                <a:spcPts val="400"/>
              </a:spcAft>
            </a:pPr>
            <a:r>
              <a:rPr sz="1200" b="1">
                <a:solidFill>
                  <a:srgbClr val="10B981"/>
                </a:solidFill>
                <a:latin typeface="Arial"/>
              </a:rPr>
              <a:t>IN DEPTH</a:t>
            </a:r>
          </a:p>
        </p:txBody>
      </p:sp>
      <p:sp>
        <p:nvSpPr>
          <p:cNvPr id="10" name="TextBox 9"/>
          <p:cNvSpPr txBox="1"/>
          <p:nvPr/>
        </p:nvSpPr>
        <p:spPr>
          <a:xfrm>
            <a:off x="1005840" y="2377440"/>
            <a:ext cx="4754880" cy="3566160"/>
          </a:xfrm>
          <a:prstGeom prst="rect">
            <a:avLst/>
          </a:prstGeom>
          <a:noFill/>
        </p:spPr>
        <p:txBody>
          <a:bodyPr wrap="square">
            <a:spAutoFit/>
          </a:bodyPr>
          <a:lstStyle/>
          <a:p>
            <a:pPr>
              <a:spcAft>
                <a:spcPts val="800"/>
              </a:spcAft>
            </a:pPr>
            <a:r>
              <a:rPr sz="1350" b="0">
                <a:solidFill>
                  <a:srgbClr val="161B26"/>
                </a:solidFill>
                <a:latin typeface="Arial"/>
              </a:rPr>
              <a:t>•  ASG health checks replace failed instances; EC2 auto-recovery restores impaired instances.</a:t>
            </a:r>
          </a:p>
          <a:p>
            <a:pPr>
              <a:spcAft>
                <a:spcPts val="800"/>
              </a:spcAft>
            </a:pPr>
            <a:r>
              <a:rPr sz="1350" b="0">
                <a:solidFill>
                  <a:srgbClr val="161B26"/>
                </a:solidFill>
                <a:latin typeface="Arial"/>
              </a:rPr>
              <a:t>•  Route 53 health checks fail traffic over to a healthy Region or endpoint.</a:t>
            </a:r>
          </a:p>
          <a:p>
            <a:pPr>
              <a:spcAft>
                <a:spcPts val="800"/>
              </a:spcAft>
            </a:pPr>
            <a:r>
              <a:rPr sz="1350" b="0">
                <a:solidFill>
                  <a:srgbClr val="161B26"/>
                </a:solidFill>
                <a:latin typeface="Arial"/>
              </a:rPr>
              <a:t>•  The goal is that routine failures are handled by the system, not by a pager.</a:t>
            </a:r>
          </a:p>
        </p:txBody>
      </p:sp>
      <p:sp>
        <p:nvSpPr>
          <p:cNvPr id="11" name="Rectangle 10"/>
          <p:cNvSpPr/>
          <p:nvPr/>
        </p:nvSpPr>
        <p:spPr>
          <a:xfrm>
            <a:off x="6172200" y="178308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1783080"/>
            <a:ext cx="91440" cy="1325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8232" y="1892808"/>
            <a:ext cx="4782312" cy="320040"/>
          </a:xfrm>
          <a:prstGeom prst="rect">
            <a:avLst/>
          </a:prstGeom>
          <a:noFill/>
        </p:spPr>
        <p:txBody>
          <a:bodyPr wrap="square" anchor="t">
            <a:spAutoFit/>
          </a:bodyPr>
          <a:lstStyle/>
          <a:p>
            <a:pPr algn="l">
              <a:spcAft>
                <a:spcPts val="400"/>
              </a:spcAft>
            </a:pPr>
            <a:r>
              <a:rPr sz="1150" b="1">
                <a:solidFill>
                  <a:srgbClr val="10B981"/>
                </a:solidFill>
                <a:latin typeface="Arial"/>
              </a:rPr>
              <a:t>WHY IT MATTERS</a:t>
            </a:r>
          </a:p>
        </p:txBody>
      </p:sp>
      <p:sp>
        <p:nvSpPr>
          <p:cNvPr id="14" name="TextBox 13"/>
          <p:cNvSpPr txBox="1"/>
          <p:nvPr/>
        </p:nvSpPr>
        <p:spPr>
          <a:xfrm>
            <a:off x="6428232" y="222199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Automating recovery shrinks MTTR toward zero for the common failures and frees humans for the novel ones.</a:t>
            </a:r>
          </a:p>
        </p:txBody>
      </p:sp>
      <p:sp>
        <p:nvSpPr>
          <p:cNvPr id="15" name="Rectangle 14"/>
          <p:cNvSpPr/>
          <p:nvPr/>
        </p:nvSpPr>
        <p:spPr>
          <a:xfrm>
            <a:off x="6172200" y="324612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3246120"/>
            <a:ext cx="91440" cy="13258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8232" y="3355848"/>
            <a:ext cx="4782312" cy="320040"/>
          </a:xfrm>
          <a:prstGeom prst="rect">
            <a:avLst/>
          </a:prstGeom>
          <a:noFill/>
        </p:spPr>
        <p:txBody>
          <a:bodyPr wrap="square" anchor="t">
            <a:spAutoFit/>
          </a:bodyPr>
          <a:lstStyle/>
          <a:p>
            <a:pPr algn="l">
              <a:spcAft>
                <a:spcPts val="400"/>
              </a:spcAft>
            </a:pPr>
            <a:r>
              <a:rPr sz="1150" b="1">
                <a:solidFill>
                  <a:srgbClr val="C0392B"/>
                </a:solidFill>
                <a:latin typeface="Arial"/>
              </a:rPr>
              <a:t>FAILURE MODE</a:t>
            </a:r>
          </a:p>
        </p:txBody>
      </p:sp>
      <p:sp>
        <p:nvSpPr>
          <p:cNvPr id="18" name="TextBox 17"/>
          <p:cNvSpPr txBox="1"/>
          <p:nvPr/>
        </p:nvSpPr>
        <p:spPr>
          <a:xfrm>
            <a:off x="6428232" y="368503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Manual failover runbooks that are never rehearsed fail exactly when you need them, under incident pressure.</a:t>
            </a:r>
          </a:p>
        </p:txBody>
      </p:sp>
      <p:sp>
        <p:nvSpPr>
          <p:cNvPr id="19" name="Rectangle 18"/>
          <p:cNvSpPr/>
          <p:nvPr/>
        </p:nvSpPr>
        <p:spPr>
          <a:xfrm>
            <a:off x="6172200" y="470916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2200" y="4709160"/>
            <a:ext cx="91440" cy="1325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28232" y="4818888"/>
            <a:ext cx="4782312" cy="320040"/>
          </a:xfrm>
          <a:prstGeom prst="rect">
            <a:avLst/>
          </a:prstGeom>
          <a:noFill/>
        </p:spPr>
        <p:txBody>
          <a:bodyPr wrap="square" anchor="t">
            <a:spAutoFit/>
          </a:bodyPr>
          <a:lstStyle/>
          <a:p>
            <a:pPr algn="l">
              <a:spcAft>
                <a:spcPts val="400"/>
              </a:spcAft>
            </a:pPr>
            <a:r>
              <a:rPr sz="1150" b="1">
                <a:solidFill>
                  <a:srgbClr val="F59E0B"/>
                </a:solidFill>
                <a:latin typeface="Arial"/>
              </a:rPr>
              <a:t>TRADE-OFF / DECISION</a:t>
            </a:r>
          </a:p>
        </p:txBody>
      </p:sp>
      <p:sp>
        <p:nvSpPr>
          <p:cNvPr id="22" name="TextBox 21"/>
          <p:cNvSpPr txBox="1"/>
          <p:nvPr/>
        </p:nvSpPr>
        <p:spPr>
          <a:xfrm>
            <a:off x="6428232" y="514807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Automated failover must guard against flapping and split-brain — tune thresholds and use health checks carefully.</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264</a:t>
            </a:r>
          </a:p>
        </p:txBody>
      </p:sp>
    </p:spTree>
  </p:cSld>
  <p:clrMapOvr>
    <a:masterClrMapping/>
  </p:clrMapOvr>
  <p:transition xmlns:p14="http://schemas.microsoft.com/office/powerpoint/2010/main" p14:dur="380">
    <p:fade/>
  </p:transition>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IN DEPTH</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Designing for graceful degradation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51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21208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38528"/>
            <a:ext cx="4754880" cy="365760"/>
          </a:xfrm>
          <a:prstGeom prst="rect">
            <a:avLst/>
          </a:prstGeom>
          <a:noFill/>
        </p:spPr>
        <p:txBody>
          <a:bodyPr wrap="square" anchor="t">
            <a:spAutoFit/>
          </a:bodyPr>
          <a:lstStyle/>
          <a:p>
            <a:pPr algn="l">
              <a:spcAft>
                <a:spcPts val="400"/>
              </a:spcAft>
            </a:pPr>
            <a:r>
              <a:rPr sz="1200" b="1">
                <a:solidFill>
                  <a:srgbClr val="10B981"/>
                </a:solidFill>
                <a:latin typeface="Arial"/>
              </a:rPr>
              <a:t>IN DEPTH</a:t>
            </a:r>
          </a:p>
        </p:txBody>
      </p:sp>
      <p:sp>
        <p:nvSpPr>
          <p:cNvPr id="10" name="TextBox 9"/>
          <p:cNvSpPr txBox="1"/>
          <p:nvPr/>
        </p:nvSpPr>
        <p:spPr>
          <a:xfrm>
            <a:off x="1005840" y="2377440"/>
            <a:ext cx="4754880" cy="3566160"/>
          </a:xfrm>
          <a:prstGeom prst="rect">
            <a:avLst/>
          </a:prstGeom>
          <a:noFill/>
        </p:spPr>
        <p:txBody>
          <a:bodyPr wrap="square">
            <a:spAutoFit/>
          </a:bodyPr>
          <a:lstStyle/>
          <a:p>
            <a:pPr>
              <a:spcAft>
                <a:spcPts val="800"/>
              </a:spcAft>
            </a:pPr>
            <a:r>
              <a:rPr sz="1350" b="0">
                <a:solidFill>
                  <a:srgbClr val="161B26"/>
                </a:solidFill>
                <a:latin typeface="Arial"/>
              </a:rPr>
              <a:t>•  Under stress a resilient system sheds load, serves cached or default responses and protects its core function.</a:t>
            </a:r>
          </a:p>
          <a:p>
            <a:pPr>
              <a:spcAft>
                <a:spcPts val="800"/>
              </a:spcAft>
            </a:pPr>
            <a:r>
              <a:rPr sz="1350" b="0">
                <a:solidFill>
                  <a:srgbClr val="161B26"/>
                </a:solidFill>
                <a:latin typeface="Arial"/>
              </a:rPr>
              <a:t>•  Timeouts, retries with backoff and jitter, and circuit breakers stop failures from amplifying.</a:t>
            </a:r>
          </a:p>
          <a:p>
            <a:pPr>
              <a:spcAft>
                <a:spcPts val="800"/>
              </a:spcAft>
            </a:pPr>
            <a:r>
              <a:rPr sz="1350" b="0">
                <a:solidFill>
                  <a:srgbClr val="161B26"/>
                </a:solidFill>
                <a:latin typeface="Arial"/>
              </a:rPr>
              <a:t>•  Bulkheads isolate resources so one hot tenant or feature can't starve the rest.</a:t>
            </a:r>
          </a:p>
        </p:txBody>
      </p:sp>
      <p:sp>
        <p:nvSpPr>
          <p:cNvPr id="11" name="Rectangle 10"/>
          <p:cNvSpPr/>
          <p:nvPr/>
        </p:nvSpPr>
        <p:spPr>
          <a:xfrm>
            <a:off x="6172200" y="178308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1783080"/>
            <a:ext cx="91440" cy="1325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8232" y="1892808"/>
            <a:ext cx="4782312" cy="320040"/>
          </a:xfrm>
          <a:prstGeom prst="rect">
            <a:avLst/>
          </a:prstGeom>
          <a:noFill/>
        </p:spPr>
        <p:txBody>
          <a:bodyPr wrap="square" anchor="t">
            <a:spAutoFit/>
          </a:bodyPr>
          <a:lstStyle/>
          <a:p>
            <a:pPr algn="l">
              <a:spcAft>
                <a:spcPts val="400"/>
              </a:spcAft>
            </a:pPr>
            <a:r>
              <a:rPr sz="1150" b="1">
                <a:solidFill>
                  <a:srgbClr val="10B981"/>
                </a:solidFill>
                <a:latin typeface="Arial"/>
              </a:rPr>
              <a:t>WHY IT MATTERS</a:t>
            </a:r>
          </a:p>
        </p:txBody>
      </p:sp>
      <p:sp>
        <p:nvSpPr>
          <p:cNvPr id="14" name="TextBox 13"/>
          <p:cNvSpPr txBox="1"/>
          <p:nvPr/>
        </p:nvSpPr>
        <p:spPr>
          <a:xfrm>
            <a:off x="6428232" y="222199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Graceful degradation keeps the most important user journeys working even when parts of the system are unhealthy.</a:t>
            </a:r>
          </a:p>
        </p:txBody>
      </p:sp>
      <p:sp>
        <p:nvSpPr>
          <p:cNvPr id="15" name="Rectangle 14"/>
          <p:cNvSpPr/>
          <p:nvPr/>
        </p:nvSpPr>
        <p:spPr>
          <a:xfrm>
            <a:off x="6172200" y="324612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3246120"/>
            <a:ext cx="91440" cy="13258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8232" y="3355848"/>
            <a:ext cx="4782312" cy="320040"/>
          </a:xfrm>
          <a:prstGeom prst="rect">
            <a:avLst/>
          </a:prstGeom>
          <a:noFill/>
        </p:spPr>
        <p:txBody>
          <a:bodyPr wrap="square" anchor="t">
            <a:spAutoFit/>
          </a:bodyPr>
          <a:lstStyle/>
          <a:p>
            <a:pPr algn="l">
              <a:spcAft>
                <a:spcPts val="400"/>
              </a:spcAft>
            </a:pPr>
            <a:r>
              <a:rPr sz="1150" b="1">
                <a:solidFill>
                  <a:srgbClr val="C0392B"/>
                </a:solidFill>
                <a:latin typeface="Arial"/>
              </a:rPr>
              <a:t>FAILURE MODE</a:t>
            </a:r>
          </a:p>
        </p:txBody>
      </p:sp>
      <p:sp>
        <p:nvSpPr>
          <p:cNvPr id="18" name="TextBox 17"/>
          <p:cNvSpPr txBox="1"/>
          <p:nvPr/>
        </p:nvSpPr>
        <p:spPr>
          <a:xfrm>
            <a:off x="6428232" y="368503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Unbounded retries during an incident create a retry storm that turns a brownout into a full outage.</a:t>
            </a:r>
          </a:p>
        </p:txBody>
      </p:sp>
      <p:sp>
        <p:nvSpPr>
          <p:cNvPr id="19" name="Rectangle 18"/>
          <p:cNvSpPr/>
          <p:nvPr/>
        </p:nvSpPr>
        <p:spPr>
          <a:xfrm>
            <a:off x="6172200" y="470916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2200" y="4709160"/>
            <a:ext cx="91440" cy="1325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28232" y="4818888"/>
            <a:ext cx="4782312" cy="320040"/>
          </a:xfrm>
          <a:prstGeom prst="rect">
            <a:avLst/>
          </a:prstGeom>
          <a:noFill/>
        </p:spPr>
        <p:txBody>
          <a:bodyPr wrap="square" anchor="t">
            <a:spAutoFit/>
          </a:bodyPr>
          <a:lstStyle/>
          <a:p>
            <a:pPr algn="l">
              <a:spcAft>
                <a:spcPts val="400"/>
              </a:spcAft>
            </a:pPr>
            <a:r>
              <a:rPr sz="1150" b="1">
                <a:solidFill>
                  <a:srgbClr val="F59E0B"/>
                </a:solidFill>
                <a:latin typeface="Arial"/>
              </a:rPr>
              <a:t>TRADE-OFF / DECISION</a:t>
            </a:r>
          </a:p>
        </p:txBody>
      </p:sp>
      <p:sp>
        <p:nvSpPr>
          <p:cNvPr id="22" name="TextBox 21"/>
          <p:cNvSpPr txBox="1"/>
          <p:nvPr/>
        </p:nvSpPr>
        <p:spPr>
          <a:xfrm>
            <a:off x="6428232" y="514807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Serving degraded responses reduces functionality temporarily to preserve availability — usually the right call.</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265</a:t>
            </a:r>
          </a:p>
        </p:txBody>
      </p:sp>
    </p:spTree>
  </p:cSld>
  <p:clrMapOvr>
    <a:masterClrMapping/>
  </p:clrMapOvr>
  <p:transition xmlns:p14="http://schemas.microsoft.com/office/powerpoint/2010/main" p14:dur="380">
    <p:fade/>
  </p:transition>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PRICING RESILIENCE</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Disaster Recovery Patterns — Cost vs Recovery</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615720" cy="5029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6968" y="1783080"/>
            <a:ext cx="3432840" cy="502920"/>
          </a:xfrm>
          <a:prstGeom prst="rect">
            <a:avLst/>
          </a:prstGeom>
          <a:noFill/>
        </p:spPr>
        <p:txBody>
          <a:bodyPr wrap="square" anchor="ctr">
            <a:spAutoFit/>
          </a:bodyPr>
          <a:lstStyle/>
          <a:p>
            <a:pPr algn="l">
              <a:spcAft>
                <a:spcPts val="400"/>
              </a:spcAft>
            </a:pPr>
            <a:r>
              <a:rPr sz="1400" b="1">
                <a:solidFill>
                  <a:srgbClr val="FFFFFF"/>
                </a:solidFill>
                <a:latin typeface="Arial"/>
              </a:rPr>
              <a:t>Pattern</a:t>
            </a:r>
          </a:p>
        </p:txBody>
      </p:sp>
      <p:sp>
        <p:nvSpPr>
          <p:cNvPr id="9" name="Rectangle 8"/>
          <p:cNvSpPr/>
          <p:nvPr/>
        </p:nvSpPr>
        <p:spPr>
          <a:xfrm>
            <a:off x="4392960" y="1783080"/>
            <a:ext cx="2339583" cy="5029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02688" y="1783080"/>
            <a:ext cx="2156703" cy="502920"/>
          </a:xfrm>
          <a:prstGeom prst="rect">
            <a:avLst/>
          </a:prstGeom>
          <a:noFill/>
        </p:spPr>
        <p:txBody>
          <a:bodyPr wrap="square" anchor="ctr">
            <a:spAutoFit/>
          </a:bodyPr>
          <a:lstStyle/>
          <a:p>
            <a:pPr algn="ctr">
              <a:spcAft>
                <a:spcPts val="400"/>
              </a:spcAft>
            </a:pPr>
            <a:r>
              <a:rPr sz="1400" b="1">
                <a:solidFill>
                  <a:srgbClr val="FFFFFF"/>
                </a:solidFill>
                <a:latin typeface="Arial"/>
              </a:rPr>
              <a:t>RTO</a:t>
            </a:r>
          </a:p>
        </p:txBody>
      </p:sp>
      <p:sp>
        <p:nvSpPr>
          <p:cNvPr id="11" name="Rectangle 10"/>
          <p:cNvSpPr/>
          <p:nvPr/>
        </p:nvSpPr>
        <p:spPr>
          <a:xfrm>
            <a:off x="6732543" y="1783080"/>
            <a:ext cx="2339583" cy="5029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42271" y="1783080"/>
            <a:ext cx="2156703" cy="502920"/>
          </a:xfrm>
          <a:prstGeom prst="rect">
            <a:avLst/>
          </a:prstGeom>
          <a:noFill/>
        </p:spPr>
        <p:txBody>
          <a:bodyPr wrap="square" anchor="ctr">
            <a:spAutoFit/>
          </a:bodyPr>
          <a:lstStyle/>
          <a:p>
            <a:pPr algn="ctr">
              <a:spcAft>
                <a:spcPts val="400"/>
              </a:spcAft>
            </a:pPr>
            <a:r>
              <a:rPr sz="1400" b="1">
                <a:solidFill>
                  <a:srgbClr val="FFFFFF"/>
                </a:solidFill>
                <a:latin typeface="Arial"/>
              </a:rPr>
              <a:t>RPO</a:t>
            </a:r>
          </a:p>
        </p:txBody>
      </p:sp>
      <p:sp>
        <p:nvSpPr>
          <p:cNvPr id="13" name="Rectangle 12"/>
          <p:cNvSpPr/>
          <p:nvPr/>
        </p:nvSpPr>
        <p:spPr>
          <a:xfrm>
            <a:off x="9072126" y="1783080"/>
            <a:ext cx="2339583" cy="5029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81854" y="1783080"/>
            <a:ext cx="2156703" cy="502920"/>
          </a:xfrm>
          <a:prstGeom prst="rect">
            <a:avLst/>
          </a:prstGeom>
          <a:noFill/>
        </p:spPr>
        <p:txBody>
          <a:bodyPr wrap="square" anchor="ctr">
            <a:spAutoFit/>
          </a:bodyPr>
          <a:lstStyle/>
          <a:p>
            <a:pPr algn="ctr">
              <a:spcAft>
                <a:spcPts val="400"/>
              </a:spcAft>
            </a:pPr>
            <a:r>
              <a:rPr sz="1400" b="1">
                <a:solidFill>
                  <a:srgbClr val="FFFFFF"/>
                </a:solidFill>
                <a:latin typeface="Arial"/>
              </a:rPr>
              <a:t>Relative cost</a:t>
            </a:r>
          </a:p>
        </p:txBody>
      </p:sp>
      <p:sp>
        <p:nvSpPr>
          <p:cNvPr id="15" name="Rectangle 14"/>
          <p:cNvSpPr/>
          <p:nvPr/>
        </p:nvSpPr>
        <p:spPr>
          <a:xfrm>
            <a:off x="777240" y="2286000"/>
            <a:ext cx="3615720"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6968" y="2286000"/>
            <a:ext cx="3432840" cy="822960"/>
          </a:xfrm>
          <a:prstGeom prst="rect">
            <a:avLst/>
          </a:prstGeom>
          <a:noFill/>
        </p:spPr>
        <p:txBody>
          <a:bodyPr wrap="square" anchor="ctr">
            <a:spAutoFit/>
          </a:bodyPr>
          <a:lstStyle/>
          <a:p>
            <a:pPr algn="l">
              <a:spcAft>
                <a:spcPts val="400"/>
              </a:spcAft>
            </a:pPr>
            <a:r>
              <a:rPr sz="1250" b="1">
                <a:solidFill>
                  <a:srgbClr val="161B26"/>
                </a:solidFill>
                <a:latin typeface="Arial"/>
              </a:rPr>
              <a:t>Backup &amp; Restore</a:t>
            </a:r>
          </a:p>
        </p:txBody>
      </p:sp>
      <p:sp>
        <p:nvSpPr>
          <p:cNvPr id="17" name="Rectangle 16"/>
          <p:cNvSpPr/>
          <p:nvPr/>
        </p:nvSpPr>
        <p:spPr>
          <a:xfrm>
            <a:off x="4392960" y="2286000"/>
            <a:ext cx="2339583"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2688" y="2286000"/>
            <a:ext cx="2156703" cy="822960"/>
          </a:xfrm>
          <a:prstGeom prst="rect">
            <a:avLst/>
          </a:prstGeom>
          <a:noFill/>
        </p:spPr>
        <p:txBody>
          <a:bodyPr wrap="square" anchor="ctr">
            <a:spAutoFit/>
          </a:bodyPr>
          <a:lstStyle/>
          <a:p>
            <a:pPr algn="ctr">
              <a:spcAft>
                <a:spcPts val="400"/>
              </a:spcAft>
            </a:pPr>
            <a:r>
              <a:rPr sz="1250" b="0">
                <a:solidFill>
                  <a:srgbClr val="5B6372"/>
                </a:solidFill>
                <a:latin typeface="Arial"/>
              </a:rPr>
              <a:t>Hours</a:t>
            </a:r>
          </a:p>
        </p:txBody>
      </p:sp>
      <p:sp>
        <p:nvSpPr>
          <p:cNvPr id="19" name="Rectangle 18"/>
          <p:cNvSpPr/>
          <p:nvPr/>
        </p:nvSpPr>
        <p:spPr>
          <a:xfrm>
            <a:off x="6732543" y="2286000"/>
            <a:ext cx="2339583"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42271" y="2286000"/>
            <a:ext cx="2156703" cy="822960"/>
          </a:xfrm>
          <a:prstGeom prst="rect">
            <a:avLst/>
          </a:prstGeom>
          <a:noFill/>
        </p:spPr>
        <p:txBody>
          <a:bodyPr wrap="square" anchor="ctr">
            <a:spAutoFit/>
          </a:bodyPr>
          <a:lstStyle/>
          <a:p>
            <a:pPr algn="ctr">
              <a:spcAft>
                <a:spcPts val="400"/>
              </a:spcAft>
            </a:pPr>
            <a:r>
              <a:rPr sz="1250" b="0">
                <a:solidFill>
                  <a:srgbClr val="5B6372"/>
                </a:solidFill>
                <a:latin typeface="Arial"/>
              </a:rPr>
              <a:t>Hours</a:t>
            </a:r>
          </a:p>
        </p:txBody>
      </p:sp>
      <p:sp>
        <p:nvSpPr>
          <p:cNvPr id="21" name="Rectangle 20"/>
          <p:cNvSpPr/>
          <p:nvPr/>
        </p:nvSpPr>
        <p:spPr>
          <a:xfrm>
            <a:off x="9072126" y="2286000"/>
            <a:ext cx="2339583"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1854" y="2286000"/>
            <a:ext cx="2156703" cy="822960"/>
          </a:xfrm>
          <a:prstGeom prst="rect">
            <a:avLst/>
          </a:prstGeom>
          <a:noFill/>
        </p:spPr>
        <p:txBody>
          <a:bodyPr wrap="square" anchor="ctr">
            <a:spAutoFit/>
          </a:bodyPr>
          <a:lstStyle/>
          <a:p>
            <a:pPr algn="ctr">
              <a:spcAft>
                <a:spcPts val="400"/>
              </a:spcAft>
            </a:pPr>
            <a:r>
              <a:rPr sz="1250" b="0">
                <a:solidFill>
                  <a:srgbClr val="5B6372"/>
                </a:solidFill>
                <a:latin typeface="Arial"/>
              </a:rPr>
              <a:t>$</a:t>
            </a:r>
          </a:p>
        </p:txBody>
      </p:sp>
      <p:sp>
        <p:nvSpPr>
          <p:cNvPr id="23" name="Rectangle 22"/>
          <p:cNvSpPr/>
          <p:nvPr/>
        </p:nvSpPr>
        <p:spPr>
          <a:xfrm>
            <a:off x="777240" y="3108960"/>
            <a:ext cx="3615720"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86968" y="3108960"/>
            <a:ext cx="3432840" cy="822960"/>
          </a:xfrm>
          <a:prstGeom prst="rect">
            <a:avLst/>
          </a:prstGeom>
          <a:noFill/>
        </p:spPr>
        <p:txBody>
          <a:bodyPr wrap="square" anchor="ctr">
            <a:spAutoFit/>
          </a:bodyPr>
          <a:lstStyle/>
          <a:p>
            <a:pPr algn="l">
              <a:spcAft>
                <a:spcPts val="400"/>
              </a:spcAft>
            </a:pPr>
            <a:r>
              <a:rPr sz="1250" b="1">
                <a:solidFill>
                  <a:srgbClr val="161B26"/>
                </a:solidFill>
                <a:latin typeface="Arial"/>
              </a:rPr>
              <a:t>Pilot Light</a:t>
            </a:r>
          </a:p>
        </p:txBody>
      </p:sp>
      <p:sp>
        <p:nvSpPr>
          <p:cNvPr id="25" name="Rectangle 24"/>
          <p:cNvSpPr/>
          <p:nvPr/>
        </p:nvSpPr>
        <p:spPr>
          <a:xfrm>
            <a:off x="4392960" y="3108960"/>
            <a:ext cx="2339583"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02688" y="3108960"/>
            <a:ext cx="2156703" cy="822960"/>
          </a:xfrm>
          <a:prstGeom prst="rect">
            <a:avLst/>
          </a:prstGeom>
          <a:noFill/>
        </p:spPr>
        <p:txBody>
          <a:bodyPr wrap="square" anchor="ctr">
            <a:spAutoFit/>
          </a:bodyPr>
          <a:lstStyle/>
          <a:p>
            <a:pPr algn="ctr">
              <a:spcAft>
                <a:spcPts val="400"/>
              </a:spcAft>
            </a:pPr>
            <a:r>
              <a:rPr sz="1250" b="0">
                <a:solidFill>
                  <a:srgbClr val="5B6372"/>
                </a:solidFill>
                <a:latin typeface="Arial"/>
              </a:rPr>
              <a:t>Tens of minutes</a:t>
            </a:r>
          </a:p>
        </p:txBody>
      </p:sp>
      <p:sp>
        <p:nvSpPr>
          <p:cNvPr id="27" name="Rectangle 26"/>
          <p:cNvSpPr/>
          <p:nvPr/>
        </p:nvSpPr>
        <p:spPr>
          <a:xfrm>
            <a:off x="6732543" y="3108960"/>
            <a:ext cx="2339583"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42271" y="3108960"/>
            <a:ext cx="2156703" cy="822960"/>
          </a:xfrm>
          <a:prstGeom prst="rect">
            <a:avLst/>
          </a:prstGeom>
          <a:noFill/>
        </p:spPr>
        <p:txBody>
          <a:bodyPr wrap="square" anchor="ctr">
            <a:spAutoFit/>
          </a:bodyPr>
          <a:lstStyle/>
          <a:p>
            <a:pPr algn="ctr">
              <a:spcAft>
                <a:spcPts val="400"/>
              </a:spcAft>
            </a:pPr>
            <a:r>
              <a:rPr sz="1250" b="0">
                <a:solidFill>
                  <a:srgbClr val="5B6372"/>
                </a:solidFill>
                <a:latin typeface="Arial"/>
              </a:rPr>
              <a:t>Minutes</a:t>
            </a:r>
          </a:p>
        </p:txBody>
      </p:sp>
      <p:sp>
        <p:nvSpPr>
          <p:cNvPr id="29" name="Rectangle 28"/>
          <p:cNvSpPr/>
          <p:nvPr/>
        </p:nvSpPr>
        <p:spPr>
          <a:xfrm>
            <a:off x="9072126" y="3108960"/>
            <a:ext cx="2339583"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181854" y="3108960"/>
            <a:ext cx="2156703" cy="822960"/>
          </a:xfrm>
          <a:prstGeom prst="rect">
            <a:avLst/>
          </a:prstGeom>
          <a:noFill/>
        </p:spPr>
        <p:txBody>
          <a:bodyPr wrap="square" anchor="ctr">
            <a:spAutoFit/>
          </a:bodyPr>
          <a:lstStyle/>
          <a:p>
            <a:pPr algn="ctr">
              <a:spcAft>
                <a:spcPts val="400"/>
              </a:spcAft>
            </a:pPr>
            <a:r>
              <a:rPr sz="1250" b="0">
                <a:solidFill>
                  <a:srgbClr val="5B6372"/>
                </a:solidFill>
                <a:latin typeface="Arial"/>
              </a:rPr>
              <a:t>$$</a:t>
            </a:r>
          </a:p>
        </p:txBody>
      </p:sp>
      <p:sp>
        <p:nvSpPr>
          <p:cNvPr id="31" name="Rectangle 30"/>
          <p:cNvSpPr/>
          <p:nvPr/>
        </p:nvSpPr>
        <p:spPr>
          <a:xfrm>
            <a:off x="777240" y="3931920"/>
            <a:ext cx="3615720"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6968" y="3931920"/>
            <a:ext cx="3432840" cy="822960"/>
          </a:xfrm>
          <a:prstGeom prst="rect">
            <a:avLst/>
          </a:prstGeom>
          <a:noFill/>
        </p:spPr>
        <p:txBody>
          <a:bodyPr wrap="square" anchor="ctr">
            <a:spAutoFit/>
          </a:bodyPr>
          <a:lstStyle/>
          <a:p>
            <a:pPr algn="l">
              <a:spcAft>
                <a:spcPts val="400"/>
              </a:spcAft>
            </a:pPr>
            <a:r>
              <a:rPr sz="1250" b="1">
                <a:solidFill>
                  <a:srgbClr val="161B26"/>
                </a:solidFill>
                <a:latin typeface="Arial"/>
              </a:rPr>
              <a:t>Warm Standby</a:t>
            </a:r>
          </a:p>
        </p:txBody>
      </p:sp>
      <p:sp>
        <p:nvSpPr>
          <p:cNvPr id="33" name="Rectangle 32"/>
          <p:cNvSpPr/>
          <p:nvPr/>
        </p:nvSpPr>
        <p:spPr>
          <a:xfrm>
            <a:off x="4392960" y="3931920"/>
            <a:ext cx="2339583"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02688" y="3931920"/>
            <a:ext cx="2156703" cy="822960"/>
          </a:xfrm>
          <a:prstGeom prst="rect">
            <a:avLst/>
          </a:prstGeom>
          <a:noFill/>
        </p:spPr>
        <p:txBody>
          <a:bodyPr wrap="square" anchor="ctr">
            <a:spAutoFit/>
          </a:bodyPr>
          <a:lstStyle/>
          <a:p>
            <a:pPr algn="ctr">
              <a:spcAft>
                <a:spcPts val="400"/>
              </a:spcAft>
            </a:pPr>
            <a:r>
              <a:rPr sz="1250" b="0">
                <a:solidFill>
                  <a:srgbClr val="5B6372"/>
                </a:solidFill>
                <a:latin typeface="Arial"/>
              </a:rPr>
              <a:t>Minutes</a:t>
            </a:r>
          </a:p>
        </p:txBody>
      </p:sp>
      <p:sp>
        <p:nvSpPr>
          <p:cNvPr id="35" name="Rectangle 34"/>
          <p:cNvSpPr/>
          <p:nvPr/>
        </p:nvSpPr>
        <p:spPr>
          <a:xfrm>
            <a:off x="6732543" y="3931920"/>
            <a:ext cx="2339583"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42271" y="3931920"/>
            <a:ext cx="2156703" cy="822960"/>
          </a:xfrm>
          <a:prstGeom prst="rect">
            <a:avLst/>
          </a:prstGeom>
          <a:noFill/>
        </p:spPr>
        <p:txBody>
          <a:bodyPr wrap="square" anchor="ctr">
            <a:spAutoFit/>
          </a:bodyPr>
          <a:lstStyle/>
          <a:p>
            <a:pPr algn="ctr">
              <a:spcAft>
                <a:spcPts val="400"/>
              </a:spcAft>
            </a:pPr>
            <a:r>
              <a:rPr sz="1250" b="0">
                <a:solidFill>
                  <a:srgbClr val="5B6372"/>
                </a:solidFill>
                <a:latin typeface="Arial"/>
              </a:rPr>
              <a:t>Seconds</a:t>
            </a:r>
          </a:p>
        </p:txBody>
      </p:sp>
      <p:sp>
        <p:nvSpPr>
          <p:cNvPr id="37" name="Rectangle 36"/>
          <p:cNvSpPr/>
          <p:nvPr/>
        </p:nvSpPr>
        <p:spPr>
          <a:xfrm>
            <a:off x="9072126" y="3931920"/>
            <a:ext cx="2339583"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81854" y="3931920"/>
            <a:ext cx="2156703" cy="822960"/>
          </a:xfrm>
          <a:prstGeom prst="rect">
            <a:avLst/>
          </a:prstGeom>
          <a:noFill/>
        </p:spPr>
        <p:txBody>
          <a:bodyPr wrap="square" anchor="ctr">
            <a:spAutoFit/>
          </a:bodyPr>
          <a:lstStyle/>
          <a:p>
            <a:pPr algn="ctr">
              <a:spcAft>
                <a:spcPts val="400"/>
              </a:spcAft>
            </a:pPr>
            <a:r>
              <a:rPr sz="1250" b="0">
                <a:solidFill>
                  <a:srgbClr val="5B6372"/>
                </a:solidFill>
                <a:latin typeface="Arial"/>
              </a:rPr>
              <a:t>$$$</a:t>
            </a:r>
          </a:p>
        </p:txBody>
      </p:sp>
      <p:sp>
        <p:nvSpPr>
          <p:cNvPr id="39" name="Rectangle 38"/>
          <p:cNvSpPr/>
          <p:nvPr/>
        </p:nvSpPr>
        <p:spPr>
          <a:xfrm>
            <a:off x="777240" y="4754880"/>
            <a:ext cx="3615720"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86968" y="4754880"/>
            <a:ext cx="3432840" cy="822960"/>
          </a:xfrm>
          <a:prstGeom prst="rect">
            <a:avLst/>
          </a:prstGeom>
          <a:noFill/>
        </p:spPr>
        <p:txBody>
          <a:bodyPr wrap="square" anchor="ctr">
            <a:spAutoFit/>
          </a:bodyPr>
          <a:lstStyle/>
          <a:p>
            <a:pPr algn="l">
              <a:spcAft>
                <a:spcPts val="400"/>
              </a:spcAft>
            </a:pPr>
            <a:r>
              <a:rPr sz="1250" b="1">
                <a:solidFill>
                  <a:srgbClr val="161B26"/>
                </a:solidFill>
                <a:latin typeface="Arial"/>
              </a:rPr>
              <a:t>Multi-site Active/Active</a:t>
            </a:r>
          </a:p>
        </p:txBody>
      </p:sp>
      <p:sp>
        <p:nvSpPr>
          <p:cNvPr id="41" name="Rectangle 40"/>
          <p:cNvSpPr/>
          <p:nvPr/>
        </p:nvSpPr>
        <p:spPr>
          <a:xfrm>
            <a:off x="4392960" y="4754880"/>
            <a:ext cx="2339583"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502688" y="4754880"/>
            <a:ext cx="2156703" cy="822960"/>
          </a:xfrm>
          <a:prstGeom prst="rect">
            <a:avLst/>
          </a:prstGeom>
          <a:noFill/>
        </p:spPr>
        <p:txBody>
          <a:bodyPr wrap="square" anchor="ctr">
            <a:spAutoFit/>
          </a:bodyPr>
          <a:lstStyle/>
          <a:p>
            <a:pPr algn="ctr">
              <a:spcAft>
                <a:spcPts val="400"/>
              </a:spcAft>
            </a:pPr>
            <a:r>
              <a:rPr sz="1250" b="0">
                <a:solidFill>
                  <a:srgbClr val="5B6372"/>
                </a:solidFill>
                <a:latin typeface="Arial"/>
              </a:rPr>
              <a:t>Near-zero</a:t>
            </a:r>
          </a:p>
        </p:txBody>
      </p:sp>
      <p:sp>
        <p:nvSpPr>
          <p:cNvPr id="43" name="Rectangle 42"/>
          <p:cNvSpPr/>
          <p:nvPr/>
        </p:nvSpPr>
        <p:spPr>
          <a:xfrm>
            <a:off x="6732543" y="4754880"/>
            <a:ext cx="2339583"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842271" y="4754880"/>
            <a:ext cx="2156703" cy="822960"/>
          </a:xfrm>
          <a:prstGeom prst="rect">
            <a:avLst/>
          </a:prstGeom>
          <a:noFill/>
        </p:spPr>
        <p:txBody>
          <a:bodyPr wrap="square" anchor="ctr">
            <a:spAutoFit/>
          </a:bodyPr>
          <a:lstStyle/>
          <a:p>
            <a:pPr algn="ctr">
              <a:spcAft>
                <a:spcPts val="400"/>
              </a:spcAft>
            </a:pPr>
            <a:r>
              <a:rPr sz="1250" b="0">
                <a:solidFill>
                  <a:srgbClr val="5B6372"/>
                </a:solidFill>
                <a:latin typeface="Arial"/>
              </a:rPr>
              <a:t>Near-zero</a:t>
            </a:r>
          </a:p>
        </p:txBody>
      </p:sp>
      <p:sp>
        <p:nvSpPr>
          <p:cNvPr id="45" name="Rectangle 44"/>
          <p:cNvSpPr/>
          <p:nvPr/>
        </p:nvSpPr>
        <p:spPr>
          <a:xfrm>
            <a:off x="9072126" y="4754880"/>
            <a:ext cx="2339583"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181854" y="4754880"/>
            <a:ext cx="2156703" cy="822960"/>
          </a:xfrm>
          <a:prstGeom prst="rect">
            <a:avLst/>
          </a:prstGeom>
          <a:noFill/>
        </p:spPr>
        <p:txBody>
          <a:bodyPr wrap="square" anchor="ctr">
            <a:spAutoFit/>
          </a:bodyPr>
          <a:lstStyle/>
          <a:p>
            <a:pPr algn="ctr">
              <a:spcAft>
                <a:spcPts val="400"/>
              </a:spcAft>
            </a:pPr>
            <a:r>
              <a:rPr sz="1250" b="0">
                <a:solidFill>
                  <a:srgbClr val="5B6372"/>
                </a:solidFill>
                <a:latin typeface="Arial"/>
              </a:rPr>
              <a:t>$$$$</a:t>
            </a:r>
          </a:p>
        </p:txBody>
      </p:sp>
      <p:sp>
        <p:nvSpPr>
          <p:cNvPr id="47" name="TextBox 4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48" name="TextBox 4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266</a:t>
            </a:r>
          </a:p>
        </p:txBody>
      </p:sp>
    </p:spTree>
  </p:cSld>
  <p:clrMapOvr>
    <a:masterClrMapping/>
  </p:clrMapOvr>
  <p:transition xmlns:p14="http://schemas.microsoft.com/office/powerpoint/2010/main" p14:dur="380">
    <p:fade/>
  </p:transition>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WHY MULTI-AZ</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Availability Math — Adding a Second AZ</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828800"/>
          <a:ext cx="10634472" cy="3291840"/>
        </p:xfrm>
        <a:graphic>
          <a:graphicData uri="http://schemas.openxmlformats.org/drawingml/2006/chart">
            <c:chart xmlns:c="http://schemas.openxmlformats.org/drawingml/2006/chart" r:id="rId2"/>
          </a:graphicData>
        </a:graphic>
      </p:graphicFrame>
      <p:sp>
        <p:nvSpPr>
          <p:cNvPr id="8" name="Rectangle 7"/>
          <p:cNvSpPr/>
          <p:nvPr/>
        </p:nvSpPr>
        <p:spPr>
          <a:xfrm>
            <a:off x="777240" y="5349240"/>
            <a:ext cx="10634472" cy="868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349240"/>
            <a:ext cx="91440" cy="8686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5440680"/>
            <a:ext cx="10241280" cy="320040"/>
          </a:xfrm>
          <a:prstGeom prst="rect">
            <a:avLst/>
          </a:prstGeom>
          <a:noFill/>
        </p:spPr>
        <p:txBody>
          <a:bodyPr wrap="square" anchor="t">
            <a:spAutoFit/>
          </a:bodyPr>
          <a:lstStyle/>
          <a:p>
            <a:pPr algn="l">
              <a:spcAft>
                <a:spcPts val="400"/>
              </a:spcAft>
            </a:pPr>
            <a:r>
              <a:rPr sz="1100" b="1">
                <a:solidFill>
                  <a:srgbClr val="10B981"/>
                </a:solidFill>
                <a:latin typeface="Arial"/>
              </a:rPr>
              <a:t>WHAT THE DATA SHOWS</a:t>
            </a:r>
          </a:p>
        </p:txBody>
      </p:sp>
      <p:sp>
        <p:nvSpPr>
          <p:cNvPr id="11" name="TextBox 10"/>
          <p:cNvSpPr txBox="1"/>
          <p:nvPr/>
        </p:nvSpPr>
        <p:spPr>
          <a:xfrm>
            <a:off x="1005840" y="5742432"/>
            <a:ext cx="10241280" cy="457200"/>
          </a:xfrm>
          <a:prstGeom prst="rect">
            <a:avLst/>
          </a:prstGeom>
          <a:noFill/>
        </p:spPr>
        <p:txBody>
          <a:bodyPr wrap="square" anchor="t">
            <a:spAutoFit/>
          </a:bodyPr>
          <a:lstStyle/>
          <a:p>
            <a:pPr algn="l">
              <a:spcAft>
                <a:spcPts val="400"/>
              </a:spcAft>
            </a:pPr>
            <a:r>
              <a:rPr sz="1350" b="0">
                <a:solidFill>
                  <a:srgbClr val="161B26"/>
                </a:solidFill>
                <a:latin typeface="Arial"/>
              </a:rPr>
              <a:t>Most availability gain comes from the first jump to multi-AZ; multi-Region adds resilience against rare Region events at much higher cost.</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267</a:t>
            </a:r>
          </a:p>
        </p:txBody>
      </p:sp>
    </p:spTree>
  </p:cSld>
  <p:clrMapOvr>
    <a:masterClrMapping/>
  </p:clrMapOvr>
  <p:transition xmlns:p14="http://schemas.microsoft.com/office/powerpoint/2010/main" p14:dur="380">
    <p:fade/>
  </p:transition>
</p:sld>
</file>

<file path=ppt/slides/slide2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ELASTICITY IN ACTION</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Auto Scaling Under a Load Spike</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828800"/>
          <a:ext cx="10634472" cy="3291840"/>
        </p:xfrm>
        <a:graphic>
          <a:graphicData uri="http://schemas.openxmlformats.org/drawingml/2006/chart">
            <c:chart xmlns:c="http://schemas.openxmlformats.org/drawingml/2006/chart" r:id="rId2"/>
          </a:graphicData>
        </a:graphic>
      </p:graphicFrame>
      <p:sp>
        <p:nvSpPr>
          <p:cNvPr id="8" name="Rectangle 7"/>
          <p:cNvSpPr/>
          <p:nvPr/>
        </p:nvSpPr>
        <p:spPr>
          <a:xfrm>
            <a:off x="777240" y="5349240"/>
            <a:ext cx="10634472" cy="868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349240"/>
            <a:ext cx="91440" cy="8686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5440680"/>
            <a:ext cx="10241280" cy="320040"/>
          </a:xfrm>
          <a:prstGeom prst="rect">
            <a:avLst/>
          </a:prstGeom>
          <a:noFill/>
        </p:spPr>
        <p:txBody>
          <a:bodyPr wrap="square" anchor="t">
            <a:spAutoFit/>
          </a:bodyPr>
          <a:lstStyle/>
          <a:p>
            <a:pPr algn="l">
              <a:spcAft>
                <a:spcPts val="400"/>
              </a:spcAft>
            </a:pPr>
            <a:r>
              <a:rPr sz="1100" b="1">
                <a:solidFill>
                  <a:srgbClr val="10B981"/>
                </a:solidFill>
                <a:latin typeface="Arial"/>
              </a:rPr>
              <a:t>WHAT THE DATA SHOWS</a:t>
            </a:r>
          </a:p>
        </p:txBody>
      </p:sp>
      <p:sp>
        <p:nvSpPr>
          <p:cNvPr id="11" name="TextBox 10"/>
          <p:cNvSpPr txBox="1"/>
          <p:nvPr/>
        </p:nvSpPr>
        <p:spPr>
          <a:xfrm>
            <a:off x="1005840" y="5742432"/>
            <a:ext cx="10241280" cy="457200"/>
          </a:xfrm>
          <a:prstGeom prst="rect">
            <a:avLst/>
          </a:prstGeom>
          <a:noFill/>
        </p:spPr>
        <p:txBody>
          <a:bodyPr wrap="square" anchor="t">
            <a:spAutoFit/>
          </a:bodyPr>
          <a:lstStyle/>
          <a:p>
            <a:pPr algn="l">
              <a:spcAft>
                <a:spcPts val="400"/>
              </a:spcAft>
            </a:pPr>
            <a:r>
              <a:rPr sz="1350" b="0">
                <a:solidFill>
                  <a:srgbClr val="161B26"/>
                </a:solidFill>
                <a:latin typeface="Arial"/>
              </a:rPr>
              <a:t>Target tracking follows demand up and back down, so capacity tracks load — you pay for peak only while the peak lasts.</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268</a:t>
            </a:r>
          </a:p>
        </p:txBody>
      </p:sp>
    </p:spTree>
  </p:cSld>
  <p:clrMapOvr>
    <a:masterClrMapping/>
  </p:clrMapOvr>
  <p:transition xmlns:p14="http://schemas.microsoft.com/office/powerpoint/2010/main" p14:dur="380">
    <p:fade/>
  </p:transition>
</p:sld>
</file>

<file path=ppt/slides/slide2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HOW 'HA' SYSTEMS STILL FALL OVER</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Resilience Failure Modes &amp; Anti-Patterns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10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6408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6408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Single-AZ database</a:t>
            </a:r>
          </a:p>
          <a:p>
            <a:pPr algn="l">
              <a:spcAft>
                <a:spcPts val="300"/>
              </a:spcAft>
            </a:pPr>
            <a:r>
              <a:rPr sz="1100" b="0">
                <a:solidFill>
                  <a:srgbClr val="5B6372"/>
                </a:solidFill>
                <a:latin typeface="Arial"/>
              </a:rPr>
              <a:t>App tier redundant, data tier isn't → Multi-AZ RDS / global tables.</a:t>
            </a:r>
          </a:p>
        </p:txBody>
      </p:sp>
      <p:sp>
        <p:nvSpPr>
          <p:cNvPr id="12" name="Rectangle 11"/>
          <p:cNvSpPr/>
          <p:nvPr/>
        </p:nvSpPr>
        <p:spPr>
          <a:xfrm>
            <a:off x="6231636" y="1783080"/>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3106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6408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6408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Sticky in-memory sessions</a:t>
            </a:r>
          </a:p>
          <a:p>
            <a:pPr algn="l">
              <a:spcAft>
                <a:spcPts val="300"/>
              </a:spcAft>
            </a:pPr>
            <a:r>
              <a:rPr sz="1100" b="0">
                <a:solidFill>
                  <a:srgbClr val="5B6372"/>
                </a:solidFill>
                <a:latin typeface="Arial"/>
              </a:rPr>
              <a:t>One instance loss logs everyone out → externalise session state.</a:t>
            </a:r>
          </a:p>
        </p:txBody>
      </p:sp>
      <p:sp>
        <p:nvSpPr>
          <p:cNvPr id="17" name="Rectangle 16"/>
          <p:cNvSpPr/>
          <p:nvPr/>
        </p:nvSpPr>
        <p:spPr>
          <a:xfrm>
            <a:off x="777240" y="3313176"/>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3176"/>
            <a:ext cx="91440" cy="13106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422904"/>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Retry storms</a:t>
            </a:r>
          </a:p>
          <a:p>
            <a:pPr algn="l">
              <a:spcAft>
                <a:spcPts val="300"/>
              </a:spcAft>
            </a:pPr>
            <a:r>
              <a:rPr sz="1100" b="0">
                <a:solidFill>
                  <a:srgbClr val="5B6372"/>
                </a:solidFill>
                <a:latin typeface="Arial"/>
              </a:rPr>
              <a:t>Unbounded retries amplify an outage → backoff + jitter + circuit breakers.</a:t>
            </a:r>
          </a:p>
        </p:txBody>
      </p:sp>
      <p:sp>
        <p:nvSpPr>
          <p:cNvPr id="22" name="Rectangle 21"/>
          <p:cNvSpPr/>
          <p:nvPr/>
        </p:nvSpPr>
        <p:spPr>
          <a:xfrm>
            <a:off x="6231636" y="3313176"/>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3176"/>
            <a:ext cx="91440" cy="13106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422904"/>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Untested failover</a:t>
            </a:r>
          </a:p>
          <a:p>
            <a:pPr algn="l">
              <a:spcAft>
                <a:spcPts val="300"/>
              </a:spcAft>
            </a:pPr>
            <a:r>
              <a:rPr sz="1100" b="0">
                <a:solidFill>
                  <a:srgbClr val="5B6372"/>
                </a:solidFill>
                <a:latin typeface="Arial"/>
              </a:rPr>
              <a:t>Runbook fails under pressure → game-days and automated failover.</a:t>
            </a:r>
          </a:p>
        </p:txBody>
      </p:sp>
      <p:sp>
        <p:nvSpPr>
          <p:cNvPr id="27" name="Rectangle 26"/>
          <p:cNvSpPr/>
          <p:nvPr/>
        </p:nvSpPr>
        <p:spPr>
          <a:xfrm>
            <a:off x="777240" y="4843272"/>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43272"/>
            <a:ext cx="91440" cy="13106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24272"/>
            <a:ext cx="548640" cy="548640"/>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2427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953000"/>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Scaling on wrong metric</a:t>
            </a:r>
          </a:p>
          <a:p>
            <a:pPr algn="l">
              <a:spcAft>
                <a:spcPts val="300"/>
              </a:spcAft>
            </a:pPr>
            <a:r>
              <a:rPr sz="1100" b="0">
                <a:solidFill>
                  <a:srgbClr val="5B6372"/>
                </a:solidFill>
                <a:latin typeface="Arial"/>
              </a:rPr>
              <a:t>Slow under load, wasteful when idle → scale on the true constraint.</a:t>
            </a:r>
          </a:p>
        </p:txBody>
      </p:sp>
      <p:sp>
        <p:nvSpPr>
          <p:cNvPr id="32" name="Rectangle 31"/>
          <p:cNvSpPr/>
          <p:nvPr/>
        </p:nvSpPr>
        <p:spPr>
          <a:xfrm>
            <a:off x="6231636" y="4843272"/>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43272"/>
            <a:ext cx="91440" cy="1310640"/>
          </a:xfrm>
          <a:prstGeom prst="rect">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24272"/>
            <a:ext cx="548640" cy="548640"/>
          </a:xfrm>
          <a:prstGeom prst="ellipse">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2427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953000"/>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No health-check depth</a:t>
            </a:r>
          </a:p>
          <a:p>
            <a:pPr algn="l">
              <a:spcAft>
                <a:spcPts val="300"/>
              </a:spcAft>
            </a:pPr>
            <a:r>
              <a:rPr sz="1100" b="0">
                <a:solidFill>
                  <a:srgbClr val="5B6372"/>
                </a:solidFill>
                <a:latin typeface="Arial"/>
              </a:rPr>
              <a:t>LB routes to a process that's up but broken → deep health checks.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269</a:t>
            </a:r>
          </a:p>
        </p:txBody>
      </p:sp>
    </p:spTree>
  </p:cSld>
  <p:clrMapOvr>
    <a:masterClrMapping/>
  </p:clrMapOvr>
  <p:transition xmlns:p14="http://schemas.microsoft.com/office/powerpoint/2010/main" p14:dur="380">
    <p:fade/>
  </p:transition>
</p:sld>
</file>

<file path=ppt/slides/slide2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PROVEN PRACTICES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Resilience Patterns Worth Adopting</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10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6408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6408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Multi-AZ by default</a:t>
            </a:r>
          </a:p>
          <a:p>
            <a:pPr algn="l">
              <a:spcAft>
                <a:spcPts val="300"/>
              </a:spcAft>
            </a:pPr>
            <a:r>
              <a:rPr sz="1100" b="0">
                <a:solidFill>
                  <a:srgbClr val="5B6372"/>
                </a:solidFill>
                <a:latin typeface="Arial"/>
              </a:rPr>
              <a:t>Never depend on a single Availability Zone.</a:t>
            </a:r>
          </a:p>
        </p:txBody>
      </p:sp>
      <p:sp>
        <p:nvSpPr>
          <p:cNvPr id="12" name="Rectangle 11"/>
          <p:cNvSpPr/>
          <p:nvPr/>
        </p:nvSpPr>
        <p:spPr>
          <a:xfrm>
            <a:off x="6231636" y="1783080"/>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3106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6408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6408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Stateless tiers</a:t>
            </a:r>
          </a:p>
          <a:p>
            <a:pPr algn="l">
              <a:spcAft>
                <a:spcPts val="300"/>
              </a:spcAft>
            </a:pPr>
            <a:r>
              <a:rPr sz="1100" b="0">
                <a:solidFill>
                  <a:srgbClr val="5B6372"/>
                </a:solidFill>
                <a:latin typeface="Arial"/>
              </a:rPr>
              <a:t>Push state to RDS/DynamoDB/ElastiCache so any instance is disposable.</a:t>
            </a:r>
          </a:p>
        </p:txBody>
      </p:sp>
      <p:sp>
        <p:nvSpPr>
          <p:cNvPr id="17" name="Rectangle 16"/>
          <p:cNvSpPr/>
          <p:nvPr/>
        </p:nvSpPr>
        <p:spPr>
          <a:xfrm>
            <a:off x="777240" y="3313176"/>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3176"/>
            <a:ext cx="91440" cy="13106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422904"/>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Backoff with jitter</a:t>
            </a:r>
          </a:p>
          <a:p>
            <a:pPr algn="l">
              <a:spcAft>
                <a:spcPts val="300"/>
              </a:spcAft>
            </a:pPr>
            <a:r>
              <a:rPr sz="1100" b="0">
                <a:solidFill>
                  <a:srgbClr val="5B6372"/>
                </a:solidFill>
                <a:latin typeface="Arial"/>
              </a:rPr>
              <a:t>Spread retries to avoid synchronised load.</a:t>
            </a:r>
          </a:p>
        </p:txBody>
      </p:sp>
      <p:sp>
        <p:nvSpPr>
          <p:cNvPr id="22" name="Rectangle 21"/>
          <p:cNvSpPr/>
          <p:nvPr/>
        </p:nvSpPr>
        <p:spPr>
          <a:xfrm>
            <a:off x="6231636" y="3313176"/>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3176"/>
            <a:ext cx="91440" cy="13106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422904"/>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Circuit breaker</a:t>
            </a:r>
          </a:p>
          <a:p>
            <a:pPr algn="l">
              <a:spcAft>
                <a:spcPts val="300"/>
              </a:spcAft>
            </a:pPr>
            <a:r>
              <a:rPr sz="1100" b="0">
                <a:solidFill>
                  <a:srgbClr val="5B6372"/>
                </a:solidFill>
                <a:latin typeface="Arial"/>
              </a:rPr>
              <a:t>Stop calling a failing dependency; fail fast and recover.</a:t>
            </a:r>
          </a:p>
        </p:txBody>
      </p:sp>
      <p:sp>
        <p:nvSpPr>
          <p:cNvPr id="27" name="Rectangle 26"/>
          <p:cNvSpPr/>
          <p:nvPr/>
        </p:nvSpPr>
        <p:spPr>
          <a:xfrm>
            <a:off x="777240" y="4843272"/>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43272"/>
            <a:ext cx="91440" cy="13106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24272"/>
            <a:ext cx="548640" cy="548640"/>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2427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953000"/>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Health-check failover</a:t>
            </a:r>
          </a:p>
          <a:p>
            <a:pPr algn="l">
              <a:spcAft>
                <a:spcPts val="300"/>
              </a:spcAft>
            </a:pPr>
            <a:r>
              <a:rPr sz="1100" b="0">
                <a:solidFill>
                  <a:srgbClr val="5B6372"/>
                </a:solidFill>
                <a:latin typeface="Arial"/>
              </a:rPr>
              <a:t>Route 53 / ELB route around unhealthy targets.</a:t>
            </a:r>
          </a:p>
        </p:txBody>
      </p:sp>
      <p:sp>
        <p:nvSpPr>
          <p:cNvPr id="32" name="Rectangle 31"/>
          <p:cNvSpPr/>
          <p:nvPr/>
        </p:nvSpPr>
        <p:spPr>
          <a:xfrm>
            <a:off x="6231636" y="4843272"/>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43272"/>
            <a:ext cx="91440" cy="1310640"/>
          </a:xfrm>
          <a:prstGeom prst="rect">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24272"/>
            <a:ext cx="548640" cy="548640"/>
          </a:xfrm>
          <a:prstGeom prst="ellipse">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2427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953000"/>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Game-days</a:t>
            </a:r>
          </a:p>
          <a:p>
            <a:pPr algn="l">
              <a:spcAft>
                <a:spcPts val="300"/>
              </a:spcAft>
            </a:pPr>
            <a:r>
              <a:rPr sz="1100" b="0">
                <a:solidFill>
                  <a:srgbClr val="5B6372"/>
                </a:solidFill>
                <a:latin typeface="Arial"/>
              </a:rPr>
              <a:t>Rehearse failure so recovery is routine, not heroic.</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270</a:t>
            </a:r>
          </a:p>
        </p:txBody>
      </p:sp>
    </p:spTree>
  </p:cSld>
  <p:clrMapOvr>
    <a:masterClrMapping/>
  </p:clrMapOvr>
  <p:transition xmlns:p14="http://schemas.microsoft.com/office/powerpoint/2010/main" p14:dur="380">
    <p:fade/>
  </p:transition>
</p:sld>
</file>

<file path=ppt/slides/slide2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MATCH SPEND TO RISK</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Architecture Decision — Which DR Pattern?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05740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057400"/>
            <a:ext cx="457200" cy="457200"/>
          </a:xfrm>
          <a:prstGeom prst="rect">
            <a:avLst/>
          </a:prstGeom>
          <a:noFill/>
        </p:spPr>
        <p:txBody>
          <a:bodyPr wrap="square" anchor="ctr">
            <a:spAutoFit/>
          </a:bodyPr>
          <a:lstStyle/>
          <a:p>
            <a:pPr algn="ctr">
              <a:spcAft>
                <a:spcPts val="400"/>
              </a:spcAft>
            </a:pPr>
            <a:r>
              <a:rPr sz="2000" b="1">
                <a:solidFill>
                  <a:srgbClr val="FFFFFF"/>
                </a:solidFill>
                <a:latin typeface="Arial"/>
              </a:rPr>
              <a:t>A</a:t>
            </a:r>
          </a:p>
        </p:txBody>
      </p:sp>
      <p:sp>
        <p:nvSpPr>
          <p:cNvPr id="11" name="TextBox 10"/>
          <p:cNvSpPr txBox="1"/>
          <p:nvPr/>
        </p:nvSpPr>
        <p:spPr>
          <a:xfrm>
            <a:off x="1645920" y="2084831"/>
            <a:ext cx="2286000" cy="640080"/>
          </a:xfrm>
          <a:prstGeom prst="rect">
            <a:avLst/>
          </a:prstGeom>
          <a:noFill/>
        </p:spPr>
        <p:txBody>
          <a:bodyPr wrap="square" anchor="ctr">
            <a:spAutoFit/>
          </a:bodyPr>
          <a:lstStyle/>
          <a:p>
            <a:pPr algn="l">
              <a:spcAft>
                <a:spcPts val="400"/>
              </a:spcAft>
            </a:pPr>
            <a:r>
              <a:rPr sz="1450" b="1">
                <a:solidFill>
                  <a:srgbClr val="10B981"/>
                </a:solidFill>
                <a:latin typeface="Arial"/>
              </a:rPr>
              <a:t>Backup &amp; Restore</a:t>
            </a:r>
          </a:p>
        </p:txBody>
      </p:sp>
      <p:sp>
        <p:nvSpPr>
          <p:cNvPr id="12" name="TextBox 11"/>
          <p:cNvSpPr txBox="1"/>
          <p:nvPr/>
        </p:nvSpPr>
        <p:spPr>
          <a:xfrm>
            <a:off x="1033272" y="2788920"/>
            <a:ext cx="2880360" cy="3108960"/>
          </a:xfrm>
          <a:prstGeom prst="rect">
            <a:avLst/>
          </a:prstGeom>
          <a:noFill/>
        </p:spPr>
        <p:txBody>
          <a:bodyPr wrap="square" anchor="t">
            <a:spAutoFit/>
          </a:bodyPr>
          <a:lstStyle/>
          <a:p>
            <a:pPr algn="l">
              <a:spcAft>
                <a:spcPts val="400"/>
              </a:spcAft>
            </a:pPr>
            <a:r>
              <a:rPr sz="1250" b="0">
                <a:solidFill>
                  <a:srgbClr val="161B26"/>
                </a:solidFill>
                <a:latin typeface="Arial"/>
              </a:rPr>
              <a:t>Non-critical or easily rebuilt workloads. Cheapest — but recovery takes hours and loses recent data.</a:t>
            </a:r>
          </a:p>
        </p:txBody>
      </p:sp>
      <p:sp>
        <p:nvSpPr>
          <p:cNvPr id="13" name="Rectangle 12"/>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828032" y="2057400"/>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28032" y="2057400"/>
            <a:ext cx="457200" cy="457200"/>
          </a:xfrm>
          <a:prstGeom prst="rect">
            <a:avLst/>
          </a:prstGeom>
          <a:noFill/>
        </p:spPr>
        <p:txBody>
          <a:bodyPr wrap="square" anchor="ctr">
            <a:spAutoFit/>
          </a:bodyPr>
          <a:lstStyle/>
          <a:p>
            <a:pPr algn="ctr">
              <a:spcAft>
                <a:spcPts val="400"/>
              </a:spcAft>
            </a:pPr>
            <a:r>
              <a:rPr sz="2000" b="1">
                <a:solidFill>
                  <a:srgbClr val="FFFFFF"/>
                </a:solidFill>
                <a:latin typeface="Arial"/>
              </a:rPr>
              <a:t>B</a:t>
            </a:r>
          </a:p>
        </p:txBody>
      </p:sp>
      <p:sp>
        <p:nvSpPr>
          <p:cNvPr id="17" name="TextBox 16"/>
          <p:cNvSpPr txBox="1"/>
          <p:nvPr/>
        </p:nvSpPr>
        <p:spPr>
          <a:xfrm>
            <a:off x="5440680" y="2084831"/>
            <a:ext cx="2286000" cy="640080"/>
          </a:xfrm>
          <a:prstGeom prst="rect">
            <a:avLst/>
          </a:prstGeom>
          <a:noFill/>
        </p:spPr>
        <p:txBody>
          <a:bodyPr wrap="square" anchor="ctr">
            <a:spAutoFit/>
          </a:bodyPr>
          <a:lstStyle/>
          <a:p>
            <a:pPr algn="l">
              <a:spcAft>
                <a:spcPts val="400"/>
              </a:spcAft>
            </a:pPr>
            <a:r>
              <a:rPr sz="1450" b="1">
                <a:solidFill>
                  <a:srgbClr val="7C3AED"/>
                </a:solidFill>
                <a:latin typeface="Arial"/>
              </a:rPr>
              <a:t>Pilot Light / Warm Standby</a:t>
            </a:r>
          </a:p>
        </p:txBody>
      </p:sp>
      <p:sp>
        <p:nvSpPr>
          <p:cNvPr id="18" name="TextBox 17"/>
          <p:cNvSpPr txBox="1"/>
          <p:nvPr/>
        </p:nvSpPr>
        <p:spPr>
          <a:xfrm>
            <a:off x="4828032" y="2788920"/>
            <a:ext cx="2880360" cy="3108960"/>
          </a:xfrm>
          <a:prstGeom prst="rect">
            <a:avLst/>
          </a:prstGeom>
          <a:noFill/>
        </p:spPr>
        <p:txBody>
          <a:bodyPr wrap="square" anchor="t">
            <a:spAutoFit/>
          </a:bodyPr>
          <a:lstStyle/>
          <a:p>
            <a:pPr algn="l">
              <a:spcAft>
                <a:spcPts val="400"/>
              </a:spcAft>
            </a:pPr>
            <a:r>
              <a:rPr sz="1250" b="0">
                <a:solidFill>
                  <a:srgbClr val="161B26"/>
                </a:solidFill>
                <a:latin typeface="Arial"/>
              </a:rPr>
              <a:t>Important workloads needing minutes-scale recovery. A scaled-down copy runs ready to promote — moderate standing cost.</a:t>
            </a:r>
          </a:p>
        </p:txBody>
      </p:sp>
      <p:sp>
        <p:nvSpPr>
          <p:cNvPr id="19" name="Rectangle 18"/>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36676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622792" y="205740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22792" y="2057400"/>
            <a:ext cx="457200" cy="457200"/>
          </a:xfrm>
          <a:prstGeom prst="rect">
            <a:avLst/>
          </a:prstGeom>
          <a:noFill/>
        </p:spPr>
        <p:txBody>
          <a:bodyPr wrap="square" anchor="ctr">
            <a:spAutoFit/>
          </a:bodyPr>
          <a:lstStyle/>
          <a:p>
            <a:pPr algn="ctr">
              <a:spcAft>
                <a:spcPts val="400"/>
              </a:spcAft>
            </a:pPr>
            <a:r>
              <a:rPr sz="2000" b="1">
                <a:solidFill>
                  <a:srgbClr val="FFFFFF"/>
                </a:solidFill>
                <a:latin typeface="Arial"/>
              </a:rPr>
              <a:t>C</a:t>
            </a:r>
          </a:p>
        </p:txBody>
      </p:sp>
      <p:sp>
        <p:nvSpPr>
          <p:cNvPr id="23" name="TextBox 22"/>
          <p:cNvSpPr txBox="1"/>
          <p:nvPr/>
        </p:nvSpPr>
        <p:spPr>
          <a:xfrm>
            <a:off x="9235440" y="2084831"/>
            <a:ext cx="2286000" cy="640080"/>
          </a:xfrm>
          <a:prstGeom prst="rect">
            <a:avLst/>
          </a:prstGeom>
          <a:noFill/>
        </p:spPr>
        <p:txBody>
          <a:bodyPr wrap="square" anchor="ctr">
            <a:spAutoFit/>
          </a:bodyPr>
          <a:lstStyle/>
          <a:p>
            <a:pPr algn="l">
              <a:spcAft>
                <a:spcPts val="400"/>
              </a:spcAft>
            </a:pPr>
            <a:r>
              <a:rPr sz="1450" b="1">
                <a:solidFill>
                  <a:srgbClr val="10B981"/>
                </a:solidFill>
                <a:latin typeface="Arial"/>
              </a:rPr>
              <a:t>Multi-site Active/Active</a:t>
            </a:r>
          </a:p>
        </p:txBody>
      </p:sp>
      <p:sp>
        <p:nvSpPr>
          <p:cNvPr id="24" name="TextBox 23"/>
          <p:cNvSpPr txBox="1"/>
          <p:nvPr/>
        </p:nvSpPr>
        <p:spPr>
          <a:xfrm>
            <a:off x="8622792" y="2788920"/>
            <a:ext cx="2880360" cy="3108960"/>
          </a:xfrm>
          <a:prstGeom prst="rect">
            <a:avLst/>
          </a:prstGeom>
          <a:noFill/>
        </p:spPr>
        <p:txBody>
          <a:bodyPr wrap="square" anchor="t">
            <a:spAutoFit/>
          </a:bodyPr>
          <a:lstStyle/>
          <a:p>
            <a:pPr algn="l">
              <a:spcAft>
                <a:spcPts val="400"/>
              </a:spcAft>
            </a:pPr>
            <a:r>
              <a:rPr sz="1250" b="0">
                <a:solidFill>
                  <a:srgbClr val="161B26"/>
                </a:solidFill>
                <a:latin typeface="Arial"/>
              </a:rPr>
              <a:t>Revenue-critical systems that can't be down. Near-zero RTO/RPO — at roughly double the running cost and real complexity.</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271</a:t>
            </a:r>
          </a:p>
        </p:txBody>
      </p:sp>
    </p:spTree>
  </p:cSld>
  <p:clrMapOvr>
    <a:masterClrMapping/>
  </p:clrMapOvr>
  <p:transition xmlns:p14="http://schemas.microsoft.com/office/powerpoint/2010/main" p14:dur="380">
    <p:fade/>
  </p:transition>
</p:sld>
</file>

<file path=ppt/slides/slide2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DESIGNING FOR AZ LOSS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Scenario — Surviving an Availability Zone outage</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91440" cy="91440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1847088"/>
            <a:ext cx="2194560" cy="320040"/>
          </a:xfrm>
          <a:prstGeom prst="rect">
            <a:avLst/>
          </a:prstGeom>
          <a:noFill/>
        </p:spPr>
        <p:txBody>
          <a:bodyPr wrap="square" anchor="t">
            <a:spAutoFit/>
          </a:bodyPr>
          <a:lstStyle/>
          <a:p>
            <a:pPr algn="l">
              <a:spcAft>
                <a:spcPts val="400"/>
              </a:spcAft>
            </a:pPr>
            <a:r>
              <a:rPr sz="1150" b="1">
                <a:solidFill>
                  <a:srgbClr val="5B6372"/>
                </a:solidFill>
                <a:latin typeface="Arial"/>
              </a:rPr>
              <a:t>SITUATION</a:t>
            </a:r>
          </a:p>
        </p:txBody>
      </p:sp>
      <p:sp>
        <p:nvSpPr>
          <p:cNvPr id="10" name="TextBox 9"/>
          <p:cNvSpPr txBox="1"/>
          <p:nvPr/>
        </p:nvSpPr>
        <p:spPr>
          <a:xfrm>
            <a:off x="1033272" y="2157984"/>
            <a:ext cx="10085832" cy="457200"/>
          </a:xfrm>
          <a:prstGeom prst="rect">
            <a:avLst/>
          </a:prstGeom>
          <a:noFill/>
        </p:spPr>
        <p:txBody>
          <a:bodyPr wrap="square" anchor="t">
            <a:spAutoFit/>
          </a:bodyPr>
          <a:lstStyle/>
          <a:p>
            <a:pPr algn="l">
              <a:spcAft>
                <a:spcPts val="400"/>
              </a:spcAft>
            </a:pPr>
            <a:r>
              <a:rPr sz="1300" b="0">
                <a:solidFill>
                  <a:srgbClr val="161B26"/>
                </a:solidFill>
                <a:latin typeface="Arial"/>
              </a:rPr>
              <a:t>An AZ becomes impaired. Half the fleet is there, and the primary database node runs in it.</a:t>
            </a:r>
          </a:p>
        </p:txBody>
      </p:sp>
      <p:sp>
        <p:nvSpPr>
          <p:cNvPr id="11" name="Rectangle 10"/>
          <p:cNvSpPr/>
          <p:nvPr/>
        </p:nvSpPr>
        <p:spPr>
          <a:xfrm>
            <a:off x="777240" y="2788920"/>
            <a:ext cx="10634472" cy="21945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788920"/>
            <a:ext cx="91440" cy="2194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880360"/>
            <a:ext cx="2743200" cy="320040"/>
          </a:xfrm>
          <a:prstGeom prst="rect">
            <a:avLst/>
          </a:prstGeom>
          <a:noFill/>
        </p:spPr>
        <p:txBody>
          <a:bodyPr wrap="square" anchor="t">
            <a:spAutoFit/>
          </a:bodyPr>
          <a:lstStyle/>
          <a:p>
            <a:pPr algn="l">
              <a:spcAft>
                <a:spcPts val="400"/>
              </a:spcAft>
            </a:pPr>
            <a:r>
              <a:rPr sz="1150" b="1">
                <a:solidFill>
                  <a:srgbClr val="10B981"/>
                </a:solidFill>
                <a:latin typeface="Arial"/>
              </a:rPr>
              <a:t>ANALYSIS</a:t>
            </a:r>
          </a:p>
        </p:txBody>
      </p:sp>
      <p:sp>
        <p:nvSpPr>
          <p:cNvPr id="14" name="TextBox 13"/>
          <p:cNvSpPr txBox="1"/>
          <p:nvPr/>
        </p:nvSpPr>
        <p:spPr>
          <a:xfrm>
            <a:off x="1033272" y="3246120"/>
            <a:ext cx="9994392" cy="1645920"/>
          </a:xfrm>
          <a:prstGeom prst="rect">
            <a:avLst/>
          </a:prstGeom>
          <a:noFill/>
        </p:spPr>
        <p:txBody>
          <a:bodyPr wrap="square">
            <a:spAutoFit/>
          </a:bodyPr>
          <a:lstStyle/>
          <a:p>
            <a:pPr>
              <a:spcAft>
                <a:spcPts val="700"/>
              </a:spcAft>
            </a:pPr>
            <a:r>
              <a:rPr sz="1300" b="0">
                <a:solidFill>
                  <a:srgbClr val="161B26"/>
                </a:solidFill>
                <a:latin typeface="Arial"/>
              </a:rPr>
              <a:t>•  Because compute is stateless behind an ALB across two AZs, the load balancer simply stops routing to the failed AZ.</a:t>
            </a:r>
          </a:p>
          <a:p>
            <a:pPr>
              <a:spcAft>
                <a:spcPts val="700"/>
              </a:spcAft>
            </a:pPr>
            <a:r>
              <a:rPr sz="1300" b="0">
                <a:solidFill>
                  <a:srgbClr val="161B26"/>
                </a:solidFill>
                <a:latin typeface="Arial"/>
              </a:rPr>
              <a:t>•  The Auto Scaling group launches replacement instances in the healthy AZ to restore capacity.</a:t>
            </a:r>
          </a:p>
          <a:p>
            <a:pPr>
              <a:spcAft>
                <a:spcPts val="700"/>
              </a:spcAft>
            </a:pPr>
            <a:r>
              <a:rPr sz="1300" b="0">
                <a:solidFill>
                  <a:srgbClr val="161B26"/>
                </a:solidFill>
                <a:latin typeface="Arial"/>
              </a:rPr>
              <a:t>•  Multi-AZ RDS fails over to the synchronous standby in the other AZ automatically.</a:t>
            </a:r>
          </a:p>
        </p:txBody>
      </p:sp>
      <p:sp>
        <p:nvSpPr>
          <p:cNvPr id="15" name="Rectangle 14"/>
          <p:cNvSpPr/>
          <p:nvPr/>
        </p:nvSpPr>
        <p:spPr>
          <a:xfrm>
            <a:off x="777240" y="5102352"/>
            <a:ext cx="10634472"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5102352"/>
            <a:ext cx="91440" cy="9601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2" y="5193792"/>
            <a:ext cx="2743200" cy="320040"/>
          </a:xfrm>
          <a:prstGeom prst="rect">
            <a:avLst/>
          </a:prstGeom>
          <a:noFill/>
        </p:spPr>
        <p:txBody>
          <a:bodyPr wrap="square" anchor="t">
            <a:spAutoFit/>
          </a:bodyPr>
          <a:lstStyle/>
          <a:p>
            <a:pPr algn="l">
              <a:spcAft>
                <a:spcPts val="400"/>
              </a:spcAft>
            </a:pPr>
            <a:r>
              <a:rPr sz="1150" b="1">
                <a:solidFill>
                  <a:srgbClr val="10B981"/>
                </a:solidFill>
                <a:latin typeface="Arial"/>
              </a:rPr>
              <a:t>DECISION</a:t>
            </a:r>
          </a:p>
        </p:txBody>
      </p:sp>
      <p:sp>
        <p:nvSpPr>
          <p:cNvPr id="18" name="TextBox 17"/>
          <p:cNvSpPr txBox="1"/>
          <p:nvPr/>
        </p:nvSpPr>
        <p:spPr>
          <a:xfrm>
            <a:off x="1033272" y="5486400"/>
            <a:ext cx="10085832" cy="548640"/>
          </a:xfrm>
          <a:prstGeom prst="rect">
            <a:avLst/>
          </a:prstGeom>
          <a:noFill/>
        </p:spPr>
        <p:txBody>
          <a:bodyPr wrap="square" anchor="t">
            <a:spAutoFit/>
          </a:bodyPr>
          <a:lstStyle/>
          <a:p>
            <a:pPr algn="l">
              <a:spcAft>
                <a:spcPts val="400"/>
              </a:spcAft>
            </a:pPr>
            <a:r>
              <a:rPr sz="1300" b="1">
                <a:solidFill>
                  <a:srgbClr val="161B26"/>
                </a:solidFill>
                <a:latin typeface="Arial"/>
              </a:rPr>
              <a:t>No human action is required for the common case — the design absorbs an AZ loss. Confirm capacity headroom so the healthy AZ can carry full load during the event.</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272</a:t>
            </a:r>
          </a:p>
        </p:txBody>
      </p:sp>
    </p:spTree>
  </p:cSld>
  <p:clrMapOvr>
    <a:masterClrMapping/>
  </p:clrMapOvr>
  <p:transition xmlns:p14="http://schemas.microsoft.com/office/powerpoint/2010/main" p14:dur="380">
    <p:fade/>
  </p:transition>
</p:sld>
</file>

<file path=ppt/slides/slide2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ELASTICITY UNDER PRESSURE</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Scenario — A Black-Friday traffic spike</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91440" cy="91440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1847088"/>
            <a:ext cx="2194560" cy="320040"/>
          </a:xfrm>
          <a:prstGeom prst="rect">
            <a:avLst/>
          </a:prstGeom>
          <a:noFill/>
        </p:spPr>
        <p:txBody>
          <a:bodyPr wrap="square" anchor="t">
            <a:spAutoFit/>
          </a:bodyPr>
          <a:lstStyle/>
          <a:p>
            <a:pPr algn="l">
              <a:spcAft>
                <a:spcPts val="400"/>
              </a:spcAft>
            </a:pPr>
            <a:r>
              <a:rPr sz="1150" b="1">
                <a:solidFill>
                  <a:srgbClr val="5B6372"/>
                </a:solidFill>
                <a:latin typeface="Arial"/>
              </a:rPr>
              <a:t>SITUATION</a:t>
            </a:r>
          </a:p>
        </p:txBody>
      </p:sp>
      <p:sp>
        <p:nvSpPr>
          <p:cNvPr id="10" name="TextBox 9"/>
          <p:cNvSpPr txBox="1"/>
          <p:nvPr/>
        </p:nvSpPr>
        <p:spPr>
          <a:xfrm>
            <a:off x="1033272" y="2157984"/>
            <a:ext cx="10085832" cy="457200"/>
          </a:xfrm>
          <a:prstGeom prst="rect">
            <a:avLst/>
          </a:prstGeom>
          <a:noFill/>
        </p:spPr>
        <p:txBody>
          <a:bodyPr wrap="square" anchor="t">
            <a:spAutoFit/>
          </a:bodyPr>
          <a:lstStyle/>
          <a:p>
            <a:pPr algn="l">
              <a:spcAft>
                <a:spcPts val="400"/>
              </a:spcAft>
            </a:pPr>
            <a:r>
              <a:rPr sz="1300" b="0">
                <a:solidFill>
                  <a:srgbClr val="161B26"/>
                </a:solidFill>
                <a:latin typeface="Arial"/>
              </a:rPr>
              <a:t>Traffic will rise 6x for a few hours during a sale, then return to normal.</a:t>
            </a:r>
          </a:p>
        </p:txBody>
      </p:sp>
      <p:sp>
        <p:nvSpPr>
          <p:cNvPr id="11" name="Rectangle 10"/>
          <p:cNvSpPr/>
          <p:nvPr/>
        </p:nvSpPr>
        <p:spPr>
          <a:xfrm>
            <a:off x="777240" y="2788920"/>
            <a:ext cx="10634472" cy="21945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788920"/>
            <a:ext cx="91440" cy="2194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880360"/>
            <a:ext cx="2743200" cy="320040"/>
          </a:xfrm>
          <a:prstGeom prst="rect">
            <a:avLst/>
          </a:prstGeom>
          <a:noFill/>
        </p:spPr>
        <p:txBody>
          <a:bodyPr wrap="square" anchor="t">
            <a:spAutoFit/>
          </a:bodyPr>
          <a:lstStyle/>
          <a:p>
            <a:pPr algn="l">
              <a:spcAft>
                <a:spcPts val="400"/>
              </a:spcAft>
            </a:pPr>
            <a:r>
              <a:rPr sz="1150" b="1">
                <a:solidFill>
                  <a:srgbClr val="10B981"/>
                </a:solidFill>
                <a:latin typeface="Arial"/>
              </a:rPr>
              <a:t>ANALYSIS</a:t>
            </a:r>
          </a:p>
        </p:txBody>
      </p:sp>
      <p:sp>
        <p:nvSpPr>
          <p:cNvPr id="14" name="TextBox 13"/>
          <p:cNvSpPr txBox="1"/>
          <p:nvPr/>
        </p:nvSpPr>
        <p:spPr>
          <a:xfrm>
            <a:off x="1033272" y="3246120"/>
            <a:ext cx="9994392" cy="1645920"/>
          </a:xfrm>
          <a:prstGeom prst="rect">
            <a:avLst/>
          </a:prstGeom>
          <a:noFill/>
        </p:spPr>
        <p:txBody>
          <a:bodyPr wrap="square">
            <a:spAutoFit/>
          </a:bodyPr>
          <a:lstStyle/>
          <a:p>
            <a:pPr>
              <a:spcAft>
                <a:spcPts val="700"/>
              </a:spcAft>
            </a:pPr>
            <a:r>
              <a:rPr sz="1300" b="0">
                <a:solidFill>
                  <a:srgbClr val="161B26"/>
                </a:solidFill>
                <a:latin typeface="Arial"/>
              </a:rPr>
              <a:t>•  Fixed capacity sized for the peak wastes money the other 360 days; sized for normal, it falls over during the sale.</a:t>
            </a:r>
          </a:p>
          <a:p>
            <a:pPr>
              <a:spcAft>
                <a:spcPts val="700"/>
              </a:spcAft>
            </a:pPr>
            <a:r>
              <a:rPr sz="1300" b="0">
                <a:solidFill>
                  <a:srgbClr val="161B26"/>
                </a:solidFill>
                <a:latin typeface="Arial"/>
              </a:rPr>
              <a:t>•  Scheduled scaling pre-warms capacity just before the known event; target tracking then follows real demand.</a:t>
            </a:r>
          </a:p>
          <a:p>
            <a:pPr>
              <a:spcAft>
                <a:spcPts val="700"/>
              </a:spcAft>
            </a:pPr>
            <a:r>
              <a:rPr sz="1300" b="0">
                <a:solidFill>
                  <a:srgbClr val="161B26"/>
                </a:solidFill>
                <a:latin typeface="Arial"/>
              </a:rPr>
              <a:t>•  Decoupling checkout with SQS lets bursts queue instead of failing when a downstream service saturates.</a:t>
            </a:r>
          </a:p>
        </p:txBody>
      </p:sp>
      <p:sp>
        <p:nvSpPr>
          <p:cNvPr id="15" name="Rectangle 14"/>
          <p:cNvSpPr/>
          <p:nvPr/>
        </p:nvSpPr>
        <p:spPr>
          <a:xfrm>
            <a:off x="777240" y="5102352"/>
            <a:ext cx="10634472"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5102352"/>
            <a:ext cx="91440" cy="9601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2" y="5193792"/>
            <a:ext cx="2743200" cy="320040"/>
          </a:xfrm>
          <a:prstGeom prst="rect">
            <a:avLst/>
          </a:prstGeom>
          <a:noFill/>
        </p:spPr>
        <p:txBody>
          <a:bodyPr wrap="square" anchor="t">
            <a:spAutoFit/>
          </a:bodyPr>
          <a:lstStyle/>
          <a:p>
            <a:pPr algn="l">
              <a:spcAft>
                <a:spcPts val="400"/>
              </a:spcAft>
            </a:pPr>
            <a:r>
              <a:rPr sz="1150" b="1">
                <a:solidFill>
                  <a:srgbClr val="10B981"/>
                </a:solidFill>
                <a:latin typeface="Arial"/>
              </a:rPr>
              <a:t>DECISION</a:t>
            </a:r>
          </a:p>
        </p:txBody>
      </p:sp>
      <p:sp>
        <p:nvSpPr>
          <p:cNvPr id="18" name="TextBox 17"/>
          <p:cNvSpPr txBox="1"/>
          <p:nvPr/>
        </p:nvSpPr>
        <p:spPr>
          <a:xfrm>
            <a:off x="1033272" y="5486400"/>
            <a:ext cx="10085832" cy="548640"/>
          </a:xfrm>
          <a:prstGeom prst="rect">
            <a:avLst/>
          </a:prstGeom>
          <a:noFill/>
        </p:spPr>
        <p:txBody>
          <a:bodyPr wrap="square" anchor="t">
            <a:spAutoFit/>
          </a:bodyPr>
          <a:lstStyle/>
          <a:p>
            <a:pPr algn="l">
              <a:spcAft>
                <a:spcPts val="400"/>
              </a:spcAft>
            </a:pPr>
            <a:r>
              <a:rPr sz="1300" b="1">
                <a:solidFill>
                  <a:srgbClr val="161B26"/>
                </a:solidFill>
                <a:latin typeface="Arial"/>
              </a:rPr>
              <a:t>Combine scheduled pre-scaling for the known start time with target-tracking for the actual curve, and buffer spiky writes through a queue so load is absorbed as backlog.</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273</a:t>
            </a:r>
          </a:p>
        </p:txBody>
      </p:sp>
    </p:spTree>
  </p:cSld>
  <p:clrMapOvr>
    <a:masterClrMapping/>
  </p:clrMapOvr>
  <p:transition xmlns:p14="http://schemas.microsoft.com/office/powerpoint/2010/main" p14:dur="380">
    <p:fade/>
  </p:transition>
</p:sld>
</file>

<file path=ppt/slides/slide2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FROM SLA TO ARCHITECTURE</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Worked Analysis — Reading an RTO/RPO Requirement</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4253788" cy="76581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73152" cy="76581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31028" y="1783080"/>
            <a:ext cx="6380684" cy="76581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8408" y="1783080"/>
            <a:ext cx="3933748" cy="765810"/>
          </a:xfrm>
          <a:prstGeom prst="rect">
            <a:avLst/>
          </a:prstGeom>
          <a:noFill/>
        </p:spPr>
        <p:txBody>
          <a:bodyPr wrap="square" anchor="ctr">
            <a:spAutoFit/>
          </a:bodyPr>
          <a:lstStyle/>
          <a:p>
            <a:pPr algn="l">
              <a:spcAft>
                <a:spcPts val="400"/>
              </a:spcAft>
            </a:pPr>
            <a:r>
              <a:rPr sz="1250" b="1">
                <a:solidFill>
                  <a:srgbClr val="161B26"/>
                </a:solidFill>
                <a:latin typeface="Arial"/>
              </a:rPr>
              <a:t>'Restore within 15 minutes' (RTO)</a:t>
            </a:r>
          </a:p>
        </p:txBody>
      </p:sp>
      <p:sp>
        <p:nvSpPr>
          <p:cNvPr id="11" name="TextBox 10"/>
          <p:cNvSpPr txBox="1"/>
          <p:nvPr/>
        </p:nvSpPr>
        <p:spPr>
          <a:xfrm>
            <a:off x="5213908" y="1783080"/>
            <a:ext cx="6060644" cy="765810"/>
          </a:xfrm>
          <a:prstGeom prst="rect">
            <a:avLst/>
          </a:prstGeom>
          <a:noFill/>
        </p:spPr>
        <p:txBody>
          <a:bodyPr wrap="square" anchor="ctr">
            <a:spAutoFit/>
          </a:bodyPr>
          <a:lstStyle/>
          <a:p>
            <a:pPr algn="l">
              <a:spcAft>
                <a:spcPts val="400"/>
              </a:spcAft>
            </a:pPr>
            <a:r>
              <a:rPr sz="1200" b="0">
                <a:solidFill>
                  <a:srgbClr val="5B6372"/>
                </a:solidFill>
                <a:latin typeface="Arial"/>
              </a:rPr>
              <a:t>Rules out backup &amp; restore (hours). Warm standby or pilot light needed.</a:t>
            </a:r>
          </a:p>
        </p:txBody>
      </p:sp>
      <p:sp>
        <p:nvSpPr>
          <p:cNvPr id="12" name="Rectangle 11"/>
          <p:cNvSpPr/>
          <p:nvPr/>
        </p:nvSpPr>
        <p:spPr>
          <a:xfrm>
            <a:off x="777240" y="2548890"/>
            <a:ext cx="4253788" cy="76581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548890"/>
            <a:ext cx="73152" cy="76581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31028" y="2548890"/>
            <a:ext cx="6380684" cy="76581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78408" y="2548890"/>
            <a:ext cx="3933748" cy="765810"/>
          </a:xfrm>
          <a:prstGeom prst="rect">
            <a:avLst/>
          </a:prstGeom>
          <a:noFill/>
        </p:spPr>
        <p:txBody>
          <a:bodyPr wrap="square" anchor="ctr">
            <a:spAutoFit/>
          </a:bodyPr>
          <a:lstStyle/>
          <a:p>
            <a:pPr algn="l">
              <a:spcAft>
                <a:spcPts val="400"/>
              </a:spcAft>
            </a:pPr>
            <a:r>
              <a:rPr sz="1250" b="1">
                <a:solidFill>
                  <a:srgbClr val="161B26"/>
                </a:solidFill>
                <a:latin typeface="Arial"/>
              </a:rPr>
              <a:t>'Lose at most a few seconds' (RPO)</a:t>
            </a:r>
          </a:p>
        </p:txBody>
      </p:sp>
      <p:sp>
        <p:nvSpPr>
          <p:cNvPr id="16" name="TextBox 15"/>
          <p:cNvSpPr txBox="1"/>
          <p:nvPr/>
        </p:nvSpPr>
        <p:spPr>
          <a:xfrm>
            <a:off x="5213908" y="2548890"/>
            <a:ext cx="6060644" cy="765810"/>
          </a:xfrm>
          <a:prstGeom prst="rect">
            <a:avLst/>
          </a:prstGeom>
          <a:noFill/>
        </p:spPr>
        <p:txBody>
          <a:bodyPr wrap="square" anchor="ctr">
            <a:spAutoFit/>
          </a:bodyPr>
          <a:lstStyle/>
          <a:p>
            <a:pPr algn="l">
              <a:spcAft>
                <a:spcPts val="400"/>
              </a:spcAft>
            </a:pPr>
            <a:r>
              <a:rPr sz="1200" b="0">
                <a:solidFill>
                  <a:srgbClr val="5B6372"/>
                </a:solidFill>
                <a:latin typeface="Arial"/>
              </a:rPr>
              <a:t>Requires synchronous or near-real-time replication — Multi-AZ RDS or global tables.</a:t>
            </a:r>
          </a:p>
        </p:txBody>
      </p:sp>
      <p:sp>
        <p:nvSpPr>
          <p:cNvPr id="17" name="Rectangle 16"/>
          <p:cNvSpPr/>
          <p:nvPr/>
        </p:nvSpPr>
        <p:spPr>
          <a:xfrm>
            <a:off x="777240" y="3314700"/>
            <a:ext cx="4253788" cy="76581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4700"/>
            <a:ext cx="73152" cy="76581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31028" y="3314700"/>
            <a:ext cx="6380684" cy="76581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3314700"/>
            <a:ext cx="3933748" cy="765810"/>
          </a:xfrm>
          <a:prstGeom prst="rect">
            <a:avLst/>
          </a:prstGeom>
          <a:noFill/>
        </p:spPr>
        <p:txBody>
          <a:bodyPr wrap="square" anchor="ctr">
            <a:spAutoFit/>
          </a:bodyPr>
          <a:lstStyle/>
          <a:p>
            <a:pPr algn="l">
              <a:spcAft>
                <a:spcPts val="400"/>
              </a:spcAft>
            </a:pPr>
            <a:r>
              <a:rPr sz="1250" b="1">
                <a:solidFill>
                  <a:srgbClr val="161B26"/>
                </a:solidFill>
                <a:latin typeface="Arial"/>
              </a:rPr>
              <a:t>'Survive a Region event'</a:t>
            </a:r>
          </a:p>
        </p:txBody>
      </p:sp>
      <p:sp>
        <p:nvSpPr>
          <p:cNvPr id="21" name="TextBox 20"/>
          <p:cNvSpPr txBox="1"/>
          <p:nvPr/>
        </p:nvSpPr>
        <p:spPr>
          <a:xfrm>
            <a:off x="5213908" y="3314700"/>
            <a:ext cx="6060644" cy="765810"/>
          </a:xfrm>
          <a:prstGeom prst="rect">
            <a:avLst/>
          </a:prstGeom>
          <a:noFill/>
        </p:spPr>
        <p:txBody>
          <a:bodyPr wrap="square" anchor="ctr">
            <a:spAutoFit/>
          </a:bodyPr>
          <a:lstStyle/>
          <a:p>
            <a:pPr algn="l">
              <a:spcAft>
                <a:spcPts val="400"/>
              </a:spcAft>
            </a:pPr>
            <a:r>
              <a:rPr sz="1200" b="0">
                <a:solidFill>
                  <a:srgbClr val="5B6372"/>
                </a:solidFill>
                <a:latin typeface="Arial"/>
              </a:rPr>
              <a:t>Forces a cross-Region strategy, not just multi-AZ.</a:t>
            </a:r>
          </a:p>
        </p:txBody>
      </p:sp>
      <p:sp>
        <p:nvSpPr>
          <p:cNvPr id="22" name="Rectangle 21"/>
          <p:cNvSpPr/>
          <p:nvPr/>
        </p:nvSpPr>
        <p:spPr>
          <a:xfrm>
            <a:off x="777240" y="4080510"/>
            <a:ext cx="4253788" cy="76581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080510"/>
            <a:ext cx="73152" cy="76581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031028" y="4080510"/>
            <a:ext cx="6380684" cy="76581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8408" y="4080510"/>
            <a:ext cx="3933748" cy="765810"/>
          </a:xfrm>
          <a:prstGeom prst="rect">
            <a:avLst/>
          </a:prstGeom>
          <a:noFill/>
        </p:spPr>
        <p:txBody>
          <a:bodyPr wrap="square" anchor="ctr">
            <a:spAutoFit/>
          </a:bodyPr>
          <a:lstStyle/>
          <a:p>
            <a:pPr algn="l">
              <a:spcAft>
                <a:spcPts val="400"/>
              </a:spcAft>
            </a:pPr>
            <a:r>
              <a:rPr sz="1250" b="1">
                <a:solidFill>
                  <a:srgbClr val="161B26"/>
                </a:solidFill>
                <a:latin typeface="Arial"/>
              </a:rPr>
              <a:t>Budget is limited</a:t>
            </a:r>
          </a:p>
        </p:txBody>
      </p:sp>
      <p:sp>
        <p:nvSpPr>
          <p:cNvPr id="26" name="TextBox 25"/>
          <p:cNvSpPr txBox="1"/>
          <p:nvPr/>
        </p:nvSpPr>
        <p:spPr>
          <a:xfrm>
            <a:off x="5213908" y="4080510"/>
            <a:ext cx="6060644" cy="765810"/>
          </a:xfrm>
          <a:prstGeom prst="rect">
            <a:avLst/>
          </a:prstGeom>
          <a:noFill/>
        </p:spPr>
        <p:txBody>
          <a:bodyPr wrap="square" anchor="ctr">
            <a:spAutoFit/>
          </a:bodyPr>
          <a:lstStyle/>
          <a:p>
            <a:pPr algn="l">
              <a:spcAft>
                <a:spcPts val="400"/>
              </a:spcAft>
            </a:pPr>
            <a:r>
              <a:rPr sz="1200" b="0">
                <a:solidFill>
                  <a:srgbClr val="5B6372"/>
                </a:solidFill>
                <a:latin typeface="Arial"/>
              </a:rPr>
              <a:t>Pilot light: minimal always-on footprint, scaled up on failover — a pragmatic middle.</a:t>
            </a:r>
          </a:p>
        </p:txBody>
      </p:sp>
      <p:sp>
        <p:nvSpPr>
          <p:cNvPr id="27" name="Rectangle 26"/>
          <p:cNvSpPr/>
          <p:nvPr/>
        </p:nvSpPr>
        <p:spPr>
          <a:xfrm>
            <a:off x="777240" y="5010912"/>
            <a:ext cx="10634472" cy="868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010912"/>
            <a:ext cx="91440" cy="8686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33272" y="5102352"/>
            <a:ext cx="2743200" cy="320040"/>
          </a:xfrm>
          <a:prstGeom prst="rect">
            <a:avLst/>
          </a:prstGeom>
          <a:noFill/>
        </p:spPr>
        <p:txBody>
          <a:bodyPr wrap="square" anchor="t">
            <a:spAutoFit/>
          </a:bodyPr>
          <a:lstStyle/>
          <a:p>
            <a:pPr algn="l">
              <a:spcAft>
                <a:spcPts val="400"/>
              </a:spcAft>
            </a:pPr>
            <a:r>
              <a:rPr sz="1150" b="1">
                <a:solidFill>
                  <a:srgbClr val="10B981"/>
                </a:solidFill>
                <a:latin typeface="Arial"/>
              </a:rPr>
              <a:t>TAKEAWAY</a:t>
            </a:r>
          </a:p>
        </p:txBody>
      </p:sp>
      <p:sp>
        <p:nvSpPr>
          <p:cNvPr id="30" name="TextBox 29"/>
          <p:cNvSpPr txBox="1"/>
          <p:nvPr/>
        </p:nvSpPr>
        <p:spPr>
          <a:xfrm>
            <a:off x="1033272" y="5394960"/>
            <a:ext cx="10085832" cy="457200"/>
          </a:xfrm>
          <a:prstGeom prst="rect">
            <a:avLst/>
          </a:prstGeom>
          <a:noFill/>
        </p:spPr>
        <p:txBody>
          <a:bodyPr wrap="square" anchor="t">
            <a:spAutoFit/>
          </a:bodyPr>
          <a:lstStyle/>
          <a:p>
            <a:pPr algn="l">
              <a:spcAft>
                <a:spcPts val="400"/>
              </a:spcAft>
            </a:pPr>
            <a:r>
              <a:rPr sz="1300" b="1">
                <a:solidFill>
                  <a:srgbClr val="161B26"/>
                </a:solidFill>
                <a:latin typeface="Arial"/>
              </a:rPr>
              <a:t>Each phrase in the requirement eliminates patterns until one fits — resilience design is requirement-driven, not taste-driven.</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274</a:t>
            </a:r>
          </a:p>
        </p:txBody>
      </p:sp>
    </p:spTree>
  </p:cSld>
  <p:clrMapOvr>
    <a:masterClrMapping/>
  </p:clrMapOvr>
  <p:transition xmlns:p14="http://schemas.microsoft.com/office/powerpoint/2010/main" p14:dur="380">
    <p:fade/>
  </p:transition>
</p:sld>
</file>

<file path=ppt/slides/slide2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EC2 · AUTO SCALING · ELB · LAMBDA · FARGATE</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AWS foundations: Compute and elasticity</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PURPOSE</a:t>
            </a:r>
          </a:p>
          <a:p>
            <a:pPr algn="l">
              <a:spcAft>
                <a:spcPts val="300"/>
              </a:spcAft>
            </a:pPr>
            <a:r>
              <a:rPr sz="1050" b="0">
                <a:solidFill>
                  <a:srgbClr val="5B6372"/>
                </a:solidFill>
                <a:latin typeface="Arial"/>
              </a:rPr>
              <a:t>Match execution model and scaling behaviour to availability, latency, control and operational-effort requirements.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FEATURE 1</a:t>
            </a:r>
          </a:p>
          <a:p>
            <a:pPr algn="l">
              <a:spcAft>
                <a:spcPts val="300"/>
              </a:spcAft>
            </a:pPr>
            <a:r>
              <a:rPr sz="1050" b="0">
                <a:solidFill>
                  <a:srgbClr val="5B6372"/>
                </a:solidFill>
                <a:latin typeface="Arial"/>
              </a:rPr>
              <a:t>EC2 exposes instance families, purchase models, launch templates and full operating-system control.</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FEATURE 2</a:t>
            </a:r>
          </a:p>
          <a:p>
            <a:pPr algn="l">
              <a:spcAft>
                <a:spcPts val="300"/>
              </a:spcAft>
            </a:pPr>
            <a:r>
              <a:rPr sz="1050" b="0">
                <a:solidFill>
                  <a:srgbClr val="5B6372"/>
                </a:solidFill>
                <a:latin typeface="Arial"/>
              </a:rPr>
              <a:t>Auto Scaling replaces unhealthy capacity and changes desired capacity from metrics or schedules.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FEATURE 3</a:t>
            </a:r>
          </a:p>
          <a:p>
            <a:pPr algn="l">
              <a:spcAft>
                <a:spcPts val="300"/>
              </a:spcAft>
            </a:pPr>
            <a:r>
              <a:rPr sz="1050" b="0">
                <a:solidFill>
                  <a:srgbClr val="5B6372"/>
                </a:solidFill>
                <a:latin typeface="Arial"/>
              </a:rPr>
              <a:t>ALB routes HTTP by host/path; NLB provides high-performance Layer 4 routing and static IP options.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275</a:t>
            </a:r>
          </a:p>
        </p:txBody>
      </p:sp>
    </p:spTree>
  </p:cSld>
  <p:clrMapOvr>
    <a:masterClrMapping/>
  </p:clrMapOvr>
  <p:transition xmlns:p14="http://schemas.microsoft.com/office/powerpoint/2010/main" p14:dur="380">
    <p:fade/>
  </p:transition>
</p:sld>
</file>

<file path=ppt/slides/slide2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SERVICE DECISION</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Compute and elasticity: selection and controls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CHOOSE WHEN</a:t>
            </a:r>
          </a:p>
          <a:p>
            <a:pPr algn="l">
              <a:spcAft>
                <a:spcPts val="300"/>
              </a:spcAft>
            </a:pPr>
            <a:r>
              <a:rPr sz="1050" b="0">
                <a:solidFill>
                  <a:srgbClr val="5B6372"/>
                </a:solidFill>
                <a:latin typeface="Arial"/>
              </a:rPr>
              <a:t>Use EC2 for host-level control, Lambda for event-driven short execution, and Fargate when containers are wanted without host management.</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DEVOPS ENGINEERING</a:t>
            </a:r>
          </a:p>
          <a:p>
            <a:pPr algn="l">
              <a:spcAft>
                <a:spcPts val="300"/>
              </a:spcAft>
            </a:pPr>
            <a:r>
              <a:rPr sz="1050" b="0">
                <a:solidFill>
                  <a:srgbClr val="5B6372"/>
                </a:solidFill>
                <a:latin typeface="Arial"/>
              </a:rPr>
              <a:t>Spread across AZs, use health checks and warm-up, scale on a demand-correlated signal and test replacement capacity.</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MODE</a:t>
            </a:r>
          </a:p>
          <a:p>
            <a:pPr algn="l">
              <a:spcAft>
                <a:spcPts val="300"/>
              </a:spcAft>
            </a:pPr>
            <a:r>
              <a:rPr sz="1050" b="0">
                <a:solidFill>
                  <a:srgbClr val="5B6372"/>
                </a:solidFill>
                <a:latin typeface="Arial"/>
              </a:rPr>
              <a:t>CPU-only scaling can miss queue depth, concurrency, connection or downstream bottlenecks.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EVIDENCE</a:t>
            </a:r>
          </a:p>
          <a:p>
            <a:pPr algn="l">
              <a:spcAft>
                <a:spcPts val="300"/>
              </a:spcAft>
            </a:pPr>
            <a:r>
              <a:rPr sz="1050" b="0">
                <a:solidFill>
                  <a:srgbClr val="5B6372"/>
                </a:solidFill>
                <a:latin typeface="Arial"/>
              </a:rPr>
              <a:t>Launch-template version, healthy-host count, scaling activity, target latency, saturation and replacement test.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276</a:t>
            </a:r>
          </a:p>
        </p:txBody>
      </p:sp>
    </p:spTree>
  </p:cSld>
  <p:clrMapOvr>
    <a:masterClrMapping/>
  </p:clrMapOvr>
  <p:transition xmlns:p14="http://schemas.microsoft.com/office/powerpoint/2010/main" p14:dur="380">
    <p:fade/>
  </p:transition>
</p:sld>
</file>

<file path=ppt/slides/slide2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S3 · EBS · EFS · FSX · AWS BACKUP</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AWS foundations: Storage services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PURPOSE</a:t>
            </a:r>
          </a:p>
          <a:p>
            <a:pPr algn="l">
              <a:spcAft>
                <a:spcPts val="300"/>
              </a:spcAft>
            </a:pPr>
            <a:r>
              <a:rPr sz="1050" b="0">
                <a:solidFill>
                  <a:srgbClr val="5B6372"/>
                </a:solidFill>
                <a:latin typeface="Arial"/>
              </a:rPr>
              <a:t>Select durable object, block or shared-file storage with lifecycle and recovery controls matched to the workload.</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FEATURE 1</a:t>
            </a:r>
          </a:p>
          <a:p>
            <a:pPr algn="l">
              <a:spcAft>
                <a:spcPts val="300"/>
              </a:spcAft>
            </a:pPr>
            <a:r>
              <a:rPr sz="1050" b="0">
                <a:solidFill>
                  <a:srgbClr val="5B6372"/>
                </a:solidFill>
                <a:latin typeface="Arial"/>
              </a:rPr>
              <a:t>S3 provides regional object durability, versioning, lifecycle tiers, replication and event notifications.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FEATURE 2</a:t>
            </a:r>
          </a:p>
          <a:p>
            <a:pPr algn="l">
              <a:spcAft>
                <a:spcPts val="300"/>
              </a:spcAft>
            </a:pPr>
            <a:r>
              <a:rPr sz="1050" b="0">
                <a:solidFill>
                  <a:srgbClr val="5B6372"/>
                </a:solidFill>
                <a:latin typeface="Arial"/>
              </a:rPr>
              <a:t>EBS is AZ-scoped block storage with volume types, snapshots and encryption.</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FEATURE 3</a:t>
            </a:r>
          </a:p>
          <a:p>
            <a:pPr algn="l">
              <a:spcAft>
                <a:spcPts val="300"/>
              </a:spcAft>
            </a:pPr>
            <a:r>
              <a:rPr sz="1050" b="0">
                <a:solidFill>
                  <a:srgbClr val="5B6372"/>
                </a:solidFill>
                <a:latin typeface="Arial"/>
              </a:rPr>
              <a:t>EFS is elastic regional NFS; FSx supplies managed file systems such as Windows, Lustre, NetApp ONTAP and OpenZFS.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277</a:t>
            </a:r>
          </a:p>
        </p:txBody>
      </p:sp>
    </p:spTree>
  </p:cSld>
  <p:clrMapOvr>
    <a:masterClrMapping/>
  </p:clrMapOvr>
  <p:transition xmlns:p14="http://schemas.microsoft.com/office/powerpoint/2010/main" p14:dur="380">
    <p:fade/>
  </p:transition>
</p:sld>
</file>

<file path=ppt/slides/slide2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SERVICE DECISION</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Storage services: selection and controls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CHOOSE WHEN</a:t>
            </a:r>
          </a:p>
          <a:p>
            <a:pPr algn="l">
              <a:spcAft>
                <a:spcPts val="300"/>
              </a:spcAft>
            </a:pPr>
            <a:r>
              <a:rPr sz="1050" b="0">
                <a:solidFill>
                  <a:srgbClr val="5B6372"/>
                </a:solidFill>
                <a:latin typeface="Arial"/>
              </a:rPr>
              <a:t>Choose from access protocol, latency/throughput, sharing scope, AZ/Region boundary, retention and recovery objectives.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DEVOPS ENGINEERING</a:t>
            </a:r>
          </a:p>
          <a:p>
            <a:pPr algn="l">
              <a:spcAft>
                <a:spcPts val="300"/>
              </a:spcAft>
            </a:pPr>
            <a:r>
              <a:rPr sz="1050" b="0">
                <a:solidFill>
                  <a:srgbClr val="5B6372"/>
                </a:solidFill>
                <a:latin typeface="Arial"/>
              </a:rPr>
              <a:t>Encrypt, version, block public access, automate backup/copy, test restore and separate backup administration.</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MODE</a:t>
            </a:r>
          </a:p>
          <a:p>
            <a:pPr algn="l">
              <a:spcAft>
                <a:spcPts val="300"/>
              </a:spcAft>
            </a:pPr>
            <a:r>
              <a:rPr sz="1050" b="0">
                <a:solidFill>
                  <a:srgbClr val="5B6372"/>
                </a:solidFill>
                <a:latin typeface="Arial"/>
              </a:rPr>
              <a:t>Replication improves availability but can replicate corruption or deletion; it is not automatically a backup.</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EVIDENCE</a:t>
            </a:r>
          </a:p>
          <a:p>
            <a:pPr algn="l">
              <a:spcAft>
                <a:spcPts val="300"/>
              </a:spcAft>
            </a:pPr>
            <a:r>
              <a:rPr sz="1050" b="0">
                <a:solidFill>
                  <a:srgbClr val="5B6372"/>
                </a:solidFill>
                <a:latin typeface="Arial"/>
              </a:rPr>
              <a:t>Storage class/volume type, encryption key, version/snapshot, replication status, restore test and recovery age.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278</a:t>
            </a:r>
          </a:p>
        </p:txBody>
      </p:sp>
    </p:spTree>
  </p:cSld>
  <p:clrMapOvr>
    <a:masterClrMapping/>
  </p:clrMapOvr>
  <p:transition xmlns:p14="http://schemas.microsoft.com/office/powerpoint/2010/main" p14:dur="380">
    <p:fade/>
  </p:transition>
</p:sld>
</file>

<file path=ppt/slides/slide2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RDS/AURORA · DYNAMODB · ELASTICACHE · DMS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AWS foundations: Databases and data durability</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PURPOSE</a:t>
            </a:r>
          </a:p>
          <a:p>
            <a:pPr algn="l">
              <a:spcAft>
                <a:spcPts val="300"/>
              </a:spcAft>
            </a:pPr>
            <a:r>
              <a:rPr sz="1050" b="0">
                <a:solidFill>
                  <a:srgbClr val="5B6372"/>
                </a:solidFill>
                <a:latin typeface="Arial"/>
              </a:rPr>
              <a:t>Provide transactional or key-value persistence with availability, scaling and recovery appropriate to data access patterns.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FEATURE 1</a:t>
            </a:r>
          </a:p>
          <a:p>
            <a:pPr algn="l">
              <a:spcAft>
                <a:spcPts val="300"/>
              </a:spcAft>
            </a:pPr>
            <a:r>
              <a:rPr sz="1050" b="0">
                <a:solidFill>
                  <a:srgbClr val="5B6372"/>
                </a:solidFill>
                <a:latin typeface="Arial"/>
              </a:rPr>
              <a:t>RDS Multi-AZ provides synchronous standby/failover; read replicas primarily scale reads.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FEATURE 2</a:t>
            </a:r>
          </a:p>
          <a:p>
            <a:pPr algn="l">
              <a:spcAft>
                <a:spcPts val="300"/>
              </a:spcAft>
            </a:pPr>
            <a:r>
              <a:rPr sz="1050" b="0">
                <a:solidFill>
                  <a:srgbClr val="5B6372"/>
                </a:solidFill>
                <a:latin typeface="Arial"/>
              </a:rPr>
              <a:t>Aurora separates compute/storage, supports reader endpoints and Global Database options.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FEATURE 3</a:t>
            </a:r>
          </a:p>
          <a:p>
            <a:pPr algn="l">
              <a:spcAft>
                <a:spcPts val="300"/>
              </a:spcAft>
            </a:pPr>
            <a:r>
              <a:rPr sz="1050" b="0">
                <a:solidFill>
                  <a:srgbClr val="5B6372"/>
                </a:solidFill>
                <a:latin typeface="Arial"/>
              </a:rPr>
              <a:t>DynamoDB offers partitioned key-value/document storage, on-demand/provisioned capacity, PITR, Streams and global tables.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279</a:t>
            </a:r>
          </a:p>
        </p:txBody>
      </p:sp>
    </p:spTree>
  </p:cSld>
  <p:clrMapOvr>
    <a:masterClrMapping/>
  </p:clrMapOvr>
  <p:transition xmlns:p14="http://schemas.microsoft.com/office/powerpoint/2010/main" p14:dur="380">
    <p:fade/>
  </p:transition>
</p:sld>
</file>

<file path=ppt/slides/slide2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SERVICE DECISION</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Databases and data durability: selection and controls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CHOOSE WHEN</a:t>
            </a:r>
          </a:p>
          <a:p>
            <a:pPr algn="l">
              <a:spcAft>
                <a:spcPts val="300"/>
              </a:spcAft>
            </a:pPr>
            <a:r>
              <a:rPr sz="1050" b="0">
                <a:solidFill>
                  <a:srgbClr val="5B6372"/>
                </a:solidFill>
                <a:latin typeface="Arial"/>
              </a:rPr>
              <a:t>Choose relational services for joins/transactions and DynamoDB for known key-access patterns at elastic scale; cache only where stale-data semantics are acceptable.</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DEVOPS ENGINEERING</a:t>
            </a:r>
          </a:p>
          <a:p>
            <a:pPr algn="l">
              <a:spcAft>
                <a:spcPts val="300"/>
              </a:spcAft>
            </a:pPr>
            <a:r>
              <a:rPr sz="1050" b="0">
                <a:solidFill>
                  <a:srgbClr val="5B6372"/>
                </a:solidFill>
                <a:latin typeface="Arial"/>
              </a:rPr>
              <a:t>Enable backups/PITR, test failover/restore, monitor connections/lag/throttling and version schema changes.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MODE</a:t>
            </a:r>
          </a:p>
          <a:p>
            <a:pPr algn="l">
              <a:spcAft>
                <a:spcPts val="300"/>
              </a:spcAft>
            </a:pPr>
            <a:r>
              <a:rPr sz="1050" b="0">
                <a:solidFill>
                  <a:srgbClr val="5B6372"/>
                </a:solidFill>
                <a:latin typeface="Arial"/>
              </a:rPr>
              <a:t>Confusing a read replica with a synchronous standby can produce an incorrect recovery design.</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EVIDENCE</a:t>
            </a:r>
          </a:p>
          <a:p>
            <a:pPr algn="l">
              <a:spcAft>
                <a:spcPts val="300"/>
              </a:spcAft>
            </a:pPr>
            <a:r>
              <a:rPr sz="1050" b="0">
                <a:solidFill>
                  <a:srgbClr val="5B6372"/>
                </a:solidFill>
                <a:latin typeface="Arial"/>
              </a:rPr>
              <a:t>Backup/PITR state, replication lag, failover time, throttles, query latency and restore validation.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280</a:t>
            </a:r>
          </a:p>
        </p:txBody>
      </p:sp>
    </p:spTree>
  </p:cSld>
  <p:clrMapOvr>
    <a:masterClrMapping/>
  </p:clrMapOvr>
  <p:transition xmlns:p14="http://schemas.microsoft.com/office/powerpoint/2010/main" p14:dur="380">
    <p:fade/>
  </p:transition>
</p:sld>
</file>

<file path=ppt/slides/slide2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VPC · TRANSIT GATEWAY · ROUTE 53 · CLOUDFRONT · GLOBAL ACCELERATOR</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AWS foundations: Networking and global delivery</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PURPOSE</a:t>
            </a:r>
          </a:p>
          <a:p>
            <a:pPr algn="l">
              <a:spcAft>
                <a:spcPts val="300"/>
              </a:spcAft>
            </a:pPr>
            <a:r>
              <a:rPr sz="1050" b="0">
                <a:solidFill>
                  <a:srgbClr val="5B6372"/>
                </a:solidFill>
                <a:latin typeface="Arial"/>
              </a:rPr>
              <a:t>Create isolated network boundaries, predictable routing and resilient regional/global traffic paths.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FEATURE 1</a:t>
            </a:r>
          </a:p>
          <a:p>
            <a:pPr algn="l">
              <a:spcAft>
                <a:spcPts val="300"/>
              </a:spcAft>
            </a:pPr>
            <a:r>
              <a:rPr sz="1050" b="0">
                <a:solidFill>
                  <a:srgbClr val="5B6372"/>
                </a:solidFill>
                <a:latin typeface="Arial"/>
              </a:rPr>
              <a:t>VPC subnets are AZ-scoped; route tables, gateways, security groups and NACLs shape connectivity.</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FEATURE 2</a:t>
            </a:r>
          </a:p>
          <a:p>
            <a:pPr algn="l">
              <a:spcAft>
                <a:spcPts val="300"/>
              </a:spcAft>
            </a:pPr>
            <a:r>
              <a:rPr sz="1050" b="0">
                <a:solidFill>
                  <a:srgbClr val="5B6372"/>
                </a:solidFill>
                <a:latin typeface="Arial"/>
              </a:rPr>
              <a:t>Transit Gateway provides hub-and-spoke routing across VPCs and on-premises connections.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FEATURE 3</a:t>
            </a:r>
          </a:p>
          <a:p>
            <a:pPr algn="l">
              <a:spcAft>
                <a:spcPts val="300"/>
              </a:spcAft>
            </a:pPr>
            <a:r>
              <a:rPr sz="1050" b="0">
                <a:solidFill>
                  <a:srgbClr val="5B6372"/>
                </a:solidFill>
                <a:latin typeface="Arial"/>
              </a:rPr>
              <a:t>Route 53 uses DNS policies/health checks; CloudFront caches HTTP content; Global Accelerator uses anycast static IPs over the AWS network.</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281</a:t>
            </a:r>
          </a:p>
        </p:txBody>
      </p:sp>
    </p:spTree>
  </p:cSld>
  <p:clrMapOvr>
    <a:masterClrMapping/>
  </p:clrMapOvr>
  <p:transition xmlns:p14="http://schemas.microsoft.com/office/powerpoint/2010/main" p14:dur="380">
    <p:fade/>
  </p:transition>
</p:sld>
</file>

<file path=ppt/slides/slide2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SERVICE DECISION</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Networking and global delivery: selection and controls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CHOOSE WHEN</a:t>
            </a:r>
          </a:p>
          <a:p>
            <a:pPr algn="l">
              <a:spcAft>
                <a:spcPts val="300"/>
              </a:spcAft>
            </a:pPr>
            <a:r>
              <a:rPr sz="1050" b="0">
                <a:solidFill>
                  <a:srgbClr val="5B6372"/>
                </a:solidFill>
                <a:latin typeface="Arial"/>
              </a:rPr>
              <a:t>Choose DNS routing for endpoint selection, CloudFront for cacheable edge delivery and Global Accelerator for fast failover/static global entry points.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DEVOPS ENGINEERING</a:t>
            </a:r>
          </a:p>
          <a:p>
            <a:pPr algn="l">
              <a:spcAft>
                <a:spcPts val="300"/>
              </a:spcAft>
            </a:pPr>
            <a:r>
              <a:rPr sz="1050" b="0">
                <a:solidFill>
                  <a:srgbClr val="5B6372"/>
                </a:solidFill>
                <a:latin typeface="Arial"/>
              </a:rPr>
              <a:t>Design CIDRs and routes centrally, use private endpoints where appropriate, test health-check perspective and log network decisions.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MODE</a:t>
            </a:r>
          </a:p>
          <a:p>
            <a:pPr algn="l">
              <a:spcAft>
                <a:spcPts val="300"/>
              </a:spcAft>
            </a:pPr>
            <a:r>
              <a:rPr sz="1050" b="0">
                <a:solidFill>
                  <a:srgbClr val="5B6372"/>
                </a:solidFill>
                <a:latin typeface="Arial"/>
              </a:rPr>
              <a:t>A healthy load balancer check may not prove dependencies, data freshness or the user transaction is healthy.</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EVIDENCE</a:t>
            </a:r>
          </a:p>
          <a:p>
            <a:pPr algn="l">
              <a:spcAft>
                <a:spcPts val="300"/>
              </a:spcAft>
            </a:pPr>
            <a:r>
              <a:rPr sz="1050" b="0">
                <a:solidFill>
                  <a:srgbClr val="5B6372"/>
                </a:solidFill>
                <a:latin typeface="Arial"/>
              </a:rPr>
              <a:t>Route table, security-group diff, flow log, endpoint policy, DNS answer, edge metric and failover measurement.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282</a:t>
            </a:r>
          </a:p>
        </p:txBody>
      </p:sp>
    </p:spTree>
  </p:cSld>
  <p:clrMapOvr>
    <a:masterClrMapping/>
  </p:clrMapOvr>
  <p:transition xmlns:p14="http://schemas.microsoft.com/office/powerpoint/2010/main" p14:dur="380">
    <p:fade/>
  </p:transition>
</p:sld>
</file>

<file path=ppt/slides/slide2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AWS DEVELOPER SERVICES</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500" b="1">
                <a:solidFill>
                  <a:srgbClr val="161B26"/>
                </a:solidFill>
                <a:latin typeface="Arial"/>
              </a:rPr>
              <a:t>Developer deep dive: EC2, Auto Scaling and Elastic Load Balancing</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PURPOSE</a:t>
            </a:r>
          </a:p>
          <a:p>
            <a:pPr algn="l">
              <a:spcAft>
                <a:spcPts val="300"/>
              </a:spcAft>
            </a:pPr>
            <a:r>
              <a:rPr sz="1050" b="0">
                <a:solidFill>
                  <a:srgbClr val="5B6372"/>
                </a:solidFill>
                <a:latin typeface="Arial"/>
              </a:rPr>
              <a:t>Build replaceable compute fleets whose capacity, routing and health behavior reflect the actual workload bottleneck.</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SERVICE BOUNDARY</a:t>
            </a:r>
          </a:p>
          <a:p>
            <a:pPr algn="l">
              <a:spcAft>
                <a:spcPts val="300"/>
              </a:spcAft>
            </a:pPr>
            <a:r>
              <a:rPr sz="1050" b="0">
                <a:solidFill>
                  <a:srgbClr val="5B6372"/>
                </a:solidFill>
                <a:latin typeface="Arial"/>
              </a:rPr>
              <a:t>EC2 · launch templates · Auto Scaling · ALB/NLB/GWLB</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PRIMARY DESIGN DECISION</a:t>
            </a:r>
          </a:p>
          <a:p>
            <a:pPr algn="l">
              <a:spcAft>
                <a:spcPts val="300"/>
              </a:spcAft>
            </a:pPr>
            <a:r>
              <a:rPr sz="1050" b="0">
                <a:solidFill>
                  <a:srgbClr val="5B6372"/>
                </a:solidFill>
                <a:latin typeface="Arial"/>
              </a:rPr>
              <a:t>Scale from backlog per instance, cap maximum capacity from database throughput, warm instances before service and test Spot interruption handling.</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BOUNDARY</a:t>
            </a:r>
          </a:p>
          <a:p>
            <a:pPr algn="l">
              <a:spcAft>
                <a:spcPts val="300"/>
              </a:spcAft>
            </a:pPr>
            <a:r>
              <a:rPr sz="1050" b="0">
                <a:solidFill>
                  <a:srgbClr val="5B6372"/>
                </a:solidFill>
                <a:latin typeface="Arial"/>
              </a:rPr>
              <a:t>CPU target tracking never reacts to the true bottleneck; immediate termination can abandon in-flight messages.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283</a:t>
            </a:r>
          </a:p>
        </p:txBody>
      </p:sp>
    </p:spTree>
  </p:cSld>
  <p:clrMapOvr>
    <a:masterClrMapping/>
  </p:clrMapOvr>
  <p:transition xmlns:p14="http://schemas.microsoft.com/office/powerpoint/2010/main" p14:dur="380">
    <p:fade/>
  </p:transition>
</p:sld>
</file>

<file path=ppt/slides/slide2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SERVICE MECHANICS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700" b="1">
                <a:solidFill>
                  <a:srgbClr val="161B26"/>
                </a:solidFill>
                <a:latin typeface="Arial"/>
              </a:rPr>
              <a:t>EC2, Auto Scaling and Elastic Load Balancing: how it works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1</a:t>
            </a:r>
          </a:p>
          <a:p>
            <a:pPr algn="l">
              <a:spcAft>
                <a:spcPts val="300"/>
              </a:spcAft>
            </a:pPr>
            <a:r>
              <a:rPr sz="1050" b="0">
                <a:solidFill>
                  <a:srgbClr val="5B6372"/>
                </a:solidFill>
                <a:latin typeface="Arial"/>
              </a:rPr>
              <a:t>Launch templates version AMI, instance type, IAM profile, network and user data; Auto Scaling groups should reference a controlled version rather than an accidental latest value.</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2</a:t>
            </a:r>
          </a:p>
          <a:p>
            <a:pPr algn="l">
              <a:spcAft>
                <a:spcPts val="300"/>
              </a:spcAft>
            </a:pPr>
            <a:r>
              <a:rPr sz="1050" b="0">
                <a:solidFill>
                  <a:srgbClr val="5B6372"/>
                </a:solidFill>
                <a:latin typeface="Arial"/>
              </a:rPr>
              <a:t>Target-tracking, step, predictive and scheduled scaling solve different demand patterns and must account for warm-up and downstream capacity.</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3</a:t>
            </a:r>
          </a:p>
          <a:p>
            <a:pPr algn="l">
              <a:spcAft>
                <a:spcPts val="300"/>
              </a:spcAft>
            </a:pPr>
            <a:r>
              <a:rPr sz="1050" b="0">
                <a:solidFill>
                  <a:srgbClr val="5B6372"/>
                </a:solidFill>
                <a:latin typeface="Arial"/>
              </a:rPr>
              <a:t>ALB routes HTTP/HTTPS using host, path and headers; NLB handles Layer 4 flows and static addresses; GWLB inserts compatible network appliances.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4</a:t>
            </a:r>
          </a:p>
          <a:p>
            <a:pPr algn="l">
              <a:spcAft>
                <a:spcPts val="300"/>
              </a:spcAft>
            </a:pPr>
            <a:r>
              <a:rPr sz="1050" b="0">
                <a:solidFill>
                  <a:srgbClr val="5B6372"/>
                </a:solidFill>
                <a:latin typeface="Arial"/>
              </a:rPr>
              <a:t>EC2, load-balancer and custom health checks serve different purposes; replacement should use the signal that best represents serviceability.</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284</a:t>
            </a:r>
          </a:p>
        </p:txBody>
      </p:sp>
    </p:spTree>
  </p:cSld>
  <p:clrMapOvr>
    <a:masterClrMapping/>
  </p:clrMapOvr>
  <p:transition xmlns:p14="http://schemas.microsoft.com/office/powerpoint/2010/main" p14:dur="380">
    <p:fade/>
  </p:transition>
</p:sld>
</file>

<file path=ppt/slides/slide2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CONTROL AND DATA FLOW</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500" b="1">
                <a:solidFill>
                  <a:srgbClr val="161B26"/>
                </a:solidFill>
                <a:latin typeface="Arial"/>
              </a:rPr>
              <a:t>EC2, Auto Scaling and Elastic Load Balancing: operating flow</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6354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79829"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982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Publish immutable AMI</a:t>
            </a:r>
          </a:p>
        </p:txBody>
      </p:sp>
      <p:sp>
        <p:nvSpPr>
          <p:cNvPr id="12" name="Rectangle 11"/>
          <p:cNvSpPr/>
          <p:nvPr/>
        </p:nvSpPr>
        <p:spPr>
          <a:xfrm>
            <a:off x="2969971"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69971" y="2148840"/>
            <a:ext cx="186354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572560"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72560"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6" name="TextBox 15"/>
          <p:cNvSpPr txBox="1"/>
          <p:nvPr/>
        </p:nvSpPr>
        <p:spPr>
          <a:xfrm>
            <a:off x="3088843"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Create launch-template version</a:t>
            </a:r>
          </a:p>
        </p:txBody>
      </p:sp>
      <p:sp>
        <p:nvSpPr>
          <p:cNvPr id="17" name="Rectangle 16"/>
          <p:cNvSpPr/>
          <p:nvPr/>
        </p:nvSpPr>
        <p:spPr>
          <a:xfrm>
            <a:off x="5162702"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62702" y="2148840"/>
            <a:ext cx="186354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765291"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6529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1" name="TextBox 20"/>
          <p:cNvSpPr txBox="1"/>
          <p:nvPr/>
        </p:nvSpPr>
        <p:spPr>
          <a:xfrm>
            <a:off x="5281574"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Start multi-AZ capacity</a:t>
            </a:r>
          </a:p>
        </p:txBody>
      </p:sp>
      <p:sp>
        <p:nvSpPr>
          <p:cNvPr id="22" name="Rectangle 21"/>
          <p:cNvSpPr/>
          <p:nvPr/>
        </p:nvSpPr>
        <p:spPr>
          <a:xfrm>
            <a:off x="7355433"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355433" y="2148840"/>
            <a:ext cx="186354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958022"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5802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6" name="TextBox 25"/>
          <p:cNvSpPr txBox="1"/>
          <p:nvPr/>
        </p:nvSpPr>
        <p:spPr>
          <a:xfrm>
            <a:off x="7474305"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Register healthy targets</a:t>
            </a:r>
          </a:p>
        </p:txBody>
      </p:sp>
      <p:sp>
        <p:nvSpPr>
          <p:cNvPr id="27" name="Rectangle 26"/>
          <p:cNvSpPr/>
          <p:nvPr/>
        </p:nvSpPr>
        <p:spPr>
          <a:xfrm>
            <a:off x="9548164"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548164" y="2148840"/>
            <a:ext cx="1863547" cy="914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50753" y="2532888"/>
            <a:ext cx="658368" cy="658368"/>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5075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5</a:t>
            </a:r>
          </a:p>
        </p:txBody>
      </p:sp>
      <p:sp>
        <p:nvSpPr>
          <p:cNvPr id="31" name="TextBox 30"/>
          <p:cNvSpPr txBox="1"/>
          <p:nvPr/>
        </p:nvSpPr>
        <p:spPr>
          <a:xfrm>
            <a:off x="9667036"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Scale from demand signal</a:t>
            </a:r>
          </a:p>
        </p:txBody>
      </p:sp>
      <p:cxnSp>
        <p:nvCxnSpPr>
          <p:cNvPr id="32" name="Connector 31"/>
          <p:cNvCxnSpPr/>
          <p:nvPr/>
        </p:nvCxnSpPr>
        <p:spPr>
          <a:xfrm>
            <a:off x="2640787"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83351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026249"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21898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10B981"/>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8" name="TextBox 3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9" name="TextBox 3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0" name="TextBox 3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285</a:t>
            </a:r>
          </a:p>
        </p:txBody>
      </p:sp>
    </p:spTree>
  </p:cSld>
  <p:clrMapOvr>
    <a:masterClrMapping/>
  </p:clrMapOvr>
  <p:transition xmlns:p14="http://schemas.microsoft.com/office/powerpoint/2010/main" p14:dur="380">
    <p:fade/>
  </p:transition>
</p:sld>
</file>

<file path=ppt/slides/slide2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CHOOSE DELIBERATELY</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300" b="1">
                <a:solidFill>
                  <a:srgbClr val="161B26"/>
                </a:solidFill>
                <a:latin typeface="Arial"/>
              </a:rPr>
              <a:t>EC2, Auto Scaling and Elastic Load Balancing: configuration decisions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PURCHASE</a:t>
            </a:r>
          </a:p>
          <a:p>
            <a:pPr algn="l">
              <a:spcAft>
                <a:spcPts val="300"/>
              </a:spcAft>
            </a:pPr>
            <a:r>
              <a:rPr sz="1050" b="0">
                <a:solidFill>
                  <a:srgbClr val="5B6372"/>
                </a:solidFill>
                <a:latin typeface="Arial"/>
              </a:rPr>
              <a:t>Combine On-Demand, Spot and commitments from interruption tolerance and baseline demand, not from unit price alone.</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SCALING METRIC</a:t>
            </a:r>
          </a:p>
          <a:p>
            <a:pPr algn="l">
              <a:spcAft>
                <a:spcPts val="300"/>
              </a:spcAft>
            </a:pPr>
            <a:r>
              <a:rPr sz="1050" b="0">
                <a:solidFill>
                  <a:srgbClr val="5B6372"/>
                </a:solidFill>
                <a:latin typeface="Arial"/>
              </a:rPr>
              <a:t>Use request count, queue depth or concurrency when CPU does not track the true saturation point.</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REFRESH</a:t>
            </a:r>
          </a:p>
          <a:p>
            <a:pPr algn="l">
              <a:spcAft>
                <a:spcPts val="300"/>
              </a:spcAft>
            </a:pPr>
            <a:r>
              <a:rPr sz="1050" b="0">
                <a:solidFill>
                  <a:srgbClr val="5B6372"/>
                </a:solidFill>
                <a:latin typeface="Arial"/>
              </a:rPr>
              <a:t>Use instance refresh with checkpoints and minimum healthy percentage for controlled fleet replacement.</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CONNECTION HANDLING</a:t>
            </a:r>
          </a:p>
          <a:p>
            <a:pPr algn="l">
              <a:spcAft>
                <a:spcPts val="300"/>
              </a:spcAft>
            </a:pPr>
            <a:r>
              <a:rPr sz="1050" b="0">
                <a:solidFill>
                  <a:srgbClr val="5B6372"/>
                </a:solidFill>
                <a:latin typeface="Arial"/>
              </a:rPr>
              <a:t>Set deregistration delay and application shutdown so in-flight work completes during replacement.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286</a:t>
            </a:r>
          </a:p>
        </p:txBody>
      </p:sp>
    </p:spTree>
  </p:cSld>
  <p:clrMapOvr>
    <a:masterClrMapping/>
  </p:clrMapOvr>
  <p:transition xmlns:p14="http://schemas.microsoft.com/office/powerpoint/2010/main" p14:dur="380">
    <p:fade/>
  </p:transition>
</p:sld>
</file>

<file path=ppt/slides/slide2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APPLIED ARCHITECTURE</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100" b="1">
                <a:solidFill>
                  <a:srgbClr val="161B26"/>
                </a:solidFill>
                <a:latin typeface="Arial"/>
              </a:rPr>
              <a:t>EC2, Auto Scaling and Elastic Load Balancing: worked architecture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SCENARIO</a:t>
            </a:r>
          </a:p>
          <a:p>
            <a:pPr algn="l">
              <a:spcAft>
                <a:spcPts val="300"/>
              </a:spcAft>
            </a:pPr>
            <a:r>
              <a:rPr sz="1050" b="0">
                <a:solidFill>
                  <a:srgbClr val="5B6372"/>
                </a:solidFill>
                <a:latin typeface="Arial"/>
              </a:rPr>
              <a:t>A queue worker fleet has low CPU but an increasing backlog and must recover without overwhelming the database.</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DESIGN DECISION</a:t>
            </a:r>
          </a:p>
          <a:p>
            <a:pPr algn="l">
              <a:spcAft>
                <a:spcPts val="300"/>
              </a:spcAft>
            </a:pPr>
            <a:r>
              <a:rPr sz="1050" b="0">
                <a:solidFill>
                  <a:srgbClr val="5B6372"/>
                </a:solidFill>
                <a:latin typeface="Arial"/>
              </a:rPr>
              <a:t>Scale from backlog per instance, cap maximum capacity from database throughput, warm instances before service and test Spot interruption handling.</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TO AVOID</a:t>
            </a:r>
          </a:p>
          <a:p>
            <a:pPr algn="l">
              <a:spcAft>
                <a:spcPts val="300"/>
              </a:spcAft>
            </a:pPr>
            <a:r>
              <a:rPr sz="1050" b="0">
                <a:solidFill>
                  <a:srgbClr val="5B6372"/>
                </a:solidFill>
                <a:latin typeface="Arial"/>
              </a:rPr>
              <a:t>CPU target tracking never reacts to the true bottleneck; immediate termination can abandon in-flight messages.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ACCEPTANCE EVIDENCE</a:t>
            </a:r>
          </a:p>
          <a:p>
            <a:pPr algn="l">
              <a:spcAft>
                <a:spcPts val="300"/>
              </a:spcAft>
            </a:pPr>
            <a:r>
              <a:rPr sz="1050" b="0">
                <a:solidFill>
                  <a:srgbClr val="5B6372"/>
                </a:solidFill>
                <a:latin typeface="Arial"/>
              </a:rPr>
              <a:t>Launch-template version, healthy targets, scaling activity, backlog age, database saturation and graceful termination evidence.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287</a:t>
            </a:r>
          </a:p>
        </p:txBody>
      </p:sp>
    </p:spTree>
  </p:cSld>
  <p:clrMapOvr>
    <a:masterClrMapping/>
  </p:clrMapOvr>
  <p:transition xmlns:p14="http://schemas.microsoft.com/office/powerpoint/2010/main" p14:dur="380">
    <p:fade/>
  </p:transition>
</p:sld>
</file>

<file path=ppt/slides/slide2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AWS DEVELOPER SERVICES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Developer deep dive: S3, EBS and shared file storage</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PURPOSE</a:t>
            </a:r>
          </a:p>
          <a:p>
            <a:pPr algn="l">
              <a:spcAft>
                <a:spcPts val="300"/>
              </a:spcAft>
            </a:pPr>
            <a:r>
              <a:rPr sz="1050" b="0">
                <a:solidFill>
                  <a:srgbClr val="5B6372"/>
                </a:solidFill>
                <a:latin typeface="Arial"/>
              </a:rPr>
              <a:t>Choose object, block or file semantics from access pattern, failure boundary, performance and recovery requirements.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SERVICE BOUNDARY</a:t>
            </a:r>
          </a:p>
          <a:p>
            <a:pPr algn="l">
              <a:spcAft>
                <a:spcPts val="300"/>
              </a:spcAft>
            </a:pPr>
            <a:r>
              <a:rPr sz="1050" b="0">
                <a:solidFill>
                  <a:srgbClr val="5B6372"/>
                </a:solidFill>
                <a:latin typeface="Arial"/>
              </a:rPr>
              <a:t>S3 · EBS · EFS · FSx · AWS Backup</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PRIMARY DESIGN DECISION</a:t>
            </a:r>
          </a:p>
          <a:p>
            <a:pPr algn="l">
              <a:spcAft>
                <a:spcPts val="300"/>
              </a:spcAft>
            </a:pPr>
            <a:r>
              <a:rPr sz="1050" b="0">
                <a:solidFill>
                  <a:srgbClr val="5B6372"/>
                </a:solidFill>
                <a:latin typeface="Arial"/>
              </a:rPr>
              <a:t>Use regional EFS with mount targets across application AZs, encrypted transit/storage and independent AWS Backup policy with restore testing.</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BOUNDARY</a:t>
            </a:r>
          </a:p>
          <a:p>
            <a:pPr algn="l">
              <a:spcAft>
                <a:spcPts val="300"/>
              </a:spcAft>
            </a:pPr>
            <a:r>
              <a:rPr sz="1050" b="0">
                <a:solidFill>
                  <a:srgbClr val="5B6372"/>
                </a:solidFill>
                <a:latin typeface="Arial"/>
              </a:rPr>
              <a:t>An EBS volume cannot attach across AZs as shared NFS; replication alone may reproduce deletion or corruption.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288</a:t>
            </a:r>
          </a:p>
        </p:txBody>
      </p:sp>
    </p:spTree>
  </p:cSld>
  <p:clrMapOvr>
    <a:masterClrMapping/>
  </p:clrMapOvr>
  <p:transition xmlns:p14="http://schemas.microsoft.com/office/powerpoint/2010/main" p14:dur="380">
    <p:fade/>
  </p:transition>
</p:sld>
</file>

<file path=ppt/slides/slide2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SERVICE MECHANICS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S3, EBS and shared file storage: how it works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1</a:t>
            </a:r>
          </a:p>
          <a:p>
            <a:pPr algn="l">
              <a:spcAft>
                <a:spcPts val="300"/>
              </a:spcAft>
            </a:pPr>
            <a:r>
              <a:rPr sz="1050" b="0">
                <a:solidFill>
                  <a:srgbClr val="5B6372"/>
                </a:solidFill>
                <a:latin typeface="Arial"/>
              </a:rPr>
              <a:t>S3 stores objects in regional buckets with versioning, lifecycle, replication, event notification and multiple storage classes; consistency does not remove application concurrency concerns.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2</a:t>
            </a:r>
          </a:p>
          <a:p>
            <a:pPr algn="l">
              <a:spcAft>
                <a:spcPts val="300"/>
              </a:spcAft>
            </a:pPr>
            <a:r>
              <a:rPr sz="1050" b="0">
                <a:solidFill>
                  <a:srgbClr val="5B6372"/>
                </a:solidFill>
                <a:latin typeface="Arial"/>
              </a:rPr>
              <a:t>EBS is AZ-scoped block storage; gp3 separates baseline size from provisioned IOPS/throughput, while io2 targets sustained high IOPS and durability requirements.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3</a:t>
            </a:r>
          </a:p>
          <a:p>
            <a:pPr algn="l">
              <a:spcAft>
                <a:spcPts val="300"/>
              </a:spcAft>
            </a:pPr>
            <a:r>
              <a:rPr sz="1050" b="0">
                <a:solidFill>
                  <a:srgbClr val="5B6372"/>
                </a:solidFill>
                <a:latin typeface="Arial"/>
              </a:rPr>
              <a:t>EFS provides regional NFS with mount targets and performance/throughput modes; access points isolate application paths and POSIX identities.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4</a:t>
            </a:r>
          </a:p>
          <a:p>
            <a:pPr algn="l">
              <a:spcAft>
                <a:spcPts val="300"/>
              </a:spcAft>
            </a:pPr>
            <a:r>
              <a:rPr sz="1050" b="0">
                <a:solidFill>
                  <a:srgbClr val="5B6372"/>
                </a:solidFill>
                <a:latin typeface="Arial"/>
              </a:rPr>
              <a:t>FSx families expose workload-specific file protocols and performance, while AWS Backup centralizes policy, vault and copy workflows across supported services.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289</a:t>
            </a:r>
          </a:p>
        </p:txBody>
      </p:sp>
    </p:spTree>
  </p:cSld>
  <p:clrMapOvr>
    <a:masterClrMapping/>
  </p:clrMapOvr>
  <p:transition xmlns:p14="http://schemas.microsoft.com/office/powerpoint/2010/main" p14:dur="380">
    <p:fade/>
  </p:transition>
</p:sld>
</file>

<file path=ppt/slides/slide2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CONTROL AND DATA FLOW</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S3, EBS and shared file storage: operating flow</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6354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79829"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982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Classify protocol and sharing</a:t>
            </a:r>
          </a:p>
        </p:txBody>
      </p:sp>
      <p:sp>
        <p:nvSpPr>
          <p:cNvPr id="12" name="Rectangle 11"/>
          <p:cNvSpPr/>
          <p:nvPr/>
        </p:nvSpPr>
        <p:spPr>
          <a:xfrm>
            <a:off x="2969971"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69971" y="2148840"/>
            <a:ext cx="186354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572560"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72560"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6" name="TextBox 15"/>
          <p:cNvSpPr txBox="1"/>
          <p:nvPr/>
        </p:nvSpPr>
        <p:spPr>
          <a:xfrm>
            <a:off x="3088843"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Select performance tier</a:t>
            </a:r>
          </a:p>
        </p:txBody>
      </p:sp>
      <p:sp>
        <p:nvSpPr>
          <p:cNvPr id="17" name="Rectangle 16"/>
          <p:cNvSpPr/>
          <p:nvPr/>
        </p:nvSpPr>
        <p:spPr>
          <a:xfrm>
            <a:off x="5162702"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62702" y="2148840"/>
            <a:ext cx="186354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765291"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6529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1" name="TextBox 20"/>
          <p:cNvSpPr txBox="1"/>
          <p:nvPr/>
        </p:nvSpPr>
        <p:spPr>
          <a:xfrm>
            <a:off x="5281574"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Encrypt and version</a:t>
            </a:r>
          </a:p>
        </p:txBody>
      </p:sp>
      <p:sp>
        <p:nvSpPr>
          <p:cNvPr id="22" name="Rectangle 21"/>
          <p:cNvSpPr/>
          <p:nvPr/>
        </p:nvSpPr>
        <p:spPr>
          <a:xfrm>
            <a:off x="7355433"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355433" y="2148840"/>
            <a:ext cx="186354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958022"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5802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6" name="TextBox 25"/>
          <p:cNvSpPr txBox="1"/>
          <p:nvPr/>
        </p:nvSpPr>
        <p:spPr>
          <a:xfrm>
            <a:off x="7474305"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Automate lifecycle or backup</a:t>
            </a:r>
          </a:p>
        </p:txBody>
      </p:sp>
      <p:sp>
        <p:nvSpPr>
          <p:cNvPr id="27" name="Rectangle 26"/>
          <p:cNvSpPr/>
          <p:nvPr/>
        </p:nvSpPr>
        <p:spPr>
          <a:xfrm>
            <a:off x="9548164"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548164" y="2148840"/>
            <a:ext cx="1863547" cy="914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50753" y="2532888"/>
            <a:ext cx="658368" cy="658368"/>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5075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5</a:t>
            </a:r>
          </a:p>
        </p:txBody>
      </p:sp>
      <p:sp>
        <p:nvSpPr>
          <p:cNvPr id="31" name="TextBox 30"/>
          <p:cNvSpPr txBox="1"/>
          <p:nvPr/>
        </p:nvSpPr>
        <p:spPr>
          <a:xfrm>
            <a:off x="9667036"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Restore and measure RPO/RTO</a:t>
            </a:r>
          </a:p>
        </p:txBody>
      </p:sp>
      <p:cxnSp>
        <p:nvCxnSpPr>
          <p:cNvPr id="32" name="Connector 31"/>
          <p:cNvCxnSpPr/>
          <p:nvPr/>
        </p:nvCxnSpPr>
        <p:spPr>
          <a:xfrm>
            <a:off x="2640787"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83351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026249"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21898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10B981"/>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8" name="TextBox 3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9" name="TextBox 3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0" name="TextBox 3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290</a:t>
            </a:r>
          </a:p>
        </p:txBody>
      </p:sp>
    </p:spTree>
  </p:cSld>
  <p:clrMapOvr>
    <a:masterClrMapping/>
  </p:clrMapOvr>
  <p:transition xmlns:p14="http://schemas.microsoft.com/office/powerpoint/2010/main" p14:dur="380">
    <p:fade/>
  </p:transition>
</p:sld>
</file>

<file path=ppt/slides/slide2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CHOOSE DELIBERATELY</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700" b="1">
                <a:solidFill>
                  <a:srgbClr val="161B26"/>
                </a:solidFill>
                <a:latin typeface="Arial"/>
              </a:rPr>
              <a:t>S3, EBS and shared file storage: configuration decisions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S3 PROTECTION</a:t>
            </a:r>
          </a:p>
          <a:p>
            <a:pPr algn="l">
              <a:spcAft>
                <a:spcPts val="300"/>
              </a:spcAft>
            </a:pPr>
            <a:r>
              <a:rPr sz="1050" b="0">
                <a:solidFill>
                  <a:srgbClr val="5B6372"/>
                </a:solidFill>
                <a:latin typeface="Arial"/>
              </a:rPr>
              <a:t>Enable Block Public Access, least-privilege bucket policy, versioning and Object Lock where retention requires immutability.</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EBS RECOVERY</a:t>
            </a:r>
          </a:p>
          <a:p>
            <a:pPr algn="l">
              <a:spcAft>
                <a:spcPts val="300"/>
              </a:spcAft>
            </a:pPr>
            <a:r>
              <a:rPr sz="1050" b="0">
                <a:solidFill>
                  <a:srgbClr val="5B6372"/>
                </a:solidFill>
                <a:latin typeface="Arial"/>
              </a:rPr>
              <a:t>Use application-consistent snapshots where necessary and copy/encrypt across account or Region for isolation.</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EFS DESIGN</a:t>
            </a:r>
          </a:p>
          <a:p>
            <a:pPr algn="l">
              <a:spcAft>
                <a:spcPts val="300"/>
              </a:spcAft>
            </a:pPr>
            <a:r>
              <a:rPr sz="1050" b="0">
                <a:solidFill>
                  <a:srgbClr val="5B6372"/>
                </a:solidFill>
                <a:latin typeface="Arial"/>
              </a:rPr>
              <a:t>Create mount targets in required AZs, secure NFS traffic and choose lifecycle policies from measured access.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BACKUP</a:t>
            </a:r>
          </a:p>
          <a:p>
            <a:pPr algn="l">
              <a:spcAft>
                <a:spcPts val="300"/>
              </a:spcAft>
            </a:pPr>
            <a:r>
              <a:rPr sz="1050" b="0">
                <a:solidFill>
                  <a:srgbClr val="5B6372"/>
                </a:solidFill>
                <a:latin typeface="Arial"/>
              </a:rPr>
              <a:t>Separate backup administration and vault permissions so workload compromise cannot delete every recovery point.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291</a:t>
            </a:r>
          </a:p>
        </p:txBody>
      </p:sp>
    </p:spTree>
  </p:cSld>
  <p:clrMapOvr>
    <a:masterClrMapping/>
  </p:clrMapOvr>
  <p:transition xmlns:p14="http://schemas.microsoft.com/office/powerpoint/2010/main" p14:dur="380">
    <p:fade/>
  </p:transition>
</p:sld>
</file>

<file path=ppt/slides/slide2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APPLIED ARCHITECTURE</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500" b="1">
                <a:solidFill>
                  <a:srgbClr val="161B26"/>
                </a:solidFill>
                <a:latin typeface="Arial"/>
              </a:rPr>
              <a:t>S3, EBS and shared file storage: worked architecture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SCENARIO</a:t>
            </a:r>
          </a:p>
          <a:p>
            <a:pPr algn="l">
              <a:spcAft>
                <a:spcPts val="300"/>
              </a:spcAft>
            </a:pPr>
            <a:r>
              <a:rPr sz="1050" b="0">
                <a:solidFill>
                  <a:srgbClr val="5B6372"/>
                </a:solidFill>
                <a:latin typeface="Arial"/>
              </a:rPr>
              <a:t>A shared application volume must survive one AZ failure and retain recoverable versions against accidental deletion.</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DESIGN DECISION</a:t>
            </a:r>
          </a:p>
          <a:p>
            <a:pPr algn="l">
              <a:spcAft>
                <a:spcPts val="300"/>
              </a:spcAft>
            </a:pPr>
            <a:r>
              <a:rPr sz="1050" b="0">
                <a:solidFill>
                  <a:srgbClr val="5B6372"/>
                </a:solidFill>
                <a:latin typeface="Arial"/>
              </a:rPr>
              <a:t>Use regional EFS with mount targets across application AZs, encrypted transit/storage and independent AWS Backup policy with restore testing.</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TO AVOID</a:t>
            </a:r>
          </a:p>
          <a:p>
            <a:pPr algn="l">
              <a:spcAft>
                <a:spcPts val="300"/>
              </a:spcAft>
            </a:pPr>
            <a:r>
              <a:rPr sz="1050" b="0">
                <a:solidFill>
                  <a:srgbClr val="5B6372"/>
                </a:solidFill>
                <a:latin typeface="Arial"/>
              </a:rPr>
              <a:t>An EBS volume cannot attach across AZs as shared NFS; replication alone may reproduce deletion or corruption.</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ACCEPTANCE EVIDENCE</a:t>
            </a:r>
          </a:p>
          <a:p>
            <a:pPr algn="l">
              <a:spcAft>
                <a:spcPts val="300"/>
              </a:spcAft>
            </a:pPr>
            <a:r>
              <a:rPr sz="1050" b="0">
                <a:solidFill>
                  <a:srgbClr val="5B6372"/>
                </a:solidFill>
                <a:latin typeface="Arial"/>
              </a:rPr>
              <a:t>Storage configuration, encryption key, version/snapshot, backup job, vault policy, restore checksum and recovery timing.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292</a:t>
            </a:r>
          </a:p>
        </p:txBody>
      </p:sp>
    </p:spTree>
  </p:cSld>
  <p:clrMapOvr>
    <a:masterClrMapping/>
  </p:clrMapOvr>
  <p:transition xmlns:p14="http://schemas.microsoft.com/office/powerpoint/2010/main" p14:dur="380">
    <p:fade/>
  </p:transition>
</p:sld>
</file>

<file path=ppt/slides/slide2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AWS DEVELOPER SERVICES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700" b="1">
                <a:solidFill>
                  <a:srgbClr val="161B26"/>
                </a:solidFill>
                <a:latin typeface="Arial"/>
              </a:rPr>
              <a:t>Developer deep dive: RDS, Aurora and ElastiCache data tiers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PURPOSE</a:t>
            </a:r>
          </a:p>
          <a:p>
            <a:pPr algn="l">
              <a:spcAft>
                <a:spcPts val="300"/>
              </a:spcAft>
            </a:pPr>
            <a:r>
              <a:rPr sz="1050" b="0">
                <a:solidFill>
                  <a:srgbClr val="5B6372"/>
                </a:solidFill>
                <a:latin typeface="Arial"/>
              </a:rPr>
              <a:t>Provide transactional persistence and caching while distinguishing availability, read scaling, connection management and disaster recovery.</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SERVICE BOUNDARY</a:t>
            </a:r>
          </a:p>
          <a:p>
            <a:pPr algn="l">
              <a:spcAft>
                <a:spcPts val="300"/>
              </a:spcAft>
            </a:pPr>
            <a:r>
              <a:rPr sz="1050" b="0">
                <a:solidFill>
                  <a:srgbClr val="5B6372"/>
                </a:solidFill>
                <a:latin typeface="Arial"/>
              </a:rPr>
              <a:t>RDS · Aurora · RDS Proxy · ElastiCache</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PRIMARY DESIGN DECISION</a:t>
            </a:r>
          </a:p>
          <a:p>
            <a:pPr algn="l">
              <a:spcAft>
                <a:spcPts val="300"/>
              </a:spcAft>
            </a:pPr>
            <a:r>
              <a:rPr sz="1050" b="0">
                <a:solidFill>
                  <a:srgbClr val="5B6372"/>
                </a:solidFill>
                <a:latin typeface="Arial"/>
              </a:rPr>
              <a:t>Keep writes on the relational writer, add RDS Proxy for pooled connections, direct safe reads to replicas and cache only explicitly stale-tolerant data.</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BOUNDARY</a:t>
            </a:r>
          </a:p>
          <a:p>
            <a:pPr algn="l">
              <a:spcAft>
                <a:spcPts val="300"/>
              </a:spcAft>
            </a:pPr>
            <a:r>
              <a:rPr sz="1050" b="0">
                <a:solidFill>
                  <a:srgbClr val="5B6372"/>
                </a:solidFill>
                <a:latin typeface="Arial"/>
              </a:rPr>
              <a:t>Caching transaction state or treating replica reads as immediately current creates correctness defects hidden by low latency.</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293</a:t>
            </a:r>
          </a:p>
        </p:txBody>
      </p:sp>
    </p:spTree>
  </p:cSld>
  <p:clrMapOvr>
    <a:masterClrMapping/>
  </p:clrMapOvr>
  <p:transition xmlns:p14="http://schemas.microsoft.com/office/powerpoint/2010/main" p14:dur="380">
    <p:fade/>
  </p:transition>
</p:sld>
</file>

<file path=ppt/slides/slide2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SERVICE MECHANICS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RDS, Aurora and ElastiCache data tiers: how it works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1</a:t>
            </a:r>
          </a:p>
          <a:p>
            <a:pPr algn="l">
              <a:spcAft>
                <a:spcPts val="300"/>
              </a:spcAft>
            </a:pPr>
            <a:r>
              <a:rPr sz="1050" b="0">
                <a:solidFill>
                  <a:srgbClr val="5B6372"/>
                </a:solidFill>
                <a:latin typeface="Arial"/>
              </a:rPr>
              <a:t>RDS Multi-AZ deployments provide synchronous standby behavior for availability; read replicas are asynchronous and primarily serve read scaling or DR patterns.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2</a:t>
            </a:r>
          </a:p>
          <a:p>
            <a:pPr algn="l">
              <a:spcAft>
                <a:spcPts val="300"/>
              </a:spcAft>
            </a:pPr>
            <a:r>
              <a:rPr sz="1050" b="0">
                <a:solidFill>
                  <a:srgbClr val="5B6372"/>
                </a:solidFill>
                <a:latin typeface="Arial"/>
              </a:rPr>
              <a:t>Aurora separates distributed storage from compute, exposes writer and reader endpoints and can add Global Database for cross-Region read and recovery designs.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3</a:t>
            </a:r>
          </a:p>
          <a:p>
            <a:pPr algn="l">
              <a:spcAft>
                <a:spcPts val="300"/>
              </a:spcAft>
            </a:pPr>
            <a:r>
              <a:rPr sz="1050" b="0">
                <a:solidFill>
                  <a:srgbClr val="5B6372"/>
                </a:solidFill>
                <a:latin typeface="Arial"/>
              </a:rPr>
              <a:t>RDS Proxy pools connections and can protect databases from serverless connection storms while integrating with IAM or Secrets Manager authentication.</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4</a:t>
            </a:r>
          </a:p>
          <a:p>
            <a:pPr algn="l">
              <a:spcAft>
                <a:spcPts val="300"/>
              </a:spcAft>
            </a:pPr>
            <a:r>
              <a:rPr sz="1050" b="0">
                <a:solidFill>
                  <a:srgbClr val="5B6372"/>
                </a:solidFill>
                <a:latin typeface="Arial"/>
              </a:rPr>
              <a:t>ElastiCache for Redis/Valkey or Memcached changes latency and load but introduces eviction, expiry and stale-data semantics that the application must own.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294</a:t>
            </a:r>
          </a:p>
        </p:txBody>
      </p:sp>
    </p:spTree>
  </p:cSld>
  <p:clrMapOvr>
    <a:masterClrMapping/>
  </p:clrMapOvr>
  <p:transition xmlns:p14="http://schemas.microsoft.com/office/powerpoint/2010/main" p14:dur="380">
    <p:fade/>
  </p:transition>
</p:sld>
</file>

<file path=ppt/slides/slide2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CONTROL AND DATA FLOW</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RDS, Aurora and ElastiCache data tiers: operating flow</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6354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79829"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982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Model transaction and read pattern</a:t>
            </a:r>
          </a:p>
        </p:txBody>
      </p:sp>
      <p:sp>
        <p:nvSpPr>
          <p:cNvPr id="12" name="Rectangle 11"/>
          <p:cNvSpPr/>
          <p:nvPr/>
        </p:nvSpPr>
        <p:spPr>
          <a:xfrm>
            <a:off x="2969971"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69971" y="2148840"/>
            <a:ext cx="186354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572560"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72560"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6" name="TextBox 15"/>
          <p:cNvSpPr txBox="1"/>
          <p:nvPr/>
        </p:nvSpPr>
        <p:spPr>
          <a:xfrm>
            <a:off x="3088843"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Select HA topology</a:t>
            </a:r>
          </a:p>
        </p:txBody>
      </p:sp>
      <p:sp>
        <p:nvSpPr>
          <p:cNvPr id="17" name="Rectangle 16"/>
          <p:cNvSpPr/>
          <p:nvPr/>
        </p:nvSpPr>
        <p:spPr>
          <a:xfrm>
            <a:off x="5162702"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62702" y="2148840"/>
            <a:ext cx="186354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765291"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6529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1" name="TextBox 20"/>
          <p:cNvSpPr txBox="1"/>
          <p:nvPr/>
        </p:nvSpPr>
        <p:spPr>
          <a:xfrm>
            <a:off x="5281574"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Control connections</a:t>
            </a:r>
          </a:p>
        </p:txBody>
      </p:sp>
      <p:sp>
        <p:nvSpPr>
          <p:cNvPr id="22" name="Rectangle 21"/>
          <p:cNvSpPr/>
          <p:nvPr/>
        </p:nvSpPr>
        <p:spPr>
          <a:xfrm>
            <a:off x="7355433"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355433" y="2148840"/>
            <a:ext cx="186354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958022"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5802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6" name="TextBox 25"/>
          <p:cNvSpPr txBox="1"/>
          <p:nvPr/>
        </p:nvSpPr>
        <p:spPr>
          <a:xfrm>
            <a:off x="7474305"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Add cache deliberately</a:t>
            </a:r>
          </a:p>
        </p:txBody>
      </p:sp>
      <p:sp>
        <p:nvSpPr>
          <p:cNvPr id="27" name="Rectangle 26"/>
          <p:cNvSpPr/>
          <p:nvPr/>
        </p:nvSpPr>
        <p:spPr>
          <a:xfrm>
            <a:off x="9548164"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548164" y="2148840"/>
            <a:ext cx="1863547" cy="914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50753" y="2532888"/>
            <a:ext cx="658368" cy="658368"/>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5075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5</a:t>
            </a:r>
          </a:p>
        </p:txBody>
      </p:sp>
      <p:sp>
        <p:nvSpPr>
          <p:cNvPr id="31" name="TextBox 30"/>
          <p:cNvSpPr txBox="1"/>
          <p:nvPr/>
        </p:nvSpPr>
        <p:spPr>
          <a:xfrm>
            <a:off x="9667036"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Back up, fail over and restore</a:t>
            </a:r>
          </a:p>
        </p:txBody>
      </p:sp>
      <p:cxnSp>
        <p:nvCxnSpPr>
          <p:cNvPr id="32" name="Connector 31"/>
          <p:cNvCxnSpPr/>
          <p:nvPr/>
        </p:nvCxnSpPr>
        <p:spPr>
          <a:xfrm>
            <a:off x="2640787"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83351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026249"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21898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10B981"/>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8" name="TextBox 3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9" name="TextBox 3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0" name="TextBox 3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295</a:t>
            </a:r>
          </a:p>
        </p:txBody>
      </p:sp>
    </p:spTree>
  </p:cSld>
  <p:clrMapOvr>
    <a:masterClrMapping/>
  </p:clrMapOvr>
  <p:transition xmlns:p14="http://schemas.microsoft.com/office/powerpoint/2010/main" p14:dur="380">
    <p:fade/>
  </p:transition>
</p:sld>
</file>

<file path=ppt/slides/slide2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CHOOSE DELIBERATELY</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500" b="1">
                <a:solidFill>
                  <a:srgbClr val="161B26"/>
                </a:solidFill>
                <a:latin typeface="Arial"/>
              </a:rPr>
              <a:t>RDS, Aurora and ElastiCache data tiers: configuration decisions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STANDBY VS REPLICA</a:t>
            </a:r>
          </a:p>
          <a:p>
            <a:pPr algn="l">
              <a:spcAft>
                <a:spcPts val="300"/>
              </a:spcAft>
            </a:pPr>
            <a:r>
              <a:rPr sz="1050" b="0">
                <a:solidFill>
                  <a:srgbClr val="5B6372"/>
                </a:solidFill>
                <a:latin typeface="Arial"/>
              </a:rPr>
              <a:t>Use Multi-AZ for service continuity and replicas for read capacity; do not claim a replica is synchronous unless the selected architecture provides it.</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CREDENTIALS</a:t>
            </a:r>
          </a:p>
          <a:p>
            <a:pPr algn="l">
              <a:spcAft>
                <a:spcPts val="300"/>
              </a:spcAft>
            </a:pPr>
            <a:r>
              <a:rPr sz="1050" b="0">
                <a:solidFill>
                  <a:srgbClr val="5B6372"/>
                </a:solidFill>
                <a:latin typeface="Arial"/>
              </a:rPr>
              <a:t>Store and rotate database secrets or use IAM authentication where supported; keep credentials out of application packages.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CACHE POLICY</a:t>
            </a:r>
          </a:p>
          <a:p>
            <a:pPr algn="l">
              <a:spcAft>
                <a:spcPts val="300"/>
              </a:spcAft>
            </a:pPr>
            <a:r>
              <a:rPr sz="1050" b="0">
                <a:solidFill>
                  <a:srgbClr val="5B6372"/>
                </a:solidFill>
                <a:latin typeface="Arial"/>
              </a:rPr>
              <a:t>Choose cache-aside, write-through or other behavior with explicit TTL, invalidation and failure fallback.</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SCHEMA CHANGE</a:t>
            </a:r>
          </a:p>
          <a:p>
            <a:pPr algn="l">
              <a:spcAft>
                <a:spcPts val="300"/>
              </a:spcAft>
            </a:pPr>
            <a:r>
              <a:rPr sz="1050" b="0">
                <a:solidFill>
                  <a:srgbClr val="5B6372"/>
                </a:solidFill>
                <a:latin typeface="Arial"/>
              </a:rPr>
              <a:t>Use backward-compatible expansion and contraction so application and database versions can overlap during deployment.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296</a:t>
            </a:r>
          </a:p>
        </p:txBody>
      </p:sp>
    </p:spTree>
  </p:cSld>
  <p:clrMapOvr>
    <a:masterClrMapping/>
  </p:clrMapOvr>
  <p:transition xmlns:p14="http://schemas.microsoft.com/office/powerpoint/2010/main" p14:dur="380">
    <p:fade/>
  </p:transition>
</p:sld>
</file>

<file path=ppt/slides/slide2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APPLIED ARCHITECTURE</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300" b="1">
                <a:solidFill>
                  <a:srgbClr val="161B26"/>
                </a:solidFill>
                <a:latin typeface="Arial"/>
              </a:rPr>
              <a:t>RDS, Aurora and ElastiCache data tiers: worked architecture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SCENARIO</a:t>
            </a:r>
          </a:p>
          <a:p>
            <a:pPr algn="l">
              <a:spcAft>
                <a:spcPts val="300"/>
              </a:spcAft>
            </a:pPr>
            <a:r>
              <a:rPr sz="1050" b="0">
                <a:solidFill>
                  <a:srgbClr val="5B6372"/>
                </a:solidFill>
                <a:latin typeface="Arial"/>
              </a:rPr>
              <a:t>A Lambda workload causes connection spikes and read latency during release, but writes must remain strongly transactional.</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DESIGN DECISION</a:t>
            </a:r>
          </a:p>
          <a:p>
            <a:pPr algn="l">
              <a:spcAft>
                <a:spcPts val="300"/>
              </a:spcAft>
            </a:pPr>
            <a:r>
              <a:rPr sz="1050" b="0">
                <a:solidFill>
                  <a:srgbClr val="5B6372"/>
                </a:solidFill>
                <a:latin typeface="Arial"/>
              </a:rPr>
              <a:t>Keep writes on the relational writer, add RDS Proxy for pooled connections, direct safe reads to replicas and cache only explicitly stale-tolerant data.</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TO AVOID</a:t>
            </a:r>
          </a:p>
          <a:p>
            <a:pPr algn="l">
              <a:spcAft>
                <a:spcPts val="300"/>
              </a:spcAft>
            </a:pPr>
            <a:r>
              <a:rPr sz="1050" b="0">
                <a:solidFill>
                  <a:srgbClr val="5B6372"/>
                </a:solidFill>
                <a:latin typeface="Arial"/>
              </a:rPr>
              <a:t>Caching transaction state or treating replica reads as immediately current creates correctness defects hidden by low latency.</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ACCEPTANCE EVIDENCE</a:t>
            </a:r>
          </a:p>
          <a:p>
            <a:pPr algn="l">
              <a:spcAft>
                <a:spcPts val="300"/>
              </a:spcAft>
            </a:pPr>
            <a:r>
              <a:rPr sz="1050" b="0">
                <a:solidFill>
                  <a:srgbClr val="5B6372"/>
                </a:solidFill>
                <a:latin typeface="Arial"/>
              </a:rPr>
              <a:t>Connection count, replica lag, failover event, cache hit/eviction, query latency, backup status and restore validation.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297</a:t>
            </a:r>
          </a:p>
        </p:txBody>
      </p:sp>
    </p:spTree>
  </p:cSld>
  <p:clrMapOvr>
    <a:masterClrMapping/>
  </p:clrMapOvr>
  <p:transition xmlns:p14="http://schemas.microsoft.com/office/powerpoint/2010/main" p14:dur="380">
    <p:fade/>
  </p:transition>
</p:sld>
</file>

<file path=ppt/slides/slide2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AWS DEVELOPER SERVICES</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300" b="1">
                <a:solidFill>
                  <a:srgbClr val="161B26"/>
                </a:solidFill>
                <a:latin typeface="Arial"/>
              </a:rPr>
              <a:t>Developer deep dive: DynamoDB keys, capacity and change streams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PURPOSE</a:t>
            </a:r>
          </a:p>
          <a:p>
            <a:pPr algn="l">
              <a:spcAft>
                <a:spcPts val="300"/>
              </a:spcAft>
            </a:pPr>
            <a:r>
              <a:rPr sz="1050" b="0">
                <a:solidFill>
                  <a:srgbClr val="5B6372"/>
                </a:solidFill>
                <a:latin typeface="Arial"/>
              </a:rPr>
              <a:t>Design key-value workloads from access patterns, partition distribution and consistency requirements before writing application code.</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SERVICE BOUNDARY</a:t>
            </a:r>
          </a:p>
          <a:p>
            <a:pPr algn="l">
              <a:spcAft>
                <a:spcPts val="300"/>
              </a:spcAft>
            </a:pPr>
            <a:r>
              <a:rPr sz="1050" b="0">
                <a:solidFill>
                  <a:srgbClr val="5B6372"/>
                </a:solidFill>
                <a:latin typeface="Arial"/>
              </a:rPr>
              <a:t>DynamoDB · Streams · DAX · global tables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PRIMARY DESIGN DECISION</a:t>
            </a:r>
          </a:p>
          <a:p>
            <a:pPr algn="l">
              <a:spcAft>
                <a:spcPts val="300"/>
              </a:spcAft>
            </a:pPr>
            <a:r>
              <a:rPr sz="1050" b="0">
                <a:solidFill>
                  <a:srgbClr val="5B6372"/>
                </a:solidFill>
                <a:latin typeface="Arial"/>
              </a:rPr>
              <a:t>Increase partition-key cardinality with a controlled shard suffix, retain tenant/time queryability through an index or aggregation path and add jittered retries.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BOUNDARY</a:t>
            </a:r>
          </a:p>
          <a:p>
            <a:pPr algn="l">
              <a:spcAft>
                <a:spcPts val="300"/>
              </a:spcAft>
            </a:pPr>
            <a:r>
              <a:rPr sz="1050" b="0">
                <a:solidFill>
                  <a:srgbClr val="5B6372"/>
                </a:solidFill>
                <a:latin typeface="Arial"/>
              </a:rPr>
              <a:t>Raising total capacity alone does not redistribute a single hot logical key; blind retries can amplify throttling.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298</a:t>
            </a:r>
          </a:p>
        </p:txBody>
      </p:sp>
    </p:spTree>
  </p:cSld>
  <p:clrMapOvr>
    <a:masterClrMapping/>
  </p:clrMapOvr>
  <p:transition xmlns:p14="http://schemas.microsoft.com/office/powerpoint/2010/main" p14:dur="380">
    <p:fade/>
  </p:transition>
</p:sld>
</file>

<file path=ppt/slides/slide3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SERVICE MECHANICS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700" b="1">
                <a:solidFill>
                  <a:srgbClr val="161B26"/>
                </a:solidFill>
                <a:latin typeface="Arial"/>
              </a:rPr>
              <a:t>DynamoDB keys, capacity and change streams: how it works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1</a:t>
            </a:r>
          </a:p>
          <a:p>
            <a:pPr algn="l">
              <a:spcAft>
                <a:spcPts val="300"/>
              </a:spcAft>
            </a:pPr>
            <a:r>
              <a:rPr sz="1050" b="0">
                <a:solidFill>
                  <a:srgbClr val="5B6372"/>
                </a:solidFill>
                <a:latin typeface="Arial"/>
              </a:rPr>
              <a:t>Partition and optional sort keys define item placement and query order; scans read broadly and are not a substitute for a missing access pattern.</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2</a:t>
            </a:r>
          </a:p>
          <a:p>
            <a:pPr algn="l">
              <a:spcAft>
                <a:spcPts val="300"/>
              </a:spcAft>
            </a:pPr>
            <a:r>
              <a:rPr sz="1050" b="0">
                <a:solidFill>
                  <a:srgbClr val="5B6372"/>
                </a:solidFill>
                <a:latin typeface="Arial"/>
              </a:rPr>
              <a:t>Global secondary indexes add alternate partition/sort keys and their own capacity behavior; local secondary indexes share the base partition key and must be created with the table.</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3</a:t>
            </a:r>
          </a:p>
          <a:p>
            <a:pPr algn="l">
              <a:spcAft>
                <a:spcPts val="300"/>
              </a:spcAft>
            </a:pPr>
            <a:r>
              <a:rPr sz="1050" b="0">
                <a:solidFill>
                  <a:srgbClr val="5B6372"/>
                </a:solidFill>
                <a:latin typeface="Arial"/>
              </a:rPr>
              <a:t>On-demand capacity absorbs variable traffic, while provisioned capacity and auto scaling fit predictable demand; both can throttle hot partitions.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4</a:t>
            </a:r>
          </a:p>
          <a:p>
            <a:pPr algn="l">
              <a:spcAft>
                <a:spcPts val="300"/>
              </a:spcAft>
            </a:pPr>
            <a:r>
              <a:rPr sz="1050" b="0">
                <a:solidFill>
                  <a:srgbClr val="5B6372"/>
                </a:solidFill>
                <a:latin typeface="Arial"/>
              </a:rPr>
              <a:t>Streams capture item-level changes for time-bounded processing; TTL expiration, transactions, conditional writes and global tables solve different lifecycle and concurrency problems.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299</a:t>
            </a:r>
          </a:p>
        </p:txBody>
      </p:sp>
    </p:spTree>
  </p:cSld>
  <p:clrMapOvr>
    <a:masterClrMapping/>
  </p:clrMapOvr>
  <p:transition xmlns:p14="http://schemas.microsoft.com/office/powerpoint/2010/main" p14:dur="380">
    <p:fade/>
  </p:transition>
</p:sld>
</file>

<file path=ppt/slides/slide3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CONTROL AND DATA FLOW</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500" b="1">
                <a:solidFill>
                  <a:srgbClr val="161B26"/>
                </a:solidFill>
                <a:latin typeface="Arial"/>
              </a:rPr>
              <a:t>DynamoDB keys, capacity and change streams: operating flow</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6354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79829"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982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List access patterns</a:t>
            </a:r>
          </a:p>
        </p:txBody>
      </p:sp>
      <p:sp>
        <p:nvSpPr>
          <p:cNvPr id="12" name="Rectangle 11"/>
          <p:cNvSpPr/>
          <p:nvPr/>
        </p:nvSpPr>
        <p:spPr>
          <a:xfrm>
            <a:off x="2969971"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69971" y="2148840"/>
            <a:ext cx="186354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572560"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72560"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6" name="TextBox 15"/>
          <p:cNvSpPr txBox="1"/>
          <p:nvPr/>
        </p:nvSpPr>
        <p:spPr>
          <a:xfrm>
            <a:off x="3088843"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Choose high-cardinality key</a:t>
            </a:r>
          </a:p>
        </p:txBody>
      </p:sp>
      <p:sp>
        <p:nvSpPr>
          <p:cNvPr id="17" name="Rectangle 16"/>
          <p:cNvSpPr/>
          <p:nvPr/>
        </p:nvSpPr>
        <p:spPr>
          <a:xfrm>
            <a:off x="5162702"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62702" y="2148840"/>
            <a:ext cx="186354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765291"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6529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1" name="TextBox 20"/>
          <p:cNvSpPr txBox="1"/>
          <p:nvPr/>
        </p:nvSpPr>
        <p:spPr>
          <a:xfrm>
            <a:off x="5281574"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Add only required indexes</a:t>
            </a:r>
          </a:p>
        </p:txBody>
      </p:sp>
      <p:sp>
        <p:nvSpPr>
          <p:cNvPr id="22" name="Rectangle 21"/>
          <p:cNvSpPr/>
          <p:nvPr/>
        </p:nvSpPr>
        <p:spPr>
          <a:xfrm>
            <a:off x="7355433"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355433" y="2148840"/>
            <a:ext cx="186354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958022"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5802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6" name="TextBox 25"/>
          <p:cNvSpPr txBox="1"/>
          <p:nvPr/>
        </p:nvSpPr>
        <p:spPr>
          <a:xfrm>
            <a:off x="7474305"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Handle throttling/idempotency</a:t>
            </a:r>
          </a:p>
        </p:txBody>
      </p:sp>
      <p:sp>
        <p:nvSpPr>
          <p:cNvPr id="27" name="Rectangle 26"/>
          <p:cNvSpPr/>
          <p:nvPr/>
        </p:nvSpPr>
        <p:spPr>
          <a:xfrm>
            <a:off x="9548164"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548164" y="2148840"/>
            <a:ext cx="1863547" cy="914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50753" y="2532888"/>
            <a:ext cx="658368" cy="658368"/>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5075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5</a:t>
            </a:r>
          </a:p>
        </p:txBody>
      </p:sp>
      <p:sp>
        <p:nvSpPr>
          <p:cNvPr id="31" name="TextBox 30"/>
          <p:cNvSpPr txBox="1"/>
          <p:nvPr/>
        </p:nvSpPr>
        <p:spPr>
          <a:xfrm>
            <a:off x="9667036"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Process stream and monitor lag</a:t>
            </a:r>
          </a:p>
        </p:txBody>
      </p:sp>
      <p:cxnSp>
        <p:nvCxnSpPr>
          <p:cNvPr id="32" name="Connector 31"/>
          <p:cNvCxnSpPr/>
          <p:nvPr/>
        </p:nvCxnSpPr>
        <p:spPr>
          <a:xfrm>
            <a:off x="2640787"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83351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026249"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21898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10B981"/>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8" name="TextBox 3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9" name="TextBox 3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0" name="TextBox 3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300</a:t>
            </a:r>
          </a:p>
        </p:txBody>
      </p:sp>
    </p:spTree>
  </p:cSld>
  <p:clrMapOvr>
    <a:masterClrMapping/>
  </p:clrMapOvr>
  <p:transition xmlns:p14="http://schemas.microsoft.com/office/powerpoint/2010/main" p14:dur="380">
    <p:fade/>
  </p:transition>
</p:sld>
</file>

<file path=ppt/slides/slide3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CHOOSE DELIBERATELY</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100" b="1">
                <a:solidFill>
                  <a:srgbClr val="161B26"/>
                </a:solidFill>
                <a:latin typeface="Arial"/>
              </a:rPr>
              <a:t>DynamoDB keys, capacity and change streams: configuration decisions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CONSISTENCY</a:t>
            </a:r>
          </a:p>
          <a:p>
            <a:pPr algn="l">
              <a:spcAft>
                <a:spcPts val="300"/>
              </a:spcAft>
            </a:pPr>
            <a:r>
              <a:rPr sz="1050" b="0">
                <a:solidFill>
                  <a:srgbClr val="5B6372"/>
                </a:solidFill>
                <a:latin typeface="Arial"/>
              </a:rPr>
              <a:t>Strongly consistent reads are available only on supported base-table/index paths and cost more read capacity; global replication remains asynchronous.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CONCURRENCY</a:t>
            </a:r>
          </a:p>
          <a:p>
            <a:pPr algn="l">
              <a:spcAft>
                <a:spcPts val="300"/>
              </a:spcAft>
            </a:pPr>
            <a:r>
              <a:rPr sz="1050" b="0">
                <a:solidFill>
                  <a:srgbClr val="5B6372"/>
                </a:solidFill>
                <a:latin typeface="Arial"/>
              </a:rPr>
              <a:t>Use condition expressions or transactions to prevent lost updates and duplicate state transitions.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LARGE OBJECTS</a:t>
            </a:r>
          </a:p>
          <a:p>
            <a:pPr algn="l">
              <a:spcAft>
                <a:spcPts val="300"/>
              </a:spcAft>
            </a:pPr>
            <a:r>
              <a:rPr sz="1050" b="0">
                <a:solidFill>
                  <a:srgbClr val="5B6372"/>
                </a:solidFill>
                <a:latin typeface="Arial"/>
              </a:rPr>
              <a:t>Store large payloads in S3 and keep an object reference plus integrity metadata in the item.</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HOT KEYS</a:t>
            </a:r>
          </a:p>
          <a:p>
            <a:pPr algn="l">
              <a:spcAft>
                <a:spcPts val="300"/>
              </a:spcAft>
            </a:pPr>
            <a:r>
              <a:rPr sz="1050" b="0">
                <a:solidFill>
                  <a:srgbClr val="5B6372"/>
                </a:solidFill>
                <a:latin typeface="Arial"/>
              </a:rPr>
              <a:t>Write-shard only after understanding the required read aggregation and operational complexity.</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301</a:t>
            </a:r>
          </a:p>
        </p:txBody>
      </p:sp>
    </p:spTree>
  </p:cSld>
  <p:clrMapOvr>
    <a:masterClrMapping/>
  </p:clrMapOvr>
  <p:transition xmlns:p14="http://schemas.microsoft.com/office/powerpoint/2010/main" p14:dur="380">
    <p:fade/>
  </p:transition>
</p:sld>
</file>

<file path=ppt/slides/slide3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APPLIED ARCHITECTURE</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100" b="1">
                <a:solidFill>
                  <a:srgbClr val="161B26"/>
                </a:solidFill>
                <a:latin typeface="Arial"/>
              </a:rPr>
              <a:t>DynamoDB keys, capacity and change streams: worked architecture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SCENARIO</a:t>
            </a:r>
          </a:p>
          <a:p>
            <a:pPr algn="l">
              <a:spcAft>
                <a:spcPts val="300"/>
              </a:spcAft>
            </a:pPr>
            <a:r>
              <a:rPr sz="1050" b="0">
                <a:solidFill>
                  <a:srgbClr val="5B6372"/>
                </a:solidFill>
                <a:latin typeface="Arial"/>
              </a:rPr>
              <a:t>An event-ingestion table throttles one tenant even though overall capacity is below the configured total.</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DESIGN DECISION</a:t>
            </a:r>
          </a:p>
          <a:p>
            <a:pPr algn="l">
              <a:spcAft>
                <a:spcPts val="300"/>
              </a:spcAft>
            </a:pPr>
            <a:r>
              <a:rPr sz="1050" b="0">
                <a:solidFill>
                  <a:srgbClr val="5B6372"/>
                </a:solidFill>
                <a:latin typeface="Arial"/>
              </a:rPr>
              <a:t>Increase partition-key cardinality with a controlled shard suffix, retain tenant/time queryability through an index or aggregation path and add jittered retries.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TO AVOID</a:t>
            </a:r>
          </a:p>
          <a:p>
            <a:pPr algn="l">
              <a:spcAft>
                <a:spcPts val="300"/>
              </a:spcAft>
            </a:pPr>
            <a:r>
              <a:rPr sz="1050" b="0">
                <a:solidFill>
                  <a:srgbClr val="5B6372"/>
                </a:solidFill>
                <a:latin typeface="Arial"/>
              </a:rPr>
              <a:t>Raising total capacity alone does not redistribute a single hot logical key; blind retries can amplify throttling.</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ACCEPTANCE EVIDENCE</a:t>
            </a:r>
          </a:p>
          <a:p>
            <a:pPr algn="l">
              <a:spcAft>
                <a:spcPts val="300"/>
              </a:spcAft>
            </a:pPr>
            <a:r>
              <a:rPr sz="1050" b="0">
                <a:solidFill>
                  <a:srgbClr val="5B6372"/>
                </a:solidFill>
                <a:latin typeface="Arial"/>
              </a:rPr>
              <a:t>Consumed capacity by operation, throttled requests, key distribution sample, index metrics, stream iterator age and conditional-write failures.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302</a:t>
            </a:r>
          </a:p>
        </p:txBody>
      </p:sp>
    </p:spTree>
  </p:cSld>
  <p:clrMapOvr>
    <a:masterClrMapping/>
  </p:clrMapOvr>
  <p:transition xmlns:p14="http://schemas.microsoft.com/office/powerpoint/2010/main" p14:dur="380">
    <p:fade/>
  </p:transition>
</p:sld>
</file>

<file path=ppt/slides/slide3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AWS DEVELOPER SERVICES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700" b="1">
                <a:solidFill>
                  <a:srgbClr val="161B26"/>
                </a:solidFill>
                <a:latin typeface="Arial"/>
              </a:rPr>
              <a:t>Developer deep dive: VPC, DNS and global content delivery</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PURPOSE</a:t>
            </a:r>
          </a:p>
          <a:p>
            <a:pPr algn="l">
              <a:spcAft>
                <a:spcPts val="300"/>
              </a:spcAft>
            </a:pPr>
            <a:r>
              <a:rPr sz="1050" b="0">
                <a:solidFill>
                  <a:srgbClr val="5B6372"/>
                </a:solidFill>
                <a:latin typeface="Arial"/>
              </a:rPr>
              <a:t>Control application reachability and global user paths across routing, security, name resolution, caching and failover layers.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SERVICE BOUNDARY</a:t>
            </a:r>
          </a:p>
          <a:p>
            <a:pPr algn="l">
              <a:spcAft>
                <a:spcPts val="300"/>
              </a:spcAft>
            </a:pPr>
            <a:r>
              <a:rPr sz="1050" b="0">
                <a:solidFill>
                  <a:srgbClr val="5B6372"/>
                </a:solidFill>
                <a:latin typeface="Arial"/>
              </a:rPr>
              <a:t>VPC · PrivateLink · Route 53 · CloudFront · Global Accelerator</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PRIMARY DESIGN DECISION</a:t>
            </a:r>
          </a:p>
          <a:p>
            <a:pPr algn="l">
              <a:spcAft>
                <a:spcPts val="300"/>
              </a:spcAft>
            </a:pPr>
            <a:r>
              <a:rPr sz="1050" b="0">
                <a:solidFill>
                  <a:srgbClr val="5B6372"/>
                </a:solidFill>
                <a:latin typeface="Arial"/>
              </a:rPr>
              <a:t>Use a private API endpoint with interface endpoints or controlled network connectivity, private DNS and layered endpoint/resource policies.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BOUNDARY</a:t>
            </a:r>
          </a:p>
          <a:p>
            <a:pPr algn="l">
              <a:spcAft>
                <a:spcPts val="300"/>
              </a:spcAft>
            </a:pPr>
            <a:r>
              <a:rPr sz="1050" b="0">
                <a:solidFill>
                  <a:srgbClr val="5B6372"/>
                </a:solidFill>
                <a:latin typeface="Arial"/>
              </a:rPr>
              <a:t>A private subnet label provides no isolation by itself; missing routes or broad endpoint policies can defeat the intended boundary.</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303</a:t>
            </a:r>
          </a:p>
        </p:txBody>
      </p:sp>
    </p:spTree>
  </p:cSld>
  <p:clrMapOvr>
    <a:masterClrMapping/>
  </p:clrMapOvr>
  <p:transition xmlns:p14="http://schemas.microsoft.com/office/powerpoint/2010/main" p14:dur="380">
    <p:fade/>
  </p:transition>
</p:sld>
</file>

<file path=ppt/slides/slide3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SERVICE MECHANICS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VPC, DNS and global content delivery: how it works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1</a:t>
            </a:r>
          </a:p>
          <a:p>
            <a:pPr algn="l">
              <a:spcAft>
                <a:spcPts val="300"/>
              </a:spcAft>
            </a:pPr>
            <a:r>
              <a:rPr sz="1050" b="0">
                <a:solidFill>
                  <a:srgbClr val="5B6372"/>
                </a:solidFill>
                <a:latin typeface="Arial"/>
              </a:rPr>
              <a:t>Subnets are AZ-scoped, route tables choose next hops, security groups are stateful and NACLs are stateless; each layer answers a different connectivity question.</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2</a:t>
            </a:r>
          </a:p>
          <a:p>
            <a:pPr algn="l">
              <a:spcAft>
                <a:spcPts val="300"/>
              </a:spcAft>
            </a:pPr>
            <a:r>
              <a:rPr sz="1050" b="0">
                <a:solidFill>
                  <a:srgbClr val="5B6372"/>
                </a:solidFill>
                <a:latin typeface="Arial"/>
              </a:rPr>
              <a:t>Gateway and interface VPC endpoints keep supported service traffic on AWS networks and can apply endpoint policies as an additional authorization boundary.</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3</a:t>
            </a:r>
          </a:p>
          <a:p>
            <a:pPr algn="l">
              <a:spcAft>
                <a:spcPts val="300"/>
              </a:spcAft>
            </a:pPr>
            <a:r>
              <a:rPr sz="1050" b="0">
                <a:solidFill>
                  <a:srgbClr val="5B6372"/>
                </a:solidFill>
                <a:latin typeface="Arial"/>
              </a:rPr>
              <a:t>Route 53 policies choose DNS answers from health, latency, geography, weights or failover; TTL controls how quickly resolvers can observe changes.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4</a:t>
            </a:r>
          </a:p>
          <a:p>
            <a:pPr algn="l">
              <a:spcAft>
                <a:spcPts val="300"/>
              </a:spcAft>
            </a:pPr>
            <a:r>
              <a:rPr sz="1050" b="0">
                <a:solidFill>
                  <a:srgbClr val="5B6372"/>
                </a:solidFill>
                <a:latin typeface="Arial"/>
              </a:rPr>
              <a:t>CloudFront caches HTTP content at the edge using cache and origin-request policies, while Global Accelerator provides static anycast entry addresses and fast endpoint routing.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304</a:t>
            </a:r>
          </a:p>
        </p:txBody>
      </p:sp>
    </p:spTree>
  </p:cSld>
  <p:clrMapOvr>
    <a:masterClrMapping/>
  </p:clrMapOvr>
  <p:transition xmlns:p14="http://schemas.microsoft.com/office/powerpoint/2010/main" p14:dur="380">
    <p:fade/>
  </p:transition>
</p:sld>
</file>

<file path=ppt/slides/slide3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CONTROL AND DATA FLOW</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VPC, DNS and global content delivery: operating flow</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6354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79829"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982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Resolve name</a:t>
            </a:r>
          </a:p>
        </p:txBody>
      </p:sp>
      <p:sp>
        <p:nvSpPr>
          <p:cNvPr id="12" name="Rectangle 11"/>
          <p:cNvSpPr/>
          <p:nvPr/>
        </p:nvSpPr>
        <p:spPr>
          <a:xfrm>
            <a:off x="2969971"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69971" y="2148840"/>
            <a:ext cx="186354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572560"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72560"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6" name="TextBox 15"/>
          <p:cNvSpPr txBox="1"/>
          <p:nvPr/>
        </p:nvSpPr>
        <p:spPr>
          <a:xfrm>
            <a:off x="3088843"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Route to edge or Region</a:t>
            </a:r>
          </a:p>
        </p:txBody>
      </p:sp>
      <p:sp>
        <p:nvSpPr>
          <p:cNvPr id="17" name="Rectangle 16"/>
          <p:cNvSpPr/>
          <p:nvPr/>
        </p:nvSpPr>
        <p:spPr>
          <a:xfrm>
            <a:off x="5162702"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62702" y="2148840"/>
            <a:ext cx="186354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765291"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6529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1" name="TextBox 20"/>
          <p:cNvSpPr txBox="1"/>
          <p:nvPr/>
        </p:nvSpPr>
        <p:spPr>
          <a:xfrm>
            <a:off x="5281574"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Evaluate network policy</a:t>
            </a:r>
          </a:p>
        </p:txBody>
      </p:sp>
      <p:sp>
        <p:nvSpPr>
          <p:cNvPr id="22" name="Rectangle 21"/>
          <p:cNvSpPr/>
          <p:nvPr/>
        </p:nvSpPr>
        <p:spPr>
          <a:xfrm>
            <a:off x="7355433"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355433" y="2148840"/>
            <a:ext cx="186354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958022"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5802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6" name="TextBox 25"/>
          <p:cNvSpPr txBox="1"/>
          <p:nvPr/>
        </p:nvSpPr>
        <p:spPr>
          <a:xfrm>
            <a:off x="7474305"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Reach healthy origin</a:t>
            </a:r>
          </a:p>
        </p:txBody>
      </p:sp>
      <p:sp>
        <p:nvSpPr>
          <p:cNvPr id="27" name="Rectangle 26"/>
          <p:cNvSpPr/>
          <p:nvPr/>
        </p:nvSpPr>
        <p:spPr>
          <a:xfrm>
            <a:off x="9548164"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548164" y="2148840"/>
            <a:ext cx="1863547" cy="914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50753" y="2532888"/>
            <a:ext cx="658368" cy="658368"/>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5075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5</a:t>
            </a:r>
          </a:p>
        </p:txBody>
      </p:sp>
      <p:sp>
        <p:nvSpPr>
          <p:cNvPr id="31" name="TextBox 30"/>
          <p:cNvSpPr txBox="1"/>
          <p:nvPr/>
        </p:nvSpPr>
        <p:spPr>
          <a:xfrm>
            <a:off x="9667036"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Log and measure user path</a:t>
            </a:r>
          </a:p>
        </p:txBody>
      </p:sp>
      <p:cxnSp>
        <p:nvCxnSpPr>
          <p:cNvPr id="32" name="Connector 31"/>
          <p:cNvCxnSpPr/>
          <p:nvPr/>
        </p:nvCxnSpPr>
        <p:spPr>
          <a:xfrm>
            <a:off x="2640787"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83351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026249"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21898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10B981"/>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8" name="TextBox 3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9" name="TextBox 3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0" name="TextBox 3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305</a:t>
            </a:r>
          </a:p>
        </p:txBody>
      </p:sp>
    </p:spTree>
  </p:cSld>
  <p:clrMapOvr>
    <a:masterClrMapping/>
  </p:clrMapOvr>
  <p:transition xmlns:p14="http://schemas.microsoft.com/office/powerpoint/2010/main" p14:dur="380">
    <p:fade/>
  </p:transition>
</p:sld>
</file>

<file path=ppt/slides/slide3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CHOOSE DELIBERATELY</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500" b="1">
                <a:solidFill>
                  <a:srgbClr val="161B26"/>
                </a:solidFill>
                <a:latin typeface="Arial"/>
              </a:rPr>
              <a:t>VPC, DNS and global content delivery: configuration decisions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PRIVATE ACCESS</a:t>
            </a:r>
          </a:p>
          <a:p>
            <a:pPr algn="l">
              <a:spcAft>
                <a:spcPts val="300"/>
              </a:spcAft>
            </a:pPr>
            <a:r>
              <a:rPr sz="1050" b="0">
                <a:solidFill>
                  <a:srgbClr val="5B6372"/>
                </a:solidFill>
                <a:latin typeface="Arial"/>
              </a:rPr>
              <a:t>Use endpoints and private DNS for service APIs where egress control matters; verify endpoint and resource policies together.</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CACHING</a:t>
            </a:r>
          </a:p>
          <a:p>
            <a:pPr algn="l">
              <a:spcAft>
                <a:spcPts val="300"/>
              </a:spcAft>
            </a:pPr>
            <a:r>
              <a:rPr sz="1050" b="0">
                <a:solidFill>
                  <a:srgbClr val="5B6372"/>
                </a:solidFill>
                <a:latin typeface="Arial"/>
              </a:rPr>
              <a:t>Build cache keys only from values that change the response and protect private content with signed access patterns.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FAILOVER</a:t>
            </a:r>
          </a:p>
          <a:p>
            <a:pPr algn="l">
              <a:spcAft>
                <a:spcPts val="300"/>
              </a:spcAft>
            </a:pPr>
            <a:r>
              <a:rPr sz="1050" b="0">
                <a:solidFill>
                  <a:srgbClr val="5B6372"/>
                </a:solidFill>
                <a:latin typeface="Arial"/>
              </a:rPr>
              <a:t>Health checks must represent the user transaction and account for DNS caching or connection persistence.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TROUBLESHOOTING</a:t>
            </a:r>
          </a:p>
          <a:p>
            <a:pPr algn="l">
              <a:spcAft>
                <a:spcPts val="300"/>
              </a:spcAft>
            </a:pPr>
            <a:r>
              <a:rPr sz="1050" b="0">
                <a:solidFill>
                  <a:srgbClr val="5B6372"/>
                </a:solidFill>
                <a:latin typeface="Arial"/>
              </a:rPr>
              <a:t>Check DNS, routes, security groups, NACL return paths, endpoint policy, target health and application logs in order.</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306</a:t>
            </a:r>
          </a:p>
        </p:txBody>
      </p:sp>
    </p:spTree>
  </p:cSld>
  <p:clrMapOvr>
    <a:masterClrMapping/>
  </p:clrMapOvr>
  <p:transition xmlns:p14="http://schemas.microsoft.com/office/powerpoint/2010/main" p14:dur="380">
    <p:fade/>
  </p:transition>
</p:sld>
</file>

<file path=ppt/slides/slide3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APPLIED ARCHITECTURE</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300" b="1">
                <a:solidFill>
                  <a:srgbClr val="161B26"/>
                </a:solidFill>
                <a:latin typeface="Arial"/>
              </a:rPr>
              <a:t>VPC, DNS and global content delivery: worked architecture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SCENARIO</a:t>
            </a:r>
          </a:p>
          <a:p>
            <a:pPr algn="l">
              <a:spcAft>
                <a:spcPts val="300"/>
              </a:spcAft>
            </a:pPr>
            <a:r>
              <a:rPr sz="1050" b="0">
                <a:solidFill>
                  <a:srgbClr val="5B6372"/>
                </a:solidFill>
                <a:latin typeface="Arial"/>
              </a:rPr>
              <a:t>A private API must be consumed by workloads in several VPCs and expose no public internet path.</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DESIGN DECISION</a:t>
            </a:r>
          </a:p>
          <a:p>
            <a:pPr algn="l">
              <a:spcAft>
                <a:spcPts val="300"/>
              </a:spcAft>
            </a:pPr>
            <a:r>
              <a:rPr sz="1050" b="0">
                <a:solidFill>
                  <a:srgbClr val="5B6372"/>
                </a:solidFill>
                <a:latin typeface="Arial"/>
              </a:rPr>
              <a:t>Use a private API endpoint with interface endpoints or controlled network connectivity, private DNS and layered endpoint/resource policies.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TO AVOID</a:t>
            </a:r>
          </a:p>
          <a:p>
            <a:pPr algn="l">
              <a:spcAft>
                <a:spcPts val="300"/>
              </a:spcAft>
            </a:pPr>
            <a:r>
              <a:rPr sz="1050" b="0">
                <a:solidFill>
                  <a:srgbClr val="5B6372"/>
                </a:solidFill>
                <a:latin typeface="Arial"/>
              </a:rPr>
              <a:t>A private subnet label provides no isolation by itself; missing routes or broad endpoint policies can defeat the intended boundary.</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ACCEPTANCE EVIDENCE</a:t>
            </a:r>
          </a:p>
          <a:p>
            <a:pPr algn="l">
              <a:spcAft>
                <a:spcPts val="300"/>
              </a:spcAft>
            </a:pPr>
            <a:r>
              <a:rPr sz="1050" b="0">
                <a:solidFill>
                  <a:srgbClr val="5B6372"/>
                </a:solidFill>
                <a:latin typeface="Arial"/>
              </a:rPr>
              <a:t>DNS response, route path, endpoint ID/policy, flow log, target health, access log and reachability analysis.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307</a:t>
            </a:r>
          </a:p>
        </p:txBody>
      </p:sp>
    </p:spTree>
  </p:cSld>
  <p:clrMapOvr>
    <a:masterClrMapping/>
  </p:clrMapOvr>
  <p:transition xmlns:p14="http://schemas.microsoft.com/office/powerpoint/2010/main" p14:dur="380">
    <p:fade/>
  </p:transition>
</p:sld>
</file>

<file path=ppt/slides/slide3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RESILIENT CLOUD SOLUTIONS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Availability requirements and failure modes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OUTCOME</a:t>
            </a:r>
          </a:p>
          <a:p>
            <a:pPr algn="l">
              <a:spcAft>
                <a:spcPts val="300"/>
              </a:spcAft>
            </a:pPr>
            <a:r>
              <a:rPr sz="1050" b="0">
                <a:solidFill>
                  <a:srgbClr val="5B6372"/>
                </a:solidFill>
                <a:latin typeface="Arial"/>
              </a:rPr>
              <a:t>Translate business impact into explicit availability, recovery and dependency requirements.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ARCHITECTURE</a:t>
            </a:r>
          </a:p>
          <a:p>
            <a:pPr algn="l">
              <a:spcAft>
                <a:spcPts val="300"/>
              </a:spcAft>
            </a:pPr>
            <a:r>
              <a:rPr sz="1050" b="0">
                <a:solidFill>
                  <a:srgbClr val="5B6372"/>
                </a:solidFill>
                <a:latin typeface="Arial"/>
              </a:rPr>
              <a:t>Model component failure domains, remove single points of failure and test degraded modes before selecting services.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MODE</a:t>
            </a:r>
          </a:p>
          <a:p>
            <a:pPr algn="l">
              <a:spcAft>
                <a:spcPts val="300"/>
              </a:spcAft>
            </a:pPr>
            <a:r>
              <a:rPr sz="1050" b="0">
                <a:solidFill>
                  <a:srgbClr val="5B6372"/>
                </a:solidFill>
                <a:latin typeface="Arial"/>
              </a:rPr>
              <a:t>Adding replicas does not help when they share the same failure domain or control-plane dependency.</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EVIDENCE</a:t>
            </a:r>
          </a:p>
          <a:p>
            <a:pPr algn="l">
              <a:spcAft>
                <a:spcPts val="300"/>
              </a:spcAft>
            </a:pPr>
            <a:r>
              <a:rPr sz="1050" b="0">
                <a:solidFill>
                  <a:srgbClr val="5B6372"/>
                </a:solidFill>
                <a:latin typeface="Arial"/>
              </a:rPr>
              <a:t>Availability target, dependency map, failure-mode analysis, resilience recommendation and test result.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308</a:t>
            </a:r>
          </a:p>
        </p:txBody>
      </p:sp>
    </p:spTree>
  </p:cSld>
  <p:clrMapOvr>
    <a:masterClrMapping/>
  </p:clrMapOvr>
  <p:transition xmlns:p14="http://schemas.microsoft.com/office/powerpoint/2010/main" p14:dur="380">
    <p:fade/>
  </p:transition>
</p:sld>
</file>

<file path=ppt/slides/slide3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PROCESS MODEL</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700" b="1">
                <a:solidFill>
                  <a:srgbClr val="161B26"/>
                </a:solidFill>
                <a:latin typeface="Arial"/>
              </a:rPr>
              <a:t>Availability requirements and failure modes: operating flow</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6354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79829"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982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Define impact</a:t>
            </a:r>
          </a:p>
        </p:txBody>
      </p:sp>
      <p:sp>
        <p:nvSpPr>
          <p:cNvPr id="12" name="Rectangle 11"/>
          <p:cNvSpPr/>
          <p:nvPr/>
        </p:nvSpPr>
        <p:spPr>
          <a:xfrm>
            <a:off x="2969971"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69971" y="2148840"/>
            <a:ext cx="186354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572560"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72560"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6" name="TextBox 15"/>
          <p:cNvSpPr txBox="1"/>
          <p:nvPr/>
        </p:nvSpPr>
        <p:spPr>
          <a:xfrm>
            <a:off x="3088843"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Map dependencies</a:t>
            </a:r>
          </a:p>
        </p:txBody>
      </p:sp>
      <p:sp>
        <p:nvSpPr>
          <p:cNvPr id="17" name="Rectangle 16"/>
          <p:cNvSpPr/>
          <p:nvPr/>
        </p:nvSpPr>
        <p:spPr>
          <a:xfrm>
            <a:off x="5162702"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62702" y="2148840"/>
            <a:ext cx="186354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765291"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6529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1" name="TextBox 20"/>
          <p:cNvSpPr txBox="1"/>
          <p:nvPr/>
        </p:nvSpPr>
        <p:spPr>
          <a:xfrm>
            <a:off x="5281574"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Identify failure domains</a:t>
            </a:r>
          </a:p>
        </p:txBody>
      </p:sp>
      <p:sp>
        <p:nvSpPr>
          <p:cNvPr id="22" name="Rectangle 21"/>
          <p:cNvSpPr/>
          <p:nvPr/>
        </p:nvSpPr>
        <p:spPr>
          <a:xfrm>
            <a:off x="7355433"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355433" y="2148840"/>
            <a:ext cx="186354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958022"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5802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6" name="TextBox 25"/>
          <p:cNvSpPr txBox="1"/>
          <p:nvPr/>
        </p:nvSpPr>
        <p:spPr>
          <a:xfrm>
            <a:off x="7474305"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Design controls</a:t>
            </a:r>
          </a:p>
        </p:txBody>
      </p:sp>
      <p:sp>
        <p:nvSpPr>
          <p:cNvPr id="27" name="Rectangle 26"/>
          <p:cNvSpPr/>
          <p:nvPr/>
        </p:nvSpPr>
        <p:spPr>
          <a:xfrm>
            <a:off x="9548164"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548164" y="2148840"/>
            <a:ext cx="1863547" cy="914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50753" y="2532888"/>
            <a:ext cx="658368" cy="658368"/>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5075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5</a:t>
            </a:r>
          </a:p>
        </p:txBody>
      </p:sp>
      <p:sp>
        <p:nvSpPr>
          <p:cNvPr id="31" name="TextBox 30"/>
          <p:cNvSpPr txBox="1"/>
          <p:nvPr/>
        </p:nvSpPr>
        <p:spPr>
          <a:xfrm>
            <a:off x="9667036"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Test failure</a:t>
            </a:r>
          </a:p>
        </p:txBody>
      </p:sp>
      <p:cxnSp>
        <p:nvCxnSpPr>
          <p:cNvPr id="32" name="Connector 31"/>
          <p:cNvCxnSpPr/>
          <p:nvPr/>
        </p:nvCxnSpPr>
        <p:spPr>
          <a:xfrm>
            <a:off x="2640787"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83351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026249"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21898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10B981"/>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8" name="TextBox 3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9" name="TextBox 3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0" name="TextBox 3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309</a:t>
            </a:r>
          </a:p>
        </p:txBody>
      </p:sp>
    </p:spTree>
  </p:cSld>
  <p:clrMapOvr>
    <a:masterClrMapping/>
  </p:clrMapOvr>
  <p:transition xmlns:p14="http://schemas.microsoft.com/office/powerpoint/2010/main" p14:dur="380">
    <p:fade/>
  </p:transition>
</p:sld>
</file>

<file path=ppt/slides/slide3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700" b="1">
                <a:solidFill>
                  <a:srgbClr val="161B26"/>
                </a:solidFill>
                <a:latin typeface="Arial"/>
              </a:rPr>
              <a:t>Availability requirements and failure modes: design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83280" cy="43708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70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011680"/>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011680"/>
            <a:ext cx="530352" cy="530352"/>
          </a:xfrm>
          <a:prstGeom prst="rect">
            <a:avLst/>
          </a:prstGeom>
          <a:noFill/>
        </p:spPr>
        <p:txBody>
          <a:bodyPr wrap="square" anchor="ctr">
            <a:spAutoFit/>
          </a:bodyPr>
          <a:lstStyle/>
          <a:p>
            <a:pPr algn="ctr">
              <a:spcAft>
                <a:spcPts val="400"/>
              </a:spcAft>
            </a:pPr>
            <a:r>
              <a:rPr sz="2000" b="1">
                <a:solidFill>
                  <a:srgbClr val="FFFFFF"/>
                </a:solidFill>
                <a:latin typeface="Arial"/>
              </a:rPr>
              <a:t>?</a:t>
            </a:r>
          </a:p>
        </p:txBody>
      </p:sp>
      <p:sp>
        <p:nvSpPr>
          <p:cNvPr id="11" name="TextBox 10"/>
          <p:cNvSpPr txBox="1"/>
          <p:nvPr/>
        </p:nvSpPr>
        <p:spPr>
          <a:xfrm>
            <a:off x="1709928" y="1984248"/>
            <a:ext cx="2212848" cy="502920"/>
          </a:xfrm>
          <a:prstGeom prst="rect">
            <a:avLst/>
          </a:prstGeom>
          <a:noFill/>
        </p:spPr>
        <p:txBody>
          <a:bodyPr wrap="square" anchor="ctr">
            <a:spAutoFit/>
          </a:bodyPr>
          <a:lstStyle/>
          <a:p>
            <a:pPr algn="l">
              <a:spcAft>
                <a:spcPts val="400"/>
              </a:spcAft>
            </a:pPr>
            <a:r>
              <a:rPr sz="1350" b="1">
                <a:solidFill>
                  <a:srgbClr val="10B981"/>
                </a:solidFill>
                <a:latin typeface="Arial"/>
              </a:rPr>
              <a:t>SCENARIO</a:t>
            </a:r>
          </a:p>
        </p:txBody>
      </p:sp>
      <p:sp>
        <p:nvSpPr>
          <p:cNvPr id="12" name="TextBox 11"/>
          <p:cNvSpPr txBox="1"/>
          <p:nvPr/>
        </p:nvSpPr>
        <p:spPr>
          <a:xfrm>
            <a:off x="1051560" y="2743200"/>
            <a:ext cx="2834640" cy="3136392"/>
          </a:xfrm>
          <a:prstGeom prst="rect">
            <a:avLst/>
          </a:prstGeom>
          <a:noFill/>
        </p:spPr>
        <p:txBody>
          <a:bodyPr wrap="square" anchor="t">
            <a:spAutoFit/>
          </a:bodyPr>
          <a:lstStyle/>
          <a:p>
            <a:pPr algn="l">
              <a:spcAft>
                <a:spcPts val="400"/>
              </a:spcAft>
            </a:pPr>
            <a:r>
              <a:rPr sz="1300" b="0">
                <a:solidFill>
                  <a:srgbClr val="161B26"/>
                </a:solidFill>
                <a:latin typeface="Arial"/>
              </a:rPr>
              <a:t>An order service must remain available through an Availability Zone outage.</a:t>
            </a:r>
          </a:p>
        </p:txBody>
      </p:sp>
      <p:sp>
        <p:nvSpPr>
          <p:cNvPr id="13" name="Rectangle 12"/>
          <p:cNvSpPr/>
          <p:nvPr/>
        </p:nvSpPr>
        <p:spPr>
          <a:xfrm>
            <a:off x="4434840"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34840" y="1783080"/>
            <a:ext cx="91440"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636008" y="1965960"/>
            <a:ext cx="438912" cy="43891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6008"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7" name="TextBox 16"/>
          <p:cNvSpPr txBox="1"/>
          <p:nvPr/>
        </p:nvSpPr>
        <p:spPr>
          <a:xfrm>
            <a:off x="5212080" y="1929384"/>
            <a:ext cx="2286000" cy="475488"/>
          </a:xfrm>
          <a:prstGeom prst="rect">
            <a:avLst/>
          </a:prstGeom>
          <a:noFill/>
        </p:spPr>
        <p:txBody>
          <a:bodyPr wrap="square" anchor="ctr">
            <a:spAutoFit/>
          </a:bodyPr>
          <a:lstStyle/>
          <a:p>
            <a:pPr algn="l">
              <a:spcAft>
                <a:spcPts val="400"/>
              </a:spcAft>
            </a:pPr>
            <a:r>
              <a:rPr sz="1250" b="1">
                <a:solidFill>
                  <a:srgbClr val="10B981"/>
                </a:solidFill>
                <a:latin typeface="Arial"/>
              </a:rPr>
              <a:t>DESIGN RESPONSE</a:t>
            </a:r>
          </a:p>
        </p:txBody>
      </p:sp>
      <p:sp>
        <p:nvSpPr>
          <p:cNvPr id="18" name="TextBox 17"/>
          <p:cNvSpPr txBox="1"/>
          <p:nvPr/>
        </p:nvSpPr>
        <p:spPr>
          <a:xfrm>
            <a:off x="4663440"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Model component failure domains, remove single points of failure and test degraded modes before selecting services.</a:t>
            </a:r>
          </a:p>
        </p:txBody>
      </p:sp>
      <p:sp>
        <p:nvSpPr>
          <p:cNvPr id="19" name="Rectangle 18"/>
          <p:cNvSpPr/>
          <p:nvPr/>
        </p:nvSpPr>
        <p:spPr>
          <a:xfrm>
            <a:off x="7973568"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973568" y="1783080"/>
            <a:ext cx="91440" cy="21488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174736" y="1965960"/>
            <a:ext cx="438912" cy="43891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74736"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23" name="TextBox 22"/>
          <p:cNvSpPr txBox="1"/>
          <p:nvPr/>
        </p:nvSpPr>
        <p:spPr>
          <a:xfrm>
            <a:off x="8750808" y="1929384"/>
            <a:ext cx="2286000" cy="475488"/>
          </a:xfrm>
          <a:prstGeom prst="rect">
            <a:avLst/>
          </a:prstGeom>
          <a:noFill/>
        </p:spPr>
        <p:txBody>
          <a:bodyPr wrap="square" anchor="ctr">
            <a:spAutoFit/>
          </a:bodyPr>
          <a:lstStyle/>
          <a:p>
            <a:pPr algn="l">
              <a:spcAft>
                <a:spcPts val="400"/>
              </a:spcAft>
            </a:pPr>
            <a:r>
              <a:rPr sz="1250" b="1">
                <a:solidFill>
                  <a:srgbClr val="7C3AED"/>
                </a:solidFill>
                <a:latin typeface="Arial"/>
              </a:rPr>
              <a:t>PRIMARY SERVICES</a:t>
            </a:r>
          </a:p>
        </p:txBody>
      </p:sp>
      <p:sp>
        <p:nvSpPr>
          <p:cNvPr id="24" name="TextBox 23"/>
          <p:cNvSpPr txBox="1"/>
          <p:nvPr/>
        </p:nvSpPr>
        <p:spPr>
          <a:xfrm>
            <a:off x="8202168"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Multi-AZ · AWS Resilience Hub · Well-Architected Tool</a:t>
            </a:r>
          </a:p>
        </p:txBody>
      </p:sp>
      <p:sp>
        <p:nvSpPr>
          <p:cNvPr id="25" name="Rectangle 24"/>
          <p:cNvSpPr/>
          <p:nvPr/>
        </p:nvSpPr>
        <p:spPr>
          <a:xfrm>
            <a:off x="4434840"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34840" y="4005072"/>
            <a:ext cx="91440" cy="21488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636008" y="4187952"/>
            <a:ext cx="438912" cy="43891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36008"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9" name="TextBox 28"/>
          <p:cNvSpPr txBox="1"/>
          <p:nvPr/>
        </p:nvSpPr>
        <p:spPr>
          <a:xfrm>
            <a:off x="5212080" y="4151376"/>
            <a:ext cx="2286000" cy="475488"/>
          </a:xfrm>
          <a:prstGeom prst="rect">
            <a:avLst/>
          </a:prstGeom>
          <a:noFill/>
        </p:spPr>
        <p:txBody>
          <a:bodyPr wrap="square" anchor="ctr">
            <a:spAutoFit/>
          </a:bodyPr>
          <a:lstStyle/>
          <a:p>
            <a:pPr algn="l">
              <a:spcAft>
                <a:spcPts val="400"/>
              </a:spcAft>
            </a:pPr>
            <a:r>
              <a:rPr sz="1250" b="1">
                <a:solidFill>
                  <a:srgbClr val="F59E0B"/>
                </a:solidFill>
                <a:latin typeface="Arial"/>
              </a:rPr>
              <a:t>FAILURE MODE</a:t>
            </a:r>
          </a:p>
        </p:txBody>
      </p:sp>
      <p:sp>
        <p:nvSpPr>
          <p:cNvPr id="30" name="TextBox 29"/>
          <p:cNvSpPr txBox="1"/>
          <p:nvPr/>
        </p:nvSpPr>
        <p:spPr>
          <a:xfrm>
            <a:off x="4663440"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Adding replicas does not help when they share the same failure domain or control-plane dependency.</a:t>
            </a:r>
          </a:p>
        </p:txBody>
      </p:sp>
      <p:sp>
        <p:nvSpPr>
          <p:cNvPr id="31" name="Rectangle 30"/>
          <p:cNvSpPr/>
          <p:nvPr/>
        </p:nvSpPr>
        <p:spPr>
          <a:xfrm>
            <a:off x="7973568"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73568" y="4005072"/>
            <a:ext cx="91440" cy="21488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174736" y="4187952"/>
            <a:ext cx="438912" cy="438912"/>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74736"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5" name="TextBox 34"/>
          <p:cNvSpPr txBox="1"/>
          <p:nvPr/>
        </p:nvSpPr>
        <p:spPr>
          <a:xfrm>
            <a:off x="8750808" y="4151376"/>
            <a:ext cx="2286000" cy="475488"/>
          </a:xfrm>
          <a:prstGeom prst="rect">
            <a:avLst/>
          </a:prstGeom>
          <a:noFill/>
        </p:spPr>
        <p:txBody>
          <a:bodyPr wrap="square" anchor="ctr">
            <a:spAutoFit/>
          </a:bodyPr>
          <a:lstStyle/>
          <a:p>
            <a:pPr algn="l">
              <a:spcAft>
                <a:spcPts val="400"/>
              </a:spcAft>
            </a:pPr>
            <a:r>
              <a:rPr sz="1250" b="1">
                <a:solidFill>
                  <a:srgbClr val="EC711E"/>
                </a:solidFill>
                <a:latin typeface="Arial"/>
              </a:rPr>
              <a:t>PROOF</a:t>
            </a:r>
          </a:p>
        </p:txBody>
      </p:sp>
      <p:sp>
        <p:nvSpPr>
          <p:cNvPr id="36" name="TextBox 35"/>
          <p:cNvSpPr txBox="1"/>
          <p:nvPr/>
        </p:nvSpPr>
        <p:spPr>
          <a:xfrm>
            <a:off x="8202168"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Availability target, dependency map, failure-mode analysis, resilience recommendation and test result.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310</a:t>
            </a:r>
          </a:p>
        </p:txBody>
      </p:sp>
    </p:spTree>
  </p:cSld>
  <p:clrMapOvr>
    <a:masterClrMapping/>
  </p:clrMapOvr>
  <p:transition xmlns:p14="http://schemas.microsoft.com/office/powerpoint/2010/main" p14:dur="380">
    <p:fade/>
  </p:transition>
</p:sld>
</file>

<file path=ppt/slides/slide3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OPERATIONS</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500" b="1">
                <a:solidFill>
                  <a:srgbClr val="161B26"/>
                </a:solidFill>
                <a:latin typeface="Arial"/>
              </a:rPr>
              <a:t>Availability requirements and failure modes: failure diagnostic</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RECOGNISE</a:t>
            </a:r>
          </a:p>
          <a:p>
            <a:pPr algn="l">
              <a:spcAft>
                <a:spcPts val="300"/>
              </a:spcAft>
            </a:pPr>
            <a:r>
              <a:rPr sz="1050" b="0">
                <a:solidFill>
                  <a:srgbClr val="5B6372"/>
                </a:solidFill>
                <a:latin typeface="Arial"/>
              </a:rPr>
              <a:t>Observable failure condition: Adding replicas does not help when they share the same failure domain or control-plane dependency.</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CONTAIN</a:t>
            </a:r>
          </a:p>
          <a:p>
            <a:pPr algn="l">
              <a:spcAft>
                <a:spcPts val="300"/>
              </a:spcAft>
            </a:pPr>
            <a:r>
              <a:rPr sz="1050" b="0">
                <a:solidFill>
                  <a:srgbClr val="5B6372"/>
                </a:solidFill>
                <a:latin typeface="Arial"/>
              </a:rPr>
              <a:t>Pause promotion, preserve evidence and reduce impact without destroying diagnostic state.</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DIAGNOSE</a:t>
            </a:r>
          </a:p>
          <a:p>
            <a:pPr algn="l">
              <a:spcAft>
                <a:spcPts val="300"/>
              </a:spcAft>
            </a:pPr>
            <a:r>
              <a:rPr sz="1050" b="0">
                <a:solidFill>
                  <a:srgbClr val="5B6372"/>
                </a:solidFill>
                <a:latin typeface="Arial"/>
              </a:rPr>
              <a:t>Trace the workflow from Define impact through Test failure; compare intended configuration with runtime state.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RECOVER</a:t>
            </a:r>
          </a:p>
          <a:p>
            <a:pPr algn="l">
              <a:spcAft>
                <a:spcPts val="300"/>
              </a:spcAft>
            </a:pPr>
            <a:r>
              <a:rPr sz="1050" b="0">
                <a:solidFill>
                  <a:srgbClr val="5B6372"/>
                </a:solidFill>
                <a:latin typeface="Arial"/>
              </a:rPr>
              <a:t>Restore the last known-good state, then prove recovery with Availability target, dependency map, failure-mode analysis, resilience recommendation and test result.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311</a:t>
            </a:r>
          </a:p>
        </p:txBody>
      </p:sp>
    </p:spTree>
  </p:cSld>
  <p:clrMapOvr>
    <a:masterClrMapping/>
  </p:clrMapOvr>
  <p:transition xmlns:p14="http://schemas.microsoft.com/office/powerpoint/2010/main" p14:dur="380">
    <p:fade/>
  </p:transition>
</p:sld>
</file>

<file path=ppt/slides/slide3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APPLIED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700" b="1">
                <a:solidFill>
                  <a:srgbClr val="161B26"/>
                </a:solidFill>
                <a:latin typeface="Arial"/>
              </a:rPr>
              <a:t>Availability requirements and failure modes: worked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CONSTRAINT</a:t>
            </a:r>
          </a:p>
          <a:p>
            <a:pPr algn="l">
              <a:spcAft>
                <a:spcPts val="300"/>
              </a:spcAft>
            </a:pPr>
            <a:r>
              <a:rPr sz="1050" b="0">
                <a:solidFill>
                  <a:srgbClr val="5B6372"/>
                </a:solidFill>
                <a:latin typeface="Arial"/>
              </a:rPr>
              <a:t>An order service must remain available through an Availability Zone outage.</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DECISION</a:t>
            </a:r>
          </a:p>
          <a:p>
            <a:pPr algn="l">
              <a:spcAft>
                <a:spcPts val="300"/>
              </a:spcAft>
            </a:pPr>
            <a:r>
              <a:rPr sz="1050" b="0">
                <a:solidFill>
                  <a:srgbClr val="5B6372"/>
                </a:solidFill>
                <a:latin typeface="Arial"/>
              </a:rPr>
              <a:t>Model component failure domains, remove single points of failure and test degraded modes before selecting services.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WHY ALTERNATIVES LOSE</a:t>
            </a:r>
          </a:p>
          <a:p>
            <a:pPr algn="l">
              <a:spcAft>
                <a:spcPts val="300"/>
              </a:spcAft>
            </a:pPr>
            <a:r>
              <a:rPr sz="1050" b="0">
                <a:solidFill>
                  <a:srgbClr val="5B6372"/>
                </a:solidFill>
                <a:latin typeface="Arial"/>
              </a:rPr>
              <a:t>Reject options that do not change the stated failure boundary: Adding replicas does not help when they share the same failure domain or control-plane dependency.</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ACCEPTANCE TEST</a:t>
            </a:r>
          </a:p>
          <a:p>
            <a:pPr algn="l">
              <a:spcAft>
                <a:spcPts val="300"/>
              </a:spcAft>
            </a:pPr>
            <a:r>
              <a:rPr sz="1050" b="0">
                <a:solidFill>
                  <a:srgbClr val="5B6372"/>
                </a:solidFill>
                <a:latin typeface="Arial"/>
              </a:rPr>
              <a:t>The decision is complete only when this proof exists: Availability target, dependency map, failure-mode analysis, resilience recommendation and test result.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312</a:t>
            </a:r>
          </a:p>
        </p:txBody>
      </p:sp>
    </p:spTree>
  </p:cSld>
  <p:clrMapOvr>
    <a:masterClrMapping/>
  </p:clrMapOvr>
  <p:transition xmlns:p14="http://schemas.microsoft.com/office/powerpoint/2010/main" p14:dur="380">
    <p:fade/>
  </p:transition>
</p:sld>
</file>

<file path=ppt/slides/slide3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RESILIENT CLOUD SOLUTIONS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Elastic compute and load distribution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OUTCOME</a:t>
            </a:r>
          </a:p>
          <a:p>
            <a:pPr algn="l">
              <a:spcAft>
                <a:spcPts val="300"/>
              </a:spcAft>
            </a:pPr>
            <a:r>
              <a:rPr sz="1050" b="0">
                <a:solidFill>
                  <a:srgbClr val="5B6372"/>
                </a:solidFill>
                <a:latin typeface="Arial"/>
              </a:rPr>
              <a:t>Match scaling signals, capacity buffers and load-balancer health to workload behavior.</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ARCHITECTURE</a:t>
            </a:r>
          </a:p>
          <a:p>
            <a:pPr algn="l">
              <a:spcAft>
                <a:spcPts val="300"/>
              </a:spcAft>
            </a:pPr>
            <a:r>
              <a:rPr sz="1050" b="0">
                <a:solidFill>
                  <a:srgbClr val="5B6372"/>
                </a:solidFill>
                <a:latin typeface="Arial"/>
              </a:rPr>
              <a:t>Use target tracking where possible, warm-up periods, lifecycle hooks, multiple AZs and meaningful health checks.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MODE</a:t>
            </a:r>
          </a:p>
          <a:p>
            <a:pPr algn="l">
              <a:spcAft>
                <a:spcPts val="300"/>
              </a:spcAft>
            </a:pPr>
            <a:r>
              <a:rPr sz="1050" b="0">
                <a:solidFill>
                  <a:srgbClr val="5B6372"/>
                </a:solidFill>
                <a:latin typeface="Arial"/>
              </a:rPr>
              <a:t>CPU is a poor scaling signal for queue-driven or latency-bound workloads.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EVIDENCE</a:t>
            </a:r>
          </a:p>
          <a:p>
            <a:pPr algn="l">
              <a:spcAft>
                <a:spcPts val="300"/>
              </a:spcAft>
            </a:pPr>
            <a:r>
              <a:rPr sz="1050" b="0">
                <a:solidFill>
                  <a:srgbClr val="5B6372"/>
                </a:solidFill>
                <a:latin typeface="Arial"/>
              </a:rPr>
              <a:t>Scaling policy, metric math, warm-up, lifecycle state, target health and capacity event.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313</a:t>
            </a:r>
          </a:p>
        </p:txBody>
      </p:sp>
    </p:spTree>
  </p:cSld>
  <p:clrMapOvr>
    <a:masterClrMapping/>
  </p:clrMapOvr>
  <p:transition xmlns:p14="http://schemas.microsoft.com/office/powerpoint/2010/main" p14:dur="380">
    <p:fade/>
  </p:transition>
</p:sld>
</file>

<file path=ppt/slides/slide3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PROCESS MODEL</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Elastic compute and load distribution: operating flow</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49809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97102"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9710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Measure demand</a:t>
            </a:r>
          </a:p>
        </p:txBody>
      </p:sp>
      <p:sp>
        <p:nvSpPr>
          <p:cNvPr id="12" name="Rectangle 11"/>
          <p:cNvSpPr/>
          <p:nvPr/>
        </p:nvSpPr>
        <p:spPr>
          <a:xfrm>
            <a:off x="2604516"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04516" y="2148840"/>
            <a:ext cx="149809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024378"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24378"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6" name="TextBox 15"/>
          <p:cNvSpPr txBox="1"/>
          <p:nvPr/>
        </p:nvSpPr>
        <p:spPr>
          <a:xfrm>
            <a:off x="2723388"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Scale target</a:t>
            </a:r>
          </a:p>
        </p:txBody>
      </p:sp>
      <p:sp>
        <p:nvSpPr>
          <p:cNvPr id="17" name="Rectangle 16"/>
          <p:cNvSpPr/>
          <p:nvPr/>
        </p:nvSpPr>
        <p:spPr>
          <a:xfrm>
            <a:off x="4431792"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431792" y="2148840"/>
            <a:ext cx="149809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851654"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51654"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1" name="TextBox 20"/>
          <p:cNvSpPr txBox="1"/>
          <p:nvPr/>
        </p:nvSpPr>
        <p:spPr>
          <a:xfrm>
            <a:off x="4550664"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Launch</a:t>
            </a:r>
          </a:p>
        </p:txBody>
      </p:sp>
      <p:sp>
        <p:nvSpPr>
          <p:cNvPr id="22" name="Rectangle 21"/>
          <p:cNvSpPr/>
          <p:nvPr/>
        </p:nvSpPr>
        <p:spPr>
          <a:xfrm>
            <a:off x="6259068"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59068" y="2148840"/>
            <a:ext cx="149809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678930"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78930"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6" name="TextBox 25"/>
          <p:cNvSpPr txBox="1"/>
          <p:nvPr/>
        </p:nvSpPr>
        <p:spPr>
          <a:xfrm>
            <a:off x="6377940"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Warm and validate</a:t>
            </a:r>
          </a:p>
        </p:txBody>
      </p:sp>
      <p:sp>
        <p:nvSpPr>
          <p:cNvPr id="27" name="Rectangle 26"/>
          <p:cNvSpPr/>
          <p:nvPr/>
        </p:nvSpPr>
        <p:spPr>
          <a:xfrm>
            <a:off x="8086344"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086344" y="2148840"/>
            <a:ext cx="1498092" cy="914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506206" y="2532888"/>
            <a:ext cx="658368" cy="658368"/>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06206"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5</a:t>
            </a:r>
          </a:p>
        </p:txBody>
      </p:sp>
      <p:sp>
        <p:nvSpPr>
          <p:cNvPr id="31" name="TextBox 30"/>
          <p:cNvSpPr txBox="1"/>
          <p:nvPr/>
        </p:nvSpPr>
        <p:spPr>
          <a:xfrm>
            <a:off x="8205216"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Register</a:t>
            </a:r>
          </a:p>
        </p:txBody>
      </p:sp>
      <p:sp>
        <p:nvSpPr>
          <p:cNvPr id="32" name="Rectangle 31"/>
          <p:cNvSpPr/>
          <p:nvPr/>
        </p:nvSpPr>
        <p:spPr>
          <a:xfrm>
            <a:off x="9913620"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913620" y="2148840"/>
            <a:ext cx="1498092" cy="91440"/>
          </a:xfrm>
          <a:prstGeom prst="rect">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333482" y="2532888"/>
            <a:ext cx="658368" cy="658368"/>
          </a:xfrm>
          <a:prstGeom prst="ellipse">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3348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6</a:t>
            </a:r>
          </a:p>
        </p:txBody>
      </p:sp>
      <p:sp>
        <p:nvSpPr>
          <p:cNvPr id="36" name="TextBox 35"/>
          <p:cNvSpPr txBox="1"/>
          <p:nvPr/>
        </p:nvSpPr>
        <p:spPr>
          <a:xfrm>
            <a:off x="10032492"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Rebalance</a:t>
            </a:r>
          </a:p>
        </p:txBody>
      </p:sp>
      <p:cxnSp>
        <p:nvCxnSpPr>
          <p:cNvPr id="37" name="Connector 36"/>
          <p:cNvCxnSpPr/>
          <p:nvPr/>
        </p:nvCxnSpPr>
        <p:spPr>
          <a:xfrm>
            <a:off x="2275332"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10260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929884"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775716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9584436"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10B981"/>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44" name="TextBox 4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45" name="TextBox 4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6" name="TextBox 4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314</a:t>
            </a:r>
          </a:p>
        </p:txBody>
      </p:sp>
    </p:spTree>
  </p:cSld>
  <p:clrMapOvr>
    <a:masterClrMapping/>
  </p:clrMapOvr>
  <p:transition xmlns:p14="http://schemas.microsoft.com/office/powerpoint/2010/main" p14:dur="380">
    <p:fade/>
  </p:transition>
</p:sld>
</file>

<file path=ppt/slides/slide3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Elastic compute and load distribution: design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83280" cy="43708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70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011680"/>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011680"/>
            <a:ext cx="530352" cy="530352"/>
          </a:xfrm>
          <a:prstGeom prst="rect">
            <a:avLst/>
          </a:prstGeom>
          <a:noFill/>
        </p:spPr>
        <p:txBody>
          <a:bodyPr wrap="square" anchor="ctr">
            <a:spAutoFit/>
          </a:bodyPr>
          <a:lstStyle/>
          <a:p>
            <a:pPr algn="ctr">
              <a:spcAft>
                <a:spcPts val="400"/>
              </a:spcAft>
            </a:pPr>
            <a:r>
              <a:rPr sz="2000" b="1">
                <a:solidFill>
                  <a:srgbClr val="FFFFFF"/>
                </a:solidFill>
                <a:latin typeface="Arial"/>
              </a:rPr>
              <a:t>?</a:t>
            </a:r>
          </a:p>
        </p:txBody>
      </p:sp>
      <p:sp>
        <p:nvSpPr>
          <p:cNvPr id="11" name="TextBox 10"/>
          <p:cNvSpPr txBox="1"/>
          <p:nvPr/>
        </p:nvSpPr>
        <p:spPr>
          <a:xfrm>
            <a:off x="1709928" y="1984248"/>
            <a:ext cx="2212848" cy="502920"/>
          </a:xfrm>
          <a:prstGeom prst="rect">
            <a:avLst/>
          </a:prstGeom>
          <a:noFill/>
        </p:spPr>
        <p:txBody>
          <a:bodyPr wrap="square" anchor="ctr">
            <a:spAutoFit/>
          </a:bodyPr>
          <a:lstStyle/>
          <a:p>
            <a:pPr algn="l">
              <a:spcAft>
                <a:spcPts val="400"/>
              </a:spcAft>
            </a:pPr>
            <a:r>
              <a:rPr sz="1350" b="1">
                <a:solidFill>
                  <a:srgbClr val="10B981"/>
                </a:solidFill>
                <a:latin typeface="Arial"/>
              </a:rPr>
              <a:t>SCENARIO</a:t>
            </a:r>
          </a:p>
        </p:txBody>
      </p:sp>
      <p:sp>
        <p:nvSpPr>
          <p:cNvPr id="12" name="TextBox 11"/>
          <p:cNvSpPr txBox="1"/>
          <p:nvPr/>
        </p:nvSpPr>
        <p:spPr>
          <a:xfrm>
            <a:off x="1051560" y="2743200"/>
            <a:ext cx="2834640" cy="3136392"/>
          </a:xfrm>
          <a:prstGeom prst="rect">
            <a:avLst/>
          </a:prstGeom>
          <a:noFill/>
        </p:spPr>
        <p:txBody>
          <a:bodyPr wrap="square" anchor="t">
            <a:spAutoFit/>
          </a:bodyPr>
          <a:lstStyle/>
          <a:p>
            <a:pPr algn="l">
              <a:spcAft>
                <a:spcPts val="400"/>
              </a:spcAft>
            </a:pPr>
            <a:r>
              <a:rPr sz="1300" b="0">
                <a:solidFill>
                  <a:srgbClr val="161B26"/>
                </a:solidFill>
                <a:latin typeface="Arial"/>
              </a:rPr>
              <a:t>Traffic spikes arrive in ten minutes, but new instances need eight minutes to become healthy.</a:t>
            </a:r>
          </a:p>
        </p:txBody>
      </p:sp>
      <p:sp>
        <p:nvSpPr>
          <p:cNvPr id="13" name="Rectangle 12"/>
          <p:cNvSpPr/>
          <p:nvPr/>
        </p:nvSpPr>
        <p:spPr>
          <a:xfrm>
            <a:off x="4434840"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34840" y="1783080"/>
            <a:ext cx="91440"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636008" y="1965960"/>
            <a:ext cx="438912" cy="43891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6008"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7" name="TextBox 16"/>
          <p:cNvSpPr txBox="1"/>
          <p:nvPr/>
        </p:nvSpPr>
        <p:spPr>
          <a:xfrm>
            <a:off x="5212080" y="1929384"/>
            <a:ext cx="2286000" cy="475488"/>
          </a:xfrm>
          <a:prstGeom prst="rect">
            <a:avLst/>
          </a:prstGeom>
          <a:noFill/>
        </p:spPr>
        <p:txBody>
          <a:bodyPr wrap="square" anchor="ctr">
            <a:spAutoFit/>
          </a:bodyPr>
          <a:lstStyle/>
          <a:p>
            <a:pPr algn="l">
              <a:spcAft>
                <a:spcPts val="400"/>
              </a:spcAft>
            </a:pPr>
            <a:r>
              <a:rPr sz="1250" b="1">
                <a:solidFill>
                  <a:srgbClr val="10B981"/>
                </a:solidFill>
                <a:latin typeface="Arial"/>
              </a:rPr>
              <a:t>DESIGN RESPONSE</a:t>
            </a:r>
          </a:p>
        </p:txBody>
      </p:sp>
      <p:sp>
        <p:nvSpPr>
          <p:cNvPr id="18" name="TextBox 17"/>
          <p:cNvSpPr txBox="1"/>
          <p:nvPr/>
        </p:nvSpPr>
        <p:spPr>
          <a:xfrm>
            <a:off x="4663440"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Use target tracking where possible, warm-up periods, lifecycle hooks, multiple AZs and meaningful health checks.</a:t>
            </a:r>
          </a:p>
        </p:txBody>
      </p:sp>
      <p:sp>
        <p:nvSpPr>
          <p:cNvPr id="19" name="Rectangle 18"/>
          <p:cNvSpPr/>
          <p:nvPr/>
        </p:nvSpPr>
        <p:spPr>
          <a:xfrm>
            <a:off x="7973568"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973568" y="1783080"/>
            <a:ext cx="91440" cy="21488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174736" y="1965960"/>
            <a:ext cx="438912" cy="43891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74736"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23" name="TextBox 22"/>
          <p:cNvSpPr txBox="1"/>
          <p:nvPr/>
        </p:nvSpPr>
        <p:spPr>
          <a:xfrm>
            <a:off x="8750808" y="1929384"/>
            <a:ext cx="2286000" cy="475488"/>
          </a:xfrm>
          <a:prstGeom prst="rect">
            <a:avLst/>
          </a:prstGeom>
          <a:noFill/>
        </p:spPr>
        <p:txBody>
          <a:bodyPr wrap="square" anchor="ctr">
            <a:spAutoFit/>
          </a:bodyPr>
          <a:lstStyle/>
          <a:p>
            <a:pPr algn="l">
              <a:spcAft>
                <a:spcPts val="400"/>
              </a:spcAft>
            </a:pPr>
            <a:r>
              <a:rPr sz="1250" b="1">
                <a:solidFill>
                  <a:srgbClr val="7C3AED"/>
                </a:solidFill>
                <a:latin typeface="Arial"/>
              </a:rPr>
              <a:t>PRIMARY SERVICES</a:t>
            </a:r>
          </a:p>
        </p:txBody>
      </p:sp>
      <p:sp>
        <p:nvSpPr>
          <p:cNvPr id="24" name="TextBox 23"/>
          <p:cNvSpPr txBox="1"/>
          <p:nvPr/>
        </p:nvSpPr>
        <p:spPr>
          <a:xfrm>
            <a:off x="8202168"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Auto Scaling · ALB · NLB · EC2 Fleet</a:t>
            </a:r>
          </a:p>
        </p:txBody>
      </p:sp>
      <p:sp>
        <p:nvSpPr>
          <p:cNvPr id="25" name="Rectangle 24"/>
          <p:cNvSpPr/>
          <p:nvPr/>
        </p:nvSpPr>
        <p:spPr>
          <a:xfrm>
            <a:off x="4434840"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34840" y="4005072"/>
            <a:ext cx="91440" cy="21488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636008" y="4187952"/>
            <a:ext cx="438912" cy="43891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36008"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9" name="TextBox 28"/>
          <p:cNvSpPr txBox="1"/>
          <p:nvPr/>
        </p:nvSpPr>
        <p:spPr>
          <a:xfrm>
            <a:off x="5212080" y="4151376"/>
            <a:ext cx="2286000" cy="475488"/>
          </a:xfrm>
          <a:prstGeom prst="rect">
            <a:avLst/>
          </a:prstGeom>
          <a:noFill/>
        </p:spPr>
        <p:txBody>
          <a:bodyPr wrap="square" anchor="ctr">
            <a:spAutoFit/>
          </a:bodyPr>
          <a:lstStyle/>
          <a:p>
            <a:pPr algn="l">
              <a:spcAft>
                <a:spcPts val="400"/>
              </a:spcAft>
            </a:pPr>
            <a:r>
              <a:rPr sz="1250" b="1">
                <a:solidFill>
                  <a:srgbClr val="F59E0B"/>
                </a:solidFill>
                <a:latin typeface="Arial"/>
              </a:rPr>
              <a:t>FAILURE MODE</a:t>
            </a:r>
          </a:p>
        </p:txBody>
      </p:sp>
      <p:sp>
        <p:nvSpPr>
          <p:cNvPr id="30" name="TextBox 29"/>
          <p:cNvSpPr txBox="1"/>
          <p:nvPr/>
        </p:nvSpPr>
        <p:spPr>
          <a:xfrm>
            <a:off x="4663440"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CPU is a poor scaling signal for queue-driven or latency-bound workloads.</a:t>
            </a:r>
          </a:p>
        </p:txBody>
      </p:sp>
      <p:sp>
        <p:nvSpPr>
          <p:cNvPr id="31" name="Rectangle 30"/>
          <p:cNvSpPr/>
          <p:nvPr/>
        </p:nvSpPr>
        <p:spPr>
          <a:xfrm>
            <a:off x="7973568"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73568" y="4005072"/>
            <a:ext cx="91440" cy="21488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174736" y="4187952"/>
            <a:ext cx="438912" cy="438912"/>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74736"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5" name="TextBox 34"/>
          <p:cNvSpPr txBox="1"/>
          <p:nvPr/>
        </p:nvSpPr>
        <p:spPr>
          <a:xfrm>
            <a:off x="8750808" y="4151376"/>
            <a:ext cx="2286000" cy="475488"/>
          </a:xfrm>
          <a:prstGeom prst="rect">
            <a:avLst/>
          </a:prstGeom>
          <a:noFill/>
        </p:spPr>
        <p:txBody>
          <a:bodyPr wrap="square" anchor="ctr">
            <a:spAutoFit/>
          </a:bodyPr>
          <a:lstStyle/>
          <a:p>
            <a:pPr algn="l">
              <a:spcAft>
                <a:spcPts val="400"/>
              </a:spcAft>
            </a:pPr>
            <a:r>
              <a:rPr sz="1250" b="1">
                <a:solidFill>
                  <a:srgbClr val="EC711E"/>
                </a:solidFill>
                <a:latin typeface="Arial"/>
              </a:rPr>
              <a:t>PROOF</a:t>
            </a:r>
          </a:p>
        </p:txBody>
      </p:sp>
      <p:sp>
        <p:nvSpPr>
          <p:cNvPr id="36" name="TextBox 35"/>
          <p:cNvSpPr txBox="1"/>
          <p:nvPr/>
        </p:nvSpPr>
        <p:spPr>
          <a:xfrm>
            <a:off x="8202168"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Scaling policy, metric math, warm-up, lifecycle state, target health and capacity event.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315</a:t>
            </a:r>
          </a:p>
        </p:txBody>
      </p:sp>
    </p:spTree>
  </p:cSld>
  <p:clrMapOvr>
    <a:masterClrMapping/>
  </p:clrMapOvr>
  <p:transition xmlns:p14="http://schemas.microsoft.com/office/powerpoint/2010/main" p14:dur="380">
    <p:fade/>
  </p:transition>
</p:sld>
</file>

<file path=ppt/slides/slide3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OPERATIONS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Elastic compute and load distribution: failure diagnostic</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RECOGNISE</a:t>
            </a:r>
          </a:p>
          <a:p>
            <a:pPr algn="l">
              <a:spcAft>
                <a:spcPts val="300"/>
              </a:spcAft>
            </a:pPr>
            <a:r>
              <a:rPr sz="1050" b="0">
                <a:solidFill>
                  <a:srgbClr val="5B6372"/>
                </a:solidFill>
                <a:latin typeface="Arial"/>
              </a:rPr>
              <a:t>Observable failure condition: CPU is a poor scaling signal for queue-driven or latency-bound workloads.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CONTAIN</a:t>
            </a:r>
          </a:p>
          <a:p>
            <a:pPr algn="l">
              <a:spcAft>
                <a:spcPts val="300"/>
              </a:spcAft>
            </a:pPr>
            <a:r>
              <a:rPr sz="1050" b="0">
                <a:solidFill>
                  <a:srgbClr val="5B6372"/>
                </a:solidFill>
                <a:latin typeface="Arial"/>
              </a:rPr>
              <a:t>Pause promotion, preserve evidence and reduce impact without destroying diagnostic state.</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DIAGNOSE</a:t>
            </a:r>
          </a:p>
          <a:p>
            <a:pPr algn="l">
              <a:spcAft>
                <a:spcPts val="300"/>
              </a:spcAft>
            </a:pPr>
            <a:r>
              <a:rPr sz="1050" b="0">
                <a:solidFill>
                  <a:srgbClr val="5B6372"/>
                </a:solidFill>
                <a:latin typeface="Arial"/>
              </a:rPr>
              <a:t>Trace the workflow from Measure demand through Rebalance; compare intended configuration with runtime state.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RECOVER</a:t>
            </a:r>
          </a:p>
          <a:p>
            <a:pPr algn="l">
              <a:spcAft>
                <a:spcPts val="300"/>
              </a:spcAft>
            </a:pPr>
            <a:r>
              <a:rPr sz="1050" b="0">
                <a:solidFill>
                  <a:srgbClr val="5B6372"/>
                </a:solidFill>
                <a:latin typeface="Arial"/>
              </a:rPr>
              <a:t>Restore the last known-good state, then prove recovery with Scaling policy, metric math, warm-up, lifecycle state, target health and capacity event.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316</a:t>
            </a:r>
          </a:p>
        </p:txBody>
      </p:sp>
    </p:spTree>
  </p:cSld>
  <p:clrMapOvr>
    <a:masterClrMapping/>
  </p:clrMapOvr>
  <p:transition xmlns:p14="http://schemas.microsoft.com/office/powerpoint/2010/main" p14:dur="380">
    <p:fade/>
  </p:transition>
</p:sld>
</file>

<file path=ppt/slides/slide3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APPLIED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Elastic compute and load distribution: worked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CONSTRAINT</a:t>
            </a:r>
          </a:p>
          <a:p>
            <a:pPr algn="l">
              <a:spcAft>
                <a:spcPts val="300"/>
              </a:spcAft>
            </a:pPr>
            <a:r>
              <a:rPr sz="1050" b="0">
                <a:solidFill>
                  <a:srgbClr val="5B6372"/>
                </a:solidFill>
                <a:latin typeface="Arial"/>
              </a:rPr>
              <a:t>Traffic spikes arrive in ten minutes, but new instances need eight minutes to become healthy.</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DECISION</a:t>
            </a:r>
          </a:p>
          <a:p>
            <a:pPr algn="l">
              <a:spcAft>
                <a:spcPts val="300"/>
              </a:spcAft>
            </a:pPr>
            <a:r>
              <a:rPr sz="1050" b="0">
                <a:solidFill>
                  <a:srgbClr val="5B6372"/>
                </a:solidFill>
                <a:latin typeface="Arial"/>
              </a:rPr>
              <a:t>Use target tracking where possible, warm-up periods, lifecycle hooks, multiple AZs and meaningful health checks.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WHY ALTERNATIVES LOSE</a:t>
            </a:r>
          </a:p>
          <a:p>
            <a:pPr algn="l">
              <a:spcAft>
                <a:spcPts val="300"/>
              </a:spcAft>
            </a:pPr>
            <a:r>
              <a:rPr sz="1050" b="0">
                <a:solidFill>
                  <a:srgbClr val="5B6372"/>
                </a:solidFill>
                <a:latin typeface="Arial"/>
              </a:rPr>
              <a:t>Reject options that do not change the stated failure boundary: CPU is a poor scaling signal for queue-driven or latency-bound workloads.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ACCEPTANCE TEST</a:t>
            </a:r>
          </a:p>
          <a:p>
            <a:pPr algn="l">
              <a:spcAft>
                <a:spcPts val="300"/>
              </a:spcAft>
            </a:pPr>
            <a:r>
              <a:rPr sz="1050" b="0">
                <a:solidFill>
                  <a:srgbClr val="5B6372"/>
                </a:solidFill>
                <a:latin typeface="Arial"/>
              </a:rPr>
              <a:t>The decision is complete only when this proof exists: Scaling policy, metric math, warm-up, lifecycle state, target health and capacity event.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317</a:t>
            </a:r>
          </a:p>
        </p:txBody>
      </p:sp>
    </p:spTree>
  </p:cSld>
  <p:clrMapOvr>
    <a:masterClrMapping/>
  </p:clrMapOvr>
  <p:transition xmlns:p14="http://schemas.microsoft.com/office/powerpoint/2010/main" p14:dur="380">
    <p:fade/>
  </p:transition>
</p:sld>
</file>

<file path=ppt/slides/slide3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RESILIENT CLOUD SOLUTIONS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DNS and multi-Region traffic control</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OUTCOME</a:t>
            </a:r>
          </a:p>
          <a:p>
            <a:pPr algn="l">
              <a:spcAft>
                <a:spcPts val="300"/>
              </a:spcAft>
            </a:pPr>
            <a:r>
              <a:rPr sz="1050" b="0">
                <a:solidFill>
                  <a:srgbClr val="5B6372"/>
                </a:solidFill>
                <a:latin typeface="Arial"/>
              </a:rPr>
              <a:t>Route users according to health, latency, geography and recovery objectives.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ARCHITECTURE</a:t>
            </a:r>
          </a:p>
          <a:p>
            <a:pPr algn="l">
              <a:spcAft>
                <a:spcPts val="300"/>
              </a:spcAft>
            </a:pPr>
            <a:r>
              <a:rPr sz="1050" b="0">
                <a:solidFill>
                  <a:srgbClr val="5B6372"/>
                </a:solidFill>
                <a:latin typeface="Arial"/>
              </a:rPr>
              <a:t>Combine endpoint health with failover or latency policies; understand DNS caching and use anycast when convergence must be faster.</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MODE</a:t>
            </a:r>
          </a:p>
          <a:p>
            <a:pPr algn="l">
              <a:spcAft>
                <a:spcPts val="300"/>
              </a:spcAft>
            </a:pPr>
            <a:r>
              <a:rPr sz="1050" b="0">
                <a:solidFill>
                  <a:srgbClr val="5B6372"/>
                </a:solidFill>
                <a:latin typeface="Arial"/>
              </a:rPr>
              <a:t>A low TTL cannot force clients or resolvers to refresh immediately.</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EVIDENCE</a:t>
            </a:r>
          </a:p>
          <a:p>
            <a:pPr algn="l">
              <a:spcAft>
                <a:spcPts val="300"/>
              </a:spcAft>
            </a:pPr>
            <a:r>
              <a:rPr sz="1050" b="0">
                <a:solidFill>
                  <a:srgbClr val="5B6372"/>
                </a:solidFill>
                <a:latin typeface="Arial"/>
              </a:rPr>
              <a:t>Routing policy, health-check state, TTL, endpoint weight and observed failover time.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318</a:t>
            </a:r>
          </a:p>
        </p:txBody>
      </p:sp>
    </p:spTree>
  </p:cSld>
  <p:clrMapOvr>
    <a:masterClrMapping/>
  </p:clrMapOvr>
  <p:transition xmlns:p14="http://schemas.microsoft.com/office/powerpoint/2010/main" p14:dur="380">
    <p:fade/>
  </p:transition>
</p:sld>
</file>

<file path=ppt/slides/slide3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PROCESS MODEL</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DNS and multi-Region traffic control: operating flow</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6354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79829"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982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Probe endpoint</a:t>
            </a:r>
          </a:p>
        </p:txBody>
      </p:sp>
      <p:sp>
        <p:nvSpPr>
          <p:cNvPr id="12" name="Rectangle 11"/>
          <p:cNvSpPr/>
          <p:nvPr/>
        </p:nvSpPr>
        <p:spPr>
          <a:xfrm>
            <a:off x="2969971"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69971" y="2148840"/>
            <a:ext cx="186354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572560"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72560"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6" name="TextBox 15"/>
          <p:cNvSpPr txBox="1"/>
          <p:nvPr/>
        </p:nvSpPr>
        <p:spPr>
          <a:xfrm>
            <a:off x="3088843"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Evaluate policy</a:t>
            </a:r>
          </a:p>
        </p:txBody>
      </p:sp>
      <p:sp>
        <p:nvSpPr>
          <p:cNvPr id="17" name="Rectangle 16"/>
          <p:cNvSpPr/>
          <p:nvPr/>
        </p:nvSpPr>
        <p:spPr>
          <a:xfrm>
            <a:off x="5162702"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62702" y="2148840"/>
            <a:ext cx="186354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765291"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6529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1" name="TextBox 20"/>
          <p:cNvSpPr txBox="1"/>
          <p:nvPr/>
        </p:nvSpPr>
        <p:spPr>
          <a:xfrm>
            <a:off x="5281574"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Return target</a:t>
            </a:r>
          </a:p>
        </p:txBody>
      </p:sp>
      <p:sp>
        <p:nvSpPr>
          <p:cNvPr id="22" name="Rectangle 21"/>
          <p:cNvSpPr/>
          <p:nvPr/>
        </p:nvSpPr>
        <p:spPr>
          <a:xfrm>
            <a:off x="7355433"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355433" y="2148840"/>
            <a:ext cx="186354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958022"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5802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6" name="TextBox 25"/>
          <p:cNvSpPr txBox="1"/>
          <p:nvPr/>
        </p:nvSpPr>
        <p:spPr>
          <a:xfrm>
            <a:off x="7474305"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Observe health</a:t>
            </a:r>
          </a:p>
        </p:txBody>
      </p:sp>
      <p:sp>
        <p:nvSpPr>
          <p:cNvPr id="27" name="Rectangle 26"/>
          <p:cNvSpPr/>
          <p:nvPr/>
        </p:nvSpPr>
        <p:spPr>
          <a:xfrm>
            <a:off x="9548164"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548164" y="2148840"/>
            <a:ext cx="1863547" cy="914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50753" y="2532888"/>
            <a:ext cx="658368" cy="658368"/>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5075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5</a:t>
            </a:r>
          </a:p>
        </p:txBody>
      </p:sp>
      <p:sp>
        <p:nvSpPr>
          <p:cNvPr id="31" name="TextBox 30"/>
          <p:cNvSpPr txBox="1"/>
          <p:nvPr/>
        </p:nvSpPr>
        <p:spPr>
          <a:xfrm>
            <a:off x="9667036"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Fail over</a:t>
            </a:r>
          </a:p>
        </p:txBody>
      </p:sp>
      <p:cxnSp>
        <p:nvCxnSpPr>
          <p:cNvPr id="32" name="Connector 31"/>
          <p:cNvCxnSpPr/>
          <p:nvPr/>
        </p:nvCxnSpPr>
        <p:spPr>
          <a:xfrm>
            <a:off x="2640787"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83351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026249"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21898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10B981"/>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8" name="TextBox 3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9" name="TextBox 3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0" name="TextBox 3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319</a:t>
            </a:r>
          </a:p>
        </p:txBody>
      </p:sp>
    </p:spTree>
  </p:cSld>
  <p:clrMapOvr>
    <a:masterClrMapping/>
  </p:clrMapOvr>
  <p:transition xmlns:p14="http://schemas.microsoft.com/office/powerpoint/2010/main" p14:dur="380">
    <p:fade/>
  </p:transition>
</p:sld>
</file>

<file path=ppt/slides/slide3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DNS and multi-Region traffic control: design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83280" cy="43708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70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011680"/>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011680"/>
            <a:ext cx="530352" cy="530352"/>
          </a:xfrm>
          <a:prstGeom prst="rect">
            <a:avLst/>
          </a:prstGeom>
          <a:noFill/>
        </p:spPr>
        <p:txBody>
          <a:bodyPr wrap="square" anchor="ctr">
            <a:spAutoFit/>
          </a:bodyPr>
          <a:lstStyle/>
          <a:p>
            <a:pPr algn="ctr">
              <a:spcAft>
                <a:spcPts val="400"/>
              </a:spcAft>
            </a:pPr>
            <a:r>
              <a:rPr sz="2000" b="1">
                <a:solidFill>
                  <a:srgbClr val="FFFFFF"/>
                </a:solidFill>
                <a:latin typeface="Arial"/>
              </a:rPr>
              <a:t>?</a:t>
            </a:r>
          </a:p>
        </p:txBody>
      </p:sp>
      <p:sp>
        <p:nvSpPr>
          <p:cNvPr id="11" name="TextBox 10"/>
          <p:cNvSpPr txBox="1"/>
          <p:nvPr/>
        </p:nvSpPr>
        <p:spPr>
          <a:xfrm>
            <a:off x="1709928" y="1984248"/>
            <a:ext cx="2212848" cy="502920"/>
          </a:xfrm>
          <a:prstGeom prst="rect">
            <a:avLst/>
          </a:prstGeom>
          <a:noFill/>
        </p:spPr>
        <p:txBody>
          <a:bodyPr wrap="square" anchor="ctr">
            <a:spAutoFit/>
          </a:bodyPr>
          <a:lstStyle/>
          <a:p>
            <a:pPr algn="l">
              <a:spcAft>
                <a:spcPts val="400"/>
              </a:spcAft>
            </a:pPr>
            <a:r>
              <a:rPr sz="1350" b="1">
                <a:solidFill>
                  <a:srgbClr val="10B981"/>
                </a:solidFill>
                <a:latin typeface="Arial"/>
              </a:rPr>
              <a:t>SCENARIO</a:t>
            </a:r>
          </a:p>
        </p:txBody>
      </p:sp>
      <p:sp>
        <p:nvSpPr>
          <p:cNvPr id="12" name="TextBox 11"/>
          <p:cNvSpPr txBox="1"/>
          <p:nvPr/>
        </p:nvSpPr>
        <p:spPr>
          <a:xfrm>
            <a:off x="1051560" y="2743200"/>
            <a:ext cx="2834640" cy="3136392"/>
          </a:xfrm>
          <a:prstGeom prst="rect">
            <a:avLst/>
          </a:prstGeom>
          <a:noFill/>
        </p:spPr>
        <p:txBody>
          <a:bodyPr wrap="square" anchor="t">
            <a:spAutoFit/>
          </a:bodyPr>
          <a:lstStyle/>
          <a:p>
            <a:pPr algn="l">
              <a:spcAft>
                <a:spcPts val="400"/>
              </a:spcAft>
            </a:pPr>
            <a:r>
              <a:rPr sz="1300" b="0">
                <a:solidFill>
                  <a:srgbClr val="161B26"/>
                </a:solidFill>
                <a:latin typeface="Arial"/>
              </a:rPr>
              <a:t>A global API needs regional failover within one minute with stable client endpoints.</a:t>
            </a:r>
          </a:p>
        </p:txBody>
      </p:sp>
      <p:sp>
        <p:nvSpPr>
          <p:cNvPr id="13" name="Rectangle 12"/>
          <p:cNvSpPr/>
          <p:nvPr/>
        </p:nvSpPr>
        <p:spPr>
          <a:xfrm>
            <a:off x="4434840"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34840" y="1783080"/>
            <a:ext cx="91440"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636008" y="1965960"/>
            <a:ext cx="438912" cy="43891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6008"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7" name="TextBox 16"/>
          <p:cNvSpPr txBox="1"/>
          <p:nvPr/>
        </p:nvSpPr>
        <p:spPr>
          <a:xfrm>
            <a:off x="5212080" y="1929384"/>
            <a:ext cx="2286000" cy="475488"/>
          </a:xfrm>
          <a:prstGeom prst="rect">
            <a:avLst/>
          </a:prstGeom>
          <a:noFill/>
        </p:spPr>
        <p:txBody>
          <a:bodyPr wrap="square" anchor="ctr">
            <a:spAutoFit/>
          </a:bodyPr>
          <a:lstStyle/>
          <a:p>
            <a:pPr algn="l">
              <a:spcAft>
                <a:spcPts val="400"/>
              </a:spcAft>
            </a:pPr>
            <a:r>
              <a:rPr sz="1250" b="1">
                <a:solidFill>
                  <a:srgbClr val="10B981"/>
                </a:solidFill>
                <a:latin typeface="Arial"/>
              </a:rPr>
              <a:t>DESIGN RESPONSE</a:t>
            </a:r>
          </a:p>
        </p:txBody>
      </p:sp>
      <p:sp>
        <p:nvSpPr>
          <p:cNvPr id="18" name="TextBox 17"/>
          <p:cNvSpPr txBox="1"/>
          <p:nvPr/>
        </p:nvSpPr>
        <p:spPr>
          <a:xfrm>
            <a:off x="4663440"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Combine endpoint health with failover or latency policies; understand DNS caching and use anycast when convergence must be faster.</a:t>
            </a:r>
          </a:p>
        </p:txBody>
      </p:sp>
      <p:sp>
        <p:nvSpPr>
          <p:cNvPr id="19" name="Rectangle 18"/>
          <p:cNvSpPr/>
          <p:nvPr/>
        </p:nvSpPr>
        <p:spPr>
          <a:xfrm>
            <a:off x="7973568"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973568" y="1783080"/>
            <a:ext cx="91440" cy="21488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174736" y="1965960"/>
            <a:ext cx="438912" cy="43891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74736"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23" name="TextBox 22"/>
          <p:cNvSpPr txBox="1"/>
          <p:nvPr/>
        </p:nvSpPr>
        <p:spPr>
          <a:xfrm>
            <a:off x="8750808" y="1929384"/>
            <a:ext cx="2286000" cy="475488"/>
          </a:xfrm>
          <a:prstGeom prst="rect">
            <a:avLst/>
          </a:prstGeom>
          <a:noFill/>
        </p:spPr>
        <p:txBody>
          <a:bodyPr wrap="square" anchor="ctr">
            <a:spAutoFit/>
          </a:bodyPr>
          <a:lstStyle/>
          <a:p>
            <a:pPr algn="l">
              <a:spcAft>
                <a:spcPts val="400"/>
              </a:spcAft>
            </a:pPr>
            <a:r>
              <a:rPr sz="1250" b="1">
                <a:solidFill>
                  <a:srgbClr val="7C3AED"/>
                </a:solidFill>
                <a:latin typeface="Arial"/>
              </a:rPr>
              <a:t>PRIMARY SERVICES</a:t>
            </a:r>
          </a:p>
        </p:txBody>
      </p:sp>
      <p:sp>
        <p:nvSpPr>
          <p:cNvPr id="24" name="TextBox 23"/>
          <p:cNvSpPr txBox="1"/>
          <p:nvPr/>
        </p:nvSpPr>
        <p:spPr>
          <a:xfrm>
            <a:off x="8202168"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Route 53 · Global Accelerator · CloudFront</a:t>
            </a:r>
          </a:p>
        </p:txBody>
      </p:sp>
      <p:sp>
        <p:nvSpPr>
          <p:cNvPr id="25" name="Rectangle 24"/>
          <p:cNvSpPr/>
          <p:nvPr/>
        </p:nvSpPr>
        <p:spPr>
          <a:xfrm>
            <a:off x="4434840"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34840" y="4005072"/>
            <a:ext cx="91440" cy="21488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636008" y="4187952"/>
            <a:ext cx="438912" cy="43891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36008"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9" name="TextBox 28"/>
          <p:cNvSpPr txBox="1"/>
          <p:nvPr/>
        </p:nvSpPr>
        <p:spPr>
          <a:xfrm>
            <a:off x="5212080" y="4151376"/>
            <a:ext cx="2286000" cy="475488"/>
          </a:xfrm>
          <a:prstGeom prst="rect">
            <a:avLst/>
          </a:prstGeom>
          <a:noFill/>
        </p:spPr>
        <p:txBody>
          <a:bodyPr wrap="square" anchor="ctr">
            <a:spAutoFit/>
          </a:bodyPr>
          <a:lstStyle/>
          <a:p>
            <a:pPr algn="l">
              <a:spcAft>
                <a:spcPts val="400"/>
              </a:spcAft>
            </a:pPr>
            <a:r>
              <a:rPr sz="1250" b="1">
                <a:solidFill>
                  <a:srgbClr val="F59E0B"/>
                </a:solidFill>
                <a:latin typeface="Arial"/>
              </a:rPr>
              <a:t>FAILURE MODE</a:t>
            </a:r>
          </a:p>
        </p:txBody>
      </p:sp>
      <p:sp>
        <p:nvSpPr>
          <p:cNvPr id="30" name="TextBox 29"/>
          <p:cNvSpPr txBox="1"/>
          <p:nvPr/>
        </p:nvSpPr>
        <p:spPr>
          <a:xfrm>
            <a:off x="4663440"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A low TTL cannot force clients or resolvers to refresh immediately.</a:t>
            </a:r>
          </a:p>
        </p:txBody>
      </p:sp>
      <p:sp>
        <p:nvSpPr>
          <p:cNvPr id="31" name="Rectangle 30"/>
          <p:cNvSpPr/>
          <p:nvPr/>
        </p:nvSpPr>
        <p:spPr>
          <a:xfrm>
            <a:off x="7973568"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73568" y="4005072"/>
            <a:ext cx="91440" cy="21488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174736" y="4187952"/>
            <a:ext cx="438912" cy="438912"/>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74736"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5" name="TextBox 34"/>
          <p:cNvSpPr txBox="1"/>
          <p:nvPr/>
        </p:nvSpPr>
        <p:spPr>
          <a:xfrm>
            <a:off x="8750808" y="4151376"/>
            <a:ext cx="2286000" cy="475488"/>
          </a:xfrm>
          <a:prstGeom prst="rect">
            <a:avLst/>
          </a:prstGeom>
          <a:noFill/>
        </p:spPr>
        <p:txBody>
          <a:bodyPr wrap="square" anchor="ctr">
            <a:spAutoFit/>
          </a:bodyPr>
          <a:lstStyle/>
          <a:p>
            <a:pPr algn="l">
              <a:spcAft>
                <a:spcPts val="400"/>
              </a:spcAft>
            </a:pPr>
            <a:r>
              <a:rPr sz="1250" b="1">
                <a:solidFill>
                  <a:srgbClr val="EC711E"/>
                </a:solidFill>
                <a:latin typeface="Arial"/>
              </a:rPr>
              <a:t>PROOF</a:t>
            </a:r>
          </a:p>
        </p:txBody>
      </p:sp>
      <p:sp>
        <p:nvSpPr>
          <p:cNvPr id="36" name="TextBox 35"/>
          <p:cNvSpPr txBox="1"/>
          <p:nvPr/>
        </p:nvSpPr>
        <p:spPr>
          <a:xfrm>
            <a:off x="8202168"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Routing policy, health-check state, TTL, endpoint weight and observed failover time.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320</a:t>
            </a:r>
          </a:p>
        </p:txBody>
      </p:sp>
    </p:spTree>
  </p:cSld>
  <p:clrMapOvr>
    <a:masterClrMapping/>
  </p:clrMapOvr>
  <p:transition xmlns:p14="http://schemas.microsoft.com/office/powerpoint/2010/main" p14:dur="380">
    <p:fade/>
  </p:transition>
</p:sld>
</file>

<file path=ppt/slides/slide3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OPERATIONS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DNS and multi-Region traffic control: failure diagnostic</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RECOGNISE</a:t>
            </a:r>
          </a:p>
          <a:p>
            <a:pPr algn="l">
              <a:spcAft>
                <a:spcPts val="300"/>
              </a:spcAft>
            </a:pPr>
            <a:r>
              <a:rPr sz="1050" b="0">
                <a:solidFill>
                  <a:srgbClr val="5B6372"/>
                </a:solidFill>
                <a:latin typeface="Arial"/>
              </a:rPr>
              <a:t>Observable failure condition: A low TTL cannot force clients or resolvers to refresh immediately.</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CONTAIN</a:t>
            </a:r>
          </a:p>
          <a:p>
            <a:pPr algn="l">
              <a:spcAft>
                <a:spcPts val="300"/>
              </a:spcAft>
            </a:pPr>
            <a:r>
              <a:rPr sz="1050" b="0">
                <a:solidFill>
                  <a:srgbClr val="5B6372"/>
                </a:solidFill>
                <a:latin typeface="Arial"/>
              </a:rPr>
              <a:t>Pause promotion, preserve evidence and reduce impact without destroying diagnostic state.</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DIAGNOSE</a:t>
            </a:r>
          </a:p>
          <a:p>
            <a:pPr algn="l">
              <a:spcAft>
                <a:spcPts val="300"/>
              </a:spcAft>
            </a:pPr>
            <a:r>
              <a:rPr sz="1050" b="0">
                <a:solidFill>
                  <a:srgbClr val="5B6372"/>
                </a:solidFill>
                <a:latin typeface="Arial"/>
              </a:rPr>
              <a:t>Trace the workflow from Probe endpoint through Fail over; compare intended configuration with runtime state.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RECOVER</a:t>
            </a:r>
          </a:p>
          <a:p>
            <a:pPr algn="l">
              <a:spcAft>
                <a:spcPts val="300"/>
              </a:spcAft>
            </a:pPr>
            <a:r>
              <a:rPr sz="1050" b="0">
                <a:solidFill>
                  <a:srgbClr val="5B6372"/>
                </a:solidFill>
                <a:latin typeface="Arial"/>
              </a:rPr>
              <a:t>Restore the last known-good state, then prove recovery with Routing policy, health-check state, TTL, endpoint weight and observed failover time.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321</a:t>
            </a:r>
          </a:p>
        </p:txBody>
      </p:sp>
    </p:spTree>
  </p:cSld>
  <p:clrMapOvr>
    <a:masterClrMapping/>
  </p:clrMapOvr>
  <p:transition xmlns:p14="http://schemas.microsoft.com/office/powerpoint/2010/main" p14:dur="380">
    <p:fade/>
  </p:transition>
</p:sld>
</file>

<file path=ppt/slides/slide3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APPLIED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DNS and multi-Region traffic control: worked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CONSTRAINT</a:t>
            </a:r>
          </a:p>
          <a:p>
            <a:pPr algn="l">
              <a:spcAft>
                <a:spcPts val="300"/>
              </a:spcAft>
            </a:pPr>
            <a:r>
              <a:rPr sz="1050" b="0">
                <a:solidFill>
                  <a:srgbClr val="5B6372"/>
                </a:solidFill>
                <a:latin typeface="Arial"/>
              </a:rPr>
              <a:t>A global API needs regional failover within one minute with stable client endpoints.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DECISION</a:t>
            </a:r>
          </a:p>
          <a:p>
            <a:pPr algn="l">
              <a:spcAft>
                <a:spcPts val="300"/>
              </a:spcAft>
            </a:pPr>
            <a:r>
              <a:rPr sz="1050" b="0">
                <a:solidFill>
                  <a:srgbClr val="5B6372"/>
                </a:solidFill>
                <a:latin typeface="Arial"/>
              </a:rPr>
              <a:t>Combine endpoint health with failover or latency policies; understand DNS caching and use anycast when convergence must be faster.</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WHY ALTERNATIVES LOSE</a:t>
            </a:r>
          </a:p>
          <a:p>
            <a:pPr algn="l">
              <a:spcAft>
                <a:spcPts val="300"/>
              </a:spcAft>
            </a:pPr>
            <a:r>
              <a:rPr sz="1050" b="0">
                <a:solidFill>
                  <a:srgbClr val="5B6372"/>
                </a:solidFill>
                <a:latin typeface="Arial"/>
              </a:rPr>
              <a:t>Reject options that do not change the stated failure boundary: A low TTL cannot force clients or resolvers to refresh immediately.</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ACCEPTANCE TEST</a:t>
            </a:r>
          </a:p>
          <a:p>
            <a:pPr algn="l">
              <a:spcAft>
                <a:spcPts val="300"/>
              </a:spcAft>
            </a:pPr>
            <a:r>
              <a:rPr sz="1050" b="0">
                <a:solidFill>
                  <a:srgbClr val="5B6372"/>
                </a:solidFill>
                <a:latin typeface="Arial"/>
              </a:rPr>
              <a:t>The decision is complete only when this proof exists: Routing policy, health-check state, TTL, endpoint weight and observed failover time.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322</a:t>
            </a:r>
          </a:p>
        </p:txBody>
      </p:sp>
    </p:spTree>
  </p:cSld>
  <p:clrMapOvr>
    <a:masterClrMapping/>
  </p:clrMapOvr>
  <p:transition xmlns:p14="http://schemas.microsoft.com/office/powerpoint/2010/main" p14:dur="380">
    <p:fade/>
  </p:transition>
</p:sld>
</file>

<file path=ppt/slides/slide3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RESILIENT CLOUD SOLUTIONS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Resilient data stores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OUTCOME</a:t>
            </a:r>
          </a:p>
          <a:p>
            <a:pPr algn="l">
              <a:spcAft>
                <a:spcPts val="300"/>
              </a:spcAft>
            </a:pPr>
            <a:r>
              <a:rPr sz="1050" b="0">
                <a:solidFill>
                  <a:srgbClr val="5B6372"/>
                </a:solidFill>
                <a:latin typeface="Arial"/>
              </a:rPr>
              <a:t>Select replication and failover mechanisms that meet consistency, RPO and RTO requirements.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ARCHITECTURE</a:t>
            </a:r>
          </a:p>
          <a:p>
            <a:pPr algn="l">
              <a:spcAft>
                <a:spcPts val="300"/>
              </a:spcAft>
            </a:pPr>
            <a:r>
              <a:rPr sz="1050" b="0">
                <a:solidFill>
                  <a:srgbClr val="5B6372"/>
                </a:solidFill>
                <a:latin typeface="Arial"/>
              </a:rPr>
              <a:t>Distinguish read scaling from high availability, test failover, plan write ownership and monitor replication lag.</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MODE</a:t>
            </a:r>
          </a:p>
          <a:p>
            <a:pPr algn="l">
              <a:spcAft>
                <a:spcPts val="300"/>
              </a:spcAft>
            </a:pPr>
            <a:r>
              <a:rPr sz="1050" b="0">
                <a:solidFill>
                  <a:srgbClr val="5B6372"/>
                </a:solidFill>
                <a:latin typeface="Arial"/>
              </a:rPr>
              <a:t>A read replica is not automatically a synchronous standby or a complete DR strategy.</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EVIDENCE</a:t>
            </a:r>
          </a:p>
          <a:p>
            <a:pPr algn="l">
              <a:spcAft>
                <a:spcPts val="300"/>
              </a:spcAft>
            </a:pPr>
            <a:r>
              <a:rPr sz="1050" b="0">
                <a:solidFill>
                  <a:srgbClr val="5B6372"/>
                </a:solidFill>
                <a:latin typeface="Arial"/>
              </a:rPr>
              <a:t>Topology, replication mode, lag metric, backup status, failover test and recovery evidence.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323</a:t>
            </a:r>
          </a:p>
        </p:txBody>
      </p:sp>
    </p:spTree>
  </p:cSld>
  <p:clrMapOvr>
    <a:masterClrMapping/>
  </p:clrMapOvr>
  <p:transition xmlns:p14="http://schemas.microsoft.com/office/powerpoint/2010/main" p14:dur="380">
    <p:fade/>
  </p:transition>
</p:sld>
</file>

<file path=ppt/slides/slide3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PROCESS MODEL</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Resilient data stores: operating flow</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49809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97102"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9710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Write</a:t>
            </a:r>
          </a:p>
        </p:txBody>
      </p:sp>
      <p:sp>
        <p:nvSpPr>
          <p:cNvPr id="12" name="Rectangle 11"/>
          <p:cNvSpPr/>
          <p:nvPr/>
        </p:nvSpPr>
        <p:spPr>
          <a:xfrm>
            <a:off x="2604516"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04516" y="2148840"/>
            <a:ext cx="149809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024378"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24378"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6" name="TextBox 15"/>
          <p:cNvSpPr txBox="1"/>
          <p:nvPr/>
        </p:nvSpPr>
        <p:spPr>
          <a:xfrm>
            <a:off x="2723388"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Replicate</a:t>
            </a:r>
          </a:p>
        </p:txBody>
      </p:sp>
      <p:sp>
        <p:nvSpPr>
          <p:cNvPr id="17" name="Rectangle 16"/>
          <p:cNvSpPr/>
          <p:nvPr/>
        </p:nvSpPr>
        <p:spPr>
          <a:xfrm>
            <a:off x="4431792"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431792" y="2148840"/>
            <a:ext cx="149809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851654"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51654"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1" name="TextBox 20"/>
          <p:cNvSpPr txBox="1"/>
          <p:nvPr/>
        </p:nvSpPr>
        <p:spPr>
          <a:xfrm>
            <a:off x="4550664"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Detect failure</a:t>
            </a:r>
          </a:p>
        </p:txBody>
      </p:sp>
      <p:sp>
        <p:nvSpPr>
          <p:cNvPr id="22" name="Rectangle 21"/>
          <p:cNvSpPr/>
          <p:nvPr/>
        </p:nvSpPr>
        <p:spPr>
          <a:xfrm>
            <a:off x="6259068"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59068" y="2148840"/>
            <a:ext cx="149809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678930"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78930"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6" name="TextBox 25"/>
          <p:cNvSpPr txBox="1"/>
          <p:nvPr/>
        </p:nvSpPr>
        <p:spPr>
          <a:xfrm>
            <a:off x="6377940"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Promote or redirect</a:t>
            </a:r>
          </a:p>
        </p:txBody>
      </p:sp>
      <p:sp>
        <p:nvSpPr>
          <p:cNvPr id="27" name="Rectangle 26"/>
          <p:cNvSpPr/>
          <p:nvPr/>
        </p:nvSpPr>
        <p:spPr>
          <a:xfrm>
            <a:off x="8086344"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086344" y="2148840"/>
            <a:ext cx="1498092" cy="914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506206" y="2532888"/>
            <a:ext cx="658368" cy="658368"/>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06206"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5</a:t>
            </a:r>
          </a:p>
        </p:txBody>
      </p:sp>
      <p:sp>
        <p:nvSpPr>
          <p:cNvPr id="31" name="TextBox 30"/>
          <p:cNvSpPr txBox="1"/>
          <p:nvPr/>
        </p:nvSpPr>
        <p:spPr>
          <a:xfrm>
            <a:off x="8205216"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Reconcile</a:t>
            </a:r>
          </a:p>
        </p:txBody>
      </p:sp>
      <p:sp>
        <p:nvSpPr>
          <p:cNvPr id="32" name="Rectangle 31"/>
          <p:cNvSpPr/>
          <p:nvPr/>
        </p:nvSpPr>
        <p:spPr>
          <a:xfrm>
            <a:off x="9913620"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913620" y="2148840"/>
            <a:ext cx="1498092" cy="91440"/>
          </a:xfrm>
          <a:prstGeom prst="rect">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333482" y="2532888"/>
            <a:ext cx="658368" cy="658368"/>
          </a:xfrm>
          <a:prstGeom prst="ellipse">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3348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6</a:t>
            </a:r>
          </a:p>
        </p:txBody>
      </p:sp>
      <p:sp>
        <p:nvSpPr>
          <p:cNvPr id="36" name="TextBox 35"/>
          <p:cNvSpPr txBox="1"/>
          <p:nvPr/>
        </p:nvSpPr>
        <p:spPr>
          <a:xfrm>
            <a:off x="10032492"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Verify</a:t>
            </a:r>
          </a:p>
        </p:txBody>
      </p:sp>
      <p:cxnSp>
        <p:nvCxnSpPr>
          <p:cNvPr id="37" name="Connector 36"/>
          <p:cNvCxnSpPr/>
          <p:nvPr/>
        </p:nvCxnSpPr>
        <p:spPr>
          <a:xfrm>
            <a:off x="2275332"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10260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929884"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775716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9584436"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10B981"/>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44" name="TextBox 4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45" name="TextBox 4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6" name="TextBox 4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324</a:t>
            </a:r>
          </a:p>
        </p:txBody>
      </p:sp>
    </p:spTree>
  </p:cSld>
  <p:clrMapOvr>
    <a:masterClrMapping/>
  </p:clrMapOvr>
  <p:transition xmlns:p14="http://schemas.microsoft.com/office/powerpoint/2010/main" p14:dur="380">
    <p:fade/>
  </p:transition>
</p:sld>
</file>

<file path=ppt/slides/slide3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Resilient data stores: design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83280" cy="43708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70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011680"/>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011680"/>
            <a:ext cx="530352" cy="530352"/>
          </a:xfrm>
          <a:prstGeom prst="rect">
            <a:avLst/>
          </a:prstGeom>
          <a:noFill/>
        </p:spPr>
        <p:txBody>
          <a:bodyPr wrap="square" anchor="ctr">
            <a:spAutoFit/>
          </a:bodyPr>
          <a:lstStyle/>
          <a:p>
            <a:pPr algn="ctr">
              <a:spcAft>
                <a:spcPts val="400"/>
              </a:spcAft>
            </a:pPr>
            <a:r>
              <a:rPr sz="2000" b="1">
                <a:solidFill>
                  <a:srgbClr val="FFFFFF"/>
                </a:solidFill>
                <a:latin typeface="Arial"/>
              </a:rPr>
              <a:t>?</a:t>
            </a:r>
          </a:p>
        </p:txBody>
      </p:sp>
      <p:sp>
        <p:nvSpPr>
          <p:cNvPr id="11" name="TextBox 10"/>
          <p:cNvSpPr txBox="1"/>
          <p:nvPr/>
        </p:nvSpPr>
        <p:spPr>
          <a:xfrm>
            <a:off x="1709928" y="1984248"/>
            <a:ext cx="2212848" cy="502920"/>
          </a:xfrm>
          <a:prstGeom prst="rect">
            <a:avLst/>
          </a:prstGeom>
          <a:noFill/>
        </p:spPr>
        <p:txBody>
          <a:bodyPr wrap="square" anchor="ctr">
            <a:spAutoFit/>
          </a:bodyPr>
          <a:lstStyle/>
          <a:p>
            <a:pPr algn="l">
              <a:spcAft>
                <a:spcPts val="400"/>
              </a:spcAft>
            </a:pPr>
            <a:r>
              <a:rPr sz="1350" b="1">
                <a:solidFill>
                  <a:srgbClr val="10B981"/>
                </a:solidFill>
                <a:latin typeface="Arial"/>
              </a:rPr>
              <a:t>SCENARIO</a:t>
            </a:r>
          </a:p>
        </p:txBody>
      </p:sp>
      <p:sp>
        <p:nvSpPr>
          <p:cNvPr id="12" name="TextBox 11"/>
          <p:cNvSpPr txBox="1"/>
          <p:nvPr/>
        </p:nvSpPr>
        <p:spPr>
          <a:xfrm>
            <a:off x="1051560" y="2743200"/>
            <a:ext cx="2834640" cy="3136392"/>
          </a:xfrm>
          <a:prstGeom prst="rect">
            <a:avLst/>
          </a:prstGeom>
          <a:noFill/>
        </p:spPr>
        <p:txBody>
          <a:bodyPr wrap="square" anchor="t">
            <a:spAutoFit/>
          </a:bodyPr>
          <a:lstStyle/>
          <a:p>
            <a:pPr algn="l">
              <a:spcAft>
                <a:spcPts val="400"/>
              </a:spcAft>
            </a:pPr>
            <a:r>
              <a:rPr sz="1300" b="0">
                <a:solidFill>
                  <a:srgbClr val="161B26"/>
                </a:solidFill>
                <a:latin typeface="Arial"/>
              </a:rPr>
              <a:t>A payment datastore needs near-zero data loss and a tested cross-Region recovery path.</a:t>
            </a:r>
          </a:p>
        </p:txBody>
      </p:sp>
      <p:sp>
        <p:nvSpPr>
          <p:cNvPr id="13" name="Rectangle 12"/>
          <p:cNvSpPr/>
          <p:nvPr/>
        </p:nvSpPr>
        <p:spPr>
          <a:xfrm>
            <a:off x="4434840"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34840" y="1783080"/>
            <a:ext cx="91440"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636008" y="1965960"/>
            <a:ext cx="438912" cy="43891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6008"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7" name="TextBox 16"/>
          <p:cNvSpPr txBox="1"/>
          <p:nvPr/>
        </p:nvSpPr>
        <p:spPr>
          <a:xfrm>
            <a:off x="5212080" y="1929384"/>
            <a:ext cx="2286000" cy="475488"/>
          </a:xfrm>
          <a:prstGeom prst="rect">
            <a:avLst/>
          </a:prstGeom>
          <a:noFill/>
        </p:spPr>
        <p:txBody>
          <a:bodyPr wrap="square" anchor="ctr">
            <a:spAutoFit/>
          </a:bodyPr>
          <a:lstStyle/>
          <a:p>
            <a:pPr algn="l">
              <a:spcAft>
                <a:spcPts val="400"/>
              </a:spcAft>
            </a:pPr>
            <a:r>
              <a:rPr sz="1250" b="1">
                <a:solidFill>
                  <a:srgbClr val="10B981"/>
                </a:solidFill>
                <a:latin typeface="Arial"/>
              </a:rPr>
              <a:t>DESIGN RESPONSE</a:t>
            </a:r>
          </a:p>
        </p:txBody>
      </p:sp>
      <p:sp>
        <p:nvSpPr>
          <p:cNvPr id="18" name="TextBox 17"/>
          <p:cNvSpPr txBox="1"/>
          <p:nvPr/>
        </p:nvSpPr>
        <p:spPr>
          <a:xfrm>
            <a:off x="4663440"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Distinguish read scaling from high availability, test failover, plan write ownership and monitor replication lag.</a:t>
            </a:r>
          </a:p>
        </p:txBody>
      </p:sp>
      <p:sp>
        <p:nvSpPr>
          <p:cNvPr id="19" name="Rectangle 18"/>
          <p:cNvSpPr/>
          <p:nvPr/>
        </p:nvSpPr>
        <p:spPr>
          <a:xfrm>
            <a:off x="7973568"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973568" y="1783080"/>
            <a:ext cx="91440" cy="21488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174736" y="1965960"/>
            <a:ext cx="438912" cy="43891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74736"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23" name="TextBox 22"/>
          <p:cNvSpPr txBox="1"/>
          <p:nvPr/>
        </p:nvSpPr>
        <p:spPr>
          <a:xfrm>
            <a:off x="8750808" y="1929384"/>
            <a:ext cx="2286000" cy="475488"/>
          </a:xfrm>
          <a:prstGeom prst="rect">
            <a:avLst/>
          </a:prstGeom>
          <a:noFill/>
        </p:spPr>
        <p:txBody>
          <a:bodyPr wrap="square" anchor="ctr">
            <a:spAutoFit/>
          </a:bodyPr>
          <a:lstStyle/>
          <a:p>
            <a:pPr algn="l">
              <a:spcAft>
                <a:spcPts val="400"/>
              </a:spcAft>
            </a:pPr>
            <a:r>
              <a:rPr sz="1250" b="1">
                <a:solidFill>
                  <a:srgbClr val="7C3AED"/>
                </a:solidFill>
                <a:latin typeface="Arial"/>
              </a:rPr>
              <a:t>PRIMARY SERVICES</a:t>
            </a:r>
          </a:p>
        </p:txBody>
      </p:sp>
      <p:sp>
        <p:nvSpPr>
          <p:cNvPr id="24" name="TextBox 23"/>
          <p:cNvSpPr txBox="1"/>
          <p:nvPr/>
        </p:nvSpPr>
        <p:spPr>
          <a:xfrm>
            <a:off x="8202168"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RDS Multi-AZ · Aurora Global Database · DynamoDB Global Tables</a:t>
            </a:r>
          </a:p>
        </p:txBody>
      </p:sp>
      <p:sp>
        <p:nvSpPr>
          <p:cNvPr id="25" name="Rectangle 24"/>
          <p:cNvSpPr/>
          <p:nvPr/>
        </p:nvSpPr>
        <p:spPr>
          <a:xfrm>
            <a:off x="4434840"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34840" y="4005072"/>
            <a:ext cx="91440" cy="21488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636008" y="4187952"/>
            <a:ext cx="438912" cy="43891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36008"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9" name="TextBox 28"/>
          <p:cNvSpPr txBox="1"/>
          <p:nvPr/>
        </p:nvSpPr>
        <p:spPr>
          <a:xfrm>
            <a:off x="5212080" y="4151376"/>
            <a:ext cx="2286000" cy="475488"/>
          </a:xfrm>
          <a:prstGeom prst="rect">
            <a:avLst/>
          </a:prstGeom>
          <a:noFill/>
        </p:spPr>
        <p:txBody>
          <a:bodyPr wrap="square" anchor="ctr">
            <a:spAutoFit/>
          </a:bodyPr>
          <a:lstStyle/>
          <a:p>
            <a:pPr algn="l">
              <a:spcAft>
                <a:spcPts val="400"/>
              </a:spcAft>
            </a:pPr>
            <a:r>
              <a:rPr sz="1250" b="1">
                <a:solidFill>
                  <a:srgbClr val="F59E0B"/>
                </a:solidFill>
                <a:latin typeface="Arial"/>
              </a:rPr>
              <a:t>FAILURE MODE</a:t>
            </a:r>
          </a:p>
        </p:txBody>
      </p:sp>
      <p:sp>
        <p:nvSpPr>
          <p:cNvPr id="30" name="TextBox 29"/>
          <p:cNvSpPr txBox="1"/>
          <p:nvPr/>
        </p:nvSpPr>
        <p:spPr>
          <a:xfrm>
            <a:off x="4663440"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A read replica is not automatically a synchronous standby or a complete DR strategy.</a:t>
            </a:r>
          </a:p>
        </p:txBody>
      </p:sp>
      <p:sp>
        <p:nvSpPr>
          <p:cNvPr id="31" name="Rectangle 30"/>
          <p:cNvSpPr/>
          <p:nvPr/>
        </p:nvSpPr>
        <p:spPr>
          <a:xfrm>
            <a:off x="7973568"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73568" y="4005072"/>
            <a:ext cx="91440" cy="21488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174736" y="4187952"/>
            <a:ext cx="438912" cy="438912"/>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74736"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5" name="TextBox 34"/>
          <p:cNvSpPr txBox="1"/>
          <p:nvPr/>
        </p:nvSpPr>
        <p:spPr>
          <a:xfrm>
            <a:off x="8750808" y="4151376"/>
            <a:ext cx="2286000" cy="475488"/>
          </a:xfrm>
          <a:prstGeom prst="rect">
            <a:avLst/>
          </a:prstGeom>
          <a:noFill/>
        </p:spPr>
        <p:txBody>
          <a:bodyPr wrap="square" anchor="ctr">
            <a:spAutoFit/>
          </a:bodyPr>
          <a:lstStyle/>
          <a:p>
            <a:pPr algn="l">
              <a:spcAft>
                <a:spcPts val="400"/>
              </a:spcAft>
            </a:pPr>
            <a:r>
              <a:rPr sz="1250" b="1">
                <a:solidFill>
                  <a:srgbClr val="EC711E"/>
                </a:solidFill>
                <a:latin typeface="Arial"/>
              </a:rPr>
              <a:t>PROOF</a:t>
            </a:r>
          </a:p>
        </p:txBody>
      </p:sp>
      <p:sp>
        <p:nvSpPr>
          <p:cNvPr id="36" name="TextBox 35"/>
          <p:cNvSpPr txBox="1"/>
          <p:nvPr/>
        </p:nvSpPr>
        <p:spPr>
          <a:xfrm>
            <a:off x="8202168"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Topology, replication mode, lag metric, backup status, failover test and recovery evidence.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325</a:t>
            </a:r>
          </a:p>
        </p:txBody>
      </p:sp>
    </p:spTree>
  </p:cSld>
  <p:clrMapOvr>
    <a:masterClrMapping/>
  </p:clrMapOvr>
  <p:transition xmlns:p14="http://schemas.microsoft.com/office/powerpoint/2010/main" p14:dur="380">
    <p:fade/>
  </p:transition>
</p:sld>
</file>

<file path=ppt/slides/slide3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OPERATIONS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Resilient data stores: failure diagnostic</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RECOGNISE</a:t>
            </a:r>
          </a:p>
          <a:p>
            <a:pPr algn="l">
              <a:spcAft>
                <a:spcPts val="300"/>
              </a:spcAft>
            </a:pPr>
            <a:r>
              <a:rPr sz="1050" b="0">
                <a:solidFill>
                  <a:srgbClr val="5B6372"/>
                </a:solidFill>
                <a:latin typeface="Arial"/>
              </a:rPr>
              <a:t>Observable failure condition: A read replica is not automatically a synchronous standby or a complete DR strategy.</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CONTAIN</a:t>
            </a:r>
          </a:p>
          <a:p>
            <a:pPr algn="l">
              <a:spcAft>
                <a:spcPts val="300"/>
              </a:spcAft>
            </a:pPr>
            <a:r>
              <a:rPr sz="1050" b="0">
                <a:solidFill>
                  <a:srgbClr val="5B6372"/>
                </a:solidFill>
                <a:latin typeface="Arial"/>
              </a:rPr>
              <a:t>Pause promotion, preserve evidence and reduce impact without destroying diagnostic state.</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DIAGNOSE</a:t>
            </a:r>
          </a:p>
          <a:p>
            <a:pPr algn="l">
              <a:spcAft>
                <a:spcPts val="300"/>
              </a:spcAft>
            </a:pPr>
            <a:r>
              <a:rPr sz="1050" b="0">
                <a:solidFill>
                  <a:srgbClr val="5B6372"/>
                </a:solidFill>
                <a:latin typeface="Arial"/>
              </a:rPr>
              <a:t>Trace the workflow from Write through Verify; compare intended configuration with runtime state.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RECOVER</a:t>
            </a:r>
          </a:p>
          <a:p>
            <a:pPr algn="l">
              <a:spcAft>
                <a:spcPts val="300"/>
              </a:spcAft>
            </a:pPr>
            <a:r>
              <a:rPr sz="1050" b="0">
                <a:solidFill>
                  <a:srgbClr val="5B6372"/>
                </a:solidFill>
                <a:latin typeface="Arial"/>
              </a:rPr>
              <a:t>Restore the last known-good state, then prove recovery with Topology, replication mode, lag metric, backup status, failover test and recovery evidence.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326</a:t>
            </a:r>
          </a:p>
        </p:txBody>
      </p:sp>
    </p:spTree>
  </p:cSld>
  <p:clrMapOvr>
    <a:masterClrMapping/>
  </p:clrMapOvr>
  <p:transition xmlns:p14="http://schemas.microsoft.com/office/powerpoint/2010/main" p14:dur="380">
    <p:fade/>
  </p:transition>
</p:sld>
</file>

<file path=ppt/slides/slide3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APPLIED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Resilient data stores: worked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CONSTRAINT</a:t>
            </a:r>
          </a:p>
          <a:p>
            <a:pPr algn="l">
              <a:spcAft>
                <a:spcPts val="300"/>
              </a:spcAft>
            </a:pPr>
            <a:r>
              <a:rPr sz="1050" b="0">
                <a:solidFill>
                  <a:srgbClr val="5B6372"/>
                </a:solidFill>
                <a:latin typeface="Arial"/>
              </a:rPr>
              <a:t>A payment datastore needs near-zero data loss and a tested cross-Region recovery path.</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DECISION</a:t>
            </a:r>
          </a:p>
          <a:p>
            <a:pPr algn="l">
              <a:spcAft>
                <a:spcPts val="300"/>
              </a:spcAft>
            </a:pPr>
            <a:r>
              <a:rPr sz="1050" b="0">
                <a:solidFill>
                  <a:srgbClr val="5B6372"/>
                </a:solidFill>
                <a:latin typeface="Arial"/>
              </a:rPr>
              <a:t>Distinguish read scaling from high availability, test failover, plan write ownership and monitor replication lag.</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WHY ALTERNATIVES LOSE</a:t>
            </a:r>
          </a:p>
          <a:p>
            <a:pPr algn="l">
              <a:spcAft>
                <a:spcPts val="300"/>
              </a:spcAft>
            </a:pPr>
            <a:r>
              <a:rPr sz="1050" b="0">
                <a:solidFill>
                  <a:srgbClr val="5B6372"/>
                </a:solidFill>
                <a:latin typeface="Arial"/>
              </a:rPr>
              <a:t>Reject options that do not change the stated failure boundary: A read replica is not automatically a synchronous standby or a complete DR strategy.</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ACCEPTANCE TEST</a:t>
            </a:r>
          </a:p>
          <a:p>
            <a:pPr algn="l">
              <a:spcAft>
                <a:spcPts val="300"/>
              </a:spcAft>
            </a:pPr>
            <a:r>
              <a:rPr sz="1050" b="0">
                <a:solidFill>
                  <a:srgbClr val="5B6372"/>
                </a:solidFill>
                <a:latin typeface="Arial"/>
              </a:rPr>
              <a:t>The decision is complete only when this proof exists: Topology, replication mode, lag metric, backup status, failover test and recovery evidence.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327</a:t>
            </a:r>
          </a:p>
        </p:txBody>
      </p:sp>
    </p:spTree>
  </p:cSld>
  <p:clrMapOvr>
    <a:masterClrMapping/>
  </p:clrMapOvr>
  <p:transition xmlns:p14="http://schemas.microsoft.com/office/powerpoint/2010/main" p14:dur="380">
    <p:fade/>
  </p:transition>
</p:sld>
</file>

<file path=ppt/slides/slide3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RESILIENT CLOUD SOLUTIONS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Serverless resilience</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OUTCOME</a:t>
            </a:r>
          </a:p>
          <a:p>
            <a:pPr algn="l">
              <a:spcAft>
                <a:spcPts val="300"/>
              </a:spcAft>
            </a:pPr>
            <a:r>
              <a:rPr sz="1050" b="0">
                <a:solidFill>
                  <a:srgbClr val="5B6372"/>
                </a:solidFill>
                <a:latin typeface="Arial"/>
              </a:rPr>
              <a:t>Control concurrency, retries, idempotency and failure destinations in event-driven workloads.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ARCHITECTURE</a:t>
            </a:r>
          </a:p>
          <a:p>
            <a:pPr algn="l">
              <a:spcAft>
                <a:spcPts val="300"/>
              </a:spcAft>
            </a:pPr>
            <a:r>
              <a:rPr sz="1050" b="0">
                <a:solidFill>
                  <a:srgbClr val="5B6372"/>
                </a:solidFill>
                <a:latin typeface="Arial"/>
              </a:rPr>
              <a:t>Use queues for buffering, partial batch response, reserved concurrency, DLQs and idempotency keys.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MODE</a:t>
            </a:r>
          </a:p>
          <a:p>
            <a:pPr algn="l">
              <a:spcAft>
                <a:spcPts val="300"/>
              </a:spcAft>
            </a:pPr>
            <a:r>
              <a:rPr sz="1050" b="0">
                <a:solidFill>
                  <a:srgbClr val="5B6372"/>
                </a:solidFill>
                <a:latin typeface="Arial"/>
              </a:rPr>
              <a:t>Unbounded retries can multiply load and duplicate side effects during partial failure.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EVIDENCE</a:t>
            </a:r>
          </a:p>
          <a:p>
            <a:pPr algn="l">
              <a:spcAft>
                <a:spcPts val="300"/>
              </a:spcAft>
            </a:pPr>
            <a:r>
              <a:rPr sz="1050" b="0">
                <a:solidFill>
                  <a:srgbClr val="5B6372"/>
                </a:solidFill>
                <a:latin typeface="Arial"/>
              </a:rPr>
              <a:t>Request ID, retry count, idempotency record, queue age, DLQ message and concurrency metric.</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328</a:t>
            </a:r>
          </a:p>
        </p:txBody>
      </p:sp>
    </p:spTree>
  </p:cSld>
  <p:clrMapOvr>
    <a:masterClrMapping/>
  </p:clrMapOvr>
  <p:transition xmlns:p14="http://schemas.microsoft.com/office/powerpoint/2010/main" p14:dur="380">
    <p:fade/>
  </p:transition>
</p:sld>
</file>

<file path=ppt/slides/slide3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PROCESS MODEL</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Serverless resilience: operating flow</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6354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79829"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982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Accept event</a:t>
            </a:r>
          </a:p>
        </p:txBody>
      </p:sp>
      <p:sp>
        <p:nvSpPr>
          <p:cNvPr id="12" name="Rectangle 11"/>
          <p:cNvSpPr/>
          <p:nvPr/>
        </p:nvSpPr>
        <p:spPr>
          <a:xfrm>
            <a:off x="2969971"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69971" y="2148840"/>
            <a:ext cx="186354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572560"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72560"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6" name="TextBox 15"/>
          <p:cNvSpPr txBox="1"/>
          <p:nvPr/>
        </p:nvSpPr>
        <p:spPr>
          <a:xfrm>
            <a:off x="3088843"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Validate idempotency</a:t>
            </a:r>
          </a:p>
        </p:txBody>
      </p:sp>
      <p:sp>
        <p:nvSpPr>
          <p:cNvPr id="17" name="Rectangle 16"/>
          <p:cNvSpPr/>
          <p:nvPr/>
        </p:nvSpPr>
        <p:spPr>
          <a:xfrm>
            <a:off x="5162702"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62702" y="2148840"/>
            <a:ext cx="186354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765291"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6529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1" name="TextBox 20"/>
          <p:cNvSpPr txBox="1"/>
          <p:nvPr/>
        </p:nvSpPr>
        <p:spPr>
          <a:xfrm>
            <a:off x="5281574"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Process</a:t>
            </a:r>
          </a:p>
        </p:txBody>
      </p:sp>
      <p:sp>
        <p:nvSpPr>
          <p:cNvPr id="22" name="Rectangle 21"/>
          <p:cNvSpPr/>
          <p:nvPr/>
        </p:nvSpPr>
        <p:spPr>
          <a:xfrm>
            <a:off x="7355433"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355433" y="2148840"/>
            <a:ext cx="186354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958022"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5802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6" name="TextBox 25"/>
          <p:cNvSpPr txBox="1"/>
          <p:nvPr/>
        </p:nvSpPr>
        <p:spPr>
          <a:xfrm>
            <a:off x="7474305"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Retry with backoff</a:t>
            </a:r>
          </a:p>
        </p:txBody>
      </p:sp>
      <p:sp>
        <p:nvSpPr>
          <p:cNvPr id="27" name="Rectangle 26"/>
          <p:cNvSpPr/>
          <p:nvPr/>
        </p:nvSpPr>
        <p:spPr>
          <a:xfrm>
            <a:off x="9548164"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548164" y="2148840"/>
            <a:ext cx="1863547" cy="914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50753" y="2532888"/>
            <a:ext cx="658368" cy="658368"/>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5075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5</a:t>
            </a:r>
          </a:p>
        </p:txBody>
      </p:sp>
      <p:sp>
        <p:nvSpPr>
          <p:cNvPr id="31" name="TextBox 30"/>
          <p:cNvSpPr txBox="1"/>
          <p:nvPr/>
        </p:nvSpPr>
        <p:spPr>
          <a:xfrm>
            <a:off x="9667036"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Quarantine failure</a:t>
            </a:r>
          </a:p>
        </p:txBody>
      </p:sp>
      <p:cxnSp>
        <p:nvCxnSpPr>
          <p:cNvPr id="32" name="Connector 31"/>
          <p:cNvCxnSpPr/>
          <p:nvPr/>
        </p:nvCxnSpPr>
        <p:spPr>
          <a:xfrm>
            <a:off x="2640787"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83351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026249"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21898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10B981"/>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8" name="TextBox 3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9" name="TextBox 3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0" name="TextBox 3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329</a:t>
            </a:r>
          </a:p>
        </p:txBody>
      </p:sp>
    </p:spTree>
  </p:cSld>
  <p:clrMapOvr>
    <a:masterClrMapping/>
  </p:clrMapOvr>
  <p:transition xmlns:p14="http://schemas.microsoft.com/office/powerpoint/2010/main" p14:dur="380">
    <p:fade/>
  </p:transition>
</p:sld>
</file>

<file path=ppt/slides/slide3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Serverless resilience: design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83280" cy="43708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70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011680"/>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011680"/>
            <a:ext cx="530352" cy="530352"/>
          </a:xfrm>
          <a:prstGeom prst="rect">
            <a:avLst/>
          </a:prstGeom>
          <a:noFill/>
        </p:spPr>
        <p:txBody>
          <a:bodyPr wrap="square" anchor="ctr">
            <a:spAutoFit/>
          </a:bodyPr>
          <a:lstStyle/>
          <a:p>
            <a:pPr algn="ctr">
              <a:spcAft>
                <a:spcPts val="400"/>
              </a:spcAft>
            </a:pPr>
            <a:r>
              <a:rPr sz="2000" b="1">
                <a:solidFill>
                  <a:srgbClr val="FFFFFF"/>
                </a:solidFill>
                <a:latin typeface="Arial"/>
              </a:rPr>
              <a:t>?</a:t>
            </a:r>
          </a:p>
        </p:txBody>
      </p:sp>
      <p:sp>
        <p:nvSpPr>
          <p:cNvPr id="11" name="TextBox 10"/>
          <p:cNvSpPr txBox="1"/>
          <p:nvPr/>
        </p:nvSpPr>
        <p:spPr>
          <a:xfrm>
            <a:off x="1709928" y="1984248"/>
            <a:ext cx="2212848" cy="502920"/>
          </a:xfrm>
          <a:prstGeom prst="rect">
            <a:avLst/>
          </a:prstGeom>
          <a:noFill/>
        </p:spPr>
        <p:txBody>
          <a:bodyPr wrap="square" anchor="ctr">
            <a:spAutoFit/>
          </a:bodyPr>
          <a:lstStyle/>
          <a:p>
            <a:pPr algn="l">
              <a:spcAft>
                <a:spcPts val="400"/>
              </a:spcAft>
            </a:pPr>
            <a:r>
              <a:rPr sz="1350" b="1">
                <a:solidFill>
                  <a:srgbClr val="10B981"/>
                </a:solidFill>
                <a:latin typeface="Arial"/>
              </a:rPr>
              <a:t>SCENARIO</a:t>
            </a:r>
          </a:p>
        </p:txBody>
      </p:sp>
      <p:sp>
        <p:nvSpPr>
          <p:cNvPr id="12" name="TextBox 11"/>
          <p:cNvSpPr txBox="1"/>
          <p:nvPr/>
        </p:nvSpPr>
        <p:spPr>
          <a:xfrm>
            <a:off x="1051560" y="2743200"/>
            <a:ext cx="2834640" cy="3136392"/>
          </a:xfrm>
          <a:prstGeom prst="rect">
            <a:avLst/>
          </a:prstGeom>
          <a:noFill/>
        </p:spPr>
        <p:txBody>
          <a:bodyPr wrap="square" anchor="t">
            <a:spAutoFit/>
          </a:bodyPr>
          <a:lstStyle/>
          <a:p>
            <a:pPr algn="l">
              <a:spcAft>
                <a:spcPts val="400"/>
              </a:spcAft>
            </a:pPr>
            <a:r>
              <a:rPr sz="1300" b="0">
                <a:solidFill>
                  <a:srgbClr val="161B26"/>
                </a:solidFill>
                <a:latin typeface="Arial"/>
              </a:rPr>
              <a:t>A batch consumer occasionally times out after charging a card but before acknowledging the message.</a:t>
            </a:r>
          </a:p>
        </p:txBody>
      </p:sp>
      <p:sp>
        <p:nvSpPr>
          <p:cNvPr id="13" name="Rectangle 12"/>
          <p:cNvSpPr/>
          <p:nvPr/>
        </p:nvSpPr>
        <p:spPr>
          <a:xfrm>
            <a:off x="4434840"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34840" y="1783080"/>
            <a:ext cx="91440"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636008" y="1965960"/>
            <a:ext cx="438912" cy="43891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6008"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7" name="TextBox 16"/>
          <p:cNvSpPr txBox="1"/>
          <p:nvPr/>
        </p:nvSpPr>
        <p:spPr>
          <a:xfrm>
            <a:off x="5212080" y="1929384"/>
            <a:ext cx="2286000" cy="475488"/>
          </a:xfrm>
          <a:prstGeom prst="rect">
            <a:avLst/>
          </a:prstGeom>
          <a:noFill/>
        </p:spPr>
        <p:txBody>
          <a:bodyPr wrap="square" anchor="ctr">
            <a:spAutoFit/>
          </a:bodyPr>
          <a:lstStyle/>
          <a:p>
            <a:pPr algn="l">
              <a:spcAft>
                <a:spcPts val="400"/>
              </a:spcAft>
            </a:pPr>
            <a:r>
              <a:rPr sz="1250" b="1">
                <a:solidFill>
                  <a:srgbClr val="10B981"/>
                </a:solidFill>
                <a:latin typeface="Arial"/>
              </a:rPr>
              <a:t>DESIGN RESPONSE</a:t>
            </a:r>
          </a:p>
        </p:txBody>
      </p:sp>
      <p:sp>
        <p:nvSpPr>
          <p:cNvPr id="18" name="TextBox 17"/>
          <p:cNvSpPr txBox="1"/>
          <p:nvPr/>
        </p:nvSpPr>
        <p:spPr>
          <a:xfrm>
            <a:off x="4663440"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Use queues for buffering, partial batch response, reserved concurrency, DLQs and idempotency keys.</a:t>
            </a:r>
          </a:p>
        </p:txBody>
      </p:sp>
      <p:sp>
        <p:nvSpPr>
          <p:cNvPr id="19" name="Rectangle 18"/>
          <p:cNvSpPr/>
          <p:nvPr/>
        </p:nvSpPr>
        <p:spPr>
          <a:xfrm>
            <a:off x="7973568"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973568" y="1783080"/>
            <a:ext cx="91440" cy="21488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174736" y="1965960"/>
            <a:ext cx="438912" cy="43891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74736"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23" name="TextBox 22"/>
          <p:cNvSpPr txBox="1"/>
          <p:nvPr/>
        </p:nvSpPr>
        <p:spPr>
          <a:xfrm>
            <a:off x="8750808" y="1929384"/>
            <a:ext cx="2286000" cy="475488"/>
          </a:xfrm>
          <a:prstGeom prst="rect">
            <a:avLst/>
          </a:prstGeom>
          <a:noFill/>
        </p:spPr>
        <p:txBody>
          <a:bodyPr wrap="square" anchor="ctr">
            <a:spAutoFit/>
          </a:bodyPr>
          <a:lstStyle/>
          <a:p>
            <a:pPr algn="l">
              <a:spcAft>
                <a:spcPts val="400"/>
              </a:spcAft>
            </a:pPr>
            <a:r>
              <a:rPr sz="1250" b="1">
                <a:solidFill>
                  <a:srgbClr val="7C3AED"/>
                </a:solidFill>
                <a:latin typeface="Arial"/>
              </a:rPr>
              <a:t>PRIMARY SERVICES</a:t>
            </a:r>
          </a:p>
        </p:txBody>
      </p:sp>
      <p:sp>
        <p:nvSpPr>
          <p:cNvPr id="24" name="TextBox 23"/>
          <p:cNvSpPr txBox="1"/>
          <p:nvPr/>
        </p:nvSpPr>
        <p:spPr>
          <a:xfrm>
            <a:off x="8202168"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Lambda · API Gateway · SQS · Step Functions</a:t>
            </a:r>
          </a:p>
        </p:txBody>
      </p:sp>
      <p:sp>
        <p:nvSpPr>
          <p:cNvPr id="25" name="Rectangle 24"/>
          <p:cNvSpPr/>
          <p:nvPr/>
        </p:nvSpPr>
        <p:spPr>
          <a:xfrm>
            <a:off x="4434840"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34840" y="4005072"/>
            <a:ext cx="91440" cy="21488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636008" y="4187952"/>
            <a:ext cx="438912" cy="43891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36008"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9" name="TextBox 28"/>
          <p:cNvSpPr txBox="1"/>
          <p:nvPr/>
        </p:nvSpPr>
        <p:spPr>
          <a:xfrm>
            <a:off x="5212080" y="4151376"/>
            <a:ext cx="2286000" cy="475488"/>
          </a:xfrm>
          <a:prstGeom prst="rect">
            <a:avLst/>
          </a:prstGeom>
          <a:noFill/>
        </p:spPr>
        <p:txBody>
          <a:bodyPr wrap="square" anchor="ctr">
            <a:spAutoFit/>
          </a:bodyPr>
          <a:lstStyle/>
          <a:p>
            <a:pPr algn="l">
              <a:spcAft>
                <a:spcPts val="400"/>
              </a:spcAft>
            </a:pPr>
            <a:r>
              <a:rPr sz="1250" b="1">
                <a:solidFill>
                  <a:srgbClr val="F59E0B"/>
                </a:solidFill>
                <a:latin typeface="Arial"/>
              </a:rPr>
              <a:t>FAILURE MODE</a:t>
            </a:r>
          </a:p>
        </p:txBody>
      </p:sp>
      <p:sp>
        <p:nvSpPr>
          <p:cNvPr id="30" name="TextBox 29"/>
          <p:cNvSpPr txBox="1"/>
          <p:nvPr/>
        </p:nvSpPr>
        <p:spPr>
          <a:xfrm>
            <a:off x="4663440"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Unbounded retries can multiply load and duplicate side effects during partial failure.</a:t>
            </a:r>
          </a:p>
        </p:txBody>
      </p:sp>
      <p:sp>
        <p:nvSpPr>
          <p:cNvPr id="31" name="Rectangle 30"/>
          <p:cNvSpPr/>
          <p:nvPr/>
        </p:nvSpPr>
        <p:spPr>
          <a:xfrm>
            <a:off x="7973568"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73568" y="4005072"/>
            <a:ext cx="91440" cy="21488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174736" y="4187952"/>
            <a:ext cx="438912" cy="438912"/>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74736"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5" name="TextBox 34"/>
          <p:cNvSpPr txBox="1"/>
          <p:nvPr/>
        </p:nvSpPr>
        <p:spPr>
          <a:xfrm>
            <a:off x="8750808" y="4151376"/>
            <a:ext cx="2286000" cy="475488"/>
          </a:xfrm>
          <a:prstGeom prst="rect">
            <a:avLst/>
          </a:prstGeom>
          <a:noFill/>
        </p:spPr>
        <p:txBody>
          <a:bodyPr wrap="square" anchor="ctr">
            <a:spAutoFit/>
          </a:bodyPr>
          <a:lstStyle/>
          <a:p>
            <a:pPr algn="l">
              <a:spcAft>
                <a:spcPts val="400"/>
              </a:spcAft>
            </a:pPr>
            <a:r>
              <a:rPr sz="1250" b="1">
                <a:solidFill>
                  <a:srgbClr val="EC711E"/>
                </a:solidFill>
                <a:latin typeface="Arial"/>
              </a:rPr>
              <a:t>PROOF</a:t>
            </a:r>
          </a:p>
        </p:txBody>
      </p:sp>
      <p:sp>
        <p:nvSpPr>
          <p:cNvPr id="36" name="TextBox 35"/>
          <p:cNvSpPr txBox="1"/>
          <p:nvPr/>
        </p:nvSpPr>
        <p:spPr>
          <a:xfrm>
            <a:off x="8202168"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Request ID, retry count, idempotency record, queue age, DLQ message and concurrency metric.</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330</a:t>
            </a:r>
          </a:p>
        </p:txBody>
      </p:sp>
    </p:spTree>
  </p:cSld>
  <p:clrMapOvr>
    <a:masterClrMapping/>
  </p:clrMapOvr>
  <p:transition xmlns:p14="http://schemas.microsoft.com/office/powerpoint/2010/main" p14:dur="380">
    <p:fade/>
  </p:transition>
</p:sld>
</file>

<file path=ppt/slides/slide3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OPERATIONS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Serverless resilience: failure diagnostic</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RECOGNISE</a:t>
            </a:r>
          </a:p>
          <a:p>
            <a:pPr algn="l">
              <a:spcAft>
                <a:spcPts val="300"/>
              </a:spcAft>
            </a:pPr>
            <a:r>
              <a:rPr sz="1050" b="0">
                <a:solidFill>
                  <a:srgbClr val="5B6372"/>
                </a:solidFill>
                <a:latin typeface="Arial"/>
              </a:rPr>
              <a:t>Observable failure condition: Unbounded retries can multiply load and duplicate side effects during partial failure.</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CONTAIN</a:t>
            </a:r>
          </a:p>
          <a:p>
            <a:pPr algn="l">
              <a:spcAft>
                <a:spcPts val="300"/>
              </a:spcAft>
            </a:pPr>
            <a:r>
              <a:rPr sz="1050" b="0">
                <a:solidFill>
                  <a:srgbClr val="5B6372"/>
                </a:solidFill>
                <a:latin typeface="Arial"/>
              </a:rPr>
              <a:t>Pause promotion, preserve evidence and reduce impact without destroying diagnostic state.</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DIAGNOSE</a:t>
            </a:r>
          </a:p>
          <a:p>
            <a:pPr algn="l">
              <a:spcAft>
                <a:spcPts val="300"/>
              </a:spcAft>
            </a:pPr>
            <a:r>
              <a:rPr sz="1050" b="0">
                <a:solidFill>
                  <a:srgbClr val="5B6372"/>
                </a:solidFill>
                <a:latin typeface="Arial"/>
              </a:rPr>
              <a:t>Trace the workflow from Accept event through Quarantine failure; compare intended configuration with runtime state.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RECOVER</a:t>
            </a:r>
          </a:p>
          <a:p>
            <a:pPr algn="l">
              <a:spcAft>
                <a:spcPts val="300"/>
              </a:spcAft>
            </a:pPr>
            <a:r>
              <a:rPr sz="1050" b="0">
                <a:solidFill>
                  <a:srgbClr val="5B6372"/>
                </a:solidFill>
                <a:latin typeface="Arial"/>
              </a:rPr>
              <a:t>Restore the last known-good state, then prove recovery with Request ID, retry count, idempotency record, queue age, DLQ message and concurrency metric.</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331</a:t>
            </a:r>
          </a:p>
        </p:txBody>
      </p:sp>
    </p:spTree>
  </p:cSld>
  <p:clrMapOvr>
    <a:masterClrMapping/>
  </p:clrMapOvr>
  <p:transition xmlns:p14="http://schemas.microsoft.com/office/powerpoint/2010/main" p14:dur="380">
    <p:fade/>
  </p:transition>
</p:sld>
</file>

<file path=ppt/slides/slide3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APPLIED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Serverless resilience: worked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CONSTRAINT</a:t>
            </a:r>
          </a:p>
          <a:p>
            <a:pPr algn="l">
              <a:spcAft>
                <a:spcPts val="300"/>
              </a:spcAft>
            </a:pPr>
            <a:r>
              <a:rPr sz="1050" b="0">
                <a:solidFill>
                  <a:srgbClr val="5B6372"/>
                </a:solidFill>
                <a:latin typeface="Arial"/>
              </a:rPr>
              <a:t>A batch consumer occasionally times out after charging a card but before acknowledging the message.</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DECISION</a:t>
            </a:r>
          </a:p>
          <a:p>
            <a:pPr algn="l">
              <a:spcAft>
                <a:spcPts val="300"/>
              </a:spcAft>
            </a:pPr>
            <a:r>
              <a:rPr sz="1050" b="0">
                <a:solidFill>
                  <a:srgbClr val="5B6372"/>
                </a:solidFill>
                <a:latin typeface="Arial"/>
              </a:rPr>
              <a:t>Use queues for buffering, partial batch response, reserved concurrency, DLQs and idempotency keys.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WHY ALTERNATIVES LOSE</a:t>
            </a:r>
          </a:p>
          <a:p>
            <a:pPr algn="l">
              <a:spcAft>
                <a:spcPts val="300"/>
              </a:spcAft>
            </a:pPr>
            <a:r>
              <a:rPr sz="1050" b="0">
                <a:solidFill>
                  <a:srgbClr val="5B6372"/>
                </a:solidFill>
                <a:latin typeface="Arial"/>
              </a:rPr>
              <a:t>Reject options that do not change the stated failure boundary: Unbounded retries can multiply load and duplicate side effects during partial failure.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ACCEPTANCE TEST</a:t>
            </a:r>
          </a:p>
          <a:p>
            <a:pPr algn="l">
              <a:spcAft>
                <a:spcPts val="300"/>
              </a:spcAft>
            </a:pPr>
            <a:r>
              <a:rPr sz="1050" b="0">
                <a:solidFill>
                  <a:srgbClr val="5B6372"/>
                </a:solidFill>
                <a:latin typeface="Arial"/>
              </a:rPr>
              <a:t>The decision is complete only when this proof exists: Request ID, retry count, idempotency record, queue age, DLQ message and concurrency metric.</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332</a:t>
            </a:r>
          </a:p>
        </p:txBody>
      </p:sp>
    </p:spTree>
  </p:cSld>
  <p:clrMapOvr>
    <a:masterClrMapping/>
  </p:clrMapOvr>
  <p:transition xmlns:p14="http://schemas.microsoft.com/office/powerpoint/2010/main" p14:dur="380">
    <p:fade/>
  </p:transition>
</p:sld>
</file>

<file path=ppt/slides/slide3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RESILIENT CLOUD SOLUTIONS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Container workload resilience</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OUTCOME</a:t>
            </a:r>
          </a:p>
          <a:p>
            <a:pPr algn="l">
              <a:spcAft>
                <a:spcPts val="300"/>
              </a:spcAft>
            </a:pPr>
            <a:r>
              <a:rPr sz="1050" b="0">
                <a:solidFill>
                  <a:srgbClr val="5B6372"/>
                </a:solidFill>
                <a:latin typeface="Arial"/>
              </a:rPr>
              <a:t>Keep container services available through node, task and deployment failures.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ARCHITECTURE</a:t>
            </a:r>
          </a:p>
          <a:p>
            <a:pPr algn="l">
              <a:spcAft>
                <a:spcPts val="300"/>
              </a:spcAft>
            </a:pPr>
            <a:r>
              <a:rPr sz="1050" b="0">
                <a:solidFill>
                  <a:srgbClr val="5B6372"/>
                </a:solidFill>
                <a:latin typeface="Arial"/>
              </a:rPr>
              <a:t>Spread tasks, set disruption budgets, use readiness checks, pin image digests and scale both service and capacity.</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MODE</a:t>
            </a:r>
          </a:p>
          <a:p>
            <a:pPr algn="l">
              <a:spcAft>
                <a:spcPts val="300"/>
              </a:spcAft>
            </a:pPr>
            <a:r>
              <a:rPr sz="1050" b="0">
                <a:solidFill>
                  <a:srgbClr val="5B6372"/>
                </a:solidFill>
                <a:latin typeface="Arial"/>
              </a:rPr>
              <a:t>Scaling tasks without underlying capacity leaves workloads pending.</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EVIDENCE</a:t>
            </a:r>
          </a:p>
          <a:p>
            <a:pPr algn="l">
              <a:spcAft>
                <a:spcPts val="300"/>
              </a:spcAft>
            </a:pPr>
            <a:r>
              <a:rPr sz="1050" b="0">
                <a:solidFill>
                  <a:srgbClr val="5B6372"/>
                </a:solidFill>
                <a:latin typeface="Arial"/>
              </a:rPr>
              <a:t>Task placement, readiness state, image digest, service events, capacity-provider metric and deployment circuit breaker.</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333</a:t>
            </a:r>
          </a:p>
        </p:txBody>
      </p:sp>
    </p:spTree>
  </p:cSld>
  <p:clrMapOvr>
    <a:masterClrMapping/>
  </p:clrMapOvr>
  <p:transition xmlns:p14="http://schemas.microsoft.com/office/powerpoint/2010/main" p14:dur="380">
    <p:fade/>
  </p:transition>
</p:sld>
</file>

<file path=ppt/slides/slide3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PROCESS MODEL</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Container workload resilience: operating flow</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6354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79829"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982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Pull signed image</a:t>
            </a:r>
          </a:p>
        </p:txBody>
      </p:sp>
      <p:sp>
        <p:nvSpPr>
          <p:cNvPr id="12" name="Rectangle 11"/>
          <p:cNvSpPr/>
          <p:nvPr/>
        </p:nvSpPr>
        <p:spPr>
          <a:xfrm>
            <a:off x="2969971"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69971" y="2148840"/>
            <a:ext cx="186354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572560"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72560"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6" name="TextBox 15"/>
          <p:cNvSpPr txBox="1"/>
          <p:nvPr/>
        </p:nvSpPr>
        <p:spPr>
          <a:xfrm>
            <a:off x="3088843"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Start task</a:t>
            </a:r>
          </a:p>
        </p:txBody>
      </p:sp>
      <p:sp>
        <p:nvSpPr>
          <p:cNvPr id="17" name="Rectangle 16"/>
          <p:cNvSpPr/>
          <p:nvPr/>
        </p:nvSpPr>
        <p:spPr>
          <a:xfrm>
            <a:off x="5162702"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62702" y="2148840"/>
            <a:ext cx="186354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765291"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6529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1" name="TextBox 20"/>
          <p:cNvSpPr txBox="1"/>
          <p:nvPr/>
        </p:nvSpPr>
        <p:spPr>
          <a:xfrm>
            <a:off x="5281574"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Pass readiness</a:t>
            </a:r>
          </a:p>
        </p:txBody>
      </p:sp>
      <p:sp>
        <p:nvSpPr>
          <p:cNvPr id="22" name="Rectangle 21"/>
          <p:cNvSpPr/>
          <p:nvPr/>
        </p:nvSpPr>
        <p:spPr>
          <a:xfrm>
            <a:off x="7355433"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355433" y="2148840"/>
            <a:ext cx="186354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958022"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5802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6" name="TextBox 25"/>
          <p:cNvSpPr txBox="1"/>
          <p:nvPr/>
        </p:nvSpPr>
        <p:spPr>
          <a:xfrm>
            <a:off x="7474305"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Receive traffic</a:t>
            </a:r>
          </a:p>
        </p:txBody>
      </p:sp>
      <p:sp>
        <p:nvSpPr>
          <p:cNvPr id="27" name="Rectangle 26"/>
          <p:cNvSpPr/>
          <p:nvPr/>
        </p:nvSpPr>
        <p:spPr>
          <a:xfrm>
            <a:off x="9548164"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548164" y="2148840"/>
            <a:ext cx="1863547" cy="914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50753" y="2532888"/>
            <a:ext cx="658368" cy="658368"/>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5075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5</a:t>
            </a:r>
          </a:p>
        </p:txBody>
      </p:sp>
      <p:sp>
        <p:nvSpPr>
          <p:cNvPr id="31" name="TextBox 30"/>
          <p:cNvSpPr txBox="1"/>
          <p:nvPr/>
        </p:nvSpPr>
        <p:spPr>
          <a:xfrm>
            <a:off x="9667036"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Replace unhealthy task</a:t>
            </a:r>
          </a:p>
        </p:txBody>
      </p:sp>
      <p:cxnSp>
        <p:nvCxnSpPr>
          <p:cNvPr id="32" name="Connector 31"/>
          <p:cNvCxnSpPr/>
          <p:nvPr/>
        </p:nvCxnSpPr>
        <p:spPr>
          <a:xfrm>
            <a:off x="2640787"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83351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026249"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21898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10B981"/>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8" name="TextBox 3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9" name="TextBox 3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0" name="TextBox 3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334</a:t>
            </a:r>
          </a:p>
        </p:txBody>
      </p:sp>
    </p:spTree>
  </p:cSld>
  <p:clrMapOvr>
    <a:masterClrMapping/>
  </p:clrMapOvr>
  <p:transition xmlns:p14="http://schemas.microsoft.com/office/powerpoint/2010/main" p14:dur="380">
    <p:fade/>
  </p:transition>
</p:sld>
</file>

<file path=ppt/slides/slide3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Container workload resilience: design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83280" cy="43708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70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011680"/>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011680"/>
            <a:ext cx="530352" cy="530352"/>
          </a:xfrm>
          <a:prstGeom prst="rect">
            <a:avLst/>
          </a:prstGeom>
          <a:noFill/>
        </p:spPr>
        <p:txBody>
          <a:bodyPr wrap="square" anchor="ctr">
            <a:spAutoFit/>
          </a:bodyPr>
          <a:lstStyle/>
          <a:p>
            <a:pPr algn="ctr">
              <a:spcAft>
                <a:spcPts val="400"/>
              </a:spcAft>
            </a:pPr>
            <a:r>
              <a:rPr sz="2000" b="1">
                <a:solidFill>
                  <a:srgbClr val="FFFFFF"/>
                </a:solidFill>
                <a:latin typeface="Arial"/>
              </a:rPr>
              <a:t>?</a:t>
            </a:r>
          </a:p>
        </p:txBody>
      </p:sp>
      <p:sp>
        <p:nvSpPr>
          <p:cNvPr id="11" name="TextBox 10"/>
          <p:cNvSpPr txBox="1"/>
          <p:nvPr/>
        </p:nvSpPr>
        <p:spPr>
          <a:xfrm>
            <a:off x="1709928" y="1984248"/>
            <a:ext cx="2212848" cy="502920"/>
          </a:xfrm>
          <a:prstGeom prst="rect">
            <a:avLst/>
          </a:prstGeom>
          <a:noFill/>
        </p:spPr>
        <p:txBody>
          <a:bodyPr wrap="square" anchor="ctr">
            <a:spAutoFit/>
          </a:bodyPr>
          <a:lstStyle/>
          <a:p>
            <a:pPr algn="l">
              <a:spcAft>
                <a:spcPts val="400"/>
              </a:spcAft>
            </a:pPr>
            <a:r>
              <a:rPr sz="1350" b="1">
                <a:solidFill>
                  <a:srgbClr val="10B981"/>
                </a:solidFill>
                <a:latin typeface="Arial"/>
              </a:rPr>
              <a:t>SCENARIO</a:t>
            </a:r>
          </a:p>
        </p:txBody>
      </p:sp>
      <p:sp>
        <p:nvSpPr>
          <p:cNvPr id="12" name="TextBox 11"/>
          <p:cNvSpPr txBox="1"/>
          <p:nvPr/>
        </p:nvSpPr>
        <p:spPr>
          <a:xfrm>
            <a:off x="1051560" y="2743200"/>
            <a:ext cx="2834640" cy="3136392"/>
          </a:xfrm>
          <a:prstGeom prst="rect">
            <a:avLst/>
          </a:prstGeom>
          <a:noFill/>
        </p:spPr>
        <p:txBody>
          <a:bodyPr wrap="square" anchor="t">
            <a:spAutoFit/>
          </a:bodyPr>
          <a:lstStyle/>
          <a:p>
            <a:pPr algn="l">
              <a:spcAft>
                <a:spcPts val="400"/>
              </a:spcAft>
            </a:pPr>
            <a:r>
              <a:rPr sz="1300" b="0">
                <a:solidFill>
                  <a:srgbClr val="161B26"/>
                </a:solidFill>
                <a:latin typeface="Arial"/>
              </a:rPr>
              <a:t>An ECS service needs blue/green deployment and automatic rollback when error rate rises.</a:t>
            </a:r>
          </a:p>
        </p:txBody>
      </p:sp>
      <p:sp>
        <p:nvSpPr>
          <p:cNvPr id="13" name="Rectangle 12"/>
          <p:cNvSpPr/>
          <p:nvPr/>
        </p:nvSpPr>
        <p:spPr>
          <a:xfrm>
            <a:off x="4434840"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34840" y="1783080"/>
            <a:ext cx="91440"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636008" y="1965960"/>
            <a:ext cx="438912" cy="43891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6008"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7" name="TextBox 16"/>
          <p:cNvSpPr txBox="1"/>
          <p:nvPr/>
        </p:nvSpPr>
        <p:spPr>
          <a:xfrm>
            <a:off x="5212080" y="1929384"/>
            <a:ext cx="2286000" cy="475488"/>
          </a:xfrm>
          <a:prstGeom prst="rect">
            <a:avLst/>
          </a:prstGeom>
          <a:noFill/>
        </p:spPr>
        <p:txBody>
          <a:bodyPr wrap="square" anchor="ctr">
            <a:spAutoFit/>
          </a:bodyPr>
          <a:lstStyle/>
          <a:p>
            <a:pPr algn="l">
              <a:spcAft>
                <a:spcPts val="400"/>
              </a:spcAft>
            </a:pPr>
            <a:r>
              <a:rPr sz="1250" b="1">
                <a:solidFill>
                  <a:srgbClr val="10B981"/>
                </a:solidFill>
                <a:latin typeface="Arial"/>
              </a:rPr>
              <a:t>DESIGN RESPONSE</a:t>
            </a:r>
          </a:p>
        </p:txBody>
      </p:sp>
      <p:sp>
        <p:nvSpPr>
          <p:cNvPr id="18" name="TextBox 17"/>
          <p:cNvSpPr txBox="1"/>
          <p:nvPr/>
        </p:nvSpPr>
        <p:spPr>
          <a:xfrm>
            <a:off x="4663440"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Spread tasks, set disruption budgets, use readiness checks, pin image digests and scale both service and capacity.</a:t>
            </a:r>
          </a:p>
        </p:txBody>
      </p:sp>
      <p:sp>
        <p:nvSpPr>
          <p:cNvPr id="19" name="Rectangle 18"/>
          <p:cNvSpPr/>
          <p:nvPr/>
        </p:nvSpPr>
        <p:spPr>
          <a:xfrm>
            <a:off x="7973568"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973568" y="1783080"/>
            <a:ext cx="91440" cy="21488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174736" y="1965960"/>
            <a:ext cx="438912" cy="43891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74736"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23" name="TextBox 22"/>
          <p:cNvSpPr txBox="1"/>
          <p:nvPr/>
        </p:nvSpPr>
        <p:spPr>
          <a:xfrm>
            <a:off x="8750808" y="1929384"/>
            <a:ext cx="2286000" cy="475488"/>
          </a:xfrm>
          <a:prstGeom prst="rect">
            <a:avLst/>
          </a:prstGeom>
          <a:noFill/>
        </p:spPr>
        <p:txBody>
          <a:bodyPr wrap="square" anchor="ctr">
            <a:spAutoFit/>
          </a:bodyPr>
          <a:lstStyle/>
          <a:p>
            <a:pPr algn="l">
              <a:spcAft>
                <a:spcPts val="400"/>
              </a:spcAft>
            </a:pPr>
            <a:r>
              <a:rPr sz="1250" b="1">
                <a:solidFill>
                  <a:srgbClr val="7C3AED"/>
                </a:solidFill>
                <a:latin typeface="Arial"/>
              </a:rPr>
              <a:t>PRIMARY SERVICES</a:t>
            </a:r>
          </a:p>
        </p:txBody>
      </p:sp>
      <p:sp>
        <p:nvSpPr>
          <p:cNvPr id="24" name="TextBox 23"/>
          <p:cNvSpPr txBox="1"/>
          <p:nvPr/>
        </p:nvSpPr>
        <p:spPr>
          <a:xfrm>
            <a:off x="8202168"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ECS · EKS · ECR · Application Auto Scaling</a:t>
            </a:r>
          </a:p>
        </p:txBody>
      </p:sp>
      <p:sp>
        <p:nvSpPr>
          <p:cNvPr id="25" name="Rectangle 24"/>
          <p:cNvSpPr/>
          <p:nvPr/>
        </p:nvSpPr>
        <p:spPr>
          <a:xfrm>
            <a:off x="4434840"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34840" y="4005072"/>
            <a:ext cx="91440" cy="21488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636008" y="4187952"/>
            <a:ext cx="438912" cy="43891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36008"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9" name="TextBox 28"/>
          <p:cNvSpPr txBox="1"/>
          <p:nvPr/>
        </p:nvSpPr>
        <p:spPr>
          <a:xfrm>
            <a:off x="5212080" y="4151376"/>
            <a:ext cx="2286000" cy="475488"/>
          </a:xfrm>
          <a:prstGeom prst="rect">
            <a:avLst/>
          </a:prstGeom>
          <a:noFill/>
        </p:spPr>
        <p:txBody>
          <a:bodyPr wrap="square" anchor="ctr">
            <a:spAutoFit/>
          </a:bodyPr>
          <a:lstStyle/>
          <a:p>
            <a:pPr algn="l">
              <a:spcAft>
                <a:spcPts val="400"/>
              </a:spcAft>
            </a:pPr>
            <a:r>
              <a:rPr sz="1250" b="1">
                <a:solidFill>
                  <a:srgbClr val="F59E0B"/>
                </a:solidFill>
                <a:latin typeface="Arial"/>
              </a:rPr>
              <a:t>FAILURE MODE</a:t>
            </a:r>
          </a:p>
        </p:txBody>
      </p:sp>
      <p:sp>
        <p:nvSpPr>
          <p:cNvPr id="30" name="TextBox 29"/>
          <p:cNvSpPr txBox="1"/>
          <p:nvPr/>
        </p:nvSpPr>
        <p:spPr>
          <a:xfrm>
            <a:off x="4663440"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Scaling tasks without underlying capacity leaves workloads pending.</a:t>
            </a:r>
          </a:p>
        </p:txBody>
      </p:sp>
      <p:sp>
        <p:nvSpPr>
          <p:cNvPr id="31" name="Rectangle 30"/>
          <p:cNvSpPr/>
          <p:nvPr/>
        </p:nvSpPr>
        <p:spPr>
          <a:xfrm>
            <a:off x="7973568"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73568" y="4005072"/>
            <a:ext cx="91440" cy="21488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174736" y="4187952"/>
            <a:ext cx="438912" cy="438912"/>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74736"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5" name="TextBox 34"/>
          <p:cNvSpPr txBox="1"/>
          <p:nvPr/>
        </p:nvSpPr>
        <p:spPr>
          <a:xfrm>
            <a:off x="8750808" y="4151376"/>
            <a:ext cx="2286000" cy="475488"/>
          </a:xfrm>
          <a:prstGeom prst="rect">
            <a:avLst/>
          </a:prstGeom>
          <a:noFill/>
        </p:spPr>
        <p:txBody>
          <a:bodyPr wrap="square" anchor="ctr">
            <a:spAutoFit/>
          </a:bodyPr>
          <a:lstStyle/>
          <a:p>
            <a:pPr algn="l">
              <a:spcAft>
                <a:spcPts val="400"/>
              </a:spcAft>
            </a:pPr>
            <a:r>
              <a:rPr sz="1250" b="1">
                <a:solidFill>
                  <a:srgbClr val="EC711E"/>
                </a:solidFill>
                <a:latin typeface="Arial"/>
              </a:rPr>
              <a:t>PROOF</a:t>
            </a:r>
          </a:p>
        </p:txBody>
      </p:sp>
      <p:sp>
        <p:nvSpPr>
          <p:cNvPr id="36" name="TextBox 35"/>
          <p:cNvSpPr txBox="1"/>
          <p:nvPr/>
        </p:nvSpPr>
        <p:spPr>
          <a:xfrm>
            <a:off x="8202168"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Task placement, readiness state, image digest, service events, capacity-provider metric and deployment circuit breaker.</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335</a:t>
            </a:r>
          </a:p>
        </p:txBody>
      </p:sp>
    </p:spTree>
  </p:cSld>
  <p:clrMapOvr>
    <a:masterClrMapping/>
  </p:clrMapOvr>
  <p:transition xmlns:p14="http://schemas.microsoft.com/office/powerpoint/2010/main" p14:dur="380">
    <p:fade/>
  </p:transition>
</p:sld>
</file>

<file path=ppt/slides/slide3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OPERATIONS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Container workload resilience: failure diagnostic</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RECOGNISE</a:t>
            </a:r>
          </a:p>
          <a:p>
            <a:pPr algn="l">
              <a:spcAft>
                <a:spcPts val="300"/>
              </a:spcAft>
            </a:pPr>
            <a:r>
              <a:rPr sz="1050" b="0">
                <a:solidFill>
                  <a:srgbClr val="5B6372"/>
                </a:solidFill>
                <a:latin typeface="Arial"/>
              </a:rPr>
              <a:t>Observable failure condition: Scaling tasks without underlying capacity leaves workloads pending.</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CONTAIN</a:t>
            </a:r>
          </a:p>
          <a:p>
            <a:pPr algn="l">
              <a:spcAft>
                <a:spcPts val="300"/>
              </a:spcAft>
            </a:pPr>
            <a:r>
              <a:rPr sz="1050" b="0">
                <a:solidFill>
                  <a:srgbClr val="5B6372"/>
                </a:solidFill>
                <a:latin typeface="Arial"/>
              </a:rPr>
              <a:t>Pause promotion, preserve evidence and reduce impact without destroying diagnostic state.</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DIAGNOSE</a:t>
            </a:r>
          </a:p>
          <a:p>
            <a:pPr algn="l">
              <a:spcAft>
                <a:spcPts val="300"/>
              </a:spcAft>
            </a:pPr>
            <a:r>
              <a:rPr sz="1050" b="0">
                <a:solidFill>
                  <a:srgbClr val="5B6372"/>
                </a:solidFill>
                <a:latin typeface="Arial"/>
              </a:rPr>
              <a:t>Trace the workflow from Pull signed image through Replace unhealthy task; compare intended configuration with runtime state.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RECOVER</a:t>
            </a:r>
          </a:p>
          <a:p>
            <a:pPr algn="l">
              <a:spcAft>
                <a:spcPts val="300"/>
              </a:spcAft>
            </a:pPr>
            <a:r>
              <a:rPr sz="1050" b="0">
                <a:solidFill>
                  <a:srgbClr val="5B6372"/>
                </a:solidFill>
                <a:latin typeface="Arial"/>
              </a:rPr>
              <a:t>Restore the last known-good state, then prove recovery with Task placement, readiness state, image digest, service events, capacity-provider metric and deployment circuit breaker.</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336</a:t>
            </a:r>
          </a:p>
        </p:txBody>
      </p:sp>
    </p:spTree>
  </p:cSld>
  <p:clrMapOvr>
    <a:masterClrMapping/>
  </p:clrMapOvr>
  <p:transition xmlns:p14="http://schemas.microsoft.com/office/powerpoint/2010/main" p14:dur="380">
    <p:fade/>
  </p:transition>
</p:sld>
</file>

<file path=ppt/slides/slide3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APPLIED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Container workload resilience: worked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CONSTRAINT</a:t>
            </a:r>
          </a:p>
          <a:p>
            <a:pPr algn="l">
              <a:spcAft>
                <a:spcPts val="300"/>
              </a:spcAft>
            </a:pPr>
            <a:r>
              <a:rPr sz="1050" b="0">
                <a:solidFill>
                  <a:srgbClr val="5B6372"/>
                </a:solidFill>
                <a:latin typeface="Arial"/>
              </a:rPr>
              <a:t>An ECS service needs blue/green deployment and automatic rollback when error rate rises.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DECISION</a:t>
            </a:r>
          </a:p>
          <a:p>
            <a:pPr algn="l">
              <a:spcAft>
                <a:spcPts val="300"/>
              </a:spcAft>
            </a:pPr>
            <a:r>
              <a:rPr sz="1050" b="0">
                <a:solidFill>
                  <a:srgbClr val="5B6372"/>
                </a:solidFill>
                <a:latin typeface="Arial"/>
              </a:rPr>
              <a:t>Spread tasks, set disruption budgets, use readiness checks, pin image digests and scale both service and capacity.</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WHY ALTERNATIVES LOSE</a:t>
            </a:r>
          </a:p>
          <a:p>
            <a:pPr algn="l">
              <a:spcAft>
                <a:spcPts val="300"/>
              </a:spcAft>
            </a:pPr>
            <a:r>
              <a:rPr sz="1050" b="0">
                <a:solidFill>
                  <a:srgbClr val="5B6372"/>
                </a:solidFill>
                <a:latin typeface="Arial"/>
              </a:rPr>
              <a:t>Reject options that do not change the stated failure boundary: Scaling tasks without underlying capacity leaves workloads pending.</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ACCEPTANCE TEST</a:t>
            </a:r>
          </a:p>
          <a:p>
            <a:pPr algn="l">
              <a:spcAft>
                <a:spcPts val="300"/>
              </a:spcAft>
            </a:pPr>
            <a:r>
              <a:rPr sz="1050" b="0">
                <a:solidFill>
                  <a:srgbClr val="5B6372"/>
                </a:solidFill>
                <a:latin typeface="Arial"/>
              </a:rPr>
              <a:t>The decision is complete only when this proof exists: Task placement, readiness state, image digest, service events, capacity-provider metric and deployment circuit breaker.</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337</a:t>
            </a:r>
          </a:p>
        </p:txBody>
      </p:sp>
    </p:spTree>
  </p:cSld>
  <p:clrMapOvr>
    <a:masterClrMapping/>
  </p:clrMapOvr>
  <p:transition xmlns:p14="http://schemas.microsoft.com/office/powerpoint/2010/main" p14:dur="380">
    <p:fade/>
  </p:transition>
</p:sld>
</file>

<file path=ppt/slides/slide3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RESILIENT CLOUD SOLUTIONS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Disaster recovery and automated recovery</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OUTCOME</a:t>
            </a:r>
          </a:p>
          <a:p>
            <a:pPr algn="l">
              <a:spcAft>
                <a:spcPts val="300"/>
              </a:spcAft>
            </a:pPr>
            <a:r>
              <a:rPr sz="1050" b="0">
                <a:solidFill>
                  <a:srgbClr val="5B6372"/>
                </a:solidFill>
                <a:latin typeface="Arial"/>
              </a:rPr>
              <a:t>Choose and test backup/restore, pilot-light, warm-standby or multi-site strategies against business objectives.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ARCHITECTURE</a:t>
            </a:r>
          </a:p>
          <a:p>
            <a:pPr algn="l">
              <a:spcAft>
                <a:spcPts val="300"/>
              </a:spcAft>
            </a:pPr>
            <a:r>
              <a:rPr sz="1050" b="0">
                <a:solidFill>
                  <a:srgbClr val="5B6372"/>
                </a:solidFill>
                <a:latin typeface="Arial"/>
              </a:rPr>
              <a:t>Map each workload to RTO/RPO, automate backups and copies, document dependencies and conduct game days.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MODE</a:t>
            </a:r>
          </a:p>
          <a:p>
            <a:pPr algn="l">
              <a:spcAft>
                <a:spcPts val="300"/>
              </a:spcAft>
            </a:pPr>
            <a:r>
              <a:rPr sz="1050" b="0">
                <a:solidFill>
                  <a:srgbClr val="5B6372"/>
                </a:solidFill>
                <a:latin typeface="Arial"/>
              </a:rPr>
              <a:t>A backup job marked successful does not prove the application can be restored coherently.</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EVIDENCE</a:t>
            </a:r>
          </a:p>
          <a:p>
            <a:pPr algn="l">
              <a:spcAft>
                <a:spcPts val="300"/>
              </a:spcAft>
            </a:pPr>
            <a:r>
              <a:rPr sz="1050" b="0">
                <a:solidFill>
                  <a:srgbClr val="5B6372"/>
                </a:solidFill>
                <a:latin typeface="Arial"/>
              </a:rPr>
              <a:t>Recovery-point age, restore-test outcome, runbook duration, dependency validation and actual RTO/RPO.</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338</a:t>
            </a:r>
          </a:p>
        </p:txBody>
      </p:sp>
    </p:spTree>
  </p:cSld>
  <p:clrMapOvr>
    <a:masterClrMapping/>
  </p:clrMapOvr>
  <p:transition xmlns:p14="http://schemas.microsoft.com/office/powerpoint/2010/main" p14:dur="380">
    <p:fade/>
  </p:transition>
</p:sld>
</file>

<file path=ppt/slides/slide3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PROCESS MODEL</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700" b="1">
                <a:solidFill>
                  <a:srgbClr val="161B26"/>
                </a:solidFill>
                <a:latin typeface="Arial"/>
              </a:rPr>
              <a:t>Disaster recovery and automated recovery: operating flow</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49809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97102"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9710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Protect data</a:t>
            </a:r>
          </a:p>
        </p:txBody>
      </p:sp>
      <p:sp>
        <p:nvSpPr>
          <p:cNvPr id="12" name="Rectangle 11"/>
          <p:cNvSpPr/>
          <p:nvPr/>
        </p:nvSpPr>
        <p:spPr>
          <a:xfrm>
            <a:off x="2604516"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04516" y="2148840"/>
            <a:ext cx="149809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024378"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24378"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6" name="TextBox 15"/>
          <p:cNvSpPr txBox="1"/>
          <p:nvPr/>
        </p:nvSpPr>
        <p:spPr>
          <a:xfrm>
            <a:off x="2723388"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Detect disaster</a:t>
            </a:r>
          </a:p>
        </p:txBody>
      </p:sp>
      <p:sp>
        <p:nvSpPr>
          <p:cNvPr id="17" name="Rectangle 16"/>
          <p:cNvSpPr/>
          <p:nvPr/>
        </p:nvSpPr>
        <p:spPr>
          <a:xfrm>
            <a:off x="4431792"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431792" y="2148840"/>
            <a:ext cx="149809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851654"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51654"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1" name="TextBox 20"/>
          <p:cNvSpPr txBox="1"/>
          <p:nvPr/>
        </p:nvSpPr>
        <p:spPr>
          <a:xfrm>
            <a:off x="4550664"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Declare</a:t>
            </a:r>
          </a:p>
        </p:txBody>
      </p:sp>
      <p:sp>
        <p:nvSpPr>
          <p:cNvPr id="22" name="Rectangle 21"/>
          <p:cNvSpPr/>
          <p:nvPr/>
        </p:nvSpPr>
        <p:spPr>
          <a:xfrm>
            <a:off x="6259068"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59068" y="2148840"/>
            <a:ext cx="149809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678930"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78930"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6" name="TextBox 25"/>
          <p:cNvSpPr txBox="1"/>
          <p:nvPr/>
        </p:nvSpPr>
        <p:spPr>
          <a:xfrm>
            <a:off x="6377940"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Restore or promote</a:t>
            </a:r>
          </a:p>
        </p:txBody>
      </p:sp>
      <p:sp>
        <p:nvSpPr>
          <p:cNvPr id="27" name="Rectangle 26"/>
          <p:cNvSpPr/>
          <p:nvPr/>
        </p:nvSpPr>
        <p:spPr>
          <a:xfrm>
            <a:off x="8086344"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086344" y="2148840"/>
            <a:ext cx="1498092" cy="914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506206" y="2532888"/>
            <a:ext cx="658368" cy="658368"/>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06206"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5</a:t>
            </a:r>
          </a:p>
        </p:txBody>
      </p:sp>
      <p:sp>
        <p:nvSpPr>
          <p:cNvPr id="31" name="TextBox 30"/>
          <p:cNvSpPr txBox="1"/>
          <p:nvPr/>
        </p:nvSpPr>
        <p:spPr>
          <a:xfrm>
            <a:off x="8205216"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Redirect</a:t>
            </a:r>
          </a:p>
        </p:txBody>
      </p:sp>
      <p:sp>
        <p:nvSpPr>
          <p:cNvPr id="32" name="Rectangle 31"/>
          <p:cNvSpPr/>
          <p:nvPr/>
        </p:nvSpPr>
        <p:spPr>
          <a:xfrm>
            <a:off x="9913620"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913620" y="2148840"/>
            <a:ext cx="1498092" cy="91440"/>
          </a:xfrm>
          <a:prstGeom prst="rect">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333482" y="2532888"/>
            <a:ext cx="658368" cy="658368"/>
          </a:xfrm>
          <a:prstGeom prst="ellipse">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3348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6</a:t>
            </a:r>
          </a:p>
        </p:txBody>
      </p:sp>
      <p:sp>
        <p:nvSpPr>
          <p:cNvPr id="36" name="TextBox 35"/>
          <p:cNvSpPr txBox="1"/>
          <p:nvPr/>
        </p:nvSpPr>
        <p:spPr>
          <a:xfrm>
            <a:off x="10032492"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Validate business service</a:t>
            </a:r>
          </a:p>
        </p:txBody>
      </p:sp>
      <p:cxnSp>
        <p:nvCxnSpPr>
          <p:cNvPr id="37" name="Connector 36"/>
          <p:cNvCxnSpPr/>
          <p:nvPr/>
        </p:nvCxnSpPr>
        <p:spPr>
          <a:xfrm>
            <a:off x="2275332"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10260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929884"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775716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9584436"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10B981"/>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44" name="TextBox 4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45" name="TextBox 4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6" name="TextBox 4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339</a:t>
            </a:r>
          </a:p>
        </p:txBody>
      </p:sp>
    </p:spTree>
  </p:cSld>
  <p:clrMapOvr>
    <a:masterClrMapping/>
  </p:clrMapOvr>
  <p:transition xmlns:p14="http://schemas.microsoft.com/office/powerpoint/2010/main" p14:dur="380">
    <p:fade/>
  </p:transition>
</p:sld>
</file>

<file path=ppt/slides/slide3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700" b="1">
                <a:solidFill>
                  <a:srgbClr val="161B26"/>
                </a:solidFill>
                <a:latin typeface="Arial"/>
              </a:rPr>
              <a:t>Disaster recovery and automated recovery: design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83280" cy="43708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70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011680"/>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011680"/>
            <a:ext cx="530352" cy="530352"/>
          </a:xfrm>
          <a:prstGeom prst="rect">
            <a:avLst/>
          </a:prstGeom>
          <a:noFill/>
        </p:spPr>
        <p:txBody>
          <a:bodyPr wrap="square" anchor="ctr">
            <a:spAutoFit/>
          </a:bodyPr>
          <a:lstStyle/>
          <a:p>
            <a:pPr algn="ctr">
              <a:spcAft>
                <a:spcPts val="400"/>
              </a:spcAft>
            </a:pPr>
            <a:r>
              <a:rPr sz="2000" b="1">
                <a:solidFill>
                  <a:srgbClr val="FFFFFF"/>
                </a:solidFill>
                <a:latin typeface="Arial"/>
              </a:rPr>
              <a:t>?</a:t>
            </a:r>
          </a:p>
        </p:txBody>
      </p:sp>
      <p:sp>
        <p:nvSpPr>
          <p:cNvPr id="11" name="TextBox 10"/>
          <p:cNvSpPr txBox="1"/>
          <p:nvPr/>
        </p:nvSpPr>
        <p:spPr>
          <a:xfrm>
            <a:off x="1709928" y="1984248"/>
            <a:ext cx="2212848" cy="502920"/>
          </a:xfrm>
          <a:prstGeom prst="rect">
            <a:avLst/>
          </a:prstGeom>
          <a:noFill/>
        </p:spPr>
        <p:txBody>
          <a:bodyPr wrap="square" anchor="ctr">
            <a:spAutoFit/>
          </a:bodyPr>
          <a:lstStyle/>
          <a:p>
            <a:pPr algn="l">
              <a:spcAft>
                <a:spcPts val="400"/>
              </a:spcAft>
            </a:pPr>
            <a:r>
              <a:rPr sz="1350" b="1">
                <a:solidFill>
                  <a:srgbClr val="10B981"/>
                </a:solidFill>
                <a:latin typeface="Arial"/>
              </a:rPr>
              <a:t>SCENARIO</a:t>
            </a:r>
          </a:p>
        </p:txBody>
      </p:sp>
      <p:sp>
        <p:nvSpPr>
          <p:cNvPr id="12" name="TextBox 11"/>
          <p:cNvSpPr txBox="1"/>
          <p:nvPr/>
        </p:nvSpPr>
        <p:spPr>
          <a:xfrm>
            <a:off x="1051560" y="2743200"/>
            <a:ext cx="2834640" cy="3136392"/>
          </a:xfrm>
          <a:prstGeom prst="rect">
            <a:avLst/>
          </a:prstGeom>
          <a:noFill/>
        </p:spPr>
        <p:txBody>
          <a:bodyPr wrap="square" anchor="t">
            <a:spAutoFit/>
          </a:bodyPr>
          <a:lstStyle/>
          <a:p>
            <a:pPr algn="l">
              <a:spcAft>
                <a:spcPts val="400"/>
              </a:spcAft>
            </a:pPr>
            <a:r>
              <a:rPr sz="1300" b="0">
                <a:solidFill>
                  <a:srgbClr val="161B26"/>
                </a:solidFill>
                <a:latin typeface="Arial"/>
              </a:rPr>
              <a:t>A regional disruption requires the customer portal to recover within 60 minutes with at most 15 minutes of data loss.</a:t>
            </a:r>
          </a:p>
        </p:txBody>
      </p:sp>
      <p:sp>
        <p:nvSpPr>
          <p:cNvPr id="13" name="Rectangle 12"/>
          <p:cNvSpPr/>
          <p:nvPr/>
        </p:nvSpPr>
        <p:spPr>
          <a:xfrm>
            <a:off x="4434840"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34840" y="1783080"/>
            <a:ext cx="91440"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636008" y="1965960"/>
            <a:ext cx="438912" cy="43891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6008"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7" name="TextBox 16"/>
          <p:cNvSpPr txBox="1"/>
          <p:nvPr/>
        </p:nvSpPr>
        <p:spPr>
          <a:xfrm>
            <a:off x="5212080" y="1929384"/>
            <a:ext cx="2286000" cy="475488"/>
          </a:xfrm>
          <a:prstGeom prst="rect">
            <a:avLst/>
          </a:prstGeom>
          <a:noFill/>
        </p:spPr>
        <p:txBody>
          <a:bodyPr wrap="square" anchor="ctr">
            <a:spAutoFit/>
          </a:bodyPr>
          <a:lstStyle/>
          <a:p>
            <a:pPr algn="l">
              <a:spcAft>
                <a:spcPts val="400"/>
              </a:spcAft>
            </a:pPr>
            <a:r>
              <a:rPr sz="1250" b="1">
                <a:solidFill>
                  <a:srgbClr val="10B981"/>
                </a:solidFill>
                <a:latin typeface="Arial"/>
              </a:rPr>
              <a:t>DESIGN RESPONSE</a:t>
            </a:r>
          </a:p>
        </p:txBody>
      </p:sp>
      <p:sp>
        <p:nvSpPr>
          <p:cNvPr id="18" name="TextBox 17"/>
          <p:cNvSpPr txBox="1"/>
          <p:nvPr/>
        </p:nvSpPr>
        <p:spPr>
          <a:xfrm>
            <a:off x="4663440"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Map each workload to RTO/RPO, automate backups and copies, document dependencies and conduct game days.</a:t>
            </a:r>
          </a:p>
        </p:txBody>
      </p:sp>
      <p:sp>
        <p:nvSpPr>
          <p:cNvPr id="19" name="Rectangle 18"/>
          <p:cNvSpPr/>
          <p:nvPr/>
        </p:nvSpPr>
        <p:spPr>
          <a:xfrm>
            <a:off x="7973568"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973568" y="1783080"/>
            <a:ext cx="91440" cy="21488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174736" y="1965960"/>
            <a:ext cx="438912" cy="43891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74736"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23" name="TextBox 22"/>
          <p:cNvSpPr txBox="1"/>
          <p:nvPr/>
        </p:nvSpPr>
        <p:spPr>
          <a:xfrm>
            <a:off x="8750808" y="1929384"/>
            <a:ext cx="2286000" cy="475488"/>
          </a:xfrm>
          <a:prstGeom prst="rect">
            <a:avLst/>
          </a:prstGeom>
          <a:noFill/>
        </p:spPr>
        <p:txBody>
          <a:bodyPr wrap="square" anchor="ctr">
            <a:spAutoFit/>
          </a:bodyPr>
          <a:lstStyle/>
          <a:p>
            <a:pPr algn="l">
              <a:spcAft>
                <a:spcPts val="400"/>
              </a:spcAft>
            </a:pPr>
            <a:r>
              <a:rPr sz="1250" b="1">
                <a:solidFill>
                  <a:srgbClr val="7C3AED"/>
                </a:solidFill>
                <a:latin typeface="Arial"/>
              </a:rPr>
              <a:t>PRIMARY SERVICES</a:t>
            </a:r>
          </a:p>
        </p:txBody>
      </p:sp>
      <p:sp>
        <p:nvSpPr>
          <p:cNvPr id="24" name="TextBox 23"/>
          <p:cNvSpPr txBox="1"/>
          <p:nvPr/>
        </p:nvSpPr>
        <p:spPr>
          <a:xfrm>
            <a:off x="8202168"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AWS Backup · Elastic Disaster Recovery · Route 53</a:t>
            </a:r>
          </a:p>
        </p:txBody>
      </p:sp>
      <p:sp>
        <p:nvSpPr>
          <p:cNvPr id="25" name="Rectangle 24"/>
          <p:cNvSpPr/>
          <p:nvPr/>
        </p:nvSpPr>
        <p:spPr>
          <a:xfrm>
            <a:off x="4434840"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34840" y="4005072"/>
            <a:ext cx="91440" cy="21488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636008" y="4187952"/>
            <a:ext cx="438912" cy="43891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36008"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9" name="TextBox 28"/>
          <p:cNvSpPr txBox="1"/>
          <p:nvPr/>
        </p:nvSpPr>
        <p:spPr>
          <a:xfrm>
            <a:off x="5212080" y="4151376"/>
            <a:ext cx="2286000" cy="475488"/>
          </a:xfrm>
          <a:prstGeom prst="rect">
            <a:avLst/>
          </a:prstGeom>
          <a:noFill/>
        </p:spPr>
        <p:txBody>
          <a:bodyPr wrap="square" anchor="ctr">
            <a:spAutoFit/>
          </a:bodyPr>
          <a:lstStyle/>
          <a:p>
            <a:pPr algn="l">
              <a:spcAft>
                <a:spcPts val="400"/>
              </a:spcAft>
            </a:pPr>
            <a:r>
              <a:rPr sz="1250" b="1">
                <a:solidFill>
                  <a:srgbClr val="F59E0B"/>
                </a:solidFill>
                <a:latin typeface="Arial"/>
              </a:rPr>
              <a:t>FAILURE MODE</a:t>
            </a:r>
          </a:p>
        </p:txBody>
      </p:sp>
      <p:sp>
        <p:nvSpPr>
          <p:cNvPr id="30" name="TextBox 29"/>
          <p:cNvSpPr txBox="1"/>
          <p:nvPr/>
        </p:nvSpPr>
        <p:spPr>
          <a:xfrm>
            <a:off x="4663440"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A backup job marked successful does not prove the application can be restored coherently.</a:t>
            </a:r>
          </a:p>
        </p:txBody>
      </p:sp>
      <p:sp>
        <p:nvSpPr>
          <p:cNvPr id="31" name="Rectangle 30"/>
          <p:cNvSpPr/>
          <p:nvPr/>
        </p:nvSpPr>
        <p:spPr>
          <a:xfrm>
            <a:off x="7973568"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73568" y="4005072"/>
            <a:ext cx="91440" cy="21488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174736" y="4187952"/>
            <a:ext cx="438912" cy="438912"/>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74736"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5" name="TextBox 34"/>
          <p:cNvSpPr txBox="1"/>
          <p:nvPr/>
        </p:nvSpPr>
        <p:spPr>
          <a:xfrm>
            <a:off x="8750808" y="4151376"/>
            <a:ext cx="2286000" cy="475488"/>
          </a:xfrm>
          <a:prstGeom prst="rect">
            <a:avLst/>
          </a:prstGeom>
          <a:noFill/>
        </p:spPr>
        <p:txBody>
          <a:bodyPr wrap="square" anchor="ctr">
            <a:spAutoFit/>
          </a:bodyPr>
          <a:lstStyle/>
          <a:p>
            <a:pPr algn="l">
              <a:spcAft>
                <a:spcPts val="400"/>
              </a:spcAft>
            </a:pPr>
            <a:r>
              <a:rPr sz="1250" b="1">
                <a:solidFill>
                  <a:srgbClr val="EC711E"/>
                </a:solidFill>
                <a:latin typeface="Arial"/>
              </a:rPr>
              <a:t>PROOF</a:t>
            </a:r>
          </a:p>
        </p:txBody>
      </p:sp>
      <p:sp>
        <p:nvSpPr>
          <p:cNvPr id="36" name="TextBox 35"/>
          <p:cNvSpPr txBox="1"/>
          <p:nvPr/>
        </p:nvSpPr>
        <p:spPr>
          <a:xfrm>
            <a:off x="8202168"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Recovery-point age, restore-test outcome, runbook duration, dependency validation and actual RTO/RPO.</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340</a:t>
            </a:r>
          </a:p>
        </p:txBody>
      </p:sp>
    </p:spTree>
  </p:cSld>
  <p:clrMapOvr>
    <a:masterClrMapping/>
  </p:clrMapOvr>
  <p:transition xmlns:p14="http://schemas.microsoft.com/office/powerpoint/2010/main" p14:dur="380">
    <p:fade/>
  </p:transition>
</p:sld>
</file>

<file path=ppt/slides/slide3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OPERATIONS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700" b="1">
                <a:solidFill>
                  <a:srgbClr val="161B26"/>
                </a:solidFill>
                <a:latin typeface="Arial"/>
              </a:rPr>
              <a:t>Disaster recovery and automated recovery: failure diagnostic</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RECOGNISE</a:t>
            </a:r>
          </a:p>
          <a:p>
            <a:pPr algn="l">
              <a:spcAft>
                <a:spcPts val="300"/>
              </a:spcAft>
            </a:pPr>
            <a:r>
              <a:rPr sz="1050" b="0">
                <a:solidFill>
                  <a:srgbClr val="5B6372"/>
                </a:solidFill>
                <a:latin typeface="Arial"/>
              </a:rPr>
              <a:t>Observable failure condition: A backup job marked successful does not prove the application can be restored coherently.</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CONTAIN</a:t>
            </a:r>
          </a:p>
          <a:p>
            <a:pPr algn="l">
              <a:spcAft>
                <a:spcPts val="300"/>
              </a:spcAft>
            </a:pPr>
            <a:r>
              <a:rPr sz="1050" b="0">
                <a:solidFill>
                  <a:srgbClr val="5B6372"/>
                </a:solidFill>
                <a:latin typeface="Arial"/>
              </a:rPr>
              <a:t>Pause promotion, preserve evidence and reduce impact without destroying diagnostic state.</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DIAGNOSE</a:t>
            </a:r>
          </a:p>
          <a:p>
            <a:pPr algn="l">
              <a:spcAft>
                <a:spcPts val="300"/>
              </a:spcAft>
            </a:pPr>
            <a:r>
              <a:rPr sz="1050" b="0">
                <a:solidFill>
                  <a:srgbClr val="5B6372"/>
                </a:solidFill>
                <a:latin typeface="Arial"/>
              </a:rPr>
              <a:t>Trace the workflow from Protect data through Validate business service; compare intended configuration with runtime state.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RECOVER</a:t>
            </a:r>
          </a:p>
          <a:p>
            <a:pPr algn="l">
              <a:spcAft>
                <a:spcPts val="300"/>
              </a:spcAft>
            </a:pPr>
            <a:r>
              <a:rPr sz="1050" b="0">
                <a:solidFill>
                  <a:srgbClr val="5B6372"/>
                </a:solidFill>
                <a:latin typeface="Arial"/>
              </a:rPr>
              <a:t>Restore the last known-good state, then prove recovery with Recovery-point age, restore-test outcome, runbook duration, dependency validation and actual RTO/RPO.</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341</a:t>
            </a:r>
          </a:p>
        </p:txBody>
      </p:sp>
    </p:spTree>
  </p:cSld>
  <p:clrMapOvr>
    <a:masterClrMapping/>
  </p:clrMapOvr>
  <p:transition xmlns:p14="http://schemas.microsoft.com/office/powerpoint/2010/main" p14:dur="380">
    <p:fade/>
  </p:transition>
</p:sld>
</file>

<file path=ppt/slides/slide3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APPLIED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700" b="1">
                <a:solidFill>
                  <a:srgbClr val="161B26"/>
                </a:solidFill>
                <a:latin typeface="Arial"/>
              </a:rPr>
              <a:t>Disaster recovery and automated recovery: worked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CONSTRAINT</a:t>
            </a:r>
          </a:p>
          <a:p>
            <a:pPr algn="l">
              <a:spcAft>
                <a:spcPts val="300"/>
              </a:spcAft>
            </a:pPr>
            <a:r>
              <a:rPr sz="1050" b="0">
                <a:solidFill>
                  <a:srgbClr val="5B6372"/>
                </a:solidFill>
                <a:latin typeface="Arial"/>
              </a:rPr>
              <a:t>A regional disruption requires the customer portal to recover within 60 minutes with at most 15 minutes of data loss.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DECISION</a:t>
            </a:r>
          </a:p>
          <a:p>
            <a:pPr algn="l">
              <a:spcAft>
                <a:spcPts val="300"/>
              </a:spcAft>
            </a:pPr>
            <a:r>
              <a:rPr sz="1050" b="0">
                <a:solidFill>
                  <a:srgbClr val="5B6372"/>
                </a:solidFill>
                <a:latin typeface="Arial"/>
              </a:rPr>
              <a:t>Map each workload to RTO/RPO, automate backups and copies, document dependencies and conduct game days.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WHY ALTERNATIVES LOSE</a:t>
            </a:r>
          </a:p>
          <a:p>
            <a:pPr algn="l">
              <a:spcAft>
                <a:spcPts val="300"/>
              </a:spcAft>
            </a:pPr>
            <a:r>
              <a:rPr sz="1050" b="0">
                <a:solidFill>
                  <a:srgbClr val="5B6372"/>
                </a:solidFill>
                <a:latin typeface="Arial"/>
              </a:rPr>
              <a:t>Reject options that do not change the stated failure boundary: A backup job marked successful does not prove the application can be restored coherently.</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ACCEPTANCE TEST</a:t>
            </a:r>
          </a:p>
          <a:p>
            <a:pPr algn="l">
              <a:spcAft>
                <a:spcPts val="300"/>
              </a:spcAft>
            </a:pPr>
            <a:r>
              <a:rPr sz="1050" b="0">
                <a:solidFill>
                  <a:srgbClr val="5B6372"/>
                </a:solidFill>
                <a:latin typeface="Arial"/>
              </a:rPr>
              <a:t>The decision is complete only when this proof exists: Recovery-point age, restore-test outcome, runbook duration, dependency validation and actual RTO/RPO.</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342</a:t>
            </a:r>
          </a:p>
        </p:txBody>
      </p:sp>
    </p:spTree>
  </p:cSld>
  <p:clrMapOvr>
    <a:masterClrMapping/>
  </p:clrMapOvr>
  <p:transition xmlns:p14="http://schemas.microsoft.com/office/powerpoint/2010/main" p14:dur="380">
    <p:fade/>
  </p:transition>
</p:sld>
</file>

<file path=ppt/slides/slide3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SERVICE BOUNDARIES</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500" b="1">
                <a:solidFill>
                  <a:srgbClr val="161B26"/>
                </a:solidFill>
                <a:latin typeface="Arial"/>
              </a:rPr>
              <a:t>Availability requirements and failure modes: architecture map</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241173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53921"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5392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319272"/>
            <a:ext cx="2173986" cy="384048"/>
          </a:xfrm>
          <a:prstGeom prst="rect">
            <a:avLst/>
          </a:prstGeom>
          <a:noFill/>
        </p:spPr>
        <p:txBody>
          <a:bodyPr wrap="square" anchor="ctr">
            <a:spAutoFit/>
          </a:bodyPr>
          <a:lstStyle/>
          <a:p>
            <a:pPr algn="ctr">
              <a:spcAft>
                <a:spcPts val="400"/>
              </a:spcAft>
            </a:pPr>
            <a:r>
              <a:rPr sz="1150" b="1">
                <a:solidFill>
                  <a:srgbClr val="1F6FEB"/>
                </a:solidFill>
                <a:latin typeface="Arial"/>
              </a:rPr>
              <a:t>TRIGGER / INPUT</a:t>
            </a:r>
          </a:p>
        </p:txBody>
      </p:sp>
      <p:sp>
        <p:nvSpPr>
          <p:cNvPr id="12" name="TextBox 11"/>
          <p:cNvSpPr txBox="1"/>
          <p:nvPr/>
        </p:nvSpPr>
        <p:spPr>
          <a:xfrm>
            <a:off x="896112"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Define impact</a:t>
            </a:r>
          </a:p>
        </p:txBody>
      </p:sp>
      <p:sp>
        <p:nvSpPr>
          <p:cNvPr id="13" name="Rectangle 12"/>
          <p:cNvSpPr/>
          <p:nvPr/>
        </p:nvSpPr>
        <p:spPr>
          <a:xfrm>
            <a:off x="3518154"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18154" y="2148840"/>
            <a:ext cx="241173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394835"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94835"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7" name="TextBox 16"/>
          <p:cNvSpPr txBox="1"/>
          <p:nvPr/>
        </p:nvSpPr>
        <p:spPr>
          <a:xfrm>
            <a:off x="3637026" y="3319272"/>
            <a:ext cx="2173986" cy="384048"/>
          </a:xfrm>
          <a:prstGeom prst="rect">
            <a:avLst/>
          </a:prstGeom>
          <a:noFill/>
        </p:spPr>
        <p:txBody>
          <a:bodyPr wrap="square" anchor="ctr">
            <a:spAutoFit/>
          </a:bodyPr>
          <a:lstStyle/>
          <a:p>
            <a:pPr algn="ctr">
              <a:spcAft>
                <a:spcPts val="400"/>
              </a:spcAft>
            </a:pPr>
            <a:r>
              <a:rPr sz="1150" b="1">
                <a:solidFill>
                  <a:srgbClr val="10B981"/>
                </a:solidFill>
                <a:latin typeface="Arial"/>
              </a:rPr>
              <a:t>CONTROL PLANE</a:t>
            </a:r>
          </a:p>
        </p:txBody>
      </p:sp>
      <p:sp>
        <p:nvSpPr>
          <p:cNvPr id="18" name="TextBox 17"/>
          <p:cNvSpPr txBox="1"/>
          <p:nvPr/>
        </p:nvSpPr>
        <p:spPr>
          <a:xfrm>
            <a:off x="3637026"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Model component failure domains, remove single points of failure and test degraded modes before selecting services.</a:t>
            </a:r>
          </a:p>
        </p:txBody>
      </p:sp>
      <p:sp>
        <p:nvSpPr>
          <p:cNvPr id="19" name="Rectangle 18"/>
          <p:cNvSpPr/>
          <p:nvPr/>
        </p:nvSpPr>
        <p:spPr>
          <a:xfrm>
            <a:off x="6259068"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9068" y="2148840"/>
            <a:ext cx="241173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5749"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574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3" name="TextBox 22"/>
          <p:cNvSpPr txBox="1"/>
          <p:nvPr/>
        </p:nvSpPr>
        <p:spPr>
          <a:xfrm>
            <a:off x="6377940" y="3319272"/>
            <a:ext cx="2173986" cy="384048"/>
          </a:xfrm>
          <a:prstGeom prst="rect">
            <a:avLst/>
          </a:prstGeom>
          <a:noFill/>
        </p:spPr>
        <p:txBody>
          <a:bodyPr wrap="square" anchor="ctr">
            <a:spAutoFit/>
          </a:bodyPr>
          <a:lstStyle/>
          <a:p>
            <a:pPr algn="ctr">
              <a:spcAft>
                <a:spcPts val="400"/>
              </a:spcAft>
            </a:pPr>
            <a:r>
              <a:rPr sz="1150" b="1">
                <a:solidFill>
                  <a:srgbClr val="7C3AED"/>
                </a:solidFill>
                <a:latin typeface="Arial"/>
              </a:rPr>
              <a:t>AWS SERVICES</a:t>
            </a:r>
          </a:p>
        </p:txBody>
      </p:sp>
      <p:sp>
        <p:nvSpPr>
          <p:cNvPr id="24" name="TextBox 23"/>
          <p:cNvSpPr txBox="1"/>
          <p:nvPr/>
        </p:nvSpPr>
        <p:spPr>
          <a:xfrm>
            <a:off x="6377940"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Multi-AZ · AWS Resilience Hub · Well-Architected Tool</a:t>
            </a:r>
          </a:p>
        </p:txBody>
      </p:sp>
      <p:sp>
        <p:nvSpPr>
          <p:cNvPr id="25" name="Rectangle 24"/>
          <p:cNvSpPr/>
          <p:nvPr/>
        </p:nvSpPr>
        <p:spPr>
          <a:xfrm>
            <a:off x="8999982"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99982" y="2148840"/>
            <a:ext cx="2411730"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76663"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7666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9" name="TextBox 28"/>
          <p:cNvSpPr txBox="1"/>
          <p:nvPr/>
        </p:nvSpPr>
        <p:spPr>
          <a:xfrm>
            <a:off x="9118854" y="3319272"/>
            <a:ext cx="2173986" cy="384048"/>
          </a:xfrm>
          <a:prstGeom prst="rect">
            <a:avLst/>
          </a:prstGeom>
          <a:noFill/>
        </p:spPr>
        <p:txBody>
          <a:bodyPr wrap="square" anchor="ctr">
            <a:spAutoFit/>
          </a:bodyPr>
          <a:lstStyle/>
          <a:p>
            <a:pPr algn="ctr">
              <a:spcAft>
                <a:spcPts val="400"/>
              </a:spcAft>
            </a:pPr>
            <a:r>
              <a:rPr sz="1150" b="1">
                <a:solidFill>
                  <a:srgbClr val="F59E0B"/>
                </a:solidFill>
                <a:latin typeface="Arial"/>
              </a:rPr>
              <a:t>EVIDENCE BOUNDARY</a:t>
            </a:r>
          </a:p>
        </p:txBody>
      </p:sp>
      <p:sp>
        <p:nvSpPr>
          <p:cNvPr id="30" name="TextBox 29"/>
          <p:cNvSpPr txBox="1"/>
          <p:nvPr/>
        </p:nvSpPr>
        <p:spPr>
          <a:xfrm>
            <a:off x="9118854"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Availability target, dependency map, failure-mode analysis, resilience recommendation and test result.</a:t>
            </a:r>
          </a:p>
        </p:txBody>
      </p:sp>
      <p:cxnSp>
        <p:nvCxnSpPr>
          <p:cNvPr id="31" name="Connector 30"/>
          <p:cNvCxnSpPr/>
          <p:nvPr/>
        </p:nvCxnSpPr>
        <p:spPr>
          <a:xfrm>
            <a:off x="318897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929884"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67079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10B981"/>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343</a:t>
            </a:r>
          </a:p>
        </p:txBody>
      </p:sp>
    </p:spTree>
  </p:cSld>
  <p:clrMapOvr>
    <a:masterClrMapping/>
  </p:clrMapOvr>
  <p:transition xmlns:p14="http://schemas.microsoft.com/office/powerpoint/2010/main" p14:dur="380">
    <p:fade/>
  </p:transition>
</p:sld>
</file>

<file path=ppt/slides/slide3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SERVICE BOUNDARIES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Elastic compute and load distribution: architecture map</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241173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53921"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5392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319272"/>
            <a:ext cx="2173986" cy="384048"/>
          </a:xfrm>
          <a:prstGeom prst="rect">
            <a:avLst/>
          </a:prstGeom>
          <a:noFill/>
        </p:spPr>
        <p:txBody>
          <a:bodyPr wrap="square" anchor="ctr">
            <a:spAutoFit/>
          </a:bodyPr>
          <a:lstStyle/>
          <a:p>
            <a:pPr algn="ctr">
              <a:spcAft>
                <a:spcPts val="400"/>
              </a:spcAft>
            </a:pPr>
            <a:r>
              <a:rPr sz="1150" b="1">
                <a:solidFill>
                  <a:srgbClr val="1F6FEB"/>
                </a:solidFill>
                <a:latin typeface="Arial"/>
              </a:rPr>
              <a:t>TRIGGER / INPUT</a:t>
            </a:r>
          </a:p>
        </p:txBody>
      </p:sp>
      <p:sp>
        <p:nvSpPr>
          <p:cNvPr id="12" name="TextBox 11"/>
          <p:cNvSpPr txBox="1"/>
          <p:nvPr/>
        </p:nvSpPr>
        <p:spPr>
          <a:xfrm>
            <a:off x="896112"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Measure demand</a:t>
            </a:r>
          </a:p>
        </p:txBody>
      </p:sp>
      <p:sp>
        <p:nvSpPr>
          <p:cNvPr id="13" name="Rectangle 12"/>
          <p:cNvSpPr/>
          <p:nvPr/>
        </p:nvSpPr>
        <p:spPr>
          <a:xfrm>
            <a:off x="3518154"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18154" y="2148840"/>
            <a:ext cx="241173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394835"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94835"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7" name="TextBox 16"/>
          <p:cNvSpPr txBox="1"/>
          <p:nvPr/>
        </p:nvSpPr>
        <p:spPr>
          <a:xfrm>
            <a:off x="3637026" y="3319272"/>
            <a:ext cx="2173986" cy="384048"/>
          </a:xfrm>
          <a:prstGeom prst="rect">
            <a:avLst/>
          </a:prstGeom>
          <a:noFill/>
        </p:spPr>
        <p:txBody>
          <a:bodyPr wrap="square" anchor="ctr">
            <a:spAutoFit/>
          </a:bodyPr>
          <a:lstStyle/>
          <a:p>
            <a:pPr algn="ctr">
              <a:spcAft>
                <a:spcPts val="400"/>
              </a:spcAft>
            </a:pPr>
            <a:r>
              <a:rPr sz="1150" b="1">
                <a:solidFill>
                  <a:srgbClr val="10B981"/>
                </a:solidFill>
                <a:latin typeface="Arial"/>
              </a:rPr>
              <a:t>CONTROL PLANE</a:t>
            </a:r>
          </a:p>
        </p:txBody>
      </p:sp>
      <p:sp>
        <p:nvSpPr>
          <p:cNvPr id="18" name="TextBox 17"/>
          <p:cNvSpPr txBox="1"/>
          <p:nvPr/>
        </p:nvSpPr>
        <p:spPr>
          <a:xfrm>
            <a:off x="3637026"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Use target tracking where possible, warm-up periods, lifecycle hooks, multiple AZs and meaningful health checks.</a:t>
            </a:r>
          </a:p>
        </p:txBody>
      </p:sp>
      <p:sp>
        <p:nvSpPr>
          <p:cNvPr id="19" name="Rectangle 18"/>
          <p:cNvSpPr/>
          <p:nvPr/>
        </p:nvSpPr>
        <p:spPr>
          <a:xfrm>
            <a:off x="6259068"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9068" y="2148840"/>
            <a:ext cx="241173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5749"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574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3" name="TextBox 22"/>
          <p:cNvSpPr txBox="1"/>
          <p:nvPr/>
        </p:nvSpPr>
        <p:spPr>
          <a:xfrm>
            <a:off x="6377940" y="3319272"/>
            <a:ext cx="2173986" cy="384048"/>
          </a:xfrm>
          <a:prstGeom prst="rect">
            <a:avLst/>
          </a:prstGeom>
          <a:noFill/>
        </p:spPr>
        <p:txBody>
          <a:bodyPr wrap="square" anchor="ctr">
            <a:spAutoFit/>
          </a:bodyPr>
          <a:lstStyle/>
          <a:p>
            <a:pPr algn="ctr">
              <a:spcAft>
                <a:spcPts val="400"/>
              </a:spcAft>
            </a:pPr>
            <a:r>
              <a:rPr sz="1150" b="1">
                <a:solidFill>
                  <a:srgbClr val="7C3AED"/>
                </a:solidFill>
                <a:latin typeface="Arial"/>
              </a:rPr>
              <a:t>AWS SERVICES</a:t>
            </a:r>
          </a:p>
        </p:txBody>
      </p:sp>
      <p:sp>
        <p:nvSpPr>
          <p:cNvPr id="24" name="TextBox 23"/>
          <p:cNvSpPr txBox="1"/>
          <p:nvPr/>
        </p:nvSpPr>
        <p:spPr>
          <a:xfrm>
            <a:off x="6377940"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Auto Scaling · ALB · NLB · EC2 Fleet</a:t>
            </a:r>
          </a:p>
        </p:txBody>
      </p:sp>
      <p:sp>
        <p:nvSpPr>
          <p:cNvPr id="25" name="Rectangle 24"/>
          <p:cNvSpPr/>
          <p:nvPr/>
        </p:nvSpPr>
        <p:spPr>
          <a:xfrm>
            <a:off x="8999982"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99982" y="2148840"/>
            <a:ext cx="2411730"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76663"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7666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9" name="TextBox 28"/>
          <p:cNvSpPr txBox="1"/>
          <p:nvPr/>
        </p:nvSpPr>
        <p:spPr>
          <a:xfrm>
            <a:off x="9118854" y="3319272"/>
            <a:ext cx="2173986" cy="384048"/>
          </a:xfrm>
          <a:prstGeom prst="rect">
            <a:avLst/>
          </a:prstGeom>
          <a:noFill/>
        </p:spPr>
        <p:txBody>
          <a:bodyPr wrap="square" anchor="ctr">
            <a:spAutoFit/>
          </a:bodyPr>
          <a:lstStyle/>
          <a:p>
            <a:pPr algn="ctr">
              <a:spcAft>
                <a:spcPts val="400"/>
              </a:spcAft>
            </a:pPr>
            <a:r>
              <a:rPr sz="1150" b="1">
                <a:solidFill>
                  <a:srgbClr val="F59E0B"/>
                </a:solidFill>
                <a:latin typeface="Arial"/>
              </a:rPr>
              <a:t>EVIDENCE BOUNDARY</a:t>
            </a:r>
          </a:p>
        </p:txBody>
      </p:sp>
      <p:sp>
        <p:nvSpPr>
          <p:cNvPr id="30" name="TextBox 29"/>
          <p:cNvSpPr txBox="1"/>
          <p:nvPr/>
        </p:nvSpPr>
        <p:spPr>
          <a:xfrm>
            <a:off x="9118854"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Scaling policy, metric math, warm-up, lifecycle state, target health and capacity event.</a:t>
            </a:r>
          </a:p>
        </p:txBody>
      </p:sp>
      <p:cxnSp>
        <p:nvCxnSpPr>
          <p:cNvPr id="31" name="Connector 30"/>
          <p:cNvCxnSpPr/>
          <p:nvPr/>
        </p:nvCxnSpPr>
        <p:spPr>
          <a:xfrm>
            <a:off x="318897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929884"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67079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10B981"/>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344</a:t>
            </a:r>
          </a:p>
        </p:txBody>
      </p:sp>
    </p:spTree>
  </p:cSld>
  <p:clrMapOvr>
    <a:masterClrMapping/>
  </p:clrMapOvr>
  <p:transition xmlns:p14="http://schemas.microsoft.com/office/powerpoint/2010/main" p14:dur="380">
    <p:fade/>
  </p:transition>
</p:sld>
</file>

<file path=ppt/slides/slide3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SERVICE BOUNDARIES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DNS and multi-Region traffic control: architecture map</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241173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53921"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5392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319272"/>
            <a:ext cx="2173986" cy="384048"/>
          </a:xfrm>
          <a:prstGeom prst="rect">
            <a:avLst/>
          </a:prstGeom>
          <a:noFill/>
        </p:spPr>
        <p:txBody>
          <a:bodyPr wrap="square" anchor="ctr">
            <a:spAutoFit/>
          </a:bodyPr>
          <a:lstStyle/>
          <a:p>
            <a:pPr algn="ctr">
              <a:spcAft>
                <a:spcPts val="400"/>
              </a:spcAft>
            </a:pPr>
            <a:r>
              <a:rPr sz="1150" b="1">
                <a:solidFill>
                  <a:srgbClr val="1F6FEB"/>
                </a:solidFill>
                <a:latin typeface="Arial"/>
              </a:rPr>
              <a:t>TRIGGER / INPUT</a:t>
            </a:r>
          </a:p>
        </p:txBody>
      </p:sp>
      <p:sp>
        <p:nvSpPr>
          <p:cNvPr id="12" name="TextBox 11"/>
          <p:cNvSpPr txBox="1"/>
          <p:nvPr/>
        </p:nvSpPr>
        <p:spPr>
          <a:xfrm>
            <a:off x="896112"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Probe endpoint</a:t>
            </a:r>
          </a:p>
        </p:txBody>
      </p:sp>
      <p:sp>
        <p:nvSpPr>
          <p:cNvPr id="13" name="Rectangle 12"/>
          <p:cNvSpPr/>
          <p:nvPr/>
        </p:nvSpPr>
        <p:spPr>
          <a:xfrm>
            <a:off x="3518154"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18154" y="2148840"/>
            <a:ext cx="241173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394835"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94835"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7" name="TextBox 16"/>
          <p:cNvSpPr txBox="1"/>
          <p:nvPr/>
        </p:nvSpPr>
        <p:spPr>
          <a:xfrm>
            <a:off x="3637026" y="3319272"/>
            <a:ext cx="2173986" cy="384048"/>
          </a:xfrm>
          <a:prstGeom prst="rect">
            <a:avLst/>
          </a:prstGeom>
          <a:noFill/>
        </p:spPr>
        <p:txBody>
          <a:bodyPr wrap="square" anchor="ctr">
            <a:spAutoFit/>
          </a:bodyPr>
          <a:lstStyle/>
          <a:p>
            <a:pPr algn="ctr">
              <a:spcAft>
                <a:spcPts val="400"/>
              </a:spcAft>
            </a:pPr>
            <a:r>
              <a:rPr sz="1150" b="1">
                <a:solidFill>
                  <a:srgbClr val="10B981"/>
                </a:solidFill>
                <a:latin typeface="Arial"/>
              </a:rPr>
              <a:t>CONTROL PLANE</a:t>
            </a:r>
          </a:p>
        </p:txBody>
      </p:sp>
      <p:sp>
        <p:nvSpPr>
          <p:cNvPr id="18" name="TextBox 17"/>
          <p:cNvSpPr txBox="1"/>
          <p:nvPr/>
        </p:nvSpPr>
        <p:spPr>
          <a:xfrm>
            <a:off x="3637026"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Combine endpoint health with failover or latency policies; understand DNS caching and use anycast when convergence must be faster.</a:t>
            </a:r>
          </a:p>
        </p:txBody>
      </p:sp>
      <p:sp>
        <p:nvSpPr>
          <p:cNvPr id="19" name="Rectangle 18"/>
          <p:cNvSpPr/>
          <p:nvPr/>
        </p:nvSpPr>
        <p:spPr>
          <a:xfrm>
            <a:off x="6259068"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9068" y="2148840"/>
            <a:ext cx="241173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5749"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574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3" name="TextBox 22"/>
          <p:cNvSpPr txBox="1"/>
          <p:nvPr/>
        </p:nvSpPr>
        <p:spPr>
          <a:xfrm>
            <a:off x="6377940" y="3319272"/>
            <a:ext cx="2173986" cy="384048"/>
          </a:xfrm>
          <a:prstGeom prst="rect">
            <a:avLst/>
          </a:prstGeom>
          <a:noFill/>
        </p:spPr>
        <p:txBody>
          <a:bodyPr wrap="square" anchor="ctr">
            <a:spAutoFit/>
          </a:bodyPr>
          <a:lstStyle/>
          <a:p>
            <a:pPr algn="ctr">
              <a:spcAft>
                <a:spcPts val="400"/>
              </a:spcAft>
            </a:pPr>
            <a:r>
              <a:rPr sz="1150" b="1">
                <a:solidFill>
                  <a:srgbClr val="7C3AED"/>
                </a:solidFill>
                <a:latin typeface="Arial"/>
              </a:rPr>
              <a:t>AWS SERVICES</a:t>
            </a:r>
          </a:p>
        </p:txBody>
      </p:sp>
      <p:sp>
        <p:nvSpPr>
          <p:cNvPr id="24" name="TextBox 23"/>
          <p:cNvSpPr txBox="1"/>
          <p:nvPr/>
        </p:nvSpPr>
        <p:spPr>
          <a:xfrm>
            <a:off x="6377940"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Route 53 · Global Accelerator · CloudFront</a:t>
            </a:r>
          </a:p>
        </p:txBody>
      </p:sp>
      <p:sp>
        <p:nvSpPr>
          <p:cNvPr id="25" name="Rectangle 24"/>
          <p:cNvSpPr/>
          <p:nvPr/>
        </p:nvSpPr>
        <p:spPr>
          <a:xfrm>
            <a:off x="8999982"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99982" y="2148840"/>
            <a:ext cx="2411730"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76663"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7666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9" name="TextBox 28"/>
          <p:cNvSpPr txBox="1"/>
          <p:nvPr/>
        </p:nvSpPr>
        <p:spPr>
          <a:xfrm>
            <a:off x="9118854" y="3319272"/>
            <a:ext cx="2173986" cy="384048"/>
          </a:xfrm>
          <a:prstGeom prst="rect">
            <a:avLst/>
          </a:prstGeom>
          <a:noFill/>
        </p:spPr>
        <p:txBody>
          <a:bodyPr wrap="square" anchor="ctr">
            <a:spAutoFit/>
          </a:bodyPr>
          <a:lstStyle/>
          <a:p>
            <a:pPr algn="ctr">
              <a:spcAft>
                <a:spcPts val="400"/>
              </a:spcAft>
            </a:pPr>
            <a:r>
              <a:rPr sz="1150" b="1">
                <a:solidFill>
                  <a:srgbClr val="F59E0B"/>
                </a:solidFill>
                <a:latin typeface="Arial"/>
              </a:rPr>
              <a:t>EVIDENCE BOUNDARY</a:t>
            </a:r>
          </a:p>
        </p:txBody>
      </p:sp>
      <p:sp>
        <p:nvSpPr>
          <p:cNvPr id="30" name="TextBox 29"/>
          <p:cNvSpPr txBox="1"/>
          <p:nvPr/>
        </p:nvSpPr>
        <p:spPr>
          <a:xfrm>
            <a:off x="9118854"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Routing policy, health-check state, TTL, endpoint weight and observed failover time.</a:t>
            </a:r>
          </a:p>
        </p:txBody>
      </p:sp>
      <p:cxnSp>
        <p:nvCxnSpPr>
          <p:cNvPr id="31" name="Connector 30"/>
          <p:cNvCxnSpPr/>
          <p:nvPr/>
        </p:nvCxnSpPr>
        <p:spPr>
          <a:xfrm>
            <a:off x="318897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929884"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67079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10B981"/>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345</a:t>
            </a:r>
          </a:p>
        </p:txBody>
      </p:sp>
    </p:spTree>
  </p:cSld>
  <p:clrMapOvr>
    <a:masterClrMapping/>
  </p:clrMapOvr>
  <p:transition xmlns:p14="http://schemas.microsoft.com/office/powerpoint/2010/main" p14:dur="380">
    <p:fade/>
  </p:transition>
</p:sld>
</file>

<file path=ppt/slides/slide3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SERVICE BOUNDARIES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Resilient data stores: architecture map</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241173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53921"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5392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319272"/>
            <a:ext cx="2173986" cy="384048"/>
          </a:xfrm>
          <a:prstGeom prst="rect">
            <a:avLst/>
          </a:prstGeom>
          <a:noFill/>
        </p:spPr>
        <p:txBody>
          <a:bodyPr wrap="square" anchor="ctr">
            <a:spAutoFit/>
          </a:bodyPr>
          <a:lstStyle/>
          <a:p>
            <a:pPr algn="ctr">
              <a:spcAft>
                <a:spcPts val="400"/>
              </a:spcAft>
            </a:pPr>
            <a:r>
              <a:rPr sz="1150" b="1">
                <a:solidFill>
                  <a:srgbClr val="1F6FEB"/>
                </a:solidFill>
                <a:latin typeface="Arial"/>
              </a:rPr>
              <a:t>TRIGGER / INPUT</a:t>
            </a:r>
          </a:p>
        </p:txBody>
      </p:sp>
      <p:sp>
        <p:nvSpPr>
          <p:cNvPr id="12" name="TextBox 11"/>
          <p:cNvSpPr txBox="1"/>
          <p:nvPr/>
        </p:nvSpPr>
        <p:spPr>
          <a:xfrm>
            <a:off x="896112"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Write</a:t>
            </a:r>
          </a:p>
        </p:txBody>
      </p:sp>
      <p:sp>
        <p:nvSpPr>
          <p:cNvPr id="13" name="Rectangle 12"/>
          <p:cNvSpPr/>
          <p:nvPr/>
        </p:nvSpPr>
        <p:spPr>
          <a:xfrm>
            <a:off x="3518154"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18154" y="2148840"/>
            <a:ext cx="241173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394835"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94835"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7" name="TextBox 16"/>
          <p:cNvSpPr txBox="1"/>
          <p:nvPr/>
        </p:nvSpPr>
        <p:spPr>
          <a:xfrm>
            <a:off x="3637026" y="3319272"/>
            <a:ext cx="2173986" cy="384048"/>
          </a:xfrm>
          <a:prstGeom prst="rect">
            <a:avLst/>
          </a:prstGeom>
          <a:noFill/>
        </p:spPr>
        <p:txBody>
          <a:bodyPr wrap="square" anchor="ctr">
            <a:spAutoFit/>
          </a:bodyPr>
          <a:lstStyle/>
          <a:p>
            <a:pPr algn="ctr">
              <a:spcAft>
                <a:spcPts val="400"/>
              </a:spcAft>
            </a:pPr>
            <a:r>
              <a:rPr sz="1150" b="1">
                <a:solidFill>
                  <a:srgbClr val="10B981"/>
                </a:solidFill>
                <a:latin typeface="Arial"/>
              </a:rPr>
              <a:t>CONTROL PLANE</a:t>
            </a:r>
          </a:p>
        </p:txBody>
      </p:sp>
      <p:sp>
        <p:nvSpPr>
          <p:cNvPr id="18" name="TextBox 17"/>
          <p:cNvSpPr txBox="1"/>
          <p:nvPr/>
        </p:nvSpPr>
        <p:spPr>
          <a:xfrm>
            <a:off x="3637026"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Distinguish read scaling from high availability, test failover, plan write ownership and monitor replication lag.</a:t>
            </a:r>
          </a:p>
        </p:txBody>
      </p:sp>
      <p:sp>
        <p:nvSpPr>
          <p:cNvPr id="19" name="Rectangle 18"/>
          <p:cNvSpPr/>
          <p:nvPr/>
        </p:nvSpPr>
        <p:spPr>
          <a:xfrm>
            <a:off x="6259068"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9068" y="2148840"/>
            <a:ext cx="241173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5749"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574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3" name="TextBox 22"/>
          <p:cNvSpPr txBox="1"/>
          <p:nvPr/>
        </p:nvSpPr>
        <p:spPr>
          <a:xfrm>
            <a:off x="6377940" y="3319272"/>
            <a:ext cx="2173986" cy="384048"/>
          </a:xfrm>
          <a:prstGeom prst="rect">
            <a:avLst/>
          </a:prstGeom>
          <a:noFill/>
        </p:spPr>
        <p:txBody>
          <a:bodyPr wrap="square" anchor="ctr">
            <a:spAutoFit/>
          </a:bodyPr>
          <a:lstStyle/>
          <a:p>
            <a:pPr algn="ctr">
              <a:spcAft>
                <a:spcPts val="400"/>
              </a:spcAft>
            </a:pPr>
            <a:r>
              <a:rPr sz="1150" b="1">
                <a:solidFill>
                  <a:srgbClr val="7C3AED"/>
                </a:solidFill>
                <a:latin typeface="Arial"/>
              </a:rPr>
              <a:t>AWS SERVICES</a:t>
            </a:r>
          </a:p>
        </p:txBody>
      </p:sp>
      <p:sp>
        <p:nvSpPr>
          <p:cNvPr id="24" name="TextBox 23"/>
          <p:cNvSpPr txBox="1"/>
          <p:nvPr/>
        </p:nvSpPr>
        <p:spPr>
          <a:xfrm>
            <a:off x="6377940"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RDS Multi-AZ · Aurora Global Database · DynamoDB Global Tables</a:t>
            </a:r>
          </a:p>
        </p:txBody>
      </p:sp>
      <p:sp>
        <p:nvSpPr>
          <p:cNvPr id="25" name="Rectangle 24"/>
          <p:cNvSpPr/>
          <p:nvPr/>
        </p:nvSpPr>
        <p:spPr>
          <a:xfrm>
            <a:off x="8999982"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99982" y="2148840"/>
            <a:ext cx="2411730"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76663"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7666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9" name="TextBox 28"/>
          <p:cNvSpPr txBox="1"/>
          <p:nvPr/>
        </p:nvSpPr>
        <p:spPr>
          <a:xfrm>
            <a:off x="9118854" y="3319272"/>
            <a:ext cx="2173986" cy="384048"/>
          </a:xfrm>
          <a:prstGeom prst="rect">
            <a:avLst/>
          </a:prstGeom>
          <a:noFill/>
        </p:spPr>
        <p:txBody>
          <a:bodyPr wrap="square" anchor="ctr">
            <a:spAutoFit/>
          </a:bodyPr>
          <a:lstStyle/>
          <a:p>
            <a:pPr algn="ctr">
              <a:spcAft>
                <a:spcPts val="400"/>
              </a:spcAft>
            </a:pPr>
            <a:r>
              <a:rPr sz="1150" b="1">
                <a:solidFill>
                  <a:srgbClr val="F59E0B"/>
                </a:solidFill>
                <a:latin typeface="Arial"/>
              </a:rPr>
              <a:t>EVIDENCE BOUNDARY</a:t>
            </a:r>
          </a:p>
        </p:txBody>
      </p:sp>
      <p:sp>
        <p:nvSpPr>
          <p:cNvPr id="30" name="TextBox 29"/>
          <p:cNvSpPr txBox="1"/>
          <p:nvPr/>
        </p:nvSpPr>
        <p:spPr>
          <a:xfrm>
            <a:off x="9118854"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Topology, replication mode, lag metric, backup status, failover test and recovery evidence.</a:t>
            </a:r>
          </a:p>
        </p:txBody>
      </p:sp>
      <p:cxnSp>
        <p:nvCxnSpPr>
          <p:cNvPr id="31" name="Connector 30"/>
          <p:cNvCxnSpPr/>
          <p:nvPr/>
        </p:nvCxnSpPr>
        <p:spPr>
          <a:xfrm>
            <a:off x="318897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929884"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67079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10B981"/>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346</a:t>
            </a:r>
          </a:p>
        </p:txBody>
      </p:sp>
    </p:spTree>
  </p:cSld>
  <p:clrMapOvr>
    <a:masterClrMapping/>
  </p:clrMapOvr>
  <p:transition xmlns:p14="http://schemas.microsoft.com/office/powerpoint/2010/main" p14:dur="380">
    <p:fade/>
  </p:transition>
</p:sld>
</file>

<file path=ppt/slides/slide3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SERVICE BOUNDARIES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Serverless resilience: architecture map</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241173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53921"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5392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319272"/>
            <a:ext cx="2173986" cy="384048"/>
          </a:xfrm>
          <a:prstGeom prst="rect">
            <a:avLst/>
          </a:prstGeom>
          <a:noFill/>
        </p:spPr>
        <p:txBody>
          <a:bodyPr wrap="square" anchor="ctr">
            <a:spAutoFit/>
          </a:bodyPr>
          <a:lstStyle/>
          <a:p>
            <a:pPr algn="ctr">
              <a:spcAft>
                <a:spcPts val="400"/>
              </a:spcAft>
            </a:pPr>
            <a:r>
              <a:rPr sz="1150" b="1">
                <a:solidFill>
                  <a:srgbClr val="1F6FEB"/>
                </a:solidFill>
                <a:latin typeface="Arial"/>
              </a:rPr>
              <a:t>TRIGGER / INPUT</a:t>
            </a:r>
          </a:p>
        </p:txBody>
      </p:sp>
      <p:sp>
        <p:nvSpPr>
          <p:cNvPr id="12" name="TextBox 11"/>
          <p:cNvSpPr txBox="1"/>
          <p:nvPr/>
        </p:nvSpPr>
        <p:spPr>
          <a:xfrm>
            <a:off x="896112"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Accept event</a:t>
            </a:r>
          </a:p>
        </p:txBody>
      </p:sp>
      <p:sp>
        <p:nvSpPr>
          <p:cNvPr id="13" name="Rectangle 12"/>
          <p:cNvSpPr/>
          <p:nvPr/>
        </p:nvSpPr>
        <p:spPr>
          <a:xfrm>
            <a:off x="3518154"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18154" y="2148840"/>
            <a:ext cx="241173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394835"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94835"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7" name="TextBox 16"/>
          <p:cNvSpPr txBox="1"/>
          <p:nvPr/>
        </p:nvSpPr>
        <p:spPr>
          <a:xfrm>
            <a:off x="3637026" y="3319272"/>
            <a:ext cx="2173986" cy="384048"/>
          </a:xfrm>
          <a:prstGeom prst="rect">
            <a:avLst/>
          </a:prstGeom>
          <a:noFill/>
        </p:spPr>
        <p:txBody>
          <a:bodyPr wrap="square" anchor="ctr">
            <a:spAutoFit/>
          </a:bodyPr>
          <a:lstStyle/>
          <a:p>
            <a:pPr algn="ctr">
              <a:spcAft>
                <a:spcPts val="400"/>
              </a:spcAft>
            </a:pPr>
            <a:r>
              <a:rPr sz="1150" b="1">
                <a:solidFill>
                  <a:srgbClr val="10B981"/>
                </a:solidFill>
                <a:latin typeface="Arial"/>
              </a:rPr>
              <a:t>CONTROL PLANE</a:t>
            </a:r>
          </a:p>
        </p:txBody>
      </p:sp>
      <p:sp>
        <p:nvSpPr>
          <p:cNvPr id="18" name="TextBox 17"/>
          <p:cNvSpPr txBox="1"/>
          <p:nvPr/>
        </p:nvSpPr>
        <p:spPr>
          <a:xfrm>
            <a:off x="3637026"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Use queues for buffering, partial batch response, reserved concurrency, DLQs and idempotency keys.</a:t>
            </a:r>
          </a:p>
        </p:txBody>
      </p:sp>
      <p:sp>
        <p:nvSpPr>
          <p:cNvPr id="19" name="Rectangle 18"/>
          <p:cNvSpPr/>
          <p:nvPr/>
        </p:nvSpPr>
        <p:spPr>
          <a:xfrm>
            <a:off x="6259068"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9068" y="2148840"/>
            <a:ext cx="241173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5749"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574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3" name="TextBox 22"/>
          <p:cNvSpPr txBox="1"/>
          <p:nvPr/>
        </p:nvSpPr>
        <p:spPr>
          <a:xfrm>
            <a:off x="6377940" y="3319272"/>
            <a:ext cx="2173986" cy="384048"/>
          </a:xfrm>
          <a:prstGeom prst="rect">
            <a:avLst/>
          </a:prstGeom>
          <a:noFill/>
        </p:spPr>
        <p:txBody>
          <a:bodyPr wrap="square" anchor="ctr">
            <a:spAutoFit/>
          </a:bodyPr>
          <a:lstStyle/>
          <a:p>
            <a:pPr algn="ctr">
              <a:spcAft>
                <a:spcPts val="400"/>
              </a:spcAft>
            </a:pPr>
            <a:r>
              <a:rPr sz="1150" b="1">
                <a:solidFill>
                  <a:srgbClr val="7C3AED"/>
                </a:solidFill>
                <a:latin typeface="Arial"/>
              </a:rPr>
              <a:t>AWS SERVICES</a:t>
            </a:r>
          </a:p>
        </p:txBody>
      </p:sp>
      <p:sp>
        <p:nvSpPr>
          <p:cNvPr id="24" name="TextBox 23"/>
          <p:cNvSpPr txBox="1"/>
          <p:nvPr/>
        </p:nvSpPr>
        <p:spPr>
          <a:xfrm>
            <a:off x="6377940"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Lambda · API Gateway · SQS · Step Functions</a:t>
            </a:r>
          </a:p>
        </p:txBody>
      </p:sp>
      <p:sp>
        <p:nvSpPr>
          <p:cNvPr id="25" name="Rectangle 24"/>
          <p:cNvSpPr/>
          <p:nvPr/>
        </p:nvSpPr>
        <p:spPr>
          <a:xfrm>
            <a:off x="8999982"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99982" y="2148840"/>
            <a:ext cx="2411730"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76663"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7666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9" name="TextBox 28"/>
          <p:cNvSpPr txBox="1"/>
          <p:nvPr/>
        </p:nvSpPr>
        <p:spPr>
          <a:xfrm>
            <a:off x="9118854" y="3319272"/>
            <a:ext cx="2173986" cy="384048"/>
          </a:xfrm>
          <a:prstGeom prst="rect">
            <a:avLst/>
          </a:prstGeom>
          <a:noFill/>
        </p:spPr>
        <p:txBody>
          <a:bodyPr wrap="square" anchor="ctr">
            <a:spAutoFit/>
          </a:bodyPr>
          <a:lstStyle/>
          <a:p>
            <a:pPr algn="ctr">
              <a:spcAft>
                <a:spcPts val="400"/>
              </a:spcAft>
            </a:pPr>
            <a:r>
              <a:rPr sz="1150" b="1">
                <a:solidFill>
                  <a:srgbClr val="F59E0B"/>
                </a:solidFill>
                <a:latin typeface="Arial"/>
              </a:rPr>
              <a:t>EVIDENCE BOUNDARY</a:t>
            </a:r>
          </a:p>
        </p:txBody>
      </p:sp>
      <p:sp>
        <p:nvSpPr>
          <p:cNvPr id="30" name="TextBox 29"/>
          <p:cNvSpPr txBox="1"/>
          <p:nvPr/>
        </p:nvSpPr>
        <p:spPr>
          <a:xfrm>
            <a:off x="9118854"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Request ID, retry count, idempotency record, queue age, DLQ message and concurrency metric.</a:t>
            </a:r>
          </a:p>
        </p:txBody>
      </p:sp>
      <p:cxnSp>
        <p:nvCxnSpPr>
          <p:cNvPr id="31" name="Connector 30"/>
          <p:cNvCxnSpPr/>
          <p:nvPr/>
        </p:nvCxnSpPr>
        <p:spPr>
          <a:xfrm>
            <a:off x="318897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929884"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67079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10B981"/>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347</a:t>
            </a:r>
          </a:p>
        </p:txBody>
      </p:sp>
    </p:spTree>
  </p:cSld>
  <p:clrMapOvr>
    <a:masterClrMapping/>
  </p:clrMapOvr>
  <p:transition xmlns:p14="http://schemas.microsoft.com/office/powerpoint/2010/main" p14:dur="380">
    <p:fade/>
  </p:transition>
</p:sld>
</file>

<file path=ppt/slides/slide3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SERVICE BOUNDARIES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Container workload resilience: architecture map</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241173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53921"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5392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319272"/>
            <a:ext cx="2173986" cy="384048"/>
          </a:xfrm>
          <a:prstGeom prst="rect">
            <a:avLst/>
          </a:prstGeom>
          <a:noFill/>
        </p:spPr>
        <p:txBody>
          <a:bodyPr wrap="square" anchor="ctr">
            <a:spAutoFit/>
          </a:bodyPr>
          <a:lstStyle/>
          <a:p>
            <a:pPr algn="ctr">
              <a:spcAft>
                <a:spcPts val="400"/>
              </a:spcAft>
            </a:pPr>
            <a:r>
              <a:rPr sz="1150" b="1">
                <a:solidFill>
                  <a:srgbClr val="1F6FEB"/>
                </a:solidFill>
                <a:latin typeface="Arial"/>
              </a:rPr>
              <a:t>TRIGGER / INPUT</a:t>
            </a:r>
          </a:p>
        </p:txBody>
      </p:sp>
      <p:sp>
        <p:nvSpPr>
          <p:cNvPr id="12" name="TextBox 11"/>
          <p:cNvSpPr txBox="1"/>
          <p:nvPr/>
        </p:nvSpPr>
        <p:spPr>
          <a:xfrm>
            <a:off x="896112"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Pull signed image</a:t>
            </a:r>
          </a:p>
        </p:txBody>
      </p:sp>
      <p:sp>
        <p:nvSpPr>
          <p:cNvPr id="13" name="Rectangle 12"/>
          <p:cNvSpPr/>
          <p:nvPr/>
        </p:nvSpPr>
        <p:spPr>
          <a:xfrm>
            <a:off x="3518154"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18154" y="2148840"/>
            <a:ext cx="241173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394835"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94835"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7" name="TextBox 16"/>
          <p:cNvSpPr txBox="1"/>
          <p:nvPr/>
        </p:nvSpPr>
        <p:spPr>
          <a:xfrm>
            <a:off x="3637026" y="3319272"/>
            <a:ext cx="2173986" cy="384048"/>
          </a:xfrm>
          <a:prstGeom prst="rect">
            <a:avLst/>
          </a:prstGeom>
          <a:noFill/>
        </p:spPr>
        <p:txBody>
          <a:bodyPr wrap="square" anchor="ctr">
            <a:spAutoFit/>
          </a:bodyPr>
          <a:lstStyle/>
          <a:p>
            <a:pPr algn="ctr">
              <a:spcAft>
                <a:spcPts val="400"/>
              </a:spcAft>
            </a:pPr>
            <a:r>
              <a:rPr sz="1150" b="1">
                <a:solidFill>
                  <a:srgbClr val="10B981"/>
                </a:solidFill>
                <a:latin typeface="Arial"/>
              </a:rPr>
              <a:t>CONTROL PLANE</a:t>
            </a:r>
          </a:p>
        </p:txBody>
      </p:sp>
      <p:sp>
        <p:nvSpPr>
          <p:cNvPr id="18" name="TextBox 17"/>
          <p:cNvSpPr txBox="1"/>
          <p:nvPr/>
        </p:nvSpPr>
        <p:spPr>
          <a:xfrm>
            <a:off x="3637026"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Spread tasks, set disruption budgets, use readiness checks, pin image digests and scale both service and capacity.</a:t>
            </a:r>
          </a:p>
        </p:txBody>
      </p:sp>
      <p:sp>
        <p:nvSpPr>
          <p:cNvPr id="19" name="Rectangle 18"/>
          <p:cNvSpPr/>
          <p:nvPr/>
        </p:nvSpPr>
        <p:spPr>
          <a:xfrm>
            <a:off x="6259068"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9068" y="2148840"/>
            <a:ext cx="241173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5749"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574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3" name="TextBox 22"/>
          <p:cNvSpPr txBox="1"/>
          <p:nvPr/>
        </p:nvSpPr>
        <p:spPr>
          <a:xfrm>
            <a:off x="6377940" y="3319272"/>
            <a:ext cx="2173986" cy="384048"/>
          </a:xfrm>
          <a:prstGeom prst="rect">
            <a:avLst/>
          </a:prstGeom>
          <a:noFill/>
        </p:spPr>
        <p:txBody>
          <a:bodyPr wrap="square" anchor="ctr">
            <a:spAutoFit/>
          </a:bodyPr>
          <a:lstStyle/>
          <a:p>
            <a:pPr algn="ctr">
              <a:spcAft>
                <a:spcPts val="400"/>
              </a:spcAft>
            </a:pPr>
            <a:r>
              <a:rPr sz="1150" b="1">
                <a:solidFill>
                  <a:srgbClr val="7C3AED"/>
                </a:solidFill>
                <a:latin typeface="Arial"/>
              </a:rPr>
              <a:t>AWS SERVICES</a:t>
            </a:r>
          </a:p>
        </p:txBody>
      </p:sp>
      <p:sp>
        <p:nvSpPr>
          <p:cNvPr id="24" name="TextBox 23"/>
          <p:cNvSpPr txBox="1"/>
          <p:nvPr/>
        </p:nvSpPr>
        <p:spPr>
          <a:xfrm>
            <a:off x="6377940"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ECS · EKS · ECR · Application Auto Scaling</a:t>
            </a:r>
          </a:p>
        </p:txBody>
      </p:sp>
      <p:sp>
        <p:nvSpPr>
          <p:cNvPr id="25" name="Rectangle 24"/>
          <p:cNvSpPr/>
          <p:nvPr/>
        </p:nvSpPr>
        <p:spPr>
          <a:xfrm>
            <a:off x="8999982"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99982" y="2148840"/>
            <a:ext cx="2411730"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76663"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7666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9" name="TextBox 28"/>
          <p:cNvSpPr txBox="1"/>
          <p:nvPr/>
        </p:nvSpPr>
        <p:spPr>
          <a:xfrm>
            <a:off x="9118854" y="3319272"/>
            <a:ext cx="2173986" cy="384048"/>
          </a:xfrm>
          <a:prstGeom prst="rect">
            <a:avLst/>
          </a:prstGeom>
          <a:noFill/>
        </p:spPr>
        <p:txBody>
          <a:bodyPr wrap="square" anchor="ctr">
            <a:spAutoFit/>
          </a:bodyPr>
          <a:lstStyle/>
          <a:p>
            <a:pPr algn="ctr">
              <a:spcAft>
                <a:spcPts val="400"/>
              </a:spcAft>
            </a:pPr>
            <a:r>
              <a:rPr sz="1150" b="1">
                <a:solidFill>
                  <a:srgbClr val="F59E0B"/>
                </a:solidFill>
                <a:latin typeface="Arial"/>
              </a:rPr>
              <a:t>EVIDENCE BOUNDARY</a:t>
            </a:r>
          </a:p>
        </p:txBody>
      </p:sp>
      <p:sp>
        <p:nvSpPr>
          <p:cNvPr id="30" name="TextBox 29"/>
          <p:cNvSpPr txBox="1"/>
          <p:nvPr/>
        </p:nvSpPr>
        <p:spPr>
          <a:xfrm>
            <a:off x="9118854"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Task placement, readiness state, image digest, service events, capacity-provider metric and deployment circuit breaker.</a:t>
            </a:r>
          </a:p>
        </p:txBody>
      </p:sp>
      <p:cxnSp>
        <p:nvCxnSpPr>
          <p:cNvPr id="31" name="Connector 30"/>
          <p:cNvCxnSpPr/>
          <p:nvPr/>
        </p:nvCxnSpPr>
        <p:spPr>
          <a:xfrm>
            <a:off x="318897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929884"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67079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10B981"/>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348</a:t>
            </a:r>
          </a:p>
        </p:txBody>
      </p:sp>
    </p:spTree>
  </p:cSld>
  <p:clrMapOvr>
    <a:masterClrMapping/>
  </p:clrMapOvr>
  <p:transition xmlns:p14="http://schemas.microsoft.com/office/powerpoint/2010/main" p14:dur="380">
    <p:fade/>
  </p:transition>
</p:sld>
</file>

<file path=ppt/slides/slide3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3 · SERVICE BOUNDARIES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700" b="1">
                <a:solidFill>
                  <a:srgbClr val="161B26"/>
                </a:solidFill>
                <a:latin typeface="Arial"/>
              </a:rPr>
              <a:t>Disaster recovery and automated recovery: architecture map</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241173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53921"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5392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319272"/>
            <a:ext cx="2173986" cy="384048"/>
          </a:xfrm>
          <a:prstGeom prst="rect">
            <a:avLst/>
          </a:prstGeom>
          <a:noFill/>
        </p:spPr>
        <p:txBody>
          <a:bodyPr wrap="square" anchor="ctr">
            <a:spAutoFit/>
          </a:bodyPr>
          <a:lstStyle/>
          <a:p>
            <a:pPr algn="ctr">
              <a:spcAft>
                <a:spcPts val="400"/>
              </a:spcAft>
            </a:pPr>
            <a:r>
              <a:rPr sz="1150" b="1">
                <a:solidFill>
                  <a:srgbClr val="1F6FEB"/>
                </a:solidFill>
                <a:latin typeface="Arial"/>
              </a:rPr>
              <a:t>TRIGGER / INPUT</a:t>
            </a:r>
          </a:p>
        </p:txBody>
      </p:sp>
      <p:sp>
        <p:nvSpPr>
          <p:cNvPr id="12" name="TextBox 11"/>
          <p:cNvSpPr txBox="1"/>
          <p:nvPr/>
        </p:nvSpPr>
        <p:spPr>
          <a:xfrm>
            <a:off x="896112"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Protect data</a:t>
            </a:r>
          </a:p>
        </p:txBody>
      </p:sp>
      <p:sp>
        <p:nvSpPr>
          <p:cNvPr id="13" name="Rectangle 12"/>
          <p:cNvSpPr/>
          <p:nvPr/>
        </p:nvSpPr>
        <p:spPr>
          <a:xfrm>
            <a:off x="3518154"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18154" y="2148840"/>
            <a:ext cx="241173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394835"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94835"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7" name="TextBox 16"/>
          <p:cNvSpPr txBox="1"/>
          <p:nvPr/>
        </p:nvSpPr>
        <p:spPr>
          <a:xfrm>
            <a:off x="3637026" y="3319272"/>
            <a:ext cx="2173986" cy="384048"/>
          </a:xfrm>
          <a:prstGeom prst="rect">
            <a:avLst/>
          </a:prstGeom>
          <a:noFill/>
        </p:spPr>
        <p:txBody>
          <a:bodyPr wrap="square" anchor="ctr">
            <a:spAutoFit/>
          </a:bodyPr>
          <a:lstStyle/>
          <a:p>
            <a:pPr algn="ctr">
              <a:spcAft>
                <a:spcPts val="400"/>
              </a:spcAft>
            </a:pPr>
            <a:r>
              <a:rPr sz="1150" b="1">
                <a:solidFill>
                  <a:srgbClr val="10B981"/>
                </a:solidFill>
                <a:latin typeface="Arial"/>
              </a:rPr>
              <a:t>CONTROL PLANE</a:t>
            </a:r>
          </a:p>
        </p:txBody>
      </p:sp>
      <p:sp>
        <p:nvSpPr>
          <p:cNvPr id="18" name="TextBox 17"/>
          <p:cNvSpPr txBox="1"/>
          <p:nvPr/>
        </p:nvSpPr>
        <p:spPr>
          <a:xfrm>
            <a:off x="3637026"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Map each workload to RTO/RPO, automate backups and copies, document dependencies and conduct game days.</a:t>
            </a:r>
          </a:p>
        </p:txBody>
      </p:sp>
      <p:sp>
        <p:nvSpPr>
          <p:cNvPr id="19" name="Rectangle 18"/>
          <p:cNvSpPr/>
          <p:nvPr/>
        </p:nvSpPr>
        <p:spPr>
          <a:xfrm>
            <a:off x="6259068"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9068" y="2148840"/>
            <a:ext cx="241173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5749"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574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3" name="TextBox 22"/>
          <p:cNvSpPr txBox="1"/>
          <p:nvPr/>
        </p:nvSpPr>
        <p:spPr>
          <a:xfrm>
            <a:off x="6377940" y="3319272"/>
            <a:ext cx="2173986" cy="384048"/>
          </a:xfrm>
          <a:prstGeom prst="rect">
            <a:avLst/>
          </a:prstGeom>
          <a:noFill/>
        </p:spPr>
        <p:txBody>
          <a:bodyPr wrap="square" anchor="ctr">
            <a:spAutoFit/>
          </a:bodyPr>
          <a:lstStyle/>
          <a:p>
            <a:pPr algn="ctr">
              <a:spcAft>
                <a:spcPts val="400"/>
              </a:spcAft>
            </a:pPr>
            <a:r>
              <a:rPr sz="1150" b="1">
                <a:solidFill>
                  <a:srgbClr val="7C3AED"/>
                </a:solidFill>
                <a:latin typeface="Arial"/>
              </a:rPr>
              <a:t>AWS SERVICES</a:t>
            </a:r>
          </a:p>
        </p:txBody>
      </p:sp>
      <p:sp>
        <p:nvSpPr>
          <p:cNvPr id="24" name="TextBox 23"/>
          <p:cNvSpPr txBox="1"/>
          <p:nvPr/>
        </p:nvSpPr>
        <p:spPr>
          <a:xfrm>
            <a:off x="6377940"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AWS Backup · Elastic Disaster Recovery · Route 53</a:t>
            </a:r>
          </a:p>
        </p:txBody>
      </p:sp>
      <p:sp>
        <p:nvSpPr>
          <p:cNvPr id="25" name="Rectangle 24"/>
          <p:cNvSpPr/>
          <p:nvPr/>
        </p:nvSpPr>
        <p:spPr>
          <a:xfrm>
            <a:off x="8999982"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99982" y="2148840"/>
            <a:ext cx="2411730"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76663"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7666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9" name="TextBox 28"/>
          <p:cNvSpPr txBox="1"/>
          <p:nvPr/>
        </p:nvSpPr>
        <p:spPr>
          <a:xfrm>
            <a:off x="9118854" y="3319272"/>
            <a:ext cx="2173986" cy="384048"/>
          </a:xfrm>
          <a:prstGeom prst="rect">
            <a:avLst/>
          </a:prstGeom>
          <a:noFill/>
        </p:spPr>
        <p:txBody>
          <a:bodyPr wrap="square" anchor="ctr">
            <a:spAutoFit/>
          </a:bodyPr>
          <a:lstStyle/>
          <a:p>
            <a:pPr algn="ctr">
              <a:spcAft>
                <a:spcPts val="400"/>
              </a:spcAft>
            </a:pPr>
            <a:r>
              <a:rPr sz="1150" b="1">
                <a:solidFill>
                  <a:srgbClr val="F59E0B"/>
                </a:solidFill>
                <a:latin typeface="Arial"/>
              </a:rPr>
              <a:t>EVIDENCE BOUNDARY</a:t>
            </a:r>
          </a:p>
        </p:txBody>
      </p:sp>
      <p:sp>
        <p:nvSpPr>
          <p:cNvPr id="30" name="TextBox 29"/>
          <p:cNvSpPr txBox="1"/>
          <p:nvPr/>
        </p:nvSpPr>
        <p:spPr>
          <a:xfrm>
            <a:off x="9118854"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Recovery-point age, restore-test outcome, runbook duration, dependency validation and actual RTO/RPO.</a:t>
            </a:r>
          </a:p>
        </p:txBody>
      </p:sp>
      <p:cxnSp>
        <p:nvCxnSpPr>
          <p:cNvPr id="31" name="Connector 30"/>
          <p:cNvCxnSpPr/>
          <p:nvPr/>
        </p:nvCxnSpPr>
        <p:spPr>
          <a:xfrm>
            <a:off x="318897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929884"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67079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10B981"/>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349</a:t>
            </a:r>
          </a:p>
        </p:txBody>
      </p:sp>
    </p:spTree>
  </p:cSld>
  <p:clrMapOvr>
    <a:masterClrMapping/>
  </p:clrMapOvr>
  <p:transition xmlns:p14="http://schemas.microsoft.com/office/powerpoint/2010/main" p14:dur="380">
    <p:fade/>
  </p:transition>
</p:sld>
</file>

<file path=ppt/slides/slide3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11 · DAY 3 · LO3 · HANDS-ON</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100" b="1">
                <a:solidFill>
                  <a:srgbClr val="161B26"/>
                </a:solidFill>
                <a:latin typeface="Arial"/>
              </a:rPr>
              <a:t>Deploy a Multi-AZ Application Load Balancer with an Auto Scaling Group</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37360"/>
            <a:ext cx="141732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83080"/>
            <a:ext cx="1417320" cy="365760"/>
          </a:xfrm>
          <a:prstGeom prst="rect">
            <a:avLst/>
          </a:prstGeom>
          <a:noFill/>
        </p:spPr>
        <p:txBody>
          <a:bodyPr wrap="square" anchor="t">
            <a:spAutoFit/>
          </a:bodyPr>
          <a:lstStyle/>
          <a:p>
            <a:pPr algn="ctr">
              <a:spcAft>
                <a:spcPts val="400"/>
              </a:spcAft>
            </a:pPr>
            <a:r>
              <a:rPr sz="1600" b="1">
                <a:solidFill>
                  <a:srgbClr val="FFFFFF"/>
                </a:solidFill>
                <a:latin typeface="Arial"/>
              </a:rPr>
              <a:t>LAB 11</a:t>
            </a:r>
          </a:p>
        </p:txBody>
      </p:sp>
      <p:sp>
        <p:nvSpPr>
          <p:cNvPr id="9" name="TextBox 8"/>
          <p:cNvSpPr txBox="1"/>
          <p:nvPr/>
        </p:nvSpPr>
        <p:spPr>
          <a:xfrm>
            <a:off x="2514600" y="1783080"/>
            <a:ext cx="3749039" cy="365760"/>
          </a:xfrm>
          <a:prstGeom prst="rect">
            <a:avLst/>
          </a:prstGeom>
          <a:noFill/>
        </p:spPr>
        <p:txBody>
          <a:bodyPr wrap="square" anchor="t">
            <a:spAutoFit/>
          </a:bodyPr>
          <a:lstStyle/>
          <a:p>
            <a:pPr algn="l">
              <a:spcAft>
                <a:spcPts val="400"/>
              </a:spcAft>
            </a:pPr>
            <a:r>
              <a:rPr sz="1150" b="1">
                <a:solidFill>
                  <a:srgbClr val="5B6372"/>
                </a:solidFill>
                <a:latin typeface="Arial"/>
              </a:rPr>
              <a:t>Day 3 · LO3 · K2, K4, A2</a:t>
            </a:r>
          </a:p>
        </p:txBody>
      </p:sp>
      <p:sp>
        <p:nvSpPr>
          <p:cNvPr id="10" name="TextBox 9"/>
          <p:cNvSpPr txBox="1"/>
          <p:nvPr/>
        </p:nvSpPr>
        <p:spPr>
          <a:xfrm>
            <a:off x="777240" y="2286000"/>
            <a:ext cx="5486400" cy="1405255"/>
          </a:xfrm>
          <a:prstGeom prst="rect">
            <a:avLst/>
          </a:prstGeom>
          <a:noFill/>
        </p:spPr>
        <p:txBody>
          <a:bodyPr wrap="square" anchor="t">
            <a:spAutoFit/>
          </a:bodyPr>
          <a:lstStyle/>
          <a:p>
            <a:pPr algn="l">
              <a:spcAft>
                <a:spcPts val="400"/>
              </a:spcAft>
            </a:pPr>
            <a:r>
              <a:rPr sz="1350" b="0">
                <a:solidFill>
                  <a:srgbClr val="161B26"/>
                </a:solidFill>
                <a:latin typeface="Arial"/>
              </a:rPr>
              <a:t>A single instance in a single Availability Zone is a single point of failure.</a:t>
            </a:r>
          </a:p>
        </p:txBody>
      </p:sp>
      <p:sp>
        <p:nvSpPr>
          <p:cNvPr id="11" name="Rectangle 10"/>
          <p:cNvSpPr/>
          <p:nvPr/>
        </p:nvSpPr>
        <p:spPr>
          <a:xfrm>
            <a:off x="777240" y="3800983"/>
            <a:ext cx="5486400" cy="113830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800983"/>
            <a:ext cx="91440" cy="113830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3928999"/>
            <a:ext cx="5120640" cy="274320"/>
          </a:xfrm>
          <a:prstGeom prst="rect">
            <a:avLst/>
          </a:prstGeom>
          <a:noFill/>
        </p:spPr>
        <p:txBody>
          <a:bodyPr wrap="square" anchor="t">
            <a:spAutoFit/>
          </a:bodyPr>
          <a:lstStyle/>
          <a:p>
            <a:pPr algn="l">
              <a:spcAft>
                <a:spcPts val="400"/>
              </a:spcAft>
            </a:pPr>
            <a:r>
              <a:rPr sz="1200" b="1">
                <a:solidFill>
                  <a:srgbClr val="10B981"/>
                </a:solidFill>
                <a:latin typeface="Arial"/>
              </a:rPr>
              <a:t>YOU'LL BUILD</a:t>
            </a:r>
          </a:p>
        </p:txBody>
      </p:sp>
      <p:sp>
        <p:nvSpPr>
          <p:cNvPr id="14" name="TextBox 13"/>
          <p:cNvSpPr txBox="1"/>
          <p:nvPr/>
        </p:nvSpPr>
        <p:spPr>
          <a:xfrm>
            <a:off x="960120" y="4203319"/>
            <a:ext cx="5166360" cy="206375"/>
          </a:xfrm>
          <a:prstGeom prst="rect">
            <a:avLst/>
          </a:prstGeom>
          <a:noFill/>
        </p:spPr>
        <p:txBody>
          <a:bodyPr wrap="square" anchor="t">
            <a:spAutoFit/>
          </a:bodyPr>
          <a:lstStyle/>
          <a:p>
            <a:pPr algn="l">
              <a:spcAft>
                <a:spcPts val="400"/>
              </a:spcAft>
            </a:pPr>
            <a:r>
              <a:rPr sz="1250" b="1">
                <a:solidFill>
                  <a:srgbClr val="161B26"/>
                </a:solidFill>
                <a:latin typeface="Arial"/>
              </a:rPr>
              <a:t>A running multi-AZ stack — an ALB, a target group.</a:t>
            </a:r>
          </a:p>
        </p:txBody>
      </p:sp>
      <p:sp>
        <p:nvSpPr>
          <p:cNvPr id="15" name="TextBox 14"/>
          <p:cNvSpPr txBox="1"/>
          <p:nvPr/>
        </p:nvSpPr>
        <p:spPr>
          <a:xfrm>
            <a:off x="960120" y="4464558"/>
            <a:ext cx="5166360" cy="346710"/>
          </a:xfrm>
          <a:prstGeom prst="rect">
            <a:avLst/>
          </a:prstGeom>
          <a:noFill/>
        </p:spPr>
        <p:txBody>
          <a:bodyPr wrap="square" anchor="t">
            <a:spAutoFit/>
          </a:bodyPr>
          <a:lstStyle/>
          <a:p>
            <a:pPr algn="l">
              <a:spcAft>
                <a:spcPts val="400"/>
              </a:spcAft>
            </a:pPr>
            <a:r>
              <a:rPr sz="1050" b="0">
                <a:solidFill>
                  <a:srgbClr val="5B6372"/>
                </a:solidFill>
                <a:latin typeface="Arial"/>
              </a:rPr>
              <a:t>Tools:  Amazon EC2, Elastic Load Balancing (ELBv2 / ALB), AWS Auto Scaling, AWS CloudFormation</a:t>
            </a:r>
          </a:p>
        </p:txBody>
      </p:sp>
      <p:sp>
        <p:nvSpPr>
          <p:cNvPr id="16" name="Rectangle 15"/>
          <p:cNvSpPr/>
          <p:nvPr/>
        </p:nvSpPr>
        <p:spPr>
          <a:xfrm>
            <a:off x="777240" y="5049012"/>
            <a:ext cx="5486400" cy="1278636"/>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049012"/>
            <a:ext cx="91440" cy="127863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5177028"/>
            <a:ext cx="5120640" cy="274320"/>
          </a:xfrm>
          <a:prstGeom prst="rect">
            <a:avLst/>
          </a:prstGeom>
          <a:noFill/>
        </p:spPr>
        <p:txBody>
          <a:bodyPr wrap="square" anchor="t">
            <a:spAutoFit/>
          </a:bodyPr>
          <a:lstStyle/>
          <a:p>
            <a:pPr algn="l">
              <a:spcAft>
                <a:spcPts val="400"/>
              </a:spcAft>
            </a:pPr>
            <a:r>
              <a:rPr sz="1200" b="1">
                <a:solidFill>
                  <a:srgbClr val="10B981"/>
                </a:solidFill>
                <a:latin typeface="Arial"/>
              </a:rPr>
              <a:t>OUTCOME &amp; EVIDENCE</a:t>
            </a:r>
          </a:p>
        </p:txBody>
      </p:sp>
      <p:sp>
        <p:nvSpPr>
          <p:cNvPr id="19" name="TextBox 18"/>
          <p:cNvSpPr txBox="1"/>
          <p:nvPr/>
        </p:nvSpPr>
        <p:spPr>
          <a:xfrm>
            <a:off x="960120" y="5451348"/>
            <a:ext cx="5166360" cy="693420"/>
          </a:xfrm>
          <a:prstGeom prst="rect">
            <a:avLst/>
          </a:prstGeom>
          <a:noFill/>
        </p:spPr>
        <p:txBody>
          <a:bodyPr wrap="square" anchor="t">
            <a:spAutoFit/>
          </a:bodyPr>
          <a:lstStyle/>
          <a:p>
            <a:pPr algn="l">
              <a:spcAft>
                <a:spcPts val="300"/>
              </a:spcAft>
            </a:pPr>
            <a:r>
              <a:rPr sz="1050" b="0">
                <a:solidFill>
                  <a:srgbClr val="5B6372"/>
                </a:solidFill>
                <a:latin typeface="Arial"/>
              </a:rPr>
              <a:t>Outcome:  Deploy a highly available multi-AZ Application Load Balancer fronting an Auto Scaling group.</a:t>
            </a:r>
          </a:p>
          <a:p>
            <a:pPr algn="l">
              <a:spcAft>
                <a:spcPts val="300"/>
              </a:spcAft>
            </a:pPr>
            <a:r>
              <a:rPr sz="1050" b="0">
                <a:solidFill>
                  <a:srgbClr val="5B6372"/>
                </a:solidFill>
                <a:latin typeface="Arial"/>
              </a:rPr>
              <a:t>Evidence:  describe-stacks output showing stack ha-web at CREATE_COMPLETE with AlbDnsName and AsgName in the Outputs.</a:t>
            </a:r>
          </a:p>
        </p:txBody>
      </p:sp>
      <p:sp>
        <p:nvSpPr>
          <p:cNvPr id="20" name="Rectangle 19"/>
          <p:cNvSpPr/>
          <p:nvPr/>
        </p:nvSpPr>
        <p:spPr>
          <a:xfrm>
            <a:off x="6446520" y="1783080"/>
            <a:ext cx="5029200" cy="290140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ab-11-multiaz-alb-autoscaling.jpg"/>
          <p:cNvPicPr>
            <a:picLocks noChangeAspect="1"/>
          </p:cNvPicPr>
          <p:nvPr/>
        </p:nvPicPr>
        <p:blipFill>
          <a:blip r:embed="rId2"/>
          <a:stretch>
            <a:fillRect/>
          </a:stretch>
        </p:blipFill>
        <p:spPr>
          <a:xfrm>
            <a:off x="6492240" y="1828800"/>
            <a:ext cx="4937760" cy="2809963"/>
          </a:xfrm>
          <a:prstGeom prst="rect">
            <a:avLst/>
          </a:prstGeom>
        </p:spPr>
      </p:pic>
      <p:sp>
        <p:nvSpPr>
          <p:cNvPr id="22" name="TextBox 21"/>
          <p:cNvSpPr txBox="1"/>
          <p:nvPr/>
        </p:nvSpPr>
        <p:spPr>
          <a:xfrm>
            <a:off x="6492240" y="4730203"/>
            <a:ext cx="4937760" cy="365760"/>
          </a:xfrm>
          <a:prstGeom prst="rect">
            <a:avLst/>
          </a:prstGeom>
          <a:noFill/>
        </p:spPr>
        <p:txBody>
          <a:bodyPr wrap="square" anchor="t">
            <a:spAutoFit/>
          </a:bodyPr>
          <a:lstStyle/>
          <a:p>
            <a:pPr algn="ctr">
              <a:spcAft>
                <a:spcPts val="400"/>
              </a:spcAft>
            </a:pPr>
            <a:r>
              <a:rPr sz="1100" b="1">
                <a:solidFill>
                  <a:srgbClr val="5B6372"/>
                </a:solidFill>
                <a:latin typeface="Arial"/>
              </a:rPr>
              <a:t>Reference architecture</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350</a:t>
            </a:r>
          </a:p>
        </p:txBody>
      </p:sp>
    </p:spTree>
  </p:cSld>
  <p:clrMapOvr>
    <a:masterClrMapping/>
  </p:clrMapOvr>
  <p:transition xmlns:p14="http://schemas.microsoft.com/office/powerpoint/2010/main" p14:dur="380">
    <p:fade/>
  </p:transition>
</p:sld>
</file>

<file path=ppt/slides/slide3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12 · DAY 3 · LO3 · HANDS-ON</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100" b="1">
                <a:solidFill>
                  <a:srgbClr val="161B26"/>
                </a:solidFill>
                <a:latin typeface="Arial"/>
              </a:rPr>
              <a:t>Attach Target-Tracking Auto Scaling and Validate Scale-Out Under Load</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37360"/>
            <a:ext cx="141732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83080"/>
            <a:ext cx="1417320" cy="365760"/>
          </a:xfrm>
          <a:prstGeom prst="rect">
            <a:avLst/>
          </a:prstGeom>
          <a:noFill/>
        </p:spPr>
        <p:txBody>
          <a:bodyPr wrap="square" anchor="t">
            <a:spAutoFit/>
          </a:bodyPr>
          <a:lstStyle/>
          <a:p>
            <a:pPr algn="ctr">
              <a:spcAft>
                <a:spcPts val="400"/>
              </a:spcAft>
            </a:pPr>
            <a:r>
              <a:rPr sz="1600" b="1">
                <a:solidFill>
                  <a:srgbClr val="FFFFFF"/>
                </a:solidFill>
                <a:latin typeface="Arial"/>
              </a:rPr>
              <a:t>LAB 12</a:t>
            </a:r>
          </a:p>
        </p:txBody>
      </p:sp>
      <p:sp>
        <p:nvSpPr>
          <p:cNvPr id="9" name="TextBox 8"/>
          <p:cNvSpPr txBox="1"/>
          <p:nvPr/>
        </p:nvSpPr>
        <p:spPr>
          <a:xfrm>
            <a:off x="2514600" y="1783080"/>
            <a:ext cx="3749039" cy="365760"/>
          </a:xfrm>
          <a:prstGeom prst="rect">
            <a:avLst/>
          </a:prstGeom>
          <a:noFill/>
        </p:spPr>
        <p:txBody>
          <a:bodyPr wrap="square" anchor="t">
            <a:spAutoFit/>
          </a:bodyPr>
          <a:lstStyle/>
          <a:p>
            <a:pPr algn="l">
              <a:spcAft>
                <a:spcPts val="400"/>
              </a:spcAft>
            </a:pPr>
            <a:r>
              <a:rPr sz="1150" b="1">
                <a:solidFill>
                  <a:srgbClr val="5B6372"/>
                </a:solidFill>
                <a:latin typeface="Arial"/>
              </a:rPr>
              <a:t>Day 3 · LO3 · K2, K4, A2</a:t>
            </a:r>
          </a:p>
        </p:txBody>
      </p:sp>
      <p:sp>
        <p:nvSpPr>
          <p:cNvPr id="10" name="TextBox 9"/>
          <p:cNvSpPr txBox="1"/>
          <p:nvPr/>
        </p:nvSpPr>
        <p:spPr>
          <a:xfrm>
            <a:off x="777240" y="2286000"/>
            <a:ext cx="5486400" cy="1388745"/>
          </a:xfrm>
          <a:prstGeom prst="rect">
            <a:avLst/>
          </a:prstGeom>
          <a:noFill/>
        </p:spPr>
        <p:txBody>
          <a:bodyPr wrap="square" anchor="t">
            <a:spAutoFit/>
          </a:bodyPr>
          <a:lstStyle/>
          <a:p>
            <a:pPr algn="l">
              <a:spcAft>
                <a:spcPts val="400"/>
              </a:spcAft>
            </a:pPr>
            <a:r>
              <a:rPr sz="1350" b="0">
                <a:solidFill>
                  <a:srgbClr val="161B26"/>
                </a:solidFill>
                <a:latin typeface="Arial"/>
              </a:rPr>
              <a:t>A static two-instance web tier survives an AZ failure but not a traffic spike.</a:t>
            </a:r>
          </a:p>
        </p:txBody>
      </p:sp>
      <p:sp>
        <p:nvSpPr>
          <p:cNvPr id="11" name="Rectangle 10"/>
          <p:cNvSpPr/>
          <p:nvPr/>
        </p:nvSpPr>
        <p:spPr>
          <a:xfrm>
            <a:off x="777240" y="3784473"/>
            <a:ext cx="5486400" cy="132816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784473"/>
            <a:ext cx="91440" cy="132816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3912489"/>
            <a:ext cx="5120640" cy="274320"/>
          </a:xfrm>
          <a:prstGeom prst="rect">
            <a:avLst/>
          </a:prstGeom>
          <a:noFill/>
        </p:spPr>
        <p:txBody>
          <a:bodyPr wrap="square" anchor="t">
            <a:spAutoFit/>
          </a:bodyPr>
          <a:lstStyle/>
          <a:p>
            <a:pPr algn="l">
              <a:spcAft>
                <a:spcPts val="400"/>
              </a:spcAft>
            </a:pPr>
            <a:r>
              <a:rPr sz="1200" b="1">
                <a:solidFill>
                  <a:srgbClr val="10B981"/>
                </a:solidFill>
                <a:latin typeface="Arial"/>
              </a:rPr>
              <a:t>YOU'LL BUILD</a:t>
            </a:r>
          </a:p>
        </p:txBody>
      </p:sp>
      <p:sp>
        <p:nvSpPr>
          <p:cNvPr id="14" name="TextBox 13"/>
          <p:cNvSpPr txBox="1"/>
          <p:nvPr/>
        </p:nvSpPr>
        <p:spPr>
          <a:xfrm>
            <a:off x="960120" y="4186809"/>
            <a:ext cx="5166360" cy="569595"/>
          </a:xfrm>
          <a:prstGeom prst="rect">
            <a:avLst/>
          </a:prstGeom>
          <a:noFill/>
        </p:spPr>
        <p:txBody>
          <a:bodyPr wrap="square" anchor="t">
            <a:spAutoFit/>
          </a:bodyPr>
          <a:lstStyle/>
          <a:p>
            <a:pPr algn="l">
              <a:spcAft>
                <a:spcPts val="400"/>
              </a:spcAft>
            </a:pPr>
            <a:r>
              <a:rPr sz="1150" b="1">
                <a:solidFill>
                  <a:srgbClr val="161B26"/>
                </a:solidFill>
                <a:latin typeface="Arial"/>
              </a:rPr>
              <a:t>A target-tracking scaling policy (50% average CPU) on devops-ha-asg with its two auto-created CloudWatch alarms, plus a repeatable load test that drives observable scale-out and scale-in.</a:t>
            </a:r>
          </a:p>
        </p:txBody>
      </p:sp>
      <p:sp>
        <p:nvSpPr>
          <p:cNvPr id="15" name="TextBox 14"/>
          <p:cNvSpPr txBox="1"/>
          <p:nvPr/>
        </p:nvSpPr>
        <p:spPr>
          <a:xfrm>
            <a:off x="960120" y="4811268"/>
            <a:ext cx="5166360" cy="173355"/>
          </a:xfrm>
          <a:prstGeom prst="rect">
            <a:avLst/>
          </a:prstGeom>
          <a:noFill/>
        </p:spPr>
        <p:txBody>
          <a:bodyPr wrap="square" anchor="t">
            <a:spAutoFit/>
          </a:bodyPr>
          <a:lstStyle/>
          <a:p>
            <a:pPr algn="l">
              <a:spcAft>
                <a:spcPts val="400"/>
              </a:spcAft>
            </a:pPr>
            <a:r>
              <a:rPr sz="1050" b="0">
                <a:solidFill>
                  <a:srgbClr val="5B6372"/>
                </a:solidFill>
                <a:latin typeface="Arial"/>
              </a:rPr>
              <a:t>Tools:  AWS Auto Scaling, Amazon CloudWatch, Amazon EC2</a:t>
            </a:r>
          </a:p>
        </p:txBody>
      </p:sp>
      <p:sp>
        <p:nvSpPr>
          <p:cNvPr id="16" name="Rectangle 15"/>
          <p:cNvSpPr/>
          <p:nvPr/>
        </p:nvSpPr>
        <p:spPr>
          <a:xfrm>
            <a:off x="777240" y="5222367"/>
            <a:ext cx="5486400" cy="110528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222367"/>
            <a:ext cx="91440" cy="11052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5350383"/>
            <a:ext cx="5120640" cy="274320"/>
          </a:xfrm>
          <a:prstGeom prst="rect">
            <a:avLst/>
          </a:prstGeom>
          <a:noFill/>
        </p:spPr>
        <p:txBody>
          <a:bodyPr wrap="square" anchor="t">
            <a:spAutoFit/>
          </a:bodyPr>
          <a:lstStyle/>
          <a:p>
            <a:pPr algn="l">
              <a:spcAft>
                <a:spcPts val="400"/>
              </a:spcAft>
            </a:pPr>
            <a:r>
              <a:rPr sz="1200" b="1">
                <a:solidFill>
                  <a:srgbClr val="10B981"/>
                </a:solidFill>
                <a:latin typeface="Arial"/>
              </a:rPr>
              <a:t>OUTCOME &amp; EVIDENCE</a:t>
            </a:r>
          </a:p>
        </p:txBody>
      </p:sp>
      <p:sp>
        <p:nvSpPr>
          <p:cNvPr id="19" name="TextBox 18"/>
          <p:cNvSpPr txBox="1"/>
          <p:nvPr/>
        </p:nvSpPr>
        <p:spPr>
          <a:xfrm>
            <a:off x="960120" y="5624703"/>
            <a:ext cx="5166360" cy="520065"/>
          </a:xfrm>
          <a:prstGeom prst="rect">
            <a:avLst/>
          </a:prstGeom>
          <a:noFill/>
        </p:spPr>
        <p:txBody>
          <a:bodyPr wrap="square" anchor="t">
            <a:spAutoFit/>
          </a:bodyPr>
          <a:lstStyle/>
          <a:p>
            <a:pPr algn="l">
              <a:spcAft>
                <a:spcPts val="300"/>
              </a:spcAft>
            </a:pPr>
            <a:r>
              <a:rPr sz="1050" b="0">
                <a:solidFill>
                  <a:srgbClr val="5B6372"/>
                </a:solidFill>
                <a:latin typeface="Arial"/>
              </a:rPr>
              <a:t>Outcome:  Attach a target-tracking scaling policy to an Auto Scaling group.</a:t>
            </a:r>
          </a:p>
          <a:p>
            <a:pPr algn="l">
              <a:spcAft>
                <a:spcPts val="300"/>
              </a:spcAft>
            </a:pPr>
            <a:r>
              <a:rPr sz="1050" b="0">
                <a:solidFill>
                  <a:srgbClr val="5B6372"/>
                </a:solidFill>
                <a:latin typeface="Arial"/>
              </a:rPr>
              <a:t>Evidence:  describe-policies output showing cpu-target-tracking-50 attached with TargetValue 50.0.</a:t>
            </a:r>
          </a:p>
        </p:txBody>
      </p:sp>
      <p:sp>
        <p:nvSpPr>
          <p:cNvPr id="20" name="Rectangle 19"/>
          <p:cNvSpPr/>
          <p:nvPr/>
        </p:nvSpPr>
        <p:spPr>
          <a:xfrm>
            <a:off x="6446520" y="1783080"/>
            <a:ext cx="5029200" cy="290140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ab-12-target-tracking-load-validation.jpg"/>
          <p:cNvPicPr>
            <a:picLocks noChangeAspect="1"/>
          </p:cNvPicPr>
          <p:nvPr/>
        </p:nvPicPr>
        <p:blipFill>
          <a:blip r:embed="rId2"/>
          <a:stretch>
            <a:fillRect/>
          </a:stretch>
        </p:blipFill>
        <p:spPr>
          <a:xfrm>
            <a:off x="6492240" y="1828800"/>
            <a:ext cx="4937760" cy="2809963"/>
          </a:xfrm>
          <a:prstGeom prst="rect">
            <a:avLst/>
          </a:prstGeom>
        </p:spPr>
      </p:pic>
      <p:sp>
        <p:nvSpPr>
          <p:cNvPr id="22" name="TextBox 21"/>
          <p:cNvSpPr txBox="1"/>
          <p:nvPr/>
        </p:nvSpPr>
        <p:spPr>
          <a:xfrm>
            <a:off x="6492240" y="4730203"/>
            <a:ext cx="4937760" cy="365760"/>
          </a:xfrm>
          <a:prstGeom prst="rect">
            <a:avLst/>
          </a:prstGeom>
          <a:noFill/>
        </p:spPr>
        <p:txBody>
          <a:bodyPr wrap="square" anchor="t">
            <a:spAutoFit/>
          </a:bodyPr>
          <a:lstStyle/>
          <a:p>
            <a:pPr algn="ctr">
              <a:spcAft>
                <a:spcPts val="400"/>
              </a:spcAft>
            </a:pPr>
            <a:r>
              <a:rPr sz="1100" b="1">
                <a:solidFill>
                  <a:srgbClr val="5B6372"/>
                </a:solidFill>
                <a:latin typeface="Arial"/>
              </a:rPr>
              <a:t>Reference architecture</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351</a:t>
            </a:r>
          </a:p>
        </p:txBody>
      </p:sp>
    </p:spTree>
  </p:cSld>
  <p:clrMapOvr>
    <a:masterClrMapping/>
  </p:clrMapOvr>
  <p:transition xmlns:p14="http://schemas.microsoft.com/office/powerpoint/2010/main" p14:dur="380">
    <p:fade/>
  </p:transition>
</p:sld>
</file>

<file path=ppt/slides/slide3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13 · DAY 3 · LO3 · HANDS-ON</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100" b="1">
                <a:solidFill>
                  <a:srgbClr val="161B26"/>
                </a:solidFill>
                <a:latin typeface="Arial"/>
              </a:rPr>
              <a:t>Select a DR Strategy by RTO/RPO and Implement a Pilot-Light Skeleton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37360"/>
            <a:ext cx="141732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83080"/>
            <a:ext cx="1417320" cy="365760"/>
          </a:xfrm>
          <a:prstGeom prst="rect">
            <a:avLst/>
          </a:prstGeom>
          <a:noFill/>
        </p:spPr>
        <p:txBody>
          <a:bodyPr wrap="square" anchor="t">
            <a:spAutoFit/>
          </a:bodyPr>
          <a:lstStyle/>
          <a:p>
            <a:pPr algn="ctr">
              <a:spcAft>
                <a:spcPts val="400"/>
              </a:spcAft>
            </a:pPr>
            <a:r>
              <a:rPr sz="1600" b="1">
                <a:solidFill>
                  <a:srgbClr val="FFFFFF"/>
                </a:solidFill>
                <a:latin typeface="Arial"/>
              </a:rPr>
              <a:t>LAB 13</a:t>
            </a:r>
          </a:p>
        </p:txBody>
      </p:sp>
      <p:sp>
        <p:nvSpPr>
          <p:cNvPr id="9" name="TextBox 8"/>
          <p:cNvSpPr txBox="1"/>
          <p:nvPr/>
        </p:nvSpPr>
        <p:spPr>
          <a:xfrm>
            <a:off x="2514600" y="1783080"/>
            <a:ext cx="3749039" cy="365760"/>
          </a:xfrm>
          <a:prstGeom prst="rect">
            <a:avLst/>
          </a:prstGeom>
          <a:noFill/>
        </p:spPr>
        <p:txBody>
          <a:bodyPr wrap="square" anchor="t">
            <a:spAutoFit/>
          </a:bodyPr>
          <a:lstStyle/>
          <a:p>
            <a:pPr algn="l">
              <a:spcAft>
                <a:spcPts val="400"/>
              </a:spcAft>
            </a:pPr>
            <a:r>
              <a:rPr sz="1150" b="1">
                <a:solidFill>
                  <a:srgbClr val="5B6372"/>
                </a:solidFill>
                <a:latin typeface="Arial"/>
              </a:rPr>
              <a:t>Day 3 · LO3 · K2, K4, A2</a:t>
            </a:r>
          </a:p>
        </p:txBody>
      </p:sp>
      <p:sp>
        <p:nvSpPr>
          <p:cNvPr id="10" name="TextBox 9"/>
          <p:cNvSpPr txBox="1"/>
          <p:nvPr/>
        </p:nvSpPr>
        <p:spPr>
          <a:xfrm>
            <a:off x="777240" y="2286000"/>
            <a:ext cx="5486400" cy="992505"/>
          </a:xfrm>
          <a:prstGeom prst="rect">
            <a:avLst/>
          </a:prstGeom>
          <a:noFill/>
        </p:spPr>
        <p:txBody>
          <a:bodyPr wrap="square" anchor="t">
            <a:spAutoFit/>
          </a:bodyPr>
          <a:lstStyle/>
          <a:p>
            <a:pPr algn="l">
              <a:spcAft>
                <a:spcPts val="400"/>
              </a:spcAft>
            </a:pPr>
            <a:r>
              <a:rPr sz="1350" b="0">
                <a:solidFill>
                  <a:srgbClr val="161B26"/>
                </a:solidFill>
                <a:latin typeface="Arial"/>
              </a:rPr>
              <a:t>Not every workload needs active-active — and not every business can accept a day-long restore.</a:t>
            </a:r>
          </a:p>
        </p:txBody>
      </p:sp>
      <p:sp>
        <p:nvSpPr>
          <p:cNvPr id="11" name="Rectangle 10"/>
          <p:cNvSpPr/>
          <p:nvPr/>
        </p:nvSpPr>
        <p:spPr>
          <a:xfrm>
            <a:off x="777240" y="3388233"/>
            <a:ext cx="5486400" cy="155105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388233"/>
            <a:ext cx="91440" cy="155105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3516249"/>
            <a:ext cx="5120640" cy="274320"/>
          </a:xfrm>
          <a:prstGeom prst="rect">
            <a:avLst/>
          </a:prstGeom>
          <a:noFill/>
        </p:spPr>
        <p:txBody>
          <a:bodyPr wrap="square" anchor="t">
            <a:spAutoFit/>
          </a:bodyPr>
          <a:lstStyle/>
          <a:p>
            <a:pPr algn="l">
              <a:spcAft>
                <a:spcPts val="400"/>
              </a:spcAft>
            </a:pPr>
            <a:r>
              <a:rPr sz="1200" b="1">
                <a:solidFill>
                  <a:srgbClr val="10B981"/>
                </a:solidFill>
                <a:latin typeface="Arial"/>
              </a:rPr>
              <a:t>YOU'LL BUILD</a:t>
            </a:r>
          </a:p>
        </p:txBody>
      </p:sp>
      <p:sp>
        <p:nvSpPr>
          <p:cNvPr id="14" name="TextBox 13"/>
          <p:cNvSpPr txBox="1"/>
          <p:nvPr/>
        </p:nvSpPr>
        <p:spPr>
          <a:xfrm>
            <a:off x="960120" y="3790569"/>
            <a:ext cx="5166360" cy="619125"/>
          </a:xfrm>
          <a:prstGeom prst="rect">
            <a:avLst/>
          </a:prstGeom>
          <a:noFill/>
        </p:spPr>
        <p:txBody>
          <a:bodyPr wrap="square" anchor="t">
            <a:spAutoFit/>
          </a:bodyPr>
          <a:lstStyle/>
          <a:p>
            <a:pPr algn="l">
              <a:spcAft>
                <a:spcPts val="400"/>
              </a:spcAft>
            </a:pPr>
            <a:r>
              <a:rPr sz="1250" b="1">
                <a:solidFill>
                  <a:srgbClr val="161B26"/>
                </a:solidFill>
                <a:latin typeface="Arial"/>
              </a:rPr>
              <a:t>A completed DR selection worksheet plus a deployed pilot-light skeleton in a second Region (minimal VPC, a scaled-to-zero app tier.</a:t>
            </a:r>
          </a:p>
        </p:txBody>
      </p:sp>
      <p:sp>
        <p:nvSpPr>
          <p:cNvPr id="15" name="TextBox 14"/>
          <p:cNvSpPr txBox="1"/>
          <p:nvPr/>
        </p:nvSpPr>
        <p:spPr>
          <a:xfrm>
            <a:off x="960120" y="4464558"/>
            <a:ext cx="5166360" cy="346710"/>
          </a:xfrm>
          <a:prstGeom prst="rect">
            <a:avLst/>
          </a:prstGeom>
          <a:noFill/>
        </p:spPr>
        <p:txBody>
          <a:bodyPr wrap="square" anchor="t">
            <a:spAutoFit/>
          </a:bodyPr>
          <a:lstStyle/>
          <a:p>
            <a:pPr algn="l">
              <a:spcAft>
                <a:spcPts val="400"/>
              </a:spcAft>
            </a:pPr>
            <a:r>
              <a:rPr sz="1050" b="0">
                <a:solidFill>
                  <a:srgbClr val="5B6372"/>
                </a:solidFill>
                <a:latin typeface="Arial"/>
              </a:rPr>
              <a:t>Tools:  Amazon Route 53, Amazon RDS, AWS CloudFormation, Amazon S3 (Cross-Region Replication)</a:t>
            </a:r>
          </a:p>
        </p:txBody>
      </p:sp>
      <p:sp>
        <p:nvSpPr>
          <p:cNvPr id="16" name="Rectangle 15"/>
          <p:cNvSpPr/>
          <p:nvPr/>
        </p:nvSpPr>
        <p:spPr>
          <a:xfrm>
            <a:off x="777240" y="5049012"/>
            <a:ext cx="5486400" cy="1278636"/>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049012"/>
            <a:ext cx="91440" cy="127863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5177028"/>
            <a:ext cx="5120640" cy="274320"/>
          </a:xfrm>
          <a:prstGeom prst="rect">
            <a:avLst/>
          </a:prstGeom>
          <a:noFill/>
        </p:spPr>
        <p:txBody>
          <a:bodyPr wrap="square" anchor="t">
            <a:spAutoFit/>
          </a:bodyPr>
          <a:lstStyle/>
          <a:p>
            <a:pPr algn="l">
              <a:spcAft>
                <a:spcPts val="400"/>
              </a:spcAft>
            </a:pPr>
            <a:r>
              <a:rPr sz="1200" b="1">
                <a:solidFill>
                  <a:srgbClr val="10B981"/>
                </a:solidFill>
                <a:latin typeface="Arial"/>
              </a:rPr>
              <a:t>OUTCOME &amp; EVIDENCE</a:t>
            </a:r>
          </a:p>
        </p:txBody>
      </p:sp>
      <p:sp>
        <p:nvSpPr>
          <p:cNvPr id="19" name="TextBox 18"/>
          <p:cNvSpPr txBox="1"/>
          <p:nvPr/>
        </p:nvSpPr>
        <p:spPr>
          <a:xfrm>
            <a:off x="960120" y="5451348"/>
            <a:ext cx="5166360" cy="693420"/>
          </a:xfrm>
          <a:prstGeom prst="rect">
            <a:avLst/>
          </a:prstGeom>
          <a:noFill/>
        </p:spPr>
        <p:txBody>
          <a:bodyPr wrap="square" anchor="t">
            <a:spAutoFit/>
          </a:bodyPr>
          <a:lstStyle/>
          <a:p>
            <a:pPr algn="l">
              <a:spcAft>
                <a:spcPts val="300"/>
              </a:spcAft>
            </a:pPr>
            <a:r>
              <a:rPr sz="1050" b="0">
                <a:solidFill>
                  <a:srgbClr val="5B6372"/>
                </a:solidFill>
                <a:latin typeface="Arial"/>
              </a:rPr>
              <a:t>Outcome:  Compare the four AWS disaster-recovery strategies against RTO/RPO targets, select an appropriate pattern.</a:t>
            </a:r>
          </a:p>
          <a:p>
            <a:pPr algn="l">
              <a:spcAft>
                <a:spcPts val="300"/>
              </a:spcAft>
            </a:pPr>
            <a:r>
              <a:rPr sz="1050" b="0">
                <a:solidFill>
                  <a:srgbClr val="5B6372"/>
                </a:solidFill>
                <a:latin typeface="Arial"/>
              </a:rPr>
              <a:t>Evidence:  The completed dr-plan.md worksheet showing the workload RTO/RPO and the justified strategy choice.</a:t>
            </a:r>
          </a:p>
        </p:txBody>
      </p:sp>
      <p:sp>
        <p:nvSpPr>
          <p:cNvPr id="20" name="Rectangle 19"/>
          <p:cNvSpPr/>
          <p:nvPr/>
        </p:nvSpPr>
        <p:spPr>
          <a:xfrm>
            <a:off x="6446520" y="1783080"/>
            <a:ext cx="5029200" cy="290140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ab-13-rto-rpo-dr-selection.jpg"/>
          <p:cNvPicPr>
            <a:picLocks noChangeAspect="1"/>
          </p:cNvPicPr>
          <p:nvPr/>
        </p:nvPicPr>
        <p:blipFill>
          <a:blip r:embed="rId2"/>
          <a:stretch>
            <a:fillRect/>
          </a:stretch>
        </p:blipFill>
        <p:spPr>
          <a:xfrm>
            <a:off x="6492240" y="1828800"/>
            <a:ext cx="4937760" cy="2809963"/>
          </a:xfrm>
          <a:prstGeom prst="rect">
            <a:avLst/>
          </a:prstGeom>
        </p:spPr>
      </p:pic>
      <p:sp>
        <p:nvSpPr>
          <p:cNvPr id="22" name="TextBox 21"/>
          <p:cNvSpPr txBox="1"/>
          <p:nvPr/>
        </p:nvSpPr>
        <p:spPr>
          <a:xfrm>
            <a:off x="6492240" y="4730203"/>
            <a:ext cx="4937760" cy="365760"/>
          </a:xfrm>
          <a:prstGeom prst="rect">
            <a:avLst/>
          </a:prstGeom>
          <a:noFill/>
        </p:spPr>
        <p:txBody>
          <a:bodyPr wrap="square" anchor="t">
            <a:spAutoFit/>
          </a:bodyPr>
          <a:lstStyle/>
          <a:p>
            <a:pPr algn="ctr">
              <a:spcAft>
                <a:spcPts val="400"/>
              </a:spcAft>
            </a:pPr>
            <a:r>
              <a:rPr sz="1100" b="1">
                <a:solidFill>
                  <a:srgbClr val="5B6372"/>
                </a:solidFill>
                <a:latin typeface="Arial"/>
              </a:rPr>
              <a:t>Reference architecture</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352</a:t>
            </a:r>
          </a:p>
        </p:txBody>
      </p:sp>
    </p:spTree>
  </p:cSld>
  <p:clrMapOvr>
    <a:masterClrMapping/>
  </p:clrMapOvr>
  <p:transition xmlns:p14="http://schemas.microsoft.com/office/powerpoint/2010/main" p14:dur="380">
    <p:fade/>
  </p:transition>
</p:sld>
</file>

<file path=ppt/slides/slide3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14 · DAY 3 · LO3 · HANDS-ON</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500" b="1">
                <a:solidFill>
                  <a:srgbClr val="161B26"/>
                </a:solidFill>
                <a:latin typeface="Arial"/>
              </a:rPr>
              <a:t>Automate Backup, Restore and Data Protection with AWS Backup</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37360"/>
            <a:ext cx="141732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83080"/>
            <a:ext cx="1417320" cy="365760"/>
          </a:xfrm>
          <a:prstGeom prst="rect">
            <a:avLst/>
          </a:prstGeom>
          <a:noFill/>
        </p:spPr>
        <p:txBody>
          <a:bodyPr wrap="square" anchor="t">
            <a:spAutoFit/>
          </a:bodyPr>
          <a:lstStyle/>
          <a:p>
            <a:pPr algn="ctr">
              <a:spcAft>
                <a:spcPts val="400"/>
              </a:spcAft>
            </a:pPr>
            <a:r>
              <a:rPr sz="1600" b="1">
                <a:solidFill>
                  <a:srgbClr val="FFFFFF"/>
                </a:solidFill>
                <a:latin typeface="Arial"/>
              </a:rPr>
              <a:t>LAB 14</a:t>
            </a:r>
          </a:p>
        </p:txBody>
      </p:sp>
      <p:sp>
        <p:nvSpPr>
          <p:cNvPr id="9" name="TextBox 8"/>
          <p:cNvSpPr txBox="1"/>
          <p:nvPr/>
        </p:nvSpPr>
        <p:spPr>
          <a:xfrm>
            <a:off x="2514600" y="1783080"/>
            <a:ext cx="3749039" cy="365760"/>
          </a:xfrm>
          <a:prstGeom prst="rect">
            <a:avLst/>
          </a:prstGeom>
          <a:noFill/>
        </p:spPr>
        <p:txBody>
          <a:bodyPr wrap="square" anchor="t">
            <a:spAutoFit/>
          </a:bodyPr>
          <a:lstStyle/>
          <a:p>
            <a:pPr algn="l">
              <a:spcAft>
                <a:spcPts val="400"/>
              </a:spcAft>
            </a:pPr>
            <a:r>
              <a:rPr sz="1150" b="1">
                <a:solidFill>
                  <a:srgbClr val="5B6372"/>
                </a:solidFill>
                <a:latin typeface="Arial"/>
              </a:rPr>
              <a:t>Day 3 · LO3 · K2, K4, A2</a:t>
            </a:r>
          </a:p>
        </p:txBody>
      </p:sp>
      <p:sp>
        <p:nvSpPr>
          <p:cNvPr id="10" name="TextBox 9"/>
          <p:cNvSpPr txBox="1"/>
          <p:nvPr/>
        </p:nvSpPr>
        <p:spPr>
          <a:xfrm>
            <a:off x="777240" y="2286000"/>
            <a:ext cx="5486400" cy="1215390"/>
          </a:xfrm>
          <a:prstGeom prst="rect">
            <a:avLst/>
          </a:prstGeom>
          <a:noFill/>
        </p:spPr>
        <p:txBody>
          <a:bodyPr wrap="square" anchor="t">
            <a:spAutoFit/>
          </a:bodyPr>
          <a:lstStyle/>
          <a:p>
            <a:pPr algn="l">
              <a:spcAft>
                <a:spcPts val="400"/>
              </a:spcAft>
            </a:pPr>
            <a:r>
              <a:rPr sz="1350" b="0">
                <a:solidFill>
                  <a:srgbClr val="161B26"/>
                </a:solidFill>
                <a:latin typeface="Arial"/>
              </a:rPr>
              <a:t>Resilience is not only about staying up — it is about getting your data back.</a:t>
            </a:r>
          </a:p>
        </p:txBody>
      </p:sp>
      <p:sp>
        <p:nvSpPr>
          <p:cNvPr id="11" name="Rectangle 10"/>
          <p:cNvSpPr/>
          <p:nvPr/>
        </p:nvSpPr>
        <p:spPr>
          <a:xfrm>
            <a:off x="777240" y="3611118"/>
            <a:ext cx="5486400" cy="132816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611118"/>
            <a:ext cx="91440" cy="132816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3739134"/>
            <a:ext cx="5120640" cy="274320"/>
          </a:xfrm>
          <a:prstGeom prst="rect">
            <a:avLst/>
          </a:prstGeom>
          <a:noFill/>
        </p:spPr>
        <p:txBody>
          <a:bodyPr wrap="square" anchor="t">
            <a:spAutoFit/>
          </a:bodyPr>
          <a:lstStyle/>
          <a:p>
            <a:pPr algn="l">
              <a:spcAft>
                <a:spcPts val="400"/>
              </a:spcAft>
            </a:pPr>
            <a:r>
              <a:rPr sz="1200" b="1">
                <a:solidFill>
                  <a:srgbClr val="10B981"/>
                </a:solidFill>
                <a:latin typeface="Arial"/>
              </a:rPr>
              <a:t>YOU'LL BUILD</a:t>
            </a:r>
          </a:p>
        </p:txBody>
      </p:sp>
      <p:sp>
        <p:nvSpPr>
          <p:cNvPr id="14" name="TextBox 13"/>
          <p:cNvSpPr txBox="1"/>
          <p:nvPr/>
        </p:nvSpPr>
        <p:spPr>
          <a:xfrm>
            <a:off x="960120" y="4013454"/>
            <a:ext cx="5166360" cy="569595"/>
          </a:xfrm>
          <a:prstGeom prst="rect">
            <a:avLst/>
          </a:prstGeom>
          <a:noFill/>
        </p:spPr>
        <p:txBody>
          <a:bodyPr wrap="square" anchor="t">
            <a:spAutoFit/>
          </a:bodyPr>
          <a:lstStyle/>
          <a:p>
            <a:pPr algn="l">
              <a:spcAft>
                <a:spcPts val="400"/>
              </a:spcAft>
            </a:pPr>
            <a:r>
              <a:rPr sz="1150" b="1">
                <a:solidFill>
                  <a:srgbClr val="161B26"/>
                </a:solidFill>
                <a:latin typeface="Arial"/>
              </a:rPr>
              <a:t>An AWS Backup plan with a tag-based selection protecting EBS and RDS, a verified restore from a recovery point, plus S3 versioning + cross-Region replication and RDS automated snapshots enabled.</a:t>
            </a:r>
          </a:p>
        </p:txBody>
      </p:sp>
      <p:sp>
        <p:nvSpPr>
          <p:cNvPr id="15" name="TextBox 14"/>
          <p:cNvSpPr txBox="1"/>
          <p:nvPr/>
        </p:nvSpPr>
        <p:spPr>
          <a:xfrm>
            <a:off x="960120" y="4637913"/>
            <a:ext cx="5166360" cy="173355"/>
          </a:xfrm>
          <a:prstGeom prst="rect">
            <a:avLst/>
          </a:prstGeom>
          <a:noFill/>
        </p:spPr>
        <p:txBody>
          <a:bodyPr wrap="square" anchor="t">
            <a:spAutoFit/>
          </a:bodyPr>
          <a:lstStyle/>
          <a:p>
            <a:pPr algn="l">
              <a:spcAft>
                <a:spcPts val="400"/>
              </a:spcAft>
            </a:pPr>
            <a:r>
              <a:rPr sz="1050" b="0">
                <a:solidFill>
                  <a:srgbClr val="5B6372"/>
                </a:solidFill>
                <a:latin typeface="Arial"/>
              </a:rPr>
              <a:t>Tools:  AWS Backup, Amazon RDS, Amazon S3, Amazon EBS</a:t>
            </a:r>
          </a:p>
        </p:txBody>
      </p:sp>
      <p:sp>
        <p:nvSpPr>
          <p:cNvPr id="16" name="Rectangle 15"/>
          <p:cNvSpPr/>
          <p:nvPr/>
        </p:nvSpPr>
        <p:spPr>
          <a:xfrm>
            <a:off x="777240" y="5049012"/>
            <a:ext cx="5486400" cy="1278636"/>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049012"/>
            <a:ext cx="91440" cy="127863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5177028"/>
            <a:ext cx="5120640" cy="274320"/>
          </a:xfrm>
          <a:prstGeom prst="rect">
            <a:avLst/>
          </a:prstGeom>
          <a:noFill/>
        </p:spPr>
        <p:txBody>
          <a:bodyPr wrap="square" anchor="t">
            <a:spAutoFit/>
          </a:bodyPr>
          <a:lstStyle/>
          <a:p>
            <a:pPr algn="l">
              <a:spcAft>
                <a:spcPts val="400"/>
              </a:spcAft>
            </a:pPr>
            <a:r>
              <a:rPr sz="1200" b="1">
                <a:solidFill>
                  <a:srgbClr val="10B981"/>
                </a:solidFill>
                <a:latin typeface="Arial"/>
              </a:rPr>
              <a:t>OUTCOME &amp; EVIDENCE</a:t>
            </a:r>
          </a:p>
        </p:txBody>
      </p:sp>
      <p:sp>
        <p:nvSpPr>
          <p:cNvPr id="19" name="TextBox 18"/>
          <p:cNvSpPr txBox="1"/>
          <p:nvPr/>
        </p:nvSpPr>
        <p:spPr>
          <a:xfrm>
            <a:off x="960120" y="5451348"/>
            <a:ext cx="5166360" cy="693420"/>
          </a:xfrm>
          <a:prstGeom prst="rect">
            <a:avLst/>
          </a:prstGeom>
          <a:noFill/>
        </p:spPr>
        <p:txBody>
          <a:bodyPr wrap="square" anchor="t">
            <a:spAutoFit/>
          </a:bodyPr>
          <a:lstStyle/>
          <a:p>
            <a:pPr algn="l">
              <a:spcAft>
                <a:spcPts val="300"/>
              </a:spcAft>
            </a:pPr>
            <a:r>
              <a:rPr sz="1050" b="0">
                <a:solidFill>
                  <a:srgbClr val="5B6372"/>
                </a:solidFill>
                <a:latin typeface="Arial"/>
              </a:rPr>
              <a:t>Outcome:  Automate centralized backups with AWS Backup (plan + tag-based selection), test a restore.</a:t>
            </a:r>
          </a:p>
          <a:p>
            <a:pPr algn="l">
              <a:spcAft>
                <a:spcPts val="300"/>
              </a:spcAft>
            </a:pPr>
            <a:r>
              <a:rPr sz="1050" b="0">
                <a:solidFill>
                  <a:srgbClr val="5B6372"/>
                </a:solidFill>
                <a:latin typeface="Arial"/>
              </a:rPr>
              <a:t>Evidence:  get-backup-plan output showing devops-daily-plan with its daily rule and 35-day lifecycle.</a:t>
            </a:r>
          </a:p>
        </p:txBody>
      </p:sp>
      <p:sp>
        <p:nvSpPr>
          <p:cNvPr id="20" name="Rectangle 19"/>
          <p:cNvSpPr/>
          <p:nvPr/>
        </p:nvSpPr>
        <p:spPr>
          <a:xfrm>
            <a:off x="6446520" y="1783080"/>
            <a:ext cx="5029200" cy="290140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ab-14-backup-restore-data-protection.jpg"/>
          <p:cNvPicPr>
            <a:picLocks noChangeAspect="1"/>
          </p:cNvPicPr>
          <p:nvPr/>
        </p:nvPicPr>
        <p:blipFill>
          <a:blip r:embed="rId2"/>
          <a:stretch>
            <a:fillRect/>
          </a:stretch>
        </p:blipFill>
        <p:spPr>
          <a:xfrm>
            <a:off x="6492240" y="1828800"/>
            <a:ext cx="4937760" cy="2809963"/>
          </a:xfrm>
          <a:prstGeom prst="rect">
            <a:avLst/>
          </a:prstGeom>
        </p:spPr>
      </p:pic>
      <p:sp>
        <p:nvSpPr>
          <p:cNvPr id="22" name="TextBox 21"/>
          <p:cNvSpPr txBox="1"/>
          <p:nvPr/>
        </p:nvSpPr>
        <p:spPr>
          <a:xfrm>
            <a:off x="6492240" y="4730203"/>
            <a:ext cx="4937760" cy="365760"/>
          </a:xfrm>
          <a:prstGeom prst="rect">
            <a:avLst/>
          </a:prstGeom>
          <a:noFill/>
        </p:spPr>
        <p:txBody>
          <a:bodyPr wrap="square" anchor="t">
            <a:spAutoFit/>
          </a:bodyPr>
          <a:lstStyle/>
          <a:p>
            <a:pPr algn="ctr">
              <a:spcAft>
                <a:spcPts val="400"/>
              </a:spcAft>
            </a:pPr>
            <a:r>
              <a:rPr sz="1100" b="1">
                <a:solidFill>
                  <a:srgbClr val="5B6372"/>
                </a:solidFill>
                <a:latin typeface="Arial"/>
              </a:rPr>
              <a:t>Reference architecture</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353</a:t>
            </a:r>
          </a:p>
        </p:txBody>
      </p:sp>
    </p:spTree>
  </p:cSld>
  <p:clrMapOvr>
    <a:masterClrMapping/>
  </p:clrMapOvr>
  <p:transition xmlns:p14="http://schemas.microsoft.com/office/powerpoint/2010/main" p14:dur="380">
    <p:fade/>
  </p:transition>
</p:sld>
</file>

<file path=ppt/slides/slide3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15 · DAY 3 · LO3 · HANDS-ON</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Inject Failure and Verify Self-Healing with AWS FIS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37360"/>
            <a:ext cx="141732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83080"/>
            <a:ext cx="1417320" cy="365760"/>
          </a:xfrm>
          <a:prstGeom prst="rect">
            <a:avLst/>
          </a:prstGeom>
          <a:noFill/>
        </p:spPr>
        <p:txBody>
          <a:bodyPr wrap="square" anchor="t">
            <a:spAutoFit/>
          </a:bodyPr>
          <a:lstStyle/>
          <a:p>
            <a:pPr algn="ctr">
              <a:spcAft>
                <a:spcPts val="400"/>
              </a:spcAft>
            </a:pPr>
            <a:r>
              <a:rPr sz="1600" b="1">
                <a:solidFill>
                  <a:srgbClr val="FFFFFF"/>
                </a:solidFill>
                <a:latin typeface="Arial"/>
              </a:rPr>
              <a:t>LAB 15</a:t>
            </a:r>
          </a:p>
        </p:txBody>
      </p:sp>
      <p:sp>
        <p:nvSpPr>
          <p:cNvPr id="9" name="TextBox 8"/>
          <p:cNvSpPr txBox="1"/>
          <p:nvPr/>
        </p:nvSpPr>
        <p:spPr>
          <a:xfrm>
            <a:off x="2514600" y="1783080"/>
            <a:ext cx="3749039" cy="365760"/>
          </a:xfrm>
          <a:prstGeom prst="rect">
            <a:avLst/>
          </a:prstGeom>
          <a:noFill/>
        </p:spPr>
        <p:txBody>
          <a:bodyPr wrap="square" anchor="t">
            <a:spAutoFit/>
          </a:bodyPr>
          <a:lstStyle/>
          <a:p>
            <a:pPr algn="l">
              <a:spcAft>
                <a:spcPts val="400"/>
              </a:spcAft>
            </a:pPr>
            <a:r>
              <a:rPr sz="1150" b="1">
                <a:solidFill>
                  <a:srgbClr val="5B6372"/>
                </a:solidFill>
                <a:latin typeface="Arial"/>
              </a:rPr>
              <a:t>Day 3 · LO3 · K2, K4, A2</a:t>
            </a:r>
          </a:p>
        </p:txBody>
      </p:sp>
      <p:sp>
        <p:nvSpPr>
          <p:cNvPr id="10" name="TextBox 9"/>
          <p:cNvSpPr txBox="1"/>
          <p:nvPr/>
        </p:nvSpPr>
        <p:spPr>
          <a:xfrm>
            <a:off x="777240" y="2286000"/>
            <a:ext cx="5486400" cy="1215390"/>
          </a:xfrm>
          <a:prstGeom prst="rect">
            <a:avLst/>
          </a:prstGeom>
          <a:noFill/>
        </p:spPr>
        <p:txBody>
          <a:bodyPr wrap="square" anchor="t">
            <a:spAutoFit/>
          </a:bodyPr>
          <a:lstStyle/>
          <a:p>
            <a:pPr algn="l">
              <a:spcAft>
                <a:spcPts val="400"/>
              </a:spcAft>
            </a:pPr>
            <a:r>
              <a:rPr sz="1350" b="0">
                <a:solidFill>
                  <a:srgbClr val="161B26"/>
                </a:solidFill>
                <a:latin typeface="Arial"/>
              </a:rPr>
              <a:t>A resilient design is only proven when you break it on purpose.</a:t>
            </a:r>
          </a:p>
        </p:txBody>
      </p:sp>
      <p:sp>
        <p:nvSpPr>
          <p:cNvPr id="11" name="Rectangle 10"/>
          <p:cNvSpPr/>
          <p:nvPr/>
        </p:nvSpPr>
        <p:spPr>
          <a:xfrm>
            <a:off x="777240" y="3611118"/>
            <a:ext cx="5486400" cy="150152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611118"/>
            <a:ext cx="91440" cy="150152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3739134"/>
            <a:ext cx="5120640" cy="274320"/>
          </a:xfrm>
          <a:prstGeom prst="rect">
            <a:avLst/>
          </a:prstGeom>
          <a:noFill/>
        </p:spPr>
        <p:txBody>
          <a:bodyPr wrap="square" anchor="t">
            <a:spAutoFit/>
          </a:bodyPr>
          <a:lstStyle/>
          <a:p>
            <a:pPr algn="l">
              <a:spcAft>
                <a:spcPts val="400"/>
              </a:spcAft>
            </a:pPr>
            <a:r>
              <a:rPr sz="1200" b="1">
                <a:solidFill>
                  <a:srgbClr val="10B981"/>
                </a:solidFill>
                <a:latin typeface="Arial"/>
              </a:rPr>
              <a:t>YOU'LL BUILD</a:t>
            </a:r>
          </a:p>
        </p:txBody>
      </p:sp>
      <p:sp>
        <p:nvSpPr>
          <p:cNvPr id="14" name="TextBox 13"/>
          <p:cNvSpPr txBox="1"/>
          <p:nvPr/>
        </p:nvSpPr>
        <p:spPr>
          <a:xfrm>
            <a:off x="960120" y="4013454"/>
            <a:ext cx="5166360" cy="569595"/>
          </a:xfrm>
          <a:prstGeom prst="rect">
            <a:avLst/>
          </a:prstGeom>
          <a:noFill/>
        </p:spPr>
        <p:txBody>
          <a:bodyPr wrap="square" anchor="t">
            <a:spAutoFit/>
          </a:bodyPr>
          <a:lstStyle/>
          <a:p>
            <a:pPr algn="l">
              <a:spcAft>
                <a:spcPts val="400"/>
              </a:spcAft>
            </a:pPr>
            <a:r>
              <a:rPr sz="1150" b="1">
                <a:solidFill>
                  <a:srgbClr val="161B26"/>
                </a:solidFill>
                <a:latin typeface="Arial"/>
              </a:rPr>
              <a:t>A verified self-healing web tier: a manual instance termination is auto-replaced by the Auto Scaling group, and an AWS FIS experiment stops instances while the ALB continues to serve traffic.</a:t>
            </a:r>
          </a:p>
        </p:txBody>
      </p:sp>
      <p:sp>
        <p:nvSpPr>
          <p:cNvPr id="15" name="TextBox 14"/>
          <p:cNvSpPr txBox="1"/>
          <p:nvPr/>
        </p:nvSpPr>
        <p:spPr>
          <a:xfrm>
            <a:off x="960120" y="4637913"/>
            <a:ext cx="5166360" cy="346710"/>
          </a:xfrm>
          <a:prstGeom prst="rect">
            <a:avLst/>
          </a:prstGeom>
          <a:noFill/>
        </p:spPr>
        <p:txBody>
          <a:bodyPr wrap="square" anchor="t">
            <a:spAutoFit/>
          </a:bodyPr>
          <a:lstStyle/>
          <a:p>
            <a:pPr algn="l">
              <a:spcAft>
                <a:spcPts val="400"/>
              </a:spcAft>
            </a:pPr>
            <a:r>
              <a:rPr sz="1050" b="0">
                <a:solidFill>
                  <a:srgbClr val="5B6372"/>
                </a:solidFill>
                <a:latin typeface="Arial"/>
              </a:rPr>
              <a:t>Tools:  AWS Fault Injection Service (FIS), AWS Auto Scaling, Amazon EC2, Amazon CloudWatch</a:t>
            </a:r>
          </a:p>
        </p:txBody>
      </p:sp>
      <p:sp>
        <p:nvSpPr>
          <p:cNvPr id="16" name="Rectangle 15"/>
          <p:cNvSpPr/>
          <p:nvPr/>
        </p:nvSpPr>
        <p:spPr>
          <a:xfrm>
            <a:off x="777240" y="5222367"/>
            <a:ext cx="5486400" cy="110528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222367"/>
            <a:ext cx="91440" cy="11052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5350383"/>
            <a:ext cx="5120640" cy="274320"/>
          </a:xfrm>
          <a:prstGeom prst="rect">
            <a:avLst/>
          </a:prstGeom>
          <a:noFill/>
        </p:spPr>
        <p:txBody>
          <a:bodyPr wrap="square" anchor="t">
            <a:spAutoFit/>
          </a:bodyPr>
          <a:lstStyle/>
          <a:p>
            <a:pPr algn="l">
              <a:spcAft>
                <a:spcPts val="400"/>
              </a:spcAft>
            </a:pPr>
            <a:r>
              <a:rPr sz="1200" b="1">
                <a:solidFill>
                  <a:srgbClr val="10B981"/>
                </a:solidFill>
                <a:latin typeface="Arial"/>
              </a:rPr>
              <a:t>OUTCOME &amp; EVIDENCE</a:t>
            </a:r>
          </a:p>
        </p:txBody>
      </p:sp>
      <p:sp>
        <p:nvSpPr>
          <p:cNvPr id="19" name="TextBox 18"/>
          <p:cNvSpPr txBox="1"/>
          <p:nvPr/>
        </p:nvSpPr>
        <p:spPr>
          <a:xfrm>
            <a:off x="960120" y="5624703"/>
            <a:ext cx="5166360" cy="520065"/>
          </a:xfrm>
          <a:prstGeom prst="rect">
            <a:avLst/>
          </a:prstGeom>
          <a:noFill/>
        </p:spPr>
        <p:txBody>
          <a:bodyPr wrap="square" anchor="t">
            <a:spAutoFit/>
          </a:bodyPr>
          <a:lstStyle/>
          <a:p>
            <a:pPr algn="l">
              <a:spcAft>
                <a:spcPts val="300"/>
              </a:spcAft>
            </a:pPr>
            <a:r>
              <a:rPr sz="1050" b="0">
                <a:solidFill>
                  <a:srgbClr val="5B6372"/>
                </a:solidFill>
                <a:latin typeface="Arial"/>
              </a:rPr>
              <a:t>Outcome:  Prove the multi-AZ tier self-heals by terminating an instance.</a:t>
            </a:r>
          </a:p>
          <a:p>
            <a:pPr algn="l">
              <a:spcAft>
                <a:spcPts val="300"/>
              </a:spcAft>
            </a:pPr>
            <a:r>
              <a:rPr sz="1050" b="0">
                <a:solidFill>
                  <a:srgbClr val="5B6372"/>
                </a:solidFill>
                <a:latin typeface="Arial"/>
              </a:rPr>
              <a:t>Evidence:  describe-scaling-activities output showing a successful 'Launching a new EC2 instance' after the manual termination.</a:t>
            </a:r>
          </a:p>
        </p:txBody>
      </p:sp>
      <p:sp>
        <p:nvSpPr>
          <p:cNvPr id="20" name="Rectangle 19"/>
          <p:cNvSpPr/>
          <p:nvPr/>
        </p:nvSpPr>
        <p:spPr>
          <a:xfrm>
            <a:off x="6446520" y="1783080"/>
            <a:ext cx="5029200" cy="290140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ab-15-failure-injection-self-healing.jpg"/>
          <p:cNvPicPr>
            <a:picLocks noChangeAspect="1"/>
          </p:cNvPicPr>
          <p:nvPr/>
        </p:nvPicPr>
        <p:blipFill>
          <a:blip r:embed="rId2"/>
          <a:stretch>
            <a:fillRect/>
          </a:stretch>
        </p:blipFill>
        <p:spPr>
          <a:xfrm>
            <a:off x="6492240" y="1828800"/>
            <a:ext cx="4937760" cy="2809963"/>
          </a:xfrm>
          <a:prstGeom prst="rect">
            <a:avLst/>
          </a:prstGeom>
        </p:spPr>
      </p:pic>
      <p:sp>
        <p:nvSpPr>
          <p:cNvPr id="22" name="TextBox 21"/>
          <p:cNvSpPr txBox="1"/>
          <p:nvPr/>
        </p:nvSpPr>
        <p:spPr>
          <a:xfrm>
            <a:off x="6492240" y="4730203"/>
            <a:ext cx="4937760" cy="365760"/>
          </a:xfrm>
          <a:prstGeom prst="rect">
            <a:avLst/>
          </a:prstGeom>
          <a:noFill/>
        </p:spPr>
        <p:txBody>
          <a:bodyPr wrap="square" anchor="t">
            <a:spAutoFit/>
          </a:bodyPr>
          <a:lstStyle/>
          <a:p>
            <a:pPr algn="ctr">
              <a:spcAft>
                <a:spcPts val="400"/>
              </a:spcAft>
            </a:pPr>
            <a:r>
              <a:rPr sz="1100" b="1">
                <a:solidFill>
                  <a:srgbClr val="5B6372"/>
                </a:solidFill>
                <a:latin typeface="Arial"/>
              </a:rPr>
              <a:t>Reference architecture</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354</a:t>
            </a:r>
          </a:p>
        </p:txBody>
      </p:sp>
    </p:spTree>
  </p:cSld>
  <p:clrMapOvr>
    <a:masterClrMapping/>
  </p:clrMapOvr>
  <p:transition xmlns:p14="http://schemas.microsoft.com/office/powerpoint/2010/main" p14:dur="380">
    <p:fade/>
  </p:transition>
</p:sld>
</file>

<file path=ppt/slides/slide3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RECAP</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Recap — Resilient Cloud Solutions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10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6408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6408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127760"/>
          </a:xfrm>
          <a:prstGeom prst="rect">
            <a:avLst/>
          </a:prstGeom>
          <a:noFill/>
        </p:spPr>
        <p:txBody>
          <a:bodyPr wrap="square" anchor="ctr">
            <a:spAutoFit/>
          </a:bodyPr>
          <a:lstStyle/>
          <a:p>
            <a:pPr algn="l">
              <a:spcAft>
                <a:spcPts val="300"/>
              </a:spcAft>
            </a:pPr>
            <a:r>
              <a:rPr sz="1350" b="1">
                <a:solidFill>
                  <a:srgbClr val="161B26"/>
                </a:solidFill>
                <a:latin typeface="Arial"/>
              </a:rPr>
              <a:t>Lab 11</a:t>
            </a:r>
          </a:p>
          <a:p>
            <a:pPr algn="l">
              <a:spcAft>
                <a:spcPts val="300"/>
              </a:spcAft>
            </a:pPr>
            <a:r>
              <a:rPr sz="950" b="0">
                <a:solidFill>
                  <a:srgbClr val="5B6372"/>
                </a:solidFill>
                <a:latin typeface="Arial"/>
              </a:rPr>
              <a:t>Deploy a highly available multi-AZ Application Load Balancer fronting an Auto Scaling group.</a:t>
            </a:r>
          </a:p>
        </p:txBody>
      </p:sp>
      <p:sp>
        <p:nvSpPr>
          <p:cNvPr id="12" name="Rectangle 11"/>
          <p:cNvSpPr/>
          <p:nvPr/>
        </p:nvSpPr>
        <p:spPr>
          <a:xfrm>
            <a:off x="6231636" y="1783080"/>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3106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6408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6408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127760"/>
          </a:xfrm>
          <a:prstGeom prst="rect">
            <a:avLst/>
          </a:prstGeom>
          <a:noFill/>
        </p:spPr>
        <p:txBody>
          <a:bodyPr wrap="square" anchor="ctr">
            <a:spAutoFit/>
          </a:bodyPr>
          <a:lstStyle/>
          <a:p>
            <a:pPr algn="l">
              <a:spcAft>
                <a:spcPts val="300"/>
              </a:spcAft>
            </a:pPr>
            <a:r>
              <a:rPr sz="1350" b="1">
                <a:solidFill>
                  <a:srgbClr val="161B26"/>
                </a:solidFill>
                <a:latin typeface="Arial"/>
              </a:rPr>
              <a:t>Lab 12</a:t>
            </a:r>
          </a:p>
          <a:p>
            <a:pPr algn="l">
              <a:spcAft>
                <a:spcPts val="300"/>
              </a:spcAft>
            </a:pPr>
            <a:r>
              <a:rPr sz="950" b="0">
                <a:solidFill>
                  <a:srgbClr val="5B6372"/>
                </a:solidFill>
                <a:latin typeface="Arial"/>
              </a:rPr>
              <a:t>Attach a target-tracking scaling policy to an Auto Scaling group.</a:t>
            </a:r>
          </a:p>
        </p:txBody>
      </p:sp>
      <p:sp>
        <p:nvSpPr>
          <p:cNvPr id="17" name="Rectangle 16"/>
          <p:cNvSpPr/>
          <p:nvPr/>
        </p:nvSpPr>
        <p:spPr>
          <a:xfrm>
            <a:off x="777240" y="3313176"/>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3176"/>
            <a:ext cx="91440" cy="13106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422904"/>
            <a:ext cx="3973068" cy="1127760"/>
          </a:xfrm>
          <a:prstGeom prst="rect">
            <a:avLst/>
          </a:prstGeom>
          <a:noFill/>
        </p:spPr>
        <p:txBody>
          <a:bodyPr wrap="square" anchor="ctr">
            <a:spAutoFit/>
          </a:bodyPr>
          <a:lstStyle/>
          <a:p>
            <a:pPr algn="l">
              <a:spcAft>
                <a:spcPts val="300"/>
              </a:spcAft>
            </a:pPr>
            <a:r>
              <a:rPr sz="1350" b="1">
                <a:solidFill>
                  <a:srgbClr val="161B26"/>
                </a:solidFill>
                <a:latin typeface="Arial"/>
              </a:rPr>
              <a:t>Lab 13</a:t>
            </a:r>
          </a:p>
          <a:p>
            <a:pPr algn="l">
              <a:spcAft>
                <a:spcPts val="300"/>
              </a:spcAft>
            </a:pPr>
            <a:r>
              <a:rPr sz="950" b="0">
                <a:solidFill>
                  <a:srgbClr val="5B6372"/>
                </a:solidFill>
                <a:latin typeface="Arial"/>
              </a:rPr>
              <a:t>Compare the four AWS disaster-recovery strategies against RTO/RPO targets, select an appropriate pattern.</a:t>
            </a:r>
          </a:p>
        </p:txBody>
      </p:sp>
      <p:sp>
        <p:nvSpPr>
          <p:cNvPr id="22" name="Rectangle 21"/>
          <p:cNvSpPr/>
          <p:nvPr/>
        </p:nvSpPr>
        <p:spPr>
          <a:xfrm>
            <a:off x="6231636" y="3313176"/>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3176"/>
            <a:ext cx="91440" cy="13106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422904"/>
            <a:ext cx="3973068" cy="1127760"/>
          </a:xfrm>
          <a:prstGeom prst="rect">
            <a:avLst/>
          </a:prstGeom>
          <a:noFill/>
        </p:spPr>
        <p:txBody>
          <a:bodyPr wrap="square" anchor="ctr">
            <a:spAutoFit/>
          </a:bodyPr>
          <a:lstStyle/>
          <a:p>
            <a:pPr algn="l">
              <a:spcAft>
                <a:spcPts val="300"/>
              </a:spcAft>
            </a:pPr>
            <a:r>
              <a:rPr sz="1350" b="1">
                <a:solidFill>
                  <a:srgbClr val="161B26"/>
                </a:solidFill>
                <a:latin typeface="Arial"/>
              </a:rPr>
              <a:t>Lab 14</a:t>
            </a:r>
          </a:p>
          <a:p>
            <a:pPr algn="l">
              <a:spcAft>
                <a:spcPts val="300"/>
              </a:spcAft>
            </a:pPr>
            <a:r>
              <a:rPr sz="950" b="0">
                <a:solidFill>
                  <a:srgbClr val="5B6372"/>
                </a:solidFill>
                <a:latin typeface="Arial"/>
              </a:rPr>
              <a:t>Automate centralized backups with AWS Backup (plan + tag-based selection), test a restore.</a:t>
            </a:r>
          </a:p>
        </p:txBody>
      </p:sp>
      <p:sp>
        <p:nvSpPr>
          <p:cNvPr id="27" name="Rectangle 26"/>
          <p:cNvSpPr/>
          <p:nvPr/>
        </p:nvSpPr>
        <p:spPr>
          <a:xfrm>
            <a:off x="777240" y="4843272"/>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43272"/>
            <a:ext cx="91440" cy="13106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24272"/>
            <a:ext cx="548640" cy="548640"/>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2427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953000"/>
            <a:ext cx="3973068" cy="1127760"/>
          </a:xfrm>
          <a:prstGeom prst="rect">
            <a:avLst/>
          </a:prstGeom>
          <a:noFill/>
        </p:spPr>
        <p:txBody>
          <a:bodyPr wrap="square" anchor="ctr">
            <a:spAutoFit/>
          </a:bodyPr>
          <a:lstStyle/>
          <a:p>
            <a:pPr algn="l">
              <a:spcAft>
                <a:spcPts val="300"/>
              </a:spcAft>
            </a:pPr>
            <a:r>
              <a:rPr sz="1350" b="1">
                <a:solidFill>
                  <a:srgbClr val="161B26"/>
                </a:solidFill>
                <a:latin typeface="Arial"/>
              </a:rPr>
              <a:t>Lab 15</a:t>
            </a:r>
          </a:p>
          <a:p>
            <a:pPr algn="l">
              <a:spcAft>
                <a:spcPts val="300"/>
              </a:spcAft>
            </a:pPr>
            <a:r>
              <a:rPr sz="950" b="0">
                <a:solidFill>
                  <a:srgbClr val="5B6372"/>
                </a:solidFill>
                <a:latin typeface="Arial"/>
              </a:rPr>
              <a:t>Prove the multi-AZ tier self-heals by terminating an instance.</a:t>
            </a:r>
          </a:p>
        </p:txBody>
      </p:sp>
      <p:sp>
        <p:nvSpPr>
          <p:cNvPr id="32" name="Rectangle 31"/>
          <p:cNvSpPr/>
          <p:nvPr/>
        </p:nvSpPr>
        <p:spPr>
          <a:xfrm>
            <a:off x="6231636" y="4843272"/>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43272"/>
            <a:ext cx="91440" cy="1310640"/>
          </a:xfrm>
          <a:prstGeom prst="rect">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24272"/>
            <a:ext cx="548640" cy="548640"/>
          </a:xfrm>
          <a:prstGeom prst="ellipse">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2427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953000"/>
            <a:ext cx="3973068" cy="1127760"/>
          </a:xfrm>
          <a:prstGeom prst="rect">
            <a:avLst/>
          </a:prstGeom>
          <a:noFill/>
        </p:spPr>
        <p:txBody>
          <a:bodyPr wrap="square" anchor="ctr">
            <a:spAutoFit/>
          </a:bodyPr>
          <a:lstStyle/>
          <a:p>
            <a:pPr algn="l">
              <a:spcAft>
                <a:spcPts val="300"/>
              </a:spcAft>
            </a:pPr>
            <a:r>
              <a:rPr sz="1350" b="1">
                <a:solidFill>
                  <a:srgbClr val="161B26"/>
                </a:solidFill>
                <a:latin typeface="Arial"/>
              </a:rPr>
              <a:t>Key principle</a:t>
            </a:r>
          </a:p>
          <a:p>
            <a:pPr algn="l">
              <a:spcAft>
                <a:spcPts val="300"/>
              </a:spcAft>
            </a:pPr>
            <a:r>
              <a:rPr sz="950" b="0">
                <a:solidFill>
                  <a:srgbClr val="5B6372"/>
                </a:solidFill>
                <a:latin typeface="Arial"/>
              </a:rPr>
              <a:t>Spread compute across multiple Availability Zones behind an Elastic Load Balancer so one AZ failure is survivable.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355</a:t>
            </a:r>
          </a:p>
        </p:txBody>
      </p:sp>
    </p:spTree>
  </p:cSld>
  <p:clrMapOvr>
    <a:masterClrMapping/>
  </p:clrMapOvr>
  <p:transition xmlns:p14="http://schemas.microsoft.com/office/powerpoint/2010/main" p14:dur="380">
    <p:fade/>
  </p:transition>
</p:sld>
</file>

<file path=ppt/slides/slide3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DOMAIN 04</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Monitoring and Logging</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Exam weighting 15%  ·  Metrics · logs · dashboards · alarms · automated event management</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04</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356</a:t>
            </a:r>
          </a:p>
        </p:txBody>
      </p:sp>
    </p:spTree>
  </p:cSld>
  <p:clrMapOvr>
    <a:masterClrMapping/>
  </p:clrMapOvr>
  <p:transition xmlns:p14="http://schemas.microsoft.com/office/powerpoint/2010/main" p14:dur="380">
    <p:fade/>
  </p:transition>
</p:sld>
</file>

<file path=ppt/slides/slide3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RESILIENCE &amp; OBSERVABILITY</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Monitoring and Logging</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629037" y="1819655"/>
            <a:ext cx="6933620" cy="39502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devops-resilience-observability.png"/>
          <p:cNvPicPr>
            <a:picLocks noChangeAspect="1"/>
          </p:cNvPicPr>
          <p:nvPr/>
        </p:nvPicPr>
        <p:blipFill>
          <a:blip r:embed="rId2"/>
          <a:stretch>
            <a:fillRect/>
          </a:stretch>
        </p:blipFill>
        <p:spPr>
          <a:xfrm>
            <a:off x="2683901" y="1874519"/>
            <a:ext cx="6823892" cy="3840480"/>
          </a:xfrm>
          <a:prstGeom prst="rect">
            <a:avLst/>
          </a:prstGeom>
        </p:spPr>
      </p:pic>
      <p:sp>
        <p:nvSpPr>
          <p:cNvPr id="9" name="Rectangle 8"/>
          <p:cNvSpPr/>
          <p:nvPr/>
        </p:nvSpPr>
        <p:spPr>
          <a:xfrm>
            <a:off x="777240" y="5852159"/>
            <a:ext cx="10634472"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852159"/>
            <a:ext cx="91440" cy="640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52159"/>
            <a:ext cx="10241280" cy="640080"/>
          </a:xfrm>
          <a:prstGeom prst="rect">
            <a:avLst/>
          </a:prstGeom>
          <a:noFill/>
        </p:spPr>
        <p:txBody>
          <a:bodyPr wrap="square" anchor="ctr">
            <a:spAutoFit/>
          </a:bodyPr>
          <a:lstStyle/>
          <a:p>
            <a:pPr algn="l">
              <a:spcAft>
                <a:spcPts val="400"/>
              </a:spcAft>
            </a:pPr>
            <a:r>
              <a:rPr sz="1300" b="1">
                <a:solidFill>
                  <a:srgbClr val="F59E0B"/>
                </a:solidFill>
                <a:latin typeface="Arial"/>
              </a:rPr>
              <a:t>▶  </a:t>
            </a:r>
            <a:r>
              <a:rPr sz="1350" b="0">
                <a:solidFill>
                  <a:srgbClr val="161B26"/>
                </a:solidFill>
                <a:latin typeface="Arial"/>
              </a:rPr>
              <a:t>Resilience and observability working together to keep services healthy</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357</a:t>
            </a:r>
          </a:p>
        </p:txBody>
      </p:sp>
    </p:spTree>
  </p:cSld>
  <p:clrMapOvr>
    <a:masterClrMapping/>
  </p:clrMapOvr>
  <p:transition xmlns:p14="http://schemas.microsoft.com/office/powerpoint/2010/main" p14:dur="380">
    <p:fade/>
  </p:transition>
</p:sld>
</file>

<file path=ppt/slides/slide3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DOMAIN 04 · WEIGHTING 15%</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Key Concepts — Monitoring and Logging</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10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6408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6408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CloudWatch metrics</a:t>
            </a:r>
          </a:p>
          <a:p>
            <a:pPr algn="l">
              <a:spcAft>
                <a:spcPts val="300"/>
              </a:spcAft>
            </a:pPr>
            <a:r>
              <a:rPr sz="1150" b="0">
                <a:solidFill>
                  <a:srgbClr val="5B6372"/>
                </a:solidFill>
                <a:latin typeface="Arial"/>
              </a:rPr>
              <a:t>Namespaces, dimensions and custom metrics measure system and application health over time.</a:t>
            </a:r>
          </a:p>
        </p:txBody>
      </p:sp>
      <p:sp>
        <p:nvSpPr>
          <p:cNvPr id="12" name="Rectangle 11"/>
          <p:cNvSpPr/>
          <p:nvPr/>
        </p:nvSpPr>
        <p:spPr>
          <a:xfrm>
            <a:off x="6231636" y="1783080"/>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3106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6408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6408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CloudWatch Logs</a:t>
            </a:r>
          </a:p>
          <a:p>
            <a:pPr algn="l">
              <a:spcAft>
                <a:spcPts val="300"/>
              </a:spcAft>
            </a:pPr>
            <a:r>
              <a:rPr sz="1150" b="0">
                <a:solidFill>
                  <a:srgbClr val="5B6372"/>
                </a:solidFill>
                <a:latin typeface="Arial"/>
              </a:rPr>
              <a:t>Log groups, streams, subscription filters and metric filters turn raw logs into searchable, alertable signals.</a:t>
            </a:r>
          </a:p>
        </p:txBody>
      </p:sp>
      <p:sp>
        <p:nvSpPr>
          <p:cNvPr id="17" name="Rectangle 16"/>
          <p:cNvSpPr/>
          <p:nvPr/>
        </p:nvSpPr>
        <p:spPr>
          <a:xfrm>
            <a:off x="777240" y="3313176"/>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3176"/>
            <a:ext cx="91440" cy="13106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422904"/>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Dashboards</a:t>
            </a:r>
          </a:p>
          <a:p>
            <a:pPr algn="l">
              <a:spcAft>
                <a:spcPts val="300"/>
              </a:spcAft>
            </a:pPr>
            <a:r>
              <a:rPr sz="1150" b="0">
                <a:solidFill>
                  <a:srgbClr val="5B6372"/>
                </a:solidFill>
                <a:latin typeface="Arial"/>
              </a:rPr>
              <a:t>A single pane of glass correlates metrics, logs and alarms for fast troubleshooting.</a:t>
            </a:r>
          </a:p>
        </p:txBody>
      </p:sp>
      <p:sp>
        <p:nvSpPr>
          <p:cNvPr id="22" name="Rectangle 21"/>
          <p:cNvSpPr/>
          <p:nvPr/>
        </p:nvSpPr>
        <p:spPr>
          <a:xfrm>
            <a:off x="6231636" y="3313176"/>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3176"/>
            <a:ext cx="91440" cy="13106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422904"/>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Alarms &amp; composite alarms</a:t>
            </a:r>
          </a:p>
          <a:p>
            <a:pPr algn="l">
              <a:spcAft>
                <a:spcPts val="300"/>
              </a:spcAft>
            </a:pPr>
            <a:r>
              <a:rPr sz="1150" b="0">
                <a:solidFill>
                  <a:srgbClr val="5B6372"/>
                </a:solidFill>
                <a:latin typeface="Arial"/>
              </a:rPr>
              <a:t>Thresholds and anomaly detection notify SNS or trigger auto-remediation before users are affected.</a:t>
            </a:r>
          </a:p>
        </p:txBody>
      </p:sp>
      <p:sp>
        <p:nvSpPr>
          <p:cNvPr id="27" name="Rectangle 26"/>
          <p:cNvSpPr/>
          <p:nvPr/>
        </p:nvSpPr>
        <p:spPr>
          <a:xfrm>
            <a:off x="777240" y="4843272"/>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43272"/>
            <a:ext cx="91440" cy="13106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24272"/>
            <a:ext cx="548640" cy="548640"/>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2427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953000"/>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Tracing &amp; insights</a:t>
            </a:r>
          </a:p>
          <a:p>
            <a:pPr algn="l">
              <a:spcAft>
                <a:spcPts val="300"/>
              </a:spcAft>
            </a:pPr>
            <a:r>
              <a:rPr sz="1150" b="0">
                <a:solidFill>
                  <a:srgbClr val="5B6372"/>
                </a:solidFill>
                <a:latin typeface="Arial"/>
              </a:rPr>
              <a:t>X-Ray traces distributed requests; CloudWatch Logs Insights and Container/Lambda Insights find the root cause.</a:t>
            </a:r>
          </a:p>
        </p:txBody>
      </p:sp>
      <p:sp>
        <p:nvSpPr>
          <p:cNvPr id="32" name="Rectangle 31"/>
          <p:cNvSpPr/>
          <p:nvPr/>
        </p:nvSpPr>
        <p:spPr>
          <a:xfrm>
            <a:off x="6231636" y="4843272"/>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43272"/>
            <a:ext cx="91440" cy="1310640"/>
          </a:xfrm>
          <a:prstGeom prst="rect">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24272"/>
            <a:ext cx="548640" cy="548640"/>
          </a:xfrm>
          <a:prstGeom prst="ellipse">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2427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953000"/>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Aggregation at scale</a:t>
            </a:r>
          </a:p>
          <a:p>
            <a:pPr algn="l">
              <a:spcAft>
                <a:spcPts val="300"/>
              </a:spcAft>
            </a:pPr>
            <a:r>
              <a:rPr sz="1150" b="0">
                <a:solidFill>
                  <a:srgbClr val="5B6372"/>
                </a:solidFill>
                <a:latin typeface="Arial"/>
              </a:rPr>
              <a:t>Cross-account observability, the CloudWatch agent and OpenTelemetry centralise telemetry from many sources.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358</a:t>
            </a:r>
          </a:p>
        </p:txBody>
      </p:sp>
    </p:spTree>
  </p:cSld>
  <p:clrMapOvr>
    <a:masterClrMapping/>
  </p:clrMapOvr>
  <p:transition xmlns:p14="http://schemas.microsoft.com/office/powerpoint/2010/main" p14:dur="380">
    <p:fade/>
  </p:transition>
</p:sld>
</file>

<file path=ppt/slides/slide3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DOMAIN 04 · OBSERVABILITY</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Monitoring &amp; Logging Pipeline</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965960"/>
            <a:ext cx="2377440" cy="1051560"/>
          </a:xfrm>
          <a:prstGeom prst="roundRect">
            <a:avLst/>
          </a:prstGeom>
          <a:solidFill>
            <a:srgbClr val="F5F8FC"/>
          </a:solidFill>
          <a:ln w="15875">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965960"/>
            <a:ext cx="237744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075688"/>
            <a:ext cx="2194560" cy="868680"/>
          </a:xfrm>
          <a:prstGeom prst="rect">
            <a:avLst/>
          </a:prstGeom>
          <a:noFill/>
        </p:spPr>
        <p:txBody>
          <a:bodyPr wrap="square" anchor="ctr">
            <a:spAutoFit/>
          </a:bodyPr>
          <a:lstStyle/>
          <a:p>
            <a:pPr algn="ctr">
              <a:spcAft>
                <a:spcPts val="400"/>
              </a:spcAft>
            </a:pPr>
            <a:r>
              <a:rPr sz="1300" b="1">
                <a:solidFill>
                  <a:srgbClr val="161B26"/>
                </a:solidFill>
                <a:latin typeface="Arial"/>
              </a:rPr>
              <a:t>App + EC2
CloudWatch agent</a:t>
            </a:r>
          </a:p>
        </p:txBody>
      </p:sp>
      <p:sp>
        <p:nvSpPr>
          <p:cNvPr id="10" name="Rounded Rectangle 9"/>
          <p:cNvSpPr/>
          <p:nvPr/>
        </p:nvSpPr>
        <p:spPr>
          <a:xfrm>
            <a:off x="3520440" y="1965960"/>
            <a:ext cx="2377440" cy="1051560"/>
          </a:xfrm>
          <a:prstGeom prst="roundRect">
            <a:avLst/>
          </a:prstGeom>
          <a:solidFill>
            <a:srgbClr val="F5F8FC"/>
          </a:solidFill>
          <a:ln w="15875">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520440" y="1965960"/>
            <a:ext cx="2377440"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11880" y="2075688"/>
            <a:ext cx="2194560" cy="868680"/>
          </a:xfrm>
          <a:prstGeom prst="rect">
            <a:avLst/>
          </a:prstGeom>
          <a:noFill/>
        </p:spPr>
        <p:txBody>
          <a:bodyPr wrap="square" anchor="ctr">
            <a:spAutoFit/>
          </a:bodyPr>
          <a:lstStyle/>
          <a:p>
            <a:pPr algn="ctr">
              <a:spcAft>
                <a:spcPts val="400"/>
              </a:spcAft>
            </a:pPr>
            <a:r>
              <a:rPr sz="1300" b="1">
                <a:solidFill>
                  <a:srgbClr val="161B26"/>
                </a:solidFill>
                <a:latin typeface="Arial"/>
              </a:rPr>
              <a:t>CloudWatch Logs
log groups</a:t>
            </a:r>
          </a:p>
        </p:txBody>
      </p:sp>
      <p:sp>
        <p:nvSpPr>
          <p:cNvPr id="13" name="Rounded Rectangle 12"/>
          <p:cNvSpPr/>
          <p:nvPr/>
        </p:nvSpPr>
        <p:spPr>
          <a:xfrm>
            <a:off x="3520440" y="3657600"/>
            <a:ext cx="2377440" cy="1051560"/>
          </a:xfrm>
          <a:prstGeom prst="roundRect">
            <a:avLst/>
          </a:prstGeom>
          <a:solidFill>
            <a:srgbClr val="F5F8FC"/>
          </a:solidFill>
          <a:ln w="15875">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0440" y="3657600"/>
            <a:ext cx="2377440"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11880" y="3767328"/>
            <a:ext cx="2194560" cy="868680"/>
          </a:xfrm>
          <a:prstGeom prst="rect">
            <a:avLst/>
          </a:prstGeom>
          <a:noFill/>
        </p:spPr>
        <p:txBody>
          <a:bodyPr wrap="square" anchor="ctr">
            <a:spAutoFit/>
          </a:bodyPr>
          <a:lstStyle/>
          <a:p>
            <a:pPr algn="ctr">
              <a:spcAft>
                <a:spcPts val="400"/>
              </a:spcAft>
            </a:pPr>
            <a:r>
              <a:rPr sz="1300" b="1">
                <a:solidFill>
                  <a:srgbClr val="161B26"/>
                </a:solidFill>
                <a:latin typeface="Arial"/>
              </a:rPr>
              <a:t>CloudWatch Metrics
+ custom metrics</a:t>
            </a:r>
          </a:p>
        </p:txBody>
      </p:sp>
      <p:sp>
        <p:nvSpPr>
          <p:cNvPr id="16" name="Rounded Rectangle 15"/>
          <p:cNvSpPr/>
          <p:nvPr/>
        </p:nvSpPr>
        <p:spPr>
          <a:xfrm>
            <a:off x="6263640" y="1965960"/>
            <a:ext cx="2377440" cy="1051560"/>
          </a:xfrm>
          <a:prstGeom prst="roundRect">
            <a:avLst/>
          </a:prstGeom>
          <a:solidFill>
            <a:srgbClr val="F5F8FC"/>
          </a:solidFill>
          <a:ln w="15875">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63640" y="1965960"/>
            <a:ext cx="237744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55080" y="2075688"/>
            <a:ext cx="2194560" cy="868680"/>
          </a:xfrm>
          <a:prstGeom prst="rect">
            <a:avLst/>
          </a:prstGeom>
          <a:noFill/>
        </p:spPr>
        <p:txBody>
          <a:bodyPr wrap="square" anchor="ctr">
            <a:spAutoFit/>
          </a:bodyPr>
          <a:lstStyle/>
          <a:p>
            <a:pPr algn="ctr">
              <a:spcAft>
                <a:spcPts val="400"/>
              </a:spcAft>
            </a:pPr>
            <a:r>
              <a:rPr sz="1300" b="1">
                <a:solidFill>
                  <a:srgbClr val="161B26"/>
                </a:solidFill>
                <a:latin typeface="Arial"/>
              </a:rPr>
              <a:t>Metric Filters
/ Logs Insights</a:t>
            </a:r>
          </a:p>
        </p:txBody>
      </p:sp>
      <p:sp>
        <p:nvSpPr>
          <p:cNvPr id="19" name="Rounded Rectangle 18"/>
          <p:cNvSpPr/>
          <p:nvPr/>
        </p:nvSpPr>
        <p:spPr>
          <a:xfrm>
            <a:off x="9006840" y="1965960"/>
            <a:ext cx="2377440" cy="1051560"/>
          </a:xfrm>
          <a:prstGeom prst="roundRect">
            <a:avLst/>
          </a:prstGeom>
          <a:solidFill>
            <a:srgbClr val="F5F8FC"/>
          </a:solidFill>
          <a:ln w="15875">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006840" y="1965960"/>
            <a:ext cx="2377440"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98280" y="2075688"/>
            <a:ext cx="2194560" cy="868680"/>
          </a:xfrm>
          <a:prstGeom prst="rect">
            <a:avLst/>
          </a:prstGeom>
          <a:noFill/>
        </p:spPr>
        <p:txBody>
          <a:bodyPr wrap="square" anchor="ctr">
            <a:spAutoFit/>
          </a:bodyPr>
          <a:lstStyle/>
          <a:p>
            <a:pPr algn="ctr">
              <a:spcAft>
                <a:spcPts val="400"/>
              </a:spcAft>
            </a:pPr>
            <a:r>
              <a:rPr sz="1300" b="1">
                <a:solidFill>
                  <a:srgbClr val="161B26"/>
                </a:solidFill>
                <a:latin typeface="Arial"/>
              </a:rPr>
              <a:t>Dashboards</a:t>
            </a:r>
          </a:p>
        </p:txBody>
      </p:sp>
      <p:sp>
        <p:nvSpPr>
          <p:cNvPr id="22" name="Rounded Rectangle 21"/>
          <p:cNvSpPr/>
          <p:nvPr/>
        </p:nvSpPr>
        <p:spPr>
          <a:xfrm>
            <a:off x="6263640" y="3657600"/>
            <a:ext cx="2377440" cy="1051560"/>
          </a:xfrm>
          <a:prstGeom prst="roundRect">
            <a:avLst/>
          </a:prstGeom>
          <a:solidFill>
            <a:srgbClr val="F5F8FC"/>
          </a:solidFill>
          <a:ln w="15875">
            <a:solidFill>
              <a:srgbClr val="EC71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63640" y="3657600"/>
            <a:ext cx="2377440" cy="82296"/>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55080" y="3767328"/>
            <a:ext cx="2194560" cy="868680"/>
          </a:xfrm>
          <a:prstGeom prst="rect">
            <a:avLst/>
          </a:prstGeom>
          <a:noFill/>
        </p:spPr>
        <p:txBody>
          <a:bodyPr wrap="square" anchor="ctr">
            <a:spAutoFit/>
          </a:bodyPr>
          <a:lstStyle/>
          <a:p>
            <a:pPr algn="ctr">
              <a:spcAft>
                <a:spcPts val="400"/>
              </a:spcAft>
            </a:pPr>
            <a:r>
              <a:rPr sz="1300" b="1">
                <a:solidFill>
                  <a:srgbClr val="161B26"/>
                </a:solidFill>
                <a:latin typeface="Arial"/>
              </a:rPr>
              <a:t>Alarms</a:t>
            </a:r>
          </a:p>
        </p:txBody>
      </p:sp>
      <p:sp>
        <p:nvSpPr>
          <p:cNvPr id="25" name="Rounded Rectangle 24"/>
          <p:cNvSpPr/>
          <p:nvPr/>
        </p:nvSpPr>
        <p:spPr>
          <a:xfrm>
            <a:off x="9006840" y="3657600"/>
            <a:ext cx="2377440" cy="1051560"/>
          </a:xfrm>
          <a:prstGeom prst="roundRect">
            <a:avLst/>
          </a:prstGeom>
          <a:solidFill>
            <a:srgbClr val="F5F8FC"/>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06840" y="3657600"/>
            <a:ext cx="2377440" cy="82296"/>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098280" y="3767328"/>
            <a:ext cx="2194560" cy="868680"/>
          </a:xfrm>
          <a:prstGeom prst="rect">
            <a:avLst/>
          </a:prstGeom>
          <a:noFill/>
        </p:spPr>
        <p:txBody>
          <a:bodyPr wrap="square" anchor="ctr">
            <a:spAutoFit/>
          </a:bodyPr>
          <a:lstStyle/>
          <a:p>
            <a:pPr algn="ctr">
              <a:spcAft>
                <a:spcPts val="400"/>
              </a:spcAft>
            </a:pPr>
            <a:r>
              <a:rPr sz="1300" b="1">
                <a:solidFill>
                  <a:srgbClr val="161B26"/>
                </a:solidFill>
                <a:latin typeface="Arial"/>
              </a:rPr>
              <a:t>SNS notify</a:t>
            </a:r>
          </a:p>
        </p:txBody>
      </p:sp>
      <p:cxnSp>
        <p:nvCxnSpPr>
          <p:cNvPr id="28" name="Connector 27"/>
          <p:cNvCxnSpPr/>
          <p:nvPr/>
        </p:nvCxnSpPr>
        <p:spPr>
          <a:xfrm>
            <a:off x="3154680" y="2491740"/>
            <a:ext cx="365760" cy="0"/>
          </a:xfrm>
          <a:prstGeom prst="line">
            <a:avLst/>
          </a:prstGeom>
          <a:ln w="22225">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154680" y="2491740"/>
            <a:ext cx="365760" cy="1691640"/>
          </a:xfrm>
          <a:prstGeom prst="line">
            <a:avLst/>
          </a:prstGeom>
          <a:ln w="22225">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897880" y="2491740"/>
            <a:ext cx="365760" cy="0"/>
          </a:xfrm>
          <a:prstGeom prst="line">
            <a:avLst/>
          </a:prstGeom>
          <a:ln w="22225">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641080" y="2491740"/>
            <a:ext cx="365760" cy="0"/>
          </a:xfrm>
          <a:prstGeom prst="line">
            <a:avLst/>
          </a:prstGeom>
          <a:ln w="22225">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897880" y="4183380"/>
            <a:ext cx="365760" cy="0"/>
          </a:xfrm>
          <a:prstGeom prst="line">
            <a:avLst/>
          </a:prstGeom>
          <a:ln w="22225">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641080" y="4183380"/>
            <a:ext cx="365760" cy="0"/>
          </a:xfrm>
          <a:prstGeom prst="line">
            <a:avLst/>
          </a:prstGeom>
          <a:ln w="22225">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777240" y="5669280"/>
            <a:ext cx="10634472" cy="548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5840" y="5742432"/>
            <a:ext cx="10241280" cy="411480"/>
          </a:xfrm>
          <a:prstGeom prst="rect">
            <a:avLst/>
          </a:prstGeom>
          <a:noFill/>
        </p:spPr>
        <p:txBody>
          <a:bodyPr wrap="square" anchor="ctr">
            <a:spAutoFit/>
          </a:bodyPr>
          <a:lstStyle/>
          <a:p>
            <a:pPr algn="l">
              <a:spcAft>
                <a:spcPts val="400"/>
              </a:spcAft>
            </a:pPr>
            <a:r>
              <a:rPr sz="1300" b="1">
                <a:solidFill>
                  <a:srgbClr val="F59E0B"/>
                </a:solidFill>
                <a:latin typeface="Arial"/>
              </a:rPr>
              <a:t>▶  </a:t>
            </a:r>
            <a:r>
              <a:rPr sz="1300" b="0">
                <a:solidFill>
                  <a:srgbClr val="161B26"/>
                </a:solidFill>
                <a:latin typeface="Arial"/>
              </a:rPr>
              <a:t>Logs and metrics feed dashboards and alarms; alarms notify SNS and trigger the incident response in Domain 05.</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359</a:t>
            </a:r>
          </a:p>
        </p:txBody>
      </p:sp>
    </p:spTree>
  </p:cSld>
  <p:clrMapOvr>
    <a:masterClrMapping/>
  </p:clrMapOvr>
  <p:transition xmlns:p14="http://schemas.microsoft.com/office/powerpoint/2010/main" p14:dur="380">
    <p:fade/>
  </p:transition>
</p:sld>
</file>

<file path=ppt/slides/slide3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KNOW YOUR SIGNALS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The Three Pillars of Observability</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600" b="1">
                <a:solidFill>
                  <a:srgbClr val="161B26"/>
                </a:solidFill>
                <a:latin typeface="Arial"/>
              </a:rPr>
              <a:t>Metrics</a:t>
            </a:r>
          </a:p>
          <a:p>
            <a:pPr algn="l">
              <a:spcAft>
                <a:spcPts val="300"/>
              </a:spcAft>
            </a:pPr>
            <a:r>
              <a:rPr sz="1200" b="0">
                <a:solidFill>
                  <a:srgbClr val="5B6372"/>
                </a:solidFill>
                <a:latin typeface="Arial"/>
              </a:rPr>
              <a:t>Numeric time-series — CPU, latency, error rate, request count.</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600" b="1">
                <a:solidFill>
                  <a:srgbClr val="161B26"/>
                </a:solidFill>
                <a:latin typeface="Arial"/>
              </a:rPr>
              <a:t>Logs</a:t>
            </a:r>
          </a:p>
          <a:p>
            <a:pPr algn="l">
              <a:spcAft>
                <a:spcPts val="300"/>
              </a:spcAft>
            </a:pPr>
            <a:r>
              <a:rPr sz="1200" b="0">
                <a:solidFill>
                  <a:srgbClr val="5B6372"/>
                </a:solidFill>
                <a:latin typeface="Arial"/>
              </a:rPr>
              <a:t>Event records — application, system and access logs in CloudWatch Logs.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600" b="1">
                <a:solidFill>
                  <a:srgbClr val="161B26"/>
                </a:solidFill>
                <a:latin typeface="Arial"/>
              </a:rPr>
              <a:t>Traces</a:t>
            </a:r>
          </a:p>
          <a:p>
            <a:pPr algn="l">
              <a:spcAft>
                <a:spcPts val="300"/>
              </a:spcAft>
            </a:pPr>
            <a:r>
              <a:rPr sz="1200" b="0">
                <a:solidFill>
                  <a:srgbClr val="5B6372"/>
                </a:solidFill>
                <a:latin typeface="Arial"/>
              </a:rPr>
              <a:t>Request paths across services with AWS X-Ray.</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600" b="1">
                <a:solidFill>
                  <a:srgbClr val="161B26"/>
                </a:solidFill>
                <a:latin typeface="Arial"/>
              </a:rPr>
              <a:t>Dashboards &amp; alarms</a:t>
            </a:r>
          </a:p>
          <a:p>
            <a:pPr algn="l">
              <a:spcAft>
                <a:spcPts val="300"/>
              </a:spcAft>
            </a:pPr>
            <a:r>
              <a:rPr sz="1200" b="0">
                <a:solidFill>
                  <a:srgbClr val="5B6372"/>
                </a:solidFill>
                <a:latin typeface="Arial"/>
              </a:rPr>
              <a:t>Correlate all three; alarm on anomalies before users notice.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360</a:t>
            </a:r>
          </a:p>
        </p:txBody>
      </p:sp>
    </p:spTree>
  </p:cSld>
  <p:clrMapOvr>
    <a:masterClrMapping/>
  </p:clrMapOvr>
  <p:transition xmlns:p14="http://schemas.microsoft.com/office/powerpoint/2010/main" p14:dur="380">
    <p:fade/>
  </p:transition>
</p:sld>
</file>

<file path=ppt/slides/slide3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READING THE SIGNALS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Alarm Thresholds — Healthy vs Incident</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828800"/>
          <a:ext cx="10634472" cy="3291840"/>
        </p:xfrm>
        <a:graphic>
          <a:graphicData uri="http://schemas.openxmlformats.org/drawingml/2006/chart">
            <c:chart xmlns:c="http://schemas.openxmlformats.org/drawingml/2006/chart" r:id="rId2"/>
          </a:graphicData>
        </a:graphic>
      </p:graphicFrame>
      <p:sp>
        <p:nvSpPr>
          <p:cNvPr id="8" name="Rectangle 7"/>
          <p:cNvSpPr/>
          <p:nvPr/>
        </p:nvSpPr>
        <p:spPr>
          <a:xfrm>
            <a:off x="777240" y="5349240"/>
            <a:ext cx="10634472" cy="868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349240"/>
            <a:ext cx="91440" cy="8686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5440680"/>
            <a:ext cx="10241280" cy="320040"/>
          </a:xfrm>
          <a:prstGeom prst="rect">
            <a:avLst/>
          </a:prstGeom>
          <a:noFill/>
        </p:spPr>
        <p:txBody>
          <a:bodyPr wrap="square" anchor="t">
            <a:spAutoFit/>
          </a:bodyPr>
          <a:lstStyle/>
          <a:p>
            <a:pPr algn="l">
              <a:spcAft>
                <a:spcPts val="400"/>
              </a:spcAft>
            </a:pPr>
            <a:r>
              <a:rPr sz="1100" b="1">
                <a:solidFill>
                  <a:srgbClr val="F59E0B"/>
                </a:solidFill>
                <a:latin typeface="Arial"/>
              </a:rPr>
              <a:t>WHAT THE DATA SHOWS</a:t>
            </a:r>
          </a:p>
        </p:txBody>
      </p:sp>
      <p:sp>
        <p:nvSpPr>
          <p:cNvPr id="11" name="TextBox 10"/>
          <p:cNvSpPr txBox="1"/>
          <p:nvPr/>
        </p:nvSpPr>
        <p:spPr>
          <a:xfrm>
            <a:off x="1005840" y="5742432"/>
            <a:ext cx="10241280" cy="457200"/>
          </a:xfrm>
          <a:prstGeom prst="rect">
            <a:avLst/>
          </a:prstGeom>
          <a:noFill/>
        </p:spPr>
        <p:txBody>
          <a:bodyPr wrap="square" anchor="t">
            <a:spAutoFit/>
          </a:bodyPr>
          <a:lstStyle/>
          <a:p>
            <a:pPr algn="l">
              <a:spcAft>
                <a:spcPts val="400"/>
              </a:spcAft>
            </a:pPr>
            <a:r>
              <a:rPr sz="1350" b="0">
                <a:solidFill>
                  <a:srgbClr val="161B26"/>
                </a:solidFill>
                <a:latin typeface="Arial"/>
              </a:rPr>
              <a:t>When p90 latency crosses the alarm threshold, CloudWatch fires and the automated response kicks in.</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361</a:t>
            </a:r>
          </a:p>
        </p:txBody>
      </p:sp>
    </p:spTree>
  </p:cSld>
  <p:clrMapOvr>
    <a:masterClrMapping/>
  </p:clrMapOvr>
  <p:transition xmlns:p14="http://schemas.microsoft.com/office/powerpoint/2010/main" p14:dur="380">
    <p:fade/>
  </p:transition>
</p:sld>
</file>

<file path=ppt/slides/slide3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THE METRICS MODEL</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Anatomy of CloudWatch</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600" b="1">
                <a:solidFill>
                  <a:srgbClr val="161B26"/>
                </a:solidFill>
                <a:latin typeface="Arial"/>
              </a:rPr>
              <a:t>Namespaces</a:t>
            </a:r>
          </a:p>
          <a:p>
            <a:pPr algn="l">
              <a:spcAft>
                <a:spcPts val="300"/>
              </a:spcAft>
            </a:pPr>
            <a:r>
              <a:rPr sz="1200" b="0">
                <a:solidFill>
                  <a:srgbClr val="5B6372"/>
                </a:solidFill>
                <a:latin typeface="Arial"/>
              </a:rPr>
              <a:t>Group metrics by service (AWS/EC2, custom app namespaces).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600" b="1">
                <a:solidFill>
                  <a:srgbClr val="161B26"/>
                </a:solidFill>
                <a:latin typeface="Arial"/>
              </a:rPr>
              <a:t>Dimensions</a:t>
            </a:r>
          </a:p>
          <a:p>
            <a:pPr algn="l">
              <a:spcAft>
                <a:spcPts val="300"/>
              </a:spcAft>
            </a:pPr>
            <a:r>
              <a:rPr sz="1200" b="0">
                <a:solidFill>
                  <a:srgbClr val="5B6372"/>
                </a:solidFill>
                <a:latin typeface="Arial"/>
              </a:rPr>
              <a:t>Name/value pairs that identify a metric (InstanceId, etc.).</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600" b="1">
                <a:solidFill>
                  <a:srgbClr val="161B26"/>
                </a:solidFill>
                <a:latin typeface="Arial"/>
              </a:rPr>
              <a:t>Statistics &amp; periods</a:t>
            </a:r>
          </a:p>
          <a:p>
            <a:pPr algn="l">
              <a:spcAft>
                <a:spcPts val="300"/>
              </a:spcAft>
            </a:pPr>
            <a:r>
              <a:rPr sz="1200" b="0">
                <a:solidFill>
                  <a:srgbClr val="5B6372"/>
                </a:solidFill>
                <a:latin typeface="Arial"/>
              </a:rPr>
              <a:t>Aggregate over time — Average, Sum, p90, p99.</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600" b="1">
                <a:solidFill>
                  <a:srgbClr val="161B26"/>
                </a:solidFill>
                <a:latin typeface="Arial"/>
              </a:rPr>
              <a:t>Alarms &amp; composite</a:t>
            </a:r>
          </a:p>
          <a:p>
            <a:pPr algn="l">
              <a:spcAft>
                <a:spcPts val="300"/>
              </a:spcAft>
            </a:pPr>
            <a:r>
              <a:rPr sz="1200" b="0">
                <a:solidFill>
                  <a:srgbClr val="5B6372"/>
                </a:solidFill>
                <a:latin typeface="Arial"/>
              </a:rPr>
              <a:t>Trigger on thresholds or anomaly detection; combine with AND/OR.</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362</a:t>
            </a:r>
          </a:p>
        </p:txBody>
      </p:sp>
    </p:spTree>
  </p:cSld>
  <p:clrMapOvr>
    <a:masterClrMapping/>
  </p:clrMapOvr>
  <p:transition xmlns:p14="http://schemas.microsoft.com/office/powerpoint/2010/main" p14:dur="380">
    <p:fade/>
  </p:transition>
</p:sld>
</file>

<file path=ppt/slides/slide3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TURNING LOGS INTO SIGNALS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The Logs-to-Action Pipeline</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5133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59002" y="2715768"/>
            <a:ext cx="749808" cy="74980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59002"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220724" cy="1325880"/>
          </a:xfrm>
          <a:prstGeom prst="rect">
            <a:avLst/>
          </a:prstGeom>
          <a:noFill/>
        </p:spPr>
        <p:txBody>
          <a:bodyPr wrap="square" anchor="t">
            <a:spAutoFit/>
          </a:bodyPr>
          <a:lstStyle/>
          <a:p>
            <a:pPr algn="ctr">
              <a:spcAft>
                <a:spcPts val="400"/>
              </a:spcAft>
            </a:pPr>
            <a:r>
              <a:rPr sz="1300" b="0">
                <a:solidFill>
                  <a:srgbClr val="161B26"/>
                </a:solidFill>
                <a:latin typeface="Arial"/>
              </a:rPr>
              <a:t>CloudWatch agent
collects</a:t>
            </a:r>
          </a:p>
        </p:txBody>
      </p:sp>
      <p:sp>
        <p:nvSpPr>
          <p:cNvPr id="12" name="TextBox 11"/>
          <p:cNvSpPr txBox="1"/>
          <p:nvPr/>
        </p:nvSpPr>
        <p:spPr>
          <a:xfrm>
            <a:off x="2253996"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13" name="Rectangle 12"/>
          <p:cNvSpPr/>
          <p:nvPr/>
        </p:nvSpPr>
        <p:spPr>
          <a:xfrm>
            <a:off x="2601468"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601468" y="2331720"/>
            <a:ext cx="15133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2983230" y="2715768"/>
            <a:ext cx="749808" cy="74980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8323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2747772" y="3749040"/>
            <a:ext cx="1220724" cy="1325880"/>
          </a:xfrm>
          <a:prstGeom prst="rect">
            <a:avLst/>
          </a:prstGeom>
          <a:noFill/>
        </p:spPr>
        <p:txBody>
          <a:bodyPr wrap="square" anchor="t">
            <a:spAutoFit/>
          </a:bodyPr>
          <a:lstStyle/>
          <a:p>
            <a:pPr algn="ctr">
              <a:spcAft>
                <a:spcPts val="400"/>
              </a:spcAft>
            </a:pPr>
            <a:r>
              <a:rPr sz="1300" b="0">
                <a:solidFill>
                  <a:srgbClr val="161B26"/>
                </a:solidFill>
                <a:latin typeface="Arial"/>
              </a:rPr>
              <a:t>Log group
stores</a:t>
            </a:r>
          </a:p>
        </p:txBody>
      </p:sp>
      <p:sp>
        <p:nvSpPr>
          <p:cNvPr id="18" name="TextBox 17"/>
          <p:cNvSpPr txBox="1"/>
          <p:nvPr/>
        </p:nvSpPr>
        <p:spPr>
          <a:xfrm>
            <a:off x="4078224"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19" name="Rectangle 18"/>
          <p:cNvSpPr/>
          <p:nvPr/>
        </p:nvSpPr>
        <p:spPr>
          <a:xfrm>
            <a:off x="4425696"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25696" y="2331720"/>
            <a:ext cx="15133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807458" y="2715768"/>
            <a:ext cx="749808" cy="74980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07458"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4572000" y="3749040"/>
            <a:ext cx="1220724" cy="1325880"/>
          </a:xfrm>
          <a:prstGeom prst="rect">
            <a:avLst/>
          </a:prstGeom>
          <a:noFill/>
        </p:spPr>
        <p:txBody>
          <a:bodyPr wrap="square" anchor="t">
            <a:spAutoFit/>
          </a:bodyPr>
          <a:lstStyle/>
          <a:p>
            <a:pPr algn="ctr">
              <a:spcAft>
                <a:spcPts val="400"/>
              </a:spcAft>
            </a:pPr>
            <a:r>
              <a:rPr sz="1300" b="0">
                <a:solidFill>
                  <a:srgbClr val="161B26"/>
                </a:solidFill>
                <a:latin typeface="Arial"/>
              </a:rPr>
              <a:t>Metric filter
extracts</a:t>
            </a:r>
          </a:p>
        </p:txBody>
      </p:sp>
      <p:sp>
        <p:nvSpPr>
          <p:cNvPr id="24" name="TextBox 23"/>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25" name="Rectangle 24"/>
          <p:cNvSpPr/>
          <p:nvPr/>
        </p:nvSpPr>
        <p:spPr>
          <a:xfrm>
            <a:off x="6249924"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49924" y="2331720"/>
            <a:ext cx="15133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631686" y="2715768"/>
            <a:ext cx="749808" cy="74980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3168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6396228" y="3749040"/>
            <a:ext cx="1220724" cy="1325880"/>
          </a:xfrm>
          <a:prstGeom prst="rect">
            <a:avLst/>
          </a:prstGeom>
          <a:noFill/>
        </p:spPr>
        <p:txBody>
          <a:bodyPr wrap="square" anchor="t">
            <a:spAutoFit/>
          </a:bodyPr>
          <a:lstStyle/>
          <a:p>
            <a:pPr algn="ctr">
              <a:spcAft>
                <a:spcPts val="400"/>
              </a:spcAft>
            </a:pPr>
            <a:r>
              <a:rPr sz="1300" b="0">
                <a:solidFill>
                  <a:srgbClr val="161B26"/>
                </a:solidFill>
                <a:latin typeface="Arial"/>
              </a:rPr>
              <a:t>Metric
published</a:t>
            </a:r>
          </a:p>
        </p:txBody>
      </p:sp>
      <p:sp>
        <p:nvSpPr>
          <p:cNvPr id="30" name="TextBox 29"/>
          <p:cNvSpPr txBox="1"/>
          <p:nvPr/>
        </p:nvSpPr>
        <p:spPr>
          <a:xfrm>
            <a:off x="7726680"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31" name="Rectangle 30"/>
          <p:cNvSpPr/>
          <p:nvPr/>
        </p:nvSpPr>
        <p:spPr>
          <a:xfrm>
            <a:off x="8074152"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074152" y="2331720"/>
            <a:ext cx="15133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455914" y="2715768"/>
            <a:ext cx="749808" cy="74980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45591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8220456" y="3749040"/>
            <a:ext cx="1220724" cy="1325880"/>
          </a:xfrm>
          <a:prstGeom prst="rect">
            <a:avLst/>
          </a:prstGeom>
          <a:noFill/>
        </p:spPr>
        <p:txBody>
          <a:bodyPr wrap="square" anchor="t">
            <a:spAutoFit/>
          </a:bodyPr>
          <a:lstStyle/>
          <a:p>
            <a:pPr algn="ctr">
              <a:spcAft>
                <a:spcPts val="400"/>
              </a:spcAft>
            </a:pPr>
            <a:r>
              <a:rPr sz="1300" b="0">
                <a:solidFill>
                  <a:srgbClr val="161B26"/>
                </a:solidFill>
                <a:latin typeface="Arial"/>
              </a:rPr>
              <a:t>Alarm
evaluates</a:t>
            </a:r>
          </a:p>
        </p:txBody>
      </p:sp>
      <p:sp>
        <p:nvSpPr>
          <p:cNvPr id="36" name="TextBox 35"/>
          <p:cNvSpPr txBox="1"/>
          <p:nvPr/>
        </p:nvSpPr>
        <p:spPr>
          <a:xfrm>
            <a:off x="9550908"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37" name="Rectangle 36"/>
          <p:cNvSpPr/>
          <p:nvPr/>
        </p:nvSpPr>
        <p:spPr>
          <a:xfrm>
            <a:off x="9898380"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98380" y="2331720"/>
            <a:ext cx="15133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280142" y="2715768"/>
            <a:ext cx="749808" cy="74980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280142"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6</a:t>
            </a:r>
          </a:p>
        </p:txBody>
      </p:sp>
      <p:sp>
        <p:nvSpPr>
          <p:cNvPr id="41" name="TextBox 40"/>
          <p:cNvSpPr txBox="1"/>
          <p:nvPr/>
        </p:nvSpPr>
        <p:spPr>
          <a:xfrm>
            <a:off x="10044684" y="3749040"/>
            <a:ext cx="1220724" cy="1325880"/>
          </a:xfrm>
          <a:prstGeom prst="rect">
            <a:avLst/>
          </a:prstGeom>
          <a:noFill/>
        </p:spPr>
        <p:txBody>
          <a:bodyPr wrap="square" anchor="t">
            <a:spAutoFit/>
          </a:bodyPr>
          <a:lstStyle/>
          <a:p>
            <a:pPr algn="ctr">
              <a:spcAft>
                <a:spcPts val="400"/>
              </a:spcAft>
            </a:pPr>
            <a:r>
              <a:rPr sz="1300" b="0">
                <a:solidFill>
                  <a:srgbClr val="161B26"/>
                </a:solidFill>
                <a:latin typeface="Arial"/>
              </a:rPr>
              <a:t>SNS / action
notifies</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363</a:t>
            </a:r>
          </a:p>
        </p:txBody>
      </p:sp>
    </p:spTree>
  </p:cSld>
  <p:clrMapOvr>
    <a:masterClrMapping/>
  </p:clrMapOvr>
  <p:transition xmlns:p14="http://schemas.microsoft.com/office/powerpoint/2010/main" p14:dur="380">
    <p:fade/>
  </p:transition>
</p:sld>
</file>

<file path=ppt/slides/slide3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DEEPER TROUBLESHOOTING</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CloudWatch Insights Tools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190341" cy="502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6968" y="1783080"/>
            <a:ext cx="3007461" cy="502920"/>
          </a:xfrm>
          <a:prstGeom prst="rect">
            <a:avLst/>
          </a:prstGeom>
          <a:noFill/>
        </p:spPr>
        <p:txBody>
          <a:bodyPr wrap="square" anchor="ctr">
            <a:spAutoFit/>
          </a:bodyPr>
          <a:lstStyle/>
          <a:p>
            <a:pPr algn="l">
              <a:spcAft>
                <a:spcPts val="400"/>
              </a:spcAft>
            </a:pPr>
            <a:r>
              <a:rPr sz="1400" b="1">
                <a:solidFill>
                  <a:srgbClr val="FFFFFF"/>
                </a:solidFill>
                <a:latin typeface="Arial"/>
              </a:rPr>
              <a:t>Tool</a:t>
            </a:r>
          </a:p>
        </p:txBody>
      </p:sp>
      <p:sp>
        <p:nvSpPr>
          <p:cNvPr id="9" name="Rectangle 8"/>
          <p:cNvSpPr/>
          <p:nvPr/>
        </p:nvSpPr>
        <p:spPr>
          <a:xfrm>
            <a:off x="3967581" y="1783080"/>
            <a:ext cx="7444130" cy="502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077309" y="1783080"/>
            <a:ext cx="7261250" cy="502920"/>
          </a:xfrm>
          <a:prstGeom prst="rect">
            <a:avLst/>
          </a:prstGeom>
          <a:noFill/>
        </p:spPr>
        <p:txBody>
          <a:bodyPr wrap="square" anchor="ctr">
            <a:spAutoFit/>
          </a:bodyPr>
          <a:lstStyle/>
          <a:p>
            <a:pPr algn="ctr">
              <a:spcAft>
                <a:spcPts val="400"/>
              </a:spcAft>
            </a:pPr>
            <a:r>
              <a:rPr sz="1400" b="1">
                <a:solidFill>
                  <a:srgbClr val="FFFFFF"/>
                </a:solidFill>
                <a:latin typeface="Arial"/>
              </a:rPr>
              <a:t>What it shows</a:t>
            </a:r>
          </a:p>
        </p:txBody>
      </p:sp>
      <p:sp>
        <p:nvSpPr>
          <p:cNvPr id="11" name="Rectangle 10"/>
          <p:cNvSpPr/>
          <p:nvPr/>
        </p:nvSpPr>
        <p:spPr>
          <a:xfrm>
            <a:off x="777240" y="2286000"/>
            <a:ext cx="3190341"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86968" y="2286000"/>
            <a:ext cx="3007461" cy="822960"/>
          </a:xfrm>
          <a:prstGeom prst="rect">
            <a:avLst/>
          </a:prstGeom>
          <a:noFill/>
        </p:spPr>
        <p:txBody>
          <a:bodyPr wrap="square" anchor="ctr">
            <a:spAutoFit/>
          </a:bodyPr>
          <a:lstStyle/>
          <a:p>
            <a:pPr algn="l">
              <a:spcAft>
                <a:spcPts val="400"/>
              </a:spcAft>
            </a:pPr>
            <a:r>
              <a:rPr sz="1250" b="1">
                <a:solidFill>
                  <a:srgbClr val="161B26"/>
                </a:solidFill>
                <a:latin typeface="Arial"/>
              </a:rPr>
              <a:t>Logs Insights</a:t>
            </a:r>
          </a:p>
        </p:txBody>
      </p:sp>
      <p:sp>
        <p:nvSpPr>
          <p:cNvPr id="13" name="Rectangle 12"/>
          <p:cNvSpPr/>
          <p:nvPr/>
        </p:nvSpPr>
        <p:spPr>
          <a:xfrm>
            <a:off x="3967581" y="2286000"/>
            <a:ext cx="7444130"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077309" y="2286000"/>
            <a:ext cx="7261250" cy="822960"/>
          </a:xfrm>
          <a:prstGeom prst="rect">
            <a:avLst/>
          </a:prstGeom>
          <a:noFill/>
        </p:spPr>
        <p:txBody>
          <a:bodyPr wrap="square" anchor="ctr">
            <a:spAutoFit/>
          </a:bodyPr>
          <a:lstStyle/>
          <a:p>
            <a:pPr algn="ctr">
              <a:spcAft>
                <a:spcPts val="400"/>
              </a:spcAft>
            </a:pPr>
            <a:r>
              <a:rPr sz="1250" b="0">
                <a:solidFill>
                  <a:srgbClr val="5B6372"/>
                </a:solidFill>
                <a:latin typeface="Arial"/>
              </a:rPr>
              <a:t>Query and analyse log data with a purpose-built language</a:t>
            </a:r>
          </a:p>
        </p:txBody>
      </p:sp>
      <p:sp>
        <p:nvSpPr>
          <p:cNvPr id="15" name="Rectangle 14"/>
          <p:cNvSpPr/>
          <p:nvPr/>
        </p:nvSpPr>
        <p:spPr>
          <a:xfrm>
            <a:off x="777240" y="3108960"/>
            <a:ext cx="3190341"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6968" y="3108960"/>
            <a:ext cx="3007461" cy="822960"/>
          </a:xfrm>
          <a:prstGeom prst="rect">
            <a:avLst/>
          </a:prstGeom>
          <a:noFill/>
        </p:spPr>
        <p:txBody>
          <a:bodyPr wrap="square" anchor="ctr">
            <a:spAutoFit/>
          </a:bodyPr>
          <a:lstStyle/>
          <a:p>
            <a:pPr algn="l">
              <a:spcAft>
                <a:spcPts val="400"/>
              </a:spcAft>
            </a:pPr>
            <a:r>
              <a:rPr sz="1250" b="1">
                <a:solidFill>
                  <a:srgbClr val="161B26"/>
                </a:solidFill>
                <a:latin typeface="Arial"/>
              </a:rPr>
              <a:t>Container Insights</a:t>
            </a:r>
          </a:p>
        </p:txBody>
      </p:sp>
      <p:sp>
        <p:nvSpPr>
          <p:cNvPr id="17" name="Rectangle 16"/>
          <p:cNvSpPr/>
          <p:nvPr/>
        </p:nvSpPr>
        <p:spPr>
          <a:xfrm>
            <a:off x="3967581" y="3108960"/>
            <a:ext cx="7444130"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077309" y="3108960"/>
            <a:ext cx="7261250" cy="822960"/>
          </a:xfrm>
          <a:prstGeom prst="rect">
            <a:avLst/>
          </a:prstGeom>
          <a:noFill/>
        </p:spPr>
        <p:txBody>
          <a:bodyPr wrap="square" anchor="ctr">
            <a:spAutoFit/>
          </a:bodyPr>
          <a:lstStyle/>
          <a:p>
            <a:pPr algn="ctr">
              <a:spcAft>
                <a:spcPts val="400"/>
              </a:spcAft>
            </a:pPr>
            <a:r>
              <a:rPr sz="1250" b="0">
                <a:solidFill>
                  <a:srgbClr val="5B6372"/>
                </a:solidFill>
                <a:latin typeface="Arial"/>
              </a:rPr>
              <a:t>Metrics &amp; logs for ECS/EKS/Fargate</a:t>
            </a:r>
          </a:p>
        </p:txBody>
      </p:sp>
      <p:sp>
        <p:nvSpPr>
          <p:cNvPr id="19" name="Rectangle 18"/>
          <p:cNvSpPr/>
          <p:nvPr/>
        </p:nvSpPr>
        <p:spPr>
          <a:xfrm>
            <a:off x="777240" y="3931920"/>
            <a:ext cx="3190341"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3931920"/>
            <a:ext cx="3007461" cy="822960"/>
          </a:xfrm>
          <a:prstGeom prst="rect">
            <a:avLst/>
          </a:prstGeom>
          <a:noFill/>
        </p:spPr>
        <p:txBody>
          <a:bodyPr wrap="square" anchor="ctr">
            <a:spAutoFit/>
          </a:bodyPr>
          <a:lstStyle/>
          <a:p>
            <a:pPr algn="l">
              <a:spcAft>
                <a:spcPts val="400"/>
              </a:spcAft>
            </a:pPr>
            <a:r>
              <a:rPr sz="1250" b="1">
                <a:solidFill>
                  <a:srgbClr val="161B26"/>
                </a:solidFill>
                <a:latin typeface="Arial"/>
              </a:rPr>
              <a:t>Lambda Insights</a:t>
            </a:r>
          </a:p>
        </p:txBody>
      </p:sp>
      <p:sp>
        <p:nvSpPr>
          <p:cNvPr id="21" name="Rectangle 20"/>
          <p:cNvSpPr/>
          <p:nvPr/>
        </p:nvSpPr>
        <p:spPr>
          <a:xfrm>
            <a:off x="3967581" y="3931920"/>
            <a:ext cx="7444130"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077309" y="3931920"/>
            <a:ext cx="7261250" cy="822960"/>
          </a:xfrm>
          <a:prstGeom prst="rect">
            <a:avLst/>
          </a:prstGeom>
          <a:noFill/>
        </p:spPr>
        <p:txBody>
          <a:bodyPr wrap="square" anchor="ctr">
            <a:spAutoFit/>
          </a:bodyPr>
          <a:lstStyle/>
          <a:p>
            <a:pPr algn="ctr">
              <a:spcAft>
                <a:spcPts val="400"/>
              </a:spcAft>
            </a:pPr>
            <a:r>
              <a:rPr sz="1250" b="0">
                <a:solidFill>
                  <a:srgbClr val="5B6372"/>
                </a:solidFill>
                <a:latin typeface="Arial"/>
              </a:rPr>
              <a:t>Performance &amp; cold-start metrics for functions</a:t>
            </a:r>
          </a:p>
        </p:txBody>
      </p:sp>
      <p:sp>
        <p:nvSpPr>
          <p:cNvPr id="23" name="Rectangle 22"/>
          <p:cNvSpPr/>
          <p:nvPr/>
        </p:nvSpPr>
        <p:spPr>
          <a:xfrm>
            <a:off x="777240" y="4754880"/>
            <a:ext cx="3190341"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86968" y="4754880"/>
            <a:ext cx="3007461" cy="822960"/>
          </a:xfrm>
          <a:prstGeom prst="rect">
            <a:avLst/>
          </a:prstGeom>
          <a:noFill/>
        </p:spPr>
        <p:txBody>
          <a:bodyPr wrap="square" anchor="ctr">
            <a:spAutoFit/>
          </a:bodyPr>
          <a:lstStyle/>
          <a:p>
            <a:pPr algn="l">
              <a:spcAft>
                <a:spcPts val="400"/>
              </a:spcAft>
            </a:pPr>
            <a:r>
              <a:rPr sz="1250" b="1">
                <a:solidFill>
                  <a:srgbClr val="161B26"/>
                </a:solidFill>
                <a:latin typeface="Arial"/>
              </a:rPr>
              <a:t>AWS X-Ray</a:t>
            </a:r>
          </a:p>
        </p:txBody>
      </p:sp>
      <p:sp>
        <p:nvSpPr>
          <p:cNvPr id="25" name="Rectangle 24"/>
          <p:cNvSpPr/>
          <p:nvPr/>
        </p:nvSpPr>
        <p:spPr>
          <a:xfrm>
            <a:off x="3967581" y="4754880"/>
            <a:ext cx="7444130"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077309" y="4754880"/>
            <a:ext cx="7261250" cy="822960"/>
          </a:xfrm>
          <a:prstGeom prst="rect">
            <a:avLst/>
          </a:prstGeom>
          <a:noFill/>
        </p:spPr>
        <p:txBody>
          <a:bodyPr wrap="square" anchor="ctr">
            <a:spAutoFit/>
          </a:bodyPr>
          <a:lstStyle/>
          <a:p>
            <a:pPr algn="ctr">
              <a:spcAft>
                <a:spcPts val="400"/>
              </a:spcAft>
            </a:pPr>
            <a:r>
              <a:rPr sz="1250" b="0">
                <a:solidFill>
                  <a:srgbClr val="5B6372"/>
                </a:solidFill>
                <a:latin typeface="Arial"/>
              </a:rPr>
              <a:t>Distributed traces across microservices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364</a:t>
            </a:r>
          </a:p>
        </p:txBody>
      </p:sp>
    </p:spTree>
  </p:cSld>
  <p:clrMapOvr>
    <a:masterClrMapping/>
  </p:clrMapOvr>
  <p:transition xmlns:p14="http://schemas.microsoft.com/office/powerpoint/2010/main" p14:dur="380">
    <p:fade/>
  </p:transition>
</p:sld>
</file>

<file path=ppt/slides/slide3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IN DEPTH</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The three pillars — metrics, logs, traces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51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212080"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38528"/>
            <a:ext cx="4754880" cy="365760"/>
          </a:xfrm>
          <a:prstGeom prst="rect">
            <a:avLst/>
          </a:prstGeom>
          <a:noFill/>
        </p:spPr>
        <p:txBody>
          <a:bodyPr wrap="square" anchor="t">
            <a:spAutoFit/>
          </a:bodyPr>
          <a:lstStyle/>
          <a:p>
            <a:pPr algn="l">
              <a:spcAft>
                <a:spcPts val="400"/>
              </a:spcAft>
            </a:pPr>
            <a:r>
              <a:rPr sz="1200" b="1">
                <a:solidFill>
                  <a:srgbClr val="F59E0B"/>
                </a:solidFill>
                <a:latin typeface="Arial"/>
              </a:rPr>
              <a:t>IN DEPTH</a:t>
            </a:r>
          </a:p>
        </p:txBody>
      </p:sp>
      <p:sp>
        <p:nvSpPr>
          <p:cNvPr id="10" name="TextBox 9"/>
          <p:cNvSpPr txBox="1"/>
          <p:nvPr/>
        </p:nvSpPr>
        <p:spPr>
          <a:xfrm>
            <a:off x="1005840" y="2377440"/>
            <a:ext cx="4754880" cy="3566160"/>
          </a:xfrm>
          <a:prstGeom prst="rect">
            <a:avLst/>
          </a:prstGeom>
          <a:noFill/>
        </p:spPr>
        <p:txBody>
          <a:bodyPr wrap="square">
            <a:spAutoFit/>
          </a:bodyPr>
          <a:lstStyle/>
          <a:p>
            <a:pPr>
              <a:spcAft>
                <a:spcPts val="800"/>
              </a:spcAft>
            </a:pPr>
            <a:r>
              <a:rPr sz="1350" b="0">
                <a:solidFill>
                  <a:srgbClr val="161B26"/>
                </a:solidFill>
                <a:latin typeface="Arial"/>
              </a:rPr>
              <a:t>•  Metrics are cheap numeric time-series for trends and alarms; logs are detailed event records for context; traces follow one request across services.</a:t>
            </a:r>
          </a:p>
          <a:p>
            <a:pPr>
              <a:spcAft>
                <a:spcPts val="800"/>
              </a:spcAft>
            </a:pPr>
            <a:r>
              <a:rPr sz="1350" b="0">
                <a:solidFill>
                  <a:srgbClr val="161B26"/>
                </a:solidFill>
                <a:latin typeface="Arial"/>
              </a:rPr>
              <a:t>•  CloudWatch provides metrics and logs; X-Ray provides distributed traces.</a:t>
            </a:r>
          </a:p>
          <a:p>
            <a:pPr>
              <a:spcAft>
                <a:spcPts val="800"/>
              </a:spcAft>
            </a:pPr>
            <a:r>
              <a:rPr sz="1350" b="0">
                <a:solidFill>
                  <a:srgbClr val="161B26"/>
                </a:solidFill>
                <a:latin typeface="Arial"/>
              </a:rPr>
              <a:t>•  You alarm on metrics, investigate with logs, and localise with traces.</a:t>
            </a:r>
          </a:p>
        </p:txBody>
      </p:sp>
      <p:sp>
        <p:nvSpPr>
          <p:cNvPr id="11" name="Rectangle 10"/>
          <p:cNvSpPr/>
          <p:nvPr/>
        </p:nvSpPr>
        <p:spPr>
          <a:xfrm>
            <a:off x="6172200" y="178308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1783080"/>
            <a:ext cx="91440" cy="1325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8232" y="1892808"/>
            <a:ext cx="4782312" cy="320040"/>
          </a:xfrm>
          <a:prstGeom prst="rect">
            <a:avLst/>
          </a:prstGeom>
          <a:noFill/>
        </p:spPr>
        <p:txBody>
          <a:bodyPr wrap="square" anchor="t">
            <a:spAutoFit/>
          </a:bodyPr>
          <a:lstStyle/>
          <a:p>
            <a:pPr algn="l">
              <a:spcAft>
                <a:spcPts val="400"/>
              </a:spcAft>
            </a:pPr>
            <a:r>
              <a:rPr sz="1150" b="1">
                <a:solidFill>
                  <a:srgbClr val="F59E0B"/>
                </a:solidFill>
                <a:latin typeface="Arial"/>
              </a:rPr>
              <a:t>WHY IT MATTERS</a:t>
            </a:r>
          </a:p>
        </p:txBody>
      </p:sp>
      <p:sp>
        <p:nvSpPr>
          <p:cNvPr id="14" name="TextBox 13"/>
          <p:cNvSpPr txBox="1"/>
          <p:nvPr/>
        </p:nvSpPr>
        <p:spPr>
          <a:xfrm>
            <a:off x="6428232" y="222199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Each pillar answers a different question — 'is it broken?', 'why?', and 'where?' — and you need all three to troubleshoot fast.</a:t>
            </a:r>
          </a:p>
        </p:txBody>
      </p:sp>
      <p:sp>
        <p:nvSpPr>
          <p:cNvPr id="15" name="Rectangle 14"/>
          <p:cNvSpPr/>
          <p:nvPr/>
        </p:nvSpPr>
        <p:spPr>
          <a:xfrm>
            <a:off x="6172200" y="324612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3246120"/>
            <a:ext cx="91440" cy="13258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8232" y="3355848"/>
            <a:ext cx="4782312" cy="320040"/>
          </a:xfrm>
          <a:prstGeom prst="rect">
            <a:avLst/>
          </a:prstGeom>
          <a:noFill/>
        </p:spPr>
        <p:txBody>
          <a:bodyPr wrap="square" anchor="t">
            <a:spAutoFit/>
          </a:bodyPr>
          <a:lstStyle/>
          <a:p>
            <a:pPr algn="l">
              <a:spcAft>
                <a:spcPts val="400"/>
              </a:spcAft>
            </a:pPr>
            <a:r>
              <a:rPr sz="1150" b="1">
                <a:solidFill>
                  <a:srgbClr val="C0392B"/>
                </a:solidFill>
                <a:latin typeface="Arial"/>
              </a:rPr>
              <a:t>FAILURE MODE</a:t>
            </a:r>
          </a:p>
        </p:txBody>
      </p:sp>
      <p:sp>
        <p:nvSpPr>
          <p:cNvPr id="18" name="TextBox 17"/>
          <p:cNvSpPr txBox="1"/>
          <p:nvPr/>
        </p:nvSpPr>
        <p:spPr>
          <a:xfrm>
            <a:off x="6428232" y="368503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Logging everything but graphing nothing leaves you searching text during an outage instead of seeing the problem at a glance.</a:t>
            </a:r>
          </a:p>
        </p:txBody>
      </p:sp>
      <p:sp>
        <p:nvSpPr>
          <p:cNvPr id="19" name="Rectangle 18"/>
          <p:cNvSpPr/>
          <p:nvPr/>
        </p:nvSpPr>
        <p:spPr>
          <a:xfrm>
            <a:off x="6172200" y="470916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2200" y="4709160"/>
            <a:ext cx="91440" cy="1325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28232" y="4818888"/>
            <a:ext cx="4782312" cy="320040"/>
          </a:xfrm>
          <a:prstGeom prst="rect">
            <a:avLst/>
          </a:prstGeom>
          <a:noFill/>
        </p:spPr>
        <p:txBody>
          <a:bodyPr wrap="square" anchor="t">
            <a:spAutoFit/>
          </a:bodyPr>
          <a:lstStyle/>
          <a:p>
            <a:pPr algn="l">
              <a:spcAft>
                <a:spcPts val="400"/>
              </a:spcAft>
            </a:pPr>
            <a:r>
              <a:rPr sz="1150" b="1">
                <a:solidFill>
                  <a:srgbClr val="F59E0B"/>
                </a:solidFill>
                <a:latin typeface="Arial"/>
              </a:rPr>
              <a:t>TRADE-OFF / DECISION</a:t>
            </a:r>
          </a:p>
        </p:txBody>
      </p:sp>
      <p:sp>
        <p:nvSpPr>
          <p:cNvPr id="22" name="TextBox 21"/>
          <p:cNvSpPr txBox="1"/>
          <p:nvPr/>
        </p:nvSpPr>
        <p:spPr>
          <a:xfrm>
            <a:off x="6428232" y="514807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High-cardinality metrics and verbose logs cost money and can slow queries — sample and aggregate deliberately.</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365</a:t>
            </a:r>
          </a:p>
        </p:txBody>
      </p:sp>
    </p:spTree>
  </p:cSld>
  <p:clrMapOvr>
    <a:masterClrMapping/>
  </p:clrMapOvr>
  <p:transition xmlns:p14="http://schemas.microsoft.com/office/powerpoint/2010/main" p14:dur="380">
    <p:fade/>
  </p:transition>
</p:sld>
</file>

<file path=ppt/slides/slide3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IN DEPTH</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500" b="1">
                <a:solidFill>
                  <a:srgbClr val="161B26"/>
                </a:solidFill>
                <a:latin typeface="Arial"/>
              </a:rPr>
              <a:t>CloudWatch metrics model — namespaces, dimensions, statistics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51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212080"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38528"/>
            <a:ext cx="4754880" cy="365760"/>
          </a:xfrm>
          <a:prstGeom prst="rect">
            <a:avLst/>
          </a:prstGeom>
          <a:noFill/>
        </p:spPr>
        <p:txBody>
          <a:bodyPr wrap="square" anchor="t">
            <a:spAutoFit/>
          </a:bodyPr>
          <a:lstStyle/>
          <a:p>
            <a:pPr algn="l">
              <a:spcAft>
                <a:spcPts val="400"/>
              </a:spcAft>
            </a:pPr>
            <a:r>
              <a:rPr sz="1200" b="1">
                <a:solidFill>
                  <a:srgbClr val="F59E0B"/>
                </a:solidFill>
                <a:latin typeface="Arial"/>
              </a:rPr>
              <a:t>IN DEPTH</a:t>
            </a:r>
          </a:p>
        </p:txBody>
      </p:sp>
      <p:sp>
        <p:nvSpPr>
          <p:cNvPr id="10" name="TextBox 9"/>
          <p:cNvSpPr txBox="1"/>
          <p:nvPr/>
        </p:nvSpPr>
        <p:spPr>
          <a:xfrm>
            <a:off x="1005840" y="2377440"/>
            <a:ext cx="4754880" cy="3566160"/>
          </a:xfrm>
          <a:prstGeom prst="rect">
            <a:avLst/>
          </a:prstGeom>
          <a:noFill/>
        </p:spPr>
        <p:txBody>
          <a:bodyPr wrap="square">
            <a:spAutoFit/>
          </a:bodyPr>
          <a:lstStyle/>
          <a:p>
            <a:pPr>
              <a:spcAft>
                <a:spcPts val="800"/>
              </a:spcAft>
            </a:pPr>
            <a:r>
              <a:rPr sz="1350" b="0">
                <a:solidFill>
                  <a:srgbClr val="161B26"/>
                </a:solidFill>
                <a:latin typeface="Arial"/>
              </a:rPr>
              <a:t>•  Metrics live in namespaces (AWS/EC2, custom app namespaces) and are identified by dimensions such as InstanceId.</a:t>
            </a:r>
          </a:p>
          <a:p>
            <a:pPr>
              <a:spcAft>
                <a:spcPts val="800"/>
              </a:spcAft>
            </a:pPr>
            <a:r>
              <a:rPr sz="1350" b="0">
                <a:solidFill>
                  <a:srgbClr val="161B26"/>
                </a:solidFill>
                <a:latin typeface="Arial"/>
              </a:rPr>
              <a:t>•  Statistics (Average, Sum, p90, p99) and periods aggregate raw data points over time.</a:t>
            </a:r>
          </a:p>
          <a:p>
            <a:pPr>
              <a:spcAft>
                <a:spcPts val="800"/>
              </a:spcAft>
            </a:pPr>
            <a:r>
              <a:rPr sz="1350" b="0">
                <a:solidFill>
                  <a:srgbClr val="161B26"/>
                </a:solidFill>
                <a:latin typeface="Arial"/>
              </a:rPr>
              <a:t>•  Custom and high-resolution metrics capture application-level signals AWS can't see.</a:t>
            </a:r>
          </a:p>
        </p:txBody>
      </p:sp>
      <p:sp>
        <p:nvSpPr>
          <p:cNvPr id="11" name="Rectangle 10"/>
          <p:cNvSpPr/>
          <p:nvPr/>
        </p:nvSpPr>
        <p:spPr>
          <a:xfrm>
            <a:off x="6172200" y="178308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1783080"/>
            <a:ext cx="91440" cy="1325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8232" y="1892808"/>
            <a:ext cx="4782312" cy="320040"/>
          </a:xfrm>
          <a:prstGeom prst="rect">
            <a:avLst/>
          </a:prstGeom>
          <a:noFill/>
        </p:spPr>
        <p:txBody>
          <a:bodyPr wrap="square" anchor="t">
            <a:spAutoFit/>
          </a:bodyPr>
          <a:lstStyle/>
          <a:p>
            <a:pPr algn="l">
              <a:spcAft>
                <a:spcPts val="400"/>
              </a:spcAft>
            </a:pPr>
            <a:r>
              <a:rPr sz="1150" b="1">
                <a:solidFill>
                  <a:srgbClr val="F59E0B"/>
                </a:solidFill>
                <a:latin typeface="Arial"/>
              </a:rPr>
              <a:t>WHY IT MATTERS</a:t>
            </a:r>
          </a:p>
        </p:txBody>
      </p:sp>
      <p:sp>
        <p:nvSpPr>
          <p:cNvPr id="14" name="TextBox 13"/>
          <p:cNvSpPr txBox="1"/>
          <p:nvPr/>
        </p:nvSpPr>
        <p:spPr>
          <a:xfrm>
            <a:off x="6428232" y="222199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Understanding dimensions and percentiles is what separates 'average looks fine' from seeing the p99 pain real users feel.</a:t>
            </a:r>
          </a:p>
        </p:txBody>
      </p:sp>
      <p:sp>
        <p:nvSpPr>
          <p:cNvPr id="15" name="Rectangle 14"/>
          <p:cNvSpPr/>
          <p:nvPr/>
        </p:nvSpPr>
        <p:spPr>
          <a:xfrm>
            <a:off x="6172200" y="324612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3246120"/>
            <a:ext cx="91440" cy="13258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8232" y="3355848"/>
            <a:ext cx="4782312" cy="320040"/>
          </a:xfrm>
          <a:prstGeom prst="rect">
            <a:avLst/>
          </a:prstGeom>
          <a:noFill/>
        </p:spPr>
        <p:txBody>
          <a:bodyPr wrap="square" anchor="t">
            <a:spAutoFit/>
          </a:bodyPr>
          <a:lstStyle/>
          <a:p>
            <a:pPr algn="l">
              <a:spcAft>
                <a:spcPts val="400"/>
              </a:spcAft>
            </a:pPr>
            <a:r>
              <a:rPr sz="1150" b="1">
                <a:solidFill>
                  <a:srgbClr val="C0392B"/>
                </a:solidFill>
                <a:latin typeface="Arial"/>
              </a:rPr>
              <a:t>FAILURE MODE</a:t>
            </a:r>
          </a:p>
        </p:txBody>
      </p:sp>
      <p:sp>
        <p:nvSpPr>
          <p:cNvPr id="18" name="TextBox 17"/>
          <p:cNvSpPr txBox="1"/>
          <p:nvPr/>
        </p:nvSpPr>
        <p:spPr>
          <a:xfrm>
            <a:off x="6428232" y="368503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Alarming on Average hides tail latency — the average is healthy while your slowest 1% of users are timing out.</a:t>
            </a:r>
          </a:p>
        </p:txBody>
      </p:sp>
      <p:sp>
        <p:nvSpPr>
          <p:cNvPr id="19" name="Rectangle 18"/>
          <p:cNvSpPr/>
          <p:nvPr/>
        </p:nvSpPr>
        <p:spPr>
          <a:xfrm>
            <a:off x="6172200" y="470916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2200" y="4709160"/>
            <a:ext cx="91440" cy="1325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28232" y="4818888"/>
            <a:ext cx="4782312" cy="320040"/>
          </a:xfrm>
          <a:prstGeom prst="rect">
            <a:avLst/>
          </a:prstGeom>
          <a:noFill/>
        </p:spPr>
        <p:txBody>
          <a:bodyPr wrap="square" anchor="t">
            <a:spAutoFit/>
          </a:bodyPr>
          <a:lstStyle/>
          <a:p>
            <a:pPr algn="l">
              <a:spcAft>
                <a:spcPts val="400"/>
              </a:spcAft>
            </a:pPr>
            <a:r>
              <a:rPr sz="1150" b="1">
                <a:solidFill>
                  <a:srgbClr val="F59E0B"/>
                </a:solidFill>
                <a:latin typeface="Arial"/>
              </a:rPr>
              <a:t>TRADE-OFF / DECISION</a:t>
            </a:r>
          </a:p>
        </p:txBody>
      </p:sp>
      <p:sp>
        <p:nvSpPr>
          <p:cNvPr id="22" name="TextBox 21"/>
          <p:cNvSpPr txBox="1"/>
          <p:nvPr/>
        </p:nvSpPr>
        <p:spPr>
          <a:xfrm>
            <a:off x="6428232" y="514807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Percentiles and high-resolution metrics cost more but reveal problems averages mask.</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366</a:t>
            </a:r>
          </a:p>
        </p:txBody>
      </p:sp>
    </p:spTree>
  </p:cSld>
  <p:clrMapOvr>
    <a:masterClrMapping/>
  </p:clrMapOvr>
  <p:transition xmlns:p14="http://schemas.microsoft.com/office/powerpoint/2010/main" p14:dur="380">
    <p:fade/>
  </p:transition>
</p:sld>
</file>

<file path=ppt/slides/slide3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IN DEPTH</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Turning logs into signals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51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212080"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38528"/>
            <a:ext cx="4754880" cy="365760"/>
          </a:xfrm>
          <a:prstGeom prst="rect">
            <a:avLst/>
          </a:prstGeom>
          <a:noFill/>
        </p:spPr>
        <p:txBody>
          <a:bodyPr wrap="square" anchor="t">
            <a:spAutoFit/>
          </a:bodyPr>
          <a:lstStyle/>
          <a:p>
            <a:pPr algn="l">
              <a:spcAft>
                <a:spcPts val="400"/>
              </a:spcAft>
            </a:pPr>
            <a:r>
              <a:rPr sz="1200" b="1">
                <a:solidFill>
                  <a:srgbClr val="F59E0B"/>
                </a:solidFill>
                <a:latin typeface="Arial"/>
              </a:rPr>
              <a:t>IN DEPTH</a:t>
            </a:r>
          </a:p>
        </p:txBody>
      </p:sp>
      <p:sp>
        <p:nvSpPr>
          <p:cNvPr id="10" name="TextBox 9"/>
          <p:cNvSpPr txBox="1"/>
          <p:nvPr/>
        </p:nvSpPr>
        <p:spPr>
          <a:xfrm>
            <a:off x="1005840" y="2377440"/>
            <a:ext cx="4754880" cy="3566160"/>
          </a:xfrm>
          <a:prstGeom prst="rect">
            <a:avLst/>
          </a:prstGeom>
          <a:noFill/>
        </p:spPr>
        <p:txBody>
          <a:bodyPr wrap="square">
            <a:spAutoFit/>
          </a:bodyPr>
          <a:lstStyle/>
          <a:p>
            <a:pPr>
              <a:spcAft>
                <a:spcPts val="800"/>
              </a:spcAft>
            </a:pPr>
            <a:r>
              <a:rPr sz="1350" b="0">
                <a:solidFill>
                  <a:srgbClr val="161B26"/>
                </a:solidFill>
                <a:latin typeface="Arial"/>
              </a:rPr>
              <a:t>•  CloudWatch Logs stores log groups and streams; metric filters extract numbers (e.g. ERROR count) from log text.</a:t>
            </a:r>
          </a:p>
          <a:p>
            <a:pPr>
              <a:spcAft>
                <a:spcPts val="800"/>
              </a:spcAft>
            </a:pPr>
            <a:r>
              <a:rPr sz="1350" b="0">
                <a:solidFill>
                  <a:srgbClr val="161B26"/>
                </a:solidFill>
                <a:latin typeface="Arial"/>
              </a:rPr>
              <a:t>•  Subscription filters stream logs in real time to Lambda, OpenSearch or Kinesis for processing.</a:t>
            </a:r>
          </a:p>
          <a:p>
            <a:pPr>
              <a:spcAft>
                <a:spcPts val="800"/>
              </a:spcAft>
            </a:pPr>
            <a:r>
              <a:rPr sz="1350" b="0">
                <a:solidFill>
                  <a:srgbClr val="161B26"/>
                </a:solidFill>
                <a:latin typeface="Arial"/>
              </a:rPr>
              <a:t>•  Logs Insights queries large volumes with a purpose-built query language.</a:t>
            </a:r>
          </a:p>
        </p:txBody>
      </p:sp>
      <p:sp>
        <p:nvSpPr>
          <p:cNvPr id="11" name="Rectangle 10"/>
          <p:cNvSpPr/>
          <p:nvPr/>
        </p:nvSpPr>
        <p:spPr>
          <a:xfrm>
            <a:off x="6172200" y="178308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1783080"/>
            <a:ext cx="91440" cy="1325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8232" y="1892808"/>
            <a:ext cx="4782312" cy="320040"/>
          </a:xfrm>
          <a:prstGeom prst="rect">
            <a:avLst/>
          </a:prstGeom>
          <a:noFill/>
        </p:spPr>
        <p:txBody>
          <a:bodyPr wrap="square" anchor="t">
            <a:spAutoFit/>
          </a:bodyPr>
          <a:lstStyle/>
          <a:p>
            <a:pPr algn="l">
              <a:spcAft>
                <a:spcPts val="400"/>
              </a:spcAft>
            </a:pPr>
            <a:r>
              <a:rPr sz="1150" b="1">
                <a:solidFill>
                  <a:srgbClr val="F59E0B"/>
                </a:solidFill>
                <a:latin typeface="Arial"/>
              </a:rPr>
              <a:t>WHY IT MATTERS</a:t>
            </a:r>
          </a:p>
        </p:txBody>
      </p:sp>
      <p:sp>
        <p:nvSpPr>
          <p:cNvPr id="14" name="TextBox 13"/>
          <p:cNvSpPr txBox="1"/>
          <p:nvPr/>
        </p:nvSpPr>
        <p:spPr>
          <a:xfrm>
            <a:off x="6428232" y="222199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A metric filter converts unsearchable text into an alarmable metric, so logs drive automated response, not just post-hoc reading.</a:t>
            </a:r>
          </a:p>
        </p:txBody>
      </p:sp>
      <p:sp>
        <p:nvSpPr>
          <p:cNvPr id="15" name="Rectangle 14"/>
          <p:cNvSpPr/>
          <p:nvPr/>
        </p:nvSpPr>
        <p:spPr>
          <a:xfrm>
            <a:off x="6172200" y="324612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3246120"/>
            <a:ext cx="91440" cy="13258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8232" y="3355848"/>
            <a:ext cx="4782312" cy="320040"/>
          </a:xfrm>
          <a:prstGeom prst="rect">
            <a:avLst/>
          </a:prstGeom>
          <a:noFill/>
        </p:spPr>
        <p:txBody>
          <a:bodyPr wrap="square" anchor="t">
            <a:spAutoFit/>
          </a:bodyPr>
          <a:lstStyle/>
          <a:p>
            <a:pPr algn="l">
              <a:spcAft>
                <a:spcPts val="400"/>
              </a:spcAft>
            </a:pPr>
            <a:r>
              <a:rPr sz="1150" b="1">
                <a:solidFill>
                  <a:srgbClr val="C0392B"/>
                </a:solidFill>
                <a:latin typeface="Arial"/>
              </a:rPr>
              <a:t>FAILURE MODE</a:t>
            </a:r>
          </a:p>
        </p:txBody>
      </p:sp>
      <p:sp>
        <p:nvSpPr>
          <p:cNvPr id="18" name="TextBox 17"/>
          <p:cNvSpPr txBox="1"/>
          <p:nvPr/>
        </p:nvSpPr>
        <p:spPr>
          <a:xfrm>
            <a:off x="6428232" y="368503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Relying on humans to eyeball logs means problems are found only after users complain.</a:t>
            </a:r>
          </a:p>
        </p:txBody>
      </p:sp>
      <p:sp>
        <p:nvSpPr>
          <p:cNvPr id="19" name="Rectangle 18"/>
          <p:cNvSpPr/>
          <p:nvPr/>
        </p:nvSpPr>
        <p:spPr>
          <a:xfrm>
            <a:off x="6172200" y="470916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2200" y="4709160"/>
            <a:ext cx="91440" cy="1325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28232" y="4818888"/>
            <a:ext cx="4782312" cy="320040"/>
          </a:xfrm>
          <a:prstGeom prst="rect">
            <a:avLst/>
          </a:prstGeom>
          <a:noFill/>
        </p:spPr>
        <p:txBody>
          <a:bodyPr wrap="square" anchor="t">
            <a:spAutoFit/>
          </a:bodyPr>
          <a:lstStyle/>
          <a:p>
            <a:pPr algn="l">
              <a:spcAft>
                <a:spcPts val="400"/>
              </a:spcAft>
            </a:pPr>
            <a:r>
              <a:rPr sz="1150" b="1">
                <a:solidFill>
                  <a:srgbClr val="F59E0B"/>
                </a:solidFill>
                <a:latin typeface="Arial"/>
              </a:rPr>
              <a:t>TRADE-OFF / DECISION</a:t>
            </a:r>
          </a:p>
        </p:txBody>
      </p:sp>
      <p:sp>
        <p:nvSpPr>
          <p:cNvPr id="22" name="TextBox 21"/>
          <p:cNvSpPr txBox="1"/>
          <p:nvPr/>
        </p:nvSpPr>
        <p:spPr>
          <a:xfrm>
            <a:off x="6428232" y="514807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Extracting many metrics from logs adds cost and complexity — extract the few that drive alarms and dashboards.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367</a:t>
            </a:r>
          </a:p>
        </p:txBody>
      </p:sp>
    </p:spTree>
  </p:cSld>
  <p:clrMapOvr>
    <a:masterClrMapping/>
  </p:clrMapOvr>
  <p:transition xmlns:p14="http://schemas.microsoft.com/office/powerpoint/2010/main" p14:dur="380">
    <p:fade/>
  </p:transition>
</p:sld>
</file>

<file path=ppt/slides/slide3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IN DEPTH</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Alarms, composite alarms and anomaly detection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51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212080"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38528"/>
            <a:ext cx="4754880" cy="365760"/>
          </a:xfrm>
          <a:prstGeom prst="rect">
            <a:avLst/>
          </a:prstGeom>
          <a:noFill/>
        </p:spPr>
        <p:txBody>
          <a:bodyPr wrap="square" anchor="t">
            <a:spAutoFit/>
          </a:bodyPr>
          <a:lstStyle/>
          <a:p>
            <a:pPr algn="l">
              <a:spcAft>
                <a:spcPts val="400"/>
              </a:spcAft>
            </a:pPr>
            <a:r>
              <a:rPr sz="1200" b="1">
                <a:solidFill>
                  <a:srgbClr val="F59E0B"/>
                </a:solidFill>
                <a:latin typeface="Arial"/>
              </a:rPr>
              <a:t>IN DEPTH</a:t>
            </a:r>
          </a:p>
        </p:txBody>
      </p:sp>
      <p:sp>
        <p:nvSpPr>
          <p:cNvPr id="10" name="TextBox 9"/>
          <p:cNvSpPr txBox="1"/>
          <p:nvPr/>
        </p:nvSpPr>
        <p:spPr>
          <a:xfrm>
            <a:off x="1005840" y="2377440"/>
            <a:ext cx="4754880" cy="3566160"/>
          </a:xfrm>
          <a:prstGeom prst="rect">
            <a:avLst/>
          </a:prstGeom>
          <a:noFill/>
        </p:spPr>
        <p:txBody>
          <a:bodyPr wrap="square">
            <a:spAutoFit/>
          </a:bodyPr>
          <a:lstStyle/>
          <a:p>
            <a:pPr>
              <a:spcAft>
                <a:spcPts val="800"/>
              </a:spcAft>
            </a:pPr>
            <a:r>
              <a:rPr sz="1350" b="0">
                <a:solidFill>
                  <a:srgbClr val="161B26"/>
                </a:solidFill>
                <a:latin typeface="Arial"/>
              </a:rPr>
              <a:t>•  Alarms evaluate a metric against a threshold over N periods and change state (OK/ALARM/INSUFFICIENT_DATA).</a:t>
            </a:r>
          </a:p>
          <a:p>
            <a:pPr>
              <a:spcAft>
                <a:spcPts val="800"/>
              </a:spcAft>
            </a:pPr>
            <a:r>
              <a:rPr sz="1350" b="0">
                <a:solidFill>
                  <a:srgbClr val="161B26"/>
                </a:solidFill>
                <a:latin typeface="Arial"/>
              </a:rPr>
              <a:t>•  Composite alarms combine several alarms with AND/OR to cut noise and express real conditions.</a:t>
            </a:r>
          </a:p>
          <a:p>
            <a:pPr>
              <a:spcAft>
                <a:spcPts val="800"/>
              </a:spcAft>
            </a:pPr>
            <a:r>
              <a:rPr sz="1350" b="0">
                <a:solidFill>
                  <a:srgbClr val="161B26"/>
                </a:solidFill>
                <a:latin typeface="Arial"/>
              </a:rPr>
              <a:t>•  Anomaly detection bands adapt to normal daily/weekly patterns instead of a fixed line.</a:t>
            </a:r>
          </a:p>
        </p:txBody>
      </p:sp>
      <p:sp>
        <p:nvSpPr>
          <p:cNvPr id="11" name="Rectangle 10"/>
          <p:cNvSpPr/>
          <p:nvPr/>
        </p:nvSpPr>
        <p:spPr>
          <a:xfrm>
            <a:off x="6172200" y="178308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1783080"/>
            <a:ext cx="91440" cy="1325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8232" y="1892808"/>
            <a:ext cx="4782312" cy="320040"/>
          </a:xfrm>
          <a:prstGeom prst="rect">
            <a:avLst/>
          </a:prstGeom>
          <a:noFill/>
        </p:spPr>
        <p:txBody>
          <a:bodyPr wrap="square" anchor="t">
            <a:spAutoFit/>
          </a:bodyPr>
          <a:lstStyle/>
          <a:p>
            <a:pPr algn="l">
              <a:spcAft>
                <a:spcPts val="400"/>
              </a:spcAft>
            </a:pPr>
            <a:r>
              <a:rPr sz="1150" b="1">
                <a:solidFill>
                  <a:srgbClr val="F59E0B"/>
                </a:solidFill>
                <a:latin typeface="Arial"/>
              </a:rPr>
              <a:t>WHY IT MATTERS</a:t>
            </a:r>
          </a:p>
        </p:txBody>
      </p:sp>
      <p:sp>
        <p:nvSpPr>
          <p:cNvPr id="14" name="TextBox 13"/>
          <p:cNvSpPr txBox="1"/>
          <p:nvPr/>
        </p:nvSpPr>
        <p:spPr>
          <a:xfrm>
            <a:off x="6428232" y="222199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Well-designed alarms notify on real, actionable conditions and feed the automated incident response in Domain 5.</a:t>
            </a:r>
          </a:p>
        </p:txBody>
      </p:sp>
      <p:sp>
        <p:nvSpPr>
          <p:cNvPr id="15" name="Rectangle 14"/>
          <p:cNvSpPr/>
          <p:nvPr/>
        </p:nvSpPr>
        <p:spPr>
          <a:xfrm>
            <a:off x="6172200" y="324612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3246120"/>
            <a:ext cx="91440" cy="13258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8232" y="3355848"/>
            <a:ext cx="4782312" cy="320040"/>
          </a:xfrm>
          <a:prstGeom prst="rect">
            <a:avLst/>
          </a:prstGeom>
          <a:noFill/>
        </p:spPr>
        <p:txBody>
          <a:bodyPr wrap="square" anchor="t">
            <a:spAutoFit/>
          </a:bodyPr>
          <a:lstStyle/>
          <a:p>
            <a:pPr algn="l">
              <a:spcAft>
                <a:spcPts val="400"/>
              </a:spcAft>
            </a:pPr>
            <a:r>
              <a:rPr sz="1150" b="1">
                <a:solidFill>
                  <a:srgbClr val="C0392B"/>
                </a:solidFill>
                <a:latin typeface="Arial"/>
              </a:rPr>
              <a:t>FAILURE MODE</a:t>
            </a:r>
          </a:p>
        </p:txBody>
      </p:sp>
      <p:sp>
        <p:nvSpPr>
          <p:cNvPr id="18" name="TextBox 17"/>
          <p:cNvSpPr txBox="1"/>
          <p:nvPr/>
        </p:nvSpPr>
        <p:spPr>
          <a:xfrm>
            <a:off x="6428232" y="368503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Too many noisy single-metric alarms cause alert fatigue; responders learn to ignore the pager.</a:t>
            </a:r>
          </a:p>
        </p:txBody>
      </p:sp>
      <p:sp>
        <p:nvSpPr>
          <p:cNvPr id="19" name="Rectangle 18"/>
          <p:cNvSpPr/>
          <p:nvPr/>
        </p:nvSpPr>
        <p:spPr>
          <a:xfrm>
            <a:off x="6172200" y="470916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2200" y="4709160"/>
            <a:ext cx="91440" cy="1325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28232" y="4818888"/>
            <a:ext cx="4782312" cy="320040"/>
          </a:xfrm>
          <a:prstGeom prst="rect">
            <a:avLst/>
          </a:prstGeom>
          <a:noFill/>
        </p:spPr>
        <p:txBody>
          <a:bodyPr wrap="square" anchor="t">
            <a:spAutoFit/>
          </a:bodyPr>
          <a:lstStyle/>
          <a:p>
            <a:pPr algn="l">
              <a:spcAft>
                <a:spcPts val="400"/>
              </a:spcAft>
            </a:pPr>
            <a:r>
              <a:rPr sz="1150" b="1">
                <a:solidFill>
                  <a:srgbClr val="F59E0B"/>
                </a:solidFill>
                <a:latin typeface="Arial"/>
              </a:rPr>
              <a:t>TRADE-OFF / DECISION</a:t>
            </a:r>
          </a:p>
        </p:txBody>
      </p:sp>
      <p:sp>
        <p:nvSpPr>
          <p:cNvPr id="22" name="TextBox 21"/>
          <p:cNvSpPr txBox="1"/>
          <p:nvPr/>
        </p:nvSpPr>
        <p:spPr>
          <a:xfrm>
            <a:off x="6428232" y="514807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Anomaly detection reduces false alarms but needs a learning period and can miss slow, gradual regressions.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368</a:t>
            </a:r>
          </a:p>
        </p:txBody>
      </p:sp>
    </p:spTree>
  </p:cSld>
  <p:clrMapOvr>
    <a:masterClrMapping/>
  </p:clrMapOvr>
  <p:transition xmlns:p14="http://schemas.microsoft.com/office/powerpoint/2010/main" p14:dur="380">
    <p:fade/>
  </p:transition>
</p:sld>
</file>

<file path=ppt/slides/slide3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IN DEPTH</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Dashboards and the single pane of glass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51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212080"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38528"/>
            <a:ext cx="4754880" cy="365760"/>
          </a:xfrm>
          <a:prstGeom prst="rect">
            <a:avLst/>
          </a:prstGeom>
          <a:noFill/>
        </p:spPr>
        <p:txBody>
          <a:bodyPr wrap="square" anchor="t">
            <a:spAutoFit/>
          </a:bodyPr>
          <a:lstStyle/>
          <a:p>
            <a:pPr algn="l">
              <a:spcAft>
                <a:spcPts val="400"/>
              </a:spcAft>
            </a:pPr>
            <a:r>
              <a:rPr sz="1200" b="1">
                <a:solidFill>
                  <a:srgbClr val="F59E0B"/>
                </a:solidFill>
                <a:latin typeface="Arial"/>
              </a:rPr>
              <a:t>IN DEPTH</a:t>
            </a:r>
          </a:p>
        </p:txBody>
      </p:sp>
      <p:sp>
        <p:nvSpPr>
          <p:cNvPr id="10" name="TextBox 9"/>
          <p:cNvSpPr txBox="1"/>
          <p:nvPr/>
        </p:nvSpPr>
        <p:spPr>
          <a:xfrm>
            <a:off x="1005840" y="2377440"/>
            <a:ext cx="4754880" cy="3566160"/>
          </a:xfrm>
          <a:prstGeom prst="rect">
            <a:avLst/>
          </a:prstGeom>
          <a:noFill/>
        </p:spPr>
        <p:txBody>
          <a:bodyPr wrap="square">
            <a:spAutoFit/>
          </a:bodyPr>
          <a:lstStyle/>
          <a:p>
            <a:pPr>
              <a:spcAft>
                <a:spcPts val="800"/>
              </a:spcAft>
            </a:pPr>
            <a:r>
              <a:rPr sz="1350" b="0">
                <a:solidFill>
                  <a:srgbClr val="161B26"/>
                </a:solidFill>
                <a:latin typeface="Arial"/>
              </a:rPr>
              <a:t>•  Dashboards correlate metrics, logs and alarm state so responders see the whole system in one view.</a:t>
            </a:r>
          </a:p>
          <a:p>
            <a:pPr>
              <a:spcAft>
                <a:spcPts val="800"/>
              </a:spcAft>
            </a:pPr>
            <a:r>
              <a:rPr sz="1350" b="0">
                <a:solidFill>
                  <a:srgbClr val="161B26"/>
                </a:solidFill>
                <a:latin typeface="Arial"/>
              </a:rPr>
              <a:t>•  Service and cross-account dashboards aggregate telemetry from many sources.</a:t>
            </a:r>
          </a:p>
          <a:p>
            <a:pPr>
              <a:spcAft>
                <a:spcPts val="800"/>
              </a:spcAft>
            </a:pPr>
            <a:r>
              <a:rPr sz="1350" b="0">
                <a:solidFill>
                  <a:srgbClr val="161B26"/>
                </a:solidFill>
                <a:latin typeface="Arial"/>
              </a:rPr>
              <a:t>•  The best dashboards are organised around user journeys and the golden signals, not raw resource lists.</a:t>
            </a:r>
          </a:p>
        </p:txBody>
      </p:sp>
      <p:sp>
        <p:nvSpPr>
          <p:cNvPr id="11" name="Rectangle 10"/>
          <p:cNvSpPr/>
          <p:nvPr/>
        </p:nvSpPr>
        <p:spPr>
          <a:xfrm>
            <a:off x="6172200" y="178308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1783080"/>
            <a:ext cx="91440" cy="1325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8232" y="1892808"/>
            <a:ext cx="4782312" cy="320040"/>
          </a:xfrm>
          <a:prstGeom prst="rect">
            <a:avLst/>
          </a:prstGeom>
          <a:noFill/>
        </p:spPr>
        <p:txBody>
          <a:bodyPr wrap="square" anchor="t">
            <a:spAutoFit/>
          </a:bodyPr>
          <a:lstStyle/>
          <a:p>
            <a:pPr algn="l">
              <a:spcAft>
                <a:spcPts val="400"/>
              </a:spcAft>
            </a:pPr>
            <a:r>
              <a:rPr sz="1150" b="1">
                <a:solidFill>
                  <a:srgbClr val="F59E0B"/>
                </a:solidFill>
                <a:latin typeface="Arial"/>
              </a:rPr>
              <a:t>WHY IT MATTERS</a:t>
            </a:r>
          </a:p>
        </p:txBody>
      </p:sp>
      <p:sp>
        <p:nvSpPr>
          <p:cNvPr id="14" name="TextBox 13"/>
          <p:cNvSpPr txBox="1"/>
          <p:nvPr/>
        </p:nvSpPr>
        <p:spPr>
          <a:xfrm>
            <a:off x="6428232" y="222199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During an incident a good dashboard turns minutes of hunting into seconds of seeing — it is a force multiplier for MTTR.</a:t>
            </a:r>
          </a:p>
        </p:txBody>
      </p:sp>
      <p:sp>
        <p:nvSpPr>
          <p:cNvPr id="15" name="Rectangle 14"/>
          <p:cNvSpPr/>
          <p:nvPr/>
        </p:nvSpPr>
        <p:spPr>
          <a:xfrm>
            <a:off x="6172200" y="324612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3246120"/>
            <a:ext cx="91440" cy="13258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8232" y="3355848"/>
            <a:ext cx="4782312" cy="320040"/>
          </a:xfrm>
          <a:prstGeom prst="rect">
            <a:avLst/>
          </a:prstGeom>
          <a:noFill/>
        </p:spPr>
        <p:txBody>
          <a:bodyPr wrap="square" anchor="t">
            <a:spAutoFit/>
          </a:bodyPr>
          <a:lstStyle/>
          <a:p>
            <a:pPr algn="l">
              <a:spcAft>
                <a:spcPts val="400"/>
              </a:spcAft>
            </a:pPr>
            <a:r>
              <a:rPr sz="1150" b="1">
                <a:solidFill>
                  <a:srgbClr val="C0392B"/>
                </a:solidFill>
                <a:latin typeface="Arial"/>
              </a:rPr>
              <a:t>FAILURE MODE</a:t>
            </a:r>
          </a:p>
        </p:txBody>
      </p:sp>
      <p:sp>
        <p:nvSpPr>
          <p:cNvPr id="18" name="TextBox 17"/>
          <p:cNvSpPr txBox="1"/>
          <p:nvPr/>
        </p:nvSpPr>
        <p:spPr>
          <a:xfrm>
            <a:off x="6428232" y="368503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A wall of 200 unlabelled graphs is as useless as none — no one can spot the anomaly under pressure.</a:t>
            </a:r>
          </a:p>
        </p:txBody>
      </p:sp>
      <p:sp>
        <p:nvSpPr>
          <p:cNvPr id="19" name="Rectangle 18"/>
          <p:cNvSpPr/>
          <p:nvPr/>
        </p:nvSpPr>
        <p:spPr>
          <a:xfrm>
            <a:off x="6172200" y="470916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2200" y="4709160"/>
            <a:ext cx="91440" cy="1325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28232" y="4818888"/>
            <a:ext cx="4782312" cy="320040"/>
          </a:xfrm>
          <a:prstGeom prst="rect">
            <a:avLst/>
          </a:prstGeom>
          <a:noFill/>
        </p:spPr>
        <p:txBody>
          <a:bodyPr wrap="square" anchor="t">
            <a:spAutoFit/>
          </a:bodyPr>
          <a:lstStyle/>
          <a:p>
            <a:pPr algn="l">
              <a:spcAft>
                <a:spcPts val="400"/>
              </a:spcAft>
            </a:pPr>
            <a:r>
              <a:rPr sz="1150" b="1">
                <a:solidFill>
                  <a:srgbClr val="F59E0B"/>
                </a:solidFill>
                <a:latin typeface="Arial"/>
              </a:rPr>
              <a:t>TRADE-OFF / DECISION</a:t>
            </a:r>
          </a:p>
        </p:txBody>
      </p:sp>
      <p:sp>
        <p:nvSpPr>
          <p:cNvPr id="22" name="TextBox 21"/>
          <p:cNvSpPr txBox="1"/>
          <p:nvPr/>
        </p:nvSpPr>
        <p:spPr>
          <a:xfrm>
            <a:off x="6428232" y="514807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Curated dashboards need maintenance as the system changes — stale dashboards mislead.</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369</a:t>
            </a:r>
          </a:p>
        </p:txBody>
      </p:sp>
    </p:spTree>
  </p:cSld>
  <p:clrMapOvr>
    <a:masterClrMapping/>
  </p:clrMapOvr>
  <p:transition xmlns:p14="http://schemas.microsoft.com/office/powerpoint/2010/main" p14:dur="380">
    <p:fade/>
  </p:transition>
</p:sld>
</file>

<file path=ppt/slides/slide3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IN DEPTH</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Distributed tracing with X-Ray</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51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212080"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38528"/>
            <a:ext cx="4754880" cy="365760"/>
          </a:xfrm>
          <a:prstGeom prst="rect">
            <a:avLst/>
          </a:prstGeom>
          <a:noFill/>
        </p:spPr>
        <p:txBody>
          <a:bodyPr wrap="square" anchor="t">
            <a:spAutoFit/>
          </a:bodyPr>
          <a:lstStyle/>
          <a:p>
            <a:pPr algn="l">
              <a:spcAft>
                <a:spcPts val="400"/>
              </a:spcAft>
            </a:pPr>
            <a:r>
              <a:rPr sz="1200" b="1">
                <a:solidFill>
                  <a:srgbClr val="F59E0B"/>
                </a:solidFill>
                <a:latin typeface="Arial"/>
              </a:rPr>
              <a:t>IN DEPTH</a:t>
            </a:r>
          </a:p>
        </p:txBody>
      </p:sp>
      <p:sp>
        <p:nvSpPr>
          <p:cNvPr id="10" name="TextBox 9"/>
          <p:cNvSpPr txBox="1"/>
          <p:nvPr/>
        </p:nvSpPr>
        <p:spPr>
          <a:xfrm>
            <a:off x="1005840" y="2377440"/>
            <a:ext cx="4754880" cy="3566160"/>
          </a:xfrm>
          <a:prstGeom prst="rect">
            <a:avLst/>
          </a:prstGeom>
          <a:noFill/>
        </p:spPr>
        <p:txBody>
          <a:bodyPr wrap="square">
            <a:spAutoFit/>
          </a:bodyPr>
          <a:lstStyle/>
          <a:p>
            <a:pPr>
              <a:spcAft>
                <a:spcPts val="800"/>
              </a:spcAft>
            </a:pPr>
            <a:r>
              <a:rPr sz="1350" b="0">
                <a:solidFill>
                  <a:srgbClr val="161B26"/>
                </a:solidFill>
                <a:latin typeface="Arial"/>
              </a:rPr>
              <a:t>•  X-Ray captures a trace per request and a service map of dependencies and latencies.</a:t>
            </a:r>
          </a:p>
          <a:p>
            <a:pPr>
              <a:spcAft>
                <a:spcPts val="800"/>
              </a:spcAft>
            </a:pPr>
            <a:r>
              <a:rPr sz="1350" b="0">
                <a:solidFill>
                  <a:srgbClr val="161B26"/>
                </a:solidFill>
                <a:latin typeface="Arial"/>
              </a:rPr>
              <a:t>•  Traces reveal which downstream call in a chain is slow or failing.</a:t>
            </a:r>
          </a:p>
          <a:p>
            <a:pPr>
              <a:spcAft>
                <a:spcPts val="800"/>
              </a:spcAft>
            </a:pPr>
            <a:r>
              <a:rPr sz="1350" b="0">
                <a:solidFill>
                  <a:srgbClr val="161B26"/>
                </a:solidFill>
                <a:latin typeface="Arial"/>
              </a:rPr>
              <a:t>•  Sampling keeps overhead and cost bounded on high-traffic services.</a:t>
            </a:r>
          </a:p>
        </p:txBody>
      </p:sp>
      <p:sp>
        <p:nvSpPr>
          <p:cNvPr id="11" name="Rectangle 10"/>
          <p:cNvSpPr/>
          <p:nvPr/>
        </p:nvSpPr>
        <p:spPr>
          <a:xfrm>
            <a:off x="6172200" y="178308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1783080"/>
            <a:ext cx="91440" cy="1325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8232" y="1892808"/>
            <a:ext cx="4782312" cy="320040"/>
          </a:xfrm>
          <a:prstGeom prst="rect">
            <a:avLst/>
          </a:prstGeom>
          <a:noFill/>
        </p:spPr>
        <p:txBody>
          <a:bodyPr wrap="square" anchor="t">
            <a:spAutoFit/>
          </a:bodyPr>
          <a:lstStyle/>
          <a:p>
            <a:pPr algn="l">
              <a:spcAft>
                <a:spcPts val="400"/>
              </a:spcAft>
            </a:pPr>
            <a:r>
              <a:rPr sz="1150" b="1">
                <a:solidFill>
                  <a:srgbClr val="F59E0B"/>
                </a:solidFill>
                <a:latin typeface="Arial"/>
              </a:rPr>
              <a:t>WHY IT MATTERS</a:t>
            </a:r>
          </a:p>
        </p:txBody>
      </p:sp>
      <p:sp>
        <p:nvSpPr>
          <p:cNvPr id="14" name="TextBox 13"/>
          <p:cNvSpPr txBox="1"/>
          <p:nvPr/>
        </p:nvSpPr>
        <p:spPr>
          <a:xfrm>
            <a:off x="6428232" y="222199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In microservices, a symptom (slow checkout) and its cause (a slow third-party call three hops away) are far apart — tracing connects them.</a:t>
            </a:r>
          </a:p>
        </p:txBody>
      </p:sp>
      <p:sp>
        <p:nvSpPr>
          <p:cNvPr id="15" name="Rectangle 14"/>
          <p:cNvSpPr/>
          <p:nvPr/>
        </p:nvSpPr>
        <p:spPr>
          <a:xfrm>
            <a:off x="6172200" y="324612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3246120"/>
            <a:ext cx="91440" cy="13258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8232" y="3355848"/>
            <a:ext cx="4782312" cy="320040"/>
          </a:xfrm>
          <a:prstGeom prst="rect">
            <a:avLst/>
          </a:prstGeom>
          <a:noFill/>
        </p:spPr>
        <p:txBody>
          <a:bodyPr wrap="square" anchor="t">
            <a:spAutoFit/>
          </a:bodyPr>
          <a:lstStyle/>
          <a:p>
            <a:pPr algn="l">
              <a:spcAft>
                <a:spcPts val="400"/>
              </a:spcAft>
            </a:pPr>
            <a:r>
              <a:rPr sz="1150" b="1">
                <a:solidFill>
                  <a:srgbClr val="C0392B"/>
                </a:solidFill>
                <a:latin typeface="Arial"/>
              </a:rPr>
              <a:t>FAILURE MODE</a:t>
            </a:r>
          </a:p>
        </p:txBody>
      </p:sp>
      <p:sp>
        <p:nvSpPr>
          <p:cNvPr id="18" name="TextBox 17"/>
          <p:cNvSpPr txBox="1"/>
          <p:nvPr/>
        </p:nvSpPr>
        <p:spPr>
          <a:xfrm>
            <a:off x="6428232" y="368503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Without tracing, teams blame each other's services because no one can see the end-to-end request path.</a:t>
            </a:r>
          </a:p>
        </p:txBody>
      </p:sp>
      <p:sp>
        <p:nvSpPr>
          <p:cNvPr id="19" name="Rectangle 18"/>
          <p:cNvSpPr/>
          <p:nvPr/>
        </p:nvSpPr>
        <p:spPr>
          <a:xfrm>
            <a:off x="6172200" y="470916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2200" y="4709160"/>
            <a:ext cx="91440" cy="1325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28232" y="4818888"/>
            <a:ext cx="4782312" cy="320040"/>
          </a:xfrm>
          <a:prstGeom prst="rect">
            <a:avLst/>
          </a:prstGeom>
          <a:noFill/>
        </p:spPr>
        <p:txBody>
          <a:bodyPr wrap="square" anchor="t">
            <a:spAutoFit/>
          </a:bodyPr>
          <a:lstStyle/>
          <a:p>
            <a:pPr algn="l">
              <a:spcAft>
                <a:spcPts val="400"/>
              </a:spcAft>
            </a:pPr>
            <a:r>
              <a:rPr sz="1150" b="1">
                <a:solidFill>
                  <a:srgbClr val="F59E0B"/>
                </a:solidFill>
                <a:latin typeface="Arial"/>
              </a:rPr>
              <a:t>TRADE-OFF / DECISION</a:t>
            </a:r>
          </a:p>
        </p:txBody>
      </p:sp>
      <p:sp>
        <p:nvSpPr>
          <p:cNvPr id="22" name="TextBox 21"/>
          <p:cNvSpPr txBox="1"/>
          <p:nvPr/>
        </p:nvSpPr>
        <p:spPr>
          <a:xfrm>
            <a:off x="6428232" y="514807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Full tracing is expensive at scale — sampling trades completeness for affordable, representative visibility.</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370</a:t>
            </a:r>
          </a:p>
        </p:txBody>
      </p:sp>
    </p:spTree>
  </p:cSld>
  <p:clrMapOvr>
    <a:masterClrMapping/>
  </p:clrMapOvr>
  <p:transition xmlns:p14="http://schemas.microsoft.com/office/powerpoint/2010/main" p14:dur="380">
    <p:fade/>
  </p:transition>
</p:sld>
</file>

<file path=ppt/slides/slide3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IN DEPTH</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500" b="1">
                <a:solidFill>
                  <a:srgbClr val="161B26"/>
                </a:solidFill>
                <a:latin typeface="Arial"/>
              </a:rPr>
              <a:t>Observability at scale — agents, OpenTelemetry, cross-account</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51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212080"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38528"/>
            <a:ext cx="4754880" cy="365760"/>
          </a:xfrm>
          <a:prstGeom prst="rect">
            <a:avLst/>
          </a:prstGeom>
          <a:noFill/>
        </p:spPr>
        <p:txBody>
          <a:bodyPr wrap="square" anchor="t">
            <a:spAutoFit/>
          </a:bodyPr>
          <a:lstStyle/>
          <a:p>
            <a:pPr algn="l">
              <a:spcAft>
                <a:spcPts val="400"/>
              </a:spcAft>
            </a:pPr>
            <a:r>
              <a:rPr sz="1200" b="1">
                <a:solidFill>
                  <a:srgbClr val="F59E0B"/>
                </a:solidFill>
                <a:latin typeface="Arial"/>
              </a:rPr>
              <a:t>IN DEPTH</a:t>
            </a:r>
          </a:p>
        </p:txBody>
      </p:sp>
      <p:sp>
        <p:nvSpPr>
          <p:cNvPr id="10" name="TextBox 9"/>
          <p:cNvSpPr txBox="1"/>
          <p:nvPr/>
        </p:nvSpPr>
        <p:spPr>
          <a:xfrm>
            <a:off x="1005840" y="2377440"/>
            <a:ext cx="4754880" cy="3566160"/>
          </a:xfrm>
          <a:prstGeom prst="rect">
            <a:avLst/>
          </a:prstGeom>
          <a:noFill/>
        </p:spPr>
        <p:txBody>
          <a:bodyPr wrap="square">
            <a:spAutoFit/>
          </a:bodyPr>
          <a:lstStyle/>
          <a:p>
            <a:pPr>
              <a:spcAft>
                <a:spcPts val="800"/>
              </a:spcAft>
            </a:pPr>
            <a:r>
              <a:rPr sz="1350" b="0">
                <a:solidFill>
                  <a:srgbClr val="161B26"/>
                </a:solidFill>
                <a:latin typeface="Arial"/>
              </a:rPr>
              <a:t>•  The CloudWatch agent and the AWS Distro for OpenTelemetry collect host and application telemetry.</a:t>
            </a:r>
          </a:p>
          <a:p>
            <a:pPr>
              <a:spcAft>
                <a:spcPts val="800"/>
              </a:spcAft>
            </a:pPr>
            <a:r>
              <a:rPr sz="1350" b="0">
                <a:solidFill>
                  <a:srgbClr val="161B26"/>
                </a:solidFill>
                <a:latin typeface="Arial"/>
              </a:rPr>
              <a:t>•  Container Insights and Lambda Insights add curated metrics for ECS/EKS and functions.</a:t>
            </a:r>
          </a:p>
          <a:p>
            <a:pPr>
              <a:spcAft>
                <a:spcPts val="800"/>
              </a:spcAft>
            </a:pPr>
            <a:r>
              <a:rPr sz="1350" b="0">
                <a:solidFill>
                  <a:srgbClr val="161B26"/>
                </a:solidFill>
                <a:latin typeface="Arial"/>
              </a:rPr>
              <a:t>•  Cross-account observability centralises telemetry from many accounts into a monitoring account.</a:t>
            </a:r>
          </a:p>
        </p:txBody>
      </p:sp>
      <p:sp>
        <p:nvSpPr>
          <p:cNvPr id="11" name="Rectangle 10"/>
          <p:cNvSpPr/>
          <p:nvPr/>
        </p:nvSpPr>
        <p:spPr>
          <a:xfrm>
            <a:off x="6172200" y="178308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1783080"/>
            <a:ext cx="91440" cy="1325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8232" y="1892808"/>
            <a:ext cx="4782312" cy="320040"/>
          </a:xfrm>
          <a:prstGeom prst="rect">
            <a:avLst/>
          </a:prstGeom>
          <a:noFill/>
        </p:spPr>
        <p:txBody>
          <a:bodyPr wrap="square" anchor="t">
            <a:spAutoFit/>
          </a:bodyPr>
          <a:lstStyle/>
          <a:p>
            <a:pPr algn="l">
              <a:spcAft>
                <a:spcPts val="400"/>
              </a:spcAft>
            </a:pPr>
            <a:r>
              <a:rPr sz="1150" b="1">
                <a:solidFill>
                  <a:srgbClr val="F59E0B"/>
                </a:solidFill>
                <a:latin typeface="Arial"/>
              </a:rPr>
              <a:t>WHY IT MATTERS</a:t>
            </a:r>
          </a:p>
        </p:txBody>
      </p:sp>
      <p:sp>
        <p:nvSpPr>
          <p:cNvPr id="14" name="TextBox 13"/>
          <p:cNvSpPr txBox="1"/>
          <p:nvPr/>
        </p:nvSpPr>
        <p:spPr>
          <a:xfrm>
            <a:off x="6428232" y="222199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A consistent collection standard across a large estate makes telemetry comparable and centrally queryable.</a:t>
            </a:r>
          </a:p>
        </p:txBody>
      </p:sp>
      <p:sp>
        <p:nvSpPr>
          <p:cNvPr id="15" name="Rectangle 14"/>
          <p:cNvSpPr/>
          <p:nvPr/>
        </p:nvSpPr>
        <p:spPr>
          <a:xfrm>
            <a:off x="6172200" y="324612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3246120"/>
            <a:ext cx="91440" cy="13258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8232" y="3355848"/>
            <a:ext cx="4782312" cy="320040"/>
          </a:xfrm>
          <a:prstGeom prst="rect">
            <a:avLst/>
          </a:prstGeom>
          <a:noFill/>
        </p:spPr>
        <p:txBody>
          <a:bodyPr wrap="square" anchor="t">
            <a:spAutoFit/>
          </a:bodyPr>
          <a:lstStyle/>
          <a:p>
            <a:pPr algn="l">
              <a:spcAft>
                <a:spcPts val="400"/>
              </a:spcAft>
            </a:pPr>
            <a:r>
              <a:rPr sz="1150" b="1">
                <a:solidFill>
                  <a:srgbClr val="C0392B"/>
                </a:solidFill>
                <a:latin typeface="Arial"/>
              </a:rPr>
              <a:t>FAILURE MODE</a:t>
            </a:r>
          </a:p>
        </p:txBody>
      </p:sp>
      <p:sp>
        <p:nvSpPr>
          <p:cNvPr id="18" name="TextBox 17"/>
          <p:cNvSpPr txBox="1"/>
          <p:nvPr/>
        </p:nvSpPr>
        <p:spPr>
          <a:xfrm>
            <a:off x="6428232" y="368503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Every team inventing its own metrics and log formats makes cross-service correlation impossible.</a:t>
            </a:r>
          </a:p>
        </p:txBody>
      </p:sp>
      <p:sp>
        <p:nvSpPr>
          <p:cNvPr id="19" name="Rectangle 18"/>
          <p:cNvSpPr/>
          <p:nvPr/>
        </p:nvSpPr>
        <p:spPr>
          <a:xfrm>
            <a:off x="6172200" y="470916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2200" y="4709160"/>
            <a:ext cx="91440" cy="1325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28232" y="4818888"/>
            <a:ext cx="4782312" cy="320040"/>
          </a:xfrm>
          <a:prstGeom prst="rect">
            <a:avLst/>
          </a:prstGeom>
          <a:noFill/>
        </p:spPr>
        <p:txBody>
          <a:bodyPr wrap="square" anchor="t">
            <a:spAutoFit/>
          </a:bodyPr>
          <a:lstStyle/>
          <a:p>
            <a:pPr algn="l">
              <a:spcAft>
                <a:spcPts val="400"/>
              </a:spcAft>
            </a:pPr>
            <a:r>
              <a:rPr sz="1150" b="1">
                <a:solidFill>
                  <a:srgbClr val="F59E0B"/>
                </a:solidFill>
                <a:latin typeface="Arial"/>
              </a:rPr>
              <a:t>TRADE-OFF / DECISION</a:t>
            </a:r>
          </a:p>
        </p:txBody>
      </p:sp>
      <p:sp>
        <p:nvSpPr>
          <p:cNvPr id="22" name="TextBox 21"/>
          <p:cNvSpPr txBox="1"/>
          <p:nvPr/>
        </p:nvSpPr>
        <p:spPr>
          <a:xfrm>
            <a:off x="6428232" y="514807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Centralisation eases correlation but concentrates cost and access — govern the monitoring account carefully.</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371</a:t>
            </a:r>
          </a:p>
        </p:txBody>
      </p:sp>
    </p:spTree>
  </p:cSld>
  <p:clrMapOvr>
    <a:masterClrMapping/>
  </p:clrMapOvr>
  <p:transition xmlns:p14="http://schemas.microsoft.com/office/powerpoint/2010/main" p14:dur="380">
    <p:fade/>
  </p:transition>
</p:sld>
</file>

<file path=ppt/slides/slide3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IN DEPTH</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The golden signals and SLOs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51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212080"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38528"/>
            <a:ext cx="4754880" cy="365760"/>
          </a:xfrm>
          <a:prstGeom prst="rect">
            <a:avLst/>
          </a:prstGeom>
          <a:noFill/>
        </p:spPr>
        <p:txBody>
          <a:bodyPr wrap="square" anchor="t">
            <a:spAutoFit/>
          </a:bodyPr>
          <a:lstStyle/>
          <a:p>
            <a:pPr algn="l">
              <a:spcAft>
                <a:spcPts val="400"/>
              </a:spcAft>
            </a:pPr>
            <a:r>
              <a:rPr sz="1200" b="1">
                <a:solidFill>
                  <a:srgbClr val="F59E0B"/>
                </a:solidFill>
                <a:latin typeface="Arial"/>
              </a:rPr>
              <a:t>IN DEPTH</a:t>
            </a:r>
          </a:p>
        </p:txBody>
      </p:sp>
      <p:sp>
        <p:nvSpPr>
          <p:cNvPr id="10" name="TextBox 9"/>
          <p:cNvSpPr txBox="1"/>
          <p:nvPr/>
        </p:nvSpPr>
        <p:spPr>
          <a:xfrm>
            <a:off x="1005840" y="2377440"/>
            <a:ext cx="4754880" cy="3566160"/>
          </a:xfrm>
          <a:prstGeom prst="rect">
            <a:avLst/>
          </a:prstGeom>
          <a:noFill/>
        </p:spPr>
        <p:txBody>
          <a:bodyPr wrap="square">
            <a:spAutoFit/>
          </a:bodyPr>
          <a:lstStyle/>
          <a:p>
            <a:pPr>
              <a:spcAft>
                <a:spcPts val="800"/>
              </a:spcAft>
            </a:pPr>
            <a:r>
              <a:rPr sz="1350" b="0">
                <a:solidFill>
                  <a:srgbClr val="161B26"/>
                </a:solidFill>
                <a:latin typeface="Arial"/>
              </a:rPr>
              <a:t>•  Latency, traffic, errors and saturation are the golden signals that describe almost any service's health.</a:t>
            </a:r>
          </a:p>
          <a:p>
            <a:pPr>
              <a:spcAft>
                <a:spcPts val="800"/>
              </a:spcAft>
            </a:pPr>
            <a:r>
              <a:rPr sz="1350" b="0">
                <a:solidFill>
                  <a:srgbClr val="161B26"/>
                </a:solidFill>
                <a:latin typeface="Arial"/>
              </a:rPr>
              <a:t>•  Service Level Objectives set target thresholds (e.g. 99.9% of requests &lt; 300ms) and an error budget.</a:t>
            </a:r>
          </a:p>
          <a:p>
            <a:pPr>
              <a:spcAft>
                <a:spcPts val="800"/>
              </a:spcAft>
            </a:pPr>
            <a:r>
              <a:rPr sz="1350" b="0">
                <a:solidFill>
                  <a:srgbClr val="161B26"/>
                </a:solidFill>
                <a:latin typeface="Arial"/>
              </a:rPr>
              <a:t>•  Alarms and dashboards are built to protect the SLO, not to watch every raw resource metric.</a:t>
            </a:r>
          </a:p>
        </p:txBody>
      </p:sp>
      <p:sp>
        <p:nvSpPr>
          <p:cNvPr id="11" name="Rectangle 10"/>
          <p:cNvSpPr/>
          <p:nvPr/>
        </p:nvSpPr>
        <p:spPr>
          <a:xfrm>
            <a:off x="6172200" y="178308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1783080"/>
            <a:ext cx="91440" cy="1325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8232" y="1892808"/>
            <a:ext cx="4782312" cy="320040"/>
          </a:xfrm>
          <a:prstGeom prst="rect">
            <a:avLst/>
          </a:prstGeom>
          <a:noFill/>
        </p:spPr>
        <p:txBody>
          <a:bodyPr wrap="square" anchor="t">
            <a:spAutoFit/>
          </a:bodyPr>
          <a:lstStyle/>
          <a:p>
            <a:pPr algn="l">
              <a:spcAft>
                <a:spcPts val="400"/>
              </a:spcAft>
            </a:pPr>
            <a:r>
              <a:rPr sz="1150" b="1">
                <a:solidFill>
                  <a:srgbClr val="F59E0B"/>
                </a:solidFill>
                <a:latin typeface="Arial"/>
              </a:rPr>
              <a:t>WHY IT MATTERS</a:t>
            </a:r>
          </a:p>
        </p:txBody>
      </p:sp>
      <p:sp>
        <p:nvSpPr>
          <p:cNvPr id="14" name="TextBox 13"/>
          <p:cNvSpPr txBox="1"/>
          <p:nvPr/>
        </p:nvSpPr>
        <p:spPr>
          <a:xfrm>
            <a:off x="6428232" y="222199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Tying monitoring to SLOs focuses attention on what users actually experience and gives an objective 'are we healthy?' answer.</a:t>
            </a:r>
          </a:p>
        </p:txBody>
      </p:sp>
      <p:sp>
        <p:nvSpPr>
          <p:cNvPr id="15" name="Rectangle 14"/>
          <p:cNvSpPr/>
          <p:nvPr/>
        </p:nvSpPr>
        <p:spPr>
          <a:xfrm>
            <a:off x="6172200" y="324612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3246120"/>
            <a:ext cx="91440" cy="13258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8232" y="3355848"/>
            <a:ext cx="4782312" cy="320040"/>
          </a:xfrm>
          <a:prstGeom prst="rect">
            <a:avLst/>
          </a:prstGeom>
          <a:noFill/>
        </p:spPr>
        <p:txBody>
          <a:bodyPr wrap="square" anchor="t">
            <a:spAutoFit/>
          </a:bodyPr>
          <a:lstStyle/>
          <a:p>
            <a:pPr algn="l">
              <a:spcAft>
                <a:spcPts val="400"/>
              </a:spcAft>
            </a:pPr>
            <a:r>
              <a:rPr sz="1150" b="1">
                <a:solidFill>
                  <a:srgbClr val="C0392B"/>
                </a:solidFill>
                <a:latin typeface="Arial"/>
              </a:rPr>
              <a:t>FAILURE MODE</a:t>
            </a:r>
          </a:p>
        </p:txBody>
      </p:sp>
      <p:sp>
        <p:nvSpPr>
          <p:cNvPr id="18" name="TextBox 17"/>
          <p:cNvSpPr txBox="1"/>
          <p:nvPr/>
        </p:nvSpPr>
        <p:spPr>
          <a:xfrm>
            <a:off x="6428232" y="368503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Alerting on CPU while the SLO quietly burns means you page on non-issues and miss the user-facing failure.</a:t>
            </a:r>
          </a:p>
        </p:txBody>
      </p:sp>
      <p:sp>
        <p:nvSpPr>
          <p:cNvPr id="19" name="Rectangle 18"/>
          <p:cNvSpPr/>
          <p:nvPr/>
        </p:nvSpPr>
        <p:spPr>
          <a:xfrm>
            <a:off x="6172200" y="470916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2200" y="4709160"/>
            <a:ext cx="91440" cy="1325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28232" y="4818888"/>
            <a:ext cx="4782312" cy="320040"/>
          </a:xfrm>
          <a:prstGeom prst="rect">
            <a:avLst/>
          </a:prstGeom>
          <a:noFill/>
        </p:spPr>
        <p:txBody>
          <a:bodyPr wrap="square" anchor="t">
            <a:spAutoFit/>
          </a:bodyPr>
          <a:lstStyle/>
          <a:p>
            <a:pPr algn="l">
              <a:spcAft>
                <a:spcPts val="400"/>
              </a:spcAft>
            </a:pPr>
            <a:r>
              <a:rPr sz="1150" b="1">
                <a:solidFill>
                  <a:srgbClr val="F59E0B"/>
                </a:solidFill>
                <a:latin typeface="Arial"/>
              </a:rPr>
              <a:t>TRADE-OFF / DECISION</a:t>
            </a:r>
          </a:p>
        </p:txBody>
      </p:sp>
      <p:sp>
        <p:nvSpPr>
          <p:cNvPr id="22" name="TextBox 21"/>
          <p:cNvSpPr txBox="1"/>
          <p:nvPr/>
        </p:nvSpPr>
        <p:spPr>
          <a:xfrm>
            <a:off x="6428232" y="514807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Strict SLOs drive reliability work but can slow feature delivery — the error budget is the negotiated balance.</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372</a:t>
            </a:r>
          </a:p>
        </p:txBody>
      </p:sp>
    </p:spTree>
  </p:cSld>
  <p:clrMapOvr>
    <a:masterClrMapping/>
  </p:clrMapOvr>
  <p:transition xmlns:p14="http://schemas.microsoft.com/office/powerpoint/2010/main" p14:dur="380">
    <p:fade/>
  </p:transition>
</p:sld>
</file>

<file path=ppt/slides/slide3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DEEPER TROUBLESHOOTING</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CloudWatch Insight Tools — Pick the Right Lens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552273" cy="502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6968" y="1783080"/>
            <a:ext cx="2369393" cy="502920"/>
          </a:xfrm>
          <a:prstGeom prst="rect">
            <a:avLst/>
          </a:prstGeom>
          <a:noFill/>
        </p:spPr>
        <p:txBody>
          <a:bodyPr wrap="square" anchor="ctr">
            <a:spAutoFit/>
          </a:bodyPr>
          <a:lstStyle/>
          <a:p>
            <a:pPr algn="l">
              <a:spcAft>
                <a:spcPts val="400"/>
              </a:spcAft>
            </a:pPr>
            <a:r>
              <a:rPr sz="1400" b="1">
                <a:solidFill>
                  <a:srgbClr val="FFFFFF"/>
                </a:solidFill>
                <a:latin typeface="Arial"/>
              </a:rPr>
              <a:t>Tool</a:t>
            </a:r>
          </a:p>
        </p:txBody>
      </p:sp>
      <p:sp>
        <p:nvSpPr>
          <p:cNvPr id="9" name="Rectangle 8"/>
          <p:cNvSpPr/>
          <p:nvPr/>
        </p:nvSpPr>
        <p:spPr>
          <a:xfrm>
            <a:off x="3329513" y="1783080"/>
            <a:ext cx="4253788" cy="502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39241" y="1783080"/>
            <a:ext cx="4070908" cy="502920"/>
          </a:xfrm>
          <a:prstGeom prst="rect">
            <a:avLst/>
          </a:prstGeom>
          <a:noFill/>
        </p:spPr>
        <p:txBody>
          <a:bodyPr wrap="square" anchor="ctr">
            <a:spAutoFit/>
          </a:bodyPr>
          <a:lstStyle/>
          <a:p>
            <a:pPr algn="ctr">
              <a:spcAft>
                <a:spcPts val="400"/>
              </a:spcAft>
            </a:pPr>
            <a:r>
              <a:rPr sz="1400" b="1">
                <a:solidFill>
                  <a:srgbClr val="FFFFFF"/>
                </a:solidFill>
                <a:latin typeface="Arial"/>
              </a:rPr>
              <a:t>What it shows</a:t>
            </a:r>
          </a:p>
        </p:txBody>
      </p:sp>
      <p:sp>
        <p:nvSpPr>
          <p:cNvPr id="11" name="Rectangle 10"/>
          <p:cNvSpPr/>
          <p:nvPr/>
        </p:nvSpPr>
        <p:spPr>
          <a:xfrm>
            <a:off x="7583301" y="1783080"/>
            <a:ext cx="3828409" cy="502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93029" y="1783080"/>
            <a:ext cx="3645529" cy="502920"/>
          </a:xfrm>
          <a:prstGeom prst="rect">
            <a:avLst/>
          </a:prstGeom>
          <a:noFill/>
        </p:spPr>
        <p:txBody>
          <a:bodyPr wrap="square" anchor="ctr">
            <a:spAutoFit/>
          </a:bodyPr>
          <a:lstStyle/>
          <a:p>
            <a:pPr algn="ctr">
              <a:spcAft>
                <a:spcPts val="400"/>
              </a:spcAft>
            </a:pPr>
            <a:r>
              <a:rPr sz="1400" b="1">
                <a:solidFill>
                  <a:srgbClr val="FFFFFF"/>
                </a:solidFill>
                <a:latin typeface="Arial"/>
              </a:rPr>
              <a:t>Reach for it when</a:t>
            </a:r>
          </a:p>
        </p:txBody>
      </p:sp>
      <p:sp>
        <p:nvSpPr>
          <p:cNvPr id="13" name="Rectangle 12"/>
          <p:cNvSpPr/>
          <p:nvPr/>
        </p:nvSpPr>
        <p:spPr>
          <a:xfrm>
            <a:off x="777240" y="2286000"/>
            <a:ext cx="2552273"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6968" y="2286000"/>
            <a:ext cx="2369393" cy="822960"/>
          </a:xfrm>
          <a:prstGeom prst="rect">
            <a:avLst/>
          </a:prstGeom>
          <a:noFill/>
        </p:spPr>
        <p:txBody>
          <a:bodyPr wrap="square" anchor="ctr">
            <a:spAutoFit/>
          </a:bodyPr>
          <a:lstStyle/>
          <a:p>
            <a:pPr algn="l">
              <a:spcAft>
                <a:spcPts val="400"/>
              </a:spcAft>
            </a:pPr>
            <a:r>
              <a:rPr sz="1250" b="1">
                <a:solidFill>
                  <a:srgbClr val="161B26"/>
                </a:solidFill>
                <a:latin typeface="Arial"/>
              </a:rPr>
              <a:t>Logs Insights</a:t>
            </a:r>
          </a:p>
        </p:txBody>
      </p:sp>
      <p:sp>
        <p:nvSpPr>
          <p:cNvPr id="15" name="Rectangle 14"/>
          <p:cNvSpPr/>
          <p:nvPr/>
        </p:nvSpPr>
        <p:spPr>
          <a:xfrm>
            <a:off x="3329513" y="2286000"/>
            <a:ext cx="4253788"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39241" y="2286000"/>
            <a:ext cx="4070908" cy="822960"/>
          </a:xfrm>
          <a:prstGeom prst="rect">
            <a:avLst/>
          </a:prstGeom>
          <a:noFill/>
        </p:spPr>
        <p:txBody>
          <a:bodyPr wrap="square" anchor="ctr">
            <a:spAutoFit/>
          </a:bodyPr>
          <a:lstStyle/>
          <a:p>
            <a:pPr algn="ctr">
              <a:spcAft>
                <a:spcPts val="400"/>
              </a:spcAft>
            </a:pPr>
            <a:r>
              <a:rPr sz="1250" b="0">
                <a:solidFill>
                  <a:srgbClr val="5B6372"/>
                </a:solidFill>
                <a:latin typeface="Arial"/>
              </a:rPr>
              <a:t>Ad-hoc queries over log data</a:t>
            </a:r>
          </a:p>
        </p:txBody>
      </p:sp>
      <p:sp>
        <p:nvSpPr>
          <p:cNvPr id="17" name="Rectangle 16"/>
          <p:cNvSpPr/>
          <p:nvPr/>
        </p:nvSpPr>
        <p:spPr>
          <a:xfrm>
            <a:off x="7583301" y="2286000"/>
            <a:ext cx="3828409"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3029" y="2286000"/>
            <a:ext cx="3645529" cy="822960"/>
          </a:xfrm>
          <a:prstGeom prst="rect">
            <a:avLst/>
          </a:prstGeom>
          <a:noFill/>
        </p:spPr>
        <p:txBody>
          <a:bodyPr wrap="square" anchor="ctr">
            <a:spAutoFit/>
          </a:bodyPr>
          <a:lstStyle/>
          <a:p>
            <a:pPr algn="ctr">
              <a:spcAft>
                <a:spcPts val="400"/>
              </a:spcAft>
            </a:pPr>
            <a:r>
              <a:rPr sz="1250" b="0">
                <a:solidFill>
                  <a:srgbClr val="5B6372"/>
                </a:solidFill>
                <a:latin typeface="Arial"/>
              </a:rPr>
              <a:t>You need the 'why' from raw events</a:t>
            </a:r>
          </a:p>
        </p:txBody>
      </p:sp>
      <p:sp>
        <p:nvSpPr>
          <p:cNvPr id="19" name="Rectangle 18"/>
          <p:cNvSpPr/>
          <p:nvPr/>
        </p:nvSpPr>
        <p:spPr>
          <a:xfrm>
            <a:off x="777240" y="3108960"/>
            <a:ext cx="2552273"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3108960"/>
            <a:ext cx="2369393" cy="822960"/>
          </a:xfrm>
          <a:prstGeom prst="rect">
            <a:avLst/>
          </a:prstGeom>
          <a:noFill/>
        </p:spPr>
        <p:txBody>
          <a:bodyPr wrap="square" anchor="ctr">
            <a:spAutoFit/>
          </a:bodyPr>
          <a:lstStyle/>
          <a:p>
            <a:pPr algn="l">
              <a:spcAft>
                <a:spcPts val="400"/>
              </a:spcAft>
            </a:pPr>
            <a:r>
              <a:rPr sz="1250" b="1">
                <a:solidFill>
                  <a:srgbClr val="161B26"/>
                </a:solidFill>
                <a:latin typeface="Arial"/>
              </a:rPr>
              <a:t>Container Insights</a:t>
            </a:r>
          </a:p>
        </p:txBody>
      </p:sp>
      <p:sp>
        <p:nvSpPr>
          <p:cNvPr id="21" name="Rectangle 20"/>
          <p:cNvSpPr/>
          <p:nvPr/>
        </p:nvSpPr>
        <p:spPr>
          <a:xfrm>
            <a:off x="3329513" y="3108960"/>
            <a:ext cx="4253788"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439241" y="3108960"/>
            <a:ext cx="4070908" cy="822960"/>
          </a:xfrm>
          <a:prstGeom prst="rect">
            <a:avLst/>
          </a:prstGeom>
          <a:noFill/>
        </p:spPr>
        <p:txBody>
          <a:bodyPr wrap="square" anchor="ctr">
            <a:spAutoFit/>
          </a:bodyPr>
          <a:lstStyle/>
          <a:p>
            <a:pPr algn="ctr">
              <a:spcAft>
                <a:spcPts val="400"/>
              </a:spcAft>
            </a:pPr>
            <a:r>
              <a:rPr sz="1250" b="0">
                <a:solidFill>
                  <a:srgbClr val="5B6372"/>
                </a:solidFill>
                <a:latin typeface="Arial"/>
              </a:rPr>
              <a:t>Curated ECS/EKS/Fargate metrics</a:t>
            </a:r>
          </a:p>
        </p:txBody>
      </p:sp>
      <p:sp>
        <p:nvSpPr>
          <p:cNvPr id="23" name="Rectangle 22"/>
          <p:cNvSpPr/>
          <p:nvPr/>
        </p:nvSpPr>
        <p:spPr>
          <a:xfrm>
            <a:off x="7583301" y="3108960"/>
            <a:ext cx="3828409"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93029" y="3108960"/>
            <a:ext cx="3645529" cy="822960"/>
          </a:xfrm>
          <a:prstGeom prst="rect">
            <a:avLst/>
          </a:prstGeom>
          <a:noFill/>
        </p:spPr>
        <p:txBody>
          <a:bodyPr wrap="square" anchor="ctr">
            <a:spAutoFit/>
          </a:bodyPr>
          <a:lstStyle/>
          <a:p>
            <a:pPr algn="ctr">
              <a:spcAft>
                <a:spcPts val="400"/>
              </a:spcAft>
            </a:pPr>
            <a:r>
              <a:rPr sz="1250" b="0">
                <a:solidFill>
                  <a:srgbClr val="5B6372"/>
                </a:solidFill>
                <a:latin typeface="Arial"/>
              </a:rPr>
              <a:t>A container platform is slow</a:t>
            </a:r>
          </a:p>
        </p:txBody>
      </p:sp>
      <p:sp>
        <p:nvSpPr>
          <p:cNvPr id="25" name="Rectangle 24"/>
          <p:cNvSpPr/>
          <p:nvPr/>
        </p:nvSpPr>
        <p:spPr>
          <a:xfrm>
            <a:off x="777240" y="3931920"/>
            <a:ext cx="2552273"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6968" y="3931920"/>
            <a:ext cx="2369393" cy="822960"/>
          </a:xfrm>
          <a:prstGeom prst="rect">
            <a:avLst/>
          </a:prstGeom>
          <a:noFill/>
        </p:spPr>
        <p:txBody>
          <a:bodyPr wrap="square" anchor="ctr">
            <a:spAutoFit/>
          </a:bodyPr>
          <a:lstStyle/>
          <a:p>
            <a:pPr algn="l">
              <a:spcAft>
                <a:spcPts val="400"/>
              </a:spcAft>
            </a:pPr>
            <a:r>
              <a:rPr sz="1250" b="1">
                <a:solidFill>
                  <a:srgbClr val="161B26"/>
                </a:solidFill>
                <a:latin typeface="Arial"/>
              </a:rPr>
              <a:t>Lambda Insights</a:t>
            </a:r>
          </a:p>
        </p:txBody>
      </p:sp>
      <p:sp>
        <p:nvSpPr>
          <p:cNvPr id="27" name="Rectangle 26"/>
          <p:cNvSpPr/>
          <p:nvPr/>
        </p:nvSpPr>
        <p:spPr>
          <a:xfrm>
            <a:off x="3329513" y="3931920"/>
            <a:ext cx="4253788"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439241" y="3931920"/>
            <a:ext cx="4070908" cy="822960"/>
          </a:xfrm>
          <a:prstGeom prst="rect">
            <a:avLst/>
          </a:prstGeom>
          <a:noFill/>
        </p:spPr>
        <p:txBody>
          <a:bodyPr wrap="square" anchor="ctr">
            <a:spAutoFit/>
          </a:bodyPr>
          <a:lstStyle/>
          <a:p>
            <a:pPr algn="ctr">
              <a:spcAft>
                <a:spcPts val="400"/>
              </a:spcAft>
            </a:pPr>
            <a:r>
              <a:rPr sz="1250" b="0">
                <a:solidFill>
                  <a:srgbClr val="5B6372"/>
                </a:solidFill>
                <a:latin typeface="Arial"/>
              </a:rPr>
              <a:t>Function perf &amp; cold starts</a:t>
            </a:r>
          </a:p>
        </p:txBody>
      </p:sp>
      <p:sp>
        <p:nvSpPr>
          <p:cNvPr id="29" name="Rectangle 28"/>
          <p:cNvSpPr/>
          <p:nvPr/>
        </p:nvSpPr>
        <p:spPr>
          <a:xfrm>
            <a:off x="7583301" y="3931920"/>
            <a:ext cx="3828409"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93029" y="3931920"/>
            <a:ext cx="3645529" cy="822960"/>
          </a:xfrm>
          <a:prstGeom prst="rect">
            <a:avLst/>
          </a:prstGeom>
          <a:noFill/>
        </p:spPr>
        <p:txBody>
          <a:bodyPr wrap="square" anchor="ctr">
            <a:spAutoFit/>
          </a:bodyPr>
          <a:lstStyle/>
          <a:p>
            <a:pPr algn="ctr">
              <a:spcAft>
                <a:spcPts val="400"/>
              </a:spcAft>
            </a:pPr>
            <a:r>
              <a:rPr sz="1250" b="0">
                <a:solidFill>
                  <a:srgbClr val="5B6372"/>
                </a:solidFill>
                <a:latin typeface="Arial"/>
              </a:rPr>
              <a:t>Serverless latency/cost issues</a:t>
            </a:r>
          </a:p>
        </p:txBody>
      </p:sp>
      <p:sp>
        <p:nvSpPr>
          <p:cNvPr id="31" name="Rectangle 30"/>
          <p:cNvSpPr/>
          <p:nvPr/>
        </p:nvSpPr>
        <p:spPr>
          <a:xfrm>
            <a:off x="777240" y="4754880"/>
            <a:ext cx="2552273"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6968" y="4754880"/>
            <a:ext cx="2369393" cy="822960"/>
          </a:xfrm>
          <a:prstGeom prst="rect">
            <a:avLst/>
          </a:prstGeom>
          <a:noFill/>
        </p:spPr>
        <p:txBody>
          <a:bodyPr wrap="square" anchor="ctr">
            <a:spAutoFit/>
          </a:bodyPr>
          <a:lstStyle/>
          <a:p>
            <a:pPr algn="l">
              <a:spcAft>
                <a:spcPts val="400"/>
              </a:spcAft>
            </a:pPr>
            <a:r>
              <a:rPr sz="1250" b="1">
                <a:solidFill>
                  <a:srgbClr val="161B26"/>
                </a:solidFill>
                <a:latin typeface="Arial"/>
              </a:rPr>
              <a:t>X-Ray</a:t>
            </a:r>
          </a:p>
        </p:txBody>
      </p:sp>
      <p:sp>
        <p:nvSpPr>
          <p:cNvPr id="33" name="Rectangle 32"/>
          <p:cNvSpPr/>
          <p:nvPr/>
        </p:nvSpPr>
        <p:spPr>
          <a:xfrm>
            <a:off x="3329513" y="4754880"/>
            <a:ext cx="4253788"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439241" y="4754880"/>
            <a:ext cx="4070908" cy="822960"/>
          </a:xfrm>
          <a:prstGeom prst="rect">
            <a:avLst/>
          </a:prstGeom>
          <a:noFill/>
        </p:spPr>
        <p:txBody>
          <a:bodyPr wrap="square" anchor="ctr">
            <a:spAutoFit/>
          </a:bodyPr>
          <a:lstStyle/>
          <a:p>
            <a:pPr algn="ctr">
              <a:spcAft>
                <a:spcPts val="400"/>
              </a:spcAft>
            </a:pPr>
            <a:r>
              <a:rPr sz="1250" b="0">
                <a:solidFill>
                  <a:srgbClr val="5B6372"/>
                </a:solidFill>
                <a:latin typeface="Arial"/>
              </a:rPr>
              <a:t>End-to-end request traces</a:t>
            </a:r>
          </a:p>
        </p:txBody>
      </p:sp>
      <p:sp>
        <p:nvSpPr>
          <p:cNvPr id="35" name="Rectangle 34"/>
          <p:cNvSpPr/>
          <p:nvPr/>
        </p:nvSpPr>
        <p:spPr>
          <a:xfrm>
            <a:off x="7583301" y="4754880"/>
            <a:ext cx="3828409"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93029" y="4754880"/>
            <a:ext cx="3645529" cy="822960"/>
          </a:xfrm>
          <a:prstGeom prst="rect">
            <a:avLst/>
          </a:prstGeom>
          <a:noFill/>
        </p:spPr>
        <p:txBody>
          <a:bodyPr wrap="square" anchor="ctr">
            <a:spAutoFit/>
          </a:bodyPr>
          <a:lstStyle/>
          <a:p>
            <a:pPr algn="ctr">
              <a:spcAft>
                <a:spcPts val="400"/>
              </a:spcAft>
            </a:pPr>
            <a:r>
              <a:rPr sz="1250" b="0">
                <a:solidFill>
                  <a:srgbClr val="5B6372"/>
                </a:solidFill>
                <a:latin typeface="Arial"/>
              </a:rPr>
              <a:t>Latency spans many services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373</a:t>
            </a:r>
          </a:p>
        </p:txBody>
      </p:sp>
    </p:spTree>
  </p:cSld>
  <p:clrMapOvr>
    <a:masterClrMapping/>
  </p:clrMapOvr>
  <p:transition xmlns:p14="http://schemas.microsoft.com/office/powerpoint/2010/main" p14:dur="380">
    <p:fade/>
  </p:transition>
</p:sld>
</file>

<file path=ppt/slides/slide3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WHY p99 MATTERS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Average Hides the Tail — Latency Percentiles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828800"/>
          <a:ext cx="10634472" cy="3291840"/>
        </p:xfrm>
        <a:graphic>
          <a:graphicData uri="http://schemas.openxmlformats.org/drawingml/2006/chart">
            <c:chart xmlns:c="http://schemas.openxmlformats.org/drawingml/2006/chart" r:id="rId2"/>
          </a:graphicData>
        </a:graphic>
      </p:graphicFrame>
      <p:sp>
        <p:nvSpPr>
          <p:cNvPr id="8" name="Rectangle 7"/>
          <p:cNvSpPr/>
          <p:nvPr/>
        </p:nvSpPr>
        <p:spPr>
          <a:xfrm>
            <a:off x="777240" y="5349240"/>
            <a:ext cx="10634472" cy="868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349240"/>
            <a:ext cx="91440" cy="8686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5440680"/>
            <a:ext cx="10241280" cy="320040"/>
          </a:xfrm>
          <a:prstGeom prst="rect">
            <a:avLst/>
          </a:prstGeom>
          <a:noFill/>
        </p:spPr>
        <p:txBody>
          <a:bodyPr wrap="square" anchor="t">
            <a:spAutoFit/>
          </a:bodyPr>
          <a:lstStyle/>
          <a:p>
            <a:pPr algn="l">
              <a:spcAft>
                <a:spcPts val="400"/>
              </a:spcAft>
            </a:pPr>
            <a:r>
              <a:rPr sz="1100" b="1">
                <a:solidFill>
                  <a:srgbClr val="F59E0B"/>
                </a:solidFill>
                <a:latin typeface="Arial"/>
              </a:rPr>
              <a:t>WHAT THE DATA SHOWS</a:t>
            </a:r>
          </a:p>
        </p:txBody>
      </p:sp>
      <p:sp>
        <p:nvSpPr>
          <p:cNvPr id="11" name="TextBox 10"/>
          <p:cNvSpPr txBox="1"/>
          <p:nvPr/>
        </p:nvSpPr>
        <p:spPr>
          <a:xfrm>
            <a:off x="1005840" y="5742432"/>
            <a:ext cx="10241280" cy="457200"/>
          </a:xfrm>
          <a:prstGeom prst="rect">
            <a:avLst/>
          </a:prstGeom>
          <a:noFill/>
        </p:spPr>
        <p:txBody>
          <a:bodyPr wrap="square" anchor="t">
            <a:spAutoFit/>
          </a:bodyPr>
          <a:lstStyle/>
          <a:p>
            <a:pPr algn="l">
              <a:spcAft>
                <a:spcPts val="400"/>
              </a:spcAft>
            </a:pPr>
            <a:r>
              <a:rPr sz="1350" b="0">
                <a:solidFill>
                  <a:srgbClr val="161B26"/>
                </a:solidFill>
                <a:latin typeface="Arial"/>
              </a:rPr>
              <a:t>The average looks healthy at 140ms while the p99 user waits nearly a second — always alarm on the percentile your users feel.</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374</a:t>
            </a:r>
          </a:p>
        </p:txBody>
      </p:sp>
    </p:spTree>
  </p:cSld>
  <p:clrMapOvr>
    <a:masterClrMapping/>
  </p:clrMapOvr>
  <p:transition xmlns:p14="http://schemas.microsoft.com/office/powerpoint/2010/main" p14:dur="380">
    <p:fade/>
  </p:transition>
</p:sld>
</file>

<file path=ppt/slides/slide3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BLIND SPOTS THAT HURT</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Monitoring Failure Modes &amp; Anti-Patterns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10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6408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6408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Alarm on average</a:t>
            </a:r>
          </a:p>
          <a:p>
            <a:pPr algn="l">
              <a:spcAft>
                <a:spcPts val="300"/>
              </a:spcAft>
            </a:pPr>
            <a:r>
              <a:rPr sz="1100" b="0">
                <a:solidFill>
                  <a:srgbClr val="5B6372"/>
                </a:solidFill>
                <a:latin typeface="Arial"/>
              </a:rPr>
              <a:t>Tail latency hidden → alarm on p90/p99.</a:t>
            </a:r>
          </a:p>
        </p:txBody>
      </p:sp>
      <p:sp>
        <p:nvSpPr>
          <p:cNvPr id="12" name="Rectangle 11"/>
          <p:cNvSpPr/>
          <p:nvPr/>
        </p:nvSpPr>
        <p:spPr>
          <a:xfrm>
            <a:off x="6231636" y="1783080"/>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3106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6408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6408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Alert fatigue</a:t>
            </a:r>
          </a:p>
          <a:p>
            <a:pPr algn="l">
              <a:spcAft>
                <a:spcPts val="300"/>
              </a:spcAft>
            </a:pPr>
            <a:r>
              <a:rPr sz="1100" b="0">
                <a:solidFill>
                  <a:srgbClr val="5B6372"/>
                </a:solidFill>
                <a:latin typeface="Arial"/>
              </a:rPr>
              <a:t>Noisy alarms ignored → composite alarms, SLO-based alerting.</a:t>
            </a:r>
          </a:p>
        </p:txBody>
      </p:sp>
      <p:sp>
        <p:nvSpPr>
          <p:cNvPr id="17" name="Rectangle 16"/>
          <p:cNvSpPr/>
          <p:nvPr/>
        </p:nvSpPr>
        <p:spPr>
          <a:xfrm>
            <a:off x="777240" y="3313176"/>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3176"/>
            <a:ext cx="91440" cy="13106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422904"/>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Logs but no metrics</a:t>
            </a:r>
          </a:p>
          <a:p>
            <a:pPr algn="l">
              <a:spcAft>
                <a:spcPts val="300"/>
              </a:spcAft>
            </a:pPr>
            <a:r>
              <a:rPr sz="1100" b="0">
                <a:solidFill>
                  <a:srgbClr val="5B6372"/>
                </a:solidFill>
                <a:latin typeface="Arial"/>
              </a:rPr>
              <a:t>Manual searching in incidents → metric filters + dashboards.</a:t>
            </a:r>
          </a:p>
        </p:txBody>
      </p:sp>
      <p:sp>
        <p:nvSpPr>
          <p:cNvPr id="22" name="Rectangle 21"/>
          <p:cNvSpPr/>
          <p:nvPr/>
        </p:nvSpPr>
        <p:spPr>
          <a:xfrm>
            <a:off x="6231636" y="3313176"/>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3176"/>
            <a:ext cx="91440" cy="13106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422904"/>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No traces in microservices</a:t>
            </a:r>
          </a:p>
          <a:p>
            <a:pPr algn="l">
              <a:spcAft>
                <a:spcPts val="300"/>
              </a:spcAft>
            </a:pPr>
            <a:r>
              <a:rPr sz="1100" b="0">
                <a:solidFill>
                  <a:srgbClr val="5B6372"/>
                </a:solidFill>
                <a:latin typeface="Arial"/>
              </a:rPr>
              <a:t>Cross-team blame → adopt X-Ray/OTel.</a:t>
            </a:r>
          </a:p>
        </p:txBody>
      </p:sp>
      <p:sp>
        <p:nvSpPr>
          <p:cNvPr id="27" name="Rectangle 26"/>
          <p:cNvSpPr/>
          <p:nvPr/>
        </p:nvSpPr>
        <p:spPr>
          <a:xfrm>
            <a:off x="777240" y="4843272"/>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43272"/>
            <a:ext cx="91440" cy="13106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24272"/>
            <a:ext cx="548640" cy="548640"/>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2427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953000"/>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Vanity dashboards</a:t>
            </a:r>
          </a:p>
          <a:p>
            <a:pPr algn="l">
              <a:spcAft>
                <a:spcPts val="300"/>
              </a:spcAft>
            </a:pPr>
            <a:r>
              <a:rPr sz="1100" b="0">
                <a:solidFill>
                  <a:srgbClr val="5B6372"/>
                </a:solidFill>
                <a:latin typeface="Arial"/>
              </a:rPr>
              <a:t>200 graphs, no signal → golden-signals layout.</a:t>
            </a:r>
          </a:p>
        </p:txBody>
      </p:sp>
      <p:sp>
        <p:nvSpPr>
          <p:cNvPr id="32" name="Rectangle 31"/>
          <p:cNvSpPr/>
          <p:nvPr/>
        </p:nvSpPr>
        <p:spPr>
          <a:xfrm>
            <a:off x="6231636" y="4843272"/>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43272"/>
            <a:ext cx="91440" cy="1310640"/>
          </a:xfrm>
          <a:prstGeom prst="rect">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24272"/>
            <a:ext cx="548640" cy="548640"/>
          </a:xfrm>
          <a:prstGeom prst="ellipse">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2427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953000"/>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Unmonitored dependencies</a:t>
            </a:r>
          </a:p>
          <a:p>
            <a:pPr algn="l">
              <a:spcAft>
                <a:spcPts val="300"/>
              </a:spcAft>
            </a:pPr>
            <a:r>
              <a:rPr sz="1100" b="0">
                <a:solidFill>
                  <a:srgbClr val="5B6372"/>
                </a:solidFill>
                <a:latin typeface="Arial"/>
              </a:rPr>
              <a:t>Third-party outage invisible → synthetic canaries.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375</a:t>
            </a:r>
          </a:p>
        </p:txBody>
      </p:sp>
    </p:spTree>
  </p:cSld>
  <p:clrMapOvr>
    <a:masterClrMapping/>
  </p:clrMapOvr>
  <p:transition xmlns:p14="http://schemas.microsoft.com/office/powerpoint/2010/main" p14:dur="380">
    <p:fade/>
  </p:transition>
</p:sld>
</file>

<file path=ppt/slides/slide3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PROVEN PRACTICES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Observability Patterns Worth Adopting</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10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6408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6408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Golden-signals dashboards</a:t>
            </a:r>
          </a:p>
          <a:p>
            <a:pPr algn="l">
              <a:spcAft>
                <a:spcPts val="300"/>
              </a:spcAft>
            </a:pPr>
            <a:r>
              <a:rPr sz="1100" b="0">
                <a:solidFill>
                  <a:srgbClr val="5B6372"/>
                </a:solidFill>
                <a:latin typeface="Arial"/>
              </a:rPr>
              <a:t>Latency, traffic, errors, saturation per service.</a:t>
            </a:r>
          </a:p>
        </p:txBody>
      </p:sp>
      <p:sp>
        <p:nvSpPr>
          <p:cNvPr id="12" name="Rectangle 11"/>
          <p:cNvSpPr/>
          <p:nvPr/>
        </p:nvSpPr>
        <p:spPr>
          <a:xfrm>
            <a:off x="6231636" y="1783080"/>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3106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6408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6408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SLOs + error budgets</a:t>
            </a:r>
          </a:p>
          <a:p>
            <a:pPr algn="l">
              <a:spcAft>
                <a:spcPts val="300"/>
              </a:spcAft>
            </a:pPr>
            <a:r>
              <a:rPr sz="1100" b="0">
                <a:solidFill>
                  <a:srgbClr val="5B6372"/>
                </a:solidFill>
                <a:latin typeface="Arial"/>
              </a:rPr>
              <a:t>Objective health and a delivery/reliability balance.</a:t>
            </a:r>
          </a:p>
        </p:txBody>
      </p:sp>
      <p:sp>
        <p:nvSpPr>
          <p:cNvPr id="17" name="Rectangle 16"/>
          <p:cNvSpPr/>
          <p:nvPr/>
        </p:nvSpPr>
        <p:spPr>
          <a:xfrm>
            <a:off x="777240" y="3313176"/>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3176"/>
            <a:ext cx="91440" cy="13106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422904"/>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Structured logging</a:t>
            </a:r>
          </a:p>
          <a:p>
            <a:pPr algn="l">
              <a:spcAft>
                <a:spcPts val="300"/>
              </a:spcAft>
            </a:pPr>
            <a:r>
              <a:rPr sz="1100" b="0">
                <a:solidFill>
                  <a:srgbClr val="5B6372"/>
                </a:solidFill>
                <a:latin typeface="Arial"/>
              </a:rPr>
              <a:t>JSON logs with correlation IDs for Logs Insights.</a:t>
            </a:r>
          </a:p>
        </p:txBody>
      </p:sp>
      <p:sp>
        <p:nvSpPr>
          <p:cNvPr id="22" name="Rectangle 21"/>
          <p:cNvSpPr/>
          <p:nvPr/>
        </p:nvSpPr>
        <p:spPr>
          <a:xfrm>
            <a:off x="6231636" y="3313176"/>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3176"/>
            <a:ext cx="91440" cy="13106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422904"/>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Synthetic canaries</a:t>
            </a:r>
          </a:p>
          <a:p>
            <a:pPr algn="l">
              <a:spcAft>
                <a:spcPts val="300"/>
              </a:spcAft>
            </a:pPr>
            <a:r>
              <a:rPr sz="1100" b="0">
                <a:solidFill>
                  <a:srgbClr val="5B6372"/>
                </a:solidFill>
                <a:latin typeface="Arial"/>
              </a:rPr>
              <a:t>Probe key journeys before real users hit failures.</a:t>
            </a:r>
          </a:p>
        </p:txBody>
      </p:sp>
      <p:sp>
        <p:nvSpPr>
          <p:cNvPr id="27" name="Rectangle 26"/>
          <p:cNvSpPr/>
          <p:nvPr/>
        </p:nvSpPr>
        <p:spPr>
          <a:xfrm>
            <a:off x="777240" y="4843272"/>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43272"/>
            <a:ext cx="91440" cy="13106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24272"/>
            <a:ext cx="548640" cy="548640"/>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2427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953000"/>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Metric filters → alarms</a:t>
            </a:r>
          </a:p>
          <a:p>
            <a:pPr algn="l">
              <a:spcAft>
                <a:spcPts val="300"/>
              </a:spcAft>
            </a:pPr>
            <a:r>
              <a:rPr sz="1100" b="0">
                <a:solidFill>
                  <a:srgbClr val="5B6372"/>
                </a:solidFill>
                <a:latin typeface="Arial"/>
              </a:rPr>
              <a:t>Turn log events into automated response.</a:t>
            </a:r>
          </a:p>
        </p:txBody>
      </p:sp>
      <p:sp>
        <p:nvSpPr>
          <p:cNvPr id="32" name="Rectangle 31"/>
          <p:cNvSpPr/>
          <p:nvPr/>
        </p:nvSpPr>
        <p:spPr>
          <a:xfrm>
            <a:off x="6231636" y="4843272"/>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43272"/>
            <a:ext cx="91440" cy="1310640"/>
          </a:xfrm>
          <a:prstGeom prst="rect">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24272"/>
            <a:ext cx="548640" cy="548640"/>
          </a:xfrm>
          <a:prstGeom prst="ellipse">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2427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953000"/>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Centralised observability</a:t>
            </a:r>
          </a:p>
          <a:p>
            <a:pPr algn="l">
              <a:spcAft>
                <a:spcPts val="300"/>
              </a:spcAft>
            </a:pPr>
            <a:r>
              <a:rPr sz="1100" b="0">
                <a:solidFill>
                  <a:srgbClr val="5B6372"/>
                </a:solidFill>
                <a:latin typeface="Arial"/>
              </a:rPr>
              <a:t>Cross-account monitoring account.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376</a:t>
            </a:r>
          </a:p>
        </p:txBody>
      </p:sp>
    </p:spTree>
  </p:cSld>
  <p:clrMapOvr>
    <a:masterClrMapping/>
  </p:clrMapOvr>
  <p:transition xmlns:p14="http://schemas.microsoft.com/office/powerpoint/2010/main" p14:dur="380">
    <p:fade/>
  </p:transition>
</p:sld>
</file>

<file path=ppt/slides/slide3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SIGNAL vs NOISE</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Architecture Decision — What Should Page a Human?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057400"/>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057400"/>
            <a:ext cx="457200" cy="457200"/>
          </a:xfrm>
          <a:prstGeom prst="rect">
            <a:avLst/>
          </a:prstGeom>
          <a:noFill/>
        </p:spPr>
        <p:txBody>
          <a:bodyPr wrap="square" anchor="ctr">
            <a:spAutoFit/>
          </a:bodyPr>
          <a:lstStyle/>
          <a:p>
            <a:pPr algn="ctr">
              <a:spcAft>
                <a:spcPts val="400"/>
              </a:spcAft>
            </a:pPr>
            <a:r>
              <a:rPr sz="2000" b="1">
                <a:solidFill>
                  <a:srgbClr val="FFFFFF"/>
                </a:solidFill>
                <a:latin typeface="Arial"/>
              </a:rPr>
              <a:t>A</a:t>
            </a:r>
          </a:p>
        </p:txBody>
      </p:sp>
      <p:sp>
        <p:nvSpPr>
          <p:cNvPr id="11" name="TextBox 10"/>
          <p:cNvSpPr txBox="1"/>
          <p:nvPr/>
        </p:nvSpPr>
        <p:spPr>
          <a:xfrm>
            <a:off x="1645920" y="2084831"/>
            <a:ext cx="2286000" cy="640080"/>
          </a:xfrm>
          <a:prstGeom prst="rect">
            <a:avLst/>
          </a:prstGeom>
          <a:noFill/>
        </p:spPr>
        <p:txBody>
          <a:bodyPr wrap="square" anchor="ctr">
            <a:spAutoFit/>
          </a:bodyPr>
          <a:lstStyle/>
          <a:p>
            <a:pPr algn="l">
              <a:spcAft>
                <a:spcPts val="400"/>
              </a:spcAft>
            </a:pPr>
            <a:r>
              <a:rPr sz="1450" b="1">
                <a:solidFill>
                  <a:srgbClr val="F59E0B"/>
                </a:solidFill>
                <a:latin typeface="Arial"/>
              </a:rPr>
              <a:t>Page immediately</a:t>
            </a:r>
          </a:p>
        </p:txBody>
      </p:sp>
      <p:sp>
        <p:nvSpPr>
          <p:cNvPr id="12" name="TextBox 11"/>
          <p:cNvSpPr txBox="1"/>
          <p:nvPr/>
        </p:nvSpPr>
        <p:spPr>
          <a:xfrm>
            <a:off x="1033272" y="2788920"/>
            <a:ext cx="2880360" cy="3108960"/>
          </a:xfrm>
          <a:prstGeom prst="rect">
            <a:avLst/>
          </a:prstGeom>
          <a:noFill/>
        </p:spPr>
        <p:txBody>
          <a:bodyPr wrap="square" anchor="t">
            <a:spAutoFit/>
          </a:bodyPr>
          <a:lstStyle/>
          <a:p>
            <a:pPr algn="l">
              <a:spcAft>
                <a:spcPts val="400"/>
              </a:spcAft>
            </a:pPr>
            <a:r>
              <a:rPr sz="1250" b="0">
                <a:solidFill>
                  <a:srgbClr val="161B26"/>
                </a:solidFill>
                <a:latin typeface="Arial"/>
              </a:rPr>
              <a:t>SLO-burning, user-facing symptoms (error rate, latency breach). Actionable now — keep these few and trustworthy.</a:t>
            </a:r>
          </a:p>
        </p:txBody>
      </p:sp>
      <p:sp>
        <p:nvSpPr>
          <p:cNvPr id="13" name="Rectangle 12"/>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828032" y="2057400"/>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28032" y="2057400"/>
            <a:ext cx="457200" cy="457200"/>
          </a:xfrm>
          <a:prstGeom prst="rect">
            <a:avLst/>
          </a:prstGeom>
          <a:noFill/>
        </p:spPr>
        <p:txBody>
          <a:bodyPr wrap="square" anchor="ctr">
            <a:spAutoFit/>
          </a:bodyPr>
          <a:lstStyle/>
          <a:p>
            <a:pPr algn="ctr">
              <a:spcAft>
                <a:spcPts val="400"/>
              </a:spcAft>
            </a:pPr>
            <a:r>
              <a:rPr sz="2000" b="1">
                <a:solidFill>
                  <a:srgbClr val="FFFFFF"/>
                </a:solidFill>
                <a:latin typeface="Arial"/>
              </a:rPr>
              <a:t>B</a:t>
            </a:r>
          </a:p>
        </p:txBody>
      </p:sp>
      <p:sp>
        <p:nvSpPr>
          <p:cNvPr id="17" name="TextBox 16"/>
          <p:cNvSpPr txBox="1"/>
          <p:nvPr/>
        </p:nvSpPr>
        <p:spPr>
          <a:xfrm>
            <a:off x="5440680" y="2084831"/>
            <a:ext cx="2286000" cy="640080"/>
          </a:xfrm>
          <a:prstGeom prst="rect">
            <a:avLst/>
          </a:prstGeom>
          <a:noFill/>
        </p:spPr>
        <p:txBody>
          <a:bodyPr wrap="square" anchor="ctr">
            <a:spAutoFit/>
          </a:bodyPr>
          <a:lstStyle/>
          <a:p>
            <a:pPr algn="l">
              <a:spcAft>
                <a:spcPts val="400"/>
              </a:spcAft>
            </a:pPr>
            <a:r>
              <a:rPr sz="1450" b="1">
                <a:solidFill>
                  <a:srgbClr val="7C3AED"/>
                </a:solidFill>
                <a:latin typeface="Arial"/>
              </a:rPr>
              <a:t>Ticket / review later</a:t>
            </a:r>
          </a:p>
        </p:txBody>
      </p:sp>
      <p:sp>
        <p:nvSpPr>
          <p:cNvPr id="18" name="TextBox 17"/>
          <p:cNvSpPr txBox="1"/>
          <p:nvPr/>
        </p:nvSpPr>
        <p:spPr>
          <a:xfrm>
            <a:off x="4828032" y="2788920"/>
            <a:ext cx="2880360" cy="3108960"/>
          </a:xfrm>
          <a:prstGeom prst="rect">
            <a:avLst/>
          </a:prstGeom>
          <a:noFill/>
        </p:spPr>
        <p:txBody>
          <a:bodyPr wrap="square" anchor="t">
            <a:spAutoFit/>
          </a:bodyPr>
          <a:lstStyle/>
          <a:p>
            <a:pPr algn="l">
              <a:spcAft>
                <a:spcPts val="400"/>
              </a:spcAft>
            </a:pPr>
            <a:r>
              <a:rPr sz="1250" b="0">
                <a:solidFill>
                  <a:srgbClr val="161B26"/>
                </a:solidFill>
                <a:latin typeface="Arial"/>
              </a:rPr>
              <a:t>Trends and capacity signals (rising saturation). Important but not urgent — dashboards and weekly review.</a:t>
            </a:r>
          </a:p>
        </p:txBody>
      </p:sp>
      <p:sp>
        <p:nvSpPr>
          <p:cNvPr id="19" name="Rectangle 18"/>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36676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622792" y="205740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22792" y="2057400"/>
            <a:ext cx="457200" cy="457200"/>
          </a:xfrm>
          <a:prstGeom prst="rect">
            <a:avLst/>
          </a:prstGeom>
          <a:noFill/>
        </p:spPr>
        <p:txBody>
          <a:bodyPr wrap="square" anchor="ctr">
            <a:spAutoFit/>
          </a:bodyPr>
          <a:lstStyle/>
          <a:p>
            <a:pPr algn="ctr">
              <a:spcAft>
                <a:spcPts val="400"/>
              </a:spcAft>
            </a:pPr>
            <a:r>
              <a:rPr sz="2000" b="1">
                <a:solidFill>
                  <a:srgbClr val="FFFFFF"/>
                </a:solidFill>
                <a:latin typeface="Arial"/>
              </a:rPr>
              <a:t>C</a:t>
            </a:r>
          </a:p>
        </p:txBody>
      </p:sp>
      <p:sp>
        <p:nvSpPr>
          <p:cNvPr id="23" name="TextBox 22"/>
          <p:cNvSpPr txBox="1"/>
          <p:nvPr/>
        </p:nvSpPr>
        <p:spPr>
          <a:xfrm>
            <a:off x="9235440" y="2084831"/>
            <a:ext cx="2286000" cy="640080"/>
          </a:xfrm>
          <a:prstGeom prst="rect">
            <a:avLst/>
          </a:prstGeom>
          <a:noFill/>
        </p:spPr>
        <p:txBody>
          <a:bodyPr wrap="square" anchor="ctr">
            <a:spAutoFit/>
          </a:bodyPr>
          <a:lstStyle/>
          <a:p>
            <a:pPr algn="l">
              <a:spcAft>
                <a:spcPts val="400"/>
              </a:spcAft>
            </a:pPr>
            <a:r>
              <a:rPr sz="1450" b="1">
                <a:solidFill>
                  <a:srgbClr val="10B981"/>
                </a:solidFill>
                <a:latin typeface="Arial"/>
              </a:rPr>
              <a:t>Auto-remediate, don't page</a:t>
            </a:r>
          </a:p>
        </p:txBody>
      </p:sp>
      <p:sp>
        <p:nvSpPr>
          <p:cNvPr id="24" name="TextBox 23"/>
          <p:cNvSpPr txBox="1"/>
          <p:nvPr/>
        </p:nvSpPr>
        <p:spPr>
          <a:xfrm>
            <a:off x="8622792" y="2788920"/>
            <a:ext cx="2880360" cy="3108960"/>
          </a:xfrm>
          <a:prstGeom prst="rect">
            <a:avLst/>
          </a:prstGeom>
          <a:noFill/>
        </p:spPr>
        <p:txBody>
          <a:bodyPr wrap="square" anchor="t">
            <a:spAutoFit/>
          </a:bodyPr>
          <a:lstStyle/>
          <a:p>
            <a:pPr algn="l">
              <a:spcAft>
                <a:spcPts val="400"/>
              </a:spcAft>
            </a:pPr>
            <a:r>
              <a:rPr sz="1250" b="0">
                <a:solidFill>
                  <a:srgbClr val="161B26"/>
                </a:solidFill>
                <a:latin typeface="Arial"/>
              </a:rPr>
              <a:t>Known, safe fixes (restart, scale, isolate). Let EventBridge + Lambda handle it and notify, not wake, the team.</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377</a:t>
            </a:r>
          </a:p>
        </p:txBody>
      </p:sp>
    </p:spTree>
  </p:cSld>
  <p:clrMapOvr>
    <a:masterClrMapping/>
  </p:clrMapOvr>
  <p:transition xmlns:p14="http://schemas.microsoft.com/office/powerpoint/2010/main" p14:dur="380">
    <p:fade/>
  </p:transition>
</p:sld>
</file>

<file path=ppt/slides/slide3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TRUST THE RIGHT SIGNAL</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Scenario — 'Everything is green' but users complain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91440" cy="91440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1847088"/>
            <a:ext cx="2194560" cy="320040"/>
          </a:xfrm>
          <a:prstGeom prst="rect">
            <a:avLst/>
          </a:prstGeom>
          <a:noFill/>
        </p:spPr>
        <p:txBody>
          <a:bodyPr wrap="square" anchor="t">
            <a:spAutoFit/>
          </a:bodyPr>
          <a:lstStyle/>
          <a:p>
            <a:pPr algn="l">
              <a:spcAft>
                <a:spcPts val="400"/>
              </a:spcAft>
            </a:pPr>
            <a:r>
              <a:rPr sz="1150" b="1">
                <a:solidFill>
                  <a:srgbClr val="5B6372"/>
                </a:solidFill>
                <a:latin typeface="Arial"/>
              </a:rPr>
              <a:t>SITUATION</a:t>
            </a:r>
          </a:p>
        </p:txBody>
      </p:sp>
      <p:sp>
        <p:nvSpPr>
          <p:cNvPr id="10" name="TextBox 9"/>
          <p:cNvSpPr txBox="1"/>
          <p:nvPr/>
        </p:nvSpPr>
        <p:spPr>
          <a:xfrm>
            <a:off x="1033272" y="2157984"/>
            <a:ext cx="10085832" cy="457200"/>
          </a:xfrm>
          <a:prstGeom prst="rect">
            <a:avLst/>
          </a:prstGeom>
          <a:noFill/>
        </p:spPr>
        <p:txBody>
          <a:bodyPr wrap="square" anchor="t">
            <a:spAutoFit/>
          </a:bodyPr>
          <a:lstStyle/>
          <a:p>
            <a:pPr algn="l">
              <a:spcAft>
                <a:spcPts val="400"/>
              </a:spcAft>
            </a:pPr>
            <a:r>
              <a:rPr sz="1300" b="0">
                <a:solidFill>
                  <a:srgbClr val="161B26"/>
                </a:solidFill>
                <a:latin typeface="Arial"/>
              </a:rPr>
              <a:t>Dashboards show CPU and memory healthy, yet support reports slow checkouts.</a:t>
            </a:r>
          </a:p>
        </p:txBody>
      </p:sp>
      <p:sp>
        <p:nvSpPr>
          <p:cNvPr id="11" name="Rectangle 10"/>
          <p:cNvSpPr/>
          <p:nvPr/>
        </p:nvSpPr>
        <p:spPr>
          <a:xfrm>
            <a:off x="777240" y="2788920"/>
            <a:ext cx="10634472" cy="21945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788920"/>
            <a:ext cx="91440" cy="21945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880360"/>
            <a:ext cx="2743200" cy="320040"/>
          </a:xfrm>
          <a:prstGeom prst="rect">
            <a:avLst/>
          </a:prstGeom>
          <a:noFill/>
        </p:spPr>
        <p:txBody>
          <a:bodyPr wrap="square" anchor="t">
            <a:spAutoFit/>
          </a:bodyPr>
          <a:lstStyle/>
          <a:p>
            <a:pPr algn="l">
              <a:spcAft>
                <a:spcPts val="400"/>
              </a:spcAft>
            </a:pPr>
            <a:r>
              <a:rPr sz="1150" b="1">
                <a:solidFill>
                  <a:srgbClr val="F59E0B"/>
                </a:solidFill>
                <a:latin typeface="Arial"/>
              </a:rPr>
              <a:t>ANALYSIS</a:t>
            </a:r>
          </a:p>
        </p:txBody>
      </p:sp>
      <p:sp>
        <p:nvSpPr>
          <p:cNvPr id="14" name="TextBox 13"/>
          <p:cNvSpPr txBox="1"/>
          <p:nvPr/>
        </p:nvSpPr>
        <p:spPr>
          <a:xfrm>
            <a:off x="1033272" y="3246120"/>
            <a:ext cx="9994392" cy="1645920"/>
          </a:xfrm>
          <a:prstGeom prst="rect">
            <a:avLst/>
          </a:prstGeom>
          <a:noFill/>
        </p:spPr>
        <p:txBody>
          <a:bodyPr wrap="square">
            <a:spAutoFit/>
          </a:bodyPr>
          <a:lstStyle/>
          <a:p>
            <a:pPr>
              <a:spcAft>
                <a:spcPts val="700"/>
              </a:spcAft>
            </a:pPr>
            <a:r>
              <a:rPr sz="1300" b="0">
                <a:solidFill>
                  <a:srgbClr val="161B26"/>
                </a:solidFill>
                <a:latin typeface="Arial"/>
              </a:rPr>
              <a:t>•  Resource metrics are averages and miss the user-facing symptom; the SLO is about request latency, not CPU.</a:t>
            </a:r>
          </a:p>
          <a:p>
            <a:pPr>
              <a:spcAft>
                <a:spcPts val="700"/>
              </a:spcAft>
            </a:pPr>
            <a:r>
              <a:rPr sz="1300" b="0">
                <a:solidFill>
                  <a:srgbClr val="161B26"/>
                </a:solidFill>
                <a:latin typeface="Arial"/>
              </a:rPr>
              <a:t>•  A p99 latency metric and a Logs Insights query on the checkout path would reveal the slow requests.</a:t>
            </a:r>
          </a:p>
          <a:p>
            <a:pPr>
              <a:spcAft>
                <a:spcPts val="700"/>
              </a:spcAft>
            </a:pPr>
            <a:r>
              <a:rPr sz="1300" b="0">
                <a:solidFill>
                  <a:srgbClr val="161B26"/>
                </a:solidFill>
                <a:latin typeface="Arial"/>
              </a:rPr>
              <a:t>•  An X-Ray service map would localise the slow downstream call.</a:t>
            </a:r>
          </a:p>
        </p:txBody>
      </p:sp>
      <p:sp>
        <p:nvSpPr>
          <p:cNvPr id="15" name="Rectangle 14"/>
          <p:cNvSpPr/>
          <p:nvPr/>
        </p:nvSpPr>
        <p:spPr>
          <a:xfrm>
            <a:off x="777240" y="5102352"/>
            <a:ext cx="10634472"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5102352"/>
            <a:ext cx="91440" cy="9601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2" y="5193792"/>
            <a:ext cx="2743200" cy="320040"/>
          </a:xfrm>
          <a:prstGeom prst="rect">
            <a:avLst/>
          </a:prstGeom>
          <a:noFill/>
        </p:spPr>
        <p:txBody>
          <a:bodyPr wrap="square" anchor="t">
            <a:spAutoFit/>
          </a:bodyPr>
          <a:lstStyle/>
          <a:p>
            <a:pPr algn="l">
              <a:spcAft>
                <a:spcPts val="400"/>
              </a:spcAft>
            </a:pPr>
            <a:r>
              <a:rPr sz="1150" b="1">
                <a:solidFill>
                  <a:srgbClr val="10B981"/>
                </a:solidFill>
                <a:latin typeface="Arial"/>
              </a:rPr>
              <a:t>DECISION</a:t>
            </a:r>
          </a:p>
        </p:txBody>
      </p:sp>
      <p:sp>
        <p:nvSpPr>
          <p:cNvPr id="18" name="TextBox 17"/>
          <p:cNvSpPr txBox="1"/>
          <p:nvPr/>
        </p:nvSpPr>
        <p:spPr>
          <a:xfrm>
            <a:off x="1033272" y="5486400"/>
            <a:ext cx="10085832" cy="548640"/>
          </a:xfrm>
          <a:prstGeom prst="rect">
            <a:avLst/>
          </a:prstGeom>
          <a:noFill/>
        </p:spPr>
        <p:txBody>
          <a:bodyPr wrap="square" anchor="t">
            <a:spAutoFit/>
          </a:bodyPr>
          <a:lstStyle/>
          <a:p>
            <a:pPr algn="l">
              <a:spcAft>
                <a:spcPts val="400"/>
              </a:spcAft>
            </a:pPr>
            <a:r>
              <a:rPr sz="1300" b="1">
                <a:solidFill>
                  <a:srgbClr val="161B26"/>
                </a:solidFill>
                <a:latin typeface="Arial"/>
              </a:rPr>
              <a:t>Re-orient alerting around the golden signals and the SLO (p99 latency, error rate), and add tracing so the next 'green but slow' is visible and localisable in seconds.</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378</a:t>
            </a:r>
          </a:p>
        </p:txBody>
      </p:sp>
    </p:spTree>
  </p:cSld>
  <p:clrMapOvr>
    <a:masterClrMapping/>
  </p:clrMapOvr>
  <p:transition xmlns:p14="http://schemas.microsoft.com/office/powerpoint/2010/main" p14:dur="380">
    <p:fade/>
  </p:transition>
</p:sld>
</file>

<file path=ppt/slides/slide3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REDUCING NOISE</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Scenario — Taming an alert storm</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91440" cy="91440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1847088"/>
            <a:ext cx="2194560" cy="320040"/>
          </a:xfrm>
          <a:prstGeom prst="rect">
            <a:avLst/>
          </a:prstGeom>
          <a:noFill/>
        </p:spPr>
        <p:txBody>
          <a:bodyPr wrap="square" anchor="t">
            <a:spAutoFit/>
          </a:bodyPr>
          <a:lstStyle/>
          <a:p>
            <a:pPr algn="l">
              <a:spcAft>
                <a:spcPts val="400"/>
              </a:spcAft>
            </a:pPr>
            <a:r>
              <a:rPr sz="1150" b="1">
                <a:solidFill>
                  <a:srgbClr val="5B6372"/>
                </a:solidFill>
                <a:latin typeface="Arial"/>
              </a:rPr>
              <a:t>SITUATION</a:t>
            </a:r>
          </a:p>
        </p:txBody>
      </p:sp>
      <p:sp>
        <p:nvSpPr>
          <p:cNvPr id="10" name="TextBox 9"/>
          <p:cNvSpPr txBox="1"/>
          <p:nvPr/>
        </p:nvSpPr>
        <p:spPr>
          <a:xfrm>
            <a:off x="1033272" y="2157984"/>
            <a:ext cx="10085832" cy="457200"/>
          </a:xfrm>
          <a:prstGeom prst="rect">
            <a:avLst/>
          </a:prstGeom>
          <a:noFill/>
        </p:spPr>
        <p:txBody>
          <a:bodyPr wrap="square" anchor="t">
            <a:spAutoFit/>
          </a:bodyPr>
          <a:lstStyle/>
          <a:p>
            <a:pPr algn="l">
              <a:spcAft>
                <a:spcPts val="400"/>
              </a:spcAft>
            </a:pPr>
            <a:r>
              <a:rPr sz="1300" b="0">
                <a:solidFill>
                  <a:srgbClr val="161B26"/>
                </a:solidFill>
                <a:latin typeface="Arial"/>
              </a:rPr>
              <a:t>A single database blip fires 40 alarms across dependent services and the on-call mutes the channel.</a:t>
            </a:r>
          </a:p>
        </p:txBody>
      </p:sp>
      <p:sp>
        <p:nvSpPr>
          <p:cNvPr id="11" name="Rectangle 10"/>
          <p:cNvSpPr/>
          <p:nvPr/>
        </p:nvSpPr>
        <p:spPr>
          <a:xfrm>
            <a:off x="777240" y="2788920"/>
            <a:ext cx="10634472" cy="21945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788920"/>
            <a:ext cx="91440" cy="21945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880360"/>
            <a:ext cx="2743200" cy="320040"/>
          </a:xfrm>
          <a:prstGeom prst="rect">
            <a:avLst/>
          </a:prstGeom>
          <a:noFill/>
        </p:spPr>
        <p:txBody>
          <a:bodyPr wrap="square" anchor="t">
            <a:spAutoFit/>
          </a:bodyPr>
          <a:lstStyle/>
          <a:p>
            <a:pPr algn="l">
              <a:spcAft>
                <a:spcPts val="400"/>
              </a:spcAft>
            </a:pPr>
            <a:r>
              <a:rPr sz="1150" b="1">
                <a:solidFill>
                  <a:srgbClr val="F59E0B"/>
                </a:solidFill>
                <a:latin typeface="Arial"/>
              </a:rPr>
              <a:t>ANALYSIS</a:t>
            </a:r>
          </a:p>
        </p:txBody>
      </p:sp>
      <p:sp>
        <p:nvSpPr>
          <p:cNvPr id="14" name="TextBox 13"/>
          <p:cNvSpPr txBox="1"/>
          <p:nvPr/>
        </p:nvSpPr>
        <p:spPr>
          <a:xfrm>
            <a:off x="1033272" y="3246120"/>
            <a:ext cx="9994392" cy="1645920"/>
          </a:xfrm>
          <a:prstGeom prst="rect">
            <a:avLst/>
          </a:prstGeom>
          <a:noFill/>
        </p:spPr>
        <p:txBody>
          <a:bodyPr wrap="square">
            <a:spAutoFit/>
          </a:bodyPr>
          <a:lstStyle/>
          <a:p>
            <a:pPr>
              <a:spcAft>
                <a:spcPts val="700"/>
              </a:spcAft>
            </a:pPr>
            <a:r>
              <a:rPr sz="1300" b="0">
                <a:solidFill>
                  <a:srgbClr val="161B26"/>
                </a:solidFill>
                <a:latin typeface="Arial"/>
              </a:rPr>
              <a:t>•  Many single-metric alarms describe the same root cause, creating noise and fatigue.</a:t>
            </a:r>
          </a:p>
          <a:p>
            <a:pPr>
              <a:spcAft>
                <a:spcPts val="700"/>
              </a:spcAft>
            </a:pPr>
            <a:r>
              <a:rPr sz="1300" b="0">
                <a:solidFill>
                  <a:srgbClr val="161B26"/>
                </a:solidFill>
                <a:latin typeface="Arial"/>
              </a:rPr>
              <a:t>•  A composite alarm can express 'DB unhealthy AND app errors rising' and suppress the downstream chatter.</a:t>
            </a:r>
          </a:p>
          <a:p>
            <a:pPr>
              <a:spcAft>
                <a:spcPts val="700"/>
              </a:spcAft>
            </a:pPr>
            <a:r>
              <a:rPr sz="1300" b="0">
                <a:solidFill>
                  <a:srgbClr val="161B26"/>
                </a:solidFill>
                <a:latin typeface="Arial"/>
              </a:rPr>
              <a:t>•  SLO-based alerting pages on user impact, not on every correlated resource wobble.</a:t>
            </a:r>
          </a:p>
        </p:txBody>
      </p:sp>
      <p:sp>
        <p:nvSpPr>
          <p:cNvPr id="15" name="Rectangle 14"/>
          <p:cNvSpPr/>
          <p:nvPr/>
        </p:nvSpPr>
        <p:spPr>
          <a:xfrm>
            <a:off x="777240" y="5102352"/>
            <a:ext cx="10634472"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5102352"/>
            <a:ext cx="91440" cy="9601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2" y="5193792"/>
            <a:ext cx="2743200" cy="320040"/>
          </a:xfrm>
          <a:prstGeom prst="rect">
            <a:avLst/>
          </a:prstGeom>
          <a:noFill/>
        </p:spPr>
        <p:txBody>
          <a:bodyPr wrap="square" anchor="t">
            <a:spAutoFit/>
          </a:bodyPr>
          <a:lstStyle/>
          <a:p>
            <a:pPr algn="l">
              <a:spcAft>
                <a:spcPts val="400"/>
              </a:spcAft>
            </a:pPr>
            <a:r>
              <a:rPr sz="1150" b="1">
                <a:solidFill>
                  <a:srgbClr val="10B981"/>
                </a:solidFill>
                <a:latin typeface="Arial"/>
              </a:rPr>
              <a:t>DECISION</a:t>
            </a:r>
          </a:p>
        </p:txBody>
      </p:sp>
      <p:sp>
        <p:nvSpPr>
          <p:cNvPr id="18" name="TextBox 17"/>
          <p:cNvSpPr txBox="1"/>
          <p:nvPr/>
        </p:nvSpPr>
        <p:spPr>
          <a:xfrm>
            <a:off x="1033272" y="5486400"/>
            <a:ext cx="10085832" cy="548640"/>
          </a:xfrm>
          <a:prstGeom prst="rect">
            <a:avLst/>
          </a:prstGeom>
          <a:noFill/>
        </p:spPr>
        <p:txBody>
          <a:bodyPr wrap="square" anchor="t">
            <a:spAutoFit/>
          </a:bodyPr>
          <a:lstStyle/>
          <a:p>
            <a:pPr algn="l">
              <a:spcAft>
                <a:spcPts val="400"/>
              </a:spcAft>
            </a:pPr>
            <a:r>
              <a:rPr sz="1300" b="1">
                <a:solidFill>
                  <a:srgbClr val="161B26"/>
                </a:solidFill>
                <a:latin typeface="Arial"/>
              </a:rPr>
              <a:t>Consolidate with composite alarms and alert on SLO burn, so one meaningful page fires instead of forty — restoring trust in the pager.</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379</a:t>
            </a:r>
          </a:p>
        </p:txBody>
      </p:sp>
    </p:spTree>
  </p:cSld>
  <p:clrMapOvr>
    <a:masterClrMapping/>
  </p:clrMapOvr>
  <p:transition xmlns:p14="http://schemas.microsoft.com/office/powerpoint/2010/main" p14:dur="380">
    <p:fade/>
  </p:transition>
</p:sld>
</file>

<file path=ppt/slides/slide3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THE LOGS-TO-ACTION PATH</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Worked Analysis — From Log Line to Alarm</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4253788" cy="76581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73152" cy="76581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31028" y="1783080"/>
            <a:ext cx="6380684" cy="76581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8408" y="1783080"/>
            <a:ext cx="3933748" cy="765810"/>
          </a:xfrm>
          <a:prstGeom prst="rect">
            <a:avLst/>
          </a:prstGeom>
          <a:noFill/>
        </p:spPr>
        <p:txBody>
          <a:bodyPr wrap="square" anchor="ctr">
            <a:spAutoFit/>
          </a:bodyPr>
          <a:lstStyle/>
          <a:p>
            <a:pPr algn="l">
              <a:spcAft>
                <a:spcPts val="400"/>
              </a:spcAft>
            </a:pPr>
            <a:r>
              <a:rPr sz="1250" b="1">
                <a:solidFill>
                  <a:srgbClr val="161B26"/>
                </a:solidFill>
                <a:latin typeface="Arial"/>
              </a:rPr>
              <a:t>Raw log: 'ERROR checkout timeout'</a:t>
            </a:r>
          </a:p>
        </p:txBody>
      </p:sp>
      <p:sp>
        <p:nvSpPr>
          <p:cNvPr id="11" name="TextBox 10"/>
          <p:cNvSpPr txBox="1"/>
          <p:nvPr/>
        </p:nvSpPr>
        <p:spPr>
          <a:xfrm>
            <a:off x="5213908" y="1783080"/>
            <a:ext cx="6060644" cy="765810"/>
          </a:xfrm>
          <a:prstGeom prst="rect">
            <a:avLst/>
          </a:prstGeom>
          <a:noFill/>
        </p:spPr>
        <p:txBody>
          <a:bodyPr wrap="square" anchor="ctr">
            <a:spAutoFit/>
          </a:bodyPr>
          <a:lstStyle/>
          <a:p>
            <a:pPr algn="l">
              <a:spcAft>
                <a:spcPts val="400"/>
              </a:spcAft>
            </a:pPr>
            <a:r>
              <a:rPr sz="1200" b="0">
                <a:solidFill>
                  <a:srgbClr val="5B6372"/>
                </a:solidFill>
                <a:latin typeface="Arial"/>
              </a:rPr>
              <a:t>Unstructured text — invisible to metrics and alarms as-is.</a:t>
            </a:r>
          </a:p>
        </p:txBody>
      </p:sp>
      <p:sp>
        <p:nvSpPr>
          <p:cNvPr id="12" name="Rectangle 11"/>
          <p:cNvSpPr/>
          <p:nvPr/>
        </p:nvSpPr>
        <p:spPr>
          <a:xfrm>
            <a:off x="777240" y="2548890"/>
            <a:ext cx="4253788" cy="76581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548890"/>
            <a:ext cx="73152" cy="76581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31028" y="2548890"/>
            <a:ext cx="6380684" cy="76581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78408" y="2548890"/>
            <a:ext cx="3933748" cy="765810"/>
          </a:xfrm>
          <a:prstGeom prst="rect">
            <a:avLst/>
          </a:prstGeom>
          <a:noFill/>
        </p:spPr>
        <p:txBody>
          <a:bodyPr wrap="square" anchor="ctr">
            <a:spAutoFit/>
          </a:bodyPr>
          <a:lstStyle/>
          <a:p>
            <a:pPr algn="l">
              <a:spcAft>
                <a:spcPts val="400"/>
              </a:spcAft>
            </a:pPr>
            <a:r>
              <a:rPr sz="1250" b="1">
                <a:solidFill>
                  <a:srgbClr val="161B26"/>
                </a:solidFill>
                <a:latin typeface="Arial"/>
              </a:rPr>
              <a:t>Metric filter extracts AppErrorCount</a:t>
            </a:r>
          </a:p>
        </p:txBody>
      </p:sp>
      <p:sp>
        <p:nvSpPr>
          <p:cNvPr id="16" name="TextBox 15"/>
          <p:cNvSpPr txBox="1"/>
          <p:nvPr/>
        </p:nvSpPr>
        <p:spPr>
          <a:xfrm>
            <a:off x="5213908" y="2548890"/>
            <a:ext cx="6060644" cy="765810"/>
          </a:xfrm>
          <a:prstGeom prst="rect">
            <a:avLst/>
          </a:prstGeom>
          <a:noFill/>
        </p:spPr>
        <p:txBody>
          <a:bodyPr wrap="square" anchor="ctr">
            <a:spAutoFit/>
          </a:bodyPr>
          <a:lstStyle/>
          <a:p>
            <a:pPr algn="l">
              <a:spcAft>
                <a:spcPts val="400"/>
              </a:spcAft>
            </a:pPr>
            <a:r>
              <a:rPr sz="1200" b="0">
                <a:solidFill>
                  <a:srgbClr val="5B6372"/>
                </a:solidFill>
                <a:latin typeface="Arial"/>
              </a:rPr>
              <a:t>A numeric metric now exists in a custom namespace.</a:t>
            </a:r>
          </a:p>
        </p:txBody>
      </p:sp>
      <p:sp>
        <p:nvSpPr>
          <p:cNvPr id="17" name="Rectangle 16"/>
          <p:cNvSpPr/>
          <p:nvPr/>
        </p:nvSpPr>
        <p:spPr>
          <a:xfrm>
            <a:off x="777240" y="3314700"/>
            <a:ext cx="4253788" cy="76581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4700"/>
            <a:ext cx="73152" cy="76581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31028" y="3314700"/>
            <a:ext cx="6380684" cy="76581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3314700"/>
            <a:ext cx="3933748" cy="765810"/>
          </a:xfrm>
          <a:prstGeom prst="rect">
            <a:avLst/>
          </a:prstGeom>
          <a:noFill/>
        </p:spPr>
        <p:txBody>
          <a:bodyPr wrap="square" anchor="ctr">
            <a:spAutoFit/>
          </a:bodyPr>
          <a:lstStyle/>
          <a:p>
            <a:pPr algn="l">
              <a:spcAft>
                <a:spcPts val="400"/>
              </a:spcAft>
            </a:pPr>
            <a:r>
              <a:rPr sz="1250" b="1">
                <a:solidFill>
                  <a:srgbClr val="161B26"/>
                </a:solidFill>
                <a:latin typeface="Arial"/>
              </a:rPr>
              <a:t>Alarm: Sum &gt; 5 in 1 minute</a:t>
            </a:r>
          </a:p>
        </p:txBody>
      </p:sp>
      <p:sp>
        <p:nvSpPr>
          <p:cNvPr id="21" name="TextBox 20"/>
          <p:cNvSpPr txBox="1"/>
          <p:nvPr/>
        </p:nvSpPr>
        <p:spPr>
          <a:xfrm>
            <a:off x="5213908" y="3314700"/>
            <a:ext cx="6060644" cy="765810"/>
          </a:xfrm>
          <a:prstGeom prst="rect">
            <a:avLst/>
          </a:prstGeom>
          <a:noFill/>
        </p:spPr>
        <p:txBody>
          <a:bodyPr wrap="square" anchor="ctr">
            <a:spAutoFit/>
          </a:bodyPr>
          <a:lstStyle/>
          <a:p>
            <a:pPr algn="l">
              <a:spcAft>
                <a:spcPts val="400"/>
              </a:spcAft>
            </a:pPr>
            <a:r>
              <a:rPr sz="1200" b="0">
                <a:solidFill>
                  <a:srgbClr val="5B6372"/>
                </a:solidFill>
                <a:latin typeface="Arial"/>
              </a:rPr>
              <a:t>The metric becomes an actionable state change.</a:t>
            </a:r>
          </a:p>
        </p:txBody>
      </p:sp>
      <p:sp>
        <p:nvSpPr>
          <p:cNvPr id="22" name="Rectangle 21"/>
          <p:cNvSpPr/>
          <p:nvPr/>
        </p:nvSpPr>
        <p:spPr>
          <a:xfrm>
            <a:off x="777240" y="4080510"/>
            <a:ext cx="4253788" cy="76581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080510"/>
            <a:ext cx="73152" cy="76581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031028" y="4080510"/>
            <a:ext cx="6380684" cy="76581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8408" y="4080510"/>
            <a:ext cx="3933748" cy="765810"/>
          </a:xfrm>
          <a:prstGeom prst="rect">
            <a:avLst/>
          </a:prstGeom>
          <a:noFill/>
        </p:spPr>
        <p:txBody>
          <a:bodyPr wrap="square" anchor="ctr">
            <a:spAutoFit/>
          </a:bodyPr>
          <a:lstStyle/>
          <a:p>
            <a:pPr algn="l">
              <a:spcAft>
                <a:spcPts val="400"/>
              </a:spcAft>
            </a:pPr>
            <a:r>
              <a:rPr sz="1250" b="1">
                <a:solidFill>
                  <a:srgbClr val="161B26"/>
                </a:solidFill>
                <a:latin typeface="Arial"/>
              </a:rPr>
              <a:t>Alarm → SNS/EventBridge</a:t>
            </a:r>
          </a:p>
        </p:txBody>
      </p:sp>
      <p:sp>
        <p:nvSpPr>
          <p:cNvPr id="26" name="TextBox 25"/>
          <p:cNvSpPr txBox="1"/>
          <p:nvPr/>
        </p:nvSpPr>
        <p:spPr>
          <a:xfrm>
            <a:off x="5213908" y="4080510"/>
            <a:ext cx="6060644" cy="765810"/>
          </a:xfrm>
          <a:prstGeom prst="rect">
            <a:avLst/>
          </a:prstGeom>
          <a:noFill/>
        </p:spPr>
        <p:txBody>
          <a:bodyPr wrap="square" anchor="ctr">
            <a:spAutoFit/>
          </a:bodyPr>
          <a:lstStyle/>
          <a:p>
            <a:pPr algn="l">
              <a:spcAft>
                <a:spcPts val="400"/>
              </a:spcAft>
            </a:pPr>
            <a:r>
              <a:rPr sz="1200" b="0">
                <a:solidFill>
                  <a:srgbClr val="5B6372"/>
                </a:solidFill>
                <a:latin typeface="Arial"/>
              </a:rPr>
              <a:t>Notifies responders and can trigger auto-remediation (Domain 5).</a:t>
            </a:r>
          </a:p>
        </p:txBody>
      </p:sp>
      <p:sp>
        <p:nvSpPr>
          <p:cNvPr id="27" name="Rectangle 26"/>
          <p:cNvSpPr/>
          <p:nvPr/>
        </p:nvSpPr>
        <p:spPr>
          <a:xfrm>
            <a:off x="777240" y="5010912"/>
            <a:ext cx="10634472" cy="868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010912"/>
            <a:ext cx="91440" cy="8686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33272" y="5102352"/>
            <a:ext cx="2743200" cy="320040"/>
          </a:xfrm>
          <a:prstGeom prst="rect">
            <a:avLst/>
          </a:prstGeom>
          <a:noFill/>
        </p:spPr>
        <p:txBody>
          <a:bodyPr wrap="square" anchor="t">
            <a:spAutoFit/>
          </a:bodyPr>
          <a:lstStyle/>
          <a:p>
            <a:pPr algn="l">
              <a:spcAft>
                <a:spcPts val="400"/>
              </a:spcAft>
            </a:pPr>
            <a:r>
              <a:rPr sz="1150" b="1">
                <a:solidFill>
                  <a:srgbClr val="10B981"/>
                </a:solidFill>
                <a:latin typeface="Arial"/>
              </a:rPr>
              <a:t>TAKEAWAY</a:t>
            </a:r>
          </a:p>
        </p:txBody>
      </p:sp>
      <p:sp>
        <p:nvSpPr>
          <p:cNvPr id="30" name="TextBox 29"/>
          <p:cNvSpPr txBox="1"/>
          <p:nvPr/>
        </p:nvSpPr>
        <p:spPr>
          <a:xfrm>
            <a:off x="1033272" y="5394960"/>
            <a:ext cx="10085832" cy="457200"/>
          </a:xfrm>
          <a:prstGeom prst="rect">
            <a:avLst/>
          </a:prstGeom>
          <a:noFill/>
        </p:spPr>
        <p:txBody>
          <a:bodyPr wrap="square" anchor="t">
            <a:spAutoFit/>
          </a:bodyPr>
          <a:lstStyle/>
          <a:p>
            <a:pPr algn="l">
              <a:spcAft>
                <a:spcPts val="400"/>
              </a:spcAft>
            </a:pPr>
            <a:r>
              <a:rPr sz="1300" b="1">
                <a:solidFill>
                  <a:srgbClr val="161B26"/>
                </a:solidFill>
                <a:latin typeface="Arial"/>
              </a:rPr>
              <a:t>Observability is a pipeline: capture → extract → alarm → act. Each stage turns raw data into faster recovery.</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380</a:t>
            </a:r>
          </a:p>
        </p:txBody>
      </p:sp>
    </p:spTree>
  </p:cSld>
  <p:clrMapOvr>
    <a:masterClrMapping/>
  </p:clrMapOvr>
  <p:transition xmlns:p14="http://schemas.microsoft.com/office/powerpoint/2010/main" p14:dur="380">
    <p:fade/>
  </p:transition>
</p:sld>
</file>

<file path=ppt/slides/slide3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DOMAIN 4 · CLOUDWATCH METRICS · LOGS · ALARMS · CONTRIBUTOR INSIGHTS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AWS foundations: Metrics, logs and alarms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PURPOSE</a:t>
            </a:r>
          </a:p>
          <a:p>
            <a:pPr algn="l">
              <a:spcAft>
                <a:spcPts val="300"/>
              </a:spcAft>
            </a:pPr>
            <a:r>
              <a:rPr sz="1050" b="0">
                <a:solidFill>
                  <a:srgbClr val="5B6372"/>
                </a:solidFill>
                <a:latin typeface="Arial"/>
              </a:rPr>
              <a:t>Turn workload and deployment signals into actionable views, alarms and release decisions.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FEATURE 1</a:t>
            </a:r>
          </a:p>
          <a:p>
            <a:pPr algn="l">
              <a:spcAft>
                <a:spcPts val="300"/>
              </a:spcAft>
            </a:pPr>
            <a:r>
              <a:rPr sz="1050" b="0">
                <a:solidFill>
                  <a:srgbClr val="5B6372"/>
                </a:solidFill>
                <a:latin typeface="Arial"/>
              </a:rPr>
              <a:t>Metrics are time-series values with dimensions; high-cardinality dimensions can increase cost and fragmentation.</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FEATURE 2</a:t>
            </a:r>
          </a:p>
          <a:p>
            <a:pPr algn="l">
              <a:spcAft>
                <a:spcPts val="300"/>
              </a:spcAft>
            </a:pPr>
            <a:r>
              <a:rPr sz="1050" b="0">
                <a:solidFill>
                  <a:srgbClr val="5B6372"/>
                </a:solidFill>
                <a:latin typeface="Arial"/>
              </a:rPr>
              <a:t>Logs supports structured ingestion, retention, subscriptions and Logs Insights queries.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FEATURE 3</a:t>
            </a:r>
          </a:p>
          <a:p>
            <a:pPr algn="l">
              <a:spcAft>
                <a:spcPts val="300"/>
              </a:spcAft>
            </a:pPr>
            <a:r>
              <a:rPr sz="1050" b="0">
                <a:solidFill>
                  <a:srgbClr val="5B6372"/>
                </a:solidFill>
                <a:latin typeface="Arial"/>
              </a:rPr>
              <a:t>Metric math, anomaly detection and composite alarms reduce noisy single-signal decisions.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381</a:t>
            </a:r>
          </a:p>
        </p:txBody>
      </p:sp>
    </p:spTree>
  </p:cSld>
  <p:clrMapOvr>
    <a:masterClrMapping/>
  </p:clrMapOvr>
  <p:transition xmlns:p14="http://schemas.microsoft.com/office/powerpoint/2010/main" p14:dur="380">
    <p:fade/>
  </p:transition>
</p:sld>
</file>

<file path=ppt/slides/slide3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DOMAIN 4 · SERVICE DECISION</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Metrics, logs and alarms: selection and controls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CHOOSE WHEN</a:t>
            </a:r>
          </a:p>
          <a:p>
            <a:pPr algn="l">
              <a:spcAft>
                <a:spcPts val="300"/>
              </a:spcAft>
            </a:pPr>
            <a:r>
              <a:rPr sz="1050" b="0">
                <a:solidFill>
                  <a:srgbClr val="5B6372"/>
                </a:solidFill>
                <a:latin typeface="Arial"/>
              </a:rPr>
              <a:t>Use metrics for numeric trends/alarms, logs for event detail and composite/SLO signals for user impact.</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DEVOPS ENGINEERING</a:t>
            </a:r>
          </a:p>
          <a:p>
            <a:pPr algn="l">
              <a:spcAft>
                <a:spcPts val="300"/>
              </a:spcAft>
            </a:pPr>
            <a:r>
              <a:rPr sz="1050" b="0">
                <a:solidFill>
                  <a:srgbClr val="5B6372"/>
                </a:solidFill>
                <a:latin typeface="Arial"/>
              </a:rPr>
              <a:t>Standardise dimensions, correlate release IDs, set retention, treat missing data deliberately and test alarm actions.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MODE</a:t>
            </a:r>
          </a:p>
          <a:p>
            <a:pPr algn="l">
              <a:spcAft>
                <a:spcPts val="300"/>
              </a:spcAft>
            </a:pPr>
            <a:r>
              <a:rPr sz="1050" b="0">
                <a:solidFill>
                  <a:srgbClr val="5B6372"/>
                </a:solidFill>
                <a:latin typeface="Arial"/>
              </a:rPr>
              <a:t>A low-level alarm without an owner, action or user-impact relationship creates noise rather than observability.</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EVIDENCE</a:t>
            </a:r>
          </a:p>
          <a:p>
            <a:pPr algn="l">
              <a:spcAft>
                <a:spcPts val="300"/>
              </a:spcAft>
            </a:pPr>
            <a:r>
              <a:rPr sz="1050" b="0">
                <a:solidFill>
                  <a:srgbClr val="5B6372"/>
                </a:solidFill>
                <a:latin typeface="Arial"/>
              </a:rPr>
              <a:t>Dashboard, query, alarm history, notification, release annotation and operator response.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382</a:t>
            </a:r>
          </a:p>
        </p:txBody>
      </p:sp>
    </p:spTree>
  </p:cSld>
  <p:clrMapOvr>
    <a:masterClrMapping/>
  </p:clrMapOvr>
  <p:transition xmlns:p14="http://schemas.microsoft.com/office/powerpoint/2010/main" p14:dur="380">
    <p:fade/>
  </p:transition>
</p:sld>
</file>

<file path=ppt/slides/slide3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DOMAIN 4 · X-RAY · CLOUDWATCH APPLICATION SIGNALS · SERVICELENS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AWS foundations: Tracing and service health</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PURPOSE</a:t>
            </a:r>
          </a:p>
          <a:p>
            <a:pPr algn="l">
              <a:spcAft>
                <a:spcPts val="300"/>
              </a:spcAft>
            </a:pPr>
            <a:r>
              <a:rPr sz="1050" b="0">
                <a:solidFill>
                  <a:srgbClr val="5B6372"/>
                </a:solidFill>
                <a:latin typeface="Arial"/>
              </a:rPr>
              <a:t>Correlate a user request across services and identify latency, faults, errors and dependency bottlenecks.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FEATURE 1</a:t>
            </a:r>
          </a:p>
          <a:p>
            <a:pPr algn="l">
              <a:spcAft>
                <a:spcPts val="300"/>
              </a:spcAft>
            </a:pPr>
            <a:r>
              <a:rPr sz="1050" b="0">
                <a:solidFill>
                  <a:srgbClr val="5B6372"/>
                </a:solidFill>
                <a:latin typeface="Arial"/>
              </a:rPr>
              <a:t>Trace segments/subsegments represent service work and downstream calls.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FEATURE 2</a:t>
            </a:r>
          </a:p>
          <a:p>
            <a:pPr algn="l">
              <a:spcAft>
                <a:spcPts val="300"/>
              </a:spcAft>
            </a:pPr>
            <a:r>
              <a:rPr sz="1050" b="0">
                <a:solidFill>
                  <a:srgbClr val="5B6372"/>
                </a:solidFill>
                <a:latin typeface="Arial"/>
              </a:rPr>
              <a:t>Sampling limits cost while preserving representative traces; annotations support indexed filtering.</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FEATURE 3</a:t>
            </a:r>
          </a:p>
          <a:p>
            <a:pPr algn="l">
              <a:spcAft>
                <a:spcPts val="300"/>
              </a:spcAft>
            </a:pPr>
            <a:r>
              <a:rPr sz="1050" b="0">
                <a:solidFill>
                  <a:srgbClr val="5B6372"/>
                </a:solidFill>
                <a:latin typeface="Arial"/>
              </a:rPr>
              <a:t>Application Signals adds service, operation and SLO-oriented telemetry for supported workloads.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383</a:t>
            </a:r>
          </a:p>
        </p:txBody>
      </p:sp>
    </p:spTree>
  </p:cSld>
  <p:clrMapOvr>
    <a:masterClrMapping/>
  </p:clrMapOvr>
  <p:transition xmlns:p14="http://schemas.microsoft.com/office/powerpoint/2010/main" p14:dur="380">
    <p:fade/>
  </p:transition>
</p:sld>
</file>

<file path=ppt/slides/slide3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DOMAIN 4 · SERVICE DECISION</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Tracing and service health: selection and controls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CHOOSE WHEN</a:t>
            </a:r>
          </a:p>
          <a:p>
            <a:pPr algn="l">
              <a:spcAft>
                <a:spcPts val="300"/>
              </a:spcAft>
            </a:pPr>
            <a:r>
              <a:rPr sz="1050" b="0">
                <a:solidFill>
                  <a:srgbClr val="5B6372"/>
                </a:solidFill>
                <a:latin typeface="Arial"/>
              </a:rPr>
              <a:t>Use distributed tracing when logs alone cannot explain cross-service latency or failure propagation.</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DEVOPS ENGINEERING</a:t>
            </a:r>
          </a:p>
          <a:p>
            <a:pPr algn="l">
              <a:spcAft>
                <a:spcPts val="300"/>
              </a:spcAft>
            </a:pPr>
            <a:r>
              <a:rPr sz="1050" b="0">
                <a:solidFill>
                  <a:srgbClr val="5B6372"/>
                </a:solidFill>
                <a:latin typeface="Arial"/>
              </a:rPr>
              <a:t>Propagate trace context, avoid sensitive annotations, correlate trace/release IDs and define service-level objectives.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MODE</a:t>
            </a:r>
          </a:p>
          <a:p>
            <a:pPr algn="l">
              <a:spcAft>
                <a:spcPts val="300"/>
              </a:spcAft>
            </a:pPr>
            <a:r>
              <a:rPr sz="1050" b="0">
                <a:solidFill>
                  <a:srgbClr val="5B6372"/>
                </a:solidFill>
                <a:latin typeface="Arial"/>
              </a:rPr>
              <a:t>Unsampled rare failures or missing context propagation create misleading service maps.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EVIDENCE</a:t>
            </a:r>
          </a:p>
          <a:p>
            <a:pPr algn="l">
              <a:spcAft>
                <a:spcPts val="300"/>
              </a:spcAft>
            </a:pPr>
            <a:r>
              <a:rPr sz="1050" b="0">
                <a:solidFill>
                  <a:srgbClr val="5B6372"/>
                </a:solidFill>
                <a:latin typeface="Arial"/>
              </a:rPr>
              <a:t>Trace ID, service map, fault/latency segment, correlated log, SLO burn and release identifier.</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384</a:t>
            </a:r>
          </a:p>
        </p:txBody>
      </p:sp>
    </p:spTree>
  </p:cSld>
  <p:clrMapOvr>
    <a:masterClrMapping/>
  </p:clrMapOvr>
  <p:transition xmlns:p14="http://schemas.microsoft.com/office/powerpoint/2010/main" p14:dur="380">
    <p:fade/>
  </p:transition>
</p:sld>
</file>

<file path=ppt/slides/slide3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DOMAIN 4 · OPENSEARCH SERVICE · MANAGED PROMETHEUS · MANAGED GRAFANA</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AWS foundations: Telemetry analytics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PURPOSE</a:t>
            </a:r>
          </a:p>
          <a:p>
            <a:pPr algn="l">
              <a:spcAft>
                <a:spcPts val="300"/>
              </a:spcAft>
            </a:pPr>
            <a:r>
              <a:rPr sz="1050" b="0">
                <a:solidFill>
                  <a:srgbClr val="5B6372"/>
                </a:solidFill>
                <a:latin typeface="Arial"/>
              </a:rPr>
              <a:t>Search, retain and visualise operational telemetry using tools matched to log, metric and dashboard workloads.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FEATURE 1</a:t>
            </a:r>
          </a:p>
          <a:p>
            <a:pPr algn="l">
              <a:spcAft>
                <a:spcPts val="300"/>
              </a:spcAft>
            </a:pPr>
            <a:r>
              <a:rPr sz="1050" b="0">
                <a:solidFill>
                  <a:srgbClr val="5B6372"/>
                </a:solidFill>
                <a:latin typeface="Arial"/>
              </a:rPr>
              <a:t>OpenSearch indexes/searches documents and can visualise log/event data.</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FEATURE 2</a:t>
            </a:r>
          </a:p>
          <a:p>
            <a:pPr algn="l">
              <a:spcAft>
                <a:spcPts val="300"/>
              </a:spcAft>
            </a:pPr>
            <a:r>
              <a:rPr sz="1050" b="0">
                <a:solidFill>
                  <a:srgbClr val="5B6372"/>
                </a:solidFill>
                <a:latin typeface="Arial"/>
              </a:rPr>
              <a:t>Managed Prometheus provides PromQL-compatible metric ingestion/query for container ecosystems.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FEATURE 3</a:t>
            </a:r>
          </a:p>
          <a:p>
            <a:pPr algn="l">
              <a:spcAft>
                <a:spcPts val="300"/>
              </a:spcAft>
            </a:pPr>
            <a:r>
              <a:rPr sz="1050" b="0">
                <a:solidFill>
                  <a:srgbClr val="5B6372"/>
                </a:solidFill>
                <a:latin typeface="Arial"/>
              </a:rPr>
              <a:t>Managed Grafana federates dashboards across approved data sources.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385</a:t>
            </a:r>
          </a:p>
        </p:txBody>
      </p:sp>
    </p:spTree>
  </p:cSld>
  <p:clrMapOvr>
    <a:masterClrMapping/>
  </p:clrMapOvr>
  <p:transition xmlns:p14="http://schemas.microsoft.com/office/powerpoint/2010/main" p14:dur="380">
    <p:fade/>
  </p:transition>
</p:sld>
</file>

<file path=ppt/slides/slide3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DOMAIN 4 · SERVICE DECISION</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Telemetry analytics: selection and controls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CHOOSE WHEN</a:t>
            </a:r>
          </a:p>
          <a:p>
            <a:pPr algn="l">
              <a:spcAft>
                <a:spcPts val="300"/>
              </a:spcAft>
            </a:pPr>
            <a:r>
              <a:rPr sz="1050" b="0">
                <a:solidFill>
                  <a:srgbClr val="5B6372"/>
                </a:solidFill>
                <a:latin typeface="Arial"/>
              </a:rPr>
              <a:t>Use native CloudWatch first for AWS-integrated operations; add OpenSearch or Prometheus/Grafana when search/query or ecosystem requirements justify them.</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DEVOPS ENGINEERING</a:t>
            </a:r>
          </a:p>
          <a:p>
            <a:pPr algn="l">
              <a:spcAft>
                <a:spcPts val="300"/>
              </a:spcAft>
            </a:pPr>
            <a:r>
              <a:rPr sz="1050" b="0">
                <a:solidFill>
                  <a:srgbClr val="5B6372"/>
                </a:solidFill>
                <a:latin typeface="Arial"/>
              </a:rPr>
              <a:t>Control tenancy, encryption, retention, shard/cardinality growth and dashboard access through federation.</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MODE</a:t>
            </a:r>
          </a:p>
          <a:p>
            <a:pPr algn="l">
              <a:spcAft>
                <a:spcPts val="300"/>
              </a:spcAft>
            </a:pPr>
            <a:r>
              <a:rPr sz="1050" b="0">
                <a:solidFill>
                  <a:srgbClr val="5B6372"/>
                </a:solidFill>
                <a:latin typeface="Arial"/>
              </a:rPr>
              <a:t>Unbounded log indexing or metric labels can create cost and performance failures.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EVIDENCE</a:t>
            </a:r>
          </a:p>
          <a:p>
            <a:pPr algn="l">
              <a:spcAft>
                <a:spcPts val="300"/>
              </a:spcAft>
            </a:pPr>
            <a:r>
              <a:rPr sz="1050" b="0">
                <a:solidFill>
                  <a:srgbClr val="5B6372"/>
                </a:solidFill>
                <a:latin typeface="Arial"/>
              </a:rPr>
              <a:t>Index policy, ingestion lag, query latency, series count, dashboard ownership and access log.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386</a:t>
            </a:r>
          </a:p>
        </p:txBody>
      </p:sp>
    </p:spTree>
  </p:cSld>
  <p:clrMapOvr>
    <a:masterClrMapping/>
  </p:clrMapOvr>
  <p:transition xmlns:p14="http://schemas.microsoft.com/office/powerpoint/2010/main" p14:dur="380">
    <p:fade/>
  </p:transition>
</p:sld>
</file>

<file path=ppt/slides/slide3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DOMAIN 4 · KINESIS DATA STREAMS · FIREHOSE · GLUE · ATHENA</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700" b="1">
                <a:solidFill>
                  <a:srgbClr val="161B26"/>
                </a:solidFill>
                <a:latin typeface="Arial"/>
              </a:rPr>
              <a:t>AWS foundations: Streaming and data engineering signals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PURPOSE</a:t>
            </a:r>
          </a:p>
          <a:p>
            <a:pPr algn="l">
              <a:spcAft>
                <a:spcPts val="300"/>
              </a:spcAft>
            </a:pPr>
            <a:r>
              <a:rPr sz="1050" b="0">
                <a:solidFill>
                  <a:srgbClr val="5B6372"/>
                </a:solidFill>
                <a:latin typeface="Arial"/>
              </a:rPr>
              <a:t>Move high-volume operational events into durable streams, delivery destinations and queryable evidence stores.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FEATURE 1</a:t>
            </a:r>
          </a:p>
          <a:p>
            <a:pPr algn="l">
              <a:spcAft>
                <a:spcPts val="300"/>
              </a:spcAft>
            </a:pPr>
            <a:r>
              <a:rPr sz="1050" b="0">
                <a:solidFill>
                  <a:srgbClr val="5B6372"/>
                </a:solidFill>
                <a:latin typeface="Arial"/>
              </a:rPr>
              <a:t>Kinesis Data Streams partitions records by key and exposes shard/consumer lag and retention controls.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FEATURE 2</a:t>
            </a:r>
          </a:p>
          <a:p>
            <a:pPr algn="l">
              <a:spcAft>
                <a:spcPts val="300"/>
              </a:spcAft>
            </a:pPr>
            <a:r>
              <a:rPr sz="1050" b="0">
                <a:solidFill>
                  <a:srgbClr val="5B6372"/>
                </a:solidFill>
                <a:latin typeface="Arial"/>
              </a:rPr>
              <a:t>Firehose buffers, optionally transforms and delivers data to destinations such as S3/OpenSearch.</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FEATURE 3</a:t>
            </a:r>
          </a:p>
          <a:p>
            <a:pPr algn="l">
              <a:spcAft>
                <a:spcPts val="300"/>
              </a:spcAft>
            </a:pPr>
            <a:r>
              <a:rPr sz="1050" b="0">
                <a:solidFill>
                  <a:srgbClr val="5B6372"/>
                </a:solidFill>
                <a:latin typeface="Arial"/>
              </a:rPr>
              <a:t>Glue Catalog describes datasets; Athena queries data in S3 and benefits from partitioning and columnar formats.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387</a:t>
            </a:r>
          </a:p>
        </p:txBody>
      </p:sp>
    </p:spTree>
  </p:cSld>
  <p:clrMapOvr>
    <a:masterClrMapping/>
  </p:clrMapOvr>
  <p:transition xmlns:p14="http://schemas.microsoft.com/office/powerpoint/2010/main" p14:dur="380">
    <p:fade/>
  </p:transition>
</p:sld>
</file>

<file path=ppt/slides/slide3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DOMAIN 4 · SERVICE DECISION</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500" b="1">
                <a:solidFill>
                  <a:srgbClr val="161B26"/>
                </a:solidFill>
                <a:latin typeface="Arial"/>
              </a:rPr>
              <a:t>Streaming and data engineering signals: selection and controls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CHOOSE WHEN</a:t>
            </a:r>
          </a:p>
          <a:p>
            <a:pPr algn="l">
              <a:spcAft>
                <a:spcPts val="300"/>
              </a:spcAft>
            </a:pPr>
            <a:r>
              <a:rPr sz="1050" b="0">
                <a:solidFill>
                  <a:srgbClr val="5B6372"/>
                </a:solidFill>
                <a:latin typeface="Arial"/>
              </a:rPr>
              <a:t>Use Streams for custom low-latency consumers/replay, Firehose for managed delivery, and S3/Glue/Athena for economical historical analysis.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DEVOPS ENGINEERING</a:t>
            </a:r>
          </a:p>
          <a:p>
            <a:pPr algn="l">
              <a:spcAft>
                <a:spcPts val="300"/>
              </a:spcAft>
            </a:pPr>
            <a:r>
              <a:rPr sz="1050" b="0">
                <a:solidFill>
                  <a:srgbClr val="5B6372"/>
                </a:solidFill>
                <a:latin typeface="Arial"/>
              </a:rPr>
              <a:t>Choose partition keys carefully, monitor iterator age, design replay/idempotency, encrypt records and control schema evolution.</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MODE</a:t>
            </a:r>
          </a:p>
          <a:p>
            <a:pPr algn="l">
              <a:spcAft>
                <a:spcPts val="300"/>
              </a:spcAft>
            </a:pPr>
            <a:r>
              <a:rPr sz="1050" b="0">
                <a:solidFill>
                  <a:srgbClr val="5B6372"/>
                </a:solidFill>
                <a:latin typeface="Arial"/>
              </a:rPr>
              <a:t>A hot partition throttles one shard even when the stream has unused capacity elsewhere.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EVIDENCE</a:t>
            </a:r>
          </a:p>
          <a:p>
            <a:pPr algn="l">
              <a:spcAft>
                <a:spcPts val="300"/>
              </a:spcAft>
            </a:pPr>
            <a:r>
              <a:rPr sz="1050" b="0">
                <a:solidFill>
                  <a:srgbClr val="5B6372"/>
                </a:solidFill>
                <a:latin typeface="Arial"/>
              </a:rPr>
              <a:t>Put-record result, shard distribution, iterator age, delivery error, catalog version, query and retention policy.</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388</a:t>
            </a:r>
          </a:p>
        </p:txBody>
      </p:sp>
    </p:spTree>
  </p:cSld>
  <p:clrMapOvr>
    <a:masterClrMapping/>
  </p:clrMapOvr>
  <p:transition xmlns:p14="http://schemas.microsoft.com/office/powerpoint/2010/main" p14:dur="380">
    <p:fade/>
  </p:transition>
</p:sld>
</file>

<file path=ppt/slides/slide3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DOMAIN 4 · AWS DEVELOPER SERVICES</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300" b="1">
                <a:solidFill>
                  <a:srgbClr val="161B26"/>
                </a:solidFill>
                <a:latin typeface="Arial"/>
              </a:rPr>
              <a:t>Developer deep dive: CloudWatch metrics, logs and alarm engineering</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PURPOSE</a:t>
            </a:r>
          </a:p>
          <a:p>
            <a:pPr algn="l">
              <a:spcAft>
                <a:spcPts val="300"/>
              </a:spcAft>
            </a:pPr>
            <a:r>
              <a:rPr sz="1050" b="0">
                <a:solidFill>
                  <a:srgbClr val="5B6372"/>
                </a:solidFill>
                <a:latin typeface="Arial"/>
              </a:rPr>
              <a:t>Create actionable observability from service, application and business signals instead of accumulating unowned telemetry.</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SERVICE BOUNDARY</a:t>
            </a:r>
          </a:p>
          <a:p>
            <a:pPr algn="l">
              <a:spcAft>
                <a:spcPts val="300"/>
              </a:spcAft>
            </a:pPr>
            <a:r>
              <a:rPr sz="1050" b="0">
                <a:solidFill>
                  <a:srgbClr val="5B6372"/>
                </a:solidFill>
                <a:latin typeface="Arial"/>
              </a:rPr>
              <a:t>CloudWatch Metrics · Logs · alarms · Logs Insights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PRIMARY DESIGN DECISION</a:t>
            </a:r>
          </a:p>
          <a:p>
            <a:pPr algn="l">
              <a:spcAft>
                <a:spcPts val="300"/>
              </a:spcAft>
            </a:pPr>
            <a:r>
              <a:rPr sz="1050" b="0">
                <a:solidFill>
                  <a:srgbClr val="5B6372"/>
                </a:solidFill>
                <a:latin typeface="Arial"/>
              </a:rPr>
              <a:t>Emit transaction success/failure and latency, annotate releases, alarm on error-rate/SLO burn and use a composite signal for rollback.</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BOUNDARY</a:t>
            </a:r>
          </a:p>
          <a:p>
            <a:pPr algn="l">
              <a:spcAft>
                <a:spcPts val="300"/>
              </a:spcAft>
            </a:pPr>
            <a:r>
              <a:rPr sz="1050" b="0">
                <a:solidFill>
                  <a:srgbClr val="5B6372"/>
                </a:solidFill>
                <a:latin typeface="Arial"/>
              </a:rPr>
              <a:t>CPU is not a user outcome; unbounded tenant IDs as dimensions can create excessive custom time series.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389</a:t>
            </a:r>
          </a:p>
        </p:txBody>
      </p:sp>
    </p:spTree>
  </p:cSld>
  <p:clrMapOvr>
    <a:masterClrMapping/>
  </p:clrMapOvr>
  <p:transition xmlns:p14="http://schemas.microsoft.com/office/powerpoint/2010/main" p14:dur="380">
    <p:fade/>
  </p:transition>
</p:sld>
</file>

<file path=ppt/slides/slide3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DOMAIN 4 · SERVICE MECHANICS</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500" b="1">
                <a:solidFill>
                  <a:srgbClr val="161B26"/>
                </a:solidFill>
                <a:latin typeface="Arial"/>
              </a:rPr>
              <a:t>CloudWatch metrics, logs and alarm engineering: how it works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1</a:t>
            </a:r>
          </a:p>
          <a:p>
            <a:pPr algn="l">
              <a:spcAft>
                <a:spcPts val="300"/>
              </a:spcAft>
            </a:pPr>
            <a:r>
              <a:rPr sz="1050" b="0">
                <a:solidFill>
                  <a:srgbClr val="5B6372"/>
                </a:solidFill>
                <a:latin typeface="Arial"/>
              </a:rPr>
              <a:t>Metrics combine namespace, name, dimensions, timestamp and value; every new dimension combination creates a distinct time series with cost and cardinality implications.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2</a:t>
            </a:r>
          </a:p>
          <a:p>
            <a:pPr algn="l">
              <a:spcAft>
                <a:spcPts val="300"/>
              </a:spcAft>
            </a:pPr>
            <a:r>
              <a:rPr sz="1050" b="0">
                <a:solidFill>
                  <a:srgbClr val="5B6372"/>
                </a:solidFill>
                <a:latin typeface="Arial"/>
              </a:rPr>
              <a:t>Embedded Metric Format extracts metrics from structured logs, allowing a single event to retain detail and contribute numeric signals.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3</a:t>
            </a:r>
          </a:p>
          <a:p>
            <a:pPr algn="l">
              <a:spcAft>
                <a:spcPts val="300"/>
              </a:spcAft>
            </a:pPr>
            <a:r>
              <a:rPr sz="1050" b="0">
                <a:solidFill>
                  <a:srgbClr val="5B6372"/>
                </a:solidFill>
                <a:latin typeface="Arial"/>
              </a:rPr>
              <a:t>Log groups define retention and encryption; subscription filters stream matching events to supported destinations for central analysis.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4</a:t>
            </a:r>
          </a:p>
          <a:p>
            <a:pPr algn="l">
              <a:spcAft>
                <a:spcPts val="300"/>
              </a:spcAft>
            </a:pPr>
            <a:r>
              <a:rPr sz="1050" b="0">
                <a:solidFill>
                  <a:srgbClr val="5B6372"/>
                </a:solidFill>
                <a:latin typeface="Arial"/>
              </a:rPr>
              <a:t>Metric math, anomaly detection and composite alarms combine signals, while missing-data treatment changes whether absence is healthy, breaching or unknown.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390</a:t>
            </a:r>
          </a:p>
        </p:txBody>
      </p:sp>
    </p:spTree>
  </p:cSld>
  <p:clrMapOvr>
    <a:masterClrMapping/>
  </p:clrMapOvr>
  <p:transition xmlns:p14="http://schemas.microsoft.com/office/powerpoint/2010/main" p14:dur="380">
    <p:fade/>
  </p:transition>
</p:sld>
</file>

<file path=ppt/slides/slide3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DOMAIN 4 · CONTROL AND DATA FLOW</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500" b="1">
                <a:solidFill>
                  <a:srgbClr val="161B26"/>
                </a:solidFill>
                <a:latin typeface="Arial"/>
              </a:rPr>
              <a:t>CloudWatch metrics, logs and alarm engineering: operating flow</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6354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79829"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982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Emit structured telemetry</a:t>
            </a:r>
          </a:p>
        </p:txBody>
      </p:sp>
      <p:sp>
        <p:nvSpPr>
          <p:cNvPr id="12" name="Rectangle 11"/>
          <p:cNvSpPr/>
          <p:nvPr/>
        </p:nvSpPr>
        <p:spPr>
          <a:xfrm>
            <a:off x="2969971"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69971" y="2148840"/>
            <a:ext cx="186354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572560"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72560"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6" name="TextBox 15"/>
          <p:cNvSpPr txBox="1"/>
          <p:nvPr/>
        </p:nvSpPr>
        <p:spPr>
          <a:xfrm>
            <a:off x="3088843"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Apply dimensions and retention</a:t>
            </a:r>
          </a:p>
        </p:txBody>
      </p:sp>
      <p:sp>
        <p:nvSpPr>
          <p:cNvPr id="17" name="Rectangle 16"/>
          <p:cNvSpPr/>
          <p:nvPr/>
        </p:nvSpPr>
        <p:spPr>
          <a:xfrm>
            <a:off x="5162702"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62702" y="2148840"/>
            <a:ext cx="186354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765291"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6529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1" name="TextBox 20"/>
          <p:cNvSpPr txBox="1"/>
          <p:nvPr/>
        </p:nvSpPr>
        <p:spPr>
          <a:xfrm>
            <a:off x="5281574"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Query and correlate release</a:t>
            </a:r>
          </a:p>
        </p:txBody>
      </p:sp>
      <p:sp>
        <p:nvSpPr>
          <p:cNvPr id="22" name="Rectangle 21"/>
          <p:cNvSpPr/>
          <p:nvPr/>
        </p:nvSpPr>
        <p:spPr>
          <a:xfrm>
            <a:off x="7355433"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355433" y="2148840"/>
            <a:ext cx="186354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958022"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5802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6" name="TextBox 25"/>
          <p:cNvSpPr txBox="1"/>
          <p:nvPr/>
        </p:nvSpPr>
        <p:spPr>
          <a:xfrm>
            <a:off x="7474305"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Evaluate SLO signal</a:t>
            </a:r>
          </a:p>
        </p:txBody>
      </p:sp>
      <p:sp>
        <p:nvSpPr>
          <p:cNvPr id="27" name="Rectangle 26"/>
          <p:cNvSpPr/>
          <p:nvPr/>
        </p:nvSpPr>
        <p:spPr>
          <a:xfrm>
            <a:off x="9548164"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548164" y="2148840"/>
            <a:ext cx="1863547" cy="914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50753" y="2532888"/>
            <a:ext cx="658368" cy="658368"/>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5075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5</a:t>
            </a:r>
          </a:p>
        </p:txBody>
      </p:sp>
      <p:sp>
        <p:nvSpPr>
          <p:cNvPr id="31" name="TextBox 30"/>
          <p:cNvSpPr txBox="1"/>
          <p:nvPr/>
        </p:nvSpPr>
        <p:spPr>
          <a:xfrm>
            <a:off x="9667036"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Notify owner or automate</a:t>
            </a:r>
          </a:p>
        </p:txBody>
      </p:sp>
      <p:cxnSp>
        <p:nvCxnSpPr>
          <p:cNvPr id="32" name="Connector 31"/>
          <p:cNvCxnSpPr/>
          <p:nvPr/>
        </p:nvCxnSpPr>
        <p:spPr>
          <a:xfrm>
            <a:off x="2640787"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83351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026249"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21898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F59E0B"/>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8" name="TextBox 3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9" name="TextBox 3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0" name="TextBox 3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391</a:t>
            </a:r>
          </a:p>
        </p:txBody>
      </p:sp>
    </p:spTree>
  </p:cSld>
  <p:clrMapOvr>
    <a:masterClrMapping/>
  </p:clrMapOvr>
  <p:transition xmlns:p14="http://schemas.microsoft.com/office/powerpoint/2010/main" p14:dur="380">
    <p:fade/>
  </p:transition>
</p:sld>
</file>

<file path=ppt/slides/slide3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DOMAIN 4 · CHOOSE DELIBERATELY</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100" b="1">
                <a:solidFill>
                  <a:srgbClr val="161B26"/>
                </a:solidFill>
                <a:latin typeface="Arial"/>
              </a:rPr>
              <a:t>CloudWatch metrics, logs and alarm engineering: configuration decisions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SIGNAL</a:t>
            </a:r>
          </a:p>
          <a:p>
            <a:pPr algn="l">
              <a:spcAft>
                <a:spcPts val="300"/>
              </a:spcAft>
            </a:pPr>
            <a:r>
              <a:rPr sz="1050" b="0">
                <a:solidFill>
                  <a:srgbClr val="5B6372"/>
                </a:solidFill>
                <a:latin typeface="Arial"/>
              </a:rPr>
              <a:t>Prefer request, error, duration and saturation indicators plus business outcomes over infrastructure-only dashboards.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ALARM</a:t>
            </a:r>
          </a:p>
          <a:p>
            <a:pPr algn="l">
              <a:spcAft>
                <a:spcPts val="300"/>
              </a:spcAft>
            </a:pPr>
            <a:r>
              <a:rPr sz="1050" b="0">
                <a:solidFill>
                  <a:srgbClr val="5B6372"/>
                </a:solidFill>
                <a:latin typeface="Arial"/>
              </a:rPr>
              <a:t>Define owner, severity, action, evaluation window and recovery behavior; test alarm transitions deliberately.</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LOGS</a:t>
            </a:r>
          </a:p>
          <a:p>
            <a:pPr algn="l">
              <a:spcAft>
                <a:spcPts val="300"/>
              </a:spcAft>
            </a:pPr>
            <a:r>
              <a:rPr sz="1050" b="0">
                <a:solidFill>
                  <a:srgbClr val="5B6372"/>
                </a:solidFill>
                <a:latin typeface="Arial"/>
              </a:rPr>
              <a:t>Use structured fields and correlation IDs, redact secrets and set retention from operational/legal need.</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COST</a:t>
            </a:r>
          </a:p>
          <a:p>
            <a:pPr algn="l">
              <a:spcAft>
                <a:spcPts val="300"/>
              </a:spcAft>
            </a:pPr>
            <a:r>
              <a:rPr sz="1050" b="0">
                <a:solidFill>
                  <a:srgbClr val="5B6372"/>
                </a:solidFill>
                <a:latin typeface="Arial"/>
              </a:rPr>
              <a:t>Control custom metric cardinality, log volume, ingestion class and query scan range.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392</a:t>
            </a:r>
          </a:p>
        </p:txBody>
      </p:sp>
    </p:spTree>
  </p:cSld>
  <p:clrMapOvr>
    <a:masterClrMapping/>
  </p:clrMapOvr>
  <p:transition xmlns:p14="http://schemas.microsoft.com/office/powerpoint/2010/main" p14:dur="380">
    <p:fade/>
  </p:transition>
</p:sld>
</file>

<file path=ppt/slides/slide3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DOMAIN 4 · APPLIED ARCHITECTURE</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1900" b="1">
                <a:solidFill>
                  <a:srgbClr val="161B26"/>
                </a:solidFill>
                <a:latin typeface="Arial"/>
              </a:rPr>
              <a:t>CloudWatch metrics, logs and alarm engineering: worked architecture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SCENARIO</a:t>
            </a:r>
          </a:p>
          <a:p>
            <a:pPr algn="l">
              <a:spcAft>
                <a:spcPts val="300"/>
              </a:spcAft>
            </a:pPr>
            <a:r>
              <a:rPr sz="1050" b="0">
                <a:solidFill>
                  <a:srgbClr val="5B6372"/>
                </a:solidFill>
                <a:latin typeface="Arial"/>
              </a:rPr>
              <a:t>A deployment increases checkout failures without raising CPU, so the existing fleet alarm remains green.</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DESIGN DECISION</a:t>
            </a:r>
          </a:p>
          <a:p>
            <a:pPr algn="l">
              <a:spcAft>
                <a:spcPts val="300"/>
              </a:spcAft>
            </a:pPr>
            <a:r>
              <a:rPr sz="1050" b="0">
                <a:solidFill>
                  <a:srgbClr val="5B6372"/>
                </a:solidFill>
                <a:latin typeface="Arial"/>
              </a:rPr>
              <a:t>Emit transaction success/failure and latency, annotate releases, alarm on error-rate/SLO burn and use a composite signal for rollback.</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TO AVOID</a:t>
            </a:r>
          </a:p>
          <a:p>
            <a:pPr algn="l">
              <a:spcAft>
                <a:spcPts val="300"/>
              </a:spcAft>
            </a:pPr>
            <a:r>
              <a:rPr sz="1050" b="0">
                <a:solidFill>
                  <a:srgbClr val="5B6372"/>
                </a:solidFill>
                <a:latin typeface="Arial"/>
              </a:rPr>
              <a:t>CPU is not a user outcome; unbounded tenant IDs as dimensions can create excessive custom time series.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ACCEPTANCE EVIDENCE</a:t>
            </a:r>
          </a:p>
          <a:p>
            <a:pPr algn="l">
              <a:spcAft>
                <a:spcPts val="300"/>
              </a:spcAft>
            </a:pPr>
            <a:r>
              <a:rPr sz="1050" b="0">
                <a:solidFill>
                  <a:srgbClr val="5B6372"/>
                </a:solidFill>
                <a:latin typeface="Arial"/>
              </a:rPr>
              <a:t>Metric schema, sample structured log, dashboard, query, alarm history, release annotation and operator action.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393</a:t>
            </a:r>
          </a:p>
        </p:txBody>
      </p:sp>
    </p:spTree>
  </p:cSld>
  <p:clrMapOvr>
    <a:masterClrMapping/>
  </p:clrMapOvr>
  <p:transition xmlns:p14="http://schemas.microsoft.com/office/powerpoint/2010/main" p14:dur="380">
    <p:fade/>
  </p:transition>
</p:sld>
</file>

<file path=ppt/slides/slide3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DOMAIN 4 · AWS DEVELOPER SERVICES</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100" b="1">
                <a:solidFill>
                  <a:srgbClr val="161B26"/>
                </a:solidFill>
                <a:latin typeface="Arial"/>
              </a:rPr>
              <a:t>Developer deep dive: Distributed tracing with X-Ray and OpenTelemetry</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PURPOSE</a:t>
            </a:r>
          </a:p>
          <a:p>
            <a:pPr algn="l">
              <a:spcAft>
                <a:spcPts val="300"/>
              </a:spcAft>
            </a:pPr>
            <a:r>
              <a:rPr sz="1050" b="0">
                <a:solidFill>
                  <a:srgbClr val="5B6372"/>
                </a:solidFill>
                <a:latin typeface="Arial"/>
              </a:rPr>
              <a:t>Follow requests across service boundaries and connect latency or faults to dependency, release and log evidence.</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SERVICE BOUNDARY</a:t>
            </a:r>
          </a:p>
          <a:p>
            <a:pPr algn="l">
              <a:spcAft>
                <a:spcPts val="300"/>
              </a:spcAft>
            </a:pPr>
            <a:r>
              <a:rPr sz="1050" b="0">
                <a:solidFill>
                  <a:srgbClr val="5B6372"/>
                </a:solidFill>
                <a:latin typeface="Arial"/>
              </a:rPr>
              <a:t>AWS X-Ray · ADOT · Application Signals · ServiceLens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PRIMARY DESIGN DECISION</a:t>
            </a:r>
          </a:p>
          <a:p>
            <a:pPr algn="l">
              <a:spcAft>
                <a:spcPts val="300"/>
              </a:spcAft>
            </a:pPr>
            <a:r>
              <a:rPr sz="1050" b="0">
                <a:solidFill>
                  <a:srgbClr val="5B6372"/>
                </a:solidFill>
                <a:latin typeface="Arial"/>
              </a:rPr>
              <a:t>Propagate trace context, instrument SDK/dependency calls, retain message correlation and compare queue delay with processing duration.</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BOUNDARY</a:t>
            </a:r>
          </a:p>
          <a:p>
            <a:pPr algn="l">
              <a:spcAft>
                <a:spcPts val="300"/>
              </a:spcAft>
            </a:pPr>
            <a:r>
              <a:rPr sz="1050" b="0">
                <a:solidFill>
                  <a:srgbClr val="5B6372"/>
                </a:solidFill>
                <a:latin typeface="Arial"/>
              </a:rPr>
              <a:t>A trace covering only the first Lambda misattributes queue time and hides downstream throttling.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394</a:t>
            </a:r>
          </a:p>
        </p:txBody>
      </p:sp>
    </p:spTree>
  </p:cSld>
  <p:clrMapOvr>
    <a:masterClrMapping/>
  </p:clrMapOvr>
  <p:transition xmlns:p14="http://schemas.microsoft.com/office/powerpoint/2010/main" p14:dur="380">
    <p:fade/>
  </p:transition>
</p:sld>
</file>

<file path=ppt/slides/slide3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DOMAIN 4 · SERVICE MECHANICS</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500" b="1">
                <a:solidFill>
                  <a:srgbClr val="161B26"/>
                </a:solidFill>
                <a:latin typeface="Arial"/>
              </a:rPr>
              <a:t>Distributed tracing with X-Ray and OpenTelemetry: how it works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1</a:t>
            </a:r>
          </a:p>
          <a:p>
            <a:pPr algn="l">
              <a:spcAft>
                <a:spcPts val="300"/>
              </a:spcAft>
            </a:pPr>
            <a:r>
              <a:rPr sz="1050" b="0">
                <a:solidFill>
                  <a:srgbClr val="5B6372"/>
                </a:solidFill>
                <a:latin typeface="Arial"/>
              </a:rPr>
              <a:t>Trace context propagates a trace identifier and sampling decision; each service contributes spans or X-Ray segments/subsegments describing timed work.</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2</a:t>
            </a:r>
          </a:p>
          <a:p>
            <a:pPr algn="l">
              <a:spcAft>
                <a:spcPts val="300"/>
              </a:spcAft>
            </a:pPr>
            <a:r>
              <a:rPr sz="1050" b="0">
                <a:solidFill>
                  <a:srgbClr val="5B6372"/>
                </a:solidFill>
                <a:latin typeface="Arial"/>
              </a:rPr>
              <a:t>Sampling reduces telemetry volume and must preserve enough rare or high-value failures for diagnosis; head and tail sampling have different visibility trade-offs.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3</a:t>
            </a:r>
          </a:p>
          <a:p>
            <a:pPr algn="l">
              <a:spcAft>
                <a:spcPts val="300"/>
              </a:spcAft>
            </a:pPr>
            <a:r>
              <a:rPr sz="1050" b="0">
                <a:solidFill>
                  <a:srgbClr val="5B6372"/>
                </a:solidFill>
                <a:latin typeface="Arial"/>
              </a:rPr>
              <a:t>Annotations are indexed fields for trace filtering, while metadata stores unindexed context; neither should contain secrets or regulated payloads.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4</a:t>
            </a:r>
          </a:p>
          <a:p>
            <a:pPr algn="l">
              <a:spcAft>
                <a:spcPts val="300"/>
              </a:spcAft>
            </a:pPr>
            <a:r>
              <a:rPr sz="1050" b="0">
                <a:solidFill>
                  <a:srgbClr val="5B6372"/>
                </a:solidFill>
                <a:latin typeface="Arial"/>
              </a:rPr>
              <a:t>AWS Distro for OpenTelemetry collects standard traces and metrics and can export to supported AWS or third-party backends.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395</a:t>
            </a:r>
          </a:p>
        </p:txBody>
      </p:sp>
    </p:spTree>
  </p:cSld>
  <p:clrMapOvr>
    <a:masterClrMapping/>
  </p:clrMapOvr>
  <p:transition xmlns:p14="http://schemas.microsoft.com/office/powerpoint/2010/main" p14:dur="380">
    <p:fade/>
  </p:transition>
</p:sld>
</file>

<file path=ppt/slides/slide3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DOMAIN 4 · CONTROL AND DATA FLOW</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500" b="1">
                <a:solidFill>
                  <a:srgbClr val="161B26"/>
                </a:solidFill>
                <a:latin typeface="Arial"/>
              </a:rPr>
              <a:t>Distributed tracing with X-Ray and OpenTelemetry: operating flow</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6354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79829"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982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Receive trace context</a:t>
            </a:r>
          </a:p>
        </p:txBody>
      </p:sp>
      <p:sp>
        <p:nvSpPr>
          <p:cNvPr id="12" name="Rectangle 11"/>
          <p:cNvSpPr/>
          <p:nvPr/>
        </p:nvSpPr>
        <p:spPr>
          <a:xfrm>
            <a:off x="2969971"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69971" y="2148840"/>
            <a:ext cx="186354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572560"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72560"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6" name="TextBox 15"/>
          <p:cNvSpPr txBox="1"/>
          <p:nvPr/>
        </p:nvSpPr>
        <p:spPr>
          <a:xfrm>
            <a:off x="3088843"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Create server span</a:t>
            </a:r>
          </a:p>
        </p:txBody>
      </p:sp>
      <p:sp>
        <p:nvSpPr>
          <p:cNvPr id="17" name="Rectangle 16"/>
          <p:cNvSpPr/>
          <p:nvPr/>
        </p:nvSpPr>
        <p:spPr>
          <a:xfrm>
            <a:off x="5162702"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62702" y="2148840"/>
            <a:ext cx="186354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765291"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6529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1" name="TextBox 20"/>
          <p:cNvSpPr txBox="1"/>
          <p:nvPr/>
        </p:nvSpPr>
        <p:spPr>
          <a:xfrm>
            <a:off x="5281574"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Instrument dependency call</a:t>
            </a:r>
          </a:p>
        </p:txBody>
      </p:sp>
      <p:sp>
        <p:nvSpPr>
          <p:cNvPr id="22" name="Rectangle 21"/>
          <p:cNvSpPr/>
          <p:nvPr/>
        </p:nvSpPr>
        <p:spPr>
          <a:xfrm>
            <a:off x="7355433"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355433" y="2148840"/>
            <a:ext cx="186354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958022"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5802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6" name="TextBox 25"/>
          <p:cNvSpPr txBox="1"/>
          <p:nvPr/>
        </p:nvSpPr>
        <p:spPr>
          <a:xfrm>
            <a:off x="7474305"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Export sampled telemetry</a:t>
            </a:r>
          </a:p>
        </p:txBody>
      </p:sp>
      <p:sp>
        <p:nvSpPr>
          <p:cNvPr id="27" name="Rectangle 26"/>
          <p:cNvSpPr/>
          <p:nvPr/>
        </p:nvSpPr>
        <p:spPr>
          <a:xfrm>
            <a:off x="9548164"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548164" y="2148840"/>
            <a:ext cx="1863547" cy="914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50753" y="2532888"/>
            <a:ext cx="658368" cy="658368"/>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5075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5</a:t>
            </a:r>
          </a:p>
        </p:txBody>
      </p:sp>
      <p:sp>
        <p:nvSpPr>
          <p:cNvPr id="31" name="TextBox 30"/>
          <p:cNvSpPr txBox="1"/>
          <p:nvPr/>
        </p:nvSpPr>
        <p:spPr>
          <a:xfrm>
            <a:off x="9667036"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Correlate map, logs and release</a:t>
            </a:r>
          </a:p>
        </p:txBody>
      </p:sp>
      <p:cxnSp>
        <p:nvCxnSpPr>
          <p:cNvPr id="32" name="Connector 31"/>
          <p:cNvCxnSpPr/>
          <p:nvPr/>
        </p:nvCxnSpPr>
        <p:spPr>
          <a:xfrm>
            <a:off x="2640787"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83351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026249"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21898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F59E0B"/>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8" name="TextBox 3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9" name="TextBox 3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0" name="TextBox 3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396</a:t>
            </a:r>
          </a:p>
        </p:txBody>
      </p:sp>
    </p:spTree>
  </p:cSld>
  <p:clrMapOvr>
    <a:masterClrMapping/>
  </p:clrMapOvr>
  <p:transition xmlns:p14="http://schemas.microsoft.com/office/powerpoint/2010/main" p14:dur="380">
    <p:fade/>
  </p:transition>
</p:sld>
</file>

<file path=ppt/slides/slide3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DOMAIN 4 · CHOOSE DELIBERATELY</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100" b="1">
                <a:solidFill>
                  <a:srgbClr val="161B26"/>
                </a:solidFill>
                <a:latin typeface="Arial"/>
              </a:rPr>
              <a:t>Distributed tracing with X-Ray and OpenTelemetry: configuration decisions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PROPAGATION</a:t>
            </a:r>
          </a:p>
          <a:p>
            <a:pPr algn="l">
              <a:spcAft>
                <a:spcPts val="300"/>
              </a:spcAft>
            </a:pPr>
            <a:r>
              <a:rPr sz="1050" b="0">
                <a:solidFill>
                  <a:srgbClr val="5B6372"/>
                </a:solidFill>
                <a:latin typeface="Arial"/>
              </a:rPr>
              <a:t>Instrument every protocol boundary or explicitly bridge trace headers; one missing hop fragments the service map.</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SAMPLING</a:t>
            </a:r>
          </a:p>
          <a:p>
            <a:pPr algn="l">
              <a:spcAft>
                <a:spcPts val="300"/>
              </a:spcAft>
            </a:pPr>
            <a:r>
              <a:rPr sz="1050" b="0">
                <a:solidFill>
                  <a:srgbClr val="5B6372"/>
                </a:solidFill>
                <a:latin typeface="Arial"/>
              </a:rPr>
              <a:t>Set rules by service/path/value and monitor cost; preserve critical errors through appropriate sampling strategy.</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ASYNC WORK</a:t>
            </a:r>
          </a:p>
          <a:p>
            <a:pPr algn="l">
              <a:spcAft>
                <a:spcPts val="300"/>
              </a:spcAft>
            </a:pPr>
            <a:r>
              <a:rPr sz="1050" b="0">
                <a:solidFill>
                  <a:srgbClr val="5B6372"/>
                </a:solidFill>
                <a:latin typeface="Arial"/>
              </a:rPr>
              <a:t>Link producer and consumer context without pretending queued time is synchronous processing.</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PRIVACY</a:t>
            </a:r>
          </a:p>
          <a:p>
            <a:pPr algn="l">
              <a:spcAft>
                <a:spcPts val="300"/>
              </a:spcAft>
            </a:pPr>
            <a:r>
              <a:rPr sz="1050" b="0">
                <a:solidFill>
                  <a:srgbClr val="5B6372"/>
                </a:solidFill>
                <a:latin typeface="Arial"/>
              </a:rPr>
              <a:t>Record identifiers needed for correlation but exclude credentials, tokens and sensitive payloads.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397</a:t>
            </a:r>
          </a:p>
        </p:txBody>
      </p:sp>
    </p:spTree>
  </p:cSld>
  <p:clrMapOvr>
    <a:masterClrMapping/>
  </p:clrMapOvr>
  <p:transition xmlns:p14="http://schemas.microsoft.com/office/powerpoint/2010/main" p14:dur="380">
    <p:fade/>
  </p:transition>
</p:sld>
</file>

<file path=ppt/slides/slide3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DOMAIN 4 · APPLIED ARCHITECTURE</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1900" b="1">
                <a:solidFill>
                  <a:srgbClr val="161B26"/>
                </a:solidFill>
                <a:latin typeface="Arial"/>
              </a:rPr>
              <a:t>Distributed tracing with X-Ray and OpenTelemetry: worked architecture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SCENARIO</a:t>
            </a:r>
          </a:p>
          <a:p>
            <a:pPr algn="l">
              <a:spcAft>
                <a:spcPts val="300"/>
              </a:spcAft>
            </a:pPr>
            <a:r>
              <a:rPr sz="1050" b="0">
                <a:solidFill>
                  <a:srgbClr val="5B6372"/>
                </a:solidFill>
                <a:latin typeface="Arial"/>
              </a:rPr>
              <a:t>A serverless request is fast at the API edge but intermittently slow after two asynchronous downstream steps.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DESIGN DECISION</a:t>
            </a:r>
          </a:p>
          <a:p>
            <a:pPr algn="l">
              <a:spcAft>
                <a:spcPts val="300"/>
              </a:spcAft>
            </a:pPr>
            <a:r>
              <a:rPr sz="1050" b="0">
                <a:solidFill>
                  <a:srgbClr val="5B6372"/>
                </a:solidFill>
                <a:latin typeface="Arial"/>
              </a:rPr>
              <a:t>Propagate trace context, instrument SDK/dependency calls, retain message correlation and compare queue delay with processing duration.</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TO AVOID</a:t>
            </a:r>
          </a:p>
          <a:p>
            <a:pPr algn="l">
              <a:spcAft>
                <a:spcPts val="300"/>
              </a:spcAft>
            </a:pPr>
            <a:r>
              <a:rPr sz="1050" b="0">
                <a:solidFill>
                  <a:srgbClr val="5B6372"/>
                </a:solidFill>
                <a:latin typeface="Arial"/>
              </a:rPr>
              <a:t>A trace covering only the first Lambda misattributes queue time and hides downstream throttling.</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ACCEPTANCE EVIDENCE</a:t>
            </a:r>
          </a:p>
          <a:p>
            <a:pPr algn="l">
              <a:spcAft>
                <a:spcPts val="300"/>
              </a:spcAft>
            </a:pPr>
            <a:r>
              <a:rPr sz="1050" b="0">
                <a:solidFill>
                  <a:srgbClr val="5B6372"/>
                </a:solidFill>
                <a:latin typeface="Arial"/>
              </a:rPr>
              <a:t>Trace ID, sampled spans, service map, fault/latency segment, correlated log/request ID and deployment version.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398</a:t>
            </a:r>
          </a:p>
        </p:txBody>
      </p:sp>
    </p:spTree>
  </p:cSld>
  <p:clrMapOvr>
    <a:masterClrMapping/>
  </p:clrMapOvr>
  <p:transition xmlns:p14="http://schemas.microsoft.com/office/powerpoint/2010/main" p14:dur="380">
    <p:fade/>
  </p:transition>
</p:sld>
</file>

<file path=ppt/slides/slide4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DOMAIN 4 · AWS DEVELOPER SERVICES</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500" b="1">
                <a:solidFill>
                  <a:srgbClr val="161B26"/>
                </a:solidFill>
                <a:latin typeface="Arial"/>
              </a:rPr>
              <a:t>Developer deep dive: Kinesis, Firehose and queryable event lakes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PURPOSE</a:t>
            </a:r>
          </a:p>
          <a:p>
            <a:pPr algn="l">
              <a:spcAft>
                <a:spcPts val="300"/>
              </a:spcAft>
            </a:pPr>
            <a:r>
              <a:rPr sz="1050" b="0">
                <a:solidFill>
                  <a:srgbClr val="5B6372"/>
                </a:solidFill>
                <a:latin typeface="Arial"/>
              </a:rPr>
              <a:t>Ingest, replay, deliver and query high-volume operational events while controlling partition balance, lag and schema evolution.</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SERVICE BOUNDARY</a:t>
            </a:r>
          </a:p>
          <a:p>
            <a:pPr algn="l">
              <a:spcAft>
                <a:spcPts val="300"/>
              </a:spcAft>
            </a:pPr>
            <a:r>
              <a:rPr sz="1050" b="0">
                <a:solidFill>
                  <a:srgbClr val="5B6372"/>
                </a:solidFill>
                <a:latin typeface="Arial"/>
              </a:rPr>
              <a:t>Kinesis Data Streams · Firehose · Glue · Athena</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PRIMARY DESIGN DECISION</a:t>
            </a:r>
          </a:p>
          <a:p>
            <a:pPr algn="l">
              <a:spcAft>
                <a:spcPts val="300"/>
              </a:spcAft>
            </a:pPr>
            <a:r>
              <a:rPr sz="1050" b="0">
                <a:solidFill>
                  <a:srgbClr val="5B6372"/>
                </a:solidFill>
                <a:latin typeface="Arial"/>
              </a:rPr>
              <a:t>Redesign the partition key with controlled distribution, preserve customer queryability in record fields and scale consumers from measured lag.</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BOUNDARY</a:t>
            </a:r>
          </a:p>
          <a:p>
            <a:pPr algn="l">
              <a:spcAft>
                <a:spcPts val="300"/>
              </a:spcAft>
            </a:pPr>
            <a:r>
              <a:rPr sz="1050" b="0">
                <a:solidFill>
                  <a:srgbClr val="5B6372"/>
                </a:solidFill>
                <a:latin typeface="Arial"/>
              </a:rPr>
              <a:t>Adding shards does not fix an unchanged hot key; retrying failed records without checkpoints can duplicate downstream work.</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399</a:t>
            </a:r>
          </a:p>
        </p:txBody>
      </p:sp>
    </p:spTree>
  </p:cSld>
  <p:clrMapOvr>
    <a:masterClrMapping/>
  </p:clrMapOvr>
  <p:transition xmlns:p14="http://schemas.microsoft.com/office/powerpoint/2010/main" p14:dur="380">
    <p:fade/>
  </p:transition>
</p:sld>
</file>

<file path=ppt/slides/slide4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DOMAIN 4 · SERVICE MECHANICS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700" b="1">
                <a:solidFill>
                  <a:srgbClr val="161B26"/>
                </a:solidFill>
                <a:latin typeface="Arial"/>
              </a:rPr>
              <a:t>Kinesis, Firehose and queryable event lakes: how it works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1</a:t>
            </a:r>
          </a:p>
          <a:p>
            <a:pPr algn="l">
              <a:spcAft>
                <a:spcPts val="300"/>
              </a:spcAft>
            </a:pPr>
            <a:r>
              <a:rPr sz="1050" b="0">
                <a:solidFill>
                  <a:srgbClr val="5B6372"/>
                </a:solidFill>
                <a:latin typeface="Arial"/>
              </a:rPr>
              <a:t>Data Streams assigns records to shards from the partition key; consumer lag and hot shards are therefore functions of key distribution and per-shard throughput.</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2</a:t>
            </a:r>
          </a:p>
          <a:p>
            <a:pPr algn="l">
              <a:spcAft>
                <a:spcPts val="300"/>
              </a:spcAft>
            </a:pPr>
            <a:r>
              <a:rPr sz="1050" b="0">
                <a:solidFill>
                  <a:srgbClr val="5B6372"/>
                </a:solidFill>
                <a:latin typeface="Arial"/>
              </a:rPr>
              <a:t>Enhanced fan-out gives registered consumers dedicated read throughput, while shared polling consumers compete within shard limits.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3</a:t>
            </a:r>
          </a:p>
          <a:p>
            <a:pPr algn="l">
              <a:spcAft>
                <a:spcPts val="300"/>
              </a:spcAft>
            </a:pPr>
            <a:r>
              <a:rPr sz="1050" b="0">
                <a:solidFill>
                  <a:srgbClr val="5B6372"/>
                </a:solidFill>
                <a:latin typeface="Arial"/>
              </a:rPr>
              <a:t>Firehose buffers by size/time, can transform records and delivers to destinations with backup/error prefixes for failed data.</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4</a:t>
            </a:r>
          </a:p>
          <a:p>
            <a:pPr algn="l">
              <a:spcAft>
                <a:spcPts val="300"/>
              </a:spcAft>
            </a:pPr>
            <a:r>
              <a:rPr sz="1050" b="0">
                <a:solidFill>
                  <a:srgbClr val="5B6372"/>
                </a:solidFill>
                <a:latin typeface="Arial"/>
              </a:rPr>
              <a:t>S3 partitioning, Glue catalog metadata and columnar formats such as Parquet reduce Athena scan volume and make historical evidence economical.</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400</a:t>
            </a:r>
          </a:p>
        </p:txBody>
      </p:sp>
    </p:spTree>
  </p:cSld>
  <p:clrMapOvr>
    <a:masterClrMapping/>
  </p:clrMapOvr>
  <p:transition xmlns:p14="http://schemas.microsoft.com/office/powerpoint/2010/main" p14:dur="380">
    <p:fade/>
  </p:transition>
</p:sld>
</file>

<file path=ppt/slides/slide4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DOMAIN 4 · CONTROL AND DATA FLOW</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700" b="1">
                <a:solidFill>
                  <a:srgbClr val="161B26"/>
                </a:solidFill>
                <a:latin typeface="Arial"/>
              </a:rPr>
              <a:t>Kinesis, Firehose and queryable event lakes: operating flow</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6354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79829"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982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Choose partition key</a:t>
            </a:r>
          </a:p>
        </p:txBody>
      </p:sp>
      <p:sp>
        <p:nvSpPr>
          <p:cNvPr id="12" name="Rectangle 11"/>
          <p:cNvSpPr/>
          <p:nvPr/>
        </p:nvSpPr>
        <p:spPr>
          <a:xfrm>
            <a:off x="2969971"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69971" y="2148840"/>
            <a:ext cx="186354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572560"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72560"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6" name="TextBox 15"/>
          <p:cNvSpPr txBox="1"/>
          <p:nvPr/>
        </p:nvSpPr>
        <p:spPr>
          <a:xfrm>
            <a:off x="3088843"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Write with retry and ordering</a:t>
            </a:r>
          </a:p>
        </p:txBody>
      </p:sp>
      <p:sp>
        <p:nvSpPr>
          <p:cNvPr id="17" name="Rectangle 16"/>
          <p:cNvSpPr/>
          <p:nvPr/>
        </p:nvSpPr>
        <p:spPr>
          <a:xfrm>
            <a:off x="5162702"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62702" y="2148840"/>
            <a:ext cx="186354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765291"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6529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1" name="TextBox 20"/>
          <p:cNvSpPr txBox="1"/>
          <p:nvPr/>
        </p:nvSpPr>
        <p:spPr>
          <a:xfrm>
            <a:off x="5281574"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Consume/checkpoint</a:t>
            </a:r>
          </a:p>
        </p:txBody>
      </p:sp>
      <p:sp>
        <p:nvSpPr>
          <p:cNvPr id="22" name="Rectangle 21"/>
          <p:cNvSpPr/>
          <p:nvPr/>
        </p:nvSpPr>
        <p:spPr>
          <a:xfrm>
            <a:off x="7355433"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355433" y="2148840"/>
            <a:ext cx="186354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958022"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5802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6" name="TextBox 25"/>
          <p:cNvSpPr txBox="1"/>
          <p:nvPr/>
        </p:nvSpPr>
        <p:spPr>
          <a:xfrm>
            <a:off x="7474305"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Deliver and catalog</a:t>
            </a:r>
          </a:p>
        </p:txBody>
      </p:sp>
      <p:sp>
        <p:nvSpPr>
          <p:cNvPr id="27" name="Rectangle 26"/>
          <p:cNvSpPr/>
          <p:nvPr/>
        </p:nvSpPr>
        <p:spPr>
          <a:xfrm>
            <a:off x="9548164"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548164" y="2148840"/>
            <a:ext cx="1863547" cy="914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50753" y="2532888"/>
            <a:ext cx="658368" cy="658368"/>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5075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5</a:t>
            </a:r>
          </a:p>
        </p:txBody>
      </p:sp>
      <p:sp>
        <p:nvSpPr>
          <p:cNvPr id="31" name="TextBox 30"/>
          <p:cNvSpPr txBox="1"/>
          <p:nvPr/>
        </p:nvSpPr>
        <p:spPr>
          <a:xfrm>
            <a:off x="9667036"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Query lag, errors and history</a:t>
            </a:r>
          </a:p>
        </p:txBody>
      </p:sp>
      <p:cxnSp>
        <p:nvCxnSpPr>
          <p:cNvPr id="32" name="Connector 31"/>
          <p:cNvCxnSpPr/>
          <p:nvPr/>
        </p:nvCxnSpPr>
        <p:spPr>
          <a:xfrm>
            <a:off x="2640787"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83351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026249"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21898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F59E0B"/>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8" name="TextBox 3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9" name="TextBox 3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0" name="TextBox 3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401</a:t>
            </a:r>
          </a:p>
        </p:txBody>
      </p:sp>
    </p:spTree>
  </p:cSld>
  <p:clrMapOvr>
    <a:masterClrMapping/>
  </p:clrMapOvr>
  <p:transition xmlns:p14="http://schemas.microsoft.com/office/powerpoint/2010/main" p14:dur="380">
    <p:fade/>
  </p:transition>
</p:sld>
</file>

<file path=ppt/slides/slide4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DOMAIN 4 · CHOOSE DELIBERATELY</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300" b="1">
                <a:solidFill>
                  <a:srgbClr val="161B26"/>
                </a:solidFill>
                <a:latin typeface="Arial"/>
              </a:rPr>
              <a:t>Kinesis, Firehose and queryable event lakes: configuration decisions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STREAMS</a:t>
            </a:r>
          </a:p>
          <a:p>
            <a:pPr algn="l">
              <a:spcAft>
                <a:spcPts val="300"/>
              </a:spcAft>
            </a:pPr>
            <a:r>
              <a:rPr sz="1050" b="0">
                <a:solidFill>
                  <a:srgbClr val="5B6372"/>
                </a:solidFill>
                <a:latin typeface="Arial"/>
              </a:rPr>
              <a:t>Choose when custom consumers, replay, ordering within a shard or low-latency processing are required.</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FIREHOSE</a:t>
            </a:r>
          </a:p>
          <a:p>
            <a:pPr algn="l">
              <a:spcAft>
                <a:spcPts val="300"/>
              </a:spcAft>
            </a:pPr>
            <a:r>
              <a:rPr sz="1050" b="0">
                <a:solidFill>
                  <a:srgbClr val="5B6372"/>
                </a:solidFill>
                <a:latin typeface="Arial"/>
              </a:rPr>
              <a:t>Choose for managed buffered delivery where application-controlled replay/consumer logic is not required.</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SCHEMA</a:t>
            </a:r>
          </a:p>
          <a:p>
            <a:pPr algn="l">
              <a:spcAft>
                <a:spcPts val="300"/>
              </a:spcAft>
            </a:pPr>
            <a:r>
              <a:rPr sz="1050" b="0">
                <a:solidFill>
                  <a:srgbClr val="5B6372"/>
                </a:solidFill>
                <a:latin typeface="Arial"/>
              </a:rPr>
              <a:t>Version records compatibly and quarantine malformed events instead of blocking an entire consumer shard.</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SECURITY</a:t>
            </a:r>
          </a:p>
          <a:p>
            <a:pPr algn="l">
              <a:spcAft>
                <a:spcPts val="300"/>
              </a:spcAft>
            </a:pPr>
            <a:r>
              <a:rPr sz="1050" b="0">
                <a:solidFill>
                  <a:srgbClr val="5B6372"/>
                </a:solidFill>
                <a:latin typeface="Arial"/>
              </a:rPr>
              <a:t>Encrypt in transit/at rest, scope producer/consumer roles and protect destination prefixes/catalog access.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402</a:t>
            </a:r>
          </a:p>
        </p:txBody>
      </p:sp>
    </p:spTree>
  </p:cSld>
  <p:clrMapOvr>
    <a:masterClrMapping/>
  </p:clrMapOvr>
  <p:transition xmlns:p14="http://schemas.microsoft.com/office/powerpoint/2010/main" p14:dur="380">
    <p:fade/>
  </p:transition>
</p:sld>
</file>

<file path=ppt/slides/slide4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DOMAIN 4 · APPLIED ARCHITECTURE</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100" b="1">
                <a:solidFill>
                  <a:srgbClr val="161B26"/>
                </a:solidFill>
                <a:latin typeface="Arial"/>
              </a:rPr>
              <a:t>Kinesis, Firehose and queryable event lakes: worked architecture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SCENARIO</a:t>
            </a:r>
          </a:p>
          <a:p>
            <a:pPr algn="l">
              <a:spcAft>
                <a:spcPts val="300"/>
              </a:spcAft>
            </a:pPr>
            <a:r>
              <a:rPr sz="1050" b="0">
                <a:solidFill>
                  <a:srgbClr val="5B6372"/>
                </a:solidFill>
                <a:latin typeface="Arial"/>
              </a:rPr>
              <a:t>One customer ID dominates the stream and causes high iterator age while other shards remain idle.</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DESIGN DECISION</a:t>
            </a:r>
          </a:p>
          <a:p>
            <a:pPr algn="l">
              <a:spcAft>
                <a:spcPts val="300"/>
              </a:spcAft>
            </a:pPr>
            <a:r>
              <a:rPr sz="1050" b="0">
                <a:solidFill>
                  <a:srgbClr val="5B6372"/>
                </a:solidFill>
                <a:latin typeface="Arial"/>
              </a:rPr>
              <a:t>Redesign the partition key with controlled distribution, preserve customer queryability in record fields and scale consumers from measured lag.</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TO AVOID</a:t>
            </a:r>
          </a:p>
          <a:p>
            <a:pPr algn="l">
              <a:spcAft>
                <a:spcPts val="300"/>
              </a:spcAft>
            </a:pPr>
            <a:r>
              <a:rPr sz="1050" b="0">
                <a:solidFill>
                  <a:srgbClr val="5B6372"/>
                </a:solidFill>
                <a:latin typeface="Arial"/>
              </a:rPr>
              <a:t>Adding shards does not fix an unchanged hot key; retrying failed records without checkpoints can duplicate downstream work.</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ACCEPTANCE EVIDENCE</a:t>
            </a:r>
          </a:p>
          <a:p>
            <a:pPr algn="l">
              <a:spcAft>
                <a:spcPts val="300"/>
              </a:spcAft>
            </a:pPr>
            <a:r>
              <a:rPr sz="1050" b="0">
                <a:solidFill>
                  <a:srgbClr val="5B6372"/>
                </a:solidFill>
                <a:latin typeface="Arial"/>
              </a:rPr>
              <a:t>Put-record responses, per-shard throughput, iterator age, checkpoint, delivery errors, catalog version and Athena query result.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403</a:t>
            </a:r>
          </a:p>
        </p:txBody>
      </p:sp>
    </p:spTree>
  </p:cSld>
  <p:clrMapOvr>
    <a:masterClrMapping/>
  </p:clrMapOvr>
  <p:transition xmlns:p14="http://schemas.microsoft.com/office/powerpoint/2010/main" p14:dur="380">
    <p:fade/>
  </p:transition>
</p:sld>
</file>

<file path=ppt/slides/slide4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DOMAIN 4 · MONITORING AND LOGGING</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Metrics, dimensions and service objectives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OUTCOME</a:t>
            </a:r>
          </a:p>
          <a:p>
            <a:pPr algn="l">
              <a:spcAft>
                <a:spcPts val="300"/>
              </a:spcAft>
            </a:pPr>
            <a:r>
              <a:rPr sz="1050" b="0">
                <a:solidFill>
                  <a:srgbClr val="5B6372"/>
                </a:solidFill>
                <a:latin typeface="Arial"/>
              </a:rPr>
              <a:t>Measure user outcomes and resource behavior with metrics that support decisions.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ARCHITECTURE</a:t>
            </a:r>
          </a:p>
          <a:p>
            <a:pPr algn="l">
              <a:spcAft>
                <a:spcPts val="300"/>
              </a:spcAft>
            </a:pPr>
            <a:r>
              <a:rPr sz="1050" b="0">
                <a:solidFill>
                  <a:srgbClr val="5B6372"/>
                </a:solidFill>
                <a:latin typeface="Arial"/>
              </a:rPr>
              <a:t>Define SLIs and thresholds, use dimensions carefully, aggregate intentionally and avoid high-cardinality custom metrics.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MODE</a:t>
            </a:r>
          </a:p>
          <a:p>
            <a:pPr algn="l">
              <a:spcAft>
                <a:spcPts val="300"/>
              </a:spcAft>
            </a:pPr>
            <a:r>
              <a:rPr sz="1050" b="0">
                <a:solidFill>
                  <a:srgbClr val="5B6372"/>
                </a:solidFill>
                <a:latin typeface="Arial"/>
              </a:rPr>
              <a:t>Averages can hide tail latency and a small population of severe failures.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EVIDENCE</a:t>
            </a:r>
          </a:p>
          <a:p>
            <a:pPr algn="l">
              <a:spcAft>
                <a:spcPts val="300"/>
              </a:spcAft>
            </a:pPr>
            <a:r>
              <a:rPr sz="1050" b="0">
                <a:solidFill>
                  <a:srgbClr val="5B6372"/>
                </a:solidFill>
                <a:latin typeface="Arial"/>
              </a:rPr>
              <a:t>Metric namespace, dimensions, statistic, period, percentile, SLO and alarm history.</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404</a:t>
            </a:r>
          </a:p>
        </p:txBody>
      </p:sp>
    </p:spTree>
  </p:cSld>
  <p:clrMapOvr>
    <a:masterClrMapping/>
  </p:clrMapOvr>
  <p:transition xmlns:p14="http://schemas.microsoft.com/office/powerpoint/2010/main" p14:dur="380">
    <p:fade/>
  </p:transition>
</p:sld>
</file>

<file path=ppt/slides/slide4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DOMAIN 4 · PROCESS MODEL</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700" b="1">
                <a:solidFill>
                  <a:srgbClr val="161B26"/>
                </a:solidFill>
                <a:latin typeface="Arial"/>
              </a:rPr>
              <a:t>Metrics, dimensions and service objectives: operating flow</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6354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79829"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982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Instrument</a:t>
            </a:r>
          </a:p>
        </p:txBody>
      </p:sp>
      <p:sp>
        <p:nvSpPr>
          <p:cNvPr id="12" name="Rectangle 11"/>
          <p:cNvSpPr/>
          <p:nvPr/>
        </p:nvSpPr>
        <p:spPr>
          <a:xfrm>
            <a:off x="2969971"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69971" y="2148840"/>
            <a:ext cx="186354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572560"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72560"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6" name="TextBox 15"/>
          <p:cNvSpPr txBox="1"/>
          <p:nvPr/>
        </p:nvSpPr>
        <p:spPr>
          <a:xfrm>
            <a:off x="3088843"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Publish</a:t>
            </a:r>
          </a:p>
        </p:txBody>
      </p:sp>
      <p:sp>
        <p:nvSpPr>
          <p:cNvPr id="17" name="Rectangle 16"/>
          <p:cNvSpPr/>
          <p:nvPr/>
        </p:nvSpPr>
        <p:spPr>
          <a:xfrm>
            <a:off x="5162702"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62702" y="2148840"/>
            <a:ext cx="186354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765291"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6529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1" name="TextBox 20"/>
          <p:cNvSpPr txBox="1"/>
          <p:nvPr/>
        </p:nvSpPr>
        <p:spPr>
          <a:xfrm>
            <a:off x="5281574"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Aggregate</a:t>
            </a:r>
          </a:p>
        </p:txBody>
      </p:sp>
      <p:sp>
        <p:nvSpPr>
          <p:cNvPr id="22" name="Rectangle 21"/>
          <p:cNvSpPr/>
          <p:nvPr/>
        </p:nvSpPr>
        <p:spPr>
          <a:xfrm>
            <a:off x="7355433"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355433" y="2148840"/>
            <a:ext cx="186354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958022"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5802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6" name="TextBox 25"/>
          <p:cNvSpPr txBox="1"/>
          <p:nvPr/>
        </p:nvSpPr>
        <p:spPr>
          <a:xfrm>
            <a:off x="7474305"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Compare to objective</a:t>
            </a:r>
          </a:p>
        </p:txBody>
      </p:sp>
      <p:sp>
        <p:nvSpPr>
          <p:cNvPr id="27" name="Rectangle 26"/>
          <p:cNvSpPr/>
          <p:nvPr/>
        </p:nvSpPr>
        <p:spPr>
          <a:xfrm>
            <a:off x="9548164"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548164" y="2148840"/>
            <a:ext cx="1863547" cy="914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50753" y="2532888"/>
            <a:ext cx="658368" cy="658368"/>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5075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5</a:t>
            </a:r>
          </a:p>
        </p:txBody>
      </p:sp>
      <p:sp>
        <p:nvSpPr>
          <p:cNvPr id="31" name="TextBox 30"/>
          <p:cNvSpPr txBox="1"/>
          <p:nvPr/>
        </p:nvSpPr>
        <p:spPr>
          <a:xfrm>
            <a:off x="9667036"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Alert or review</a:t>
            </a:r>
          </a:p>
        </p:txBody>
      </p:sp>
      <p:cxnSp>
        <p:nvCxnSpPr>
          <p:cNvPr id="32" name="Connector 31"/>
          <p:cNvCxnSpPr/>
          <p:nvPr/>
        </p:nvCxnSpPr>
        <p:spPr>
          <a:xfrm>
            <a:off x="2640787"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83351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026249"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21898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F59E0B"/>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8" name="TextBox 3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9" name="TextBox 3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0" name="TextBox 3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405</a:t>
            </a:r>
          </a:p>
        </p:txBody>
      </p:sp>
    </p:spTree>
  </p:cSld>
  <p:clrMapOvr>
    <a:masterClrMapping/>
  </p:clrMapOvr>
  <p:transition xmlns:p14="http://schemas.microsoft.com/office/powerpoint/2010/main" p14:dur="380">
    <p:fade/>
  </p:transition>
</p:sld>
</file>

<file path=ppt/slides/slide4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DOMAIN 4 ·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700" b="1">
                <a:solidFill>
                  <a:srgbClr val="161B26"/>
                </a:solidFill>
                <a:latin typeface="Arial"/>
              </a:rPr>
              <a:t>Metrics, dimensions and service objectives: design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83280" cy="43708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708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01168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011680"/>
            <a:ext cx="530352" cy="530352"/>
          </a:xfrm>
          <a:prstGeom prst="rect">
            <a:avLst/>
          </a:prstGeom>
          <a:noFill/>
        </p:spPr>
        <p:txBody>
          <a:bodyPr wrap="square" anchor="ctr">
            <a:spAutoFit/>
          </a:bodyPr>
          <a:lstStyle/>
          <a:p>
            <a:pPr algn="ctr">
              <a:spcAft>
                <a:spcPts val="400"/>
              </a:spcAft>
            </a:pPr>
            <a:r>
              <a:rPr sz="2000" b="1">
                <a:solidFill>
                  <a:srgbClr val="FFFFFF"/>
                </a:solidFill>
                <a:latin typeface="Arial"/>
              </a:rPr>
              <a:t>?</a:t>
            </a:r>
          </a:p>
        </p:txBody>
      </p:sp>
      <p:sp>
        <p:nvSpPr>
          <p:cNvPr id="11" name="TextBox 10"/>
          <p:cNvSpPr txBox="1"/>
          <p:nvPr/>
        </p:nvSpPr>
        <p:spPr>
          <a:xfrm>
            <a:off x="1709928" y="1984248"/>
            <a:ext cx="2212848" cy="502920"/>
          </a:xfrm>
          <a:prstGeom prst="rect">
            <a:avLst/>
          </a:prstGeom>
          <a:noFill/>
        </p:spPr>
        <p:txBody>
          <a:bodyPr wrap="square" anchor="ctr">
            <a:spAutoFit/>
          </a:bodyPr>
          <a:lstStyle/>
          <a:p>
            <a:pPr algn="l">
              <a:spcAft>
                <a:spcPts val="400"/>
              </a:spcAft>
            </a:pPr>
            <a:r>
              <a:rPr sz="1350" b="1">
                <a:solidFill>
                  <a:srgbClr val="F59E0B"/>
                </a:solidFill>
                <a:latin typeface="Arial"/>
              </a:rPr>
              <a:t>SCENARIO</a:t>
            </a:r>
          </a:p>
        </p:txBody>
      </p:sp>
      <p:sp>
        <p:nvSpPr>
          <p:cNvPr id="12" name="TextBox 11"/>
          <p:cNvSpPr txBox="1"/>
          <p:nvPr/>
        </p:nvSpPr>
        <p:spPr>
          <a:xfrm>
            <a:off x="1051560" y="2743200"/>
            <a:ext cx="2834640" cy="3136392"/>
          </a:xfrm>
          <a:prstGeom prst="rect">
            <a:avLst/>
          </a:prstGeom>
          <a:noFill/>
        </p:spPr>
        <p:txBody>
          <a:bodyPr wrap="square" anchor="t">
            <a:spAutoFit/>
          </a:bodyPr>
          <a:lstStyle/>
          <a:p>
            <a:pPr algn="l">
              <a:spcAft>
                <a:spcPts val="400"/>
              </a:spcAft>
            </a:pPr>
            <a:r>
              <a:rPr sz="1300" b="0">
                <a:solidFill>
                  <a:srgbClr val="161B26"/>
                </a:solidFill>
                <a:latin typeface="Arial"/>
              </a:rPr>
              <a:t>An API meets average-latency targets but its slowest five percent of requests breach the user promise.</a:t>
            </a:r>
          </a:p>
        </p:txBody>
      </p:sp>
      <p:sp>
        <p:nvSpPr>
          <p:cNvPr id="13" name="Rectangle 12"/>
          <p:cNvSpPr/>
          <p:nvPr/>
        </p:nvSpPr>
        <p:spPr>
          <a:xfrm>
            <a:off x="4434840"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34840" y="1783080"/>
            <a:ext cx="91440"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636008" y="1965960"/>
            <a:ext cx="438912" cy="43891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6008"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7" name="TextBox 16"/>
          <p:cNvSpPr txBox="1"/>
          <p:nvPr/>
        </p:nvSpPr>
        <p:spPr>
          <a:xfrm>
            <a:off x="5212080" y="1929384"/>
            <a:ext cx="2286000" cy="475488"/>
          </a:xfrm>
          <a:prstGeom prst="rect">
            <a:avLst/>
          </a:prstGeom>
          <a:noFill/>
        </p:spPr>
        <p:txBody>
          <a:bodyPr wrap="square" anchor="ctr">
            <a:spAutoFit/>
          </a:bodyPr>
          <a:lstStyle/>
          <a:p>
            <a:pPr algn="l">
              <a:spcAft>
                <a:spcPts val="400"/>
              </a:spcAft>
            </a:pPr>
            <a:r>
              <a:rPr sz="1250" b="1">
                <a:solidFill>
                  <a:srgbClr val="10B981"/>
                </a:solidFill>
                <a:latin typeface="Arial"/>
              </a:rPr>
              <a:t>DESIGN RESPONSE</a:t>
            </a:r>
          </a:p>
        </p:txBody>
      </p:sp>
      <p:sp>
        <p:nvSpPr>
          <p:cNvPr id="18" name="TextBox 17"/>
          <p:cNvSpPr txBox="1"/>
          <p:nvPr/>
        </p:nvSpPr>
        <p:spPr>
          <a:xfrm>
            <a:off x="4663440"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Define SLIs and thresholds, use dimensions carefully, aggregate intentionally and avoid high-cardinality custom metrics.</a:t>
            </a:r>
          </a:p>
        </p:txBody>
      </p:sp>
      <p:sp>
        <p:nvSpPr>
          <p:cNvPr id="19" name="Rectangle 18"/>
          <p:cNvSpPr/>
          <p:nvPr/>
        </p:nvSpPr>
        <p:spPr>
          <a:xfrm>
            <a:off x="7973568"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973568" y="1783080"/>
            <a:ext cx="91440" cy="21488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174736" y="1965960"/>
            <a:ext cx="438912" cy="43891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74736"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23" name="TextBox 22"/>
          <p:cNvSpPr txBox="1"/>
          <p:nvPr/>
        </p:nvSpPr>
        <p:spPr>
          <a:xfrm>
            <a:off x="8750808" y="1929384"/>
            <a:ext cx="2286000" cy="475488"/>
          </a:xfrm>
          <a:prstGeom prst="rect">
            <a:avLst/>
          </a:prstGeom>
          <a:noFill/>
        </p:spPr>
        <p:txBody>
          <a:bodyPr wrap="square" anchor="ctr">
            <a:spAutoFit/>
          </a:bodyPr>
          <a:lstStyle/>
          <a:p>
            <a:pPr algn="l">
              <a:spcAft>
                <a:spcPts val="400"/>
              </a:spcAft>
            </a:pPr>
            <a:r>
              <a:rPr sz="1250" b="1">
                <a:solidFill>
                  <a:srgbClr val="7C3AED"/>
                </a:solidFill>
                <a:latin typeface="Arial"/>
              </a:rPr>
              <a:t>PRIMARY SERVICES</a:t>
            </a:r>
          </a:p>
        </p:txBody>
      </p:sp>
      <p:sp>
        <p:nvSpPr>
          <p:cNvPr id="24" name="TextBox 23"/>
          <p:cNvSpPr txBox="1"/>
          <p:nvPr/>
        </p:nvSpPr>
        <p:spPr>
          <a:xfrm>
            <a:off x="8202168"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CloudWatch Metrics · Metric Math · Application Signals</a:t>
            </a:r>
          </a:p>
        </p:txBody>
      </p:sp>
      <p:sp>
        <p:nvSpPr>
          <p:cNvPr id="25" name="Rectangle 24"/>
          <p:cNvSpPr/>
          <p:nvPr/>
        </p:nvSpPr>
        <p:spPr>
          <a:xfrm>
            <a:off x="4434840"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34840" y="4005072"/>
            <a:ext cx="91440" cy="21488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636008" y="4187952"/>
            <a:ext cx="438912" cy="43891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36008"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9" name="TextBox 28"/>
          <p:cNvSpPr txBox="1"/>
          <p:nvPr/>
        </p:nvSpPr>
        <p:spPr>
          <a:xfrm>
            <a:off x="5212080" y="4151376"/>
            <a:ext cx="2286000" cy="475488"/>
          </a:xfrm>
          <a:prstGeom prst="rect">
            <a:avLst/>
          </a:prstGeom>
          <a:noFill/>
        </p:spPr>
        <p:txBody>
          <a:bodyPr wrap="square" anchor="ctr">
            <a:spAutoFit/>
          </a:bodyPr>
          <a:lstStyle/>
          <a:p>
            <a:pPr algn="l">
              <a:spcAft>
                <a:spcPts val="400"/>
              </a:spcAft>
            </a:pPr>
            <a:r>
              <a:rPr sz="1250" b="1">
                <a:solidFill>
                  <a:srgbClr val="F59E0B"/>
                </a:solidFill>
                <a:latin typeface="Arial"/>
              </a:rPr>
              <a:t>FAILURE MODE</a:t>
            </a:r>
          </a:p>
        </p:txBody>
      </p:sp>
      <p:sp>
        <p:nvSpPr>
          <p:cNvPr id="30" name="TextBox 29"/>
          <p:cNvSpPr txBox="1"/>
          <p:nvPr/>
        </p:nvSpPr>
        <p:spPr>
          <a:xfrm>
            <a:off x="4663440"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Averages can hide tail latency and a small population of severe failures.</a:t>
            </a:r>
          </a:p>
        </p:txBody>
      </p:sp>
      <p:sp>
        <p:nvSpPr>
          <p:cNvPr id="31" name="Rectangle 30"/>
          <p:cNvSpPr/>
          <p:nvPr/>
        </p:nvSpPr>
        <p:spPr>
          <a:xfrm>
            <a:off x="7973568"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73568" y="4005072"/>
            <a:ext cx="91440" cy="21488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174736" y="4187952"/>
            <a:ext cx="438912" cy="438912"/>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74736"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5" name="TextBox 34"/>
          <p:cNvSpPr txBox="1"/>
          <p:nvPr/>
        </p:nvSpPr>
        <p:spPr>
          <a:xfrm>
            <a:off x="8750808" y="4151376"/>
            <a:ext cx="2286000" cy="475488"/>
          </a:xfrm>
          <a:prstGeom prst="rect">
            <a:avLst/>
          </a:prstGeom>
          <a:noFill/>
        </p:spPr>
        <p:txBody>
          <a:bodyPr wrap="square" anchor="ctr">
            <a:spAutoFit/>
          </a:bodyPr>
          <a:lstStyle/>
          <a:p>
            <a:pPr algn="l">
              <a:spcAft>
                <a:spcPts val="400"/>
              </a:spcAft>
            </a:pPr>
            <a:r>
              <a:rPr sz="1250" b="1">
                <a:solidFill>
                  <a:srgbClr val="EC711E"/>
                </a:solidFill>
                <a:latin typeface="Arial"/>
              </a:rPr>
              <a:t>PROOF</a:t>
            </a:r>
          </a:p>
        </p:txBody>
      </p:sp>
      <p:sp>
        <p:nvSpPr>
          <p:cNvPr id="36" name="TextBox 35"/>
          <p:cNvSpPr txBox="1"/>
          <p:nvPr/>
        </p:nvSpPr>
        <p:spPr>
          <a:xfrm>
            <a:off x="8202168"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Metric namespace, dimensions, statistic, period, percentile, SLO and alarm history.</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406</a:t>
            </a:r>
          </a:p>
        </p:txBody>
      </p:sp>
    </p:spTree>
  </p:cSld>
  <p:clrMapOvr>
    <a:masterClrMapping/>
  </p:clrMapOvr>
  <p:transition xmlns:p14="http://schemas.microsoft.com/office/powerpoint/2010/main" p14:dur="380">
    <p:fade/>
  </p:transition>
</p:sld>
</file>

<file path=ppt/slides/slide4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DOMAIN 4 · OPERATIONS</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500" b="1">
                <a:solidFill>
                  <a:srgbClr val="161B26"/>
                </a:solidFill>
                <a:latin typeface="Arial"/>
              </a:rPr>
              <a:t>Metrics, dimensions and service objectives: failure diagnostic</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RECOGNISE</a:t>
            </a:r>
          </a:p>
          <a:p>
            <a:pPr algn="l">
              <a:spcAft>
                <a:spcPts val="300"/>
              </a:spcAft>
            </a:pPr>
            <a:r>
              <a:rPr sz="1050" b="0">
                <a:solidFill>
                  <a:srgbClr val="5B6372"/>
                </a:solidFill>
                <a:latin typeface="Arial"/>
              </a:rPr>
              <a:t>Observable failure condition: Averages can hide tail latency and a small population of severe failures.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CONTAIN</a:t>
            </a:r>
          </a:p>
          <a:p>
            <a:pPr algn="l">
              <a:spcAft>
                <a:spcPts val="300"/>
              </a:spcAft>
            </a:pPr>
            <a:r>
              <a:rPr sz="1050" b="0">
                <a:solidFill>
                  <a:srgbClr val="5B6372"/>
                </a:solidFill>
                <a:latin typeface="Arial"/>
              </a:rPr>
              <a:t>Pause promotion, preserve evidence and reduce impact without destroying diagnostic state.</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DIAGNOSE</a:t>
            </a:r>
          </a:p>
          <a:p>
            <a:pPr algn="l">
              <a:spcAft>
                <a:spcPts val="300"/>
              </a:spcAft>
            </a:pPr>
            <a:r>
              <a:rPr sz="1050" b="0">
                <a:solidFill>
                  <a:srgbClr val="5B6372"/>
                </a:solidFill>
                <a:latin typeface="Arial"/>
              </a:rPr>
              <a:t>Trace the workflow from Instrument through Alert or review; compare intended configuration with runtime state.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RECOVER</a:t>
            </a:r>
          </a:p>
          <a:p>
            <a:pPr algn="l">
              <a:spcAft>
                <a:spcPts val="300"/>
              </a:spcAft>
            </a:pPr>
            <a:r>
              <a:rPr sz="1050" b="0">
                <a:solidFill>
                  <a:srgbClr val="5B6372"/>
                </a:solidFill>
                <a:latin typeface="Arial"/>
              </a:rPr>
              <a:t>Restore the last known-good state, then prove recovery with Metric namespace, dimensions, statistic, period, percentile, SLO and alarm history.</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407</a:t>
            </a:r>
          </a:p>
        </p:txBody>
      </p:sp>
    </p:spTree>
  </p:cSld>
  <p:clrMapOvr>
    <a:masterClrMapping/>
  </p:clrMapOvr>
  <p:transition xmlns:p14="http://schemas.microsoft.com/office/powerpoint/2010/main" p14:dur="380">
    <p:fade/>
  </p:transition>
</p:sld>
</file>

<file path=ppt/slides/slide4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DOMAIN 4 · APPLIED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700" b="1">
                <a:solidFill>
                  <a:srgbClr val="161B26"/>
                </a:solidFill>
                <a:latin typeface="Arial"/>
              </a:rPr>
              <a:t>Metrics, dimensions and service objectives: worked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CONSTRAINT</a:t>
            </a:r>
          </a:p>
          <a:p>
            <a:pPr algn="l">
              <a:spcAft>
                <a:spcPts val="300"/>
              </a:spcAft>
            </a:pPr>
            <a:r>
              <a:rPr sz="1050" b="0">
                <a:solidFill>
                  <a:srgbClr val="5B6372"/>
                </a:solidFill>
                <a:latin typeface="Arial"/>
              </a:rPr>
              <a:t>An API meets average-latency targets but its slowest five percent of requests breach the user promise.</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DECISION</a:t>
            </a:r>
          </a:p>
          <a:p>
            <a:pPr algn="l">
              <a:spcAft>
                <a:spcPts val="300"/>
              </a:spcAft>
            </a:pPr>
            <a:r>
              <a:rPr sz="1050" b="0">
                <a:solidFill>
                  <a:srgbClr val="5B6372"/>
                </a:solidFill>
                <a:latin typeface="Arial"/>
              </a:rPr>
              <a:t>Define SLIs and thresholds, use dimensions carefully, aggregate intentionally and avoid high-cardinality custom metrics.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WHY ALTERNATIVES LOSE</a:t>
            </a:r>
          </a:p>
          <a:p>
            <a:pPr algn="l">
              <a:spcAft>
                <a:spcPts val="300"/>
              </a:spcAft>
            </a:pPr>
            <a:r>
              <a:rPr sz="1050" b="0">
                <a:solidFill>
                  <a:srgbClr val="5B6372"/>
                </a:solidFill>
                <a:latin typeface="Arial"/>
              </a:rPr>
              <a:t>Reject options that do not change the stated failure boundary: Averages can hide tail latency and a small population of severe failures.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ACCEPTANCE TEST</a:t>
            </a:r>
          </a:p>
          <a:p>
            <a:pPr algn="l">
              <a:spcAft>
                <a:spcPts val="300"/>
              </a:spcAft>
            </a:pPr>
            <a:r>
              <a:rPr sz="1050" b="0">
                <a:solidFill>
                  <a:srgbClr val="5B6372"/>
                </a:solidFill>
                <a:latin typeface="Arial"/>
              </a:rPr>
              <a:t>The decision is complete only when this proof exists: Metric namespace, dimensions, statistic, period, percentile, SLO and alarm history.</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408</a:t>
            </a:r>
          </a:p>
        </p:txBody>
      </p:sp>
    </p:spTree>
  </p:cSld>
  <p:clrMapOvr>
    <a:masterClrMapping/>
  </p:clrMapOvr>
  <p:transition xmlns:p14="http://schemas.microsoft.com/office/powerpoint/2010/main" p14:dur="380">
    <p:fade/>
  </p:transition>
</p:sld>
</file>

<file path=ppt/slides/slide4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DOMAIN 4 · MONITORING AND LOGGING</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Centralized log architecture</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OUTCOME</a:t>
            </a:r>
          </a:p>
          <a:p>
            <a:pPr algn="l">
              <a:spcAft>
                <a:spcPts val="300"/>
              </a:spcAft>
            </a:pPr>
            <a:r>
              <a:rPr sz="1050" b="0">
                <a:solidFill>
                  <a:srgbClr val="5B6372"/>
                </a:solidFill>
                <a:latin typeface="Arial"/>
              </a:rPr>
              <a:t>Collect searchable logs across accounts and Regions while meeting retention and access requirements.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ARCHITECTURE</a:t>
            </a:r>
          </a:p>
          <a:p>
            <a:pPr algn="l">
              <a:spcAft>
                <a:spcPts val="300"/>
              </a:spcAft>
            </a:pPr>
            <a:r>
              <a:rPr sz="1050" b="0">
                <a:solidFill>
                  <a:srgbClr val="5B6372"/>
                </a:solidFill>
                <a:latin typeface="Arial"/>
              </a:rPr>
              <a:t>Standardize structure, encrypt log groups, centralize subscriptions, partition archives and prevent recursive delivery.</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MODE</a:t>
            </a:r>
          </a:p>
          <a:p>
            <a:pPr algn="l">
              <a:spcAft>
                <a:spcPts val="300"/>
              </a:spcAft>
            </a:pPr>
            <a:r>
              <a:rPr sz="1050" b="0">
                <a:solidFill>
                  <a:srgbClr val="5B6372"/>
                </a:solidFill>
                <a:latin typeface="Arial"/>
              </a:rPr>
              <a:t>Centralization without account/Region context makes incident correlation harder.</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EVIDENCE</a:t>
            </a:r>
          </a:p>
          <a:p>
            <a:pPr algn="l">
              <a:spcAft>
                <a:spcPts val="300"/>
              </a:spcAft>
            </a:pPr>
            <a:r>
              <a:rPr sz="1050" b="0">
                <a:solidFill>
                  <a:srgbClr val="5B6372"/>
                </a:solidFill>
                <a:latin typeface="Arial"/>
              </a:rPr>
              <a:t>Log-group policy, subscription filter, destination policy, archive partition and retention setting.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409</a:t>
            </a:r>
          </a:p>
        </p:txBody>
      </p:sp>
    </p:spTree>
  </p:cSld>
  <p:clrMapOvr>
    <a:masterClrMapping/>
  </p:clrMapOvr>
  <p:transition xmlns:p14="http://schemas.microsoft.com/office/powerpoint/2010/main" p14:dur="380">
    <p:fade/>
  </p:transition>
</p:sld>
</file>

<file path=ppt/slides/slide4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DOMAIN 4 · PROCESS MODEL</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Centralized log architecture: operating flow</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49809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97102"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9710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Emit structured log</a:t>
            </a:r>
          </a:p>
        </p:txBody>
      </p:sp>
      <p:sp>
        <p:nvSpPr>
          <p:cNvPr id="12" name="Rectangle 11"/>
          <p:cNvSpPr/>
          <p:nvPr/>
        </p:nvSpPr>
        <p:spPr>
          <a:xfrm>
            <a:off x="2604516"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04516" y="2148840"/>
            <a:ext cx="149809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024378"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24378"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6" name="TextBox 15"/>
          <p:cNvSpPr txBox="1"/>
          <p:nvPr/>
        </p:nvSpPr>
        <p:spPr>
          <a:xfrm>
            <a:off x="2723388"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Collect</a:t>
            </a:r>
          </a:p>
        </p:txBody>
      </p:sp>
      <p:sp>
        <p:nvSpPr>
          <p:cNvPr id="17" name="Rectangle 16"/>
          <p:cNvSpPr/>
          <p:nvPr/>
        </p:nvSpPr>
        <p:spPr>
          <a:xfrm>
            <a:off x="4431792"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431792" y="2148840"/>
            <a:ext cx="149809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851654"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51654"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1" name="TextBox 20"/>
          <p:cNvSpPr txBox="1"/>
          <p:nvPr/>
        </p:nvSpPr>
        <p:spPr>
          <a:xfrm>
            <a:off x="4550664"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Filter</a:t>
            </a:r>
          </a:p>
        </p:txBody>
      </p:sp>
      <p:sp>
        <p:nvSpPr>
          <p:cNvPr id="22" name="Rectangle 21"/>
          <p:cNvSpPr/>
          <p:nvPr/>
        </p:nvSpPr>
        <p:spPr>
          <a:xfrm>
            <a:off x="6259068"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59068" y="2148840"/>
            <a:ext cx="149809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678930"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78930"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6" name="TextBox 25"/>
          <p:cNvSpPr txBox="1"/>
          <p:nvPr/>
        </p:nvSpPr>
        <p:spPr>
          <a:xfrm>
            <a:off x="6377940"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Stream</a:t>
            </a:r>
          </a:p>
        </p:txBody>
      </p:sp>
      <p:sp>
        <p:nvSpPr>
          <p:cNvPr id="27" name="Rectangle 26"/>
          <p:cNvSpPr/>
          <p:nvPr/>
        </p:nvSpPr>
        <p:spPr>
          <a:xfrm>
            <a:off x="8086344"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086344" y="2148840"/>
            <a:ext cx="1498092" cy="914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506206" y="2532888"/>
            <a:ext cx="658368" cy="658368"/>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06206"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5</a:t>
            </a:r>
          </a:p>
        </p:txBody>
      </p:sp>
      <p:sp>
        <p:nvSpPr>
          <p:cNvPr id="31" name="TextBox 30"/>
          <p:cNvSpPr txBox="1"/>
          <p:nvPr/>
        </p:nvSpPr>
        <p:spPr>
          <a:xfrm>
            <a:off x="8205216"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Archive</a:t>
            </a:r>
          </a:p>
        </p:txBody>
      </p:sp>
      <p:sp>
        <p:nvSpPr>
          <p:cNvPr id="32" name="Rectangle 31"/>
          <p:cNvSpPr/>
          <p:nvPr/>
        </p:nvSpPr>
        <p:spPr>
          <a:xfrm>
            <a:off x="9913620"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913620" y="2148840"/>
            <a:ext cx="1498092" cy="91440"/>
          </a:xfrm>
          <a:prstGeom prst="rect">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333482" y="2532888"/>
            <a:ext cx="658368" cy="658368"/>
          </a:xfrm>
          <a:prstGeom prst="ellipse">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3348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6</a:t>
            </a:r>
          </a:p>
        </p:txBody>
      </p:sp>
      <p:sp>
        <p:nvSpPr>
          <p:cNvPr id="36" name="TextBox 35"/>
          <p:cNvSpPr txBox="1"/>
          <p:nvPr/>
        </p:nvSpPr>
        <p:spPr>
          <a:xfrm>
            <a:off x="10032492"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Query</a:t>
            </a:r>
          </a:p>
        </p:txBody>
      </p:sp>
      <p:cxnSp>
        <p:nvCxnSpPr>
          <p:cNvPr id="37" name="Connector 36"/>
          <p:cNvCxnSpPr/>
          <p:nvPr/>
        </p:nvCxnSpPr>
        <p:spPr>
          <a:xfrm>
            <a:off x="2275332"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10260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929884"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775716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9584436"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F59E0B"/>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44" name="TextBox 4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45" name="TextBox 4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6" name="TextBox 4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410</a:t>
            </a:r>
          </a:p>
        </p:txBody>
      </p:sp>
    </p:spTree>
  </p:cSld>
  <p:clrMapOvr>
    <a:masterClrMapping/>
  </p:clrMapOvr>
  <p:transition xmlns:p14="http://schemas.microsoft.com/office/powerpoint/2010/main" p14:dur="380">
    <p:fade/>
  </p:transition>
</p:sld>
</file>

<file path=ppt/slides/slide4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DOMAIN 4 ·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Centralized log architecture: design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83280" cy="43708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708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01168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011680"/>
            <a:ext cx="530352" cy="530352"/>
          </a:xfrm>
          <a:prstGeom prst="rect">
            <a:avLst/>
          </a:prstGeom>
          <a:noFill/>
        </p:spPr>
        <p:txBody>
          <a:bodyPr wrap="square" anchor="ctr">
            <a:spAutoFit/>
          </a:bodyPr>
          <a:lstStyle/>
          <a:p>
            <a:pPr algn="ctr">
              <a:spcAft>
                <a:spcPts val="400"/>
              </a:spcAft>
            </a:pPr>
            <a:r>
              <a:rPr sz="2000" b="1">
                <a:solidFill>
                  <a:srgbClr val="FFFFFF"/>
                </a:solidFill>
                <a:latin typeface="Arial"/>
              </a:rPr>
              <a:t>?</a:t>
            </a:r>
          </a:p>
        </p:txBody>
      </p:sp>
      <p:sp>
        <p:nvSpPr>
          <p:cNvPr id="11" name="TextBox 10"/>
          <p:cNvSpPr txBox="1"/>
          <p:nvPr/>
        </p:nvSpPr>
        <p:spPr>
          <a:xfrm>
            <a:off x="1709928" y="1984248"/>
            <a:ext cx="2212848" cy="502920"/>
          </a:xfrm>
          <a:prstGeom prst="rect">
            <a:avLst/>
          </a:prstGeom>
          <a:noFill/>
        </p:spPr>
        <p:txBody>
          <a:bodyPr wrap="square" anchor="ctr">
            <a:spAutoFit/>
          </a:bodyPr>
          <a:lstStyle/>
          <a:p>
            <a:pPr algn="l">
              <a:spcAft>
                <a:spcPts val="400"/>
              </a:spcAft>
            </a:pPr>
            <a:r>
              <a:rPr sz="1350" b="1">
                <a:solidFill>
                  <a:srgbClr val="F59E0B"/>
                </a:solidFill>
                <a:latin typeface="Arial"/>
              </a:rPr>
              <a:t>SCENARIO</a:t>
            </a:r>
          </a:p>
        </p:txBody>
      </p:sp>
      <p:sp>
        <p:nvSpPr>
          <p:cNvPr id="12" name="TextBox 11"/>
          <p:cNvSpPr txBox="1"/>
          <p:nvPr/>
        </p:nvSpPr>
        <p:spPr>
          <a:xfrm>
            <a:off x="1051560" y="2743200"/>
            <a:ext cx="2834640" cy="3136392"/>
          </a:xfrm>
          <a:prstGeom prst="rect">
            <a:avLst/>
          </a:prstGeom>
          <a:noFill/>
        </p:spPr>
        <p:txBody>
          <a:bodyPr wrap="square" anchor="t">
            <a:spAutoFit/>
          </a:bodyPr>
          <a:lstStyle/>
          <a:p>
            <a:pPr algn="l">
              <a:spcAft>
                <a:spcPts val="400"/>
              </a:spcAft>
            </a:pPr>
            <a:r>
              <a:rPr sz="1300" b="0">
                <a:solidFill>
                  <a:srgbClr val="161B26"/>
                </a:solidFill>
                <a:latin typeface="Arial"/>
              </a:rPr>
              <a:t>Security operations needs a central account for application and audit logs from every workload account.</a:t>
            </a:r>
          </a:p>
        </p:txBody>
      </p:sp>
      <p:sp>
        <p:nvSpPr>
          <p:cNvPr id="13" name="Rectangle 12"/>
          <p:cNvSpPr/>
          <p:nvPr/>
        </p:nvSpPr>
        <p:spPr>
          <a:xfrm>
            <a:off x="4434840"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34840" y="1783080"/>
            <a:ext cx="91440"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636008" y="1965960"/>
            <a:ext cx="438912" cy="43891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6008"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7" name="TextBox 16"/>
          <p:cNvSpPr txBox="1"/>
          <p:nvPr/>
        </p:nvSpPr>
        <p:spPr>
          <a:xfrm>
            <a:off x="5212080" y="1929384"/>
            <a:ext cx="2286000" cy="475488"/>
          </a:xfrm>
          <a:prstGeom prst="rect">
            <a:avLst/>
          </a:prstGeom>
          <a:noFill/>
        </p:spPr>
        <p:txBody>
          <a:bodyPr wrap="square" anchor="ctr">
            <a:spAutoFit/>
          </a:bodyPr>
          <a:lstStyle/>
          <a:p>
            <a:pPr algn="l">
              <a:spcAft>
                <a:spcPts val="400"/>
              </a:spcAft>
            </a:pPr>
            <a:r>
              <a:rPr sz="1250" b="1">
                <a:solidFill>
                  <a:srgbClr val="10B981"/>
                </a:solidFill>
                <a:latin typeface="Arial"/>
              </a:rPr>
              <a:t>DESIGN RESPONSE</a:t>
            </a:r>
          </a:p>
        </p:txBody>
      </p:sp>
      <p:sp>
        <p:nvSpPr>
          <p:cNvPr id="18" name="TextBox 17"/>
          <p:cNvSpPr txBox="1"/>
          <p:nvPr/>
        </p:nvSpPr>
        <p:spPr>
          <a:xfrm>
            <a:off x="4663440"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Standardize structure, encrypt log groups, centralize subscriptions, partition archives and prevent recursive delivery.</a:t>
            </a:r>
          </a:p>
        </p:txBody>
      </p:sp>
      <p:sp>
        <p:nvSpPr>
          <p:cNvPr id="19" name="Rectangle 18"/>
          <p:cNvSpPr/>
          <p:nvPr/>
        </p:nvSpPr>
        <p:spPr>
          <a:xfrm>
            <a:off x="7973568"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973568" y="1783080"/>
            <a:ext cx="91440" cy="21488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174736" y="1965960"/>
            <a:ext cx="438912" cy="43891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74736"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23" name="TextBox 22"/>
          <p:cNvSpPr txBox="1"/>
          <p:nvPr/>
        </p:nvSpPr>
        <p:spPr>
          <a:xfrm>
            <a:off x="8750808" y="1929384"/>
            <a:ext cx="2286000" cy="475488"/>
          </a:xfrm>
          <a:prstGeom prst="rect">
            <a:avLst/>
          </a:prstGeom>
          <a:noFill/>
        </p:spPr>
        <p:txBody>
          <a:bodyPr wrap="square" anchor="ctr">
            <a:spAutoFit/>
          </a:bodyPr>
          <a:lstStyle/>
          <a:p>
            <a:pPr algn="l">
              <a:spcAft>
                <a:spcPts val="400"/>
              </a:spcAft>
            </a:pPr>
            <a:r>
              <a:rPr sz="1250" b="1">
                <a:solidFill>
                  <a:srgbClr val="7C3AED"/>
                </a:solidFill>
                <a:latin typeface="Arial"/>
              </a:rPr>
              <a:t>PRIMARY SERVICES</a:t>
            </a:r>
          </a:p>
        </p:txBody>
      </p:sp>
      <p:sp>
        <p:nvSpPr>
          <p:cNvPr id="24" name="TextBox 23"/>
          <p:cNvSpPr txBox="1"/>
          <p:nvPr/>
        </p:nvSpPr>
        <p:spPr>
          <a:xfrm>
            <a:off x="8202168"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CloudWatch Logs · Kinesis Data Firehose · S3 · OpenSearch</a:t>
            </a:r>
          </a:p>
        </p:txBody>
      </p:sp>
      <p:sp>
        <p:nvSpPr>
          <p:cNvPr id="25" name="Rectangle 24"/>
          <p:cNvSpPr/>
          <p:nvPr/>
        </p:nvSpPr>
        <p:spPr>
          <a:xfrm>
            <a:off x="4434840"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34840" y="4005072"/>
            <a:ext cx="91440" cy="21488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636008" y="4187952"/>
            <a:ext cx="438912" cy="43891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36008"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9" name="TextBox 28"/>
          <p:cNvSpPr txBox="1"/>
          <p:nvPr/>
        </p:nvSpPr>
        <p:spPr>
          <a:xfrm>
            <a:off x="5212080" y="4151376"/>
            <a:ext cx="2286000" cy="475488"/>
          </a:xfrm>
          <a:prstGeom prst="rect">
            <a:avLst/>
          </a:prstGeom>
          <a:noFill/>
        </p:spPr>
        <p:txBody>
          <a:bodyPr wrap="square" anchor="ctr">
            <a:spAutoFit/>
          </a:bodyPr>
          <a:lstStyle/>
          <a:p>
            <a:pPr algn="l">
              <a:spcAft>
                <a:spcPts val="400"/>
              </a:spcAft>
            </a:pPr>
            <a:r>
              <a:rPr sz="1250" b="1">
                <a:solidFill>
                  <a:srgbClr val="F59E0B"/>
                </a:solidFill>
                <a:latin typeface="Arial"/>
              </a:rPr>
              <a:t>FAILURE MODE</a:t>
            </a:r>
          </a:p>
        </p:txBody>
      </p:sp>
      <p:sp>
        <p:nvSpPr>
          <p:cNvPr id="30" name="TextBox 29"/>
          <p:cNvSpPr txBox="1"/>
          <p:nvPr/>
        </p:nvSpPr>
        <p:spPr>
          <a:xfrm>
            <a:off x="4663440"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Centralization without account/Region context makes incident correlation harder.</a:t>
            </a:r>
          </a:p>
        </p:txBody>
      </p:sp>
      <p:sp>
        <p:nvSpPr>
          <p:cNvPr id="31" name="Rectangle 30"/>
          <p:cNvSpPr/>
          <p:nvPr/>
        </p:nvSpPr>
        <p:spPr>
          <a:xfrm>
            <a:off x="7973568"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73568" y="4005072"/>
            <a:ext cx="91440" cy="21488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174736" y="4187952"/>
            <a:ext cx="438912" cy="438912"/>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74736"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5" name="TextBox 34"/>
          <p:cNvSpPr txBox="1"/>
          <p:nvPr/>
        </p:nvSpPr>
        <p:spPr>
          <a:xfrm>
            <a:off x="8750808" y="4151376"/>
            <a:ext cx="2286000" cy="475488"/>
          </a:xfrm>
          <a:prstGeom prst="rect">
            <a:avLst/>
          </a:prstGeom>
          <a:noFill/>
        </p:spPr>
        <p:txBody>
          <a:bodyPr wrap="square" anchor="ctr">
            <a:spAutoFit/>
          </a:bodyPr>
          <a:lstStyle/>
          <a:p>
            <a:pPr algn="l">
              <a:spcAft>
                <a:spcPts val="400"/>
              </a:spcAft>
            </a:pPr>
            <a:r>
              <a:rPr sz="1250" b="1">
                <a:solidFill>
                  <a:srgbClr val="EC711E"/>
                </a:solidFill>
                <a:latin typeface="Arial"/>
              </a:rPr>
              <a:t>PROOF</a:t>
            </a:r>
          </a:p>
        </p:txBody>
      </p:sp>
      <p:sp>
        <p:nvSpPr>
          <p:cNvPr id="36" name="TextBox 35"/>
          <p:cNvSpPr txBox="1"/>
          <p:nvPr/>
        </p:nvSpPr>
        <p:spPr>
          <a:xfrm>
            <a:off x="8202168"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Log-group policy, subscription filter, destination policy, archive partition and retention setting.</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411</a:t>
            </a:r>
          </a:p>
        </p:txBody>
      </p:sp>
    </p:spTree>
  </p:cSld>
  <p:clrMapOvr>
    <a:masterClrMapping/>
  </p:clrMapOvr>
  <p:transition xmlns:p14="http://schemas.microsoft.com/office/powerpoint/2010/main" p14:dur="380">
    <p:fade/>
  </p:transition>
</p:sld>
</file>

<file path=ppt/slides/slide4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DOMAIN 4 · OPERATIONS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Centralized log architecture: failure diagnostic</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RECOGNISE</a:t>
            </a:r>
          </a:p>
          <a:p>
            <a:pPr algn="l">
              <a:spcAft>
                <a:spcPts val="300"/>
              </a:spcAft>
            </a:pPr>
            <a:r>
              <a:rPr sz="1050" b="0">
                <a:solidFill>
                  <a:srgbClr val="5B6372"/>
                </a:solidFill>
                <a:latin typeface="Arial"/>
              </a:rPr>
              <a:t>Observable failure condition: Centralization without account/Region context makes incident correlation harder.</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CONTAIN</a:t>
            </a:r>
          </a:p>
          <a:p>
            <a:pPr algn="l">
              <a:spcAft>
                <a:spcPts val="300"/>
              </a:spcAft>
            </a:pPr>
            <a:r>
              <a:rPr sz="1050" b="0">
                <a:solidFill>
                  <a:srgbClr val="5B6372"/>
                </a:solidFill>
                <a:latin typeface="Arial"/>
              </a:rPr>
              <a:t>Pause promotion, preserve evidence and reduce impact without destroying diagnostic state.</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DIAGNOSE</a:t>
            </a:r>
          </a:p>
          <a:p>
            <a:pPr algn="l">
              <a:spcAft>
                <a:spcPts val="300"/>
              </a:spcAft>
            </a:pPr>
            <a:r>
              <a:rPr sz="1050" b="0">
                <a:solidFill>
                  <a:srgbClr val="5B6372"/>
                </a:solidFill>
                <a:latin typeface="Arial"/>
              </a:rPr>
              <a:t>Trace the workflow from Emit structured log through Query; compare intended configuration with runtime state.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RECOVER</a:t>
            </a:r>
          </a:p>
          <a:p>
            <a:pPr algn="l">
              <a:spcAft>
                <a:spcPts val="300"/>
              </a:spcAft>
            </a:pPr>
            <a:r>
              <a:rPr sz="1050" b="0">
                <a:solidFill>
                  <a:srgbClr val="5B6372"/>
                </a:solidFill>
                <a:latin typeface="Arial"/>
              </a:rPr>
              <a:t>Restore the last known-good state, then prove recovery with Log-group policy, subscription filter, destination policy, archive partition and retention setting.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412</a:t>
            </a:r>
          </a:p>
        </p:txBody>
      </p:sp>
    </p:spTree>
  </p:cSld>
  <p:clrMapOvr>
    <a:masterClrMapping/>
  </p:clrMapOvr>
  <p:transition xmlns:p14="http://schemas.microsoft.com/office/powerpoint/2010/main" p14:dur="380">
    <p:fade/>
  </p:transition>
</p:sld>
</file>

<file path=ppt/slides/slide4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DOMAIN 4 · APPLIED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Centralized log architecture: worked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CONSTRAINT</a:t>
            </a:r>
          </a:p>
          <a:p>
            <a:pPr algn="l">
              <a:spcAft>
                <a:spcPts val="300"/>
              </a:spcAft>
            </a:pPr>
            <a:r>
              <a:rPr sz="1050" b="0">
                <a:solidFill>
                  <a:srgbClr val="5B6372"/>
                </a:solidFill>
                <a:latin typeface="Arial"/>
              </a:rPr>
              <a:t>Security operations needs a central account for application and audit logs from every workload account.</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DECISION</a:t>
            </a:r>
          </a:p>
          <a:p>
            <a:pPr algn="l">
              <a:spcAft>
                <a:spcPts val="300"/>
              </a:spcAft>
            </a:pPr>
            <a:r>
              <a:rPr sz="1050" b="0">
                <a:solidFill>
                  <a:srgbClr val="5B6372"/>
                </a:solidFill>
                <a:latin typeface="Arial"/>
              </a:rPr>
              <a:t>Standardize structure, encrypt log groups, centralize subscriptions, partition archives and prevent recursive delivery.</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WHY ALTERNATIVES LOSE</a:t>
            </a:r>
          </a:p>
          <a:p>
            <a:pPr algn="l">
              <a:spcAft>
                <a:spcPts val="300"/>
              </a:spcAft>
            </a:pPr>
            <a:r>
              <a:rPr sz="1050" b="0">
                <a:solidFill>
                  <a:srgbClr val="5B6372"/>
                </a:solidFill>
                <a:latin typeface="Arial"/>
              </a:rPr>
              <a:t>Reject options that do not change the stated failure boundary: Centralization without account/Region context makes incident correlation harder.</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ACCEPTANCE TEST</a:t>
            </a:r>
          </a:p>
          <a:p>
            <a:pPr algn="l">
              <a:spcAft>
                <a:spcPts val="300"/>
              </a:spcAft>
            </a:pPr>
            <a:r>
              <a:rPr sz="1050" b="0">
                <a:solidFill>
                  <a:srgbClr val="5B6372"/>
                </a:solidFill>
                <a:latin typeface="Arial"/>
              </a:rPr>
              <a:t>The decision is complete only when this proof exists: Log-group policy, subscription filter, destination policy, archive partition and retention setting.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413</a:t>
            </a:r>
          </a:p>
        </p:txBody>
      </p:sp>
    </p:spTree>
  </p:cSld>
  <p:clrMapOvr>
    <a:masterClrMapping/>
  </p:clrMapOvr>
  <p:transition xmlns:p14="http://schemas.microsoft.com/office/powerpoint/2010/main" p14:dur="380">
    <p:fade/>
  </p:transition>
</p:sld>
</file>

<file path=ppt/slides/slide4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DOMAIN 4 · MONITORING AND LOGGING</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Agents and custom telemetry</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OUTCOME</a:t>
            </a:r>
          </a:p>
          <a:p>
            <a:pPr algn="l">
              <a:spcAft>
                <a:spcPts val="300"/>
              </a:spcAft>
            </a:pPr>
            <a:r>
              <a:rPr sz="1050" b="0">
                <a:solidFill>
                  <a:srgbClr val="5B6372"/>
                </a:solidFill>
                <a:latin typeface="Arial"/>
              </a:rPr>
              <a:t>Capture operating-system, application and business signals not emitted by managed services.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ARCHITECTURE</a:t>
            </a:r>
          </a:p>
          <a:p>
            <a:pPr algn="l">
              <a:spcAft>
                <a:spcPts val="300"/>
              </a:spcAft>
            </a:pPr>
            <a:r>
              <a:rPr sz="1050" b="0">
                <a:solidFill>
                  <a:srgbClr val="5B6372"/>
                </a:solidFill>
                <a:latin typeface="Arial"/>
              </a:rPr>
              <a:t>Deploy versioned agent configuration, use least privilege, buffer safely and validate time synchronization.</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MODE</a:t>
            </a:r>
          </a:p>
          <a:p>
            <a:pPr algn="l">
              <a:spcAft>
                <a:spcPts val="300"/>
              </a:spcAft>
            </a:pPr>
            <a:r>
              <a:rPr sz="1050" b="0">
                <a:solidFill>
                  <a:srgbClr val="5B6372"/>
                </a:solidFill>
                <a:latin typeface="Arial"/>
              </a:rPr>
              <a:t>A broken agent rollout can remove visibility exactly when a change is being evaluated.</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EVIDENCE</a:t>
            </a:r>
          </a:p>
          <a:p>
            <a:pPr algn="l">
              <a:spcAft>
                <a:spcPts val="300"/>
              </a:spcAft>
            </a:pPr>
            <a:r>
              <a:rPr sz="1050" b="0">
                <a:solidFill>
                  <a:srgbClr val="5B6372"/>
                </a:solidFill>
                <a:latin typeface="Arial"/>
              </a:rPr>
              <a:t>Agent config version, collection status, dropped records, IAM policy and sample telemetry.</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414</a:t>
            </a:r>
          </a:p>
        </p:txBody>
      </p:sp>
    </p:spTree>
  </p:cSld>
  <p:clrMapOvr>
    <a:masterClrMapping/>
  </p:clrMapOvr>
  <p:transition xmlns:p14="http://schemas.microsoft.com/office/powerpoint/2010/main" p14:dur="380">
    <p:fade/>
  </p:transition>
</p:sld>
</file>

<file path=ppt/slides/slide4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DOMAIN 4 · PROCESS MODEL</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Agents and custom telemetry: operating flow</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49809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97102"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9710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Configure receiver</a:t>
            </a:r>
          </a:p>
        </p:txBody>
      </p:sp>
      <p:sp>
        <p:nvSpPr>
          <p:cNvPr id="12" name="Rectangle 11"/>
          <p:cNvSpPr/>
          <p:nvPr/>
        </p:nvSpPr>
        <p:spPr>
          <a:xfrm>
            <a:off x="2604516"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04516" y="2148840"/>
            <a:ext cx="149809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024378"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24378"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6" name="TextBox 15"/>
          <p:cNvSpPr txBox="1"/>
          <p:nvPr/>
        </p:nvSpPr>
        <p:spPr>
          <a:xfrm>
            <a:off x="2723388"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Collect</a:t>
            </a:r>
          </a:p>
        </p:txBody>
      </p:sp>
      <p:sp>
        <p:nvSpPr>
          <p:cNvPr id="17" name="Rectangle 16"/>
          <p:cNvSpPr/>
          <p:nvPr/>
        </p:nvSpPr>
        <p:spPr>
          <a:xfrm>
            <a:off x="4431792"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431792" y="2148840"/>
            <a:ext cx="149809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851654"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51654"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1" name="TextBox 20"/>
          <p:cNvSpPr txBox="1"/>
          <p:nvPr/>
        </p:nvSpPr>
        <p:spPr>
          <a:xfrm>
            <a:off x="4550664"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Enrich</a:t>
            </a:r>
          </a:p>
        </p:txBody>
      </p:sp>
      <p:sp>
        <p:nvSpPr>
          <p:cNvPr id="22" name="Rectangle 21"/>
          <p:cNvSpPr/>
          <p:nvPr/>
        </p:nvSpPr>
        <p:spPr>
          <a:xfrm>
            <a:off x="6259068"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59068" y="2148840"/>
            <a:ext cx="149809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678930"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78930"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6" name="TextBox 25"/>
          <p:cNvSpPr txBox="1"/>
          <p:nvPr/>
        </p:nvSpPr>
        <p:spPr>
          <a:xfrm>
            <a:off x="6377940"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Batch</a:t>
            </a:r>
          </a:p>
        </p:txBody>
      </p:sp>
      <p:sp>
        <p:nvSpPr>
          <p:cNvPr id="27" name="Rectangle 26"/>
          <p:cNvSpPr/>
          <p:nvPr/>
        </p:nvSpPr>
        <p:spPr>
          <a:xfrm>
            <a:off x="8086344"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086344" y="2148840"/>
            <a:ext cx="1498092" cy="914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506206" y="2532888"/>
            <a:ext cx="658368" cy="658368"/>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06206"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5</a:t>
            </a:r>
          </a:p>
        </p:txBody>
      </p:sp>
      <p:sp>
        <p:nvSpPr>
          <p:cNvPr id="31" name="TextBox 30"/>
          <p:cNvSpPr txBox="1"/>
          <p:nvPr/>
        </p:nvSpPr>
        <p:spPr>
          <a:xfrm>
            <a:off x="8205216"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Export</a:t>
            </a:r>
          </a:p>
        </p:txBody>
      </p:sp>
      <p:sp>
        <p:nvSpPr>
          <p:cNvPr id="32" name="Rectangle 31"/>
          <p:cNvSpPr/>
          <p:nvPr/>
        </p:nvSpPr>
        <p:spPr>
          <a:xfrm>
            <a:off x="9913620"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913620" y="2148840"/>
            <a:ext cx="1498092" cy="91440"/>
          </a:xfrm>
          <a:prstGeom prst="rect">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333482" y="2532888"/>
            <a:ext cx="658368" cy="658368"/>
          </a:xfrm>
          <a:prstGeom prst="ellipse">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3348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6</a:t>
            </a:r>
          </a:p>
        </p:txBody>
      </p:sp>
      <p:sp>
        <p:nvSpPr>
          <p:cNvPr id="36" name="TextBox 35"/>
          <p:cNvSpPr txBox="1"/>
          <p:nvPr/>
        </p:nvSpPr>
        <p:spPr>
          <a:xfrm>
            <a:off x="10032492"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Verify</a:t>
            </a:r>
          </a:p>
        </p:txBody>
      </p:sp>
      <p:cxnSp>
        <p:nvCxnSpPr>
          <p:cNvPr id="37" name="Connector 36"/>
          <p:cNvCxnSpPr/>
          <p:nvPr/>
        </p:nvCxnSpPr>
        <p:spPr>
          <a:xfrm>
            <a:off x="2275332"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10260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929884"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775716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9584436"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F59E0B"/>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44" name="TextBox 4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45" name="TextBox 4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6" name="TextBox 4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415</a:t>
            </a:r>
          </a:p>
        </p:txBody>
      </p:sp>
    </p:spTree>
  </p:cSld>
  <p:clrMapOvr>
    <a:masterClrMapping/>
  </p:clrMapOvr>
  <p:transition xmlns:p14="http://schemas.microsoft.com/office/powerpoint/2010/main" p14:dur="380">
    <p:fade/>
  </p:transition>
</p:sld>
</file>

<file path=ppt/slides/slide4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DOMAIN 4 ·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Agents and custom telemetry: design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83280" cy="43708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708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01168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011680"/>
            <a:ext cx="530352" cy="530352"/>
          </a:xfrm>
          <a:prstGeom prst="rect">
            <a:avLst/>
          </a:prstGeom>
          <a:noFill/>
        </p:spPr>
        <p:txBody>
          <a:bodyPr wrap="square" anchor="ctr">
            <a:spAutoFit/>
          </a:bodyPr>
          <a:lstStyle/>
          <a:p>
            <a:pPr algn="ctr">
              <a:spcAft>
                <a:spcPts val="400"/>
              </a:spcAft>
            </a:pPr>
            <a:r>
              <a:rPr sz="2000" b="1">
                <a:solidFill>
                  <a:srgbClr val="FFFFFF"/>
                </a:solidFill>
                <a:latin typeface="Arial"/>
              </a:rPr>
              <a:t>?</a:t>
            </a:r>
          </a:p>
        </p:txBody>
      </p:sp>
      <p:sp>
        <p:nvSpPr>
          <p:cNvPr id="11" name="TextBox 10"/>
          <p:cNvSpPr txBox="1"/>
          <p:nvPr/>
        </p:nvSpPr>
        <p:spPr>
          <a:xfrm>
            <a:off x="1709928" y="1984248"/>
            <a:ext cx="2212848" cy="502920"/>
          </a:xfrm>
          <a:prstGeom prst="rect">
            <a:avLst/>
          </a:prstGeom>
          <a:noFill/>
        </p:spPr>
        <p:txBody>
          <a:bodyPr wrap="square" anchor="ctr">
            <a:spAutoFit/>
          </a:bodyPr>
          <a:lstStyle/>
          <a:p>
            <a:pPr algn="l">
              <a:spcAft>
                <a:spcPts val="400"/>
              </a:spcAft>
            </a:pPr>
            <a:r>
              <a:rPr sz="1350" b="1">
                <a:solidFill>
                  <a:srgbClr val="F59E0B"/>
                </a:solidFill>
                <a:latin typeface="Arial"/>
              </a:rPr>
              <a:t>SCENARIO</a:t>
            </a:r>
          </a:p>
        </p:txBody>
      </p:sp>
      <p:sp>
        <p:nvSpPr>
          <p:cNvPr id="12" name="TextBox 11"/>
          <p:cNvSpPr txBox="1"/>
          <p:nvPr/>
        </p:nvSpPr>
        <p:spPr>
          <a:xfrm>
            <a:off x="1051560" y="2743200"/>
            <a:ext cx="2834640" cy="3136392"/>
          </a:xfrm>
          <a:prstGeom prst="rect">
            <a:avLst/>
          </a:prstGeom>
          <a:noFill/>
        </p:spPr>
        <p:txBody>
          <a:bodyPr wrap="square" anchor="t">
            <a:spAutoFit/>
          </a:bodyPr>
          <a:lstStyle/>
          <a:p>
            <a:pPr algn="l">
              <a:spcAft>
                <a:spcPts val="400"/>
              </a:spcAft>
            </a:pPr>
            <a:r>
              <a:rPr sz="1300" b="0">
                <a:solidFill>
                  <a:srgbClr val="161B26"/>
                </a:solidFill>
                <a:latin typeface="Arial"/>
              </a:rPr>
              <a:t>A hybrid fleet must publish memory utilization, application latency and deployment version consistently.</a:t>
            </a:r>
          </a:p>
        </p:txBody>
      </p:sp>
      <p:sp>
        <p:nvSpPr>
          <p:cNvPr id="13" name="Rectangle 12"/>
          <p:cNvSpPr/>
          <p:nvPr/>
        </p:nvSpPr>
        <p:spPr>
          <a:xfrm>
            <a:off x="4434840"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34840" y="1783080"/>
            <a:ext cx="91440"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636008" y="1965960"/>
            <a:ext cx="438912" cy="43891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6008"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7" name="TextBox 16"/>
          <p:cNvSpPr txBox="1"/>
          <p:nvPr/>
        </p:nvSpPr>
        <p:spPr>
          <a:xfrm>
            <a:off x="5212080" y="1929384"/>
            <a:ext cx="2286000" cy="475488"/>
          </a:xfrm>
          <a:prstGeom prst="rect">
            <a:avLst/>
          </a:prstGeom>
          <a:noFill/>
        </p:spPr>
        <p:txBody>
          <a:bodyPr wrap="square" anchor="ctr">
            <a:spAutoFit/>
          </a:bodyPr>
          <a:lstStyle/>
          <a:p>
            <a:pPr algn="l">
              <a:spcAft>
                <a:spcPts val="400"/>
              </a:spcAft>
            </a:pPr>
            <a:r>
              <a:rPr sz="1250" b="1">
                <a:solidFill>
                  <a:srgbClr val="10B981"/>
                </a:solidFill>
                <a:latin typeface="Arial"/>
              </a:rPr>
              <a:t>DESIGN RESPONSE</a:t>
            </a:r>
          </a:p>
        </p:txBody>
      </p:sp>
      <p:sp>
        <p:nvSpPr>
          <p:cNvPr id="18" name="TextBox 17"/>
          <p:cNvSpPr txBox="1"/>
          <p:nvPr/>
        </p:nvSpPr>
        <p:spPr>
          <a:xfrm>
            <a:off x="4663440"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Deploy versioned agent configuration, use least privilege, buffer safely and validate time synchronization.</a:t>
            </a:r>
          </a:p>
        </p:txBody>
      </p:sp>
      <p:sp>
        <p:nvSpPr>
          <p:cNvPr id="19" name="Rectangle 18"/>
          <p:cNvSpPr/>
          <p:nvPr/>
        </p:nvSpPr>
        <p:spPr>
          <a:xfrm>
            <a:off x="7973568"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973568" y="1783080"/>
            <a:ext cx="91440" cy="21488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174736" y="1965960"/>
            <a:ext cx="438912" cy="43891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74736"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23" name="TextBox 22"/>
          <p:cNvSpPr txBox="1"/>
          <p:nvPr/>
        </p:nvSpPr>
        <p:spPr>
          <a:xfrm>
            <a:off x="8750808" y="1929384"/>
            <a:ext cx="2286000" cy="475488"/>
          </a:xfrm>
          <a:prstGeom prst="rect">
            <a:avLst/>
          </a:prstGeom>
          <a:noFill/>
        </p:spPr>
        <p:txBody>
          <a:bodyPr wrap="square" anchor="ctr">
            <a:spAutoFit/>
          </a:bodyPr>
          <a:lstStyle/>
          <a:p>
            <a:pPr algn="l">
              <a:spcAft>
                <a:spcPts val="400"/>
              </a:spcAft>
            </a:pPr>
            <a:r>
              <a:rPr sz="1250" b="1">
                <a:solidFill>
                  <a:srgbClr val="7C3AED"/>
                </a:solidFill>
                <a:latin typeface="Arial"/>
              </a:rPr>
              <a:t>PRIMARY SERVICES</a:t>
            </a:r>
          </a:p>
        </p:txBody>
      </p:sp>
      <p:sp>
        <p:nvSpPr>
          <p:cNvPr id="24" name="TextBox 23"/>
          <p:cNvSpPr txBox="1"/>
          <p:nvPr/>
        </p:nvSpPr>
        <p:spPr>
          <a:xfrm>
            <a:off x="8202168"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CloudWatch Agent · OpenTelemetry Collector · Embedded Metric Format</a:t>
            </a:r>
          </a:p>
        </p:txBody>
      </p:sp>
      <p:sp>
        <p:nvSpPr>
          <p:cNvPr id="25" name="Rectangle 24"/>
          <p:cNvSpPr/>
          <p:nvPr/>
        </p:nvSpPr>
        <p:spPr>
          <a:xfrm>
            <a:off x="4434840"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34840" y="4005072"/>
            <a:ext cx="91440" cy="21488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636008" y="4187952"/>
            <a:ext cx="438912" cy="43891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36008"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9" name="TextBox 28"/>
          <p:cNvSpPr txBox="1"/>
          <p:nvPr/>
        </p:nvSpPr>
        <p:spPr>
          <a:xfrm>
            <a:off x="5212080" y="4151376"/>
            <a:ext cx="2286000" cy="475488"/>
          </a:xfrm>
          <a:prstGeom prst="rect">
            <a:avLst/>
          </a:prstGeom>
          <a:noFill/>
        </p:spPr>
        <p:txBody>
          <a:bodyPr wrap="square" anchor="ctr">
            <a:spAutoFit/>
          </a:bodyPr>
          <a:lstStyle/>
          <a:p>
            <a:pPr algn="l">
              <a:spcAft>
                <a:spcPts val="400"/>
              </a:spcAft>
            </a:pPr>
            <a:r>
              <a:rPr sz="1250" b="1">
                <a:solidFill>
                  <a:srgbClr val="F59E0B"/>
                </a:solidFill>
                <a:latin typeface="Arial"/>
              </a:rPr>
              <a:t>FAILURE MODE</a:t>
            </a:r>
          </a:p>
        </p:txBody>
      </p:sp>
      <p:sp>
        <p:nvSpPr>
          <p:cNvPr id="30" name="TextBox 29"/>
          <p:cNvSpPr txBox="1"/>
          <p:nvPr/>
        </p:nvSpPr>
        <p:spPr>
          <a:xfrm>
            <a:off x="4663440"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A broken agent rollout can remove visibility exactly when a change is being evaluated.</a:t>
            </a:r>
          </a:p>
        </p:txBody>
      </p:sp>
      <p:sp>
        <p:nvSpPr>
          <p:cNvPr id="31" name="Rectangle 30"/>
          <p:cNvSpPr/>
          <p:nvPr/>
        </p:nvSpPr>
        <p:spPr>
          <a:xfrm>
            <a:off x="7973568"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73568" y="4005072"/>
            <a:ext cx="91440" cy="21488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174736" y="4187952"/>
            <a:ext cx="438912" cy="438912"/>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74736"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5" name="TextBox 34"/>
          <p:cNvSpPr txBox="1"/>
          <p:nvPr/>
        </p:nvSpPr>
        <p:spPr>
          <a:xfrm>
            <a:off x="8750808" y="4151376"/>
            <a:ext cx="2286000" cy="475488"/>
          </a:xfrm>
          <a:prstGeom prst="rect">
            <a:avLst/>
          </a:prstGeom>
          <a:noFill/>
        </p:spPr>
        <p:txBody>
          <a:bodyPr wrap="square" anchor="ctr">
            <a:spAutoFit/>
          </a:bodyPr>
          <a:lstStyle/>
          <a:p>
            <a:pPr algn="l">
              <a:spcAft>
                <a:spcPts val="400"/>
              </a:spcAft>
            </a:pPr>
            <a:r>
              <a:rPr sz="1250" b="1">
                <a:solidFill>
                  <a:srgbClr val="EC711E"/>
                </a:solidFill>
                <a:latin typeface="Arial"/>
              </a:rPr>
              <a:t>PROOF</a:t>
            </a:r>
          </a:p>
        </p:txBody>
      </p:sp>
      <p:sp>
        <p:nvSpPr>
          <p:cNvPr id="36" name="TextBox 35"/>
          <p:cNvSpPr txBox="1"/>
          <p:nvPr/>
        </p:nvSpPr>
        <p:spPr>
          <a:xfrm>
            <a:off x="8202168"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Agent config version, collection status, dropped records, IAM policy and sample telemetry.</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416</a:t>
            </a:r>
          </a:p>
        </p:txBody>
      </p:sp>
    </p:spTree>
  </p:cSld>
  <p:clrMapOvr>
    <a:masterClrMapping/>
  </p:clrMapOvr>
  <p:transition xmlns:p14="http://schemas.microsoft.com/office/powerpoint/2010/main" p14:dur="380">
    <p:fade/>
  </p:transition>
</p:sld>
</file>

<file path=ppt/slides/slide4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DOMAIN 4 · OPERATIONS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Agents and custom telemetry: failure diagnostic</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RECOGNISE</a:t>
            </a:r>
          </a:p>
          <a:p>
            <a:pPr algn="l">
              <a:spcAft>
                <a:spcPts val="300"/>
              </a:spcAft>
            </a:pPr>
            <a:r>
              <a:rPr sz="1050" b="0">
                <a:solidFill>
                  <a:srgbClr val="5B6372"/>
                </a:solidFill>
                <a:latin typeface="Arial"/>
              </a:rPr>
              <a:t>Observable failure condition: A broken agent rollout can remove visibility exactly when a change is being evaluated.</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CONTAIN</a:t>
            </a:r>
          </a:p>
          <a:p>
            <a:pPr algn="l">
              <a:spcAft>
                <a:spcPts val="300"/>
              </a:spcAft>
            </a:pPr>
            <a:r>
              <a:rPr sz="1050" b="0">
                <a:solidFill>
                  <a:srgbClr val="5B6372"/>
                </a:solidFill>
                <a:latin typeface="Arial"/>
              </a:rPr>
              <a:t>Pause promotion, preserve evidence and reduce impact without destroying diagnostic state.</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DIAGNOSE</a:t>
            </a:r>
          </a:p>
          <a:p>
            <a:pPr algn="l">
              <a:spcAft>
                <a:spcPts val="300"/>
              </a:spcAft>
            </a:pPr>
            <a:r>
              <a:rPr sz="1050" b="0">
                <a:solidFill>
                  <a:srgbClr val="5B6372"/>
                </a:solidFill>
                <a:latin typeface="Arial"/>
              </a:rPr>
              <a:t>Trace the workflow from Configure receiver through Verify; compare intended configuration with runtime state.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RECOVER</a:t>
            </a:r>
          </a:p>
          <a:p>
            <a:pPr algn="l">
              <a:spcAft>
                <a:spcPts val="300"/>
              </a:spcAft>
            </a:pPr>
            <a:r>
              <a:rPr sz="1050" b="0">
                <a:solidFill>
                  <a:srgbClr val="5B6372"/>
                </a:solidFill>
                <a:latin typeface="Arial"/>
              </a:rPr>
              <a:t>Restore the last known-good state, then prove recovery with Agent config version, collection status, dropped records, IAM policy and sample telemetry.</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417</a:t>
            </a:r>
          </a:p>
        </p:txBody>
      </p:sp>
    </p:spTree>
  </p:cSld>
  <p:clrMapOvr>
    <a:masterClrMapping/>
  </p:clrMapOvr>
  <p:transition xmlns:p14="http://schemas.microsoft.com/office/powerpoint/2010/main" p14:dur="380">
    <p:fade/>
  </p:transition>
</p:sld>
</file>

<file path=ppt/slides/slide4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DOMAIN 4 · APPLIED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Agents and custom telemetry: worked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CONSTRAINT</a:t>
            </a:r>
          </a:p>
          <a:p>
            <a:pPr algn="l">
              <a:spcAft>
                <a:spcPts val="300"/>
              </a:spcAft>
            </a:pPr>
            <a:r>
              <a:rPr sz="1050" b="0">
                <a:solidFill>
                  <a:srgbClr val="5B6372"/>
                </a:solidFill>
                <a:latin typeface="Arial"/>
              </a:rPr>
              <a:t>A hybrid fleet must publish memory utilization, application latency and deployment version consistently.</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DECISION</a:t>
            </a:r>
          </a:p>
          <a:p>
            <a:pPr algn="l">
              <a:spcAft>
                <a:spcPts val="300"/>
              </a:spcAft>
            </a:pPr>
            <a:r>
              <a:rPr sz="1050" b="0">
                <a:solidFill>
                  <a:srgbClr val="5B6372"/>
                </a:solidFill>
                <a:latin typeface="Arial"/>
              </a:rPr>
              <a:t>Deploy versioned agent configuration, use least privilege, buffer safely and validate time synchronization.</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WHY ALTERNATIVES LOSE</a:t>
            </a:r>
          </a:p>
          <a:p>
            <a:pPr algn="l">
              <a:spcAft>
                <a:spcPts val="300"/>
              </a:spcAft>
            </a:pPr>
            <a:r>
              <a:rPr sz="1050" b="0">
                <a:solidFill>
                  <a:srgbClr val="5B6372"/>
                </a:solidFill>
                <a:latin typeface="Arial"/>
              </a:rPr>
              <a:t>Reject options that do not change the stated failure boundary: A broken agent rollout can remove visibility exactly when a change is being evaluated.</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ACCEPTANCE TEST</a:t>
            </a:r>
          </a:p>
          <a:p>
            <a:pPr algn="l">
              <a:spcAft>
                <a:spcPts val="300"/>
              </a:spcAft>
            </a:pPr>
            <a:r>
              <a:rPr sz="1050" b="0">
                <a:solidFill>
                  <a:srgbClr val="5B6372"/>
                </a:solidFill>
                <a:latin typeface="Arial"/>
              </a:rPr>
              <a:t>The decision is complete only when this proof exists: Agent config version, collection status, dropped records, IAM policy and sample telemetry.</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418</a:t>
            </a:r>
          </a:p>
        </p:txBody>
      </p:sp>
    </p:spTree>
  </p:cSld>
  <p:clrMapOvr>
    <a:masterClrMapping/>
  </p:clrMapOvr>
  <p:transition xmlns:p14="http://schemas.microsoft.com/office/powerpoint/2010/main" p14:dur="380">
    <p:fade/>
  </p:transition>
</p:sld>
</file>

<file path=ppt/slides/slide4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DOMAIN 4 · MONITORING AND LOGGING</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Alarms, anomaly detection and composite signals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OUTCOME</a:t>
            </a:r>
          </a:p>
          <a:p>
            <a:pPr algn="l">
              <a:spcAft>
                <a:spcPts val="300"/>
              </a:spcAft>
            </a:pPr>
            <a:r>
              <a:rPr sz="1050" b="0">
                <a:solidFill>
                  <a:srgbClr val="5B6372"/>
                </a:solidFill>
                <a:latin typeface="Arial"/>
              </a:rPr>
              <a:t>Trigger action only when evidence is meaningful enough to justify interruption or automation.</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ARCHITECTURE</a:t>
            </a:r>
          </a:p>
          <a:p>
            <a:pPr algn="l">
              <a:spcAft>
                <a:spcPts val="300"/>
              </a:spcAft>
            </a:pPr>
            <a:r>
              <a:rPr sz="1050" b="0">
                <a:solidFill>
                  <a:srgbClr val="5B6372"/>
                </a:solidFill>
                <a:latin typeface="Arial"/>
              </a:rPr>
              <a:t>Tune evaluation periods and missing-data behavior; combine symptoms to reduce noise and attach runbook context.</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MODE</a:t>
            </a:r>
          </a:p>
          <a:p>
            <a:pPr algn="l">
              <a:spcAft>
                <a:spcPts val="300"/>
              </a:spcAft>
            </a:pPr>
            <a:r>
              <a:rPr sz="1050" b="0">
                <a:solidFill>
                  <a:srgbClr val="5B6372"/>
                </a:solidFill>
                <a:latin typeface="Arial"/>
              </a:rPr>
              <a:t>One noisy metric can cause alert fatigue or repeated automated recovery.</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EVIDENCE</a:t>
            </a:r>
          </a:p>
          <a:p>
            <a:pPr algn="l">
              <a:spcAft>
                <a:spcPts val="300"/>
              </a:spcAft>
            </a:pPr>
            <a:r>
              <a:rPr sz="1050" b="0">
                <a:solidFill>
                  <a:srgbClr val="5B6372"/>
                </a:solidFill>
                <a:latin typeface="Arial"/>
              </a:rPr>
              <a:t>Alarm configuration, state transition, contributing alarms, notification payload and operator action.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419</a:t>
            </a:r>
          </a:p>
        </p:txBody>
      </p:sp>
    </p:spTree>
  </p:cSld>
  <p:clrMapOvr>
    <a:masterClrMapping/>
  </p:clrMapOvr>
  <p:transition xmlns:p14="http://schemas.microsoft.com/office/powerpoint/2010/main" p14:dur="380">
    <p:fade/>
  </p:transition>
</p:sld>
</file>

<file path=ppt/slides/slide4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DOMAIN 4 · PROCESS MODEL</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500" b="1">
                <a:solidFill>
                  <a:srgbClr val="161B26"/>
                </a:solidFill>
                <a:latin typeface="Arial"/>
              </a:rPr>
              <a:t>Alarms, anomaly detection and composite signals: operating flow</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6354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79829"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982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Evaluate datapoint</a:t>
            </a:r>
          </a:p>
        </p:txBody>
      </p:sp>
      <p:sp>
        <p:nvSpPr>
          <p:cNvPr id="12" name="Rectangle 11"/>
          <p:cNvSpPr/>
          <p:nvPr/>
        </p:nvSpPr>
        <p:spPr>
          <a:xfrm>
            <a:off x="2969971"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69971" y="2148840"/>
            <a:ext cx="186354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572560"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72560"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6" name="TextBox 15"/>
          <p:cNvSpPr txBox="1"/>
          <p:nvPr/>
        </p:nvSpPr>
        <p:spPr>
          <a:xfrm>
            <a:off x="3088843"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Apply threshold</a:t>
            </a:r>
          </a:p>
        </p:txBody>
      </p:sp>
      <p:sp>
        <p:nvSpPr>
          <p:cNvPr id="17" name="Rectangle 16"/>
          <p:cNvSpPr/>
          <p:nvPr/>
        </p:nvSpPr>
        <p:spPr>
          <a:xfrm>
            <a:off x="5162702"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62702" y="2148840"/>
            <a:ext cx="186354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765291"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6529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1" name="TextBox 20"/>
          <p:cNvSpPr txBox="1"/>
          <p:nvPr/>
        </p:nvSpPr>
        <p:spPr>
          <a:xfrm>
            <a:off x="5281574"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Correlate</a:t>
            </a:r>
          </a:p>
        </p:txBody>
      </p:sp>
      <p:sp>
        <p:nvSpPr>
          <p:cNvPr id="22" name="Rectangle 21"/>
          <p:cNvSpPr/>
          <p:nvPr/>
        </p:nvSpPr>
        <p:spPr>
          <a:xfrm>
            <a:off x="7355433"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355433" y="2148840"/>
            <a:ext cx="186354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958022"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5802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6" name="TextBox 25"/>
          <p:cNvSpPr txBox="1"/>
          <p:nvPr/>
        </p:nvSpPr>
        <p:spPr>
          <a:xfrm>
            <a:off x="7474305"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Change state</a:t>
            </a:r>
          </a:p>
        </p:txBody>
      </p:sp>
      <p:sp>
        <p:nvSpPr>
          <p:cNvPr id="27" name="Rectangle 26"/>
          <p:cNvSpPr/>
          <p:nvPr/>
        </p:nvSpPr>
        <p:spPr>
          <a:xfrm>
            <a:off x="9548164"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548164" y="2148840"/>
            <a:ext cx="1863547" cy="914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50753" y="2532888"/>
            <a:ext cx="658368" cy="658368"/>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5075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5</a:t>
            </a:r>
          </a:p>
        </p:txBody>
      </p:sp>
      <p:sp>
        <p:nvSpPr>
          <p:cNvPr id="31" name="TextBox 30"/>
          <p:cNvSpPr txBox="1"/>
          <p:nvPr/>
        </p:nvSpPr>
        <p:spPr>
          <a:xfrm>
            <a:off x="9667036"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Notify or act</a:t>
            </a:r>
          </a:p>
        </p:txBody>
      </p:sp>
      <p:cxnSp>
        <p:nvCxnSpPr>
          <p:cNvPr id="32" name="Connector 31"/>
          <p:cNvCxnSpPr/>
          <p:nvPr/>
        </p:nvCxnSpPr>
        <p:spPr>
          <a:xfrm>
            <a:off x="2640787"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83351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026249"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21898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F59E0B"/>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8" name="TextBox 3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9" name="TextBox 3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0" name="TextBox 3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420</a:t>
            </a:r>
          </a:p>
        </p:txBody>
      </p:sp>
    </p:spTree>
  </p:cSld>
  <p:clrMapOvr>
    <a:masterClrMapping/>
  </p:clrMapOvr>
  <p:transition xmlns:p14="http://schemas.microsoft.com/office/powerpoint/2010/main" p14:dur="380">
    <p:fade/>
  </p:transition>
</p:sld>
</file>

<file path=ppt/slides/slide4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DOMAIN 4 · SCENARIO</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500" b="1">
                <a:solidFill>
                  <a:srgbClr val="161B26"/>
                </a:solidFill>
                <a:latin typeface="Arial"/>
              </a:rPr>
              <a:t>Alarms, anomaly detection and composite signals: design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83280" cy="43708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708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01168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011680"/>
            <a:ext cx="530352" cy="530352"/>
          </a:xfrm>
          <a:prstGeom prst="rect">
            <a:avLst/>
          </a:prstGeom>
          <a:noFill/>
        </p:spPr>
        <p:txBody>
          <a:bodyPr wrap="square" anchor="ctr">
            <a:spAutoFit/>
          </a:bodyPr>
          <a:lstStyle/>
          <a:p>
            <a:pPr algn="ctr">
              <a:spcAft>
                <a:spcPts val="400"/>
              </a:spcAft>
            </a:pPr>
            <a:r>
              <a:rPr sz="2000" b="1">
                <a:solidFill>
                  <a:srgbClr val="FFFFFF"/>
                </a:solidFill>
                <a:latin typeface="Arial"/>
              </a:rPr>
              <a:t>?</a:t>
            </a:r>
          </a:p>
        </p:txBody>
      </p:sp>
      <p:sp>
        <p:nvSpPr>
          <p:cNvPr id="11" name="TextBox 10"/>
          <p:cNvSpPr txBox="1"/>
          <p:nvPr/>
        </p:nvSpPr>
        <p:spPr>
          <a:xfrm>
            <a:off x="1709928" y="1984248"/>
            <a:ext cx="2212848" cy="502920"/>
          </a:xfrm>
          <a:prstGeom prst="rect">
            <a:avLst/>
          </a:prstGeom>
          <a:noFill/>
        </p:spPr>
        <p:txBody>
          <a:bodyPr wrap="square" anchor="ctr">
            <a:spAutoFit/>
          </a:bodyPr>
          <a:lstStyle/>
          <a:p>
            <a:pPr algn="l">
              <a:spcAft>
                <a:spcPts val="400"/>
              </a:spcAft>
            </a:pPr>
            <a:r>
              <a:rPr sz="1350" b="1">
                <a:solidFill>
                  <a:srgbClr val="F59E0B"/>
                </a:solidFill>
                <a:latin typeface="Arial"/>
              </a:rPr>
              <a:t>SCENARIO</a:t>
            </a:r>
          </a:p>
        </p:txBody>
      </p:sp>
      <p:sp>
        <p:nvSpPr>
          <p:cNvPr id="12" name="TextBox 11"/>
          <p:cNvSpPr txBox="1"/>
          <p:nvPr/>
        </p:nvSpPr>
        <p:spPr>
          <a:xfrm>
            <a:off x="1051560" y="2743200"/>
            <a:ext cx="2834640" cy="3136392"/>
          </a:xfrm>
          <a:prstGeom prst="rect">
            <a:avLst/>
          </a:prstGeom>
          <a:noFill/>
        </p:spPr>
        <p:txBody>
          <a:bodyPr wrap="square" anchor="t">
            <a:spAutoFit/>
          </a:bodyPr>
          <a:lstStyle/>
          <a:p>
            <a:pPr algn="l">
              <a:spcAft>
                <a:spcPts val="400"/>
              </a:spcAft>
            </a:pPr>
            <a:r>
              <a:rPr sz="1300" b="0">
                <a:solidFill>
                  <a:srgbClr val="161B26"/>
                </a:solidFill>
                <a:latin typeface="Arial"/>
              </a:rPr>
              <a:t>Operations wants a page only when latency is high and the error rate indicates customer impact.</a:t>
            </a:r>
          </a:p>
        </p:txBody>
      </p:sp>
      <p:sp>
        <p:nvSpPr>
          <p:cNvPr id="13" name="Rectangle 12"/>
          <p:cNvSpPr/>
          <p:nvPr/>
        </p:nvSpPr>
        <p:spPr>
          <a:xfrm>
            <a:off x="4434840"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34840" y="1783080"/>
            <a:ext cx="91440"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636008" y="1965960"/>
            <a:ext cx="438912" cy="43891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6008"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7" name="TextBox 16"/>
          <p:cNvSpPr txBox="1"/>
          <p:nvPr/>
        </p:nvSpPr>
        <p:spPr>
          <a:xfrm>
            <a:off x="5212080" y="1929384"/>
            <a:ext cx="2286000" cy="475488"/>
          </a:xfrm>
          <a:prstGeom prst="rect">
            <a:avLst/>
          </a:prstGeom>
          <a:noFill/>
        </p:spPr>
        <p:txBody>
          <a:bodyPr wrap="square" anchor="ctr">
            <a:spAutoFit/>
          </a:bodyPr>
          <a:lstStyle/>
          <a:p>
            <a:pPr algn="l">
              <a:spcAft>
                <a:spcPts val="400"/>
              </a:spcAft>
            </a:pPr>
            <a:r>
              <a:rPr sz="1250" b="1">
                <a:solidFill>
                  <a:srgbClr val="10B981"/>
                </a:solidFill>
                <a:latin typeface="Arial"/>
              </a:rPr>
              <a:t>DESIGN RESPONSE</a:t>
            </a:r>
          </a:p>
        </p:txBody>
      </p:sp>
      <p:sp>
        <p:nvSpPr>
          <p:cNvPr id="18" name="TextBox 17"/>
          <p:cNvSpPr txBox="1"/>
          <p:nvPr/>
        </p:nvSpPr>
        <p:spPr>
          <a:xfrm>
            <a:off x="4663440"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Tune evaluation periods and missing-data behavior; combine symptoms to reduce noise and attach runbook context.</a:t>
            </a:r>
          </a:p>
        </p:txBody>
      </p:sp>
      <p:sp>
        <p:nvSpPr>
          <p:cNvPr id="19" name="Rectangle 18"/>
          <p:cNvSpPr/>
          <p:nvPr/>
        </p:nvSpPr>
        <p:spPr>
          <a:xfrm>
            <a:off x="7973568"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973568" y="1783080"/>
            <a:ext cx="91440" cy="21488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174736" y="1965960"/>
            <a:ext cx="438912" cy="43891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74736"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23" name="TextBox 22"/>
          <p:cNvSpPr txBox="1"/>
          <p:nvPr/>
        </p:nvSpPr>
        <p:spPr>
          <a:xfrm>
            <a:off x="8750808" y="1929384"/>
            <a:ext cx="2286000" cy="475488"/>
          </a:xfrm>
          <a:prstGeom prst="rect">
            <a:avLst/>
          </a:prstGeom>
          <a:noFill/>
        </p:spPr>
        <p:txBody>
          <a:bodyPr wrap="square" anchor="ctr">
            <a:spAutoFit/>
          </a:bodyPr>
          <a:lstStyle/>
          <a:p>
            <a:pPr algn="l">
              <a:spcAft>
                <a:spcPts val="400"/>
              </a:spcAft>
            </a:pPr>
            <a:r>
              <a:rPr sz="1250" b="1">
                <a:solidFill>
                  <a:srgbClr val="7C3AED"/>
                </a:solidFill>
                <a:latin typeface="Arial"/>
              </a:rPr>
              <a:t>PRIMARY SERVICES</a:t>
            </a:r>
          </a:p>
        </p:txBody>
      </p:sp>
      <p:sp>
        <p:nvSpPr>
          <p:cNvPr id="24" name="TextBox 23"/>
          <p:cNvSpPr txBox="1"/>
          <p:nvPr/>
        </p:nvSpPr>
        <p:spPr>
          <a:xfrm>
            <a:off x="8202168"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CloudWatch Alarms · Composite Alarms · SNS</a:t>
            </a:r>
          </a:p>
        </p:txBody>
      </p:sp>
      <p:sp>
        <p:nvSpPr>
          <p:cNvPr id="25" name="Rectangle 24"/>
          <p:cNvSpPr/>
          <p:nvPr/>
        </p:nvSpPr>
        <p:spPr>
          <a:xfrm>
            <a:off x="4434840"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34840" y="4005072"/>
            <a:ext cx="91440" cy="21488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636008" y="4187952"/>
            <a:ext cx="438912" cy="43891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36008"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9" name="TextBox 28"/>
          <p:cNvSpPr txBox="1"/>
          <p:nvPr/>
        </p:nvSpPr>
        <p:spPr>
          <a:xfrm>
            <a:off x="5212080" y="4151376"/>
            <a:ext cx="2286000" cy="475488"/>
          </a:xfrm>
          <a:prstGeom prst="rect">
            <a:avLst/>
          </a:prstGeom>
          <a:noFill/>
        </p:spPr>
        <p:txBody>
          <a:bodyPr wrap="square" anchor="ctr">
            <a:spAutoFit/>
          </a:bodyPr>
          <a:lstStyle/>
          <a:p>
            <a:pPr algn="l">
              <a:spcAft>
                <a:spcPts val="400"/>
              </a:spcAft>
            </a:pPr>
            <a:r>
              <a:rPr sz="1250" b="1">
                <a:solidFill>
                  <a:srgbClr val="F59E0B"/>
                </a:solidFill>
                <a:latin typeface="Arial"/>
              </a:rPr>
              <a:t>FAILURE MODE</a:t>
            </a:r>
          </a:p>
        </p:txBody>
      </p:sp>
      <p:sp>
        <p:nvSpPr>
          <p:cNvPr id="30" name="TextBox 29"/>
          <p:cNvSpPr txBox="1"/>
          <p:nvPr/>
        </p:nvSpPr>
        <p:spPr>
          <a:xfrm>
            <a:off x="4663440"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One noisy metric can cause alert fatigue or repeated automated recovery.</a:t>
            </a:r>
          </a:p>
        </p:txBody>
      </p:sp>
      <p:sp>
        <p:nvSpPr>
          <p:cNvPr id="31" name="Rectangle 30"/>
          <p:cNvSpPr/>
          <p:nvPr/>
        </p:nvSpPr>
        <p:spPr>
          <a:xfrm>
            <a:off x="7973568"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73568" y="4005072"/>
            <a:ext cx="91440" cy="21488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174736" y="4187952"/>
            <a:ext cx="438912" cy="438912"/>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74736"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5" name="TextBox 34"/>
          <p:cNvSpPr txBox="1"/>
          <p:nvPr/>
        </p:nvSpPr>
        <p:spPr>
          <a:xfrm>
            <a:off x="8750808" y="4151376"/>
            <a:ext cx="2286000" cy="475488"/>
          </a:xfrm>
          <a:prstGeom prst="rect">
            <a:avLst/>
          </a:prstGeom>
          <a:noFill/>
        </p:spPr>
        <p:txBody>
          <a:bodyPr wrap="square" anchor="ctr">
            <a:spAutoFit/>
          </a:bodyPr>
          <a:lstStyle/>
          <a:p>
            <a:pPr algn="l">
              <a:spcAft>
                <a:spcPts val="400"/>
              </a:spcAft>
            </a:pPr>
            <a:r>
              <a:rPr sz="1250" b="1">
                <a:solidFill>
                  <a:srgbClr val="EC711E"/>
                </a:solidFill>
                <a:latin typeface="Arial"/>
              </a:rPr>
              <a:t>PROOF</a:t>
            </a:r>
          </a:p>
        </p:txBody>
      </p:sp>
      <p:sp>
        <p:nvSpPr>
          <p:cNvPr id="36" name="TextBox 35"/>
          <p:cNvSpPr txBox="1"/>
          <p:nvPr/>
        </p:nvSpPr>
        <p:spPr>
          <a:xfrm>
            <a:off x="8202168"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Alarm configuration, state transition, contributing alarms, notification payload and operator action.</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421</a:t>
            </a:r>
          </a:p>
        </p:txBody>
      </p:sp>
    </p:spTree>
  </p:cSld>
  <p:clrMapOvr>
    <a:masterClrMapping/>
  </p:clrMapOvr>
  <p:transition xmlns:p14="http://schemas.microsoft.com/office/powerpoint/2010/main" p14:dur="380">
    <p:fade/>
  </p:transition>
</p:sld>
</file>

<file path=ppt/slides/slide4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DOMAIN 4 · OPERATIONS</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300" b="1">
                <a:solidFill>
                  <a:srgbClr val="161B26"/>
                </a:solidFill>
                <a:latin typeface="Arial"/>
              </a:rPr>
              <a:t>Alarms, anomaly detection and composite signals: failure diagnostic</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RECOGNISE</a:t>
            </a:r>
          </a:p>
          <a:p>
            <a:pPr algn="l">
              <a:spcAft>
                <a:spcPts val="300"/>
              </a:spcAft>
            </a:pPr>
            <a:r>
              <a:rPr sz="1050" b="0">
                <a:solidFill>
                  <a:srgbClr val="5B6372"/>
                </a:solidFill>
                <a:latin typeface="Arial"/>
              </a:rPr>
              <a:t>Observable failure condition: One noisy metric can cause alert fatigue or repeated automated recovery.</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CONTAIN</a:t>
            </a:r>
          </a:p>
          <a:p>
            <a:pPr algn="l">
              <a:spcAft>
                <a:spcPts val="300"/>
              </a:spcAft>
            </a:pPr>
            <a:r>
              <a:rPr sz="1050" b="0">
                <a:solidFill>
                  <a:srgbClr val="5B6372"/>
                </a:solidFill>
                <a:latin typeface="Arial"/>
              </a:rPr>
              <a:t>Pause promotion, preserve evidence and reduce impact without destroying diagnostic state.</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DIAGNOSE</a:t>
            </a:r>
          </a:p>
          <a:p>
            <a:pPr algn="l">
              <a:spcAft>
                <a:spcPts val="300"/>
              </a:spcAft>
            </a:pPr>
            <a:r>
              <a:rPr sz="1050" b="0">
                <a:solidFill>
                  <a:srgbClr val="5B6372"/>
                </a:solidFill>
                <a:latin typeface="Arial"/>
              </a:rPr>
              <a:t>Trace the workflow from Evaluate datapoint through Notify or act; compare intended configuration with runtime state.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RECOVER</a:t>
            </a:r>
          </a:p>
          <a:p>
            <a:pPr algn="l">
              <a:spcAft>
                <a:spcPts val="300"/>
              </a:spcAft>
            </a:pPr>
            <a:r>
              <a:rPr sz="1050" b="0">
                <a:solidFill>
                  <a:srgbClr val="5B6372"/>
                </a:solidFill>
                <a:latin typeface="Arial"/>
              </a:rPr>
              <a:t>Restore the last known-good state, then prove recovery with Alarm configuration, state transition, contributing alarms, notification payload and operator action.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422</a:t>
            </a:r>
          </a:p>
        </p:txBody>
      </p:sp>
    </p:spTree>
  </p:cSld>
  <p:clrMapOvr>
    <a:masterClrMapping/>
  </p:clrMapOvr>
  <p:transition xmlns:p14="http://schemas.microsoft.com/office/powerpoint/2010/main" p14:dur="380">
    <p:fade/>
  </p:transition>
</p:sld>
</file>

<file path=ppt/slides/slide4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DOMAIN 4 · APPLIED SCENARIO</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500" b="1">
                <a:solidFill>
                  <a:srgbClr val="161B26"/>
                </a:solidFill>
                <a:latin typeface="Arial"/>
              </a:rPr>
              <a:t>Alarms, anomaly detection and composite signals: worked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CONSTRAINT</a:t>
            </a:r>
          </a:p>
          <a:p>
            <a:pPr algn="l">
              <a:spcAft>
                <a:spcPts val="300"/>
              </a:spcAft>
            </a:pPr>
            <a:r>
              <a:rPr sz="1050" b="0">
                <a:solidFill>
                  <a:srgbClr val="5B6372"/>
                </a:solidFill>
                <a:latin typeface="Arial"/>
              </a:rPr>
              <a:t>Operations wants a page only when latency is high and the error rate indicates customer impact.</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DECISION</a:t>
            </a:r>
          </a:p>
          <a:p>
            <a:pPr algn="l">
              <a:spcAft>
                <a:spcPts val="300"/>
              </a:spcAft>
            </a:pPr>
            <a:r>
              <a:rPr sz="1050" b="0">
                <a:solidFill>
                  <a:srgbClr val="5B6372"/>
                </a:solidFill>
                <a:latin typeface="Arial"/>
              </a:rPr>
              <a:t>Tune evaluation periods and missing-data behavior; combine symptoms to reduce noise and attach runbook context.</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WHY ALTERNATIVES LOSE</a:t>
            </a:r>
          </a:p>
          <a:p>
            <a:pPr algn="l">
              <a:spcAft>
                <a:spcPts val="300"/>
              </a:spcAft>
            </a:pPr>
            <a:r>
              <a:rPr sz="1050" b="0">
                <a:solidFill>
                  <a:srgbClr val="5B6372"/>
                </a:solidFill>
                <a:latin typeface="Arial"/>
              </a:rPr>
              <a:t>Reject options that do not change the stated failure boundary: One noisy metric can cause alert fatigue or repeated automated recovery.</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ACCEPTANCE TEST</a:t>
            </a:r>
          </a:p>
          <a:p>
            <a:pPr algn="l">
              <a:spcAft>
                <a:spcPts val="300"/>
              </a:spcAft>
            </a:pPr>
            <a:r>
              <a:rPr sz="1050" b="0">
                <a:solidFill>
                  <a:srgbClr val="5B6372"/>
                </a:solidFill>
                <a:latin typeface="Arial"/>
              </a:rPr>
              <a:t>The decision is complete only when this proof exists: Alarm configuration, state transition, contributing alarms, notification payload and operator action.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423</a:t>
            </a:r>
          </a:p>
        </p:txBody>
      </p:sp>
    </p:spTree>
  </p:cSld>
  <p:clrMapOvr>
    <a:masterClrMapping/>
  </p:clrMapOvr>
  <p:transition xmlns:p14="http://schemas.microsoft.com/office/powerpoint/2010/main" p14:dur="380">
    <p:fade/>
  </p:transition>
</p:sld>
</file>

<file path=ppt/slides/slide4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DOMAIN 4 · MONITORING AND LOGGING</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Distributed tracing and service maps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OUTCOME</a:t>
            </a:r>
          </a:p>
          <a:p>
            <a:pPr algn="l">
              <a:spcAft>
                <a:spcPts val="300"/>
              </a:spcAft>
            </a:pPr>
            <a:r>
              <a:rPr sz="1050" b="0">
                <a:solidFill>
                  <a:srgbClr val="5B6372"/>
                </a:solidFill>
                <a:latin typeface="Arial"/>
              </a:rPr>
              <a:t>Trace a request across services to locate latency, faults and dependency behavior.</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ARCHITECTURE</a:t>
            </a:r>
          </a:p>
          <a:p>
            <a:pPr algn="l">
              <a:spcAft>
                <a:spcPts val="300"/>
              </a:spcAft>
            </a:pPr>
            <a:r>
              <a:rPr sz="1050" b="0">
                <a:solidFill>
                  <a:srgbClr val="5B6372"/>
                </a:solidFill>
                <a:latin typeface="Arial"/>
              </a:rPr>
              <a:t>Propagate trace context, sample intentionally, protect sensitive attributes and correlate traces with logs and metrics.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MODE</a:t>
            </a:r>
          </a:p>
          <a:p>
            <a:pPr algn="l">
              <a:spcAft>
                <a:spcPts val="300"/>
              </a:spcAft>
            </a:pPr>
            <a:r>
              <a:rPr sz="1050" b="0">
                <a:solidFill>
                  <a:srgbClr val="5B6372"/>
                </a:solidFill>
                <a:latin typeface="Arial"/>
              </a:rPr>
              <a:t>Missing context propagation creates disconnected traces and incorrect service maps.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EVIDENCE</a:t>
            </a:r>
          </a:p>
          <a:p>
            <a:pPr algn="l">
              <a:spcAft>
                <a:spcPts val="300"/>
              </a:spcAft>
            </a:pPr>
            <a:r>
              <a:rPr sz="1050" b="0">
                <a:solidFill>
                  <a:srgbClr val="5B6372"/>
                </a:solidFill>
                <a:latin typeface="Arial"/>
              </a:rPr>
              <a:t>Trace ID, segment/subsegment, annotation, sampling rule, fault edge and correlated log event.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424</a:t>
            </a:r>
          </a:p>
        </p:txBody>
      </p:sp>
    </p:spTree>
  </p:cSld>
  <p:clrMapOvr>
    <a:masterClrMapping/>
  </p:clrMapOvr>
  <p:transition xmlns:p14="http://schemas.microsoft.com/office/powerpoint/2010/main" p14:dur="380">
    <p:fade/>
  </p:transition>
</p:sld>
</file>

<file path=ppt/slides/slide4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DOMAIN 4 · PROCESS MODEL</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Distributed tracing and service maps: operating flow</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49809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97102"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9710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Receive trace context</a:t>
            </a:r>
          </a:p>
        </p:txBody>
      </p:sp>
      <p:sp>
        <p:nvSpPr>
          <p:cNvPr id="12" name="Rectangle 11"/>
          <p:cNvSpPr/>
          <p:nvPr/>
        </p:nvSpPr>
        <p:spPr>
          <a:xfrm>
            <a:off x="2604516"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04516" y="2148840"/>
            <a:ext cx="149809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024378"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24378"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6" name="TextBox 15"/>
          <p:cNvSpPr txBox="1"/>
          <p:nvPr/>
        </p:nvSpPr>
        <p:spPr>
          <a:xfrm>
            <a:off x="2723388"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Create span</a:t>
            </a:r>
          </a:p>
        </p:txBody>
      </p:sp>
      <p:sp>
        <p:nvSpPr>
          <p:cNvPr id="17" name="Rectangle 16"/>
          <p:cNvSpPr/>
          <p:nvPr/>
        </p:nvSpPr>
        <p:spPr>
          <a:xfrm>
            <a:off x="4431792"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431792" y="2148840"/>
            <a:ext cx="149809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851654"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51654"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1" name="TextBox 20"/>
          <p:cNvSpPr txBox="1"/>
          <p:nvPr/>
        </p:nvSpPr>
        <p:spPr>
          <a:xfrm>
            <a:off x="4550664"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Call dependency</a:t>
            </a:r>
          </a:p>
        </p:txBody>
      </p:sp>
      <p:sp>
        <p:nvSpPr>
          <p:cNvPr id="22" name="Rectangle 21"/>
          <p:cNvSpPr/>
          <p:nvPr/>
        </p:nvSpPr>
        <p:spPr>
          <a:xfrm>
            <a:off x="6259068"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59068" y="2148840"/>
            <a:ext cx="149809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678930"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78930"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6" name="TextBox 25"/>
          <p:cNvSpPr txBox="1"/>
          <p:nvPr/>
        </p:nvSpPr>
        <p:spPr>
          <a:xfrm>
            <a:off x="6377940"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Propagate</a:t>
            </a:r>
          </a:p>
        </p:txBody>
      </p:sp>
      <p:sp>
        <p:nvSpPr>
          <p:cNvPr id="27" name="Rectangle 26"/>
          <p:cNvSpPr/>
          <p:nvPr/>
        </p:nvSpPr>
        <p:spPr>
          <a:xfrm>
            <a:off x="8086344"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086344" y="2148840"/>
            <a:ext cx="1498092" cy="914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506206" y="2532888"/>
            <a:ext cx="658368" cy="658368"/>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06206"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5</a:t>
            </a:r>
          </a:p>
        </p:txBody>
      </p:sp>
      <p:sp>
        <p:nvSpPr>
          <p:cNvPr id="31" name="TextBox 30"/>
          <p:cNvSpPr txBox="1"/>
          <p:nvPr/>
        </p:nvSpPr>
        <p:spPr>
          <a:xfrm>
            <a:off x="8205216"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Export</a:t>
            </a:r>
          </a:p>
        </p:txBody>
      </p:sp>
      <p:sp>
        <p:nvSpPr>
          <p:cNvPr id="32" name="Rectangle 31"/>
          <p:cNvSpPr/>
          <p:nvPr/>
        </p:nvSpPr>
        <p:spPr>
          <a:xfrm>
            <a:off x="9913620"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913620" y="2148840"/>
            <a:ext cx="1498092" cy="91440"/>
          </a:xfrm>
          <a:prstGeom prst="rect">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333482" y="2532888"/>
            <a:ext cx="658368" cy="658368"/>
          </a:xfrm>
          <a:prstGeom prst="ellipse">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3348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6</a:t>
            </a:r>
          </a:p>
        </p:txBody>
      </p:sp>
      <p:sp>
        <p:nvSpPr>
          <p:cNvPr id="36" name="TextBox 35"/>
          <p:cNvSpPr txBox="1"/>
          <p:nvPr/>
        </p:nvSpPr>
        <p:spPr>
          <a:xfrm>
            <a:off x="10032492"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Analyze path</a:t>
            </a:r>
          </a:p>
        </p:txBody>
      </p:sp>
      <p:cxnSp>
        <p:nvCxnSpPr>
          <p:cNvPr id="37" name="Connector 36"/>
          <p:cNvCxnSpPr/>
          <p:nvPr/>
        </p:nvCxnSpPr>
        <p:spPr>
          <a:xfrm>
            <a:off x="2275332"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10260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929884"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775716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9584436"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F59E0B"/>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44" name="TextBox 4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45" name="TextBox 4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6" name="TextBox 4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425</a:t>
            </a:r>
          </a:p>
        </p:txBody>
      </p:sp>
    </p:spTree>
  </p:cSld>
  <p:clrMapOvr>
    <a:masterClrMapping/>
  </p:clrMapOvr>
  <p:transition xmlns:p14="http://schemas.microsoft.com/office/powerpoint/2010/main" p14:dur="380">
    <p:fade/>
  </p:transition>
</p:sld>
</file>

<file path=ppt/slides/slide4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DOMAIN 4 ·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Distributed tracing and service maps: design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83280" cy="43708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708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01168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011680"/>
            <a:ext cx="530352" cy="530352"/>
          </a:xfrm>
          <a:prstGeom prst="rect">
            <a:avLst/>
          </a:prstGeom>
          <a:noFill/>
        </p:spPr>
        <p:txBody>
          <a:bodyPr wrap="square" anchor="ctr">
            <a:spAutoFit/>
          </a:bodyPr>
          <a:lstStyle/>
          <a:p>
            <a:pPr algn="ctr">
              <a:spcAft>
                <a:spcPts val="400"/>
              </a:spcAft>
            </a:pPr>
            <a:r>
              <a:rPr sz="2000" b="1">
                <a:solidFill>
                  <a:srgbClr val="FFFFFF"/>
                </a:solidFill>
                <a:latin typeface="Arial"/>
              </a:rPr>
              <a:t>?</a:t>
            </a:r>
          </a:p>
        </p:txBody>
      </p:sp>
      <p:sp>
        <p:nvSpPr>
          <p:cNvPr id="11" name="TextBox 10"/>
          <p:cNvSpPr txBox="1"/>
          <p:nvPr/>
        </p:nvSpPr>
        <p:spPr>
          <a:xfrm>
            <a:off x="1709928" y="1984248"/>
            <a:ext cx="2212848" cy="502920"/>
          </a:xfrm>
          <a:prstGeom prst="rect">
            <a:avLst/>
          </a:prstGeom>
          <a:noFill/>
        </p:spPr>
        <p:txBody>
          <a:bodyPr wrap="square" anchor="ctr">
            <a:spAutoFit/>
          </a:bodyPr>
          <a:lstStyle/>
          <a:p>
            <a:pPr algn="l">
              <a:spcAft>
                <a:spcPts val="400"/>
              </a:spcAft>
            </a:pPr>
            <a:r>
              <a:rPr sz="1350" b="1">
                <a:solidFill>
                  <a:srgbClr val="F59E0B"/>
                </a:solidFill>
                <a:latin typeface="Arial"/>
              </a:rPr>
              <a:t>SCENARIO</a:t>
            </a:r>
          </a:p>
        </p:txBody>
      </p:sp>
      <p:sp>
        <p:nvSpPr>
          <p:cNvPr id="12" name="TextBox 11"/>
          <p:cNvSpPr txBox="1"/>
          <p:nvPr/>
        </p:nvSpPr>
        <p:spPr>
          <a:xfrm>
            <a:off x="1051560" y="2743200"/>
            <a:ext cx="2834640" cy="3136392"/>
          </a:xfrm>
          <a:prstGeom prst="rect">
            <a:avLst/>
          </a:prstGeom>
          <a:noFill/>
        </p:spPr>
        <p:txBody>
          <a:bodyPr wrap="square" anchor="t">
            <a:spAutoFit/>
          </a:bodyPr>
          <a:lstStyle/>
          <a:p>
            <a:pPr algn="l">
              <a:spcAft>
                <a:spcPts val="400"/>
              </a:spcAft>
            </a:pPr>
            <a:r>
              <a:rPr sz="1300" b="0">
                <a:solidFill>
                  <a:srgbClr val="161B26"/>
                </a:solidFill>
                <a:latin typeface="Arial"/>
              </a:rPr>
              <a:t>A request is slow only when it crosses an asynchronous worker and a third-party dependency.</a:t>
            </a:r>
          </a:p>
        </p:txBody>
      </p:sp>
      <p:sp>
        <p:nvSpPr>
          <p:cNvPr id="13" name="Rectangle 12"/>
          <p:cNvSpPr/>
          <p:nvPr/>
        </p:nvSpPr>
        <p:spPr>
          <a:xfrm>
            <a:off x="4434840"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34840" y="1783080"/>
            <a:ext cx="91440"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636008" y="1965960"/>
            <a:ext cx="438912" cy="43891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6008"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7" name="TextBox 16"/>
          <p:cNvSpPr txBox="1"/>
          <p:nvPr/>
        </p:nvSpPr>
        <p:spPr>
          <a:xfrm>
            <a:off x="5212080" y="1929384"/>
            <a:ext cx="2286000" cy="475488"/>
          </a:xfrm>
          <a:prstGeom prst="rect">
            <a:avLst/>
          </a:prstGeom>
          <a:noFill/>
        </p:spPr>
        <p:txBody>
          <a:bodyPr wrap="square" anchor="ctr">
            <a:spAutoFit/>
          </a:bodyPr>
          <a:lstStyle/>
          <a:p>
            <a:pPr algn="l">
              <a:spcAft>
                <a:spcPts val="400"/>
              </a:spcAft>
            </a:pPr>
            <a:r>
              <a:rPr sz="1250" b="1">
                <a:solidFill>
                  <a:srgbClr val="10B981"/>
                </a:solidFill>
                <a:latin typeface="Arial"/>
              </a:rPr>
              <a:t>DESIGN RESPONSE</a:t>
            </a:r>
          </a:p>
        </p:txBody>
      </p:sp>
      <p:sp>
        <p:nvSpPr>
          <p:cNvPr id="18" name="TextBox 17"/>
          <p:cNvSpPr txBox="1"/>
          <p:nvPr/>
        </p:nvSpPr>
        <p:spPr>
          <a:xfrm>
            <a:off x="4663440"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Propagate trace context, sample intentionally, protect sensitive attributes and correlate traces with logs and metrics.</a:t>
            </a:r>
          </a:p>
        </p:txBody>
      </p:sp>
      <p:sp>
        <p:nvSpPr>
          <p:cNvPr id="19" name="Rectangle 18"/>
          <p:cNvSpPr/>
          <p:nvPr/>
        </p:nvSpPr>
        <p:spPr>
          <a:xfrm>
            <a:off x="7973568"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973568" y="1783080"/>
            <a:ext cx="91440" cy="21488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174736" y="1965960"/>
            <a:ext cx="438912" cy="43891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74736"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23" name="TextBox 22"/>
          <p:cNvSpPr txBox="1"/>
          <p:nvPr/>
        </p:nvSpPr>
        <p:spPr>
          <a:xfrm>
            <a:off x="8750808" y="1929384"/>
            <a:ext cx="2286000" cy="475488"/>
          </a:xfrm>
          <a:prstGeom prst="rect">
            <a:avLst/>
          </a:prstGeom>
          <a:noFill/>
        </p:spPr>
        <p:txBody>
          <a:bodyPr wrap="square" anchor="ctr">
            <a:spAutoFit/>
          </a:bodyPr>
          <a:lstStyle/>
          <a:p>
            <a:pPr algn="l">
              <a:spcAft>
                <a:spcPts val="400"/>
              </a:spcAft>
            </a:pPr>
            <a:r>
              <a:rPr sz="1250" b="1">
                <a:solidFill>
                  <a:srgbClr val="7C3AED"/>
                </a:solidFill>
                <a:latin typeface="Arial"/>
              </a:rPr>
              <a:t>PRIMARY SERVICES</a:t>
            </a:r>
          </a:p>
        </p:txBody>
      </p:sp>
      <p:sp>
        <p:nvSpPr>
          <p:cNvPr id="24" name="TextBox 23"/>
          <p:cNvSpPr txBox="1"/>
          <p:nvPr/>
        </p:nvSpPr>
        <p:spPr>
          <a:xfrm>
            <a:off x="8202168"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AWS X-Ray · ADOT · CloudWatch ServiceLens</a:t>
            </a:r>
          </a:p>
        </p:txBody>
      </p:sp>
      <p:sp>
        <p:nvSpPr>
          <p:cNvPr id="25" name="Rectangle 24"/>
          <p:cNvSpPr/>
          <p:nvPr/>
        </p:nvSpPr>
        <p:spPr>
          <a:xfrm>
            <a:off x="4434840"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34840" y="4005072"/>
            <a:ext cx="91440" cy="21488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636008" y="4187952"/>
            <a:ext cx="438912" cy="43891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36008"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9" name="TextBox 28"/>
          <p:cNvSpPr txBox="1"/>
          <p:nvPr/>
        </p:nvSpPr>
        <p:spPr>
          <a:xfrm>
            <a:off x="5212080" y="4151376"/>
            <a:ext cx="2286000" cy="475488"/>
          </a:xfrm>
          <a:prstGeom prst="rect">
            <a:avLst/>
          </a:prstGeom>
          <a:noFill/>
        </p:spPr>
        <p:txBody>
          <a:bodyPr wrap="square" anchor="ctr">
            <a:spAutoFit/>
          </a:bodyPr>
          <a:lstStyle/>
          <a:p>
            <a:pPr algn="l">
              <a:spcAft>
                <a:spcPts val="400"/>
              </a:spcAft>
            </a:pPr>
            <a:r>
              <a:rPr sz="1250" b="1">
                <a:solidFill>
                  <a:srgbClr val="F59E0B"/>
                </a:solidFill>
                <a:latin typeface="Arial"/>
              </a:rPr>
              <a:t>FAILURE MODE</a:t>
            </a:r>
          </a:p>
        </p:txBody>
      </p:sp>
      <p:sp>
        <p:nvSpPr>
          <p:cNvPr id="30" name="TextBox 29"/>
          <p:cNvSpPr txBox="1"/>
          <p:nvPr/>
        </p:nvSpPr>
        <p:spPr>
          <a:xfrm>
            <a:off x="4663440"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Missing context propagation creates disconnected traces and incorrect service maps.</a:t>
            </a:r>
          </a:p>
        </p:txBody>
      </p:sp>
      <p:sp>
        <p:nvSpPr>
          <p:cNvPr id="31" name="Rectangle 30"/>
          <p:cNvSpPr/>
          <p:nvPr/>
        </p:nvSpPr>
        <p:spPr>
          <a:xfrm>
            <a:off x="7973568"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73568" y="4005072"/>
            <a:ext cx="91440" cy="21488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174736" y="4187952"/>
            <a:ext cx="438912" cy="438912"/>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74736"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5" name="TextBox 34"/>
          <p:cNvSpPr txBox="1"/>
          <p:nvPr/>
        </p:nvSpPr>
        <p:spPr>
          <a:xfrm>
            <a:off x="8750808" y="4151376"/>
            <a:ext cx="2286000" cy="475488"/>
          </a:xfrm>
          <a:prstGeom prst="rect">
            <a:avLst/>
          </a:prstGeom>
          <a:noFill/>
        </p:spPr>
        <p:txBody>
          <a:bodyPr wrap="square" anchor="ctr">
            <a:spAutoFit/>
          </a:bodyPr>
          <a:lstStyle/>
          <a:p>
            <a:pPr algn="l">
              <a:spcAft>
                <a:spcPts val="400"/>
              </a:spcAft>
            </a:pPr>
            <a:r>
              <a:rPr sz="1250" b="1">
                <a:solidFill>
                  <a:srgbClr val="EC711E"/>
                </a:solidFill>
                <a:latin typeface="Arial"/>
              </a:rPr>
              <a:t>PROOF</a:t>
            </a:r>
          </a:p>
        </p:txBody>
      </p:sp>
      <p:sp>
        <p:nvSpPr>
          <p:cNvPr id="36" name="TextBox 35"/>
          <p:cNvSpPr txBox="1"/>
          <p:nvPr/>
        </p:nvSpPr>
        <p:spPr>
          <a:xfrm>
            <a:off x="8202168"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Trace ID, segment/subsegment, annotation, sampling rule, fault edge and correlated log event.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426</a:t>
            </a:r>
          </a:p>
        </p:txBody>
      </p:sp>
    </p:spTree>
  </p:cSld>
  <p:clrMapOvr>
    <a:masterClrMapping/>
  </p:clrMapOvr>
  <p:transition xmlns:p14="http://schemas.microsoft.com/office/powerpoint/2010/main" p14:dur="380">
    <p:fade/>
  </p:transition>
</p:sld>
</file>

<file path=ppt/slides/slide4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DOMAIN 4 · OPERATIONS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Distributed tracing and service maps: failure diagnostic</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RECOGNISE</a:t>
            </a:r>
          </a:p>
          <a:p>
            <a:pPr algn="l">
              <a:spcAft>
                <a:spcPts val="300"/>
              </a:spcAft>
            </a:pPr>
            <a:r>
              <a:rPr sz="1050" b="0">
                <a:solidFill>
                  <a:srgbClr val="5B6372"/>
                </a:solidFill>
                <a:latin typeface="Arial"/>
              </a:rPr>
              <a:t>Observable failure condition: Missing context propagation creates disconnected traces and incorrect service maps.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CONTAIN</a:t>
            </a:r>
          </a:p>
          <a:p>
            <a:pPr algn="l">
              <a:spcAft>
                <a:spcPts val="300"/>
              </a:spcAft>
            </a:pPr>
            <a:r>
              <a:rPr sz="1050" b="0">
                <a:solidFill>
                  <a:srgbClr val="5B6372"/>
                </a:solidFill>
                <a:latin typeface="Arial"/>
              </a:rPr>
              <a:t>Pause promotion, preserve evidence and reduce impact without destroying diagnostic state.</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DIAGNOSE</a:t>
            </a:r>
          </a:p>
          <a:p>
            <a:pPr algn="l">
              <a:spcAft>
                <a:spcPts val="300"/>
              </a:spcAft>
            </a:pPr>
            <a:r>
              <a:rPr sz="1050" b="0">
                <a:solidFill>
                  <a:srgbClr val="5B6372"/>
                </a:solidFill>
                <a:latin typeface="Arial"/>
              </a:rPr>
              <a:t>Trace the workflow from Receive trace context through Analyze path; compare intended configuration with runtime state.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RECOVER</a:t>
            </a:r>
          </a:p>
          <a:p>
            <a:pPr algn="l">
              <a:spcAft>
                <a:spcPts val="300"/>
              </a:spcAft>
            </a:pPr>
            <a:r>
              <a:rPr sz="1050" b="0">
                <a:solidFill>
                  <a:srgbClr val="5B6372"/>
                </a:solidFill>
                <a:latin typeface="Arial"/>
              </a:rPr>
              <a:t>Restore the last known-good state, then prove recovery with Trace ID, segment/subsegment, annotation, sampling rule, fault edge and correlated log event.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427</a:t>
            </a:r>
          </a:p>
        </p:txBody>
      </p:sp>
    </p:spTree>
  </p:cSld>
  <p:clrMapOvr>
    <a:masterClrMapping/>
  </p:clrMapOvr>
  <p:transition xmlns:p14="http://schemas.microsoft.com/office/powerpoint/2010/main" p14:dur="380">
    <p:fade/>
  </p:transition>
</p:sld>
</file>

<file path=ppt/slides/slide4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DOMAIN 4 · APPLIED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Distributed tracing and service maps: worked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CONSTRAINT</a:t>
            </a:r>
          </a:p>
          <a:p>
            <a:pPr algn="l">
              <a:spcAft>
                <a:spcPts val="300"/>
              </a:spcAft>
            </a:pPr>
            <a:r>
              <a:rPr sz="1050" b="0">
                <a:solidFill>
                  <a:srgbClr val="5B6372"/>
                </a:solidFill>
                <a:latin typeface="Arial"/>
              </a:rPr>
              <a:t>A request is slow only when it crosses an asynchronous worker and a third-party dependency.</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DECISION</a:t>
            </a:r>
          </a:p>
          <a:p>
            <a:pPr algn="l">
              <a:spcAft>
                <a:spcPts val="300"/>
              </a:spcAft>
            </a:pPr>
            <a:r>
              <a:rPr sz="1050" b="0">
                <a:solidFill>
                  <a:srgbClr val="5B6372"/>
                </a:solidFill>
                <a:latin typeface="Arial"/>
              </a:rPr>
              <a:t>Propagate trace context, sample intentionally, protect sensitive attributes and correlate traces with logs and metrics.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WHY ALTERNATIVES LOSE</a:t>
            </a:r>
          </a:p>
          <a:p>
            <a:pPr algn="l">
              <a:spcAft>
                <a:spcPts val="300"/>
              </a:spcAft>
            </a:pPr>
            <a:r>
              <a:rPr sz="1050" b="0">
                <a:solidFill>
                  <a:srgbClr val="5B6372"/>
                </a:solidFill>
                <a:latin typeface="Arial"/>
              </a:rPr>
              <a:t>Reject options that do not change the stated failure boundary: Missing context propagation creates disconnected traces and incorrect service maps.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ACCEPTANCE TEST</a:t>
            </a:r>
          </a:p>
          <a:p>
            <a:pPr algn="l">
              <a:spcAft>
                <a:spcPts val="300"/>
              </a:spcAft>
            </a:pPr>
            <a:r>
              <a:rPr sz="1050" b="0">
                <a:solidFill>
                  <a:srgbClr val="5B6372"/>
                </a:solidFill>
                <a:latin typeface="Arial"/>
              </a:rPr>
              <a:t>The decision is complete only when this proof exists: Trace ID, segment/subsegment, annotation, sampling rule, fault edge and correlated log event.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428</a:t>
            </a:r>
          </a:p>
        </p:txBody>
      </p:sp>
    </p:spTree>
  </p:cSld>
  <p:clrMapOvr>
    <a:masterClrMapping/>
  </p:clrMapOvr>
  <p:transition xmlns:p14="http://schemas.microsoft.com/office/powerpoint/2010/main" p14:dur="380">
    <p:fade/>
  </p:transition>
</p:sld>
</file>

<file path=ppt/slides/slide4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DOMAIN 4 · MONITORING AND LOGGING</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Operational analysis and review</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OUTCOME</a:t>
            </a:r>
          </a:p>
          <a:p>
            <a:pPr algn="l">
              <a:spcAft>
                <a:spcPts val="300"/>
              </a:spcAft>
            </a:pPr>
            <a:r>
              <a:rPr sz="1050" b="0">
                <a:solidFill>
                  <a:srgbClr val="5B6372"/>
                </a:solidFill>
                <a:latin typeface="Arial"/>
              </a:rPr>
              <a:t>Turn telemetry into repeatable system reviews and prioritized modifications.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ARCHITECTURE</a:t>
            </a:r>
          </a:p>
          <a:p>
            <a:pPr algn="l">
              <a:spcAft>
                <a:spcPts val="300"/>
              </a:spcAft>
            </a:pPr>
            <a:r>
              <a:rPr sz="1050" b="0">
                <a:solidFill>
                  <a:srgbClr val="5B6372"/>
                </a:solidFill>
                <a:latin typeface="Arial"/>
              </a:rPr>
              <a:t>Build hypothesis-driven queries, compare deploy markers, keep dashboards audience-specific and record decisions.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MODE</a:t>
            </a:r>
          </a:p>
          <a:p>
            <a:pPr algn="l">
              <a:spcAft>
                <a:spcPts val="300"/>
              </a:spcAft>
            </a:pPr>
            <a:r>
              <a:rPr sz="1050" b="0">
                <a:solidFill>
                  <a:srgbClr val="5B6372"/>
                </a:solidFill>
                <a:latin typeface="Arial"/>
              </a:rPr>
              <a:t>A dashboard with many graphs but no decision threshold becomes decorative monitoring.</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EVIDENCE</a:t>
            </a:r>
          </a:p>
          <a:p>
            <a:pPr algn="l">
              <a:spcAft>
                <a:spcPts val="300"/>
              </a:spcAft>
            </a:pPr>
            <a:r>
              <a:rPr sz="1050" b="0">
                <a:solidFill>
                  <a:srgbClr val="5B6372"/>
                </a:solidFill>
                <a:latin typeface="Arial"/>
              </a:rPr>
              <a:t>Saved query, dashboard version, deployment annotation, review finding, owner and verified improvement.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429</a:t>
            </a:r>
          </a:p>
        </p:txBody>
      </p:sp>
    </p:spTree>
  </p:cSld>
  <p:clrMapOvr>
    <a:masterClrMapping/>
  </p:clrMapOvr>
  <p:transition xmlns:p14="http://schemas.microsoft.com/office/powerpoint/2010/main" p14:dur="380">
    <p:fade/>
  </p:transition>
</p:sld>
</file>

<file path=ppt/slides/slide4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DOMAIN 4 · PROCESS MODEL</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Operational analysis and review: operating flow</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49809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97102"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9710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Observe change</a:t>
            </a:r>
          </a:p>
        </p:txBody>
      </p:sp>
      <p:sp>
        <p:nvSpPr>
          <p:cNvPr id="12" name="Rectangle 11"/>
          <p:cNvSpPr/>
          <p:nvPr/>
        </p:nvSpPr>
        <p:spPr>
          <a:xfrm>
            <a:off x="2604516"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04516" y="2148840"/>
            <a:ext cx="149809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024378"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24378"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6" name="TextBox 15"/>
          <p:cNvSpPr txBox="1"/>
          <p:nvPr/>
        </p:nvSpPr>
        <p:spPr>
          <a:xfrm>
            <a:off x="2723388"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Form hypothesis</a:t>
            </a:r>
          </a:p>
        </p:txBody>
      </p:sp>
      <p:sp>
        <p:nvSpPr>
          <p:cNvPr id="17" name="Rectangle 16"/>
          <p:cNvSpPr/>
          <p:nvPr/>
        </p:nvSpPr>
        <p:spPr>
          <a:xfrm>
            <a:off x="4431792"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431792" y="2148840"/>
            <a:ext cx="149809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851654"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51654"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1" name="TextBox 20"/>
          <p:cNvSpPr txBox="1"/>
          <p:nvPr/>
        </p:nvSpPr>
        <p:spPr>
          <a:xfrm>
            <a:off x="4550664"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Query evidence</a:t>
            </a:r>
          </a:p>
        </p:txBody>
      </p:sp>
      <p:sp>
        <p:nvSpPr>
          <p:cNvPr id="22" name="Rectangle 21"/>
          <p:cNvSpPr/>
          <p:nvPr/>
        </p:nvSpPr>
        <p:spPr>
          <a:xfrm>
            <a:off x="6259068"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59068" y="2148840"/>
            <a:ext cx="149809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678930"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78930"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6" name="TextBox 25"/>
          <p:cNvSpPr txBox="1"/>
          <p:nvPr/>
        </p:nvSpPr>
        <p:spPr>
          <a:xfrm>
            <a:off x="6377940"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Decide</a:t>
            </a:r>
          </a:p>
        </p:txBody>
      </p:sp>
      <p:sp>
        <p:nvSpPr>
          <p:cNvPr id="27" name="Rectangle 26"/>
          <p:cNvSpPr/>
          <p:nvPr/>
        </p:nvSpPr>
        <p:spPr>
          <a:xfrm>
            <a:off x="8086344"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086344" y="2148840"/>
            <a:ext cx="1498092" cy="914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506206" y="2532888"/>
            <a:ext cx="658368" cy="658368"/>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06206"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5</a:t>
            </a:r>
          </a:p>
        </p:txBody>
      </p:sp>
      <p:sp>
        <p:nvSpPr>
          <p:cNvPr id="31" name="TextBox 30"/>
          <p:cNvSpPr txBox="1"/>
          <p:nvPr/>
        </p:nvSpPr>
        <p:spPr>
          <a:xfrm>
            <a:off x="8205216"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Modify</a:t>
            </a:r>
          </a:p>
        </p:txBody>
      </p:sp>
      <p:sp>
        <p:nvSpPr>
          <p:cNvPr id="32" name="Rectangle 31"/>
          <p:cNvSpPr/>
          <p:nvPr/>
        </p:nvSpPr>
        <p:spPr>
          <a:xfrm>
            <a:off x="9913620"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913620" y="2148840"/>
            <a:ext cx="1498092" cy="91440"/>
          </a:xfrm>
          <a:prstGeom prst="rect">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333482" y="2532888"/>
            <a:ext cx="658368" cy="658368"/>
          </a:xfrm>
          <a:prstGeom prst="ellipse">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3348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6</a:t>
            </a:r>
          </a:p>
        </p:txBody>
      </p:sp>
      <p:sp>
        <p:nvSpPr>
          <p:cNvPr id="36" name="TextBox 35"/>
          <p:cNvSpPr txBox="1"/>
          <p:nvPr/>
        </p:nvSpPr>
        <p:spPr>
          <a:xfrm>
            <a:off x="10032492"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Measure again</a:t>
            </a:r>
          </a:p>
        </p:txBody>
      </p:sp>
      <p:cxnSp>
        <p:nvCxnSpPr>
          <p:cNvPr id="37" name="Connector 36"/>
          <p:cNvCxnSpPr/>
          <p:nvPr/>
        </p:nvCxnSpPr>
        <p:spPr>
          <a:xfrm>
            <a:off x="2275332"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10260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929884"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775716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9584436"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F59E0B"/>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44" name="TextBox 4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45" name="TextBox 4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6" name="TextBox 4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430</a:t>
            </a:r>
          </a:p>
        </p:txBody>
      </p:sp>
    </p:spTree>
  </p:cSld>
  <p:clrMapOvr>
    <a:masterClrMapping/>
  </p:clrMapOvr>
  <p:transition xmlns:p14="http://schemas.microsoft.com/office/powerpoint/2010/main" p14:dur="380">
    <p:fade/>
  </p:transition>
</p:sld>
</file>

<file path=ppt/slides/slide4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DOMAIN 4 ·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Operational analysis and review: design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83280" cy="43708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708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01168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011680"/>
            <a:ext cx="530352" cy="530352"/>
          </a:xfrm>
          <a:prstGeom prst="rect">
            <a:avLst/>
          </a:prstGeom>
          <a:noFill/>
        </p:spPr>
        <p:txBody>
          <a:bodyPr wrap="square" anchor="ctr">
            <a:spAutoFit/>
          </a:bodyPr>
          <a:lstStyle/>
          <a:p>
            <a:pPr algn="ctr">
              <a:spcAft>
                <a:spcPts val="400"/>
              </a:spcAft>
            </a:pPr>
            <a:r>
              <a:rPr sz="2000" b="1">
                <a:solidFill>
                  <a:srgbClr val="FFFFFF"/>
                </a:solidFill>
                <a:latin typeface="Arial"/>
              </a:rPr>
              <a:t>?</a:t>
            </a:r>
          </a:p>
        </p:txBody>
      </p:sp>
      <p:sp>
        <p:nvSpPr>
          <p:cNvPr id="11" name="TextBox 10"/>
          <p:cNvSpPr txBox="1"/>
          <p:nvPr/>
        </p:nvSpPr>
        <p:spPr>
          <a:xfrm>
            <a:off x="1709928" y="1984248"/>
            <a:ext cx="2212848" cy="502920"/>
          </a:xfrm>
          <a:prstGeom prst="rect">
            <a:avLst/>
          </a:prstGeom>
          <a:noFill/>
        </p:spPr>
        <p:txBody>
          <a:bodyPr wrap="square" anchor="ctr">
            <a:spAutoFit/>
          </a:bodyPr>
          <a:lstStyle/>
          <a:p>
            <a:pPr algn="l">
              <a:spcAft>
                <a:spcPts val="400"/>
              </a:spcAft>
            </a:pPr>
            <a:r>
              <a:rPr sz="1350" b="1">
                <a:solidFill>
                  <a:srgbClr val="F59E0B"/>
                </a:solidFill>
                <a:latin typeface="Arial"/>
              </a:rPr>
              <a:t>SCENARIO</a:t>
            </a:r>
          </a:p>
        </p:txBody>
      </p:sp>
      <p:sp>
        <p:nvSpPr>
          <p:cNvPr id="12" name="TextBox 11"/>
          <p:cNvSpPr txBox="1"/>
          <p:nvPr/>
        </p:nvSpPr>
        <p:spPr>
          <a:xfrm>
            <a:off x="1051560" y="2743200"/>
            <a:ext cx="2834640" cy="3136392"/>
          </a:xfrm>
          <a:prstGeom prst="rect">
            <a:avLst/>
          </a:prstGeom>
          <a:noFill/>
        </p:spPr>
        <p:txBody>
          <a:bodyPr wrap="square" anchor="t">
            <a:spAutoFit/>
          </a:bodyPr>
          <a:lstStyle/>
          <a:p>
            <a:pPr algn="l">
              <a:spcAft>
                <a:spcPts val="400"/>
              </a:spcAft>
            </a:pPr>
            <a:r>
              <a:rPr sz="1300" b="0">
                <a:solidFill>
                  <a:srgbClr val="161B26"/>
                </a:solidFill>
                <a:latin typeface="Arial"/>
              </a:rPr>
              <a:t>A weekly architecture review must explain rising throttles and recommend a measurable corrective action.</a:t>
            </a:r>
          </a:p>
        </p:txBody>
      </p:sp>
      <p:sp>
        <p:nvSpPr>
          <p:cNvPr id="13" name="Rectangle 12"/>
          <p:cNvSpPr/>
          <p:nvPr/>
        </p:nvSpPr>
        <p:spPr>
          <a:xfrm>
            <a:off x="4434840"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34840" y="1783080"/>
            <a:ext cx="91440"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636008" y="1965960"/>
            <a:ext cx="438912" cy="43891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6008"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7" name="TextBox 16"/>
          <p:cNvSpPr txBox="1"/>
          <p:nvPr/>
        </p:nvSpPr>
        <p:spPr>
          <a:xfrm>
            <a:off x="5212080" y="1929384"/>
            <a:ext cx="2286000" cy="475488"/>
          </a:xfrm>
          <a:prstGeom prst="rect">
            <a:avLst/>
          </a:prstGeom>
          <a:noFill/>
        </p:spPr>
        <p:txBody>
          <a:bodyPr wrap="square" anchor="ctr">
            <a:spAutoFit/>
          </a:bodyPr>
          <a:lstStyle/>
          <a:p>
            <a:pPr algn="l">
              <a:spcAft>
                <a:spcPts val="400"/>
              </a:spcAft>
            </a:pPr>
            <a:r>
              <a:rPr sz="1250" b="1">
                <a:solidFill>
                  <a:srgbClr val="10B981"/>
                </a:solidFill>
                <a:latin typeface="Arial"/>
              </a:rPr>
              <a:t>DESIGN RESPONSE</a:t>
            </a:r>
          </a:p>
        </p:txBody>
      </p:sp>
      <p:sp>
        <p:nvSpPr>
          <p:cNvPr id="18" name="TextBox 17"/>
          <p:cNvSpPr txBox="1"/>
          <p:nvPr/>
        </p:nvSpPr>
        <p:spPr>
          <a:xfrm>
            <a:off x="4663440"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Build hypothesis-driven queries, compare deploy markers, keep dashboards audience-specific and record decisions.</a:t>
            </a:r>
          </a:p>
        </p:txBody>
      </p:sp>
      <p:sp>
        <p:nvSpPr>
          <p:cNvPr id="19" name="Rectangle 18"/>
          <p:cNvSpPr/>
          <p:nvPr/>
        </p:nvSpPr>
        <p:spPr>
          <a:xfrm>
            <a:off x="7973568"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973568" y="1783080"/>
            <a:ext cx="91440" cy="21488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174736" y="1965960"/>
            <a:ext cx="438912" cy="43891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74736"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23" name="TextBox 22"/>
          <p:cNvSpPr txBox="1"/>
          <p:nvPr/>
        </p:nvSpPr>
        <p:spPr>
          <a:xfrm>
            <a:off x="8750808" y="1929384"/>
            <a:ext cx="2286000" cy="475488"/>
          </a:xfrm>
          <a:prstGeom prst="rect">
            <a:avLst/>
          </a:prstGeom>
          <a:noFill/>
        </p:spPr>
        <p:txBody>
          <a:bodyPr wrap="square" anchor="ctr">
            <a:spAutoFit/>
          </a:bodyPr>
          <a:lstStyle/>
          <a:p>
            <a:pPr algn="l">
              <a:spcAft>
                <a:spcPts val="400"/>
              </a:spcAft>
            </a:pPr>
            <a:r>
              <a:rPr sz="1250" b="1">
                <a:solidFill>
                  <a:srgbClr val="7C3AED"/>
                </a:solidFill>
                <a:latin typeface="Arial"/>
              </a:rPr>
              <a:t>PRIMARY SERVICES</a:t>
            </a:r>
          </a:p>
        </p:txBody>
      </p:sp>
      <p:sp>
        <p:nvSpPr>
          <p:cNvPr id="24" name="TextBox 23"/>
          <p:cNvSpPr txBox="1"/>
          <p:nvPr/>
        </p:nvSpPr>
        <p:spPr>
          <a:xfrm>
            <a:off x="8202168"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Logs Insights · Dashboards · Contributor Insights · Metrics Streams</a:t>
            </a:r>
          </a:p>
        </p:txBody>
      </p:sp>
      <p:sp>
        <p:nvSpPr>
          <p:cNvPr id="25" name="Rectangle 24"/>
          <p:cNvSpPr/>
          <p:nvPr/>
        </p:nvSpPr>
        <p:spPr>
          <a:xfrm>
            <a:off x="4434840"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34840" y="4005072"/>
            <a:ext cx="91440" cy="21488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636008" y="4187952"/>
            <a:ext cx="438912" cy="43891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36008"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9" name="TextBox 28"/>
          <p:cNvSpPr txBox="1"/>
          <p:nvPr/>
        </p:nvSpPr>
        <p:spPr>
          <a:xfrm>
            <a:off x="5212080" y="4151376"/>
            <a:ext cx="2286000" cy="475488"/>
          </a:xfrm>
          <a:prstGeom prst="rect">
            <a:avLst/>
          </a:prstGeom>
          <a:noFill/>
        </p:spPr>
        <p:txBody>
          <a:bodyPr wrap="square" anchor="ctr">
            <a:spAutoFit/>
          </a:bodyPr>
          <a:lstStyle/>
          <a:p>
            <a:pPr algn="l">
              <a:spcAft>
                <a:spcPts val="400"/>
              </a:spcAft>
            </a:pPr>
            <a:r>
              <a:rPr sz="1250" b="1">
                <a:solidFill>
                  <a:srgbClr val="F59E0B"/>
                </a:solidFill>
                <a:latin typeface="Arial"/>
              </a:rPr>
              <a:t>FAILURE MODE</a:t>
            </a:r>
          </a:p>
        </p:txBody>
      </p:sp>
      <p:sp>
        <p:nvSpPr>
          <p:cNvPr id="30" name="TextBox 29"/>
          <p:cNvSpPr txBox="1"/>
          <p:nvPr/>
        </p:nvSpPr>
        <p:spPr>
          <a:xfrm>
            <a:off x="4663440"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A dashboard with many graphs but no decision threshold becomes decorative monitoring.</a:t>
            </a:r>
          </a:p>
        </p:txBody>
      </p:sp>
      <p:sp>
        <p:nvSpPr>
          <p:cNvPr id="31" name="Rectangle 30"/>
          <p:cNvSpPr/>
          <p:nvPr/>
        </p:nvSpPr>
        <p:spPr>
          <a:xfrm>
            <a:off x="7973568"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73568" y="4005072"/>
            <a:ext cx="91440" cy="21488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174736" y="4187952"/>
            <a:ext cx="438912" cy="438912"/>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74736"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5" name="TextBox 34"/>
          <p:cNvSpPr txBox="1"/>
          <p:nvPr/>
        </p:nvSpPr>
        <p:spPr>
          <a:xfrm>
            <a:off x="8750808" y="4151376"/>
            <a:ext cx="2286000" cy="475488"/>
          </a:xfrm>
          <a:prstGeom prst="rect">
            <a:avLst/>
          </a:prstGeom>
          <a:noFill/>
        </p:spPr>
        <p:txBody>
          <a:bodyPr wrap="square" anchor="ctr">
            <a:spAutoFit/>
          </a:bodyPr>
          <a:lstStyle/>
          <a:p>
            <a:pPr algn="l">
              <a:spcAft>
                <a:spcPts val="400"/>
              </a:spcAft>
            </a:pPr>
            <a:r>
              <a:rPr sz="1250" b="1">
                <a:solidFill>
                  <a:srgbClr val="EC711E"/>
                </a:solidFill>
                <a:latin typeface="Arial"/>
              </a:rPr>
              <a:t>PROOF</a:t>
            </a:r>
          </a:p>
        </p:txBody>
      </p:sp>
      <p:sp>
        <p:nvSpPr>
          <p:cNvPr id="36" name="TextBox 35"/>
          <p:cNvSpPr txBox="1"/>
          <p:nvPr/>
        </p:nvSpPr>
        <p:spPr>
          <a:xfrm>
            <a:off x="8202168"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Saved query, dashboard version, deployment annotation, review finding, owner and verified improvement.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431</a:t>
            </a:r>
          </a:p>
        </p:txBody>
      </p:sp>
    </p:spTree>
  </p:cSld>
  <p:clrMapOvr>
    <a:masterClrMapping/>
  </p:clrMapOvr>
  <p:transition xmlns:p14="http://schemas.microsoft.com/office/powerpoint/2010/main" p14:dur="380">
    <p:fade/>
  </p:transition>
</p:sld>
</file>

<file path=ppt/slides/slide4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DOMAIN 4 · OPERATIONS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Operational analysis and review: failure diagnostic</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RECOGNISE</a:t>
            </a:r>
          </a:p>
          <a:p>
            <a:pPr algn="l">
              <a:spcAft>
                <a:spcPts val="300"/>
              </a:spcAft>
            </a:pPr>
            <a:r>
              <a:rPr sz="1050" b="0">
                <a:solidFill>
                  <a:srgbClr val="5B6372"/>
                </a:solidFill>
                <a:latin typeface="Arial"/>
              </a:rPr>
              <a:t>Observable failure condition: A dashboard with many graphs but no decision threshold becomes decorative monitoring.</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CONTAIN</a:t>
            </a:r>
          </a:p>
          <a:p>
            <a:pPr algn="l">
              <a:spcAft>
                <a:spcPts val="300"/>
              </a:spcAft>
            </a:pPr>
            <a:r>
              <a:rPr sz="1050" b="0">
                <a:solidFill>
                  <a:srgbClr val="5B6372"/>
                </a:solidFill>
                <a:latin typeface="Arial"/>
              </a:rPr>
              <a:t>Pause promotion, preserve evidence and reduce impact without destroying diagnostic state.</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DIAGNOSE</a:t>
            </a:r>
          </a:p>
          <a:p>
            <a:pPr algn="l">
              <a:spcAft>
                <a:spcPts val="300"/>
              </a:spcAft>
            </a:pPr>
            <a:r>
              <a:rPr sz="1050" b="0">
                <a:solidFill>
                  <a:srgbClr val="5B6372"/>
                </a:solidFill>
                <a:latin typeface="Arial"/>
              </a:rPr>
              <a:t>Trace the workflow from Observe change through Measure again; compare intended configuration with runtime state.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RECOVER</a:t>
            </a:r>
          </a:p>
          <a:p>
            <a:pPr algn="l">
              <a:spcAft>
                <a:spcPts val="300"/>
              </a:spcAft>
            </a:pPr>
            <a:r>
              <a:rPr sz="1050" b="0">
                <a:solidFill>
                  <a:srgbClr val="5B6372"/>
                </a:solidFill>
                <a:latin typeface="Arial"/>
              </a:rPr>
              <a:t>Restore the last known-good state, then prove recovery with Saved query, dashboard version, deployment annotation, review finding, owner and verified improvement.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432</a:t>
            </a:r>
          </a:p>
        </p:txBody>
      </p:sp>
    </p:spTree>
  </p:cSld>
  <p:clrMapOvr>
    <a:masterClrMapping/>
  </p:clrMapOvr>
  <p:transition xmlns:p14="http://schemas.microsoft.com/office/powerpoint/2010/main" p14:dur="380">
    <p:fade/>
  </p:transition>
</p:sld>
</file>

<file path=ppt/slides/slide4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DOMAIN 4 · APPLIED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Operational analysis and review: worked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CONSTRAINT</a:t>
            </a:r>
          </a:p>
          <a:p>
            <a:pPr algn="l">
              <a:spcAft>
                <a:spcPts val="300"/>
              </a:spcAft>
            </a:pPr>
            <a:r>
              <a:rPr sz="1050" b="0">
                <a:solidFill>
                  <a:srgbClr val="5B6372"/>
                </a:solidFill>
                <a:latin typeface="Arial"/>
              </a:rPr>
              <a:t>A weekly architecture review must explain rising throttles and recommend a measurable corrective action.</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DECISION</a:t>
            </a:r>
          </a:p>
          <a:p>
            <a:pPr algn="l">
              <a:spcAft>
                <a:spcPts val="300"/>
              </a:spcAft>
            </a:pPr>
            <a:r>
              <a:rPr sz="1050" b="0">
                <a:solidFill>
                  <a:srgbClr val="5B6372"/>
                </a:solidFill>
                <a:latin typeface="Arial"/>
              </a:rPr>
              <a:t>Build hypothesis-driven queries, compare deploy markers, keep dashboards audience-specific and record decisions.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WHY ALTERNATIVES LOSE</a:t>
            </a:r>
          </a:p>
          <a:p>
            <a:pPr algn="l">
              <a:spcAft>
                <a:spcPts val="300"/>
              </a:spcAft>
            </a:pPr>
            <a:r>
              <a:rPr sz="1050" b="0">
                <a:solidFill>
                  <a:srgbClr val="5B6372"/>
                </a:solidFill>
                <a:latin typeface="Arial"/>
              </a:rPr>
              <a:t>Reject options that do not change the stated failure boundary: A dashboard with many graphs but no decision threshold becomes decorative monitoring.</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ACCEPTANCE TEST</a:t>
            </a:r>
          </a:p>
          <a:p>
            <a:pPr algn="l">
              <a:spcAft>
                <a:spcPts val="300"/>
              </a:spcAft>
            </a:pPr>
            <a:r>
              <a:rPr sz="1050" b="0">
                <a:solidFill>
                  <a:srgbClr val="5B6372"/>
                </a:solidFill>
                <a:latin typeface="Arial"/>
              </a:rPr>
              <a:t>The decision is complete only when this proof exists: Saved query, dashboard version, deployment annotation, review finding, owner and verified improvement.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433</a:t>
            </a:r>
          </a:p>
        </p:txBody>
      </p:sp>
    </p:spTree>
  </p:cSld>
  <p:clrMapOvr>
    <a:masterClrMapping/>
  </p:clrMapOvr>
  <p:transition xmlns:p14="http://schemas.microsoft.com/office/powerpoint/2010/main" p14:dur="380">
    <p:fade/>
  </p:transition>
</p:sld>
</file>

<file path=ppt/slides/slide4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DOMAIN 4 · SERVICE BOUNDARIES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Metrics to service objectives: architecture map</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241173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53921"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5392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319272"/>
            <a:ext cx="2173986" cy="384048"/>
          </a:xfrm>
          <a:prstGeom prst="rect">
            <a:avLst/>
          </a:prstGeom>
          <a:noFill/>
        </p:spPr>
        <p:txBody>
          <a:bodyPr wrap="square" anchor="ctr">
            <a:spAutoFit/>
          </a:bodyPr>
          <a:lstStyle/>
          <a:p>
            <a:pPr algn="ctr">
              <a:spcAft>
                <a:spcPts val="400"/>
              </a:spcAft>
            </a:pPr>
            <a:r>
              <a:rPr sz="1150" b="1">
                <a:solidFill>
                  <a:srgbClr val="1F6FEB"/>
                </a:solidFill>
                <a:latin typeface="Arial"/>
              </a:rPr>
              <a:t>TRIGGER / INPUT</a:t>
            </a:r>
          </a:p>
        </p:txBody>
      </p:sp>
      <p:sp>
        <p:nvSpPr>
          <p:cNvPr id="12" name="TextBox 11"/>
          <p:cNvSpPr txBox="1"/>
          <p:nvPr/>
        </p:nvSpPr>
        <p:spPr>
          <a:xfrm>
            <a:off x="896112"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Instrument</a:t>
            </a:r>
          </a:p>
        </p:txBody>
      </p:sp>
      <p:sp>
        <p:nvSpPr>
          <p:cNvPr id="13" name="Rectangle 12"/>
          <p:cNvSpPr/>
          <p:nvPr/>
        </p:nvSpPr>
        <p:spPr>
          <a:xfrm>
            <a:off x="3518154"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18154" y="2148840"/>
            <a:ext cx="241173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394835"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94835"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7" name="TextBox 16"/>
          <p:cNvSpPr txBox="1"/>
          <p:nvPr/>
        </p:nvSpPr>
        <p:spPr>
          <a:xfrm>
            <a:off x="3637026" y="3319272"/>
            <a:ext cx="2173986" cy="384048"/>
          </a:xfrm>
          <a:prstGeom prst="rect">
            <a:avLst/>
          </a:prstGeom>
          <a:noFill/>
        </p:spPr>
        <p:txBody>
          <a:bodyPr wrap="square" anchor="ctr">
            <a:spAutoFit/>
          </a:bodyPr>
          <a:lstStyle/>
          <a:p>
            <a:pPr algn="ctr">
              <a:spcAft>
                <a:spcPts val="400"/>
              </a:spcAft>
            </a:pPr>
            <a:r>
              <a:rPr sz="1150" b="1">
                <a:solidFill>
                  <a:srgbClr val="10B981"/>
                </a:solidFill>
                <a:latin typeface="Arial"/>
              </a:rPr>
              <a:t>CONTROL PLANE</a:t>
            </a:r>
          </a:p>
        </p:txBody>
      </p:sp>
      <p:sp>
        <p:nvSpPr>
          <p:cNvPr id="18" name="TextBox 17"/>
          <p:cNvSpPr txBox="1"/>
          <p:nvPr/>
        </p:nvSpPr>
        <p:spPr>
          <a:xfrm>
            <a:off x="3637026"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Define SLIs and thresholds, use dimensions carefully, aggregate intentionally and avoid high-cardinality custom metrics.</a:t>
            </a:r>
          </a:p>
        </p:txBody>
      </p:sp>
      <p:sp>
        <p:nvSpPr>
          <p:cNvPr id="19" name="Rectangle 18"/>
          <p:cNvSpPr/>
          <p:nvPr/>
        </p:nvSpPr>
        <p:spPr>
          <a:xfrm>
            <a:off x="6259068"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9068" y="2148840"/>
            <a:ext cx="241173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5749"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574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3" name="TextBox 22"/>
          <p:cNvSpPr txBox="1"/>
          <p:nvPr/>
        </p:nvSpPr>
        <p:spPr>
          <a:xfrm>
            <a:off x="6377940" y="3319272"/>
            <a:ext cx="2173986" cy="384048"/>
          </a:xfrm>
          <a:prstGeom prst="rect">
            <a:avLst/>
          </a:prstGeom>
          <a:noFill/>
        </p:spPr>
        <p:txBody>
          <a:bodyPr wrap="square" anchor="ctr">
            <a:spAutoFit/>
          </a:bodyPr>
          <a:lstStyle/>
          <a:p>
            <a:pPr algn="ctr">
              <a:spcAft>
                <a:spcPts val="400"/>
              </a:spcAft>
            </a:pPr>
            <a:r>
              <a:rPr sz="1150" b="1">
                <a:solidFill>
                  <a:srgbClr val="7C3AED"/>
                </a:solidFill>
                <a:latin typeface="Arial"/>
              </a:rPr>
              <a:t>AWS SERVICES</a:t>
            </a:r>
          </a:p>
        </p:txBody>
      </p:sp>
      <p:sp>
        <p:nvSpPr>
          <p:cNvPr id="24" name="TextBox 23"/>
          <p:cNvSpPr txBox="1"/>
          <p:nvPr/>
        </p:nvSpPr>
        <p:spPr>
          <a:xfrm>
            <a:off x="6377940"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CloudWatch Metrics · Metric Math · Application Signals</a:t>
            </a:r>
          </a:p>
        </p:txBody>
      </p:sp>
      <p:sp>
        <p:nvSpPr>
          <p:cNvPr id="25" name="Rectangle 24"/>
          <p:cNvSpPr/>
          <p:nvPr/>
        </p:nvSpPr>
        <p:spPr>
          <a:xfrm>
            <a:off x="8999982"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99982" y="2148840"/>
            <a:ext cx="2411730"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76663"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7666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9" name="TextBox 28"/>
          <p:cNvSpPr txBox="1"/>
          <p:nvPr/>
        </p:nvSpPr>
        <p:spPr>
          <a:xfrm>
            <a:off x="9118854" y="3319272"/>
            <a:ext cx="2173986" cy="384048"/>
          </a:xfrm>
          <a:prstGeom prst="rect">
            <a:avLst/>
          </a:prstGeom>
          <a:noFill/>
        </p:spPr>
        <p:txBody>
          <a:bodyPr wrap="square" anchor="ctr">
            <a:spAutoFit/>
          </a:bodyPr>
          <a:lstStyle/>
          <a:p>
            <a:pPr algn="ctr">
              <a:spcAft>
                <a:spcPts val="400"/>
              </a:spcAft>
            </a:pPr>
            <a:r>
              <a:rPr sz="1150" b="1">
                <a:solidFill>
                  <a:srgbClr val="F59E0B"/>
                </a:solidFill>
                <a:latin typeface="Arial"/>
              </a:rPr>
              <a:t>EVIDENCE BOUNDARY</a:t>
            </a:r>
          </a:p>
        </p:txBody>
      </p:sp>
      <p:sp>
        <p:nvSpPr>
          <p:cNvPr id="30" name="TextBox 29"/>
          <p:cNvSpPr txBox="1"/>
          <p:nvPr/>
        </p:nvSpPr>
        <p:spPr>
          <a:xfrm>
            <a:off x="9118854"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Metric namespace, dimensions, statistic, period, percentile, SLO and alarm history.</a:t>
            </a:r>
          </a:p>
        </p:txBody>
      </p:sp>
      <p:cxnSp>
        <p:nvCxnSpPr>
          <p:cNvPr id="31" name="Connector 30"/>
          <p:cNvCxnSpPr/>
          <p:nvPr/>
        </p:nvCxnSpPr>
        <p:spPr>
          <a:xfrm>
            <a:off x="318897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929884"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67079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F59E0B"/>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434</a:t>
            </a:r>
          </a:p>
        </p:txBody>
      </p:sp>
    </p:spTree>
  </p:cSld>
  <p:clrMapOvr>
    <a:masterClrMapping/>
  </p:clrMapOvr>
  <p:transition xmlns:p14="http://schemas.microsoft.com/office/powerpoint/2010/main" p14:dur="380">
    <p:fade/>
  </p:transition>
</p:sld>
</file>

<file path=ppt/slides/slide4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DOMAIN 4 · SERVICE BOUNDARIES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Centralized log architecture: architecture map</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241173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53921"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5392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319272"/>
            <a:ext cx="2173986" cy="384048"/>
          </a:xfrm>
          <a:prstGeom prst="rect">
            <a:avLst/>
          </a:prstGeom>
          <a:noFill/>
        </p:spPr>
        <p:txBody>
          <a:bodyPr wrap="square" anchor="ctr">
            <a:spAutoFit/>
          </a:bodyPr>
          <a:lstStyle/>
          <a:p>
            <a:pPr algn="ctr">
              <a:spcAft>
                <a:spcPts val="400"/>
              </a:spcAft>
            </a:pPr>
            <a:r>
              <a:rPr sz="1150" b="1">
                <a:solidFill>
                  <a:srgbClr val="1F6FEB"/>
                </a:solidFill>
                <a:latin typeface="Arial"/>
              </a:rPr>
              <a:t>TRIGGER / INPUT</a:t>
            </a:r>
          </a:p>
        </p:txBody>
      </p:sp>
      <p:sp>
        <p:nvSpPr>
          <p:cNvPr id="12" name="TextBox 11"/>
          <p:cNvSpPr txBox="1"/>
          <p:nvPr/>
        </p:nvSpPr>
        <p:spPr>
          <a:xfrm>
            <a:off x="896112"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Emit structured log</a:t>
            </a:r>
          </a:p>
        </p:txBody>
      </p:sp>
      <p:sp>
        <p:nvSpPr>
          <p:cNvPr id="13" name="Rectangle 12"/>
          <p:cNvSpPr/>
          <p:nvPr/>
        </p:nvSpPr>
        <p:spPr>
          <a:xfrm>
            <a:off x="3518154"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18154" y="2148840"/>
            <a:ext cx="241173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394835"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94835"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7" name="TextBox 16"/>
          <p:cNvSpPr txBox="1"/>
          <p:nvPr/>
        </p:nvSpPr>
        <p:spPr>
          <a:xfrm>
            <a:off x="3637026" y="3319272"/>
            <a:ext cx="2173986" cy="384048"/>
          </a:xfrm>
          <a:prstGeom prst="rect">
            <a:avLst/>
          </a:prstGeom>
          <a:noFill/>
        </p:spPr>
        <p:txBody>
          <a:bodyPr wrap="square" anchor="ctr">
            <a:spAutoFit/>
          </a:bodyPr>
          <a:lstStyle/>
          <a:p>
            <a:pPr algn="ctr">
              <a:spcAft>
                <a:spcPts val="400"/>
              </a:spcAft>
            </a:pPr>
            <a:r>
              <a:rPr sz="1150" b="1">
                <a:solidFill>
                  <a:srgbClr val="10B981"/>
                </a:solidFill>
                <a:latin typeface="Arial"/>
              </a:rPr>
              <a:t>CONTROL PLANE</a:t>
            </a:r>
          </a:p>
        </p:txBody>
      </p:sp>
      <p:sp>
        <p:nvSpPr>
          <p:cNvPr id="18" name="TextBox 17"/>
          <p:cNvSpPr txBox="1"/>
          <p:nvPr/>
        </p:nvSpPr>
        <p:spPr>
          <a:xfrm>
            <a:off x="3637026"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Standardize structure, encrypt log groups, centralize subscriptions, partition archives and prevent recursive delivery.</a:t>
            </a:r>
          </a:p>
        </p:txBody>
      </p:sp>
      <p:sp>
        <p:nvSpPr>
          <p:cNvPr id="19" name="Rectangle 18"/>
          <p:cNvSpPr/>
          <p:nvPr/>
        </p:nvSpPr>
        <p:spPr>
          <a:xfrm>
            <a:off x="6259068"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9068" y="2148840"/>
            <a:ext cx="241173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5749"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574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3" name="TextBox 22"/>
          <p:cNvSpPr txBox="1"/>
          <p:nvPr/>
        </p:nvSpPr>
        <p:spPr>
          <a:xfrm>
            <a:off x="6377940" y="3319272"/>
            <a:ext cx="2173986" cy="384048"/>
          </a:xfrm>
          <a:prstGeom prst="rect">
            <a:avLst/>
          </a:prstGeom>
          <a:noFill/>
        </p:spPr>
        <p:txBody>
          <a:bodyPr wrap="square" anchor="ctr">
            <a:spAutoFit/>
          </a:bodyPr>
          <a:lstStyle/>
          <a:p>
            <a:pPr algn="ctr">
              <a:spcAft>
                <a:spcPts val="400"/>
              </a:spcAft>
            </a:pPr>
            <a:r>
              <a:rPr sz="1150" b="1">
                <a:solidFill>
                  <a:srgbClr val="7C3AED"/>
                </a:solidFill>
                <a:latin typeface="Arial"/>
              </a:rPr>
              <a:t>AWS SERVICES</a:t>
            </a:r>
          </a:p>
        </p:txBody>
      </p:sp>
      <p:sp>
        <p:nvSpPr>
          <p:cNvPr id="24" name="TextBox 23"/>
          <p:cNvSpPr txBox="1"/>
          <p:nvPr/>
        </p:nvSpPr>
        <p:spPr>
          <a:xfrm>
            <a:off x="6377940"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CloudWatch Logs · Kinesis Data Firehose · S3 · OpenSearch</a:t>
            </a:r>
          </a:p>
        </p:txBody>
      </p:sp>
      <p:sp>
        <p:nvSpPr>
          <p:cNvPr id="25" name="Rectangle 24"/>
          <p:cNvSpPr/>
          <p:nvPr/>
        </p:nvSpPr>
        <p:spPr>
          <a:xfrm>
            <a:off x="8999982"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99982" y="2148840"/>
            <a:ext cx="2411730"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76663"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7666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9" name="TextBox 28"/>
          <p:cNvSpPr txBox="1"/>
          <p:nvPr/>
        </p:nvSpPr>
        <p:spPr>
          <a:xfrm>
            <a:off x="9118854" y="3319272"/>
            <a:ext cx="2173986" cy="384048"/>
          </a:xfrm>
          <a:prstGeom prst="rect">
            <a:avLst/>
          </a:prstGeom>
          <a:noFill/>
        </p:spPr>
        <p:txBody>
          <a:bodyPr wrap="square" anchor="ctr">
            <a:spAutoFit/>
          </a:bodyPr>
          <a:lstStyle/>
          <a:p>
            <a:pPr algn="ctr">
              <a:spcAft>
                <a:spcPts val="400"/>
              </a:spcAft>
            </a:pPr>
            <a:r>
              <a:rPr sz="1150" b="1">
                <a:solidFill>
                  <a:srgbClr val="F59E0B"/>
                </a:solidFill>
                <a:latin typeface="Arial"/>
              </a:rPr>
              <a:t>EVIDENCE BOUNDARY</a:t>
            </a:r>
          </a:p>
        </p:txBody>
      </p:sp>
      <p:sp>
        <p:nvSpPr>
          <p:cNvPr id="30" name="TextBox 29"/>
          <p:cNvSpPr txBox="1"/>
          <p:nvPr/>
        </p:nvSpPr>
        <p:spPr>
          <a:xfrm>
            <a:off x="9118854"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Log-group policy, subscription filter, destination policy, archive partition and retention setting.</a:t>
            </a:r>
          </a:p>
        </p:txBody>
      </p:sp>
      <p:cxnSp>
        <p:nvCxnSpPr>
          <p:cNvPr id="31" name="Connector 30"/>
          <p:cNvCxnSpPr/>
          <p:nvPr/>
        </p:nvCxnSpPr>
        <p:spPr>
          <a:xfrm>
            <a:off x="318897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929884"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67079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F59E0B"/>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435</a:t>
            </a:r>
          </a:p>
        </p:txBody>
      </p:sp>
    </p:spTree>
  </p:cSld>
  <p:clrMapOvr>
    <a:masterClrMapping/>
  </p:clrMapOvr>
  <p:transition xmlns:p14="http://schemas.microsoft.com/office/powerpoint/2010/main" p14:dur="380">
    <p:fade/>
  </p:transition>
</p:sld>
</file>

<file path=ppt/slides/slide4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DOMAIN 4 · SERVICE BOUNDARIES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Agents and custom telemetry: architecture map</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241173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53921"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5392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319272"/>
            <a:ext cx="2173986" cy="384048"/>
          </a:xfrm>
          <a:prstGeom prst="rect">
            <a:avLst/>
          </a:prstGeom>
          <a:noFill/>
        </p:spPr>
        <p:txBody>
          <a:bodyPr wrap="square" anchor="ctr">
            <a:spAutoFit/>
          </a:bodyPr>
          <a:lstStyle/>
          <a:p>
            <a:pPr algn="ctr">
              <a:spcAft>
                <a:spcPts val="400"/>
              </a:spcAft>
            </a:pPr>
            <a:r>
              <a:rPr sz="1150" b="1">
                <a:solidFill>
                  <a:srgbClr val="1F6FEB"/>
                </a:solidFill>
                <a:latin typeface="Arial"/>
              </a:rPr>
              <a:t>TRIGGER / INPUT</a:t>
            </a:r>
          </a:p>
        </p:txBody>
      </p:sp>
      <p:sp>
        <p:nvSpPr>
          <p:cNvPr id="12" name="TextBox 11"/>
          <p:cNvSpPr txBox="1"/>
          <p:nvPr/>
        </p:nvSpPr>
        <p:spPr>
          <a:xfrm>
            <a:off x="896112"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Configure receiver</a:t>
            </a:r>
          </a:p>
        </p:txBody>
      </p:sp>
      <p:sp>
        <p:nvSpPr>
          <p:cNvPr id="13" name="Rectangle 12"/>
          <p:cNvSpPr/>
          <p:nvPr/>
        </p:nvSpPr>
        <p:spPr>
          <a:xfrm>
            <a:off x="3518154"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18154" y="2148840"/>
            <a:ext cx="241173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394835"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94835"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7" name="TextBox 16"/>
          <p:cNvSpPr txBox="1"/>
          <p:nvPr/>
        </p:nvSpPr>
        <p:spPr>
          <a:xfrm>
            <a:off x="3637026" y="3319272"/>
            <a:ext cx="2173986" cy="384048"/>
          </a:xfrm>
          <a:prstGeom prst="rect">
            <a:avLst/>
          </a:prstGeom>
          <a:noFill/>
        </p:spPr>
        <p:txBody>
          <a:bodyPr wrap="square" anchor="ctr">
            <a:spAutoFit/>
          </a:bodyPr>
          <a:lstStyle/>
          <a:p>
            <a:pPr algn="ctr">
              <a:spcAft>
                <a:spcPts val="400"/>
              </a:spcAft>
            </a:pPr>
            <a:r>
              <a:rPr sz="1150" b="1">
                <a:solidFill>
                  <a:srgbClr val="10B981"/>
                </a:solidFill>
                <a:latin typeface="Arial"/>
              </a:rPr>
              <a:t>CONTROL PLANE</a:t>
            </a:r>
          </a:p>
        </p:txBody>
      </p:sp>
      <p:sp>
        <p:nvSpPr>
          <p:cNvPr id="18" name="TextBox 17"/>
          <p:cNvSpPr txBox="1"/>
          <p:nvPr/>
        </p:nvSpPr>
        <p:spPr>
          <a:xfrm>
            <a:off x="3637026"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Deploy versioned agent configuration, use least privilege, buffer safely and validate time synchronization.</a:t>
            </a:r>
          </a:p>
        </p:txBody>
      </p:sp>
      <p:sp>
        <p:nvSpPr>
          <p:cNvPr id="19" name="Rectangle 18"/>
          <p:cNvSpPr/>
          <p:nvPr/>
        </p:nvSpPr>
        <p:spPr>
          <a:xfrm>
            <a:off x="6259068"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9068" y="2148840"/>
            <a:ext cx="241173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5749"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574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3" name="TextBox 22"/>
          <p:cNvSpPr txBox="1"/>
          <p:nvPr/>
        </p:nvSpPr>
        <p:spPr>
          <a:xfrm>
            <a:off x="6377940" y="3319272"/>
            <a:ext cx="2173986" cy="384048"/>
          </a:xfrm>
          <a:prstGeom prst="rect">
            <a:avLst/>
          </a:prstGeom>
          <a:noFill/>
        </p:spPr>
        <p:txBody>
          <a:bodyPr wrap="square" anchor="ctr">
            <a:spAutoFit/>
          </a:bodyPr>
          <a:lstStyle/>
          <a:p>
            <a:pPr algn="ctr">
              <a:spcAft>
                <a:spcPts val="400"/>
              </a:spcAft>
            </a:pPr>
            <a:r>
              <a:rPr sz="1150" b="1">
                <a:solidFill>
                  <a:srgbClr val="7C3AED"/>
                </a:solidFill>
                <a:latin typeface="Arial"/>
              </a:rPr>
              <a:t>AWS SERVICES</a:t>
            </a:r>
          </a:p>
        </p:txBody>
      </p:sp>
      <p:sp>
        <p:nvSpPr>
          <p:cNvPr id="24" name="TextBox 23"/>
          <p:cNvSpPr txBox="1"/>
          <p:nvPr/>
        </p:nvSpPr>
        <p:spPr>
          <a:xfrm>
            <a:off x="6377940"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CloudWatch Agent · OpenTelemetry Collector · Embedded Metric Format</a:t>
            </a:r>
          </a:p>
        </p:txBody>
      </p:sp>
      <p:sp>
        <p:nvSpPr>
          <p:cNvPr id="25" name="Rectangle 24"/>
          <p:cNvSpPr/>
          <p:nvPr/>
        </p:nvSpPr>
        <p:spPr>
          <a:xfrm>
            <a:off x="8999982"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99982" y="2148840"/>
            <a:ext cx="2411730"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76663"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7666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9" name="TextBox 28"/>
          <p:cNvSpPr txBox="1"/>
          <p:nvPr/>
        </p:nvSpPr>
        <p:spPr>
          <a:xfrm>
            <a:off x="9118854" y="3319272"/>
            <a:ext cx="2173986" cy="384048"/>
          </a:xfrm>
          <a:prstGeom prst="rect">
            <a:avLst/>
          </a:prstGeom>
          <a:noFill/>
        </p:spPr>
        <p:txBody>
          <a:bodyPr wrap="square" anchor="ctr">
            <a:spAutoFit/>
          </a:bodyPr>
          <a:lstStyle/>
          <a:p>
            <a:pPr algn="ctr">
              <a:spcAft>
                <a:spcPts val="400"/>
              </a:spcAft>
            </a:pPr>
            <a:r>
              <a:rPr sz="1150" b="1">
                <a:solidFill>
                  <a:srgbClr val="F59E0B"/>
                </a:solidFill>
                <a:latin typeface="Arial"/>
              </a:rPr>
              <a:t>EVIDENCE BOUNDARY</a:t>
            </a:r>
          </a:p>
        </p:txBody>
      </p:sp>
      <p:sp>
        <p:nvSpPr>
          <p:cNvPr id="30" name="TextBox 29"/>
          <p:cNvSpPr txBox="1"/>
          <p:nvPr/>
        </p:nvSpPr>
        <p:spPr>
          <a:xfrm>
            <a:off x="9118854"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Agent config version, collection status, dropped records, IAM policy and sample telemetry.</a:t>
            </a:r>
          </a:p>
        </p:txBody>
      </p:sp>
      <p:cxnSp>
        <p:nvCxnSpPr>
          <p:cNvPr id="31" name="Connector 30"/>
          <p:cNvCxnSpPr/>
          <p:nvPr/>
        </p:nvCxnSpPr>
        <p:spPr>
          <a:xfrm>
            <a:off x="318897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929884"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67079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F59E0B"/>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436</a:t>
            </a:r>
          </a:p>
        </p:txBody>
      </p:sp>
    </p:spTree>
  </p:cSld>
  <p:clrMapOvr>
    <a:masterClrMapping/>
  </p:clrMapOvr>
  <p:transition xmlns:p14="http://schemas.microsoft.com/office/powerpoint/2010/main" p14:dur="380">
    <p:fade/>
  </p:transition>
</p:sld>
</file>

<file path=ppt/slides/slide4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DOMAIN 4 · SERVICE BOUNDARIES</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300" b="1">
                <a:solidFill>
                  <a:srgbClr val="161B26"/>
                </a:solidFill>
                <a:latin typeface="Arial"/>
              </a:rPr>
              <a:t>Alarms, anomaly detection and composite signals: architecture map</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241173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53921"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5392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319272"/>
            <a:ext cx="2173986" cy="384048"/>
          </a:xfrm>
          <a:prstGeom prst="rect">
            <a:avLst/>
          </a:prstGeom>
          <a:noFill/>
        </p:spPr>
        <p:txBody>
          <a:bodyPr wrap="square" anchor="ctr">
            <a:spAutoFit/>
          </a:bodyPr>
          <a:lstStyle/>
          <a:p>
            <a:pPr algn="ctr">
              <a:spcAft>
                <a:spcPts val="400"/>
              </a:spcAft>
            </a:pPr>
            <a:r>
              <a:rPr sz="1150" b="1">
                <a:solidFill>
                  <a:srgbClr val="1F6FEB"/>
                </a:solidFill>
                <a:latin typeface="Arial"/>
              </a:rPr>
              <a:t>TRIGGER / INPUT</a:t>
            </a:r>
          </a:p>
        </p:txBody>
      </p:sp>
      <p:sp>
        <p:nvSpPr>
          <p:cNvPr id="12" name="TextBox 11"/>
          <p:cNvSpPr txBox="1"/>
          <p:nvPr/>
        </p:nvSpPr>
        <p:spPr>
          <a:xfrm>
            <a:off x="896112"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Evaluate datapoint</a:t>
            </a:r>
          </a:p>
        </p:txBody>
      </p:sp>
      <p:sp>
        <p:nvSpPr>
          <p:cNvPr id="13" name="Rectangle 12"/>
          <p:cNvSpPr/>
          <p:nvPr/>
        </p:nvSpPr>
        <p:spPr>
          <a:xfrm>
            <a:off x="3518154"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18154" y="2148840"/>
            <a:ext cx="241173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394835"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94835"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7" name="TextBox 16"/>
          <p:cNvSpPr txBox="1"/>
          <p:nvPr/>
        </p:nvSpPr>
        <p:spPr>
          <a:xfrm>
            <a:off x="3637026" y="3319272"/>
            <a:ext cx="2173986" cy="384048"/>
          </a:xfrm>
          <a:prstGeom prst="rect">
            <a:avLst/>
          </a:prstGeom>
          <a:noFill/>
        </p:spPr>
        <p:txBody>
          <a:bodyPr wrap="square" anchor="ctr">
            <a:spAutoFit/>
          </a:bodyPr>
          <a:lstStyle/>
          <a:p>
            <a:pPr algn="ctr">
              <a:spcAft>
                <a:spcPts val="400"/>
              </a:spcAft>
            </a:pPr>
            <a:r>
              <a:rPr sz="1150" b="1">
                <a:solidFill>
                  <a:srgbClr val="10B981"/>
                </a:solidFill>
                <a:latin typeface="Arial"/>
              </a:rPr>
              <a:t>CONTROL PLANE</a:t>
            </a:r>
          </a:p>
        </p:txBody>
      </p:sp>
      <p:sp>
        <p:nvSpPr>
          <p:cNvPr id="18" name="TextBox 17"/>
          <p:cNvSpPr txBox="1"/>
          <p:nvPr/>
        </p:nvSpPr>
        <p:spPr>
          <a:xfrm>
            <a:off x="3637026"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Tune evaluation periods and missing-data behavior; combine symptoms to reduce noise and attach runbook context.</a:t>
            </a:r>
          </a:p>
        </p:txBody>
      </p:sp>
      <p:sp>
        <p:nvSpPr>
          <p:cNvPr id="19" name="Rectangle 18"/>
          <p:cNvSpPr/>
          <p:nvPr/>
        </p:nvSpPr>
        <p:spPr>
          <a:xfrm>
            <a:off x="6259068"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9068" y="2148840"/>
            <a:ext cx="241173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5749"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574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3" name="TextBox 22"/>
          <p:cNvSpPr txBox="1"/>
          <p:nvPr/>
        </p:nvSpPr>
        <p:spPr>
          <a:xfrm>
            <a:off x="6377940" y="3319272"/>
            <a:ext cx="2173986" cy="384048"/>
          </a:xfrm>
          <a:prstGeom prst="rect">
            <a:avLst/>
          </a:prstGeom>
          <a:noFill/>
        </p:spPr>
        <p:txBody>
          <a:bodyPr wrap="square" anchor="ctr">
            <a:spAutoFit/>
          </a:bodyPr>
          <a:lstStyle/>
          <a:p>
            <a:pPr algn="ctr">
              <a:spcAft>
                <a:spcPts val="400"/>
              </a:spcAft>
            </a:pPr>
            <a:r>
              <a:rPr sz="1150" b="1">
                <a:solidFill>
                  <a:srgbClr val="7C3AED"/>
                </a:solidFill>
                <a:latin typeface="Arial"/>
              </a:rPr>
              <a:t>AWS SERVICES</a:t>
            </a:r>
          </a:p>
        </p:txBody>
      </p:sp>
      <p:sp>
        <p:nvSpPr>
          <p:cNvPr id="24" name="TextBox 23"/>
          <p:cNvSpPr txBox="1"/>
          <p:nvPr/>
        </p:nvSpPr>
        <p:spPr>
          <a:xfrm>
            <a:off x="6377940"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CloudWatch Alarms · Composite Alarms · SNS</a:t>
            </a:r>
          </a:p>
        </p:txBody>
      </p:sp>
      <p:sp>
        <p:nvSpPr>
          <p:cNvPr id="25" name="Rectangle 24"/>
          <p:cNvSpPr/>
          <p:nvPr/>
        </p:nvSpPr>
        <p:spPr>
          <a:xfrm>
            <a:off x="8999982"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99982" y="2148840"/>
            <a:ext cx="2411730"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76663"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7666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9" name="TextBox 28"/>
          <p:cNvSpPr txBox="1"/>
          <p:nvPr/>
        </p:nvSpPr>
        <p:spPr>
          <a:xfrm>
            <a:off x="9118854" y="3319272"/>
            <a:ext cx="2173986" cy="384048"/>
          </a:xfrm>
          <a:prstGeom prst="rect">
            <a:avLst/>
          </a:prstGeom>
          <a:noFill/>
        </p:spPr>
        <p:txBody>
          <a:bodyPr wrap="square" anchor="ctr">
            <a:spAutoFit/>
          </a:bodyPr>
          <a:lstStyle/>
          <a:p>
            <a:pPr algn="ctr">
              <a:spcAft>
                <a:spcPts val="400"/>
              </a:spcAft>
            </a:pPr>
            <a:r>
              <a:rPr sz="1150" b="1">
                <a:solidFill>
                  <a:srgbClr val="F59E0B"/>
                </a:solidFill>
                <a:latin typeface="Arial"/>
              </a:rPr>
              <a:t>EVIDENCE BOUNDARY</a:t>
            </a:r>
          </a:p>
        </p:txBody>
      </p:sp>
      <p:sp>
        <p:nvSpPr>
          <p:cNvPr id="30" name="TextBox 29"/>
          <p:cNvSpPr txBox="1"/>
          <p:nvPr/>
        </p:nvSpPr>
        <p:spPr>
          <a:xfrm>
            <a:off x="9118854"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Alarm configuration, state transition, contributing alarms, notification payload and operator action.</a:t>
            </a:r>
          </a:p>
        </p:txBody>
      </p:sp>
      <p:cxnSp>
        <p:nvCxnSpPr>
          <p:cNvPr id="31" name="Connector 30"/>
          <p:cNvCxnSpPr/>
          <p:nvPr/>
        </p:nvCxnSpPr>
        <p:spPr>
          <a:xfrm>
            <a:off x="318897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929884"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67079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F59E0B"/>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437</a:t>
            </a:r>
          </a:p>
        </p:txBody>
      </p:sp>
    </p:spTree>
  </p:cSld>
  <p:clrMapOvr>
    <a:masterClrMapping/>
  </p:clrMapOvr>
  <p:transition xmlns:p14="http://schemas.microsoft.com/office/powerpoint/2010/main" p14:dur="380">
    <p:fade/>
  </p:transition>
</p:sld>
</file>

<file path=ppt/slides/slide4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DOMAIN 4 · SERVICE BOUNDARIES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Distributed tracing and service maps: architecture map</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241173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53921"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5392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319272"/>
            <a:ext cx="2173986" cy="384048"/>
          </a:xfrm>
          <a:prstGeom prst="rect">
            <a:avLst/>
          </a:prstGeom>
          <a:noFill/>
        </p:spPr>
        <p:txBody>
          <a:bodyPr wrap="square" anchor="ctr">
            <a:spAutoFit/>
          </a:bodyPr>
          <a:lstStyle/>
          <a:p>
            <a:pPr algn="ctr">
              <a:spcAft>
                <a:spcPts val="400"/>
              </a:spcAft>
            </a:pPr>
            <a:r>
              <a:rPr sz="1150" b="1">
                <a:solidFill>
                  <a:srgbClr val="1F6FEB"/>
                </a:solidFill>
                <a:latin typeface="Arial"/>
              </a:rPr>
              <a:t>TRIGGER / INPUT</a:t>
            </a:r>
          </a:p>
        </p:txBody>
      </p:sp>
      <p:sp>
        <p:nvSpPr>
          <p:cNvPr id="12" name="TextBox 11"/>
          <p:cNvSpPr txBox="1"/>
          <p:nvPr/>
        </p:nvSpPr>
        <p:spPr>
          <a:xfrm>
            <a:off x="896112"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Receive trace context</a:t>
            </a:r>
          </a:p>
        </p:txBody>
      </p:sp>
      <p:sp>
        <p:nvSpPr>
          <p:cNvPr id="13" name="Rectangle 12"/>
          <p:cNvSpPr/>
          <p:nvPr/>
        </p:nvSpPr>
        <p:spPr>
          <a:xfrm>
            <a:off x="3518154"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18154" y="2148840"/>
            <a:ext cx="241173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394835"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94835"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7" name="TextBox 16"/>
          <p:cNvSpPr txBox="1"/>
          <p:nvPr/>
        </p:nvSpPr>
        <p:spPr>
          <a:xfrm>
            <a:off x="3637026" y="3319272"/>
            <a:ext cx="2173986" cy="384048"/>
          </a:xfrm>
          <a:prstGeom prst="rect">
            <a:avLst/>
          </a:prstGeom>
          <a:noFill/>
        </p:spPr>
        <p:txBody>
          <a:bodyPr wrap="square" anchor="ctr">
            <a:spAutoFit/>
          </a:bodyPr>
          <a:lstStyle/>
          <a:p>
            <a:pPr algn="ctr">
              <a:spcAft>
                <a:spcPts val="400"/>
              </a:spcAft>
            </a:pPr>
            <a:r>
              <a:rPr sz="1150" b="1">
                <a:solidFill>
                  <a:srgbClr val="10B981"/>
                </a:solidFill>
                <a:latin typeface="Arial"/>
              </a:rPr>
              <a:t>CONTROL PLANE</a:t>
            </a:r>
          </a:p>
        </p:txBody>
      </p:sp>
      <p:sp>
        <p:nvSpPr>
          <p:cNvPr id="18" name="TextBox 17"/>
          <p:cNvSpPr txBox="1"/>
          <p:nvPr/>
        </p:nvSpPr>
        <p:spPr>
          <a:xfrm>
            <a:off x="3637026"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Propagate trace context, sample intentionally, protect sensitive attributes and correlate traces with logs and metrics.</a:t>
            </a:r>
          </a:p>
        </p:txBody>
      </p:sp>
      <p:sp>
        <p:nvSpPr>
          <p:cNvPr id="19" name="Rectangle 18"/>
          <p:cNvSpPr/>
          <p:nvPr/>
        </p:nvSpPr>
        <p:spPr>
          <a:xfrm>
            <a:off x="6259068"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9068" y="2148840"/>
            <a:ext cx="241173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5749"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574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3" name="TextBox 22"/>
          <p:cNvSpPr txBox="1"/>
          <p:nvPr/>
        </p:nvSpPr>
        <p:spPr>
          <a:xfrm>
            <a:off x="6377940" y="3319272"/>
            <a:ext cx="2173986" cy="384048"/>
          </a:xfrm>
          <a:prstGeom prst="rect">
            <a:avLst/>
          </a:prstGeom>
          <a:noFill/>
        </p:spPr>
        <p:txBody>
          <a:bodyPr wrap="square" anchor="ctr">
            <a:spAutoFit/>
          </a:bodyPr>
          <a:lstStyle/>
          <a:p>
            <a:pPr algn="ctr">
              <a:spcAft>
                <a:spcPts val="400"/>
              </a:spcAft>
            </a:pPr>
            <a:r>
              <a:rPr sz="1150" b="1">
                <a:solidFill>
                  <a:srgbClr val="7C3AED"/>
                </a:solidFill>
                <a:latin typeface="Arial"/>
              </a:rPr>
              <a:t>AWS SERVICES</a:t>
            </a:r>
          </a:p>
        </p:txBody>
      </p:sp>
      <p:sp>
        <p:nvSpPr>
          <p:cNvPr id="24" name="TextBox 23"/>
          <p:cNvSpPr txBox="1"/>
          <p:nvPr/>
        </p:nvSpPr>
        <p:spPr>
          <a:xfrm>
            <a:off x="6377940"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AWS X-Ray · ADOT · CloudWatch ServiceLens</a:t>
            </a:r>
          </a:p>
        </p:txBody>
      </p:sp>
      <p:sp>
        <p:nvSpPr>
          <p:cNvPr id="25" name="Rectangle 24"/>
          <p:cNvSpPr/>
          <p:nvPr/>
        </p:nvSpPr>
        <p:spPr>
          <a:xfrm>
            <a:off x="8999982"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99982" y="2148840"/>
            <a:ext cx="2411730"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76663"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7666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9" name="TextBox 28"/>
          <p:cNvSpPr txBox="1"/>
          <p:nvPr/>
        </p:nvSpPr>
        <p:spPr>
          <a:xfrm>
            <a:off x="9118854" y="3319272"/>
            <a:ext cx="2173986" cy="384048"/>
          </a:xfrm>
          <a:prstGeom prst="rect">
            <a:avLst/>
          </a:prstGeom>
          <a:noFill/>
        </p:spPr>
        <p:txBody>
          <a:bodyPr wrap="square" anchor="ctr">
            <a:spAutoFit/>
          </a:bodyPr>
          <a:lstStyle/>
          <a:p>
            <a:pPr algn="ctr">
              <a:spcAft>
                <a:spcPts val="400"/>
              </a:spcAft>
            </a:pPr>
            <a:r>
              <a:rPr sz="1150" b="1">
                <a:solidFill>
                  <a:srgbClr val="F59E0B"/>
                </a:solidFill>
                <a:latin typeface="Arial"/>
              </a:rPr>
              <a:t>EVIDENCE BOUNDARY</a:t>
            </a:r>
          </a:p>
        </p:txBody>
      </p:sp>
      <p:sp>
        <p:nvSpPr>
          <p:cNvPr id="30" name="TextBox 29"/>
          <p:cNvSpPr txBox="1"/>
          <p:nvPr/>
        </p:nvSpPr>
        <p:spPr>
          <a:xfrm>
            <a:off x="9118854"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Trace ID, segment/subsegment, annotation, sampling rule, fault edge and correlated log event.</a:t>
            </a:r>
          </a:p>
        </p:txBody>
      </p:sp>
      <p:cxnSp>
        <p:nvCxnSpPr>
          <p:cNvPr id="31" name="Connector 30"/>
          <p:cNvCxnSpPr/>
          <p:nvPr/>
        </p:nvCxnSpPr>
        <p:spPr>
          <a:xfrm>
            <a:off x="318897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929884"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67079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F59E0B"/>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438</a:t>
            </a:r>
          </a:p>
        </p:txBody>
      </p:sp>
    </p:spTree>
  </p:cSld>
  <p:clrMapOvr>
    <a:masterClrMapping/>
  </p:clrMapOvr>
  <p:transition xmlns:p14="http://schemas.microsoft.com/office/powerpoint/2010/main" p14:dur="380">
    <p:fade/>
  </p:transition>
</p:sld>
</file>

<file path=ppt/slides/slide4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DOMAIN 4 · SERVICE BOUNDARIES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Operational analysis and review: architecture map</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241173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53921"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5392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319272"/>
            <a:ext cx="2173986" cy="384048"/>
          </a:xfrm>
          <a:prstGeom prst="rect">
            <a:avLst/>
          </a:prstGeom>
          <a:noFill/>
        </p:spPr>
        <p:txBody>
          <a:bodyPr wrap="square" anchor="ctr">
            <a:spAutoFit/>
          </a:bodyPr>
          <a:lstStyle/>
          <a:p>
            <a:pPr algn="ctr">
              <a:spcAft>
                <a:spcPts val="400"/>
              </a:spcAft>
            </a:pPr>
            <a:r>
              <a:rPr sz="1150" b="1">
                <a:solidFill>
                  <a:srgbClr val="1F6FEB"/>
                </a:solidFill>
                <a:latin typeface="Arial"/>
              </a:rPr>
              <a:t>TRIGGER / INPUT</a:t>
            </a:r>
          </a:p>
        </p:txBody>
      </p:sp>
      <p:sp>
        <p:nvSpPr>
          <p:cNvPr id="12" name="TextBox 11"/>
          <p:cNvSpPr txBox="1"/>
          <p:nvPr/>
        </p:nvSpPr>
        <p:spPr>
          <a:xfrm>
            <a:off x="896112"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Observe change</a:t>
            </a:r>
          </a:p>
        </p:txBody>
      </p:sp>
      <p:sp>
        <p:nvSpPr>
          <p:cNvPr id="13" name="Rectangle 12"/>
          <p:cNvSpPr/>
          <p:nvPr/>
        </p:nvSpPr>
        <p:spPr>
          <a:xfrm>
            <a:off x="3518154"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18154" y="2148840"/>
            <a:ext cx="241173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394835"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94835"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7" name="TextBox 16"/>
          <p:cNvSpPr txBox="1"/>
          <p:nvPr/>
        </p:nvSpPr>
        <p:spPr>
          <a:xfrm>
            <a:off x="3637026" y="3319272"/>
            <a:ext cx="2173986" cy="384048"/>
          </a:xfrm>
          <a:prstGeom prst="rect">
            <a:avLst/>
          </a:prstGeom>
          <a:noFill/>
        </p:spPr>
        <p:txBody>
          <a:bodyPr wrap="square" anchor="ctr">
            <a:spAutoFit/>
          </a:bodyPr>
          <a:lstStyle/>
          <a:p>
            <a:pPr algn="ctr">
              <a:spcAft>
                <a:spcPts val="400"/>
              </a:spcAft>
            </a:pPr>
            <a:r>
              <a:rPr sz="1150" b="1">
                <a:solidFill>
                  <a:srgbClr val="10B981"/>
                </a:solidFill>
                <a:latin typeface="Arial"/>
              </a:rPr>
              <a:t>CONTROL PLANE</a:t>
            </a:r>
          </a:p>
        </p:txBody>
      </p:sp>
      <p:sp>
        <p:nvSpPr>
          <p:cNvPr id="18" name="TextBox 17"/>
          <p:cNvSpPr txBox="1"/>
          <p:nvPr/>
        </p:nvSpPr>
        <p:spPr>
          <a:xfrm>
            <a:off x="3637026"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Build hypothesis-driven queries, compare deploy markers, keep dashboards audience-specific and record decisions.</a:t>
            </a:r>
          </a:p>
        </p:txBody>
      </p:sp>
      <p:sp>
        <p:nvSpPr>
          <p:cNvPr id="19" name="Rectangle 18"/>
          <p:cNvSpPr/>
          <p:nvPr/>
        </p:nvSpPr>
        <p:spPr>
          <a:xfrm>
            <a:off x="6259068"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9068" y="2148840"/>
            <a:ext cx="241173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5749"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574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3" name="TextBox 22"/>
          <p:cNvSpPr txBox="1"/>
          <p:nvPr/>
        </p:nvSpPr>
        <p:spPr>
          <a:xfrm>
            <a:off x="6377940" y="3319272"/>
            <a:ext cx="2173986" cy="384048"/>
          </a:xfrm>
          <a:prstGeom prst="rect">
            <a:avLst/>
          </a:prstGeom>
          <a:noFill/>
        </p:spPr>
        <p:txBody>
          <a:bodyPr wrap="square" anchor="ctr">
            <a:spAutoFit/>
          </a:bodyPr>
          <a:lstStyle/>
          <a:p>
            <a:pPr algn="ctr">
              <a:spcAft>
                <a:spcPts val="400"/>
              </a:spcAft>
            </a:pPr>
            <a:r>
              <a:rPr sz="1150" b="1">
                <a:solidFill>
                  <a:srgbClr val="7C3AED"/>
                </a:solidFill>
                <a:latin typeface="Arial"/>
              </a:rPr>
              <a:t>AWS SERVICES</a:t>
            </a:r>
          </a:p>
        </p:txBody>
      </p:sp>
      <p:sp>
        <p:nvSpPr>
          <p:cNvPr id="24" name="TextBox 23"/>
          <p:cNvSpPr txBox="1"/>
          <p:nvPr/>
        </p:nvSpPr>
        <p:spPr>
          <a:xfrm>
            <a:off x="6377940"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Logs Insights · Dashboards · Contributor Insights · Metrics Streams</a:t>
            </a:r>
          </a:p>
        </p:txBody>
      </p:sp>
      <p:sp>
        <p:nvSpPr>
          <p:cNvPr id="25" name="Rectangle 24"/>
          <p:cNvSpPr/>
          <p:nvPr/>
        </p:nvSpPr>
        <p:spPr>
          <a:xfrm>
            <a:off x="8999982"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99982" y="2148840"/>
            <a:ext cx="2411730"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76663"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7666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9" name="TextBox 28"/>
          <p:cNvSpPr txBox="1"/>
          <p:nvPr/>
        </p:nvSpPr>
        <p:spPr>
          <a:xfrm>
            <a:off x="9118854" y="3319272"/>
            <a:ext cx="2173986" cy="384048"/>
          </a:xfrm>
          <a:prstGeom prst="rect">
            <a:avLst/>
          </a:prstGeom>
          <a:noFill/>
        </p:spPr>
        <p:txBody>
          <a:bodyPr wrap="square" anchor="ctr">
            <a:spAutoFit/>
          </a:bodyPr>
          <a:lstStyle/>
          <a:p>
            <a:pPr algn="ctr">
              <a:spcAft>
                <a:spcPts val="400"/>
              </a:spcAft>
            </a:pPr>
            <a:r>
              <a:rPr sz="1150" b="1">
                <a:solidFill>
                  <a:srgbClr val="F59E0B"/>
                </a:solidFill>
                <a:latin typeface="Arial"/>
              </a:rPr>
              <a:t>EVIDENCE BOUNDARY</a:t>
            </a:r>
          </a:p>
        </p:txBody>
      </p:sp>
      <p:sp>
        <p:nvSpPr>
          <p:cNvPr id="30" name="TextBox 29"/>
          <p:cNvSpPr txBox="1"/>
          <p:nvPr/>
        </p:nvSpPr>
        <p:spPr>
          <a:xfrm>
            <a:off x="9118854"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Saved query, dashboard version, deployment annotation, review finding, owner and verified improvement.</a:t>
            </a:r>
          </a:p>
        </p:txBody>
      </p:sp>
      <p:cxnSp>
        <p:nvCxnSpPr>
          <p:cNvPr id="31" name="Connector 30"/>
          <p:cNvCxnSpPr/>
          <p:nvPr/>
        </p:nvCxnSpPr>
        <p:spPr>
          <a:xfrm>
            <a:off x="318897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929884"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67079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F59E0B"/>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439</a:t>
            </a:r>
          </a:p>
        </p:txBody>
      </p:sp>
    </p:spTree>
  </p:cSld>
  <p:clrMapOvr>
    <a:masterClrMapping/>
  </p:clrMapOvr>
  <p:transition xmlns:p14="http://schemas.microsoft.com/office/powerpoint/2010/main" p14:dur="380">
    <p:fade/>
  </p:transition>
</p:sld>
</file>

<file path=ppt/slides/slide4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LAB 16 · DAY 4 · LO4 · HANDS-ON</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1900" b="1">
                <a:solidFill>
                  <a:srgbClr val="161B26"/>
                </a:solidFill>
                <a:latin typeface="Arial"/>
              </a:rPr>
              <a:t>Collect Custom Metrics with the CloudWatch Agent and Build an Operations Dashboard</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37360"/>
            <a:ext cx="1417320" cy="4572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83080"/>
            <a:ext cx="1417320" cy="365760"/>
          </a:xfrm>
          <a:prstGeom prst="rect">
            <a:avLst/>
          </a:prstGeom>
          <a:noFill/>
        </p:spPr>
        <p:txBody>
          <a:bodyPr wrap="square" anchor="t">
            <a:spAutoFit/>
          </a:bodyPr>
          <a:lstStyle/>
          <a:p>
            <a:pPr algn="ctr">
              <a:spcAft>
                <a:spcPts val="400"/>
              </a:spcAft>
            </a:pPr>
            <a:r>
              <a:rPr sz="1600" b="1">
                <a:solidFill>
                  <a:srgbClr val="FFFFFF"/>
                </a:solidFill>
                <a:latin typeface="Arial"/>
              </a:rPr>
              <a:t>LAB 16</a:t>
            </a:r>
          </a:p>
        </p:txBody>
      </p:sp>
      <p:sp>
        <p:nvSpPr>
          <p:cNvPr id="9" name="TextBox 8"/>
          <p:cNvSpPr txBox="1"/>
          <p:nvPr/>
        </p:nvSpPr>
        <p:spPr>
          <a:xfrm>
            <a:off x="2514600" y="1783080"/>
            <a:ext cx="3749039" cy="365760"/>
          </a:xfrm>
          <a:prstGeom prst="rect">
            <a:avLst/>
          </a:prstGeom>
          <a:noFill/>
        </p:spPr>
        <p:txBody>
          <a:bodyPr wrap="square" anchor="t">
            <a:spAutoFit/>
          </a:bodyPr>
          <a:lstStyle/>
          <a:p>
            <a:pPr algn="l">
              <a:spcAft>
                <a:spcPts val="400"/>
              </a:spcAft>
            </a:pPr>
            <a:r>
              <a:rPr sz="1150" b="1">
                <a:solidFill>
                  <a:srgbClr val="5B6372"/>
                </a:solidFill>
                <a:latin typeface="Arial"/>
              </a:rPr>
              <a:t>Day 4 · LO4 · K5, A6</a:t>
            </a:r>
          </a:p>
        </p:txBody>
      </p:sp>
      <p:sp>
        <p:nvSpPr>
          <p:cNvPr id="10" name="TextBox 9"/>
          <p:cNvSpPr txBox="1"/>
          <p:nvPr/>
        </p:nvSpPr>
        <p:spPr>
          <a:xfrm>
            <a:off x="777240" y="2286000"/>
            <a:ext cx="5486400" cy="1231900"/>
          </a:xfrm>
          <a:prstGeom prst="rect">
            <a:avLst/>
          </a:prstGeom>
          <a:noFill/>
        </p:spPr>
        <p:txBody>
          <a:bodyPr wrap="square" anchor="t">
            <a:spAutoFit/>
          </a:bodyPr>
          <a:lstStyle/>
          <a:p>
            <a:pPr algn="l">
              <a:spcAft>
                <a:spcPts val="400"/>
              </a:spcAft>
            </a:pPr>
            <a:r>
              <a:rPr sz="1350" b="0">
                <a:solidFill>
                  <a:srgbClr val="161B26"/>
                </a:solidFill>
                <a:latin typeface="Arial"/>
              </a:rPr>
              <a:t>Your team runs a web app on EC2 but only has the default hypervisor CPU metric — you are blind to memory pressure, disk usage and application latency.</a:t>
            </a:r>
          </a:p>
        </p:txBody>
      </p:sp>
      <p:sp>
        <p:nvSpPr>
          <p:cNvPr id="11" name="Rectangle 10"/>
          <p:cNvSpPr/>
          <p:nvPr/>
        </p:nvSpPr>
        <p:spPr>
          <a:xfrm>
            <a:off x="777240" y="3627628"/>
            <a:ext cx="5486400" cy="165836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627628"/>
            <a:ext cx="91440" cy="165836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3755644"/>
            <a:ext cx="5120640" cy="274320"/>
          </a:xfrm>
          <a:prstGeom prst="rect">
            <a:avLst/>
          </a:prstGeom>
          <a:noFill/>
        </p:spPr>
        <p:txBody>
          <a:bodyPr wrap="square" anchor="t">
            <a:spAutoFit/>
          </a:bodyPr>
          <a:lstStyle/>
          <a:p>
            <a:pPr algn="l">
              <a:spcAft>
                <a:spcPts val="400"/>
              </a:spcAft>
            </a:pPr>
            <a:r>
              <a:rPr sz="1200" b="1">
                <a:solidFill>
                  <a:srgbClr val="F59E0B"/>
                </a:solidFill>
                <a:latin typeface="Arial"/>
              </a:rPr>
              <a:t>YOU'LL BUILD</a:t>
            </a:r>
          </a:p>
        </p:txBody>
      </p:sp>
      <p:sp>
        <p:nvSpPr>
          <p:cNvPr id="14" name="TextBox 13"/>
          <p:cNvSpPr txBox="1"/>
          <p:nvPr/>
        </p:nvSpPr>
        <p:spPr>
          <a:xfrm>
            <a:off x="960120" y="4029964"/>
            <a:ext cx="5166360" cy="726440"/>
          </a:xfrm>
          <a:prstGeom prst="rect">
            <a:avLst/>
          </a:prstGeom>
          <a:noFill/>
        </p:spPr>
        <p:txBody>
          <a:bodyPr wrap="square" anchor="t">
            <a:spAutoFit/>
          </a:bodyPr>
          <a:lstStyle/>
          <a:p>
            <a:pPr algn="l">
              <a:spcAft>
                <a:spcPts val="400"/>
              </a:spcAft>
            </a:pPr>
            <a:r>
              <a:rPr sz="1100" b="1">
                <a:solidFill>
                  <a:srgbClr val="161B26"/>
                </a:solidFill>
                <a:latin typeface="Arial"/>
              </a:rPr>
              <a:t>A running CloudWatch agent emitting memory/disk custom metrics, a script publishing app latency/request/error metrics, and a CloudWatch dashboard visualising CPU, p90 latency, errors and request count.</a:t>
            </a:r>
          </a:p>
        </p:txBody>
      </p:sp>
      <p:sp>
        <p:nvSpPr>
          <p:cNvPr id="15" name="TextBox 14"/>
          <p:cNvSpPr txBox="1"/>
          <p:nvPr/>
        </p:nvSpPr>
        <p:spPr>
          <a:xfrm>
            <a:off x="960120" y="4811268"/>
            <a:ext cx="5166360" cy="346710"/>
          </a:xfrm>
          <a:prstGeom prst="rect">
            <a:avLst/>
          </a:prstGeom>
          <a:noFill/>
        </p:spPr>
        <p:txBody>
          <a:bodyPr wrap="square" anchor="t">
            <a:spAutoFit/>
          </a:bodyPr>
          <a:lstStyle/>
          <a:p>
            <a:pPr algn="l">
              <a:spcAft>
                <a:spcPts val="400"/>
              </a:spcAft>
            </a:pPr>
            <a:r>
              <a:rPr sz="1050" b="0">
                <a:solidFill>
                  <a:srgbClr val="5B6372"/>
                </a:solidFill>
                <a:latin typeface="Arial"/>
              </a:rPr>
              <a:t>Tools:  Amazon CloudWatch, CloudWatch agent, Amazon EC2, AWS Systems Manager (SSM Parameter Store), IAM</a:t>
            </a:r>
          </a:p>
        </p:txBody>
      </p:sp>
      <p:sp>
        <p:nvSpPr>
          <p:cNvPr id="16" name="Rectangle 15"/>
          <p:cNvSpPr/>
          <p:nvPr/>
        </p:nvSpPr>
        <p:spPr>
          <a:xfrm>
            <a:off x="777240" y="5395722"/>
            <a:ext cx="5486400" cy="931926"/>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395722"/>
            <a:ext cx="91440" cy="93192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5523738"/>
            <a:ext cx="5120640" cy="274320"/>
          </a:xfrm>
          <a:prstGeom prst="rect">
            <a:avLst/>
          </a:prstGeom>
          <a:noFill/>
        </p:spPr>
        <p:txBody>
          <a:bodyPr wrap="square" anchor="t">
            <a:spAutoFit/>
          </a:bodyPr>
          <a:lstStyle/>
          <a:p>
            <a:pPr algn="l">
              <a:spcAft>
                <a:spcPts val="400"/>
              </a:spcAft>
            </a:pPr>
            <a:r>
              <a:rPr sz="1200" b="1">
                <a:solidFill>
                  <a:srgbClr val="10B981"/>
                </a:solidFill>
                <a:latin typeface="Arial"/>
              </a:rPr>
              <a:t>OUTCOME &amp; EVIDENCE</a:t>
            </a:r>
          </a:p>
        </p:txBody>
      </p:sp>
      <p:sp>
        <p:nvSpPr>
          <p:cNvPr id="19" name="TextBox 18"/>
          <p:cNvSpPr txBox="1"/>
          <p:nvPr/>
        </p:nvSpPr>
        <p:spPr>
          <a:xfrm>
            <a:off x="960120" y="5798058"/>
            <a:ext cx="5166360" cy="346710"/>
          </a:xfrm>
          <a:prstGeom prst="rect">
            <a:avLst/>
          </a:prstGeom>
          <a:noFill/>
        </p:spPr>
        <p:txBody>
          <a:bodyPr wrap="square" anchor="t">
            <a:spAutoFit/>
          </a:bodyPr>
          <a:lstStyle/>
          <a:p>
            <a:pPr algn="l">
              <a:spcAft>
                <a:spcPts val="300"/>
              </a:spcAft>
            </a:pPr>
            <a:r>
              <a:rPr sz="1050" b="0">
                <a:solidFill>
                  <a:srgbClr val="5B6372"/>
                </a:solidFill>
                <a:latin typeface="Arial"/>
              </a:rPr>
              <a:t>Outcome:  Instrument an EC2 workload with memory/disk.</a:t>
            </a:r>
          </a:p>
          <a:p>
            <a:pPr algn="l">
              <a:spcAft>
                <a:spcPts val="300"/>
              </a:spcAft>
            </a:pPr>
            <a:r>
              <a:rPr sz="1050" b="0">
                <a:solidFill>
                  <a:srgbClr val="5B6372"/>
                </a:solidFill>
                <a:latin typeface="Arial"/>
              </a:rPr>
              <a:t>Evidence:  Output of showing the agent running.</a:t>
            </a:r>
          </a:p>
        </p:txBody>
      </p:sp>
      <p:sp>
        <p:nvSpPr>
          <p:cNvPr id="20" name="Rectangle 19"/>
          <p:cNvSpPr/>
          <p:nvPr/>
        </p:nvSpPr>
        <p:spPr>
          <a:xfrm>
            <a:off x="6446520" y="1783080"/>
            <a:ext cx="5029200" cy="290140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ab-16-cloudwatch-metrics-dashboard.jpg"/>
          <p:cNvPicPr>
            <a:picLocks noChangeAspect="1"/>
          </p:cNvPicPr>
          <p:nvPr/>
        </p:nvPicPr>
        <p:blipFill>
          <a:blip r:embed="rId2"/>
          <a:stretch>
            <a:fillRect/>
          </a:stretch>
        </p:blipFill>
        <p:spPr>
          <a:xfrm>
            <a:off x="6492240" y="1828800"/>
            <a:ext cx="4937760" cy="2809963"/>
          </a:xfrm>
          <a:prstGeom prst="rect">
            <a:avLst/>
          </a:prstGeom>
        </p:spPr>
      </p:pic>
      <p:sp>
        <p:nvSpPr>
          <p:cNvPr id="22" name="TextBox 21"/>
          <p:cNvSpPr txBox="1"/>
          <p:nvPr/>
        </p:nvSpPr>
        <p:spPr>
          <a:xfrm>
            <a:off x="6492240" y="4730203"/>
            <a:ext cx="4937760" cy="365760"/>
          </a:xfrm>
          <a:prstGeom prst="rect">
            <a:avLst/>
          </a:prstGeom>
          <a:noFill/>
        </p:spPr>
        <p:txBody>
          <a:bodyPr wrap="square" anchor="t">
            <a:spAutoFit/>
          </a:bodyPr>
          <a:lstStyle/>
          <a:p>
            <a:pPr algn="ctr">
              <a:spcAft>
                <a:spcPts val="400"/>
              </a:spcAft>
            </a:pPr>
            <a:r>
              <a:rPr sz="1100" b="1">
                <a:solidFill>
                  <a:srgbClr val="5B6372"/>
                </a:solidFill>
                <a:latin typeface="Arial"/>
              </a:rPr>
              <a:t>Reference architecture</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440</a:t>
            </a:r>
          </a:p>
        </p:txBody>
      </p:sp>
    </p:spTree>
  </p:cSld>
  <p:clrMapOvr>
    <a:masterClrMapping/>
  </p:clrMapOvr>
  <p:transition xmlns:p14="http://schemas.microsoft.com/office/powerpoint/2010/main" p14:dur="380">
    <p:fade/>
  </p:transition>
</p:sld>
</file>

<file path=ppt/slides/slide4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LAB 17 · DAY 4 · LO4 · HANDS-ON</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100" b="1">
                <a:solidFill>
                  <a:srgbClr val="161B26"/>
                </a:solidFill>
                <a:latin typeface="Arial"/>
              </a:rPr>
              <a:t>Centralise Logs in CloudWatch Logs and Analyse Them with Logs Insights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37360"/>
            <a:ext cx="1417320" cy="4572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83080"/>
            <a:ext cx="1417320" cy="365760"/>
          </a:xfrm>
          <a:prstGeom prst="rect">
            <a:avLst/>
          </a:prstGeom>
          <a:noFill/>
        </p:spPr>
        <p:txBody>
          <a:bodyPr wrap="square" anchor="t">
            <a:spAutoFit/>
          </a:bodyPr>
          <a:lstStyle/>
          <a:p>
            <a:pPr algn="ctr">
              <a:spcAft>
                <a:spcPts val="400"/>
              </a:spcAft>
            </a:pPr>
            <a:r>
              <a:rPr sz="1600" b="1">
                <a:solidFill>
                  <a:srgbClr val="FFFFFF"/>
                </a:solidFill>
                <a:latin typeface="Arial"/>
              </a:rPr>
              <a:t>LAB 17</a:t>
            </a:r>
          </a:p>
        </p:txBody>
      </p:sp>
      <p:sp>
        <p:nvSpPr>
          <p:cNvPr id="9" name="TextBox 8"/>
          <p:cNvSpPr txBox="1"/>
          <p:nvPr/>
        </p:nvSpPr>
        <p:spPr>
          <a:xfrm>
            <a:off x="2514600" y="1783080"/>
            <a:ext cx="3749039" cy="365760"/>
          </a:xfrm>
          <a:prstGeom prst="rect">
            <a:avLst/>
          </a:prstGeom>
          <a:noFill/>
        </p:spPr>
        <p:txBody>
          <a:bodyPr wrap="square" anchor="t">
            <a:spAutoFit/>
          </a:bodyPr>
          <a:lstStyle/>
          <a:p>
            <a:pPr algn="l">
              <a:spcAft>
                <a:spcPts val="400"/>
              </a:spcAft>
            </a:pPr>
            <a:r>
              <a:rPr sz="1150" b="1">
                <a:solidFill>
                  <a:srgbClr val="5B6372"/>
                </a:solidFill>
                <a:latin typeface="Arial"/>
              </a:rPr>
              <a:t>Day 4 · LO4 · K5, A6</a:t>
            </a:r>
          </a:p>
        </p:txBody>
      </p:sp>
      <p:sp>
        <p:nvSpPr>
          <p:cNvPr id="10" name="TextBox 9"/>
          <p:cNvSpPr txBox="1"/>
          <p:nvPr/>
        </p:nvSpPr>
        <p:spPr>
          <a:xfrm>
            <a:off x="777240" y="2286000"/>
            <a:ext cx="5486400" cy="1190625"/>
          </a:xfrm>
          <a:prstGeom prst="rect">
            <a:avLst/>
          </a:prstGeom>
          <a:noFill/>
        </p:spPr>
        <p:txBody>
          <a:bodyPr wrap="square" anchor="t">
            <a:spAutoFit/>
          </a:bodyPr>
          <a:lstStyle/>
          <a:p>
            <a:pPr algn="l">
              <a:spcAft>
                <a:spcPts val="400"/>
              </a:spcAft>
            </a:pPr>
            <a:r>
              <a:rPr sz="1350" b="0">
                <a:solidFill>
                  <a:srgbClr val="161B26"/>
                </a:solidFill>
                <a:latin typeface="Arial"/>
              </a:rPr>
              <a:t>When an incident hits, grepping across scattered instances wastes precious minutes.</a:t>
            </a:r>
          </a:p>
        </p:txBody>
      </p:sp>
      <p:sp>
        <p:nvSpPr>
          <p:cNvPr id="11" name="Rectangle 10"/>
          <p:cNvSpPr/>
          <p:nvPr/>
        </p:nvSpPr>
        <p:spPr>
          <a:xfrm>
            <a:off x="777240" y="3586353"/>
            <a:ext cx="5486400" cy="152628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586353"/>
            <a:ext cx="91440" cy="152628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3714369"/>
            <a:ext cx="5120640" cy="274320"/>
          </a:xfrm>
          <a:prstGeom prst="rect">
            <a:avLst/>
          </a:prstGeom>
          <a:noFill/>
        </p:spPr>
        <p:txBody>
          <a:bodyPr wrap="square" anchor="t">
            <a:spAutoFit/>
          </a:bodyPr>
          <a:lstStyle/>
          <a:p>
            <a:pPr algn="l">
              <a:spcAft>
                <a:spcPts val="400"/>
              </a:spcAft>
            </a:pPr>
            <a:r>
              <a:rPr sz="1200" b="1">
                <a:solidFill>
                  <a:srgbClr val="F59E0B"/>
                </a:solidFill>
                <a:latin typeface="Arial"/>
              </a:rPr>
              <a:t>YOU'LL BUILD</a:t>
            </a:r>
          </a:p>
        </p:txBody>
      </p:sp>
      <p:sp>
        <p:nvSpPr>
          <p:cNvPr id="14" name="TextBox 13"/>
          <p:cNvSpPr txBox="1"/>
          <p:nvPr/>
        </p:nvSpPr>
        <p:spPr>
          <a:xfrm>
            <a:off x="960120" y="3988689"/>
            <a:ext cx="5166360" cy="594360"/>
          </a:xfrm>
          <a:prstGeom prst="rect">
            <a:avLst/>
          </a:prstGeom>
          <a:noFill/>
        </p:spPr>
        <p:txBody>
          <a:bodyPr wrap="square" anchor="t">
            <a:spAutoFit/>
          </a:bodyPr>
          <a:lstStyle/>
          <a:p>
            <a:pPr algn="l">
              <a:spcAft>
                <a:spcPts val="400"/>
              </a:spcAft>
            </a:pPr>
            <a:r>
              <a:rPr sz="1200" b="1">
                <a:solidFill>
                  <a:srgbClr val="161B26"/>
                </a:solidFill>
                <a:latin typeface="Arial"/>
              </a:rPr>
              <a:t>Centralised app and system log groups (with retention) fed by the CloudWatch agent, plus a set of saved Logs Insights queries that surface the slowest and most error-prone requests.</a:t>
            </a:r>
          </a:p>
        </p:txBody>
      </p:sp>
      <p:sp>
        <p:nvSpPr>
          <p:cNvPr id="15" name="TextBox 14"/>
          <p:cNvSpPr txBox="1"/>
          <p:nvPr/>
        </p:nvSpPr>
        <p:spPr>
          <a:xfrm>
            <a:off x="960120" y="4637913"/>
            <a:ext cx="5166360" cy="346710"/>
          </a:xfrm>
          <a:prstGeom prst="rect">
            <a:avLst/>
          </a:prstGeom>
          <a:noFill/>
        </p:spPr>
        <p:txBody>
          <a:bodyPr wrap="square" anchor="t">
            <a:spAutoFit/>
          </a:bodyPr>
          <a:lstStyle/>
          <a:p>
            <a:pPr algn="l">
              <a:spcAft>
                <a:spcPts val="400"/>
              </a:spcAft>
            </a:pPr>
            <a:r>
              <a:rPr sz="1050" b="0">
                <a:solidFill>
                  <a:srgbClr val="5B6372"/>
                </a:solidFill>
                <a:latin typeface="Arial"/>
              </a:rPr>
              <a:t>Tools:  Amazon CloudWatch Logs, CloudWatch Logs Insights, CloudWatch agent, Amazon EC2, IAM</a:t>
            </a:r>
          </a:p>
        </p:txBody>
      </p:sp>
      <p:sp>
        <p:nvSpPr>
          <p:cNvPr id="16" name="Rectangle 15"/>
          <p:cNvSpPr/>
          <p:nvPr/>
        </p:nvSpPr>
        <p:spPr>
          <a:xfrm>
            <a:off x="777240" y="5222367"/>
            <a:ext cx="5486400" cy="110528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222367"/>
            <a:ext cx="91440" cy="11052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5350383"/>
            <a:ext cx="5120640" cy="274320"/>
          </a:xfrm>
          <a:prstGeom prst="rect">
            <a:avLst/>
          </a:prstGeom>
          <a:noFill/>
        </p:spPr>
        <p:txBody>
          <a:bodyPr wrap="square" anchor="t">
            <a:spAutoFit/>
          </a:bodyPr>
          <a:lstStyle/>
          <a:p>
            <a:pPr algn="l">
              <a:spcAft>
                <a:spcPts val="400"/>
              </a:spcAft>
            </a:pPr>
            <a:r>
              <a:rPr sz="1200" b="1">
                <a:solidFill>
                  <a:srgbClr val="10B981"/>
                </a:solidFill>
                <a:latin typeface="Arial"/>
              </a:rPr>
              <a:t>OUTCOME &amp; EVIDENCE</a:t>
            </a:r>
          </a:p>
        </p:txBody>
      </p:sp>
      <p:sp>
        <p:nvSpPr>
          <p:cNvPr id="19" name="TextBox 18"/>
          <p:cNvSpPr txBox="1"/>
          <p:nvPr/>
        </p:nvSpPr>
        <p:spPr>
          <a:xfrm>
            <a:off x="960120" y="5624703"/>
            <a:ext cx="5166360" cy="520065"/>
          </a:xfrm>
          <a:prstGeom prst="rect">
            <a:avLst/>
          </a:prstGeom>
          <a:noFill/>
        </p:spPr>
        <p:txBody>
          <a:bodyPr wrap="square" anchor="t">
            <a:spAutoFit/>
          </a:bodyPr>
          <a:lstStyle/>
          <a:p>
            <a:pPr algn="l">
              <a:spcAft>
                <a:spcPts val="300"/>
              </a:spcAft>
            </a:pPr>
            <a:r>
              <a:rPr sz="1050" b="0">
                <a:solidFill>
                  <a:srgbClr val="5B6372"/>
                </a:solidFill>
                <a:latin typeface="Arial"/>
              </a:rPr>
              <a:t>Outcome:  Ship application and system logs into CloudWatch Logs.</a:t>
            </a:r>
          </a:p>
          <a:p>
            <a:pPr algn="l">
              <a:spcAft>
                <a:spcPts val="300"/>
              </a:spcAft>
            </a:pPr>
            <a:r>
              <a:rPr sz="1050" b="0">
                <a:solidFill>
                  <a:srgbClr val="5B6372"/>
                </a:solidFill>
                <a:latin typeface="Arial"/>
              </a:rPr>
              <a:t>Evidence:  output showing /devops/app and /devops/system with retentionInDays 14.</a:t>
            </a:r>
          </a:p>
        </p:txBody>
      </p:sp>
      <p:sp>
        <p:nvSpPr>
          <p:cNvPr id="20" name="Rectangle 19"/>
          <p:cNvSpPr/>
          <p:nvPr/>
        </p:nvSpPr>
        <p:spPr>
          <a:xfrm>
            <a:off x="6446520" y="1783080"/>
            <a:ext cx="5029200" cy="290140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ab-17-centralized-logs-insights.jpg"/>
          <p:cNvPicPr>
            <a:picLocks noChangeAspect="1"/>
          </p:cNvPicPr>
          <p:nvPr/>
        </p:nvPicPr>
        <p:blipFill>
          <a:blip r:embed="rId2"/>
          <a:stretch>
            <a:fillRect/>
          </a:stretch>
        </p:blipFill>
        <p:spPr>
          <a:xfrm>
            <a:off x="6492240" y="1828800"/>
            <a:ext cx="4937760" cy="2809963"/>
          </a:xfrm>
          <a:prstGeom prst="rect">
            <a:avLst/>
          </a:prstGeom>
        </p:spPr>
      </p:pic>
      <p:sp>
        <p:nvSpPr>
          <p:cNvPr id="22" name="TextBox 21"/>
          <p:cNvSpPr txBox="1"/>
          <p:nvPr/>
        </p:nvSpPr>
        <p:spPr>
          <a:xfrm>
            <a:off x="6492240" y="4730203"/>
            <a:ext cx="4937760" cy="365760"/>
          </a:xfrm>
          <a:prstGeom prst="rect">
            <a:avLst/>
          </a:prstGeom>
          <a:noFill/>
        </p:spPr>
        <p:txBody>
          <a:bodyPr wrap="square" anchor="t">
            <a:spAutoFit/>
          </a:bodyPr>
          <a:lstStyle/>
          <a:p>
            <a:pPr algn="ctr">
              <a:spcAft>
                <a:spcPts val="400"/>
              </a:spcAft>
            </a:pPr>
            <a:r>
              <a:rPr sz="1100" b="1">
                <a:solidFill>
                  <a:srgbClr val="5B6372"/>
                </a:solidFill>
                <a:latin typeface="Arial"/>
              </a:rPr>
              <a:t>Reference architecture</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441</a:t>
            </a:r>
          </a:p>
        </p:txBody>
      </p:sp>
    </p:spTree>
  </p:cSld>
  <p:clrMapOvr>
    <a:masterClrMapping/>
  </p:clrMapOvr>
  <p:transition xmlns:p14="http://schemas.microsoft.com/office/powerpoint/2010/main" p14:dur="380">
    <p:fade/>
  </p:transition>
</p:sld>
</file>

<file path=ppt/slides/slide4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LAB 18 · DAY 4 · LO4 · HANDS-ON</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1900" b="1">
                <a:solidFill>
                  <a:srgbClr val="161B26"/>
                </a:solidFill>
                <a:latin typeface="Arial"/>
              </a:rPr>
              <a:t>Turn Logs into Signals: Metric Filters, CloudWatch Alarms and SNS Notifications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37360"/>
            <a:ext cx="1417320" cy="4572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83080"/>
            <a:ext cx="1417320" cy="365760"/>
          </a:xfrm>
          <a:prstGeom prst="rect">
            <a:avLst/>
          </a:prstGeom>
          <a:noFill/>
        </p:spPr>
        <p:txBody>
          <a:bodyPr wrap="square" anchor="t">
            <a:spAutoFit/>
          </a:bodyPr>
          <a:lstStyle/>
          <a:p>
            <a:pPr algn="ctr">
              <a:spcAft>
                <a:spcPts val="400"/>
              </a:spcAft>
            </a:pPr>
            <a:r>
              <a:rPr sz="1600" b="1">
                <a:solidFill>
                  <a:srgbClr val="FFFFFF"/>
                </a:solidFill>
                <a:latin typeface="Arial"/>
              </a:rPr>
              <a:t>LAB 18</a:t>
            </a:r>
          </a:p>
        </p:txBody>
      </p:sp>
      <p:sp>
        <p:nvSpPr>
          <p:cNvPr id="9" name="TextBox 8"/>
          <p:cNvSpPr txBox="1"/>
          <p:nvPr/>
        </p:nvSpPr>
        <p:spPr>
          <a:xfrm>
            <a:off x="2514600" y="1783080"/>
            <a:ext cx="3749039" cy="365760"/>
          </a:xfrm>
          <a:prstGeom prst="rect">
            <a:avLst/>
          </a:prstGeom>
          <a:noFill/>
        </p:spPr>
        <p:txBody>
          <a:bodyPr wrap="square" anchor="t">
            <a:spAutoFit/>
          </a:bodyPr>
          <a:lstStyle/>
          <a:p>
            <a:pPr algn="l">
              <a:spcAft>
                <a:spcPts val="400"/>
              </a:spcAft>
            </a:pPr>
            <a:r>
              <a:rPr sz="1150" b="1">
                <a:solidFill>
                  <a:srgbClr val="5B6372"/>
                </a:solidFill>
                <a:latin typeface="Arial"/>
              </a:rPr>
              <a:t>Day 4 · LO4 · K5, A6</a:t>
            </a:r>
          </a:p>
        </p:txBody>
      </p:sp>
      <p:sp>
        <p:nvSpPr>
          <p:cNvPr id="10" name="TextBox 9"/>
          <p:cNvSpPr txBox="1"/>
          <p:nvPr/>
        </p:nvSpPr>
        <p:spPr>
          <a:xfrm>
            <a:off x="777240" y="2286000"/>
            <a:ext cx="5486400" cy="1165860"/>
          </a:xfrm>
          <a:prstGeom prst="rect">
            <a:avLst/>
          </a:prstGeom>
          <a:noFill/>
        </p:spPr>
        <p:txBody>
          <a:bodyPr wrap="square" anchor="t">
            <a:spAutoFit/>
          </a:bodyPr>
          <a:lstStyle/>
          <a:p>
            <a:pPr algn="l">
              <a:spcAft>
                <a:spcPts val="400"/>
              </a:spcAft>
            </a:pPr>
            <a:r>
              <a:rPr sz="1350" b="0">
                <a:solidFill>
                  <a:srgbClr val="161B26"/>
                </a:solidFill>
                <a:latin typeface="Arial"/>
              </a:rPr>
              <a:t>Logs are only useful if they page someone when things go wrong.</a:t>
            </a:r>
          </a:p>
        </p:txBody>
      </p:sp>
      <p:sp>
        <p:nvSpPr>
          <p:cNvPr id="11" name="Rectangle 10"/>
          <p:cNvSpPr/>
          <p:nvPr/>
        </p:nvSpPr>
        <p:spPr>
          <a:xfrm>
            <a:off x="777240" y="3561588"/>
            <a:ext cx="5486400" cy="155105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561588"/>
            <a:ext cx="91440" cy="155105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3689604"/>
            <a:ext cx="5120640" cy="274320"/>
          </a:xfrm>
          <a:prstGeom prst="rect">
            <a:avLst/>
          </a:prstGeom>
          <a:noFill/>
        </p:spPr>
        <p:txBody>
          <a:bodyPr wrap="square" anchor="t">
            <a:spAutoFit/>
          </a:bodyPr>
          <a:lstStyle/>
          <a:p>
            <a:pPr algn="l">
              <a:spcAft>
                <a:spcPts val="400"/>
              </a:spcAft>
            </a:pPr>
            <a:r>
              <a:rPr sz="1200" b="1">
                <a:solidFill>
                  <a:srgbClr val="F59E0B"/>
                </a:solidFill>
                <a:latin typeface="Arial"/>
              </a:rPr>
              <a:t>YOU'LL BUILD</a:t>
            </a:r>
          </a:p>
        </p:txBody>
      </p:sp>
      <p:sp>
        <p:nvSpPr>
          <p:cNvPr id="14" name="TextBox 13"/>
          <p:cNvSpPr txBox="1"/>
          <p:nvPr/>
        </p:nvSpPr>
        <p:spPr>
          <a:xfrm>
            <a:off x="960120" y="3963924"/>
            <a:ext cx="5166360" cy="619125"/>
          </a:xfrm>
          <a:prstGeom prst="rect">
            <a:avLst/>
          </a:prstGeom>
          <a:noFill/>
        </p:spPr>
        <p:txBody>
          <a:bodyPr wrap="square" anchor="t">
            <a:spAutoFit/>
          </a:bodyPr>
          <a:lstStyle/>
          <a:p>
            <a:pPr algn="l">
              <a:spcAft>
                <a:spcPts val="400"/>
              </a:spcAft>
            </a:pPr>
            <a:r>
              <a:rPr sz="1250" b="1">
                <a:solidFill>
                  <a:srgbClr val="161B26"/>
                </a:solidFill>
                <a:latin typeface="Arial"/>
              </a:rPr>
              <a:t>A metric filter converting ERROR log lines into a CloudWatch metric, two alarms (errors and high CPU) wired to an SNS topic.</a:t>
            </a:r>
          </a:p>
        </p:txBody>
      </p:sp>
      <p:sp>
        <p:nvSpPr>
          <p:cNvPr id="15" name="TextBox 14"/>
          <p:cNvSpPr txBox="1"/>
          <p:nvPr/>
        </p:nvSpPr>
        <p:spPr>
          <a:xfrm>
            <a:off x="960120" y="4637913"/>
            <a:ext cx="5166360" cy="346710"/>
          </a:xfrm>
          <a:prstGeom prst="rect">
            <a:avLst/>
          </a:prstGeom>
          <a:noFill/>
        </p:spPr>
        <p:txBody>
          <a:bodyPr wrap="square" anchor="t">
            <a:spAutoFit/>
          </a:bodyPr>
          <a:lstStyle/>
          <a:p>
            <a:pPr algn="l">
              <a:spcAft>
                <a:spcPts val="400"/>
              </a:spcAft>
            </a:pPr>
            <a:r>
              <a:rPr sz="1050" b="0">
                <a:solidFill>
                  <a:srgbClr val="5B6372"/>
                </a:solidFill>
                <a:latin typeface="Arial"/>
              </a:rPr>
              <a:t>Tools:  Amazon CloudWatch (metric filters + alarms), Amazon CloudWatch Logs, Amazon SNS, AWS CloudFormation, IAM</a:t>
            </a:r>
          </a:p>
        </p:txBody>
      </p:sp>
      <p:sp>
        <p:nvSpPr>
          <p:cNvPr id="16" name="Rectangle 15"/>
          <p:cNvSpPr/>
          <p:nvPr/>
        </p:nvSpPr>
        <p:spPr>
          <a:xfrm>
            <a:off x="777240" y="5222367"/>
            <a:ext cx="5486400" cy="110528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222367"/>
            <a:ext cx="91440" cy="11052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5350383"/>
            <a:ext cx="5120640" cy="274320"/>
          </a:xfrm>
          <a:prstGeom prst="rect">
            <a:avLst/>
          </a:prstGeom>
          <a:noFill/>
        </p:spPr>
        <p:txBody>
          <a:bodyPr wrap="square" anchor="t">
            <a:spAutoFit/>
          </a:bodyPr>
          <a:lstStyle/>
          <a:p>
            <a:pPr algn="l">
              <a:spcAft>
                <a:spcPts val="400"/>
              </a:spcAft>
            </a:pPr>
            <a:r>
              <a:rPr sz="1200" b="1">
                <a:solidFill>
                  <a:srgbClr val="10B981"/>
                </a:solidFill>
                <a:latin typeface="Arial"/>
              </a:rPr>
              <a:t>OUTCOME &amp; EVIDENCE</a:t>
            </a:r>
          </a:p>
        </p:txBody>
      </p:sp>
      <p:sp>
        <p:nvSpPr>
          <p:cNvPr id="19" name="TextBox 18"/>
          <p:cNvSpPr txBox="1"/>
          <p:nvPr/>
        </p:nvSpPr>
        <p:spPr>
          <a:xfrm>
            <a:off x="960120" y="5624703"/>
            <a:ext cx="5166360" cy="520065"/>
          </a:xfrm>
          <a:prstGeom prst="rect">
            <a:avLst/>
          </a:prstGeom>
          <a:noFill/>
        </p:spPr>
        <p:txBody>
          <a:bodyPr wrap="square" anchor="t">
            <a:spAutoFit/>
          </a:bodyPr>
          <a:lstStyle/>
          <a:p>
            <a:pPr algn="l">
              <a:spcAft>
                <a:spcPts val="300"/>
              </a:spcAft>
            </a:pPr>
            <a:r>
              <a:rPr sz="1050" b="0">
                <a:solidFill>
                  <a:srgbClr val="5B6372"/>
                </a:solidFill>
                <a:latin typeface="Arial"/>
              </a:rPr>
              <a:t>Outcome:  Create a metric filter that counts ERROR log lines, alarm on that metric and on high CPU.</a:t>
            </a:r>
          </a:p>
          <a:p>
            <a:pPr algn="l">
              <a:spcAft>
                <a:spcPts val="300"/>
              </a:spcAft>
            </a:pPr>
            <a:r>
              <a:rPr sz="1050" b="0">
                <a:solidFill>
                  <a:srgbClr val="5B6372"/>
                </a:solidFill>
                <a:latin typeface="Arial"/>
              </a:rPr>
              <a:t>Evidence:  output showing app-error-count attached to /devops/app.</a:t>
            </a:r>
          </a:p>
        </p:txBody>
      </p:sp>
      <p:sp>
        <p:nvSpPr>
          <p:cNvPr id="20" name="Rectangle 19"/>
          <p:cNvSpPr/>
          <p:nvPr/>
        </p:nvSpPr>
        <p:spPr>
          <a:xfrm>
            <a:off x="6446520" y="1783080"/>
            <a:ext cx="5029200" cy="290140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ab-18-metric-filters-alarms-sns.jpg"/>
          <p:cNvPicPr>
            <a:picLocks noChangeAspect="1"/>
          </p:cNvPicPr>
          <p:nvPr/>
        </p:nvPicPr>
        <p:blipFill>
          <a:blip r:embed="rId2"/>
          <a:stretch>
            <a:fillRect/>
          </a:stretch>
        </p:blipFill>
        <p:spPr>
          <a:xfrm>
            <a:off x="6492240" y="1828800"/>
            <a:ext cx="4937760" cy="2809963"/>
          </a:xfrm>
          <a:prstGeom prst="rect">
            <a:avLst/>
          </a:prstGeom>
        </p:spPr>
      </p:pic>
      <p:sp>
        <p:nvSpPr>
          <p:cNvPr id="22" name="TextBox 21"/>
          <p:cNvSpPr txBox="1"/>
          <p:nvPr/>
        </p:nvSpPr>
        <p:spPr>
          <a:xfrm>
            <a:off x="6492240" y="4730203"/>
            <a:ext cx="4937760" cy="365760"/>
          </a:xfrm>
          <a:prstGeom prst="rect">
            <a:avLst/>
          </a:prstGeom>
          <a:noFill/>
        </p:spPr>
        <p:txBody>
          <a:bodyPr wrap="square" anchor="t">
            <a:spAutoFit/>
          </a:bodyPr>
          <a:lstStyle/>
          <a:p>
            <a:pPr algn="ctr">
              <a:spcAft>
                <a:spcPts val="400"/>
              </a:spcAft>
            </a:pPr>
            <a:r>
              <a:rPr sz="1100" b="1">
                <a:solidFill>
                  <a:srgbClr val="5B6372"/>
                </a:solidFill>
                <a:latin typeface="Arial"/>
              </a:rPr>
              <a:t>Reference architecture</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442</a:t>
            </a:r>
          </a:p>
        </p:txBody>
      </p:sp>
    </p:spTree>
  </p:cSld>
  <p:clrMapOvr>
    <a:masterClrMapping/>
  </p:clrMapOvr>
  <p:transition xmlns:p14="http://schemas.microsoft.com/office/powerpoint/2010/main" p14:dur="380">
    <p:fade/>
  </p:transition>
</p:sld>
</file>

<file path=ppt/slides/slide4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DOMAIN RECAP</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Recap — Monitoring and Logging</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350" b="1">
                <a:solidFill>
                  <a:srgbClr val="161B26"/>
                </a:solidFill>
                <a:latin typeface="Arial"/>
              </a:rPr>
              <a:t>Lab 16</a:t>
            </a:r>
          </a:p>
          <a:p>
            <a:pPr algn="l">
              <a:spcAft>
                <a:spcPts val="300"/>
              </a:spcAft>
            </a:pPr>
            <a:r>
              <a:rPr sz="950" b="0">
                <a:solidFill>
                  <a:srgbClr val="5B6372"/>
                </a:solidFill>
                <a:latin typeface="Arial"/>
              </a:rPr>
              <a:t>Instrument an EC2 workload with memory/disk.</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350" b="1">
                <a:solidFill>
                  <a:srgbClr val="161B26"/>
                </a:solidFill>
                <a:latin typeface="Arial"/>
              </a:rPr>
              <a:t>Lab 17</a:t>
            </a:r>
          </a:p>
          <a:p>
            <a:pPr algn="l">
              <a:spcAft>
                <a:spcPts val="300"/>
              </a:spcAft>
            </a:pPr>
            <a:r>
              <a:rPr sz="950" b="0">
                <a:solidFill>
                  <a:srgbClr val="5B6372"/>
                </a:solidFill>
                <a:latin typeface="Arial"/>
              </a:rPr>
              <a:t>Ship application and system logs into CloudWatch Logs.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350" b="1">
                <a:solidFill>
                  <a:srgbClr val="161B26"/>
                </a:solidFill>
                <a:latin typeface="Arial"/>
              </a:rPr>
              <a:t>Lab 18</a:t>
            </a:r>
          </a:p>
          <a:p>
            <a:pPr algn="l">
              <a:spcAft>
                <a:spcPts val="300"/>
              </a:spcAft>
            </a:pPr>
            <a:r>
              <a:rPr sz="950" b="0">
                <a:solidFill>
                  <a:srgbClr val="5B6372"/>
                </a:solidFill>
                <a:latin typeface="Arial"/>
              </a:rPr>
              <a:t>Create a metric filter that counts ERROR log lines, alarm on that metric and on high CPU.</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350" b="1">
                <a:solidFill>
                  <a:srgbClr val="161B26"/>
                </a:solidFill>
                <a:latin typeface="Arial"/>
              </a:rPr>
              <a:t>Key principle</a:t>
            </a:r>
          </a:p>
          <a:p>
            <a:pPr algn="l">
              <a:spcAft>
                <a:spcPts val="300"/>
              </a:spcAft>
            </a:pPr>
            <a:r>
              <a:rPr sz="950" b="0">
                <a:solidFill>
                  <a:srgbClr val="5B6372"/>
                </a:solidFill>
                <a:latin typeface="Arial"/>
              </a:rPr>
              <a:t>Namespaces, dimensions and custom metrics measure system and application health over time.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443</a:t>
            </a:r>
          </a:p>
        </p:txBody>
      </p:sp>
    </p:spTree>
  </p:cSld>
  <p:clrMapOvr>
    <a:masterClrMapping/>
  </p:clrMapOvr>
  <p:transition xmlns:p14="http://schemas.microsoft.com/office/powerpoint/2010/main" p14:dur="380">
    <p:fade/>
  </p:transition>
</p:sld>
</file>

<file path=ppt/slides/slide4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DOMAIN 05</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Incident and Event Response</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Exam weighting 14%  ·  Event sources · automated response · configuration change · troubleshooting</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05</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444</a:t>
            </a:r>
          </a:p>
        </p:txBody>
      </p:sp>
    </p:spTree>
  </p:cSld>
  <p:clrMapOvr>
    <a:masterClrMapping/>
  </p:clrMapOvr>
  <p:transition xmlns:p14="http://schemas.microsoft.com/office/powerpoint/2010/main" p14:dur="380">
    <p:fade/>
  </p:transition>
</p:sld>
</file>

<file path=ppt/slides/slide4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DOMAIN 05 · WEIGHTING 14%</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Key Concepts — Incident and Event Response</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10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6408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6408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Event-driven operations</a:t>
            </a:r>
          </a:p>
          <a:p>
            <a:pPr algn="l">
              <a:spcAft>
                <a:spcPts val="300"/>
              </a:spcAft>
            </a:pPr>
            <a:r>
              <a:rPr sz="1150" b="0">
                <a:solidFill>
                  <a:srgbClr val="5B6372"/>
                </a:solidFill>
                <a:latin typeface="Arial"/>
              </a:rPr>
              <a:t>EventBridge routes events from AWS services and applications to targets that act automatically.</a:t>
            </a:r>
          </a:p>
        </p:txBody>
      </p:sp>
      <p:sp>
        <p:nvSpPr>
          <p:cNvPr id="12" name="Rectangle 11"/>
          <p:cNvSpPr/>
          <p:nvPr/>
        </p:nvSpPr>
        <p:spPr>
          <a:xfrm>
            <a:off x="6231636" y="1783080"/>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3106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6408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6408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Notify &amp; act</a:t>
            </a:r>
          </a:p>
          <a:p>
            <a:pPr algn="l">
              <a:spcAft>
                <a:spcPts val="300"/>
              </a:spcAft>
            </a:pPr>
            <a:r>
              <a:rPr sz="1150" b="0">
                <a:solidFill>
                  <a:srgbClr val="5B6372"/>
                </a:solidFill>
                <a:latin typeface="Arial"/>
              </a:rPr>
              <a:t>SNS notifies people; Lambda, Systems Manager Automation and Step Functions take the remediating action.</a:t>
            </a:r>
          </a:p>
        </p:txBody>
      </p:sp>
      <p:sp>
        <p:nvSpPr>
          <p:cNvPr id="17" name="Rectangle 16"/>
          <p:cNvSpPr/>
          <p:nvPr/>
        </p:nvSpPr>
        <p:spPr>
          <a:xfrm>
            <a:off x="777240" y="3313176"/>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3176"/>
            <a:ext cx="91440" cy="13106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422904"/>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Auto-remediation</a:t>
            </a:r>
          </a:p>
          <a:p>
            <a:pPr algn="l">
              <a:spcAft>
                <a:spcPts val="300"/>
              </a:spcAft>
            </a:pPr>
            <a:r>
              <a:rPr sz="1150" b="0">
                <a:solidFill>
                  <a:srgbClr val="5B6372"/>
                </a:solidFill>
                <a:latin typeface="Arial"/>
              </a:rPr>
              <a:t>AWS Config rules and EventBridge patterns detect drift and fix it — tag, isolate, restart or roll back.</a:t>
            </a:r>
          </a:p>
        </p:txBody>
      </p:sp>
      <p:sp>
        <p:nvSpPr>
          <p:cNvPr id="22" name="Rectangle 21"/>
          <p:cNvSpPr/>
          <p:nvPr/>
        </p:nvSpPr>
        <p:spPr>
          <a:xfrm>
            <a:off x="6231636" y="3313176"/>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3176"/>
            <a:ext cx="91440" cy="13106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422904"/>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Runbooks &amp; playbooks</a:t>
            </a:r>
          </a:p>
          <a:p>
            <a:pPr algn="l">
              <a:spcAft>
                <a:spcPts val="300"/>
              </a:spcAft>
            </a:pPr>
            <a:r>
              <a:rPr sz="1150" b="0">
                <a:solidFill>
                  <a:srgbClr val="5B6372"/>
                </a:solidFill>
                <a:latin typeface="Arial"/>
              </a:rPr>
              <a:t>Systems Manager documents codify the response so incidents are handled consistently and fast.</a:t>
            </a:r>
          </a:p>
        </p:txBody>
      </p:sp>
      <p:sp>
        <p:nvSpPr>
          <p:cNvPr id="27" name="Rectangle 26"/>
          <p:cNvSpPr/>
          <p:nvPr/>
        </p:nvSpPr>
        <p:spPr>
          <a:xfrm>
            <a:off x="777240" y="4843272"/>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43272"/>
            <a:ext cx="91440" cy="13106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24272"/>
            <a:ext cx="548640" cy="548640"/>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2427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953000"/>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Deployment failure response</a:t>
            </a:r>
          </a:p>
          <a:p>
            <a:pPr algn="l">
              <a:spcAft>
                <a:spcPts val="300"/>
              </a:spcAft>
            </a:pPr>
            <a:r>
              <a:rPr sz="1150" b="0">
                <a:solidFill>
                  <a:srgbClr val="5B6372"/>
                </a:solidFill>
                <a:latin typeface="Arial"/>
              </a:rPr>
              <a:t>CloudWatch alarms roll back CodeDeploy; pipeline stages stop and alert on failure.</a:t>
            </a:r>
          </a:p>
        </p:txBody>
      </p:sp>
      <p:sp>
        <p:nvSpPr>
          <p:cNvPr id="32" name="Rectangle 31"/>
          <p:cNvSpPr/>
          <p:nvPr/>
        </p:nvSpPr>
        <p:spPr>
          <a:xfrm>
            <a:off x="6231636" y="4843272"/>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43272"/>
            <a:ext cx="91440" cy="1310640"/>
          </a:xfrm>
          <a:prstGeom prst="rect">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24272"/>
            <a:ext cx="548640" cy="548640"/>
          </a:xfrm>
          <a:prstGeom prst="ellipse">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2427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953000"/>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Troubleshooting</a:t>
            </a:r>
          </a:p>
          <a:p>
            <a:pPr algn="l">
              <a:spcAft>
                <a:spcPts val="300"/>
              </a:spcAft>
            </a:pPr>
            <a:r>
              <a:rPr sz="1150" b="0">
                <a:solidFill>
                  <a:srgbClr val="5B6372"/>
                </a:solidFill>
                <a:latin typeface="Arial"/>
              </a:rPr>
              <a:t>Correlate metrics, logs, traces and CloudTrail events to find and fix system and application failures.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445</a:t>
            </a:r>
          </a:p>
        </p:txBody>
      </p:sp>
    </p:spTree>
  </p:cSld>
  <p:clrMapOvr>
    <a:masterClrMapping/>
  </p:clrMapOvr>
  <p:transition xmlns:p14="http://schemas.microsoft.com/office/powerpoint/2010/main" p14:dur="380">
    <p:fade/>
  </p:transition>
</p:sld>
</file>

<file path=ppt/slides/slide4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DOMAIN 05 · RESPOND</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Event-Driven Incident Response</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965960"/>
            <a:ext cx="1828800" cy="1051560"/>
          </a:xfrm>
          <a:prstGeom prst="roundRect">
            <a:avLst/>
          </a:prstGeom>
          <a:solidFill>
            <a:srgbClr val="F5F8FC"/>
          </a:solidFill>
          <a:ln w="15875">
            <a:solidFill>
              <a:srgbClr val="EC71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965960"/>
            <a:ext cx="1828800" cy="82296"/>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075688"/>
            <a:ext cx="1645920" cy="868680"/>
          </a:xfrm>
          <a:prstGeom prst="rect">
            <a:avLst/>
          </a:prstGeom>
          <a:noFill/>
        </p:spPr>
        <p:txBody>
          <a:bodyPr wrap="square" anchor="ctr">
            <a:spAutoFit/>
          </a:bodyPr>
          <a:lstStyle/>
          <a:p>
            <a:pPr algn="ctr">
              <a:spcAft>
                <a:spcPts val="400"/>
              </a:spcAft>
            </a:pPr>
            <a:r>
              <a:rPr sz="1200" b="1">
                <a:solidFill>
                  <a:srgbClr val="161B26"/>
                </a:solidFill>
                <a:latin typeface="Arial"/>
              </a:rPr>
              <a:t>Event source
CloudWatch / EC2 / Config</a:t>
            </a:r>
          </a:p>
        </p:txBody>
      </p:sp>
      <p:sp>
        <p:nvSpPr>
          <p:cNvPr id="10" name="Rounded Rectangle 9"/>
          <p:cNvSpPr/>
          <p:nvPr/>
        </p:nvSpPr>
        <p:spPr>
          <a:xfrm>
            <a:off x="2971800" y="1965960"/>
            <a:ext cx="1828800" cy="1051560"/>
          </a:xfrm>
          <a:prstGeom prst="roundRect">
            <a:avLst/>
          </a:prstGeom>
          <a:solidFill>
            <a:srgbClr val="F5F8FC"/>
          </a:solidFill>
          <a:ln w="15875">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971800" y="1965960"/>
            <a:ext cx="1828800"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63240" y="2075688"/>
            <a:ext cx="1645920" cy="868680"/>
          </a:xfrm>
          <a:prstGeom prst="rect">
            <a:avLst/>
          </a:prstGeom>
          <a:noFill/>
        </p:spPr>
        <p:txBody>
          <a:bodyPr wrap="square" anchor="ctr">
            <a:spAutoFit/>
          </a:bodyPr>
          <a:lstStyle/>
          <a:p>
            <a:pPr algn="ctr">
              <a:spcAft>
                <a:spcPts val="400"/>
              </a:spcAft>
            </a:pPr>
            <a:r>
              <a:rPr sz="1200" b="1">
                <a:solidFill>
                  <a:srgbClr val="161B26"/>
                </a:solidFill>
                <a:latin typeface="Arial"/>
              </a:rPr>
              <a:t>EventBridge
rule + pattern</a:t>
            </a:r>
          </a:p>
        </p:txBody>
      </p:sp>
      <p:sp>
        <p:nvSpPr>
          <p:cNvPr id="13" name="Rounded Rectangle 12"/>
          <p:cNvSpPr/>
          <p:nvPr/>
        </p:nvSpPr>
        <p:spPr>
          <a:xfrm>
            <a:off x="5166360" y="1965960"/>
            <a:ext cx="1828800" cy="1051560"/>
          </a:xfrm>
          <a:prstGeom prst="roundRect">
            <a:avLst/>
          </a:prstGeom>
          <a:solidFill>
            <a:srgbClr val="F5F8FC"/>
          </a:solidFill>
          <a:ln w="15875">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166360" y="1965960"/>
            <a:ext cx="182880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57800" y="2075688"/>
            <a:ext cx="1645920" cy="868680"/>
          </a:xfrm>
          <a:prstGeom prst="rect">
            <a:avLst/>
          </a:prstGeom>
          <a:noFill/>
        </p:spPr>
        <p:txBody>
          <a:bodyPr wrap="square" anchor="ctr">
            <a:spAutoFit/>
          </a:bodyPr>
          <a:lstStyle/>
          <a:p>
            <a:pPr algn="ctr">
              <a:spcAft>
                <a:spcPts val="400"/>
              </a:spcAft>
            </a:pPr>
            <a:r>
              <a:rPr sz="1200" b="1">
                <a:solidFill>
                  <a:srgbClr val="161B26"/>
                </a:solidFill>
                <a:latin typeface="Arial"/>
              </a:rPr>
              <a:t>SNS
notify responders</a:t>
            </a:r>
          </a:p>
        </p:txBody>
      </p:sp>
      <p:sp>
        <p:nvSpPr>
          <p:cNvPr id="16" name="Rounded Rectangle 15"/>
          <p:cNvSpPr/>
          <p:nvPr/>
        </p:nvSpPr>
        <p:spPr>
          <a:xfrm>
            <a:off x="5166360" y="3657600"/>
            <a:ext cx="1828800" cy="1051560"/>
          </a:xfrm>
          <a:prstGeom prst="roundRect">
            <a:avLst/>
          </a:prstGeom>
          <a:solidFill>
            <a:srgbClr val="F5F8FC"/>
          </a:solidFill>
          <a:ln w="15875">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166360" y="3657600"/>
            <a:ext cx="182880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57800" y="3767328"/>
            <a:ext cx="1645920" cy="868680"/>
          </a:xfrm>
          <a:prstGeom prst="rect">
            <a:avLst/>
          </a:prstGeom>
          <a:noFill/>
        </p:spPr>
        <p:txBody>
          <a:bodyPr wrap="square" anchor="ctr">
            <a:spAutoFit/>
          </a:bodyPr>
          <a:lstStyle/>
          <a:p>
            <a:pPr algn="ctr">
              <a:spcAft>
                <a:spcPts val="400"/>
              </a:spcAft>
            </a:pPr>
            <a:r>
              <a:rPr sz="1200" b="1">
                <a:solidFill>
                  <a:srgbClr val="161B26"/>
                </a:solidFill>
                <a:latin typeface="Arial"/>
              </a:rPr>
              <a:t>Lambda
auto-remediate</a:t>
            </a:r>
          </a:p>
        </p:txBody>
      </p:sp>
      <p:sp>
        <p:nvSpPr>
          <p:cNvPr id="19" name="Rounded Rectangle 18"/>
          <p:cNvSpPr/>
          <p:nvPr/>
        </p:nvSpPr>
        <p:spPr>
          <a:xfrm>
            <a:off x="7360920" y="3657600"/>
            <a:ext cx="1828800" cy="1051560"/>
          </a:xfrm>
          <a:prstGeom prst="roundRect">
            <a:avLst/>
          </a:prstGeom>
          <a:solidFill>
            <a:srgbClr val="F5F8FC"/>
          </a:solidFill>
          <a:ln w="15875">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60920" y="3657600"/>
            <a:ext cx="182880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52360" y="3767328"/>
            <a:ext cx="1645920" cy="868680"/>
          </a:xfrm>
          <a:prstGeom prst="rect">
            <a:avLst/>
          </a:prstGeom>
          <a:noFill/>
        </p:spPr>
        <p:txBody>
          <a:bodyPr wrap="square" anchor="ctr">
            <a:spAutoFit/>
          </a:bodyPr>
          <a:lstStyle/>
          <a:p>
            <a:pPr algn="ctr">
              <a:spcAft>
                <a:spcPts val="400"/>
              </a:spcAft>
            </a:pPr>
            <a:r>
              <a:rPr sz="1200" b="1">
                <a:solidFill>
                  <a:srgbClr val="161B26"/>
                </a:solidFill>
                <a:latin typeface="Arial"/>
              </a:rPr>
              <a:t>SSM Automation
runbook</a:t>
            </a:r>
          </a:p>
        </p:txBody>
      </p:sp>
      <p:sp>
        <p:nvSpPr>
          <p:cNvPr id="22" name="Rounded Rectangle 21"/>
          <p:cNvSpPr/>
          <p:nvPr/>
        </p:nvSpPr>
        <p:spPr>
          <a:xfrm>
            <a:off x="9555480" y="3657600"/>
            <a:ext cx="1828800" cy="1051560"/>
          </a:xfrm>
          <a:prstGeom prst="roundRect">
            <a:avLst/>
          </a:prstGeom>
          <a:solidFill>
            <a:srgbClr val="F5F8FC"/>
          </a:solidFill>
          <a:ln w="15875">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555480" y="3657600"/>
            <a:ext cx="182880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46920" y="3767328"/>
            <a:ext cx="1645920" cy="868680"/>
          </a:xfrm>
          <a:prstGeom prst="rect">
            <a:avLst/>
          </a:prstGeom>
          <a:noFill/>
        </p:spPr>
        <p:txBody>
          <a:bodyPr wrap="square" anchor="ctr">
            <a:spAutoFit/>
          </a:bodyPr>
          <a:lstStyle/>
          <a:p>
            <a:pPr algn="ctr">
              <a:spcAft>
                <a:spcPts val="400"/>
              </a:spcAft>
            </a:pPr>
            <a:r>
              <a:rPr sz="1200" b="1">
                <a:solidFill>
                  <a:srgbClr val="161B26"/>
                </a:solidFill>
                <a:latin typeface="Arial"/>
              </a:rPr>
              <a:t>Healthy state
restored</a:t>
            </a:r>
          </a:p>
        </p:txBody>
      </p:sp>
      <p:cxnSp>
        <p:nvCxnSpPr>
          <p:cNvPr id="25" name="Connector 24"/>
          <p:cNvCxnSpPr/>
          <p:nvPr/>
        </p:nvCxnSpPr>
        <p:spPr>
          <a:xfrm>
            <a:off x="2606040" y="2491740"/>
            <a:ext cx="365760" cy="0"/>
          </a:xfrm>
          <a:prstGeom prst="line">
            <a:avLst/>
          </a:prstGeom>
          <a:ln w="22225">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4800600" y="2491740"/>
            <a:ext cx="365760" cy="0"/>
          </a:xfrm>
          <a:prstGeom prst="line">
            <a:avLst/>
          </a:prstGeom>
          <a:ln w="22225">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800600" y="2491740"/>
            <a:ext cx="365760" cy="1691640"/>
          </a:xfrm>
          <a:prstGeom prst="line">
            <a:avLst/>
          </a:prstGeom>
          <a:ln w="22225">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6995160" y="4183380"/>
            <a:ext cx="365760" cy="0"/>
          </a:xfrm>
          <a:prstGeom prst="line">
            <a:avLst/>
          </a:prstGeom>
          <a:ln w="22225">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189720" y="4183380"/>
            <a:ext cx="365760" cy="0"/>
          </a:xfrm>
          <a:prstGeom prst="line">
            <a:avLst/>
          </a:prstGeom>
          <a:ln w="22225">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777240" y="5669280"/>
            <a:ext cx="10634472" cy="548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5742432"/>
            <a:ext cx="10241280" cy="411480"/>
          </a:xfrm>
          <a:prstGeom prst="rect">
            <a:avLst/>
          </a:prstGeom>
          <a:noFill/>
        </p:spPr>
        <p:txBody>
          <a:bodyPr wrap="square" anchor="ctr">
            <a:spAutoFit/>
          </a:bodyPr>
          <a:lstStyle/>
          <a:p>
            <a:pPr algn="l">
              <a:spcAft>
                <a:spcPts val="400"/>
              </a:spcAft>
            </a:pPr>
            <a:r>
              <a:rPr sz="1300" b="1">
                <a:solidFill>
                  <a:srgbClr val="EC711E"/>
                </a:solidFill>
                <a:latin typeface="Arial"/>
              </a:rPr>
              <a:t>▶  </a:t>
            </a:r>
            <a:r>
              <a:rPr sz="1300" b="0">
                <a:solidFill>
                  <a:srgbClr val="161B26"/>
                </a:solidFill>
                <a:latin typeface="Arial"/>
              </a:rPr>
              <a:t>EventBridge routes the event to notify people and trigger a Lambda/SSM runbook that fixes the issue automatically.</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446</a:t>
            </a:r>
          </a:p>
        </p:txBody>
      </p:sp>
    </p:spTree>
  </p:cSld>
  <p:clrMapOvr>
    <a:masterClrMapping/>
  </p:clrMapOvr>
  <p:transition xmlns:p14="http://schemas.microsoft.com/office/powerpoint/2010/main" p14:dur="380">
    <p:fade/>
  </p:transition>
</p:sld>
</file>

<file path=ppt/slides/slide4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THE RESPONSE LOOP</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From Detection to Remediation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10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6408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6408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Detect</a:t>
            </a:r>
          </a:p>
          <a:p>
            <a:pPr algn="l">
              <a:spcAft>
                <a:spcPts val="300"/>
              </a:spcAft>
            </a:pPr>
            <a:r>
              <a:rPr sz="1150" b="0">
                <a:solidFill>
                  <a:srgbClr val="5B6372"/>
                </a:solidFill>
                <a:latin typeface="Arial"/>
              </a:rPr>
              <a:t>CloudWatch alarms, Config rules and service events signal a problem.</a:t>
            </a:r>
          </a:p>
        </p:txBody>
      </p:sp>
      <p:sp>
        <p:nvSpPr>
          <p:cNvPr id="12" name="Rectangle 11"/>
          <p:cNvSpPr/>
          <p:nvPr/>
        </p:nvSpPr>
        <p:spPr>
          <a:xfrm>
            <a:off x="6231636" y="1783080"/>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3106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6408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6408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Route</a:t>
            </a:r>
          </a:p>
          <a:p>
            <a:pPr algn="l">
              <a:spcAft>
                <a:spcPts val="300"/>
              </a:spcAft>
            </a:pPr>
            <a:r>
              <a:rPr sz="1150" b="0">
                <a:solidFill>
                  <a:srgbClr val="5B6372"/>
                </a:solidFill>
                <a:latin typeface="Arial"/>
              </a:rPr>
              <a:t>EventBridge matches the event pattern and fans out to targets.</a:t>
            </a:r>
          </a:p>
        </p:txBody>
      </p:sp>
      <p:sp>
        <p:nvSpPr>
          <p:cNvPr id="17" name="Rectangle 16"/>
          <p:cNvSpPr/>
          <p:nvPr/>
        </p:nvSpPr>
        <p:spPr>
          <a:xfrm>
            <a:off x="777240" y="3313176"/>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3176"/>
            <a:ext cx="91440" cy="13106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422904"/>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Notify</a:t>
            </a:r>
          </a:p>
          <a:p>
            <a:pPr algn="l">
              <a:spcAft>
                <a:spcPts val="300"/>
              </a:spcAft>
            </a:pPr>
            <a:r>
              <a:rPr sz="1150" b="0">
                <a:solidFill>
                  <a:srgbClr val="5B6372"/>
                </a:solidFill>
                <a:latin typeface="Arial"/>
              </a:rPr>
              <a:t>SNS alerts on-call responders by email / chat / SMS.</a:t>
            </a:r>
          </a:p>
        </p:txBody>
      </p:sp>
      <p:sp>
        <p:nvSpPr>
          <p:cNvPr id="22" name="Rectangle 21"/>
          <p:cNvSpPr/>
          <p:nvPr/>
        </p:nvSpPr>
        <p:spPr>
          <a:xfrm>
            <a:off x="6231636" y="3313176"/>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3176"/>
            <a:ext cx="91440" cy="13106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422904"/>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Remediate</a:t>
            </a:r>
          </a:p>
          <a:p>
            <a:pPr algn="l">
              <a:spcAft>
                <a:spcPts val="300"/>
              </a:spcAft>
            </a:pPr>
            <a:r>
              <a:rPr sz="1150" b="0">
                <a:solidFill>
                  <a:srgbClr val="5B6372"/>
                </a:solidFill>
                <a:latin typeface="Arial"/>
              </a:rPr>
              <a:t>Lambda or SSM Automation runs the runbook — restart, isolate, roll back.</a:t>
            </a:r>
          </a:p>
        </p:txBody>
      </p:sp>
      <p:sp>
        <p:nvSpPr>
          <p:cNvPr id="27" name="Rectangle 26"/>
          <p:cNvSpPr/>
          <p:nvPr/>
        </p:nvSpPr>
        <p:spPr>
          <a:xfrm>
            <a:off x="777240" y="4843272"/>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43272"/>
            <a:ext cx="91440" cy="13106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24272"/>
            <a:ext cx="548640" cy="548640"/>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2427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953000"/>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Roll back</a:t>
            </a:r>
          </a:p>
          <a:p>
            <a:pPr algn="l">
              <a:spcAft>
                <a:spcPts val="300"/>
              </a:spcAft>
            </a:pPr>
            <a:r>
              <a:rPr sz="1150" b="0">
                <a:solidFill>
                  <a:srgbClr val="5B6372"/>
                </a:solidFill>
                <a:latin typeface="Arial"/>
              </a:rPr>
              <a:t>CloudWatch alarms auto-roll-back a bad CodeDeploy deployment.</a:t>
            </a:r>
          </a:p>
        </p:txBody>
      </p:sp>
      <p:sp>
        <p:nvSpPr>
          <p:cNvPr id="32" name="Rectangle 31"/>
          <p:cNvSpPr/>
          <p:nvPr/>
        </p:nvSpPr>
        <p:spPr>
          <a:xfrm>
            <a:off x="6231636" y="4843272"/>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43272"/>
            <a:ext cx="91440" cy="1310640"/>
          </a:xfrm>
          <a:prstGeom prst="rect">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24272"/>
            <a:ext cx="548640" cy="548640"/>
          </a:xfrm>
          <a:prstGeom prst="ellipse">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2427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953000"/>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Learn</a:t>
            </a:r>
          </a:p>
          <a:p>
            <a:pPr algn="l">
              <a:spcAft>
                <a:spcPts val="300"/>
              </a:spcAft>
            </a:pPr>
            <a:r>
              <a:rPr sz="1150" b="0">
                <a:solidFill>
                  <a:srgbClr val="5B6372"/>
                </a:solidFill>
                <a:latin typeface="Arial"/>
              </a:rPr>
              <a:t>Blameless review; codify the fix into the runbook.</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447</a:t>
            </a:r>
          </a:p>
        </p:txBody>
      </p:sp>
    </p:spTree>
  </p:cSld>
  <p:clrMapOvr>
    <a:masterClrMapping/>
  </p:clrMapOvr>
  <p:transition xmlns:p14="http://schemas.microsoft.com/office/powerpoint/2010/main" p14:dur="380">
    <p:fade/>
  </p:transition>
</p:sld>
</file>

<file path=ppt/slides/slide4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WHY AUTOMATE RESPONSE</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Automation Cuts Mean Time To Recover</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828800"/>
          <a:ext cx="10634472" cy="3291840"/>
        </p:xfrm>
        <a:graphic>
          <a:graphicData uri="http://schemas.openxmlformats.org/drawingml/2006/chart">
            <c:chart xmlns:c="http://schemas.openxmlformats.org/drawingml/2006/chart" r:id="rId2"/>
          </a:graphicData>
        </a:graphic>
      </p:graphicFrame>
      <p:sp>
        <p:nvSpPr>
          <p:cNvPr id="8" name="Rectangle 7"/>
          <p:cNvSpPr/>
          <p:nvPr/>
        </p:nvSpPr>
        <p:spPr>
          <a:xfrm>
            <a:off x="777240" y="5349240"/>
            <a:ext cx="10634472" cy="868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349240"/>
            <a:ext cx="91440" cy="86868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5440680"/>
            <a:ext cx="10241280" cy="320040"/>
          </a:xfrm>
          <a:prstGeom prst="rect">
            <a:avLst/>
          </a:prstGeom>
          <a:noFill/>
        </p:spPr>
        <p:txBody>
          <a:bodyPr wrap="square" anchor="t">
            <a:spAutoFit/>
          </a:bodyPr>
          <a:lstStyle/>
          <a:p>
            <a:pPr algn="l">
              <a:spcAft>
                <a:spcPts val="400"/>
              </a:spcAft>
            </a:pPr>
            <a:r>
              <a:rPr sz="1100" b="1">
                <a:solidFill>
                  <a:srgbClr val="EC711E"/>
                </a:solidFill>
                <a:latin typeface="Arial"/>
              </a:rPr>
              <a:t>WHAT THE DATA SHOWS</a:t>
            </a:r>
          </a:p>
        </p:txBody>
      </p:sp>
      <p:sp>
        <p:nvSpPr>
          <p:cNvPr id="11" name="TextBox 10"/>
          <p:cNvSpPr txBox="1"/>
          <p:nvPr/>
        </p:nvSpPr>
        <p:spPr>
          <a:xfrm>
            <a:off x="1005840" y="5742432"/>
            <a:ext cx="10241280" cy="457200"/>
          </a:xfrm>
          <a:prstGeom prst="rect">
            <a:avLst/>
          </a:prstGeom>
          <a:noFill/>
        </p:spPr>
        <p:txBody>
          <a:bodyPr wrap="square" anchor="t">
            <a:spAutoFit/>
          </a:bodyPr>
          <a:lstStyle/>
          <a:p>
            <a:pPr algn="l">
              <a:spcAft>
                <a:spcPts val="400"/>
              </a:spcAft>
            </a:pPr>
            <a:r>
              <a:rPr sz="1350" b="0">
                <a:solidFill>
                  <a:srgbClr val="161B26"/>
                </a:solidFill>
                <a:latin typeface="Arial"/>
              </a:rPr>
              <a:t>Event-driven automation collapses MTTR from over an hour to a few minutes across every phase.</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448</a:t>
            </a:r>
          </a:p>
        </p:txBody>
      </p:sp>
    </p:spTree>
  </p:cSld>
  <p:clrMapOvr>
    <a:masterClrMapping/>
  </p:clrMapOvr>
  <p:transition xmlns:p14="http://schemas.microsoft.com/office/powerpoint/2010/main" p14:dur="380">
    <p:fade/>
  </p:transition>
</p:sld>
</file>

<file path=ppt/slides/slide4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THE EVENT ROUTER</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Amazon EventBridge Concepts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600" b="1">
                <a:solidFill>
                  <a:srgbClr val="161B26"/>
                </a:solidFill>
                <a:latin typeface="Arial"/>
              </a:rPr>
              <a:t>Event bus</a:t>
            </a:r>
          </a:p>
          <a:p>
            <a:pPr algn="l">
              <a:spcAft>
                <a:spcPts val="300"/>
              </a:spcAft>
            </a:pPr>
            <a:r>
              <a:rPr sz="1200" b="0">
                <a:solidFill>
                  <a:srgbClr val="5B6372"/>
                </a:solidFill>
                <a:latin typeface="Arial"/>
              </a:rPr>
              <a:t>Receives events from AWS services, SaaS and your apps.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600" b="1">
                <a:solidFill>
                  <a:srgbClr val="161B26"/>
                </a:solidFill>
                <a:latin typeface="Arial"/>
              </a:rPr>
              <a:t>Rules &amp; patterns</a:t>
            </a:r>
          </a:p>
          <a:p>
            <a:pPr algn="l">
              <a:spcAft>
                <a:spcPts val="300"/>
              </a:spcAft>
            </a:pPr>
            <a:r>
              <a:rPr sz="1200" b="0">
                <a:solidFill>
                  <a:srgbClr val="5B6372"/>
                </a:solidFill>
                <a:latin typeface="Arial"/>
              </a:rPr>
              <a:t>Match events by source, type and detail.</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600" b="1">
                <a:solidFill>
                  <a:srgbClr val="161B26"/>
                </a:solidFill>
                <a:latin typeface="Arial"/>
              </a:rPr>
              <a:t>Targets</a:t>
            </a:r>
          </a:p>
          <a:p>
            <a:pPr algn="l">
              <a:spcAft>
                <a:spcPts val="300"/>
              </a:spcAft>
            </a:pPr>
            <a:r>
              <a:rPr sz="1200" b="0">
                <a:solidFill>
                  <a:srgbClr val="5B6372"/>
                </a:solidFill>
                <a:latin typeface="Arial"/>
              </a:rPr>
              <a:t>Route matched events to Lambda, SNS, SQS, Step Functions…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600" b="1">
                <a:solidFill>
                  <a:srgbClr val="161B26"/>
                </a:solidFill>
                <a:latin typeface="Arial"/>
              </a:rPr>
              <a:t>Scheduler</a:t>
            </a:r>
          </a:p>
          <a:p>
            <a:pPr algn="l">
              <a:spcAft>
                <a:spcPts val="300"/>
              </a:spcAft>
            </a:pPr>
            <a:r>
              <a:rPr sz="1200" b="0">
                <a:solidFill>
                  <a:srgbClr val="5B6372"/>
                </a:solidFill>
                <a:latin typeface="Arial"/>
              </a:rPr>
              <a:t>Run tasks on a cron/rate schedule at scale.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449</a:t>
            </a:r>
          </a:p>
        </p:txBody>
      </p:sp>
    </p:spTree>
  </p:cSld>
  <p:clrMapOvr>
    <a:masterClrMapping/>
  </p:clrMapOvr>
  <p:transition xmlns:p14="http://schemas.microsoft.com/office/powerpoint/2010/main" p14:dur="380">
    <p:fade/>
  </p:transition>
</p:sld>
</file>

<file path=ppt/slides/slide4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CODIFYING THE RESPONSE</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Runbooks vs Playbooks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Automate the known</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Guide the unknown</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500" b="0">
                <a:solidFill>
                  <a:srgbClr val="161B26"/>
                </a:solidFill>
                <a:latin typeface="Arial"/>
              </a:rPr>
              <a:t>•  Runbook</a:t>
            </a:r>
          </a:p>
          <a:p>
            <a:pPr>
              <a:spcAft>
                <a:spcPts val="1000"/>
              </a:spcAft>
            </a:pPr>
            <a:r>
              <a:rPr sz="1300" b="0">
                <a:solidFill>
                  <a:srgbClr val="5B6372"/>
                </a:solidFill>
                <a:latin typeface="Arial"/>
              </a:rPr>
              <a:t>–  Step-by-step operational procedure</a:t>
            </a:r>
          </a:p>
          <a:p>
            <a:pPr>
              <a:spcAft>
                <a:spcPts val="1000"/>
              </a:spcAft>
            </a:pPr>
            <a:r>
              <a:rPr sz="1300" b="0">
                <a:solidFill>
                  <a:srgbClr val="5B6372"/>
                </a:solidFill>
                <a:latin typeface="Arial"/>
              </a:rPr>
              <a:t>–  Often codified as SSM Automation documents</a:t>
            </a:r>
          </a:p>
          <a:p>
            <a:pPr>
              <a:spcAft>
                <a:spcPts val="1000"/>
              </a:spcAft>
            </a:pPr>
            <a:r>
              <a:rPr sz="1300" b="0">
                <a:solidFill>
                  <a:srgbClr val="5B6372"/>
                </a:solidFill>
                <a:latin typeface="Arial"/>
              </a:rPr>
              <a:t>–  Automates a known, repeatable fix</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500" b="0">
                <a:solidFill>
                  <a:srgbClr val="161B26"/>
                </a:solidFill>
                <a:latin typeface="Arial"/>
              </a:rPr>
              <a:t>•  Playbook</a:t>
            </a:r>
          </a:p>
          <a:p>
            <a:pPr>
              <a:spcAft>
                <a:spcPts val="1000"/>
              </a:spcAft>
            </a:pPr>
            <a:r>
              <a:rPr sz="1300" b="0">
                <a:solidFill>
                  <a:srgbClr val="5B6372"/>
                </a:solidFill>
                <a:latin typeface="Arial"/>
              </a:rPr>
              <a:t>–  Broader incident-response guidance</a:t>
            </a:r>
          </a:p>
          <a:p>
            <a:pPr>
              <a:spcAft>
                <a:spcPts val="1000"/>
              </a:spcAft>
            </a:pPr>
            <a:r>
              <a:rPr sz="1300" b="0">
                <a:solidFill>
                  <a:srgbClr val="5B6372"/>
                </a:solidFill>
                <a:latin typeface="Arial"/>
              </a:rPr>
              <a:t>–  Roles, comms and decision points</a:t>
            </a:r>
          </a:p>
          <a:p>
            <a:pPr>
              <a:spcAft>
                <a:spcPts val="1000"/>
              </a:spcAft>
            </a:pPr>
            <a:r>
              <a:rPr sz="1300" b="0">
                <a:solidFill>
                  <a:srgbClr val="5B6372"/>
                </a:solidFill>
                <a:latin typeface="Arial"/>
              </a:rPr>
              <a:t>–  Used for novel or major incidents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450</a:t>
            </a:r>
          </a:p>
        </p:txBody>
      </p:sp>
    </p:spTree>
  </p:cSld>
  <p:clrMapOvr>
    <a:masterClrMapping/>
  </p:clrMapOvr>
  <p:transition xmlns:p14="http://schemas.microsoft.com/office/powerpoint/2010/main" p14:dur="380">
    <p:fade/>
  </p:transition>
</p:sld>
</file>

<file path=ppt/slides/slide4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FAIL SAFELY</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Responding to Deployment Failures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550" b="1">
                <a:solidFill>
                  <a:srgbClr val="161B26"/>
                </a:solidFill>
                <a:latin typeface="Arial"/>
              </a:rPr>
              <a:t>Alarm-based rollback</a:t>
            </a:r>
          </a:p>
          <a:p>
            <a:pPr algn="l">
              <a:spcAft>
                <a:spcPts val="300"/>
              </a:spcAft>
            </a:pPr>
            <a:r>
              <a:rPr sz="1150" b="0">
                <a:solidFill>
                  <a:srgbClr val="5B6372"/>
                </a:solidFill>
                <a:latin typeface="Arial"/>
              </a:rPr>
              <a:t>CloudWatch alarms auto-roll-back a bad CodeDeploy deployment.</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550" b="1">
                <a:solidFill>
                  <a:srgbClr val="161B26"/>
                </a:solidFill>
                <a:latin typeface="Arial"/>
              </a:rPr>
              <a:t>Pipeline stop</a:t>
            </a:r>
          </a:p>
          <a:p>
            <a:pPr algn="l">
              <a:spcAft>
                <a:spcPts val="300"/>
              </a:spcAft>
            </a:pPr>
            <a:r>
              <a:rPr sz="1150" b="0">
                <a:solidFill>
                  <a:srgbClr val="5B6372"/>
                </a:solidFill>
                <a:latin typeface="Arial"/>
              </a:rPr>
              <a:t>A failed stage halts CodePipeline and alerts the team.</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550" b="1">
                <a:solidFill>
                  <a:srgbClr val="161B26"/>
                </a:solidFill>
                <a:latin typeface="Arial"/>
              </a:rPr>
              <a:t>Circuit breaker</a:t>
            </a:r>
          </a:p>
          <a:p>
            <a:pPr algn="l">
              <a:spcAft>
                <a:spcPts val="300"/>
              </a:spcAft>
            </a:pPr>
            <a:r>
              <a:rPr sz="1150" b="0">
                <a:solidFill>
                  <a:srgbClr val="5B6372"/>
                </a:solidFill>
                <a:latin typeface="Arial"/>
              </a:rPr>
              <a:t>ECS deployment circuit breaker reverts failed rollouts.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550" b="1">
                <a:solidFill>
                  <a:srgbClr val="161B26"/>
                </a:solidFill>
                <a:latin typeface="Arial"/>
              </a:rPr>
              <a:t>Blue/green switch-back</a:t>
            </a:r>
          </a:p>
          <a:p>
            <a:pPr algn="l">
              <a:spcAft>
                <a:spcPts val="300"/>
              </a:spcAft>
            </a:pPr>
            <a:r>
              <a:rPr sz="1150" b="0">
                <a:solidFill>
                  <a:srgbClr val="5B6372"/>
                </a:solidFill>
                <a:latin typeface="Arial"/>
              </a:rPr>
              <a:t>Instantly shift traffic back to the last good fleet.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451</a:t>
            </a:r>
          </a:p>
        </p:txBody>
      </p:sp>
    </p:spTree>
  </p:cSld>
  <p:clrMapOvr>
    <a:masterClrMapping/>
  </p:clrMapOvr>
  <p:transition xmlns:p14="http://schemas.microsoft.com/office/powerpoint/2010/main" p14:dur="380">
    <p:fade/>
  </p:transition>
</p:sld>
</file>

<file path=ppt/slides/slide4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IN DEPTH</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Event-driven operations with EventBridge</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51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212080" cy="914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38528"/>
            <a:ext cx="4754880" cy="365760"/>
          </a:xfrm>
          <a:prstGeom prst="rect">
            <a:avLst/>
          </a:prstGeom>
          <a:noFill/>
        </p:spPr>
        <p:txBody>
          <a:bodyPr wrap="square" anchor="t">
            <a:spAutoFit/>
          </a:bodyPr>
          <a:lstStyle/>
          <a:p>
            <a:pPr algn="l">
              <a:spcAft>
                <a:spcPts val="400"/>
              </a:spcAft>
            </a:pPr>
            <a:r>
              <a:rPr sz="1200" b="1">
                <a:solidFill>
                  <a:srgbClr val="EC711E"/>
                </a:solidFill>
                <a:latin typeface="Arial"/>
              </a:rPr>
              <a:t>IN DEPTH</a:t>
            </a:r>
          </a:p>
        </p:txBody>
      </p:sp>
      <p:sp>
        <p:nvSpPr>
          <p:cNvPr id="10" name="TextBox 9"/>
          <p:cNvSpPr txBox="1"/>
          <p:nvPr/>
        </p:nvSpPr>
        <p:spPr>
          <a:xfrm>
            <a:off x="1005840" y="2377440"/>
            <a:ext cx="4754880" cy="3566160"/>
          </a:xfrm>
          <a:prstGeom prst="rect">
            <a:avLst/>
          </a:prstGeom>
          <a:noFill/>
        </p:spPr>
        <p:txBody>
          <a:bodyPr wrap="square">
            <a:spAutoFit/>
          </a:bodyPr>
          <a:lstStyle/>
          <a:p>
            <a:pPr>
              <a:spcAft>
                <a:spcPts val="800"/>
              </a:spcAft>
            </a:pPr>
            <a:r>
              <a:rPr sz="1350" b="0">
                <a:solidFill>
                  <a:srgbClr val="161B26"/>
                </a:solidFill>
                <a:latin typeface="Arial"/>
              </a:rPr>
              <a:t>•  EventBridge receives events from AWS services, SaaS partners and your applications on event buses.</a:t>
            </a:r>
          </a:p>
          <a:p>
            <a:pPr>
              <a:spcAft>
                <a:spcPts val="800"/>
              </a:spcAft>
            </a:pPr>
            <a:r>
              <a:rPr sz="1350" b="0">
                <a:solidFill>
                  <a:srgbClr val="161B26"/>
                </a:solidFill>
                <a:latin typeface="Arial"/>
              </a:rPr>
              <a:t>•  Rules match events by source, detail-type and content pattern and route them to targets.</a:t>
            </a:r>
          </a:p>
          <a:p>
            <a:pPr>
              <a:spcAft>
                <a:spcPts val="800"/>
              </a:spcAft>
            </a:pPr>
            <a:r>
              <a:rPr sz="1350" b="0">
                <a:solidFill>
                  <a:srgbClr val="161B26"/>
                </a:solidFill>
                <a:latin typeface="Arial"/>
              </a:rPr>
              <a:t>•  Targets include Lambda, SNS, SQS, Step Functions and Systems Manager Automation.</a:t>
            </a:r>
          </a:p>
        </p:txBody>
      </p:sp>
      <p:sp>
        <p:nvSpPr>
          <p:cNvPr id="11" name="Rectangle 10"/>
          <p:cNvSpPr/>
          <p:nvPr/>
        </p:nvSpPr>
        <p:spPr>
          <a:xfrm>
            <a:off x="6172200" y="178308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1783080"/>
            <a:ext cx="91440" cy="132588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8232" y="1892808"/>
            <a:ext cx="4782312" cy="320040"/>
          </a:xfrm>
          <a:prstGeom prst="rect">
            <a:avLst/>
          </a:prstGeom>
          <a:noFill/>
        </p:spPr>
        <p:txBody>
          <a:bodyPr wrap="square" anchor="t">
            <a:spAutoFit/>
          </a:bodyPr>
          <a:lstStyle/>
          <a:p>
            <a:pPr algn="l">
              <a:spcAft>
                <a:spcPts val="400"/>
              </a:spcAft>
            </a:pPr>
            <a:r>
              <a:rPr sz="1150" b="1">
                <a:solidFill>
                  <a:srgbClr val="EC711E"/>
                </a:solidFill>
                <a:latin typeface="Arial"/>
              </a:rPr>
              <a:t>WHY IT MATTERS</a:t>
            </a:r>
          </a:p>
        </p:txBody>
      </p:sp>
      <p:sp>
        <p:nvSpPr>
          <p:cNvPr id="14" name="TextBox 13"/>
          <p:cNvSpPr txBox="1"/>
          <p:nvPr/>
        </p:nvSpPr>
        <p:spPr>
          <a:xfrm>
            <a:off x="6428232" y="222199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Events let operations react the instant something changes, instead of polling or waiting for a human to notice.</a:t>
            </a:r>
          </a:p>
        </p:txBody>
      </p:sp>
      <p:sp>
        <p:nvSpPr>
          <p:cNvPr id="15" name="Rectangle 14"/>
          <p:cNvSpPr/>
          <p:nvPr/>
        </p:nvSpPr>
        <p:spPr>
          <a:xfrm>
            <a:off x="6172200" y="324612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3246120"/>
            <a:ext cx="91440" cy="13258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8232" y="3355848"/>
            <a:ext cx="4782312" cy="320040"/>
          </a:xfrm>
          <a:prstGeom prst="rect">
            <a:avLst/>
          </a:prstGeom>
          <a:noFill/>
        </p:spPr>
        <p:txBody>
          <a:bodyPr wrap="square" anchor="t">
            <a:spAutoFit/>
          </a:bodyPr>
          <a:lstStyle/>
          <a:p>
            <a:pPr algn="l">
              <a:spcAft>
                <a:spcPts val="400"/>
              </a:spcAft>
            </a:pPr>
            <a:r>
              <a:rPr sz="1150" b="1">
                <a:solidFill>
                  <a:srgbClr val="C0392B"/>
                </a:solidFill>
                <a:latin typeface="Arial"/>
              </a:rPr>
              <a:t>FAILURE MODE</a:t>
            </a:r>
          </a:p>
        </p:txBody>
      </p:sp>
      <p:sp>
        <p:nvSpPr>
          <p:cNvPr id="18" name="TextBox 17"/>
          <p:cNvSpPr txBox="1"/>
          <p:nvPr/>
        </p:nvSpPr>
        <p:spPr>
          <a:xfrm>
            <a:off x="6428232" y="368503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Over-broad event patterns match far more than intended and trigger remediation on benign events.</a:t>
            </a:r>
          </a:p>
        </p:txBody>
      </p:sp>
      <p:sp>
        <p:nvSpPr>
          <p:cNvPr id="19" name="Rectangle 18"/>
          <p:cNvSpPr/>
          <p:nvPr/>
        </p:nvSpPr>
        <p:spPr>
          <a:xfrm>
            <a:off x="6172200" y="470916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2200" y="4709160"/>
            <a:ext cx="91440" cy="1325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28232" y="4818888"/>
            <a:ext cx="4782312" cy="320040"/>
          </a:xfrm>
          <a:prstGeom prst="rect">
            <a:avLst/>
          </a:prstGeom>
          <a:noFill/>
        </p:spPr>
        <p:txBody>
          <a:bodyPr wrap="square" anchor="t">
            <a:spAutoFit/>
          </a:bodyPr>
          <a:lstStyle/>
          <a:p>
            <a:pPr algn="l">
              <a:spcAft>
                <a:spcPts val="400"/>
              </a:spcAft>
            </a:pPr>
            <a:r>
              <a:rPr sz="1150" b="1">
                <a:solidFill>
                  <a:srgbClr val="F59E0B"/>
                </a:solidFill>
                <a:latin typeface="Arial"/>
              </a:rPr>
              <a:t>TRADE-OFF / DECISION</a:t>
            </a:r>
          </a:p>
        </p:txBody>
      </p:sp>
      <p:sp>
        <p:nvSpPr>
          <p:cNvPr id="22" name="TextBox 21"/>
          <p:cNvSpPr txBox="1"/>
          <p:nvPr/>
        </p:nvSpPr>
        <p:spPr>
          <a:xfrm>
            <a:off x="6428232" y="514807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Fine-grained rules are precise but numerous to manage; broad rules are simple but risk false triggers.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452</a:t>
            </a:r>
          </a:p>
        </p:txBody>
      </p:sp>
    </p:spTree>
  </p:cSld>
  <p:clrMapOvr>
    <a:masterClrMapping/>
  </p:clrMapOvr>
  <p:transition xmlns:p14="http://schemas.microsoft.com/office/powerpoint/2010/main" p14:dur="380">
    <p:fade/>
  </p:transition>
</p:sld>
</file>

<file path=ppt/slides/slide4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IN DEPTH</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Notify people, trigger machines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51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212080" cy="914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38528"/>
            <a:ext cx="4754880" cy="365760"/>
          </a:xfrm>
          <a:prstGeom prst="rect">
            <a:avLst/>
          </a:prstGeom>
          <a:noFill/>
        </p:spPr>
        <p:txBody>
          <a:bodyPr wrap="square" anchor="t">
            <a:spAutoFit/>
          </a:bodyPr>
          <a:lstStyle/>
          <a:p>
            <a:pPr algn="l">
              <a:spcAft>
                <a:spcPts val="400"/>
              </a:spcAft>
            </a:pPr>
            <a:r>
              <a:rPr sz="1200" b="1">
                <a:solidFill>
                  <a:srgbClr val="EC711E"/>
                </a:solidFill>
                <a:latin typeface="Arial"/>
              </a:rPr>
              <a:t>IN DEPTH</a:t>
            </a:r>
          </a:p>
        </p:txBody>
      </p:sp>
      <p:sp>
        <p:nvSpPr>
          <p:cNvPr id="10" name="TextBox 9"/>
          <p:cNvSpPr txBox="1"/>
          <p:nvPr/>
        </p:nvSpPr>
        <p:spPr>
          <a:xfrm>
            <a:off x="1005840" y="2377440"/>
            <a:ext cx="4754880" cy="3566160"/>
          </a:xfrm>
          <a:prstGeom prst="rect">
            <a:avLst/>
          </a:prstGeom>
          <a:noFill/>
        </p:spPr>
        <p:txBody>
          <a:bodyPr wrap="square">
            <a:spAutoFit/>
          </a:bodyPr>
          <a:lstStyle/>
          <a:p>
            <a:pPr>
              <a:spcAft>
                <a:spcPts val="800"/>
              </a:spcAft>
            </a:pPr>
            <a:r>
              <a:rPr sz="1350" b="0">
                <a:solidFill>
                  <a:srgbClr val="161B26"/>
                </a:solidFill>
                <a:latin typeface="Arial"/>
              </a:rPr>
              <a:t>•  SNS notifies humans by email, SMS or chat; it also fans out to multiple subscribers.</a:t>
            </a:r>
          </a:p>
          <a:p>
            <a:pPr>
              <a:spcAft>
                <a:spcPts val="800"/>
              </a:spcAft>
            </a:pPr>
            <a:r>
              <a:rPr sz="1350" b="0">
                <a:solidFill>
                  <a:srgbClr val="161B26"/>
                </a:solidFill>
                <a:latin typeface="Arial"/>
              </a:rPr>
              <a:t>•  Lambda, Systems Manager Automation and Step Functions take the actual remediating action.</a:t>
            </a:r>
          </a:p>
          <a:p>
            <a:pPr>
              <a:spcAft>
                <a:spcPts val="800"/>
              </a:spcAft>
            </a:pPr>
            <a:r>
              <a:rPr sz="1350" b="0">
                <a:solidFill>
                  <a:srgbClr val="161B26"/>
                </a:solidFill>
                <a:latin typeface="Arial"/>
              </a:rPr>
              <a:t>•  The two paths run in parallel: tell the responders and start the fix simultaneously.</a:t>
            </a:r>
          </a:p>
        </p:txBody>
      </p:sp>
      <p:sp>
        <p:nvSpPr>
          <p:cNvPr id="11" name="Rectangle 10"/>
          <p:cNvSpPr/>
          <p:nvPr/>
        </p:nvSpPr>
        <p:spPr>
          <a:xfrm>
            <a:off x="6172200" y="178308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1783080"/>
            <a:ext cx="91440" cy="132588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8232" y="1892808"/>
            <a:ext cx="4782312" cy="320040"/>
          </a:xfrm>
          <a:prstGeom prst="rect">
            <a:avLst/>
          </a:prstGeom>
          <a:noFill/>
        </p:spPr>
        <p:txBody>
          <a:bodyPr wrap="square" anchor="t">
            <a:spAutoFit/>
          </a:bodyPr>
          <a:lstStyle/>
          <a:p>
            <a:pPr algn="l">
              <a:spcAft>
                <a:spcPts val="400"/>
              </a:spcAft>
            </a:pPr>
            <a:r>
              <a:rPr sz="1150" b="1">
                <a:solidFill>
                  <a:srgbClr val="EC711E"/>
                </a:solidFill>
                <a:latin typeface="Arial"/>
              </a:rPr>
              <a:t>WHY IT MATTERS</a:t>
            </a:r>
          </a:p>
        </p:txBody>
      </p:sp>
      <p:sp>
        <p:nvSpPr>
          <p:cNvPr id="14" name="TextBox 13"/>
          <p:cNvSpPr txBox="1"/>
          <p:nvPr/>
        </p:nvSpPr>
        <p:spPr>
          <a:xfrm>
            <a:off x="6428232" y="222199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Separating 'notify' from 'act' means the automated fix starts immediately while humans stay informed and can intervene.</a:t>
            </a:r>
          </a:p>
        </p:txBody>
      </p:sp>
      <p:sp>
        <p:nvSpPr>
          <p:cNvPr id="15" name="Rectangle 14"/>
          <p:cNvSpPr/>
          <p:nvPr/>
        </p:nvSpPr>
        <p:spPr>
          <a:xfrm>
            <a:off x="6172200" y="324612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3246120"/>
            <a:ext cx="91440" cy="13258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8232" y="3355848"/>
            <a:ext cx="4782312" cy="320040"/>
          </a:xfrm>
          <a:prstGeom prst="rect">
            <a:avLst/>
          </a:prstGeom>
          <a:noFill/>
        </p:spPr>
        <p:txBody>
          <a:bodyPr wrap="square" anchor="t">
            <a:spAutoFit/>
          </a:bodyPr>
          <a:lstStyle/>
          <a:p>
            <a:pPr algn="l">
              <a:spcAft>
                <a:spcPts val="400"/>
              </a:spcAft>
            </a:pPr>
            <a:r>
              <a:rPr sz="1150" b="1">
                <a:solidFill>
                  <a:srgbClr val="C0392B"/>
                </a:solidFill>
                <a:latin typeface="Arial"/>
              </a:rPr>
              <a:t>FAILURE MODE</a:t>
            </a:r>
          </a:p>
        </p:txBody>
      </p:sp>
      <p:sp>
        <p:nvSpPr>
          <p:cNvPr id="18" name="TextBox 17"/>
          <p:cNvSpPr txBox="1"/>
          <p:nvPr/>
        </p:nvSpPr>
        <p:spPr>
          <a:xfrm>
            <a:off x="6428232" y="368503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Notifying without automating leaves recovery gated on human reaction time at 3am.</a:t>
            </a:r>
          </a:p>
        </p:txBody>
      </p:sp>
      <p:sp>
        <p:nvSpPr>
          <p:cNvPr id="19" name="Rectangle 18"/>
          <p:cNvSpPr/>
          <p:nvPr/>
        </p:nvSpPr>
        <p:spPr>
          <a:xfrm>
            <a:off x="6172200" y="470916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2200" y="4709160"/>
            <a:ext cx="91440" cy="1325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28232" y="4818888"/>
            <a:ext cx="4782312" cy="320040"/>
          </a:xfrm>
          <a:prstGeom prst="rect">
            <a:avLst/>
          </a:prstGeom>
          <a:noFill/>
        </p:spPr>
        <p:txBody>
          <a:bodyPr wrap="square" anchor="t">
            <a:spAutoFit/>
          </a:bodyPr>
          <a:lstStyle/>
          <a:p>
            <a:pPr algn="l">
              <a:spcAft>
                <a:spcPts val="400"/>
              </a:spcAft>
            </a:pPr>
            <a:r>
              <a:rPr sz="1150" b="1">
                <a:solidFill>
                  <a:srgbClr val="F59E0B"/>
                </a:solidFill>
                <a:latin typeface="Arial"/>
              </a:rPr>
              <a:t>TRADE-OFF / DECISION</a:t>
            </a:r>
          </a:p>
        </p:txBody>
      </p:sp>
      <p:sp>
        <p:nvSpPr>
          <p:cNvPr id="22" name="TextBox 21"/>
          <p:cNvSpPr txBox="1"/>
          <p:nvPr/>
        </p:nvSpPr>
        <p:spPr>
          <a:xfrm>
            <a:off x="6428232" y="514807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Automating actions demands tight IAM scoping and validation so a bad event can't trigger a harmful action.</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453</a:t>
            </a:r>
          </a:p>
        </p:txBody>
      </p:sp>
    </p:spTree>
  </p:cSld>
  <p:clrMapOvr>
    <a:masterClrMapping/>
  </p:clrMapOvr>
  <p:transition xmlns:p14="http://schemas.microsoft.com/office/powerpoint/2010/main" p14:dur="380">
    <p:fade/>
  </p:transition>
</p:sld>
</file>

<file path=ppt/slides/slide4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IN DEPTH</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Auto-remediation with Config and Automation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51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212080" cy="914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38528"/>
            <a:ext cx="4754880" cy="365760"/>
          </a:xfrm>
          <a:prstGeom prst="rect">
            <a:avLst/>
          </a:prstGeom>
          <a:noFill/>
        </p:spPr>
        <p:txBody>
          <a:bodyPr wrap="square" anchor="t">
            <a:spAutoFit/>
          </a:bodyPr>
          <a:lstStyle/>
          <a:p>
            <a:pPr algn="l">
              <a:spcAft>
                <a:spcPts val="400"/>
              </a:spcAft>
            </a:pPr>
            <a:r>
              <a:rPr sz="1200" b="1">
                <a:solidFill>
                  <a:srgbClr val="EC711E"/>
                </a:solidFill>
                <a:latin typeface="Arial"/>
              </a:rPr>
              <a:t>IN DEPTH</a:t>
            </a:r>
          </a:p>
        </p:txBody>
      </p:sp>
      <p:sp>
        <p:nvSpPr>
          <p:cNvPr id="10" name="TextBox 9"/>
          <p:cNvSpPr txBox="1"/>
          <p:nvPr/>
        </p:nvSpPr>
        <p:spPr>
          <a:xfrm>
            <a:off x="1005840" y="2377440"/>
            <a:ext cx="4754880" cy="3566160"/>
          </a:xfrm>
          <a:prstGeom prst="rect">
            <a:avLst/>
          </a:prstGeom>
          <a:noFill/>
        </p:spPr>
        <p:txBody>
          <a:bodyPr wrap="square">
            <a:spAutoFit/>
          </a:bodyPr>
          <a:lstStyle/>
          <a:p>
            <a:pPr>
              <a:spcAft>
                <a:spcPts val="800"/>
              </a:spcAft>
            </a:pPr>
            <a:r>
              <a:rPr sz="1350" b="0">
                <a:solidFill>
                  <a:srgbClr val="161B26"/>
                </a:solidFill>
                <a:latin typeface="Arial"/>
              </a:rPr>
              <a:t>•  AWS Config detects non-compliant or drifted resources and can invoke an SSM Automation remediation.</a:t>
            </a:r>
          </a:p>
          <a:p>
            <a:pPr>
              <a:spcAft>
                <a:spcPts val="800"/>
              </a:spcAft>
            </a:pPr>
            <a:r>
              <a:rPr sz="1350" b="0">
                <a:solidFill>
                  <a:srgbClr val="161B26"/>
                </a:solidFill>
                <a:latin typeface="Arial"/>
              </a:rPr>
              <a:t>•  Common auto-fixes: re-enable encryption, remove a public S3 setting, isolate an instance, re-tag resources.</a:t>
            </a:r>
          </a:p>
          <a:p>
            <a:pPr>
              <a:spcAft>
                <a:spcPts val="800"/>
              </a:spcAft>
            </a:pPr>
            <a:r>
              <a:rPr sz="1350" b="0">
                <a:solidFill>
                  <a:srgbClr val="161B26"/>
                </a:solidFill>
                <a:latin typeface="Arial"/>
              </a:rPr>
              <a:t>•  Every remediation is logged for audit and can require approval for higher-risk actions.</a:t>
            </a:r>
          </a:p>
        </p:txBody>
      </p:sp>
      <p:sp>
        <p:nvSpPr>
          <p:cNvPr id="11" name="Rectangle 10"/>
          <p:cNvSpPr/>
          <p:nvPr/>
        </p:nvSpPr>
        <p:spPr>
          <a:xfrm>
            <a:off x="6172200" y="178308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1783080"/>
            <a:ext cx="91440" cy="132588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8232" y="1892808"/>
            <a:ext cx="4782312" cy="320040"/>
          </a:xfrm>
          <a:prstGeom prst="rect">
            <a:avLst/>
          </a:prstGeom>
          <a:noFill/>
        </p:spPr>
        <p:txBody>
          <a:bodyPr wrap="square" anchor="t">
            <a:spAutoFit/>
          </a:bodyPr>
          <a:lstStyle/>
          <a:p>
            <a:pPr algn="l">
              <a:spcAft>
                <a:spcPts val="400"/>
              </a:spcAft>
            </a:pPr>
            <a:r>
              <a:rPr sz="1150" b="1">
                <a:solidFill>
                  <a:srgbClr val="EC711E"/>
                </a:solidFill>
                <a:latin typeface="Arial"/>
              </a:rPr>
              <a:t>WHY IT MATTERS</a:t>
            </a:r>
          </a:p>
        </p:txBody>
      </p:sp>
      <p:sp>
        <p:nvSpPr>
          <p:cNvPr id="14" name="TextBox 13"/>
          <p:cNvSpPr txBox="1"/>
          <p:nvPr/>
        </p:nvSpPr>
        <p:spPr>
          <a:xfrm>
            <a:off x="6428232" y="222199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Continuous detection plus automated remediation keeps the environment compliant without waiting for a human review cycle.</a:t>
            </a:r>
          </a:p>
        </p:txBody>
      </p:sp>
      <p:sp>
        <p:nvSpPr>
          <p:cNvPr id="15" name="Rectangle 14"/>
          <p:cNvSpPr/>
          <p:nvPr/>
        </p:nvSpPr>
        <p:spPr>
          <a:xfrm>
            <a:off x="6172200" y="324612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3246120"/>
            <a:ext cx="91440" cy="13258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8232" y="3355848"/>
            <a:ext cx="4782312" cy="320040"/>
          </a:xfrm>
          <a:prstGeom prst="rect">
            <a:avLst/>
          </a:prstGeom>
          <a:noFill/>
        </p:spPr>
        <p:txBody>
          <a:bodyPr wrap="square" anchor="t">
            <a:spAutoFit/>
          </a:bodyPr>
          <a:lstStyle/>
          <a:p>
            <a:pPr algn="l">
              <a:spcAft>
                <a:spcPts val="400"/>
              </a:spcAft>
            </a:pPr>
            <a:r>
              <a:rPr sz="1150" b="1">
                <a:solidFill>
                  <a:srgbClr val="C0392B"/>
                </a:solidFill>
                <a:latin typeface="Arial"/>
              </a:rPr>
              <a:t>FAILURE MODE</a:t>
            </a:r>
          </a:p>
        </p:txBody>
      </p:sp>
      <p:sp>
        <p:nvSpPr>
          <p:cNvPr id="18" name="TextBox 17"/>
          <p:cNvSpPr txBox="1"/>
          <p:nvPr/>
        </p:nvSpPr>
        <p:spPr>
          <a:xfrm>
            <a:off x="6428232" y="368503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Auto-remediating without guardrails can fight a legitimate change or mask a deeper problem instead of fixing it.</a:t>
            </a:r>
          </a:p>
        </p:txBody>
      </p:sp>
      <p:sp>
        <p:nvSpPr>
          <p:cNvPr id="19" name="Rectangle 18"/>
          <p:cNvSpPr/>
          <p:nvPr/>
        </p:nvSpPr>
        <p:spPr>
          <a:xfrm>
            <a:off x="6172200" y="470916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2200" y="4709160"/>
            <a:ext cx="91440" cy="1325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28232" y="4818888"/>
            <a:ext cx="4782312" cy="320040"/>
          </a:xfrm>
          <a:prstGeom prst="rect">
            <a:avLst/>
          </a:prstGeom>
          <a:noFill/>
        </p:spPr>
        <p:txBody>
          <a:bodyPr wrap="square" anchor="t">
            <a:spAutoFit/>
          </a:bodyPr>
          <a:lstStyle/>
          <a:p>
            <a:pPr algn="l">
              <a:spcAft>
                <a:spcPts val="400"/>
              </a:spcAft>
            </a:pPr>
            <a:r>
              <a:rPr sz="1150" b="1">
                <a:solidFill>
                  <a:srgbClr val="F59E0B"/>
                </a:solidFill>
                <a:latin typeface="Arial"/>
              </a:rPr>
              <a:t>TRADE-OFF / DECISION</a:t>
            </a:r>
          </a:p>
        </p:txBody>
      </p:sp>
      <p:sp>
        <p:nvSpPr>
          <p:cNvPr id="22" name="TextBox 21"/>
          <p:cNvSpPr txBox="1"/>
          <p:nvPr/>
        </p:nvSpPr>
        <p:spPr>
          <a:xfrm>
            <a:off x="6428232" y="514807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Immediate auto-fix is fast but can hide recurring root causes — track remediation frequency as a signal.</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454</a:t>
            </a:r>
          </a:p>
        </p:txBody>
      </p:sp>
    </p:spTree>
  </p:cSld>
  <p:clrMapOvr>
    <a:masterClrMapping/>
  </p:clrMapOvr>
  <p:transition xmlns:p14="http://schemas.microsoft.com/office/powerpoint/2010/main" p14:dur="380">
    <p:fade/>
  </p:transition>
</p:sld>
</file>

<file path=ppt/slides/slide4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IN DEPTH</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Runbooks and playbooks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51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212080" cy="914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38528"/>
            <a:ext cx="4754880" cy="365760"/>
          </a:xfrm>
          <a:prstGeom prst="rect">
            <a:avLst/>
          </a:prstGeom>
          <a:noFill/>
        </p:spPr>
        <p:txBody>
          <a:bodyPr wrap="square" anchor="t">
            <a:spAutoFit/>
          </a:bodyPr>
          <a:lstStyle/>
          <a:p>
            <a:pPr algn="l">
              <a:spcAft>
                <a:spcPts val="400"/>
              </a:spcAft>
            </a:pPr>
            <a:r>
              <a:rPr sz="1200" b="1">
                <a:solidFill>
                  <a:srgbClr val="EC711E"/>
                </a:solidFill>
                <a:latin typeface="Arial"/>
              </a:rPr>
              <a:t>IN DEPTH</a:t>
            </a:r>
          </a:p>
        </p:txBody>
      </p:sp>
      <p:sp>
        <p:nvSpPr>
          <p:cNvPr id="10" name="TextBox 9"/>
          <p:cNvSpPr txBox="1"/>
          <p:nvPr/>
        </p:nvSpPr>
        <p:spPr>
          <a:xfrm>
            <a:off x="1005840" y="2377440"/>
            <a:ext cx="4754880" cy="3566160"/>
          </a:xfrm>
          <a:prstGeom prst="rect">
            <a:avLst/>
          </a:prstGeom>
          <a:noFill/>
        </p:spPr>
        <p:txBody>
          <a:bodyPr wrap="square">
            <a:spAutoFit/>
          </a:bodyPr>
          <a:lstStyle/>
          <a:p>
            <a:pPr>
              <a:spcAft>
                <a:spcPts val="800"/>
              </a:spcAft>
            </a:pPr>
            <a:r>
              <a:rPr sz="1350" b="0">
                <a:solidFill>
                  <a:srgbClr val="161B26"/>
                </a:solidFill>
                <a:latin typeface="Arial"/>
              </a:rPr>
              <a:t>•  A runbook is a precise, often-automated procedure for a known problem (SSM Automation documents encode these).</a:t>
            </a:r>
          </a:p>
          <a:p>
            <a:pPr>
              <a:spcAft>
                <a:spcPts val="800"/>
              </a:spcAft>
            </a:pPr>
            <a:r>
              <a:rPr sz="1350" b="0">
                <a:solidFill>
                  <a:srgbClr val="161B26"/>
                </a:solidFill>
                <a:latin typeface="Arial"/>
              </a:rPr>
              <a:t>•  A playbook is broader human guidance for novel or major incidents — roles, comms and decision points.</a:t>
            </a:r>
          </a:p>
          <a:p>
            <a:pPr>
              <a:spcAft>
                <a:spcPts val="800"/>
              </a:spcAft>
            </a:pPr>
            <a:r>
              <a:rPr sz="1350" b="0">
                <a:solidFill>
                  <a:srgbClr val="161B26"/>
                </a:solidFill>
                <a:latin typeface="Arial"/>
              </a:rPr>
              <a:t>•  Codifying responses makes them consistent, fast and improvable after every incident.</a:t>
            </a:r>
          </a:p>
        </p:txBody>
      </p:sp>
      <p:sp>
        <p:nvSpPr>
          <p:cNvPr id="11" name="Rectangle 10"/>
          <p:cNvSpPr/>
          <p:nvPr/>
        </p:nvSpPr>
        <p:spPr>
          <a:xfrm>
            <a:off x="6172200" y="178308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1783080"/>
            <a:ext cx="91440" cy="132588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8232" y="1892808"/>
            <a:ext cx="4782312" cy="320040"/>
          </a:xfrm>
          <a:prstGeom prst="rect">
            <a:avLst/>
          </a:prstGeom>
          <a:noFill/>
        </p:spPr>
        <p:txBody>
          <a:bodyPr wrap="square" anchor="t">
            <a:spAutoFit/>
          </a:bodyPr>
          <a:lstStyle/>
          <a:p>
            <a:pPr algn="l">
              <a:spcAft>
                <a:spcPts val="400"/>
              </a:spcAft>
            </a:pPr>
            <a:r>
              <a:rPr sz="1150" b="1">
                <a:solidFill>
                  <a:srgbClr val="EC711E"/>
                </a:solidFill>
                <a:latin typeface="Arial"/>
              </a:rPr>
              <a:t>WHY IT MATTERS</a:t>
            </a:r>
          </a:p>
        </p:txBody>
      </p:sp>
      <p:sp>
        <p:nvSpPr>
          <p:cNvPr id="14" name="TextBox 13"/>
          <p:cNvSpPr txBox="1"/>
          <p:nvPr/>
        </p:nvSpPr>
        <p:spPr>
          <a:xfrm>
            <a:off x="6428232" y="222199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Runbooks turn hard-won incident knowledge into repeatable automation; playbooks coordinate the human response to the unknown.</a:t>
            </a:r>
          </a:p>
        </p:txBody>
      </p:sp>
      <p:sp>
        <p:nvSpPr>
          <p:cNvPr id="15" name="Rectangle 14"/>
          <p:cNvSpPr/>
          <p:nvPr/>
        </p:nvSpPr>
        <p:spPr>
          <a:xfrm>
            <a:off x="6172200" y="324612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3246120"/>
            <a:ext cx="91440" cy="13258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8232" y="3355848"/>
            <a:ext cx="4782312" cy="320040"/>
          </a:xfrm>
          <a:prstGeom prst="rect">
            <a:avLst/>
          </a:prstGeom>
          <a:noFill/>
        </p:spPr>
        <p:txBody>
          <a:bodyPr wrap="square" anchor="t">
            <a:spAutoFit/>
          </a:bodyPr>
          <a:lstStyle/>
          <a:p>
            <a:pPr algn="l">
              <a:spcAft>
                <a:spcPts val="400"/>
              </a:spcAft>
            </a:pPr>
            <a:r>
              <a:rPr sz="1150" b="1">
                <a:solidFill>
                  <a:srgbClr val="C0392B"/>
                </a:solidFill>
                <a:latin typeface="Arial"/>
              </a:rPr>
              <a:t>FAILURE MODE</a:t>
            </a:r>
          </a:p>
        </p:txBody>
      </p:sp>
      <p:sp>
        <p:nvSpPr>
          <p:cNvPr id="18" name="TextBox 17"/>
          <p:cNvSpPr txBox="1"/>
          <p:nvPr/>
        </p:nvSpPr>
        <p:spPr>
          <a:xfrm>
            <a:off x="6428232" y="368503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Tribal knowledge in one engineer's head fails the moment that person is on leave during an incident.</a:t>
            </a:r>
          </a:p>
        </p:txBody>
      </p:sp>
      <p:sp>
        <p:nvSpPr>
          <p:cNvPr id="19" name="Rectangle 18"/>
          <p:cNvSpPr/>
          <p:nvPr/>
        </p:nvSpPr>
        <p:spPr>
          <a:xfrm>
            <a:off x="6172200" y="470916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2200" y="4709160"/>
            <a:ext cx="91440" cy="1325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28232" y="4818888"/>
            <a:ext cx="4782312" cy="320040"/>
          </a:xfrm>
          <a:prstGeom prst="rect">
            <a:avLst/>
          </a:prstGeom>
          <a:noFill/>
        </p:spPr>
        <p:txBody>
          <a:bodyPr wrap="square" anchor="t">
            <a:spAutoFit/>
          </a:bodyPr>
          <a:lstStyle/>
          <a:p>
            <a:pPr algn="l">
              <a:spcAft>
                <a:spcPts val="400"/>
              </a:spcAft>
            </a:pPr>
            <a:r>
              <a:rPr sz="1150" b="1">
                <a:solidFill>
                  <a:srgbClr val="F59E0B"/>
                </a:solidFill>
                <a:latin typeface="Arial"/>
              </a:rPr>
              <a:t>TRADE-OFF / DECISION</a:t>
            </a:r>
          </a:p>
        </p:txBody>
      </p:sp>
      <p:sp>
        <p:nvSpPr>
          <p:cNvPr id="22" name="TextBox 21"/>
          <p:cNvSpPr txBox="1"/>
          <p:nvPr/>
        </p:nvSpPr>
        <p:spPr>
          <a:xfrm>
            <a:off x="6428232" y="514807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Automated runbooks must be maintained as the system changes, or they confidently do the wrong thing.</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455</a:t>
            </a:r>
          </a:p>
        </p:txBody>
      </p:sp>
    </p:spTree>
  </p:cSld>
  <p:clrMapOvr>
    <a:masterClrMapping/>
  </p:clrMapOvr>
  <p:transition xmlns:p14="http://schemas.microsoft.com/office/powerpoint/2010/main" p14:dur="380">
    <p:fade/>
  </p:transition>
</p:sld>
</file>

<file path=ppt/slides/slide4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IN DEPTH</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Deployment-failure response</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51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212080" cy="914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38528"/>
            <a:ext cx="4754880" cy="365760"/>
          </a:xfrm>
          <a:prstGeom prst="rect">
            <a:avLst/>
          </a:prstGeom>
          <a:noFill/>
        </p:spPr>
        <p:txBody>
          <a:bodyPr wrap="square" anchor="t">
            <a:spAutoFit/>
          </a:bodyPr>
          <a:lstStyle/>
          <a:p>
            <a:pPr algn="l">
              <a:spcAft>
                <a:spcPts val="400"/>
              </a:spcAft>
            </a:pPr>
            <a:r>
              <a:rPr sz="1200" b="1">
                <a:solidFill>
                  <a:srgbClr val="EC711E"/>
                </a:solidFill>
                <a:latin typeface="Arial"/>
              </a:rPr>
              <a:t>IN DEPTH</a:t>
            </a:r>
          </a:p>
        </p:txBody>
      </p:sp>
      <p:sp>
        <p:nvSpPr>
          <p:cNvPr id="10" name="TextBox 9"/>
          <p:cNvSpPr txBox="1"/>
          <p:nvPr/>
        </p:nvSpPr>
        <p:spPr>
          <a:xfrm>
            <a:off x="1005840" y="2377440"/>
            <a:ext cx="4754880" cy="3566160"/>
          </a:xfrm>
          <a:prstGeom prst="rect">
            <a:avLst/>
          </a:prstGeom>
          <a:noFill/>
        </p:spPr>
        <p:txBody>
          <a:bodyPr wrap="square">
            <a:spAutoFit/>
          </a:bodyPr>
          <a:lstStyle/>
          <a:p>
            <a:pPr>
              <a:spcAft>
                <a:spcPts val="800"/>
              </a:spcAft>
            </a:pPr>
            <a:r>
              <a:rPr sz="1350" b="0">
                <a:solidFill>
                  <a:srgbClr val="161B26"/>
                </a:solidFill>
                <a:latin typeface="Arial"/>
              </a:rPr>
              <a:t>•  CloudWatch alarms can trigger CodeDeploy automatic rollback when a new release misbehaves.</a:t>
            </a:r>
          </a:p>
          <a:p>
            <a:pPr>
              <a:spcAft>
                <a:spcPts val="800"/>
              </a:spcAft>
            </a:pPr>
            <a:r>
              <a:rPr sz="1350" b="0">
                <a:solidFill>
                  <a:srgbClr val="161B26"/>
                </a:solidFill>
                <a:latin typeface="Arial"/>
              </a:rPr>
              <a:t>•  A failed pipeline stage halts CodePipeline and alerts the team rather than continuing to prod.</a:t>
            </a:r>
          </a:p>
          <a:p>
            <a:pPr>
              <a:spcAft>
                <a:spcPts val="800"/>
              </a:spcAft>
            </a:pPr>
            <a:r>
              <a:rPr sz="1350" b="0">
                <a:solidFill>
                  <a:srgbClr val="161B26"/>
                </a:solidFill>
                <a:latin typeface="Arial"/>
              </a:rPr>
              <a:t>•  The ECS deployment circuit breaker reverts a failed rollout; blue/green switches traffic back instantly.</a:t>
            </a:r>
          </a:p>
        </p:txBody>
      </p:sp>
      <p:sp>
        <p:nvSpPr>
          <p:cNvPr id="11" name="Rectangle 10"/>
          <p:cNvSpPr/>
          <p:nvPr/>
        </p:nvSpPr>
        <p:spPr>
          <a:xfrm>
            <a:off x="6172200" y="178308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1783080"/>
            <a:ext cx="91440" cy="132588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8232" y="1892808"/>
            <a:ext cx="4782312" cy="320040"/>
          </a:xfrm>
          <a:prstGeom prst="rect">
            <a:avLst/>
          </a:prstGeom>
          <a:noFill/>
        </p:spPr>
        <p:txBody>
          <a:bodyPr wrap="square" anchor="t">
            <a:spAutoFit/>
          </a:bodyPr>
          <a:lstStyle/>
          <a:p>
            <a:pPr algn="l">
              <a:spcAft>
                <a:spcPts val="400"/>
              </a:spcAft>
            </a:pPr>
            <a:r>
              <a:rPr sz="1150" b="1">
                <a:solidFill>
                  <a:srgbClr val="EC711E"/>
                </a:solidFill>
                <a:latin typeface="Arial"/>
              </a:rPr>
              <a:t>WHY IT MATTERS</a:t>
            </a:r>
          </a:p>
        </p:txBody>
      </p:sp>
      <p:sp>
        <p:nvSpPr>
          <p:cNvPr id="14" name="TextBox 13"/>
          <p:cNvSpPr txBox="1"/>
          <p:nvPr/>
        </p:nvSpPr>
        <p:spPr>
          <a:xfrm>
            <a:off x="6428232" y="222199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Wiring release health into automated rollback keeps a bad deployment from becoming a prolonged outage.</a:t>
            </a:r>
          </a:p>
        </p:txBody>
      </p:sp>
      <p:sp>
        <p:nvSpPr>
          <p:cNvPr id="15" name="Rectangle 14"/>
          <p:cNvSpPr/>
          <p:nvPr/>
        </p:nvSpPr>
        <p:spPr>
          <a:xfrm>
            <a:off x="6172200" y="324612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3246120"/>
            <a:ext cx="91440" cy="13258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8232" y="3355848"/>
            <a:ext cx="4782312" cy="320040"/>
          </a:xfrm>
          <a:prstGeom prst="rect">
            <a:avLst/>
          </a:prstGeom>
          <a:noFill/>
        </p:spPr>
        <p:txBody>
          <a:bodyPr wrap="square" anchor="t">
            <a:spAutoFit/>
          </a:bodyPr>
          <a:lstStyle/>
          <a:p>
            <a:pPr algn="l">
              <a:spcAft>
                <a:spcPts val="400"/>
              </a:spcAft>
            </a:pPr>
            <a:r>
              <a:rPr sz="1150" b="1">
                <a:solidFill>
                  <a:srgbClr val="C0392B"/>
                </a:solidFill>
                <a:latin typeface="Arial"/>
              </a:rPr>
              <a:t>FAILURE MODE</a:t>
            </a:r>
          </a:p>
        </p:txBody>
      </p:sp>
      <p:sp>
        <p:nvSpPr>
          <p:cNvPr id="18" name="TextBox 17"/>
          <p:cNvSpPr txBox="1"/>
          <p:nvPr/>
        </p:nvSpPr>
        <p:spPr>
          <a:xfrm>
            <a:off x="6428232" y="368503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Deployments with no health signal or rollback path require a manual, stressful, error-prone recovery.</a:t>
            </a:r>
          </a:p>
        </p:txBody>
      </p:sp>
      <p:sp>
        <p:nvSpPr>
          <p:cNvPr id="19" name="Rectangle 18"/>
          <p:cNvSpPr/>
          <p:nvPr/>
        </p:nvSpPr>
        <p:spPr>
          <a:xfrm>
            <a:off x="6172200" y="470916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2200" y="4709160"/>
            <a:ext cx="91440" cy="1325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28232" y="4818888"/>
            <a:ext cx="4782312" cy="320040"/>
          </a:xfrm>
          <a:prstGeom prst="rect">
            <a:avLst/>
          </a:prstGeom>
          <a:noFill/>
        </p:spPr>
        <p:txBody>
          <a:bodyPr wrap="square" anchor="t">
            <a:spAutoFit/>
          </a:bodyPr>
          <a:lstStyle/>
          <a:p>
            <a:pPr algn="l">
              <a:spcAft>
                <a:spcPts val="400"/>
              </a:spcAft>
            </a:pPr>
            <a:r>
              <a:rPr sz="1150" b="1">
                <a:solidFill>
                  <a:srgbClr val="F59E0B"/>
                </a:solidFill>
                <a:latin typeface="Arial"/>
              </a:rPr>
              <a:t>TRADE-OFF / DECISION</a:t>
            </a:r>
          </a:p>
        </p:txBody>
      </p:sp>
      <p:sp>
        <p:nvSpPr>
          <p:cNvPr id="22" name="TextBox 21"/>
          <p:cNvSpPr txBox="1"/>
          <p:nvPr/>
        </p:nvSpPr>
        <p:spPr>
          <a:xfrm>
            <a:off x="6428232" y="514807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Fast auto-rollback is safe but can oscillate if the health signal is noisy — tune alarm sensitivity.</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456</a:t>
            </a:r>
          </a:p>
        </p:txBody>
      </p:sp>
    </p:spTree>
  </p:cSld>
  <p:clrMapOvr>
    <a:masterClrMapping/>
  </p:clrMapOvr>
  <p:transition xmlns:p14="http://schemas.microsoft.com/office/powerpoint/2010/main" p14:dur="380">
    <p:fade/>
  </p:transition>
</p:sld>
</file>

<file path=ppt/slides/slide4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IN DEPTH</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Troubleshooting methodically across signals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51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212080" cy="914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38528"/>
            <a:ext cx="4754880" cy="365760"/>
          </a:xfrm>
          <a:prstGeom prst="rect">
            <a:avLst/>
          </a:prstGeom>
          <a:noFill/>
        </p:spPr>
        <p:txBody>
          <a:bodyPr wrap="square" anchor="t">
            <a:spAutoFit/>
          </a:bodyPr>
          <a:lstStyle/>
          <a:p>
            <a:pPr algn="l">
              <a:spcAft>
                <a:spcPts val="400"/>
              </a:spcAft>
            </a:pPr>
            <a:r>
              <a:rPr sz="1200" b="1">
                <a:solidFill>
                  <a:srgbClr val="EC711E"/>
                </a:solidFill>
                <a:latin typeface="Arial"/>
              </a:rPr>
              <a:t>IN DEPTH</a:t>
            </a:r>
          </a:p>
        </p:txBody>
      </p:sp>
      <p:sp>
        <p:nvSpPr>
          <p:cNvPr id="10" name="TextBox 9"/>
          <p:cNvSpPr txBox="1"/>
          <p:nvPr/>
        </p:nvSpPr>
        <p:spPr>
          <a:xfrm>
            <a:off x="1005840" y="2377440"/>
            <a:ext cx="4754880" cy="3566160"/>
          </a:xfrm>
          <a:prstGeom prst="rect">
            <a:avLst/>
          </a:prstGeom>
          <a:noFill/>
        </p:spPr>
        <p:txBody>
          <a:bodyPr wrap="square">
            <a:spAutoFit/>
          </a:bodyPr>
          <a:lstStyle/>
          <a:p>
            <a:pPr>
              <a:spcAft>
                <a:spcPts val="800"/>
              </a:spcAft>
            </a:pPr>
            <a:r>
              <a:rPr sz="1350" b="0">
                <a:solidFill>
                  <a:srgbClr val="161B26"/>
                </a:solidFill>
                <a:latin typeface="Arial"/>
              </a:rPr>
              <a:t>•  Correlate metrics (what changed), logs (what the app said), traces (where it slowed) and CloudTrail (who changed what).</a:t>
            </a:r>
          </a:p>
          <a:p>
            <a:pPr>
              <a:spcAft>
                <a:spcPts val="800"/>
              </a:spcAft>
            </a:pPr>
            <a:r>
              <a:rPr sz="1350" b="0">
                <a:solidFill>
                  <a:srgbClr val="161B26"/>
                </a:solidFill>
                <a:latin typeface="Arial"/>
              </a:rPr>
              <a:t>•  Start from the user-facing symptom and the SLO, then narrow by time and by service.</a:t>
            </a:r>
          </a:p>
          <a:p>
            <a:pPr>
              <a:spcAft>
                <a:spcPts val="800"/>
              </a:spcAft>
            </a:pPr>
            <a:r>
              <a:rPr sz="1350" b="0">
                <a:solidFill>
                  <a:srgbClr val="161B26"/>
                </a:solidFill>
                <a:latin typeface="Arial"/>
              </a:rPr>
              <a:t>•  CloudTrail often reveals that an incident began with a configuration or permission change.</a:t>
            </a:r>
          </a:p>
        </p:txBody>
      </p:sp>
      <p:sp>
        <p:nvSpPr>
          <p:cNvPr id="11" name="Rectangle 10"/>
          <p:cNvSpPr/>
          <p:nvPr/>
        </p:nvSpPr>
        <p:spPr>
          <a:xfrm>
            <a:off x="6172200" y="178308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1783080"/>
            <a:ext cx="91440" cy="132588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8232" y="1892808"/>
            <a:ext cx="4782312" cy="320040"/>
          </a:xfrm>
          <a:prstGeom prst="rect">
            <a:avLst/>
          </a:prstGeom>
          <a:noFill/>
        </p:spPr>
        <p:txBody>
          <a:bodyPr wrap="square" anchor="t">
            <a:spAutoFit/>
          </a:bodyPr>
          <a:lstStyle/>
          <a:p>
            <a:pPr algn="l">
              <a:spcAft>
                <a:spcPts val="400"/>
              </a:spcAft>
            </a:pPr>
            <a:r>
              <a:rPr sz="1150" b="1">
                <a:solidFill>
                  <a:srgbClr val="EC711E"/>
                </a:solidFill>
                <a:latin typeface="Arial"/>
              </a:rPr>
              <a:t>WHY IT MATTERS</a:t>
            </a:r>
          </a:p>
        </p:txBody>
      </p:sp>
      <p:sp>
        <p:nvSpPr>
          <p:cNvPr id="14" name="TextBox 13"/>
          <p:cNvSpPr txBox="1"/>
          <p:nvPr/>
        </p:nvSpPr>
        <p:spPr>
          <a:xfrm>
            <a:off x="6428232" y="222199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A disciplined, signal-driven method finds root cause faster than guessing and prevents fixing symptoms only.</a:t>
            </a:r>
          </a:p>
        </p:txBody>
      </p:sp>
      <p:sp>
        <p:nvSpPr>
          <p:cNvPr id="15" name="Rectangle 14"/>
          <p:cNvSpPr/>
          <p:nvPr/>
        </p:nvSpPr>
        <p:spPr>
          <a:xfrm>
            <a:off x="6172200" y="324612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3246120"/>
            <a:ext cx="91440" cy="13258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8232" y="3355848"/>
            <a:ext cx="4782312" cy="320040"/>
          </a:xfrm>
          <a:prstGeom prst="rect">
            <a:avLst/>
          </a:prstGeom>
          <a:noFill/>
        </p:spPr>
        <p:txBody>
          <a:bodyPr wrap="square" anchor="t">
            <a:spAutoFit/>
          </a:bodyPr>
          <a:lstStyle/>
          <a:p>
            <a:pPr algn="l">
              <a:spcAft>
                <a:spcPts val="400"/>
              </a:spcAft>
            </a:pPr>
            <a:r>
              <a:rPr sz="1150" b="1">
                <a:solidFill>
                  <a:srgbClr val="C0392B"/>
                </a:solidFill>
                <a:latin typeface="Arial"/>
              </a:rPr>
              <a:t>FAILURE MODE</a:t>
            </a:r>
          </a:p>
        </p:txBody>
      </p:sp>
      <p:sp>
        <p:nvSpPr>
          <p:cNvPr id="18" name="TextBox 17"/>
          <p:cNvSpPr txBox="1"/>
          <p:nvPr/>
        </p:nvSpPr>
        <p:spPr>
          <a:xfrm>
            <a:off x="6428232" y="368503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Restarting things at random during an incident can clear the symptom while leaving the cause to recur.</a:t>
            </a:r>
          </a:p>
        </p:txBody>
      </p:sp>
      <p:sp>
        <p:nvSpPr>
          <p:cNvPr id="19" name="Rectangle 18"/>
          <p:cNvSpPr/>
          <p:nvPr/>
        </p:nvSpPr>
        <p:spPr>
          <a:xfrm>
            <a:off x="6172200" y="470916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2200" y="4709160"/>
            <a:ext cx="91440" cy="1325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28232" y="4818888"/>
            <a:ext cx="4782312" cy="320040"/>
          </a:xfrm>
          <a:prstGeom prst="rect">
            <a:avLst/>
          </a:prstGeom>
          <a:noFill/>
        </p:spPr>
        <p:txBody>
          <a:bodyPr wrap="square" anchor="t">
            <a:spAutoFit/>
          </a:bodyPr>
          <a:lstStyle/>
          <a:p>
            <a:pPr algn="l">
              <a:spcAft>
                <a:spcPts val="400"/>
              </a:spcAft>
            </a:pPr>
            <a:r>
              <a:rPr sz="1150" b="1">
                <a:solidFill>
                  <a:srgbClr val="F59E0B"/>
                </a:solidFill>
                <a:latin typeface="Arial"/>
              </a:rPr>
              <a:t>TRADE-OFF / DECISION</a:t>
            </a:r>
          </a:p>
        </p:txBody>
      </p:sp>
      <p:sp>
        <p:nvSpPr>
          <p:cNvPr id="22" name="TextBox 21"/>
          <p:cNvSpPr txBox="1"/>
          <p:nvPr/>
        </p:nvSpPr>
        <p:spPr>
          <a:xfrm>
            <a:off x="6428232" y="514807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Thorough diagnosis takes minutes you may feel you don't have — but mis-diagnosis costs more.</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457</a:t>
            </a:r>
          </a:p>
        </p:txBody>
      </p:sp>
    </p:spTree>
  </p:cSld>
  <p:clrMapOvr>
    <a:masterClrMapping/>
  </p:clrMapOvr>
  <p:transition xmlns:p14="http://schemas.microsoft.com/office/powerpoint/2010/main" p14:dur="380">
    <p:fade/>
  </p:transition>
</p:sld>
</file>

<file path=ppt/slides/slide4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IN DEPTH</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Blameless post-incident review</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51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212080" cy="914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38528"/>
            <a:ext cx="4754880" cy="365760"/>
          </a:xfrm>
          <a:prstGeom prst="rect">
            <a:avLst/>
          </a:prstGeom>
          <a:noFill/>
        </p:spPr>
        <p:txBody>
          <a:bodyPr wrap="square" anchor="t">
            <a:spAutoFit/>
          </a:bodyPr>
          <a:lstStyle/>
          <a:p>
            <a:pPr algn="l">
              <a:spcAft>
                <a:spcPts val="400"/>
              </a:spcAft>
            </a:pPr>
            <a:r>
              <a:rPr sz="1200" b="1">
                <a:solidFill>
                  <a:srgbClr val="EC711E"/>
                </a:solidFill>
                <a:latin typeface="Arial"/>
              </a:rPr>
              <a:t>IN DEPTH</a:t>
            </a:r>
          </a:p>
        </p:txBody>
      </p:sp>
      <p:sp>
        <p:nvSpPr>
          <p:cNvPr id="10" name="TextBox 9"/>
          <p:cNvSpPr txBox="1"/>
          <p:nvPr/>
        </p:nvSpPr>
        <p:spPr>
          <a:xfrm>
            <a:off x="1005840" y="2377440"/>
            <a:ext cx="4754880" cy="3566160"/>
          </a:xfrm>
          <a:prstGeom prst="rect">
            <a:avLst/>
          </a:prstGeom>
          <a:noFill/>
        </p:spPr>
        <p:txBody>
          <a:bodyPr wrap="square">
            <a:spAutoFit/>
          </a:bodyPr>
          <a:lstStyle/>
          <a:p>
            <a:pPr>
              <a:spcAft>
                <a:spcPts val="800"/>
              </a:spcAft>
            </a:pPr>
            <a:r>
              <a:rPr sz="1350" b="0">
                <a:solidFill>
                  <a:srgbClr val="161B26"/>
                </a:solidFill>
                <a:latin typeface="Arial"/>
              </a:rPr>
              <a:t>•  After recovery, a blameless review reconstructs the timeline and identifies systemic causes.</a:t>
            </a:r>
          </a:p>
          <a:p>
            <a:pPr>
              <a:spcAft>
                <a:spcPts val="800"/>
              </a:spcAft>
            </a:pPr>
            <a:r>
              <a:rPr sz="1350" b="0">
                <a:solidFill>
                  <a:srgbClr val="161B26"/>
                </a:solidFill>
                <a:latin typeface="Arial"/>
              </a:rPr>
              <a:t>•  Action items harden the system: new alarms, a new runbook, a guardrail, or a design change.</a:t>
            </a:r>
          </a:p>
          <a:p>
            <a:pPr>
              <a:spcAft>
                <a:spcPts val="800"/>
              </a:spcAft>
            </a:pPr>
            <a:r>
              <a:rPr sz="1350" b="0">
                <a:solidFill>
                  <a:srgbClr val="161B26"/>
                </a:solidFill>
                <a:latin typeface="Arial"/>
              </a:rPr>
              <a:t>•  The fix is codified so the same incident cannot recur silently.</a:t>
            </a:r>
          </a:p>
        </p:txBody>
      </p:sp>
      <p:sp>
        <p:nvSpPr>
          <p:cNvPr id="11" name="Rectangle 10"/>
          <p:cNvSpPr/>
          <p:nvPr/>
        </p:nvSpPr>
        <p:spPr>
          <a:xfrm>
            <a:off x="6172200" y="178308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1783080"/>
            <a:ext cx="91440" cy="132588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8232" y="1892808"/>
            <a:ext cx="4782312" cy="320040"/>
          </a:xfrm>
          <a:prstGeom prst="rect">
            <a:avLst/>
          </a:prstGeom>
          <a:noFill/>
        </p:spPr>
        <p:txBody>
          <a:bodyPr wrap="square" anchor="t">
            <a:spAutoFit/>
          </a:bodyPr>
          <a:lstStyle/>
          <a:p>
            <a:pPr algn="l">
              <a:spcAft>
                <a:spcPts val="400"/>
              </a:spcAft>
            </a:pPr>
            <a:r>
              <a:rPr sz="1150" b="1">
                <a:solidFill>
                  <a:srgbClr val="EC711E"/>
                </a:solidFill>
                <a:latin typeface="Arial"/>
              </a:rPr>
              <a:t>WHY IT MATTERS</a:t>
            </a:r>
          </a:p>
        </p:txBody>
      </p:sp>
      <p:sp>
        <p:nvSpPr>
          <p:cNvPr id="14" name="TextBox 13"/>
          <p:cNvSpPr txBox="1"/>
          <p:nvPr/>
        </p:nvSpPr>
        <p:spPr>
          <a:xfrm>
            <a:off x="6428232" y="222199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Treating incidents as learning — not fault — turns each outage into durable resilience and better automation.</a:t>
            </a:r>
          </a:p>
        </p:txBody>
      </p:sp>
      <p:sp>
        <p:nvSpPr>
          <p:cNvPr id="15" name="Rectangle 14"/>
          <p:cNvSpPr/>
          <p:nvPr/>
        </p:nvSpPr>
        <p:spPr>
          <a:xfrm>
            <a:off x="6172200" y="324612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3246120"/>
            <a:ext cx="91440" cy="13258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8232" y="3355848"/>
            <a:ext cx="4782312" cy="320040"/>
          </a:xfrm>
          <a:prstGeom prst="rect">
            <a:avLst/>
          </a:prstGeom>
          <a:noFill/>
        </p:spPr>
        <p:txBody>
          <a:bodyPr wrap="square" anchor="t">
            <a:spAutoFit/>
          </a:bodyPr>
          <a:lstStyle/>
          <a:p>
            <a:pPr algn="l">
              <a:spcAft>
                <a:spcPts val="400"/>
              </a:spcAft>
            </a:pPr>
            <a:r>
              <a:rPr sz="1150" b="1">
                <a:solidFill>
                  <a:srgbClr val="C0392B"/>
                </a:solidFill>
                <a:latin typeface="Arial"/>
              </a:rPr>
              <a:t>FAILURE MODE</a:t>
            </a:r>
          </a:p>
        </p:txBody>
      </p:sp>
      <p:sp>
        <p:nvSpPr>
          <p:cNvPr id="18" name="TextBox 17"/>
          <p:cNvSpPr txBox="1"/>
          <p:nvPr/>
        </p:nvSpPr>
        <p:spPr>
          <a:xfrm>
            <a:off x="6428232" y="368503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Blaming individuals drives problems underground; people stop reporting near-misses and the system stops improving.</a:t>
            </a:r>
          </a:p>
        </p:txBody>
      </p:sp>
      <p:sp>
        <p:nvSpPr>
          <p:cNvPr id="19" name="Rectangle 18"/>
          <p:cNvSpPr/>
          <p:nvPr/>
        </p:nvSpPr>
        <p:spPr>
          <a:xfrm>
            <a:off x="6172200" y="470916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2200" y="4709160"/>
            <a:ext cx="91440" cy="1325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28232" y="4818888"/>
            <a:ext cx="4782312" cy="320040"/>
          </a:xfrm>
          <a:prstGeom prst="rect">
            <a:avLst/>
          </a:prstGeom>
          <a:noFill/>
        </p:spPr>
        <p:txBody>
          <a:bodyPr wrap="square" anchor="t">
            <a:spAutoFit/>
          </a:bodyPr>
          <a:lstStyle/>
          <a:p>
            <a:pPr algn="l">
              <a:spcAft>
                <a:spcPts val="400"/>
              </a:spcAft>
            </a:pPr>
            <a:r>
              <a:rPr sz="1150" b="1">
                <a:solidFill>
                  <a:srgbClr val="F59E0B"/>
                </a:solidFill>
                <a:latin typeface="Arial"/>
              </a:rPr>
              <a:t>TRADE-OFF / DECISION</a:t>
            </a:r>
          </a:p>
        </p:txBody>
      </p:sp>
      <p:sp>
        <p:nvSpPr>
          <p:cNvPr id="22" name="TextBox 21"/>
          <p:cNvSpPr txBox="1"/>
          <p:nvPr/>
        </p:nvSpPr>
        <p:spPr>
          <a:xfrm>
            <a:off x="6428232" y="514807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Reviews cost time and candour — the payoff is compounding reliability over many incidents.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458</a:t>
            </a:r>
          </a:p>
        </p:txBody>
      </p:sp>
    </p:spTree>
  </p:cSld>
  <p:clrMapOvr>
    <a:masterClrMapping/>
  </p:clrMapOvr>
  <p:transition xmlns:p14="http://schemas.microsoft.com/office/powerpoint/2010/main" p14:dur="380">
    <p:fade/>
  </p:transition>
</p:sld>
</file>

<file path=ppt/slides/slide4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IN DEPTH</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Orchestrating complex responses with Step Functions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51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212080" cy="914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38528"/>
            <a:ext cx="4754880" cy="365760"/>
          </a:xfrm>
          <a:prstGeom prst="rect">
            <a:avLst/>
          </a:prstGeom>
          <a:noFill/>
        </p:spPr>
        <p:txBody>
          <a:bodyPr wrap="square" anchor="t">
            <a:spAutoFit/>
          </a:bodyPr>
          <a:lstStyle/>
          <a:p>
            <a:pPr algn="l">
              <a:spcAft>
                <a:spcPts val="400"/>
              </a:spcAft>
            </a:pPr>
            <a:r>
              <a:rPr sz="1200" b="1">
                <a:solidFill>
                  <a:srgbClr val="EC711E"/>
                </a:solidFill>
                <a:latin typeface="Arial"/>
              </a:rPr>
              <a:t>IN DEPTH</a:t>
            </a:r>
          </a:p>
        </p:txBody>
      </p:sp>
      <p:sp>
        <p:nvSpPr>
          <p:cNvPr id="10" name="TextBox 9"/>
          <p:cNvSpPr txBox="1"/>
          <p:nvPr/>
        </p:nvSpPr>
        <p:spPr>
          <a:xfrm>
            <a:off x="1005840" y="2377440"/>
            <a:ext cx="4754880" cy="3566160"/>
          </a:xfrm>
          <a:prstGeom prst="rect">
            <a:avLst/>
          </a:prstGeom>
          <a:noFill/>
        </p:spPr>
        <p:txBody>
          <a:bodyPr wrap="square">
            <a:spAutoFit/>
          </a:bodyPr>
          <a:lstStyle/>
          <a:p>
            <a:pPr>
              <a:spcAft>
                <a:spcPts val="800"/>
              </a:spcAft>
            </a:pPr>
            <a:r>
              <a:rPr sz="1350" b="0">
                <a:solidFill>
                  <a:srgbClr val="161B26"/>
                </a:solidFill>
                <a:latin typeface="Arial"/>
              </a:rPr>
              <a:t>•  Step Functions coordinate multi-step remediations with retries, branching and error handling.</a:t>
            </a:r>
          </a:p>
          <a:p>
            <a:pPr>
              <a:spcAft>
                <a:spcPts val="800"/>
              </a:spcAft>
            </a:pPr>
            <a:r>
              <a:rPr sz="1350" b="0">
                <a:solidFill>
                  <a:srgbClr val="161B26"/>
                </a:solidFill>
                <a:latin typeface="Arial"/>
              </a:rPr>
              <a:t>•  State machines make a response auditable and resumable rather than a fragile chain of Lambdas.</a:t>
            </a:r>
          </a:p>
          <a:p>
            <a:pPr>
              <a:spcAft>
                <a:spcPts val="800"/>
              </a:spcAft>
            </a:pPr>
            <a:r>
              <a:rPr sz="1350" b="0">
                <a:solidFill>
                  <a:srgbClr val="161B26"/>
                </a:solidFill>
                <a:latin typeface="Arial"/>
              </a:rPr>
              <a:t>•  Human-approval states can pause automation for a decision on higher-risk actions.</a:t>
            </a:r>
          </a:p>
        </p:txBody>
      </p:sp>
      <p:sp>
        <p:nvSpPr>
          <p:cNvPr id="11" name="Rectangle 10"/>
          <p:cNvSpPr/>
          <p:nvPr/>
        </p:nvSpPr>
        <p:spPr>
          <a:xfrm>
            <a:off x="6172200" y="178308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1783080"/>
            <a:ext cx="91440" cy="132588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8232" y="1892808"/>
            <a:ext cx="4782312" cy="320040"/>
          </a:xfrm>
          <a:prstGeom prst="rect">
            <a:avLst/>
          </a:prstGeom>
          <a:noFill/>
        </p:spPr>
        <p:txBody>
          <a:bodyPr wrap="square" anchor="t">
            <a:spAutoFit/>
          </a:bodyPr>
          <a:lstStyle/>
          <a:p>
            <a:pPr algn="l">
              <a:spcAft>
                <a:spcPts val="400"/>
              </a:spcAft>
            </a:pPr>
            <a:r>
              <a:rPr sz="1150" b="1">
                <a:solidFill>
                  <a:srgbClr val="EC711E"/>
                </a:solidFill>
                <a:latin typeface="Arial"/>
              </a:rPr>
              <a:t>WHY IT MATTERS</a:t>
            </a:r>
          </a:p>
        </p:txBody>
      </p:sp>
      <p:sp>
        <p:nvSpPr>
          <p:cNvPr id="14" name="TextBox 13"/>
          <p:cNvSpPr txBox="1"/>
          <p:nvPr/>
        </p:nvSpPr>
        <p:spPr>
          <a:xfrm>
            <a:off x="6428232" y="222199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Some incidents need a workflow, not a single action — orchestration gives reliable, observable, multi-step recovery.</a:t>
            </a:r>
          </a:p>
        </p:txBody>
      </p:sp>
      <p:sp>
        <p:nvSpPr>
          <p:cNvPr id="15" name="Rectangle 14"/>
          <p:cNvSpPr/>
          <p:nvPr/>
        </p:nvSpPr>
        <p:spPr>
          <a:xfrm>
            <a:off x="6172200" y="324612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3246120"/>
            <a:ext cx="91440" cy="13258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8232" y="3355848"/>
            <a:ext cx="4782312" cy="320040"/>
          </a:xfrm>
          <a:prstGeom prst="rect">
            <a:avLst/>
          </a:prstGeom>
          <a:noFill/>
        </p:spPr>
        <p:txBody>
          <a:bodyPr wrap="square" anchor="t">
            <a:spAutoFit/>
          </a:bodyPr>
          <a:lstStyle/>
          <a:p>
            <a:pPr algn="l">
              <a:spcAft>
                <a:spcPts val="400"/>
              </a:spcAft>
            </a:pPr>
            <a:r>
              <a:rPr sz="1150" b="1">
                <a:solidFill>
                  <a:srgbClr val="C0392B"/>
                </a:solidFill>
                <a:latin typeface="Arial"/>
              </a:rPr>
              <a:t>FAILURE MODE</a:t>
            </a:r>
          </a:p>
        </p:txBody>
      </p:sp>
      <p:sp>
        <p:nvSpPr>
          <p:cNvPr id="18" name="TextBox 17"/>
          <p:cNvSpPr txBox="1"/>
          <p:nvPr/>
        </p:nvSpPr>
        <p:spPr>
          <a:xfrm>
            <a:off x="6428232" y="368503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A tangle of Lambdas invoking Lambdas becomes impossible to trace or safely modify.</a:t>
            </a:r>
          </a:p>
        </p:txBody>
      </p:sp>
      <p:sp>
        <p:nvSpPr>
          <p:cNvPr id="19" name="Rectangle 18"/>
          <p:cNvSpPr/>
          <p:nvPr/>
        </p:nvSpPr>
        <p:spPr>
          <a:xfrm>
            <a:off x="6172200" y="470916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2200" y="4709160"/>
            <a:ext cx="91440" cy="1325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28232" y="4818888"/>
            <a:ext cx="4782312" cy="320040"/>
          </a:xfrm>
          <a:prstGeom prst="rect">
            <a:avLst/>
          </a:prstGeom>
          <a:noFill/>
        </p:spPr>
        <p:txBody>
          <a:bodyPr wrap="square" anchor="t">
            <a:spAutoFit/>
          </a:bodyPr>
          <a:lstStyle/>
          <a:p>
            <a:pPr algn="l">
              <a:spcAft>
                <a:spcPts val="400"/>
              </a:spcAft>
            </a:pPr>
            <a:r>
              <a:rPr sz="1150" b="1">
                <a:solidFill>
                  <a:srgbClr val="F59E0B"/>
                </a:solidFill>
                <a:latin typeface="Arial"/>
              </a:rPr>
              <a:t>TRADE-OFF / DECISION</a:t>
            </a:r>
          </a:p>
        </p:txBody>
      </p:sp>
      <p:sp>
        <p:nvSpPr>
          <p:cNvPr id="22" name="TextBox 21"/>
          <p:cNvSpPr txBox="1"/>
          <p:nvPr/>
        </p:nvSpPr>
        <p:spPr>
          <a:xfrm>
            <a:off x="6428232" y="514807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Orchestration adds a service to design and cost, justified when the response has real branching and steps.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459</a:t>
            </a:r>
          </a:p>
        </p:txBody>
      </p:sp>
    </p:spTree>
  </p:cSld>
  <p:clrMapOvr>
    <a:masterClrMapping/>
  </p:clrMapOvr>
  <p:transition xmlns:p14="http://schemas.microsoft.com/office/powerpoint/2010/main" p14:dur="380">
    <p:fade/>
  </p:transition>
</p:sld>
</file>

<file path=ppt/slides/slide4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CODIFYING THE RESPONSE</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Runbook vs Playbook — Know the Difference</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126894" cy="5029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6968" y="1783080"/>
            <a:ext cx="1944014" cy="502920"/>
          </a:xfrm>
          <a:prstGeom prst="rect">
            <a:avLst/>
          </a:prstGeom>
          <a:noFill/>
        </p:spPr>
        <p:txBody>
          <a:bodyPr wrap="square" anchor="ctr">
            <a:spAutoFit/>
          </a:bodyPr>
          <a:lstStyle/>
          <a:p>
            <a:pPr algn="l">
              <a:spcAft>
                <a:spcPts val="400"/>
              </a:spcAft>
            </a:pPr>
            <a:r>
              <a:rPr sz="1400" b="1">
                <a:solidFill>
                  <a:srgbClr val="FFFFFF"/>
                </a:solidFill>
                <a:latin typeface="Arial"/>
              </a:rPr>
              <a:t>Aspect</a:t>
            </a:r>
          </a:p>
        </p:txBody>
      </p:sp>
      <p:sp>
        <p:nvSpPr>
          <p:cNvPr id="9" name="Rectangle 8"/>
          <p:cNvSpPr/>
          <p:nvPr/>
        </p:nvSpPr>
        <p:spPr>
          <a:xfrm>
            <a:off x="2904134" y="1783080"/>
            <a:ext cx="4253788" cy="5029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13862" y="1783080"/>
            <a:ext cx="4070908" cy="502920"/>
          </a:xfrm>
          <a:prstGeom prst="rect">
            <a:avLst/>
          </a:prstGeom>
          <a:noFill/>
        </p:spPr>
        <p:txBody>
          <a:bodyPr wrap="square" anchor="ctr">
            <a:spAutoFit/>
          </a:bodyPr>
          <a:lstStyle/>
          <a:p>
            <a:pPr algn="ctr">
              <a:spcAft>
                <a:spcPts val="400"/>
              </a:spcAft>
            </a:pPr>
            <a:r>
              <a:rPr sz="1400" b="1">
                <a:solidFill>
                  <a:srgbClr val="FFFFFF"/>
                </a:solidFill>
                <a:latin typeface="Arial"/>
              </a:rPr>
              <a:t>Runbook</a:t>
            </a:r>
          </a:p>
        </p:txBody>
      </p:sp>
      <p:sp>
        <p:nvSpPr>
          <p:cNvPr id="11" name="Rectangle 10"/>
          <p:cNvSpPr/>
          <p:nvPr/>
        </p:nvSpPr>
        <p:spPr>
          <a:xfrm>
            <a:off x="7157922" y="1783080"/>
            <a:ext cx="4253788" cy="5029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67650" y="1783080"/>
            <a:ext cx="4070908" cy="502920"/>
          </a:xfrm>
          <a:prstGeom prst="rect">
            <a:avLst/>
          </a:prstGeom>
          <a:noFill/>
        </p:spPr>
        <p:txBody>
          <a:bodyPr wrap="square" anchor="ctr">
            <a:spAutoFit/>
          </a:bodyPr>
          <a:lstStyle/>
          <a:p>
            <a:pPr algn="ctr">
              <a:spcAft>
                <a:spcPts val="400"/>
              </a:spcAft>
            </a:pPr>
            <a:r>
              <a:rPr sz="1400" b="1">
                <a:solidFill>
                  <a:srgbClr val="FFFFFF"/>
                </a:solidFill>
                <a:latin typeface="Arial"/>
              </a:rPr>
              <a:t>Playbook</a:t>
            </a:r>
          </a:p>
        </p:txBody>
      </p:sp>
      <p:sp>
        <p:nvSpPr>
          <p:cNvPr id="13" name="Rectangle 12"/>
          <p:cNvSpPr/>
          <p:nvPr/>
        </p:nvSpPr>
        <p:spPr>
          <a:xfrm>
            <a:off x="777240" y="2286000"/>
            <a:ext cx="2126894"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6968" y="2286000"/>
            <a:ext cx="1944014" cy="822960"/>
          </a:xfrm>
          <a:prstGeom prst="rect">
            <a:avLst/>
          </a:prstGeom>
          <a:noFill/>
        </p:spPr>
        <p:txBody>
          <a:bodyPr wrap="square" anchor="ctr">
            <a:spAutoFit/>
          </a:bodyPr>
          <a:lstStyle/>
          <a:p>
            <a:pPr algn="l">
              <a:spcAft>
                <a:spcPts val="400"/>
              </a:spcAft>
            </a:pPr>
            <a:r>
              <a:rPr sz="1250" b="1">
                <a:solidFill>
                  <a:srgbClr val="161B26"/>
                </a:solidFill>
                <a:latin typeface="Arial"/>
              </a:rPr>
              <a:t>Scope</a:t>
            </a:r>
          </a:p>
        </p:txBody>
      </p:sp>
      <p:sp>
        <p:nvSpPr>
          <p:cNvPr id="15" name="Rectangle 14"/>
          <p:cNvSpPr/>
          <p:nvPr/>
        </p:nvSpPr>
        <p:spPr>
          <a:xfrm>
            <a:off x="2904134" y="2286000"/>
            <a:ext cx="4253788"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013862" y="2286000"/>
            <a:ext cx="4070908" cy="822960"/>
          </a:xfrm>
          <a:prstGeom prst="rect">
            <a:avLst/>
          </a:prstGeom>
          <a:noFill/>
        </p:spPr>
        <p:txBody>
          <a:bodyPr wrap="square" anchor="ctr">
            <a:spAutoFit/>
          </a:bodyPr>
          <a:lstStyle/>
          <a:p>
            <a:pPr algn="ctr">
              <a:spcAft>
                <a:spcPts val="400"/>
              </a:spcAft>
            </a:pPr>
            <a:r>
              <a:rPr sz="1250" b="0">
                <a:solidFill>
                  <a:srgbClr val="5B6372"/>
                </a:solidFill>
                <a:latin typeface="Arial"/>
              </a:rPr>
              <a:t>One known, repeatable fix</a:t>
            </a:r>
          </a:p>
        </p:txBody>
      </p:sp>
      <p:sp>
        <p:nvSpPr>
          <p:cNvPr id="17" name="Rectangle 16"/>
          <p:cNvSpPr/>
          <p:nvPr/>
        </p:nvSpPr>
        <p:spPr>
          <a:xfrm>
            <a:off x="7157922" y="2286000"/>
            <a:ext cx="4253788"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67650" y="2286000"/>
            <a:ext cx="4070908" cy="822960"/>
          </a:xfrm>
          <a:prstGeom prst="rect">
            <a:avLst/>
          </a:prstGeom>
          <a:noFill/>
        </p:spPr>
        <p:txBody>
          <a:bodyPr wrap="square" anchor="ctr">
            <a:spAutoFit/>
          </a:bodyPr>
          <a:lstStyle/>
          <a:p>
            <a:pPr algn="ctr">
              <a:spcAft>
                <a:spcPts val="400"/>
              </a:spcAft>
            </a:pPr>
            <a:r>
              <a:rPr sz="1250" b="0">
                <a:solidFill>
                  <a:srgbClr val="5B6372"/>
                </a:solidFill>
                <a:latin typeface="Arial"/>
              </a:rPr>
              <a:t>Broader incident guidance</a:t>
            </a:r>
          </a:p>
        </p:txBody>
      </p:sp>
      <p:sp>
        <p:nvSpPr>
          <p:cNvPr id="19" name="Rectangle 18"/>
          <p:cNvSpPr/>
          <p:nvPr/>
        </p:nvSpPr>
        <p:spPr>
          <a:xfrm>
            <a:off x="777240" y="3108960"/>
            <a:ext cx="2126894"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3108960"/>
            <a:ext cx="1944014" cy="822960"/>
          </a:xfrm>
          <a:prstGeom prst="rect">
            <a:avLst/>
          </a:prstGeom>
          <a:noFill/>
        </p:spPr>
        <p:txBody>
          <a:bodyPr wrap="square" anchor="ctr">
            <a:spAutoFit/>
          </a:bodyPr>
          <a:lstStyle/>
          <a:p>
            <a:pPr algn="l">
              <a:spcAft>
                <a:spcPts val="400"/>
              </a:spcAft>
            </a:pPr>
            <a:r>
              <a:rPr sz="1250" b="1">
                <a:solidFill>
                  <a:srgbClr val="161B26"/>
                </a:solidFill>
                <a:latin typeface="Arial"/>
              </a:rPr>
              <a:t>Form</a:t>
            </a:r>
          </a:p>
        </p:txBody>
      </p:sp>
      <p:sp>
        <p:nvSpPr>
          <p:cNvPr id="21" name="Rectangle 20"/>
          <p:cNvSpPr/>
          <p:nvPr/>
        </p:nvSpPr>
        <p:spPr>
          <a:xfrm>
            <a:off x="2904134" y="3108960"/>
            <a:ext cx="4253788"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013862" y="3108960"/>
            <a:ext cx="4070908" cy="822960"/>
          </a:xfrm>
          <a:prstGeom prst="rect">
            <a:avLst/>
          </a:prstGeom>
          <a:noFill/>
        </p:spPr>
        <p:txBody>
          <a:bodyPr wrap="square" anchor="ctr">
            <a:spAutoFit/>
          </a:bodyPr>
          <a:lstStyle/>
          <a:p>
            <a:pPr algn="ctr">
              <a:spcAft>
                <a:spcPts val="400"/>
              </a:spcAft>
            </a:pPr>
            <a:r>
              <a:rPr sz="1250" b="0">
                <a:solidFill>
                  <a:srgbClr val="5B6372"/>
                </a:solidFill>
                <a:latin typeface="Arial"/>
              </a:rPr>
              <a:t>Often automated (SSM Automation)</a:t>
            </a:r>
          </a:p>
        </p:txBody>
      </p:sp>
      <p:sp>
        <p:nvSpPr>
          <p:cNvPr id="23" name="Rectangle 22"/>
          <p:cNvSpPr/>
          <p:nvPr/>
        </p:nvSpPr>
        <p:spPr>
          <a:xfrm>
            <a:off x="7157922" y="3108960"/>
            <a:ext cx="4253788"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67650" y="3108960"/>
            <a:ext cx="4070908" cy="822960"/>
          </a:xfrm>
          <a:prstGeom prst="rect">
            <a:avLst/>
          </a:prstGeom>
          <a:noFill/>
        </p:spPr>
        <p:txBody>
          <a:bodyPr wrap="square" anchor="ctr">
            <a:spAutoFit/>
          </a:bodyPr>
          <a:lstStyle/>
          <a:p>
            <a:pPr algn="ctr">
              <a:spcAft>
                <a:spcPts val="400"/>
              </a:spcAft>
            </a:pPr>
            <a:r>
              <a:rPr sz="1250" b="0">
                <a:solidFill>
                  <a:srgbClr val="5B6372"/>
                </a:solidFill>
                <a:latin typeface="Arial"/>
              </a:rPr>
              <a:t>Human roles, comms, decisions</a:t>
            </a:r>
          </a:p>
        </p:txBody>
      </p:sp>
      <p:sp>
        <p:nvSpPr>
          <p:cNvPr id="25" name="Rectangle 24"/>
          <p:cNvSpPr/>
          <p:nvPr/>
        </p:nvSpPr>
        <p:spPr>
          <a:xfrm>
            <a:off x="777240" y="3931920"/>
            <a:ext cx="2126894"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6968" y="3931920"/>
            <a:ext cx="1944014" cy="822960"/>
          </a:xfrm>
          <a:prstGeom prst="rect">
            <a:avLst/>
          </a:prstGeom>
          <a:noFill/>
        </p:spPr>
        <p:txBody>
          <a:bodyPr wrap="square" anchor="ctr">
            <a:spAutoFit/>
          </a:bodyPr>
          <a:lstStyle/>
          <a:p>
            <a:pPr algn="l">
              <a:spcAft>
                <a:spcPts val="400"/>
              </a:spcAft>
            </a:pPr>
            <a:r>
              <a:rPr sz="1250" b="1">
                <a:solidFill>
                  <a:srgbClr val="161B26"/>
                </a:solidFill>
                <a:latin typeface="Arial"/>
              </a:rPr>
              <a:t>Best for</a:t>
            </a:r>
          </a:p>
        </p:txBody>
      </p:sp>
      <p:sp>
        <p:nvSpPr>
          <p:cNvPr id="27" name="Rectangle 26"/>
          <p:cNvSpPr/>
          <p:nvPr/>
        </p:nvSpPr>
        <p:spPr>
          <a:xfrm>
            <a:off x="2904134" y="3931920"/>
            <a:ext cx="4253788"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013862" y="3931920"/>
            <a:ext cx="4070908" cy="822960"/>
          </a:xfrm>
          <a:prstGeom prst="rect">
            <a:avLst/>
          </a:prstGeom>
          <a:noFill/>
        </p:spPr>
        <p:txBody>
          <a:bodyPr wrap="square" anchor="ctr">
            <a:spAutoFit/>
          </a:bodyPr>
          <a:lstStyle/>
          <a:p>
            <a:pPr algn="ctr">
              <a:spcAft>
                <a:spcPts val="400"/>
              </a:spcAft>
            </a:pPr>
            <a:r>
              <a:rPr sz="1250" b="0">
                <a:solidFill>
                  <a:srgbClr val="5B6372"/>
                </a:solidFill>
                <a:latin typeface="Arial"/>
              </a:rPr>
              <a:t>'Disk full → expand volume'</a:t>
            </a:r>
          </a:p>
        </p:txBody>
      </p:sp>
      <p:sp>
        <p:nvSpPr>
          <p:cNvPr id="29" name="Rectangle 28"/>
          <p:cNvSpPr/>
          <p:nvPr/>
        </p:nvSpPr>
        <p:spPr>
          <a:xfrm>
            <a:off x="7157922" y="3931920"/>
            <a:ext cx="4253788"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267650" y="3931920"/>
            <a:ext cx="4070908" cy="822960"/>
          </a:xfrm>
          <a:prstGeom prst="rect">
            <a:avLst/>
          </a:prstGeom>
          <a:noFill/>
        </p:spPr>
        <p:txBody>
          <a:bodyPr wrap="square" anchor="ctr">
            <a:spAutoFit/>
          </a:bodyPr>
          <a:lstStyle/>
          <a:p>
            <a:pPr algn="ctr">
              <a:spcAft>
                <a:spcPts val="400"/>
              </a:spcAft>
            </a:pPr>
            <a:r>
              <a:rPr sz="1250" b="0">
                <a:solidFill>
                  <a:srgbClr val="5B6372"/>
                </a:solidFill>
                <a:latin typeface="Arial"/>
              </a:rPr>
              <a:t>Novel or major incidents</a:t>
            </a:r>
          </a:p>
        </p:txBody>
      </p:sp>
      <p:sp>
        <p:nvSpPr>
          <p:cNvPr id="31" name="Rectangle 30"/>
          <p:cNvSpPr/>
          <p:nvPr/>
        </p:nvSpPr>
        <p:spPr>
          <a:xfrm>
            <a:off x="777240" y="4754880"/>
            <a:ext cx="2126894"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6968" y="4754880"/>
            <a:ext cx="1944014" cy="822960"/>
          </a:xfrm>
          <a:prstGeom prst="rect">
            <a:avLst/>
          </a:prstGeom>
          <a:noFill/>
        </p:spPr>
        <p:txBody>
          <a:bodyPr wrap="square" anchor="ctr">
            <a:spAutoFit/>
          </a:bodyPr>
          <a:lstStyle/>
          <a:p>
            <a:pPr algn="l">
              <a:spcAft>
                <a:spcPts val="400"/>
              </a:spcAft>
            </a:pPr>
            <a:r>
              <a:rPr sz="1250" b="1">
                <a:solidFill>
                  <a:srgbClr val="161B26"/>
                </a:solidFill>
                <a:latin typeface="Arial"/>
              </a:rPr>
              <a:t>Outcome</a:t>
            </a:r>
          </a:p>
        </p:txBody>
      </p:sp>
      <p:sp>
        <p:nvSpPr>
          <p:cNvPr id="33" name="Rectangle 32"/>
          <p:cNvSpPr/>
          <p:nvPr/>
        </p:nvSpPr>
        <p:spPr>
          <a:xfrm>
            <a:off x="2904134" y="4754880"/>
            <a:ext cx="4253788"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013862" y="4754880"/>
            <a:ext cx="4070908" cy="822960"/>
          </a:xfrm>
          <a:prstGeom prst="rect">
            <a:avLst/>
          </a:prstGeom>
          <a:noFill/>
        </p:spPr>
        <p:txBody>
          <a:bodyPr wrap="square" anchor="ctr">
            <a:spAutoFit/>
          </a:bodyPr>
          <a:lstStyle/>
          <a:p>
            <a:pPr algn="ctr">
              <a:spcAft>
                <a:spcPts val="400"/>
              </a:spcAft>
            </a:pPr>
            <a:r>
              <a:rPr sz="1250" b="0">
                <a:solidFill>
                  <a:srgbClr val="5B6372"/>
                </a:solidFill>
                <a:latin typeface="Arial"/>
              </a:rPr>
              <a:t>Fast, consistent auto-recovery</a:t>
            </a:r>
          </a:p>
        </p:txBody>
      </p:sp>
      <p:sp>
        <p:nvSpPr>
          <p:cNvPr id="35" name="Rectangle 34"/>
          <p:cNvSpPr/>
          <p:nvPr/>
        </p:nvSpPr>
        <p:spPr>
          <a:xfrm>
            <a:off x="7157922" y="4754880"/>
            <a:ext cx="4253788"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267650" y="4754880"/>
            <a:ext cx="4070908" cy="822960"/>
          </a:xfrm>
          <a:prstGeom prst="rect">
            <a:avLst/>
          </a:prstGeom>
          <a:noFill/>
        </p:spPr>
        <p:txBody>
          <a:bodyPr wrap="square" anchor="ctr">
            <a:spAutoFit/>
          </a:bodyPr>
          <a:lstStyle/>
          <a:p>
            <a:pPr algn="ctr">
              <a:spcAft>
                <a:spcPts val="400"/>
              </a:spcAft>
            </a:pPr>
            <a:r>
              <a:rPr sz="1250" b="0">
                <a:solidFill>
                  <a:srgbClr val="5B6372"/>
                </a:solidFill>
                <a:latin typeface="Arial"/>
              </a:rPr>
              <a:t>Coordinated human response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460</a:t>
            </a:r>
          </a:p>
        </p:txBody>
      </p:sp>
    </p:spTree>
  </p:cSld>
  <p:clrMapOvr>
    <a:masterClrMapping/>
  </p:clrMapOvr>
  <p:transition xmlns:p14="http://schemas.microsoft.com/office/powerpoint/2010/main" p14:dur="380">
    <p:fade/>
  </p:transition>
</p:sld>
</file>

<file path=ppt/slides/slide4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WHY AUTOMATE RESPONSE</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Automation Cuts MTTR Across Every Phase</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828800"/>
          <a:ext cx="10634472" cy="3291840"/>
        </p:xfrm>
        <a:graphic>
          <a:graphicData uri="http://schemas.openxmlformats.org/drawingml/2006/chart">
            <c:chart xmlns:c="http://schemas.openxmlformats.org/drawingml/2006/chart" r:id="rId2"/>
          </a:graphicData>
        </a:graphic>
      </p:graphicFrame>
      <p:sp>
        <p:nvSpPr>
          <p:cNvPr id="8" name="Rectangle 7"/>
          <p:cNvSpPr/>
          <p:nvPr/>
        </p:nvSpPr>
        <p:spPr>
          <a:xfrm>
            <a:off x="777240" y="5349240"/>
            <a:ext cx="10634472" cy="868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349240"/>
            <a:ext cx="91440" cy="86868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5440680"/>
            <a:ext cx="10241280" cy="320040"/>
          </a:xfrm>
          <a:prstGeom prst="rect">
            <a:avLst/>
          </a:prstGeom>
          <a:noFill/>
        </p:spPr>
        <p:txBody>
          <a:bodyPr wrap="square" anchor="t">
            <a:spAutoFit/>
          </a:bodyPr>
          <a:lstStyle/>
          <a:p>
            <a:pPr algn="l">
              <a:spcAft>
                <a:spcPts val="400"/>
              </a:spcAft>
            </a:pPr>
            <a:r>
              <a:rPr sz="1100" b="1">
                <a:solidFill>
                  <a:srgbClr val="EC711E"/>
                </a:solidFill>
                <a:latin typeface="Arial"/>
              </a:rPr>
              <a:t>WHAT THE DATA SHOWS</a:t>
            </a:r>
          </a:p>
        </p:txBody>
      </p:sp>
      <p:sp>
        <p:nvSpPr>
          <p:cNvPr id="11" name="TextBox 10"/>
          <p:cNvSpPr txBox="1"/>
          <p:nvPr/>
        </p:nvSpPr>
        <p:spPr>
          <a:xfrm>
            <a:off x="1005840" y="5742432"/>
            <a:ext cx="10241280" cy="457200"/>
          </a:xfrm>
          <a:prstGeom prst="rect">
            <a:avLst/>
          </a:prstGeom>
          <a:noFill/>
        </p:spPr>
        <p:txBody>
          <a:bodyPr wrap="square" anchor="t">
            <a:spAutoFit/>
          </a:bodyPr>
          <a:lstStyle/>
          <a:p>
            <a:pPr algn="l">
              <a:spcAft>
                <a:spcPts val="400"/>
              </a:spcAft>
            </a:pPr>
            <a:r>
              <a:rPr sz="1350" b="0">
                <a:solidFill>
                  <a:srgbClr val="161B26"/>
                </a:solidFill>
                <a:latin typeface="Arial"/>
              </a:rPr>
              <a:t>Event-driven automation collapses mean-time-to-recover from over an hour to a few minutes — most of the saving is in detection and remediation.</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461</a:t>
            </a:r>
          </a:p>
        </p:txBody>
      </p:sp>
    </p:spTree>
  </p:cSld>
  <p:clrMapOvr>
    <a:masterClrMapping/>
  </p:clrMapOvr>
  <p:transition xmlns:p14="http://schemas.microsoft.com/office/powerpoint/2010/main" p14:dur="380">
    <p:fade/>
  </p:transition>
</p:sld>
</file>

<file path=ppt/slides/slide4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WHAT SLOWS RECOVERY</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Incident-Response Failure Modes &amp; Anti-Patterns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10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6408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6408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Over-broad event patterns</a:t>
            </a:r>
          </a:p>
          <a:p>
            <a:pPr algn="l">
              <a:spcAft>
                <a:spcPts val="300"/>
              </a:spcAft>
            </a:pPr>
            <a:r>
              <a:rPr sz="1100" b="0">
                <a:solidFill>
                  <a:srgbClr val="5B6372"/>
                </a:solidFill>
                <a:latin typeface="Arial"/>
              </a:rPr>
              <a:t>Remediation on benign events → precise patterns, test them.</a:t>
            </a:r>
          </a:p>
        </p:txBody>
      </p:sp>
      <p:sp>
        <p:nvSpPr>
          <p:cNvPr id="12" name="Rectangle 11"/>
          <p:cNvSpPr/>
          <p:nvPr/>
        </p:nvSpPr>
        <p:spPr>
          <a:xfrm>
            <a:off x="6231636" y="1783080"/>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3106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6408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6408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Notify-only, no automation</a:t>
            </a:r>
          </a:p>
          <a:p>
            <a:pPr algn="l">
              <a:spcAft>
                <a:spcPts val="300"/>
              </a:spcAft>
            </a:pPr>
            <a:r>
              <a:rPr sz="1100" b="0">
                <a:solidFill>
                  <a:srgbClr val="5B6372"/>
                </a:solidFill>
                <a:latin typeface="Arial"/>
              </a:rPr>
              <a:t>Recovery gated on human reaction → wire the fix.</a:t>
            </a:r>
          </a:p>
        </p:txBody>
      </p:sp>
      <p:sp>
        <p:nvSpPr>
          <p:cNvPr id="17" name="Rectangle 16"/>
          <p:cNvSpPr/>
          <p:nvPr/>
        </p:nvSpPr>
        <p:spPr>
          <a:xfrm>
            <a:off x="777240" y="3313176"/>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3176"/>
            <a:ext cx="91440" cy="13106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422904"/>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Unscoped remediation IAM</a:t>
            </a:r>
          </a:p>
          <a:p>
            <a:pPr algn="l">
              <a:spcAft>
                <a:spcPts val="300"/>
              </a:spcAft>
            </a:pPr>
            <a:r>
              <a:rPr sz="1100" b="0">
                <a:solidFill>
                  <a:srgbClr val="5B6372"/>
                </a:solidFill>
                <a:latin typeface="Arial"/>
              </a:rPr>
              <a:t>A bad event does damage → least-privilege action roles.</a:t>
            </a:r>
          </a:p>
        </p:txBody>
      </p:sp>
      <p:sp>
        <p:nvSpPr>
          <p:cNvPr id="22" name="Rectangle 21"/>
          <p:cNvSpPr/>
          <p:nvPr/>
        </p:nvSpPr>
        <p:spPr>
          <a:xfrm>
            <a:off x="6231636" y="3313176"/>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3176"/>
            <a:ext cx="91440" cy="13106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422904"/>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Tribal knowledge</a:t>
            </a:r>
          </a:p>
          <a:p>
            <a:pPr algn="l">
              <a:spcAft>
                <a:spcPts val="300"/>
              </a:spcAft>
            </a:pPr>
            <a:r>
              <a:rPr sz="1100" b="0">
                <a:solidFill>
                  <a:srgbClr val="5B6372"/>
                </a:solidFill>
                <a:latin typeface="Arial"/>
              </a:rPr>
              <a:t>Fix lives in one head → codify runbooks.</a:t>
            </a:r>
          </a:p>
        </p:txBody>
      </p:sp>
      <p:sp>
        <p:nvSpPr>
          <p:cNvPr id="27" name="Rectangle 26"/>
          <p:cNvSpPr/>
          <p:nvPr/>
        </p:nvSpPr>
        <p:spPr>
          <a:xfrm>
            <a:off x="777240" y="4843272"/>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43272"/>
            <a:ext cx="91440" cy="13106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24272"/>
            <a:ext cx="548640" cy="548640"/>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2427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953000"/>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Random restarts</a:t>
            </a:r>
          </a:p>
          <a:p>
            <a:pPr algn="l">
              <a:spcAft>
                <a:spcPts val="300"/>
              </a:spcAft>
            </a:pPr>
            <a:r>
              <a:rPr sz="1100" b="0">
                <a:solidFill>
                  <a:srgbClr val="5B6372"/>
                </a:solidFill>
                <a:latin typeface="Arial"/>
              </a:rPr>
              <a:t>Symptom cleared, cause remains → signal-driven diagnosis.</a:t>
            </a:r>
          </a:p>
        </p:txBody>
      </p:sp>
      <p:sp>
        <p:nvSpPr>
          <p:cNvPr id="32" name="Rectangle 31"/>
          <p:cNvSpPr/>
          <p:nvPr/>
        </p:nvSpPr>
        <p:spPr>
          <a:xfrm>
            <a:off x="6231636" y="4843272"/>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43272"/>
            <a:ext cx="91440" cy="1310640"/>
          </a:xfrm>
          <a:prstGeom prst="rect">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24272"/>
            <a:ext cx="548640" cy="548640"/>
          </a:xfrm>
          <a:prstGeom prst="ellipse">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2427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953000"/>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No post-incident learning</a:t>
            </a:r>
          </a:p>
          <a:p>
            <a:pPr algn="l">
              <a:spcAft>
                <a:spcPts val="300"/>
              </a:spcAft>
            </a:pPr>
            <a:r>
              <a:rPr sz="1100" b="0">
                <a:solidFill>
                  <a:srgbClr val="5B6372"/>
                </a:solidFill>
                <a:latin typeface="Arial"/>
              </a:rPr>
              <a:t>Same outage recurs → blameless review + action items.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462</a:t>
            </a:r>
          </a:p>
        </p:txBody>
      </p:sp>
    </p:spTree>
  </p:cSld>
  <p:clrMapOvr>
    <a:masterClrMapping/>
  </p:clrMapOvr>
  <p:transition xmlns:p14="http://schemas.microsoft.com/office/powerpoint/2010/main" p14:dur="380">
    <p:fade/>
  </p:transition>
</p:sld>
</file>

<file path=ppt/slides/slide4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PROVEN PRACTICES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Response Patterns Worth Adopting</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10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6408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6408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Detect → route → notify+act</a:t>
            </a:r>
          </a:p>
          <a:p>
            <a:pPr algn="l">
              <a:spcAft>
                <a:spcPts val="300"/>
              </a:spcAft>
            </a:pPr>
            <a:r>
              <a:rPr sz="1100" b="0">
                <a:solidFill>
                  <a:srgbClr val="5B6372"/>
                </a:solidFill>
                <a:latin typeface="Arial"/>
              </a:rPr>
              <a:t>EventBridge fans out to people and automation.</a:t>
            </a:r>
          </a:p>
        </p:txBody>
      </p:sp>
      <p:sp>
        <p:nvSpPr>
          <p:cNvPr id="12" name="Rectangle 11"/>
          <p:cNvSpPr/>
          <p:nvPr/>
        </p:nvSpPr>
        <p:spPr>
          <a:xfrm>
            <a:off x="6231636" y="1783080"/>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3106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6408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6408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Alarm-based rollback</a:t>
            </a:r>
          </a:p>
          <a:p>
            <a:pPr algn="l">
              <a:spcAft>
                <a:spcPts val="300"/>
              </a:spcAft>
            </a:pPr>
            <a:r>
              <a:rPr sz="1100" b="0">
                <a:solidFill>
                  <a:srgbClr val="5B6372"/>
                </a:solidFill>
                <a:latin typeface="Arial"/>
              </a:rPr>
              <a:t>Release health auto-reverts bad deploys.</a:t>
            </a:r>
          </a:p>
        </p:txBody>
      </p:sp>
      <p:sp>
        <p:nvSpPr>
          <p:cNvPr id="17" name="Rectangle 16"/>
          <p:cNvSpPr/>
          <p:nvPr/>
        </p:nvSpPr>
        <p:spPr>
          <a:xfrm>
            <a:off x="777240" y="3313176"/>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3176"/>
            <a:ext cx="91440" cy="13106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422904"/>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Automated runbooks</a:t>
            </a:r>
          </a:p>
          <a:p>
            <a:pPr algn="l">
              <a:spcAft>
                <a:spcPts val="300"/>
              </a:spcAft>
            </a:pPr>
            <a:r>
              <a:rPr sz="1100" b="0">
                <a:solidFill>
                  <a:srgbClr val="5B6372"/>
                </a:solidFill>
                <a:latin typeface="Arial"/>
              </a:rPr>
              <a:t>SSM Automation for known fixes.</a:t>
            </a:r>
          </a:p>
        </p:txBody>
      </p:sp>
      <p:sp>
        <p:nvSpPr>
          <p:cNvPr id="22" name="Rectangle 21"/>
          <p:cNvSpPr/>
          <p:nvPr/>
        </p:nvSpPr>
        <p:spPr>
          <a:xfrm>
            <a:off x="6231636" y="3313176"/>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3176"/>
            <a:ext cx="91440" cy="13106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422904"/>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Guarded auto-remediation</a:t>
            </a:r>
          </a:p>
          <a:p>
            <a:pPr algn="l">
              <a:spcAft>
                <a:spcPts val="300"/>
              </a:spcAft>
            </a:pPr>
            <a:r>
              <a:rPr sz="1100" b="0">
                <a:solidFill>
                  <a:srgbClr val="5B6372"/>
                </a:solidFill>
                <a:latin typeface="Arial"/>
              </a:rPr>
              <a:t>Config → remediation with approval for risky actions.</a:t>
            </a:r>
          </a:p>
        </p:txBody>
      </p:sp>
      <p:sp>
        <p:nvSpPr>
          <p:cNvPr id="27" name="Rectangle 26"/>
          <p:cNvSpPr/>
          <p:nvPr/>
        </p:nvSpPr>
        <p:spPr>
          <a:xfrm>
            <a:off x="777240" y="4843272"/>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43272"/>
            <a:ext cx="91440" cy="13106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24272"/>
            <a:ext cx="548640" cy="548640"/>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2427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953000"/>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Orchestrated recovery</a:t>
            </a:r>
          </a:p>
          <a:p>
            <a:pPr algn="l">
              <a:spcAft>
                <a:spcPts val="300"/>
              </a:spcAft>
            </a:pPr>
            <a:r>
              <a:rPr sz="1100" b="0">
                <a:solidFill>
                  <a:srgbClr val="5B6372"/>
                </a:solidFill>
                <a:latin typeface="Arial"/>
              </a:rPr>
              <a:t>Step Functions for multi-step responses.</a:t>
            </a:r>
          </a:p>
        </p:txBody>
      </p:sp>
      <p:sp>
        <p:nvSpPr>
          <p:cNvPr id="32" name="Rectangle 31"/>
          <p:cNvSpPr/>
          <p:nvPr/>
        </p:nvSpPr>
        <p:spPr>
          <a:xfrm>
            <a:off x="6231636" y="4843272"/>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43272"/>
            <a:ext cx="91440" cy="1310640"/>
          </a:xfrm>
          <a:prstGeom prst="rect">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24272"/>
            <a:ext cx="548640" cy="548640"/>
          </a:xfrm>
          <a:prstGeom prst="ellipse">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2427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953000"/>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Blameless reviews</a:t>
            </a:r>
          </a:p>
          <a:p>
            <a:pPr algn="l">
              <a:spcAft>
                <a:spcPts val="300"/>
              </a:spcAft>
            </a:pPr>
            <a:r>
              <a:rPr sz="1100" b="0">
                <a:solidFill>
                  <a:srgbClr val="5B6372"/>
                </a:solidFill>
                <a:latin typeface="Arial"/>
              </a:rPr>
              <a:t>Every incident hardens the system.</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463</a:t>
            </a:r>
          </a:p>
        </p:txBody>
      </p:sp>
    </p:spTree>
  </p:cSld>
  <p:clrMapOvr>
    <a:masterClrMapping/>
  </p:clrMapOvr>
  <p:transition xmlns:p14="http://schemas.microsoft.com/office/powerpoint/2010/main" p14:dur="380">
    <p:fade/>
  </p:transition>
</p:sld>
</file>

<file path=ppt/slides/slide4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RESPONSE STRATEGY</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700" b="1">
                <a:solidFill>
                  <a:srgbClr val="161B26"/>
                </a:solidFill>
                <a:latin typeface="Arial"/>
              </a:rPr>
              <a:t>Architecture Decision — Automate the Fix or Page a Human?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057400"/>
            <a:ext cx="457200" cy="457200"/>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057400"/>
            <a:ext cx="457200" cy="457200"/>
          </a:xfrm>
          <a:prstGeom prst="rect">
            <a:avLst/>
          </a:prstGeom>
          <a:noFill/>
        </p:spPr>
        <p:txBody>
          <a:bodyPr wrap="square" anchor="ctr">
            <a:spAutoFit/>
          </a:bodyPr>
          <a:lstStyle/>
          <a:p>
            <a:pPr algn="ctr">
              <a:spcAft>
                <a:spcPts val="400"/>
              </a:spcAft>
            </a:pPr>
            <a:r>
              <a:rPr sz="2000" b="1">
                <a:solidFill>
                  <a:srgbClr val="FFFFFF"/>
                </a:solidFill>
                <a:latin typeface="Arial"/>
              </a:rPr>
              <a:t>A</a:t>
            </a:r>
          </a:p>
        </p:txBody>
      </p:sp>
      <p:sp>
        <p:nvSpPr>
          <p:cNvPr id="11" name="TextBox 10"/>
          <p:cNvSpPr txBox="1"/>
          <p:nvPr/>
        </p:nvSpPr>
        <p:spPr>
          <a:xfrm>
            <a:off x="1645920" y="2084831"/>
            <a:ext cx="2286000" cy="640080"/>
          </a:xfrm>
          <a:prstGeom prst="rect">
            <a:avLst/>
          </a:prstGeom>
          <a:noFill/>
        </p:spPr>
        <p:txBody>
          <a:bodyPr wrap="square" anchor="ctr">
            <a:spAutoFit/>
          </a:bodyPr>
          <a:lstStyle/>
          <a:p>
            <a:pPr algn="l">
              <a:spcAft>
                <a:spcPts val="400"/>
              </a:spcAft>
            </a:pPr>
            <a:r>
              <a:rPr sz="1450" b="1">
                <a:solidFill>
                  <a:srgbClr val="EC711E"/>
                </a:solidFill>
                <a:latin typeface="Arial"/>
              </a:rPr>
              <a:t>Fully automate</a:t>
            </a:r>
          </a:p>
        </p:txBody>
      </p:sp>
      <p:sp>
        <p:nvSpPr>
          <p:cNvPr id="12" name="TextBox 11"/>
          <p:cNvSpPr txBox="1"/>
          <p:nvPr/>
        </p:nvSpPr>
        <p:spPr>
          <a:xfrm>
            <a:off x="1033272" y="2788920"/>
            <a:ext cx="2880360" cy="3108960"/>
          </a:xfrm>
          <a:prstGeom prst="rect">
            <a:avLst/>
          </a:prstGeom>
          <a:noFill/>
        </p:spPr>
        <p:txBody>
          <a:bodyPr wrap="square" anchor="t">
            <a:spAutoFit/>
          </a:bodyPr>
          <a:lstStyle/>
          <a:p>
            <a:pPr algn="l">
              <a:spcAft>
                <a:spcPts val="400"/>
              </a:spcAft>
            </a:pPr>
            <a:r>
              <a:rPr sz="1250" b="0">
                <a:solidFill>
                  <a:srgbClr val="161B26"/>
                </a:solidFill>
                <a:latin typeface="Arial"/>
              </a:rPr>
              <a:t>Known cause, safe and reversible fix, frequent occurrence. Fastest recovery — needs tight IAM and validation.</a:t>
            </a:r>
          </a:p>
        </p:txBody>
      </p:sp>
      <p:sp>
        <p:nvSpPr>
          <p:cNvPr id="13" name="Rectangle 12"/>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828032" y="2057400"/>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28032" y="2057400"/>
            <a:ext cx="457200" cy="457200"/>
          </a:xfrm>
          <a:prstGeom prst="rect">
            <a:avLst/>
          </a:prstGeom>
          <a:noFill/>
        </p:spPr>
        <p:txBody>
          <a:bodyPr wrap="square" anchor="ctr">
            <a:spAutoFit/>
          </a:bodyPr>
          <a:lstStyle/>
          <a:p>
            <a:pPr algn="ctr">
              <a:spcAft>
                <a:spcPts val="400"/>
              </a:spcAft>
            </a:pPr>
            <a:r>
              <a:rPr sz="2000" b="1">
                <a:solidFill>
                  <a:srgbClr val="FFFFFF"/>
                </a:solidFill>
                <a:latin typeface="Arial"/>
              </a:rPr>
              <a:t>B</a:t>
            </a:r>
          </a:p>
        </p:txBody>
      </p:sp>
      <p:sp>
        <p:nvSpPr>
          <p:cNvPr id="17" name="TextBox 16"/>
          <p:cNvSpPr txBox="1"/>
          <p:nvPr/>
        </p:nvSpPr>
        <p:spPr>
          <a:xfrm>
            <a:off x="5440680" y="2084831"/>
            <a:ext cx="2286000" cy="640080"/>
          </a:xfrm>
          <a:prstGeom prst="rect">
            <a:avLst/>
          </a:prstGeom>
          <a:noFill/>
        </p:spPr>
        <p:txBody>
          <a:bodyPr wrap="square" anchor="ctr">
            <a:spAutoFit/>
          </a:bodyPr>
          <a:lstStyle/>
          <a:p>
            <a:pPr algn="l">
              <a:spcAft>
                <a:spcPts val="400"/>
              </a:spcAft>
            </a:pPr>
            <a:r>
              <a:rPr sz="1450" b="1">
                <a:solidFill>
                  <a:srgbClr val="7C3AED"/>
                </a:solidFill>
                <a:latin typeface="Arial"/>
              </a:rPr>
              <a:t>Automate with approval</a:t>
            </a:r>
          </a:p>
        </p:txBody>
      </p:sp>
      <p:sp>
        <p:nvSpPr>
          <p:cNvPr id="18" name="TextBox 17"/>
          <p:cNvSpPr txBox="1"/>
          <p:nvPr/>
        </p:nvSpPr>
        <p:spPr>
          <a:xfrm>
            <a:off x="4828032" y="2788920"/>
            <a:ext cx="2880360" cy="3108960"/>
          </a:xfrm>
          <a:prstGeom prst="rect">
            <a:avLst/>
          </a:prstGeom>
          <a:noFill/>
        </p:spPr>
        <p:txBody>
          <a:bodyPr wrap="square" anchor="t">
            <a:spAutoFit/>
          </a:bodyPr>
          <a:lstStyle/>
          <a:p>
            <a:pPr algn="l">
              <a:spcAft>
                <a:spcPts val="400"/>
              </a:spcAft>
            </a:pPr>
            <a:r>
              <a:rPr sz="1250" b="0">
                <a:solidFill>
                  <a:srgbClr val="161B26"/>
                </a:solidFill>
                <a:latin typeface="Arial"/>
              </a:rPr>
              <a:t>Higher-risk action or ambiguous trigger. Step Functions pauses for a human yes/no before acting.</a:t>
            </a:r>
          </a:p>
        </p:txBody>
      </p:sp>
      <p:sp>
        <p:nvSpPr>
          <p:cNvPr id="19" name="Rectangle 18"/>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36676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622792" y="205740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22792" y="2057400"/>
            <a:ext cx="457200" cy="457200"/>
          </a:xfrm>
          <a:prstGeom prst="rect">
            <a:avLst/>
          </a:prstGeom>
          <a:noFill/>
        </p:spPr>
        <p:txBody>
          <a:bodyPr wrap="square" anchor="ctr">
            <a:spAutoFit/>
          </a:bodyPr>
          <a:lstStyle/>
          <a:p>
            <a:pPr algn="ctr">
              <a:spcAft>
                <a:spcPts val="400"/>
              </a:spcAft>
            </a:pPr>
            <a:r>
              <a:rPr sz="2000" b="1">
                <a:solidFill>
                  <a:srgbClr val="FFFFFF"/>
                </a:solidFill>
                <a:latin typeface="Arial"/>
              </a:rPr>
              <a:t>C</a:t>
            </a:r>
          </a:p>
        </p:txBody>
      </p:sp>
      <p:sp>
        <p:nvSpPr>
          <p:cNvPr id="23" name="TextBox 22"/>
          <p:cNvSpPr txBox="1"/>
          <p:nvPr/>
        </p:nvSpPr>
        <p:spPr>
          <a:xfrm>
            <a:off x="9235440" y="2084831"/>
            <a:ext cx="2286000" cy="640080"/>
          </a:xfrm>
          <a:prstGeom prst="rect">
            <a:avLst/>
          </a:prstGeom>
          <a:noFill/>
        </p:spPr>
        <p:txBody>
          <a:bodyPr wrap="square" anchor="ctr">
            <a:spAutoFit/>
          </a:bodyPr>
          <a:lstStyle/>
          <a:p>
            <a:pPr algn="l">
              <a:spcAft>
                <a:spcPts val="400"/>
              </a:spcAft>
            </a:pPr>
            <a:r>
              <a:rPr sz="1450" b="1">
                <a:solidFill>
                  <a:srgbClr val="10B981"/>
                </a:solidFill>
                <a:latin typeface="Arial"/>
              </a:rPr>
              <a:t>Notify only</a:t>
            </a:r>
          </a:p>
        </p:txBody>
      </p:sp>
      <p:sp>
        <p:nvSpPr>
          <p:cNvPr id="24" name="TextBox 23"/>
          <p:cNvSpPr txBox="1"/>
          <p:nvPr/>
        </p:nvSpPr>
        <p:spPr>
          <a:xfrm>
            <a:off x="8622792" y="2788920"/>
            <a:ext cx="2880360" cy="3108960"/>
          </a:xfrm>
          <a:prstGeom prst="rect">
            <a:avLst/>
          </a:prstGeom>
          <a:noFill/>
        </p:spPr>
        <p:txBody>
          <a:bodyPr wrap="square" anchor="t">
            <a:spAutoFit/>
          </a:bodyPr>
          <a:lstStyle/>
          <a:p>
            <a:pPr algn="l">
              <a:spcAft>
                <a:spcPts val="400"/>
              </a:spcAft>
            </a:pPr>
            <a:r>
              <a:rPr sz="1250" b="0">
                <a:solidFill>
                  <a:srgbClr val="161B26"/>
                </a:solidFill>
                <a:latin typeface="Arial"/>
              </a:rPr>
              <a:t>Novel or unclear incidents. Page the on-call with rich context; automation isn't safe until the pattern is understood.</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464</a:t>
            </a:r>
          </a:p>
        </p:txBody>
      </p:sp>
    </p:spTree>
  </p:cSld>
  <p:clrMapOvr>
    <a:masterClrMapping/>
  </p:clrMapOvr>
  <p:transition xmlns:p14="http://schemas.microsoft.com/office/powerpoint/2010/main" p14:dur="380">
    <p:fade/>
  </p:transition>
</p:sld>
</file>

<file path=ppt/slides/slide4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DETECT AND AUTO-REMEDIATE</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Scenario — A public S3 bucket appears at 2am</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91440" cy="91440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1847088"/>
            <a:ext cx="2194560" cy="320040"/>
          </a:xfrm>
          <a:prstGeom prst="rect">
            <a:avLst/>
          </a:prstGeom>
          <a:noFill/>
        </p:spPr>
        <p:txBody>
          <a:bodyPr wrap="square" anchor="t">
            <a:spAutoFit/>
          </a:bodyPr>
          <a:lstStyle/>
          <a:p>
            <a:pPr algn="l">
              <a:spcAft>
                <a:spcPts val="400"/>
              </a:spcAft>
            </a:pPr>
            <a:r>
              <a:rPr sz="1150" b="1">
                <a:solidFill>
                  <a:srgbClr val="5B6372"/>
                </a:solidFill>
                <a:latin typeface="Arial"/>
              </a:rPr>
              <a:t>SITUATION</a:t>
            </a:r>
          </a:p>
        </p:txBody>
      </p:sp>
      <p:sp>
        <p:nvSpPr>
          <p:cNvPr id="10" name="TextBox 9"/>
          <p:cNvSpPr txBox="1"/>
          <p:nvPr/>
        </p:nvSpPr>
        <p:spPr>
          <a:xfrm>
            <a:off x="1033272" y="2157984"/>
            <a:ext cx="10085832" cy="457200"/>
          </a:xfrm>
          <a:prstGeom prst="rect">
            <a:avLst/>
          </a:prstGeom>
          <a:noFill/>
        </p:spPr>
        <p:txBody>
          <a:bodyPr wrap="square" anchor="t">
            <a:spAutoFit/>
          </a:bodyPr>
          <a:lstStyle/>
          <a:p>
            <a:pPr algn="l">
              <a:spcAft>
                <a:spcPts val="400"/>
              </a:spcAft>
            </a:pPr>
            <a:r>
              <a:rPr sz="1300" b="0">
                <a:solidFill>
                  <a:srgbClr val="161B26"/>
                </a:solidFill>
                <a:latin typeface="Arial"/>
              </a:rPr>
              <a:t>Someone changes a bucket to public. Data exposure risk is immediate; no engineer is awake.</a:t>
            </a:r>
          </a:p>
        </p:txBody>
      </p:sp>
      <p:sp>
        <p:nvSpPr>
          <p:cNvPr id="11" name="Rectangle 10"/>
          <p:cNvSpPr/>
          <p:nvPr/>
        </p:nvSpPr>
        <p:spPr>
          <a:xfrm>
            <a:off x="777240" y="2788920"/>
            <a:ext cx="10634472" cy="21945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788920"/>
            <a:ext cx="91440" cy="219456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880360"/>
            <a:ext cx="2743200" cy="320040"/>
          </a:xfrm>
          <a:prstGeom prst="rect">
            <a:avLst/>
          </a:prstGeom>
          <a:noFill/>
        </p:spPr>
        <p:txBody>
          <a:bodyPr wrap="square" anchor="t">
            <a:spAutoFit/>
          </a:bodyPr>
          <a:lstStyle/>
          <a:p>
            <a:pPr algn="l">
              <a:spcAft>
                <a:spcPts val="400"/>
              </a:spcAft>
            </a:pPr>
            <a:r>
              <a:rPr sz="1150" b="1">
                <a:solidFill>
                  <a:srgbClr val="EC711E"/>
                </a:solidFill>
                <a:latin typeface="Arial"/>
              </a:rPr>
              <a:t>ANALYSIS</a:t>
            </a:r>
          </a:p>
        </p:txBody>
      </p:sp>
      <p:sp>
        <p:nvSpPr>
          <p:cNvPr id="14" name="TextBox 13"/>
          <p:cNvSpPr txBox="1"/>
          <p:nvPr/>
        </p:nvSpPr>
        <p:spPr>
          <a:xfrm>
            <a:off x="1033272" y="3246120"/>
            <a:ext cx="9994392" cy="1645920"/>
          </a:xfrm>
          <a:prstGeom prst="rect">
            <a:avLst/>
          </a:prstGeom>
          <a:noFill/>
        </p:spPr>
        <p:txBody>
          <a:bodyPr wrap="square">
            <a:spAutoFit/>
          </a:bodyPr>
          <a:lstStyle/>
          <a:p>
            <a:pPr>
              <a:spcAft>
                <a:spcPts val="700"/>
              </a:spcAft>
            </a:pPr>
            <a:r>
              <a:rPr sz="1300" b="0">
                <a:solidFill>
                  <a:srgbClr val="161B26"/>
                </a:solidFill>
                <a:latin typeface="Arial"/>
              </a:rPr>
              <a:t>•  AWS Config's s3-bucket-public-read-prohibited rule detects the non-compliant state within minutes.</a:t>
            </a:r>
          </a:p>
          <a:p>
            <a:pPr>
              <a:spcAft>
                <a:spcPts val="700"/>
              </a:spcAft>
            </a:pPr>
            <a:r>
              <a:rPr sz="1300" b="0">
                <a:solidFill>
                  <a:srgbClr val="161B26"/>
                </a:solidFill>
                <a:latin typeface="Arial"/>
              </a:rPr>
              <a:t>•  An EventBridge rule on the Config compliance-change event can trigger an SSM Automation remediation.</a:t>
            </a:r>
          </a:p>
          <a:p>
            <a:pPr>
              <a:spcAft>
                <a:spcPts val="700"/>
              </a:spcAft>
            </a:pPr>
            <a:r>
              <a:rPr sz="1300" b="0">
                <a:solidFill>
                  <a:srgbClr val="161B26"/>
                </a:solidFill>
                <a:latin typeface="Arial"/>
              </a:rPr>
              <a:t>•  The remediation re-applies Block Public Access and SNS notifies the security channel.</a:t>
            </a:r>
          </a:p>
        </p:txBody>
      </p:sp>
      <p:sp>
        <p:nvSpPr>
          <p:cNvPr id="15" name="Rectangle 14"/>
          <p:cNvSpPr/>
          <p:nvPr/>
        </p:nvSpPr>
        <p:spPr>
          <a:xfrm>
            <a:off x="777240" y="5102352"/>
            <a:ext cx="10634472"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5102352"/>
            <a:ext cx="91440" cy="9601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2" y="5193792"/>
            <a:ext cx="2743200" cy="320040"/>
          </a:xfrm>
          <a:prstGeom prst="rect">
            <a:avLst/>
          </a:prstGeom>
          <a:noFill/>
        </p:spPr>
        <p:txBody>
          <a:bodyPr wrap="square" anchor="t">
            <a:spAutoFit/>
          </a:bodyPr>
          <a:lstStyle/>
          <a:p>
            <a:pPr algn="l">
              <a:spcAft>
                <a:spcPts val="400"/>
              </a:spcAft>
            </a:pPr>
            <a:r>
              <a:rPr sz="1150" b="1">
                <a:solidFill>
                  <a:srgbClr val="10B981"/>
                </a:solidFill>
                <a:latin typeface="Arial"/>
              </a:rPr>
              <a:t>DECISION</a:t>
            </a:r>
          </a:p>
        </p:txBody>
      </p:sp>
      <p:sp>
        <p:nvSpPr>
          <p:cNvPr id="18" name="TextBox 17"/>
          <p:cNvSpPr txBox="1"/>
          <p:nvPr/>
        </p:nvSpPr>
        <p:spPr>
          <a:xfrm>
            <a:off x="1033272" y="5486400"/>
            <a:ext cx="10085832" cy="548640"/>
          </a:xfrm>
          <a:prstGeom prst="rect">
            <a:avLst/>
          </a:prstGeom>
          <a:noFill/>
        </p:spPr>
        <p:txBody>
          <a:bodyPr wrap="square" anchor="t">
            <a:spAutoFit/>
          </a:bodyPr>
          <a:lstStyle/>
          <a:p>
            <a:pPr algn="l">
              <a:spcAft>
                <a:spcPts val="400"/>
              </a:spcAft>
            </a:pPr>
            <a:r>
              <a:rPr sz="1300" b="1">
                <a:solidFill>
                  <a:srgbClr val="161B26"/>
                </a:solidFill>
                <a:latin typeface="Arial"/>
              </a:rPr>
              <a:t>Wire Config → EventBridge → SSM Automation to auto-remediate and notify, so the exposure window is minutes and unattended — with the action logged for the morning review.</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465</a:t>
            </a:r>
          </a:p>
        </p:txBody>
      </p:sp>
    </p:spTree>
  </p:cSld>
  <p:clrMapOvr>
    <a:masterClrMapping/>
  </p:clrMapOvr>
  <p:transition xmlns:p14="http://schemas.microsoft.com/office/powerpoint/2010/main" p14:dur="380">
    <p:fade/>
  </p:transition>
</p:sld>
</file>

<file path=ppt/slides/slide4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RELEASE-HEALTH AUTOMATION</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Scenario — A deploy degrades error rate</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91440" cy="91440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1847088"/>
            <a:ext cx="2194560" cy="320040"/>
          </a:xfrm>
          <a:prstGeom prst="rect">
            <a:avLst/>
          </a:prstGeom>
          <a:noFill/>
        </p:spPr>
        <p:txBody>
          <a:bodyPr wrap="square" anchor="t">
            <a:spAutoFit/>
          </a:bodyPr>
          <a:lstStyle/>
          <a:p>
            <a:pPr algn="l">
              <a:spcAft>
                <a:spcPts val="400"/>
              </a:spcAft>
            </a:pPr>
            <a:r>
              <a:rPr sz="1150" b="1">
                <a:solidFill>
                  <a:srgbClr val="5B6372"/>
                </a:solidFill>
                <a:latin typeface="Arial"/>
              </a:rPr>
              <a:t>SITUATION</a:t>
            </a:r>
          </a:p>
        </p:txBody>
      </p:sp>
      <p:sp>
        <p:nvSpPr>
          <p:cNvPr id="10" name="TextBox 9"/>
          <p:cNvSpPr txBox="1"/>
          <p:nvPr/>
        </p:nvSpPr>
        <p:spPr>
          <a:xfrm>
            <a:off x="1033272" y="2157984"/>
            <a:ext cx="10085832" cy="457200"/>
          </a:xfrm>
          <a:prstGeom prst="rect">
            <a:avLst/>
          </a:prstGeom>
          <a:noFill/>
        </p:spPr>
        <p:txBody>
          <a:bodyPr wrap="square" anchor="t">
            <a:spAutoFit/>
          </a:bodyPr>
          <a:lstStyle/>
          <a:p>
            <a:pPr algn="l">
              <a:spcAft>
                <a:spcPts val="400"/>
              </a:spcAft>
            </a:pPr>
            <a:r>
              <a:rPr sz="1300" b="0">
                <a:solidFill>
                  <a:srgbClr val="161B26"/>
                </a:solidFill>
                <a:latin typeface="Arial"/>
              </a:rPr>
              <a:t>Minutes after a rollout, the error-rate alarm crosses threshold.</a:t>
            </a:r>
          </a:p>
        </p:txBody>
      </p:sp>
      <p:sp>
        <p:nvSpPr>
          <p:cNvPr id="11" name="Rectangle 10"/>
          <p:cNvSpPr/>
          <p:nvPr/>
        </p:nvSpPr>
        <p:spPr>
          <a:xfrm>
            <a:off x="777240" y="2788920"/>
            <a:ext cx="10634472" cy="21945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788920"/>
            <a:ext cx="91440" cy="219456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880360"/>
            <a:ext cx="2743200" cy="320040"/>
          </a:xfrm>
          <a:prstGeom prst="rect">
            <a:avLst/>
          </a:prstGeom>
          <a:noFill/>
        </p:spPr>
        <p:txBody>
          <a:bodyPr wrap="square" anchor="t">
            <a:spAutoFit/>
          </a:bodyPr>
          <a:lstStyle/>
          <a:p>
            <a:pPr algn="l">
              <a:spcAft>
                <a:spcPts val="400"/>
              </a:spcAft>
            </a:pPr>
            <a:r>
              <a:rPr sz="1150" b="1">
                <a:solidFill>
                  <a:srgbClr val="EC711E"/>
                </a:solidFill>
                <a:latin typeface="Arial"/>
              </a:rPr>
              <a:t>ANALYSIS</a:t>
            </a:r>
          </a:p>
        </p:txBody>
      </p:sp>
      <p:sp>
        <p:nvSpPr>
          <p:cNvPr id="14" name="TextBox 13"/>
          <p:cNvSpPr txBox="1"/>
          <p:nvPr/>
        </p:nvSpPr>
        <p:spPr>
          <a:xfrm>
            <a:off x="1033272" y="3246120"/>
            <a:ext cx="9994392" cy="1645920"/>
          </a:xfrm>
          <a:prstGeom prst="rect">
            <a:avLst/>
          </a:prstGeom>
          <a:noFill/>
        </p:spPr>
        <p:txBody>
          <a:bodyPr wrap="square">
            <a:spAutoFit/>
          </a:bodyPr>
          <a:lstStyle/>
          <a:p>
            <a:pPr>
              <a:spcAft>
                <a:spcPts val="700"/>
              </a:spcAft>
            </a:pPr>
            <a:r>
              <a:rPr sz="1300" b="0">
                <a:solidFill>
                  <a:srgbClr val="161B26"/>
                </a:solidFill>
                <a:latin typeface="Arial"/>
              </a:rPr>
              <a:t>•  The alarm can be an automatic rollback trigger for the CodeDeploy deployment, no human needed.</a:t>
            </a:r>
          </a:p>
          <a:p>
            <a:pPr>
              <a:spcAft>
                <a:spcPts val="700"/>
              </a:spcAft>
            </a:pPr>
            <a:r>
              <a:rPr sz="1300" b="0">
                <a:solidFill>
                  <a:srgbClr val="161B26"/>
                </a:solidFill>
                <a:latin typeface="Arial"/>
              </a:rPr>
              <a:t>•  EventBridge can also notify the team and open an incident record for context.</a:t>
            </a:r>
          </a:p>
          <a:p>
            <a:pPr>
              <a:spcAft>
                <a:spcPts val="700"/>
              </a:spcAft>
            </a:pPr>
            <a:r>
              <a:rPr sz="1300" b="0">
                <a:solidFill>
                  <a:srgbClr val="161B26"/>
                </a:solidFill>
                <a:latin typeface="Arial"/>
              </a:rPr>
              <a:t>•  A post-incident action is to move the service to canary so 5% catches this next time.</a:t>
            </a:r>
          </a:p>
        </p:txBody>
      </p:sp>
      <p:sp>
        <p:nvSpPr>
          <p:cNvPr id="15" name="Rectangle 14"/>
          <p:cNvSpPr/>
          <p:nvPr/>
        </p:nvSpPr>
        <p:spPr>
          <a:xfrm>
            <a:off x="777240" y="5102352"/>
            <a:ext cx="10634472"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5102352"/>
            <a:ext cx="91440" cy="9601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2" y="5193792"/>
            <a:ext cx="2743200" cy="320040"/>
          </a:xfrm>
          <a:prstGeom prst="rect">
            <a:avLst/>
          </a:prstGeom>
          <a:noFill/>
        </p:spPr>
        <p:txBody>
          <a:bodyPr wrap="square" anchor="t">
            <a:spAutoFit/>
          </a:bodyPr>
          <a:lstStyle/>
          <a:p>
            <a:pPr algn="l">
              <a:spcAft>
                <a:spcPts val="400"/>
              </a:spcAft>
            </a:pPr>
            <a:r>
              <a:rPr sz="1150" b="1">
                <a:solidFill>
                  <a:srgbClr val="10B981"/>
                </a:solidFill>
                <a:latin typeface="Arial"/>
              </a:rPr>
              <a:t>DECISION</a:t>
            </a:r>
          </a:p>
        </p:txBody>
      </p:sp>
      <p:sp>
        <p:nvSpPr>
          <p:cNvPr id="18" name="TextBox 17"/>
          <p:cNvSpPr txBox="1"/>
          <p:nvPr/>
        </p:nvSpPr>
        <p:spPr>
          <a:xfrm>
            <a:off x="1033272" y="5486400"/>
            <a:ext cx="10085832" cy="548640"/>
          </a:xfrm>
          <a:prstGeom prst="rect">
            <a:avLst/>
          </a:prstGeom>
          <a:noFill/>
        </p:spPr>
        <p:txBody>
          <a:bodyPr wrap="square" anchor="t">
            <a:spAutoFit/>
          </a:bodyPr>
          <a:lstStyle/>
          <a:p>
            <a:pPr algn="l">
              <a:spcAft>
                <a:spcPts val="400"/>
              </a:spcAft>
            </a:pPr>
            <a:r>
              <a:rPr sz="1300" b="1">
                <a:solidFill>
                  <a:srgbClr val="161B26"/>
                </a:solidFill>
                <a:latin typeface="Arial"/>
              </a:rPr>
              <a:t>Bind the error-rate alarm to CodeDeploy auto-rollback and notify in parallel; recovery becomes automatic and the follow-up hardens the pipeline.</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466</a:t>
            </a:r>
          </a:p>
        </p:txBody>
      </p:sp>
    </p:spTree>
  </p:cSld>
  <p:clrMapOvr>
    <a:masterClrMapping/>
  </p:clrMapOvr>
  <p:transition xmlns:p14="http://schemas.microsoft.com/office/powerpoint/2010/main" p14:dur="380">
    <p:fade/>
  </p:transition>
</p:sld>
</file>

<file path=ppt/slides/slide4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EVENT TO RECOVERY</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700" b="1">
                <a:solidFill>
                  <a:srgbClr val="161B26"/>
                </a:solidFill>
                <a:latin typeface="Arial"/>
              </a:rPr>
              <a:t>Worked Analysis — Anatomy of an Automated Response</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4253788" cy="76581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73152" cy="76581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31028" y="1783080"/>
            <a:ext cx="6380684" cy="76581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8408" y="1783080"/>
            <a:ext cx="3933748" cy="765810"/>
          </a:xfrm>
          <a:prstGeom prst="rect">
            <a:avLst/>
          </a:prstGeom>
          <a:noFill/>
        </p:spPr>
        <p:txBody>
          <a:bodyPr wrap="square" anchor="ctr">
            <a:spAutoFit/>
          </a:bodyPr>
          <a:lstStyle/>
          <a:p>
            <a:pPr algn="l">
              <a:spcAft>
                <a:spcPts val="400"/>
              </a:spcAft>
            </a:pPr>
            <a:r>
              <a:rPr sz="1250" b="1">
                <a:solidFill>
                  <a:srgbClr val="161B26"/>
                </a:solidFill>
                <a:latin typeface="Arial"/>
              </a:rPr>
              <a:t>Signal</a:t>
            </a:r>
          </a:p>
        </p:txBody>
      </p:sp>
      <p:sp>
        <p:nvSpPr>
          <p:cNvPr id="11" name="TextBox 10"/>
          <p:cNvSpPr txBox="1"/>
          <p:nvPr/>
        </p:nvSpPr>
        <p:spPr>
          <a:xfrm>
            <a:off x="5213908" y="1783080"/>
            <a:ext cx="6060644" cy="765810"/>
          </a:xfrm>
          <a:prstGeom prst="rect">
            <a:avLst/>
          </a:prstGeom>
          <a:noFill/>
        </p:spPr>
        <p:txBody>
          <a:bodyPr wrap="square" anchor="ctr">
            <a:spAutoFit/>
          </a:bodyPr>
          <a:lstStyle/>
          <a:p>
            <a:pPr algn="l">
              <a:spcAft>
                <a:spcPts val="400"/>
              </a:spcAft>
            </a:pPr>
            <a:r>
              <a:rPr sz="1200" b="0">
                <a:solidFill>
                  <a:srgbClr val="5B6372"/>
                </a:solidFill>
                <a:latin typeface="Arial"/>
              </a:rPr>
              <a:t>CloudWatch alarm / Config finding / service event fires.</a:t>
            </a:r>
          </a:p>
        </p:txBody>
      </p:sp>
      <p:sp>
        <p:nvSpPr>
          <p:cNvPr id="12" name="Rectangle 11"/>
          <p:cNvSpPr/>
          <p:nvPr/>
        </p:nvSpPr>
        <p:spPr>
          <a:xfrm>
            <a:off x="777240" y="2548890"/>
            <a:ext cx="4253788" cy="76581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548890"/>
            <a:ext cx="73152" cy="76581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31028" y="2548890"/>
            <a:ext cx="6380684" cy="76581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78408" y="2548890"/>
            <a:ext cx="3933748" cy="765810"/>
          </a:xfrm>
          <a:prstGeom prst="rect">
            <a:avLst/>
          </a:prstGeom>
          <a:noFill/>
        </p:spPr>
        <p:txBody>
          <a:bodyPr wrap="square" anchor="ctr">
            <a:spAutoFit/>
          </a:bodyPr>
          <a:lstStyle/>
          <a:p>
            <a:pPr algn="l">
              <a:spcAft>
                <a:spcPts val="400"/>
              </a:spcAft>
            </a:pPr>
            <a:r>
              <a:rPr sz="1250" b="1">
                <a:solidFill>
                  <a:srgbClr val="161B26"/>
                </a:solidFill>
                <a:latin typeface="Arial"/>
              </a:rPr>
              <a:t>Route</a:t>
            </a:r>
          </a:p>
        </p:txBody>
      </p:sp>
      <p:sp>
        <p:nvSpPr>
          <p:cNvPr id="16" name="TextBox 15"/>
          <p:cNvSpPr txBox="1"/>
          <p:nvPr/>
        </p:nvSpPr>
        <p:spPr>
          <a:xfrm>
            <a:off x="5213908" y="2548890"/>
            <a:ext cx="6060644" cy="765810"/>
          </a:xfrm>
          <a:prstGeom prst="rect">
            <a:avLst/>
          </a:prstGeom>
          <a:noFill/>
        </p:spPr>
        <p:txBody>
          <a:bodyPr wrap="square" anchor="ctr">
            <a:spAutoFit/>
          </a:bodyPr>
          <a:lstStyle/>
          <a:p>
            <a:pPr algn="l">
              <a:spcAft>
                <a:spcPts val="400"/>
              </a:spcAft>
            </a:pPr>
            <a:r>
              <a:rPr sz="1200" b="0">
                <a:solidFill>
                  <a:srgbClr val="5B6372"/>
                </a:solidFill>
                <a:latin typeface="Arial"/>
              </a:rPr>
              <a:t>EventBridge rule matches the event pattern precisely.</a:t>
            </a:r>
          </a:p>
        </p:txBody>
      </p:sp>
      <p:sp>
        <p:nvSpPr>
          <p:cNvPr id="17" name="Rectangle 16"/>
          <p:cNvSpPr/>
          <p:nvPr/>
        </p:nvSpPr>
        <p:spPr>
          <a:xfrm>
            <a:off x="777240" y="3314700"/>
            <a:ext cx="4253788" cy="76581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4700"/>
            <a:ext cx="73152" cy="76581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31028" y="3314700"/>
            <a:ext cx="6380684" cy="76581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3314700"/>
            <a:ext cx="3933748" cy="765810"/>
          </a:xfrm>
          <a:prstGeom prst="rect">
            <a:avLst/>
          </a:prstGeom>
          <a:noFill/>
        </p:spPr>
        <p:txBody>
          <a:bodyPr wrap="square" anchor="ctr">
            <a:spAutoFit/>
          </a:bodyPr>
          <a:lstStyle/>
          <a:p>
            <a:pPr algn="l">
              <a:spcAft>
                <a:spcPts val="400"/>
              </a:spcAft>
            </a:pPr>
            <a:r>
              <a:rPr sz="1250" b="1">
                <a:solidFill>
                  <a:srgbClr val="161B26"/>
                </a:solidFill>
                <a:latin typeface="Arial"/>
              </a:rPr>
              <a:t>Notify</a:t>
            </a:r>
          </a:p>
        </p:txBody>
      </p:sp>
      <p:sp>
        <p:nvSpPr>
          <p:cNvPr id="21" name="TextBox 20"/>
          <p:cNvSpPr txBox="1"/>
          <p:nvPr/>
        </p:nvSpPr>
        <p:spPr>
          <a:xfrm>
            <a:off x="5213908" y="3314700"/>
            <a:ext cx="6060644" cy="765810"/>
          </a:xfrm>
          <a:prstGeom prst="rect">
            <a:avLst/>
          </a:prstGeom>
          <a:noFill/>
        </p:spPr>
        <p:txBody>
          <a:bodyPr wrap="square" anchor="ctr">
            <a:spAutoFit/>
          </a:bodyPr>
          <a:lstStyle/>
          <a:p>
            <a:pPr algn="l">
              <a:spcAft>
                <a:spcPts val="400"/>
              </a:spcAft>
            </a:pPr>
            <a:r>
              <a:rPr sz="1200" b="0">
                <a:solidFill>
                  <a:srgbClr val="5B6372"/>
                </a:solidFill>
                <a:latin typeface="Arial"/>
              </a:rPr>
              <a:t>SNS informs responders with context — they watch, not scramble.</a:t>
            </a:r>
          </a:p>
        </p:txBody>
      </p:sp>
      <p:sp>
        <p:nvSpPr>
          <p:cNvPr id="22" name="Rectangle 21"/>
          <p:cNvSpPr/>
          <p:nvPr/>
        </p:nvSpPr>
        <p:spPr>
          <a:xfrm>
            <a:off x="777240" y="4080510"/>
            <a:ext cx="4253788" cy="76581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080510"/>
            <a:ext cx="73152" cy="76581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031028" y="4080510"/>
            <a:ext cx="6380684" cy="76581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8408" y="4080510"/>
            <a:ext cx="3933748" cy="765810"/>
          </a:xfrm>
          <a:prstGeom prst="rect">
            <a:avLst/>
          </a:prstGeom>
          <a:noFill/>
        </p:spPr>
        <p:txBody>
          <a:bodyPr wrap="square" anchor="ctr">
            <a:spAutoFit/>
          </a:bodyPr>
          <a:lstStyle/>
          <a:p>
            <a:pPr algn="l">
              <a:spcAft>
                <a:spcPts val="400"/>
              </a:spcAft>
            </a:pPr>
            <a:r>
              <a:rPr sz="1250" b="1">
                <a:solidFill>
                  <a:srgbClr val="161B26"/>
                </a:solidFill>
                <a:latin typeface="Arial"/>
              </a:rPr>
              <a:t>Act &amp; verify</a:t>
            </a:r>
          </a:p>
        </p:txBody>
      </p:sp>
      <p:sp>
        <p:nvSpPr>
          <p:cNvPr id="26" name="TextBox 25"/>
          <p:cNvSpPr txBox="1"/>
          <p:nvPr/>
        </p:nvSpPr>
        <p:spPr>
          <a:xfrm>
            <a:off x="5213908" y="4080510"/>
            <a:ext cx="6060644" cy="765810"/>
          </a:xfrm>
          <a:prstGeom prst="rect">
            <a:avLst/>
          </a:prstGeom>
          <a:noFill/>
        </p:spPr>
        <p:txBody>
          <a:bodyPr wrap="square" anchor="ctr">
            <a:spAutoFit/>
          </a:bodyPr>
          <a:lstStyle/>
          <a:p>
            <a:pPr algn="l">
              <a:spcAft>
                <a:spcPts val="400"/>
              </a:spcAft>
            </a:pPr>
            <a:r>
              <a:rPr sz="1200" b="0">
                <a:solidFill>
                  <a:srgbClr val="5B6372"/>
                </a:solidFill>
                <a:latin typeface="Arial"/>
              </a:rPr>
              <a:t>Lambda/SSM runbook remediates; a follow-up check confirms healthy state, else escalates.</a:t>
            </a:r>
          </a:p>
        </p:txBody>
      </p:sp>
      <p:sp>
        <p:nvSpPr>
          <p:cNvPr id="27" name="Rectangle 26"/>
          <p:cNvSpPr/>
          <p:nvPr/>
        </p:nvSpPr>
        <p:spPr>
          <a:xfrm>
            <a:off x="777240" y="5010912"/>
            <a:ext cx="10634472" cy="868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010912"/>
            <a:ext cx="91440" cy="8686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33272" y="5102352"/>
            <a:ext cx="2743200" cy="320040"/>
          </a:xfrm>
          <a:prstGeom prst="rect">
            <a:avLst/>
          </a:prstGeom>
          <a:noFill/>
        </p:spPr>
        <p:txBody>
          <a:bodyPr wrap="square" anchor="t">
            <a:spAutoFit/>
          </a:bodyPr>
          <a:lstStyle/>
          <a:p>
            <a:pPr algn="l">
              <a:spcAft>
                <a:spcPts val="400"/>
              </a:spcAft>
            </a:pPr>
            <a:r>
              <a:rPr sz="1150" b="1">
                <a:solidFill>
                  <a:srgbClr val="10B981"/>
                </a:solidFill>
                <a:latin typeface="Arial"/>
              </a:rPr>
              <a:t>TAKEAWAY</a:t>
            </a:r>
          </a:p>
        </p:txBody>
      </p:sp>
      <p:sp>
        <p:nvSpPr>
          <p:cNvPr id="30" name="TextBox 29"/>
          <p:cNvSpPr txBox="1"/>
          <p:nvPr/>
        </p:nvSpPr>
        <p:spPr>
          <a:xfrm>
            <a:off x="1033272" y="5394960"/>
            <a:ext cx="10085832" cy="457200"/>
          </a:xfrm>
          <a:prstGeom prst="rect">
            <a:avLst/>
          </a:prstGeom>
          <a:noFill/>
        </p:spPr>
        <p:txBody>
          <a:bodyPr wrap="square" anchor="t">
            <a:spAutoFit/>
          </a:bodyPr>
          <a:lstStyle/>
          <a:p>
            <a:pPr algn="l">
              <a:spcAft>
                <a:spcPts val="400"/>
              </a:spcAft>
            </a:pPr>
            <a:r>
              <a:rPr sz="1300" b="1">
                <a:solidFill>
                  <a:srgbClr val="161B26"/>
                </a:solidFill>
                <a:latin typeface="Arial"/>
              </a:rPr>
              <a:t>A good response is a small, testable pipeline — precise trigger, parallel notify-and-act, and a verification step that escalates if the fix didn't hold.</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467</a:t>
            </a:r>
          </a:p>
        </p:txBody>
      </p:sp>
    </p:spTree>
  </p:cSld>
  <p:clrMapOvr>
    <a:masterClrMapping/>
  </p:clrMapOvr>
  <p:transition xmlns:p14="http://schemas.microsoft.com/office/powerpoint/2010/main" p14:dur="380">
    <p:fade/>
  </p:transition>
</p:sld>
</file>

<file path=ppt/slides/slide4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DOMAIN 5 · EVENTBRIDGE · SNS · SQS · LAMBDA</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AWS foundations: Event-driven incident response</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PURPOSE</a:t>
            </a:r>
          </a:p>
          <a:p>
            <a:pPr algn="l">
              <a:spcAft>
                <a:spcPts val="300"/>
              </a:spcAft>
            </a:pPr>
            <a:r>
              <a:rPr sz="1050" b="0">
                <a:solidFill>
                  <a:srgbClr val="5B6372"/>
                </a:solidFill>
                <a:latin typeface="Arial"/>
              </a:rPr>
              <a:t>Route precise operational state changes to people and automation with buffering and failure isolation.</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FEATURE 1</a:t>
            </a:r>
          </a:p>
          <a:p>
            <a:pPr algn="l">
              <a:spcAft>
                <a:spcPts val="300"/>
              </a:spcAft>
            </a:pPr>
            <a:r>
              <a:rPr sz="1050" b="0">
                <a:solidFill>
                  <a:srgbClr val="5B6372"/>
                </a:solidFill>
                <a:latin typeface="Arial"/>
              </a:rPr>
              <a:t>EventBridge filters structured events and supports archives/replay for event buses.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FEATURE 2</a:t>
            </a:r>
          </a:p>
          <a:p>
            <a:pPr algn="l">
              <a:spcAft>
                <a:spcPts val="300"/>
              </a:spcAft>
            </a:pPr>
            <a:r>
              <a:rPr sz="1050" b="0">
                <a:solidFill>
                  <a:srgbClr val="5B6372"/>
                </a:solidFill>
                <a:latin typeface="Arial"/>
              </a:rPr>
              <a:t>SNS fans out notifications; SQS buffers consumer work and supports DLQs.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FEATURE 3</a:t>
            </a:r>
          </a:p>
          <a:p>
            <a:pPr algn="l">
              <a:spcAft>
                <a:spcPts val="300"/>
              </a:spcAft>
            </a:pPr>
            <a:r>
              <a:rPr sz="1050" b="0">
                <a:solidFill>
                  <a:srgbClr val="5B6372"/>
                </a:solidFill>
                <a:latin typeface="Arial"/>
              </a:rPr>
              <a:t>Lambda performs short response actions under a scoped execution role.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468</a:t>
            </a:r>
          </a:p>
        </p:txBody>
      </p:sp>
    </p:spTree>
  </p:cSld>
  <p:clrMapOvr>
    <a:masterClrMapping/>
  </p:clrMapOvr>
  <p:transition xmlns:p14="http://schemas.microsoft.com/office/powerpoint/2010/main" p14:dur="380">
    <p:fade/>
  </p:transition>
</p:sld>
</file>

<file path=ppt/slides/slide4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DOMAIN 5 · SERVICE DECISION</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Event-driven incident response: selection and controls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CHOOSE WHEN</a:t>
            </a:r>
          </a:p>
          <a:p>
            <a:pPr algn="l">
              <a:spcAft>
                <a:spcPts val="300"/>
              </a:spcAft>
            </a:pPr>
            <a:r>
              <a:rPr sz="1050" b="0">
                <a:solidFill>
                  <a:srgbClr val="5B6372"/>
                </a:solidFill>
                <a:latin typeface="Arial"/>
              </a:rPr>
              <a:t>Use EventBridge for content routing, SNS for fan-out and SQS when consumers need durable buffering/back-pressure.</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DEVOPS ENGINEERING</a:t>
            </a:r>
          </a:p>
          <a:p>
            <a:pPr algn="l">
              <a:spcAft>
                <a:spcPts val="300"/>
              </a:spcAft>
            </a:pPr>
            <a:r>
              <a:rPr sz="1050" b="0">
                <a:solidFill>
                  <a:srgbClr val="5B6372"/>
                </a:solidFill>
                <a:latin typeface="Arial"/>
              </a:rPr>
              <a:t>Match exact fields, make actions idempotent, add DLQs, cap retries and require approval for high-impact remediation.</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MODE</a:t>
            </a:r>
          </a:p>
          <a:p>
            <a:pPr algn="l">
              <a:spcAft>
                <a:spcPts val="300"/>
              </a:spcAft>
            </a:pPr>
            <a:r>
              <a:rPr sz="1050" b="0">
                <a:solidFill>
                  <a:srgbClr val="5B6372"/>
                </a:solidFill>
                <a:latin typeface="Arial"/>
              </a:rPr>
              <a:t>A broad event pattern or overprivileged responder can automate the wrong containment action.</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EVIDENCE</a:t>
            </a:r>
          </a:p>
          <a:p>
            <a:pPr algn="l">
              <a:spcAft>
                <a:spcPts val="300"/>
              </a:spcAft>
            </a:pPr>
            <a:r>
              <a:rPr sz="1050" b="0">
                <a:solidFill>
                  <a:srgbClr val="5B6372"/>
                </a:solidFill>
                <a:latin typeface="Arial"/>
              </a:rPr>
              <a:t>Matched event, delivery attempts, DLQ depth, function request ID, changed resource and approval.</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469</a:t>
            </a:r>
          </a:p>
        </p:txBody>
      </p:sp>
    </p:spTree>
  </p:cSld>
  <p:clrMapOvr>
    <a:masterClrMapping/>
  </p:clrMapOvr>
  <p:transition xmlns:p14="http://schemas.microsoft.com/office/powerpoint/2010/main" p14:dur="380">
    <p:fade/>
  </p:transition>
</p:sld>
</file>

<file path=ppt/slides/slide4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DOMAIN 5 · SYSTEMS MANAGER OPSCENTER · AUTOMATION · EXPLORER · INCIDENT MANAGER</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AWS foundations: Operations and remediation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PURPOSE</a:t>
            </a:r>
          </a:p>
          <a:p>
            <a:pPr algn="l">
              <a:spcAft>
                <a:spcPts val="300"/>
              </a:spcAft>
            </a:pPr>
            <a:r>
              <a:rPr sz="1050" b="0">
                <a:solidFill>
                  <a:srgbClr val="5B6372"/>
                </a:solidFill>
                <a:latin typeface="Arial"/>
              </a:rPr>
              <a:t>Aggregate operational issues, attach context and run controlled investigation or remediation workflows.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FEATURE 1</a:t>
            </a:r>
          </a:p>
          <a:p>
            <a:pPr algn="l">
              <a:spcAft>
                <a:spcPts val="300"/>
              </a:spcAft>
            </a:pPr>
            <a:r>
              <a:rPr sz="1050" b="0">
                <a:solidFill>
                  <a:srgbClr val="5B6372"/>
                </a:solidFill>
                <a:latin typeface="Arial"/>
              </a:rPr>
              <a:t>OpsItems connect an issue to resources, related events, runbooks and ownership.</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FEATURE 2</a:t>
            </a:r>
          </a:p>
          <a:p>
            <a:pPr algn="l">
              <a:spcAft>
                <a:spcPts val="300"/>
              </a:spcAft>
            </a:pPr>
            <a:r>
              <a:rPr sz="1050" b="0">
                <a:solidFill>
                  <a:srgbClr val="5B6372"/>
                </a:solidFill>
                <a:latin typeface="Arial"/>
              </a:rPr>
              <a:t>Automation executes auditable steps with branching, approvals and AWS API integrations.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FEATURE 3</a:t>
            </a:r>
          </a:p>
          <a:p>
            <a:pPr algn="l">
              <a:spcAft>
                <a:spcPts val="300"/>
              </a:spcAft>
            </a:pPr>
            <a:r>
              <a:rPr sz="1050" b="0">
                <a:solidFill>
                  <a:srgbClr val="5B6372"/>
                </a:solidFill>
                <a:latin typeface="Arial"/>
              </a:rPr>
              <a:t>Explorer aggregates operational/compliance data across configured accounts and Regions.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470</a:t>
            </a:r>
          </a:p>
        </p:txBody>
      </p:sp>
    </p:spTree>
  </p:cSld>
  <p:clrMapOvr>
    <a:masterClrMapping/>
  </p:clrMapOvr>
  <p:transition xmlns:p14="http://schemas.microsoft.com/office/powerpoint/2010/main" p14:dur="380">
    <p:fade/>
  </p:transition>
</p:sld>
</file>

<file path=ppt/slides/slide4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DOMAIN 5 · SERVICE DECISION</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Operations and remediation: selection and controls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CHOOSE WHEN</a:t>
            </a:r>
          </a:p>
          <a:p>
            <a:pPr algn="l">
              <a:spcAft>
                <a:spcPts val="300"/>
              </a:spcAft>
            </a:pPr>
            <a:r>
              <a:rPr sz="1050" b="0">
                <a:solidFill>
                  <a:srgbClr val="5B6372"/>
                </a:solidFill>
                <a:latin typeface="Arial"/>
              </a:rPr>
              <a:t>Use Automation for repeatable remediation and OpsCenter when issues need lifecycle, ownership and evidence.</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DEVOPS ENGINEERING</a:t>
            </a:r>
          </a:p>
          <a:p>
            <a:pPr algn="l">
              <a:spcAft>
                <a:spcPts val="300"/>
              </a:spcAft>
            </a:pPr>
            <a:r>
              <a:rPr sz="1050" b="0">
                <a:solidFill>
                  <a:srgbClr val="5B6372"/>
                </a:solidFill>
                <a:latin typeface="Arial"/>
              </a:rPr>
              <a:t>Start with read-only diagnosis, canary the change, bound targets/errors and preserve before/after state.</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MODE</a:t>
            </a:r>
          </a:p>
          <a:p>
            <a:pPr algn="l">
              <a:spcAft>
                <a:spcPts val="300"/>
              </a:spcAft>
            </a:pPr>
            <a:r>
              <a:rPr sz="1050" b="0">
                <a:solidFill>
                  <a:srgbClr val="5B6372"/>
                </a:solidFill>
                <a:latin typeface="Arial"/>
              </a:rPr>
              <a:t>Automation that deletes diagnostic state before collection can make the incident unexplainable.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EVIDENCE</a:t>
            </a:r>
          </a:p>
          <a:p>
            <a:pPr algn="l">
              <a:spcAft>
                <a:spcPts val="300"/>
              </a:spcAft>
            </a:pPr>
            <a:r>
              <a:rPr sz="1050" b="0">
                <a:solidFill>
                  <a:srgbClr val="5B6372"/>
                </a:solidFill>
                <a:latin typeface="Arial"/>
              </a:rPr>
              <a:t>OpsItem, execution steps, approver, target set, output, resource diff and post-check.</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471</a:t>
            </a:r>
          </a:p>
        </p:txBody>
      </p:sp>
    </p:spTree>
  </p:cSld>
  <p:clrMapOvr>
    <a:masterClrMapping/>
  </p:clrMapOvr>
  <p:transition xmlns:p14="http://schemas.microsoft.com/office/powerpoint/2010/main" p14:dur="380">
    <p:fade/>
  </p:transition>
</p:sld>
</file>

<file path=ppt/slides/slide4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DOMAIN 5 · CLOUDTRAIL · AWS CONFIG · CLOUDFORMATION DRIFT</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AWS foundations: Audit and configuration diagnosis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PURPOSE</a:t>
            </a:r>
          </a:p>
          <a:p>
            <a:pPr algn="l">
              <a:spcAft>
                <a:spcPts val="300"/>
              </a:spcAft>
            </a:pPr>
            <a:r>
              <a:rPr sz="1050" b="0">
                <a:solidFill>
                  <a:srgbClr val="5B6372"/>
                </a:solidFill>
                <a:latin typeface="Arial"/>
              </a:rPr>
              <a:t>Separate who changed what from what configuration exists now and what desired state declares.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FEATURE 1</a:t>
            </a:r>
          </a:p>
          <a:p>
            <a:pPr algn="l">
              <a:spcAft>
                <a:spcPts val="300"/>
              </a:spcAft>
            </a:pPr>
            <a:r>
              <a:rPr sz="1050" b="0">
                <a:solidFill>
                  <a:srgbClr val="5B6372"/>
                </a:solidFill>
                <a:latin typeface="Arial"/>
              </a:rPr>
              <a:t>CloudTrail records control-plane/API activity and identity context; data events require explicit configuration.</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FEATURE 2</a:t>
            </a:r>
          </a:p>
          <a:p>
            <a:pPr algn="l">
              <a:spcAft>
                <a:spcPts val="300"/>
              </a:spcAft>
            </a:pPr>
            <a:r>
              <a:rPr sz="1050" b="0">
                <a:solidFill>
                  <a:srgbClr val="5B6372"/>
                </a:solidFill>
                <a:latin typeface="Arial"/>
              </a:rPr>
              <a:t>Config records supported resource configuration/history and evaluates rules.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FEATURE 3</a:t>
            </a:r>
          </a:p>
          <a:p>
            <a:pPr algn="l">
              <a:spcAft>
                <a:spcPts val="300"/>
              </a:spcAft>
            </a:pPr>
            <a:r>
              <a:rPr sz="1050" b="0">
                <a:solidFill>
                  <a:srgbClr val="5B6372"/>
                </a:solidFill>
                <a:latin typeface="Arial"/>
              </a:rPr>
              <a:t>CloudFormation drift compares supported actual properties with the stack template.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472</a:t>
            </a:r>
          </a:p>
        </p:txBody>
      </p:sp>
    </p:spTree>
  </p:cSld>
  <p:clrMapOvr>
    <a:masterClrMapping/>
  </p:clrMapOvr>
  <p:transition xmlns:p14="http://schemas.microsoft.com/office/powerpoint/2010/main" p14:dur="380">
    <p:fade/>
  </p:transition>
</p:sld>
</file>

<file path=ppt/slides/slide4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DOMAIN 5 · SERVICE DECISION</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700" b="1">
                <a:solidFill>
                  <a:srgbClr val="161B26"/>
                </a:solidFill>
                <a:latin typeface="Arial"/>
              </a:rPr>
              <a:t>Audit and configuration diagnosis: selection and controls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CHOOSE WHEN</a:t>
            </a:r>
          </a:p>
          <a:p>
            <a:pPr algn="l">
              <a:spcAft>
                <a:spcPts val="300"/>
              </a:spcAft>
            </a:pPr>
            <a:r>
              <a:rPr sz="1050" b="0">
                <a:solidFill>
                  <a:srgbClr val="5B6372"/>
                </a:solidFill>
                <a:latin typeface="Arial"/>
              </a:rPr>
              <a:t>Use CloudTrail for actor/API evidence, Config for resource history/compliance and drift for IaC divergence.</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DEVOPS ENGINEERING</a:t>
            </a:r>
          </a:p>
          <a:p>
            <a:pPr algn="l">
              <a:spcAft>
                <a:spcPts val="300"/>
              </a:spcAft>
            </a:pPr>
            <a:r>
              <a:rPr sz="1050" b="0">
                <a:solidFill>
                  <a:srgbClr val="5B6372"/>
                </a:solidFill>
                <a:latin typeface="Arial"/>
              </a:rPr>
              <a:t>Centralise trails, protect logs, scope selectors deliberately, aggregate Config and investigate before remediation.</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MODE</a:t>
            </a:r>
          </a:p>
          <a:p>
            <a:pPr algn="l">
              <a:spcAft>
                <a:spcPts val="300"/>
              </a:spcAft>
            </a:pPr>
            <a:r>
              <a:rPr sz="1050" b="0">
                <a:solidFill>
                  <a:srgbClr val="5B6372"/>
                </a:solidFill>
                <a:latin typeface="Arial"/>
              </a:rPr>
              <a:t>No event may mean the trail did not capture that event category—not that no change occurred.</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EVIDENCE</a:t>
            </a:r>
          </a:p>
          <a:p>
            <a:pPr algn="l">
              <a:spcAft>
                <a:spcPts val="300"/>
              </a:spcAft>
            </a:pPr>
            <a:r>
              <a:rPr sz="1050" b="0">
                <a:solidFill>
                  <a:srgbClr val="5B6372"/>
                </a:solidFill>
                <a:latin typeface="Arial"/>
              </a:rPr>
              <a:t>Event time/identity/request, configuration timeline, compliance evaluation, drift detail and remediation record.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473</a:t>
            </a:r>
          </a:p>
        </p:txBody>
      </p:sp>
    </p:spTree>
  </p:cSld>
  <p:clrMapOvr>
    <a:masterClrMapping/>
  </p:clrMapOvr>
  <p:transition xmlns:p14="http://schemas.microsoft.com/office/powerpoint/2010/main" p14:dur="380">
    <p:fade/>
  </p:transition>
</p:sld>
</file>

<file path=ppt/slides/slide4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DOMAIN 5 · VPC FLOW LOGS · REACHABILITY ANALYZER · CLOUDWATCH · ROUTE 53 RESOLVER LOGS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AWS foundations: Network troubleshooting</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PURPOSE</a:t>
            </a:r>
          </a:p>
          <a:p>
            <a:pPr algn="l">
              <a:spcAft>
                <a:spcPts val="300"/>
              </a:spcAft>
            </a:pPr>
            <a:r>
              <a:rPr sz="1050" b="0">
                <a:solidFill>
                  <a:srgbClr val="5B6372"/>
                </a:solidFill>
                <a:latin typeface="Arial"/>
              </a:rPr>
              <a:t>Diagnose connectivity by distinguishing route, policy, name-resolution, load-balancer and application failures.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FEATURE 1</a:t>
            </a:r>
          </a:p>
          <a:p>
            <a:pPr algn="l">
              <a:spcAft>
                <a:spcPts val="300"/>
              </a:spcAft>
            </a:pPr>
            <a:r>
              <a:rPr sz="1050" b="0">
                <a:solidFill>
                  <a:srgbClr val="5B6372"/>
                </a:solidFill>
                <a:latin typeface="Arial"/>
              </a:rPr>
              <a:t>Flow Logs show accepted/rejected network-flow metadata, not packet contents.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FEATURE 2</a:t>
            </a:r>
          </a:p>
          <a:p>
            <a:pPr algn="l">
              <a:spcAft>
                <a:spcPts val="300"/>
              </a:spcAft>
            </a:pPr>
            <a:r>
              <a:rPr sz="1050" b="0">
                <a:solidFill>
                  <a:srgbClr val="5B6372"/>
                </a:solidFill>
                <a:latin typeface="Arial"/>
              </a:rPr>
              <a:t>Reachability Analyzer evaluates a modeled path through supported network configuration.</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FEATURE 3</a:t>
            </a:r>
          </a:p>
          <a:p>
            <a:pPr algn="l">
              <a:spcAft>
                <a:spcPts val="300"/>
              </a:spcAft>
            </a:pPr>
            <a:r>
              <a:rPr sz="1050" b="0">
                <a:solidFill>
                  <a:srgbClr val="5B6372"/>
                </a:solidFill>
                <a:latin typeface="Arial"/>
              </a:rPr>
              <a:t>Resolver query logs reveal DNS questions/responses from configured VPCs.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474</a:t>
            </a:r>
          </a:p>
        </p:txBody>
      </p:sp>
    </p:spTree>
  </p:cSld>
  <p:clrMapOvr>
    <a:masterClrMapping/>
  </p:clrMapOvr>
  <p:transition xmlns:p14="http://schemas.microsoft.com/office/powerpoint/2010/main" p14:dur="380">
    <p:fade/>
  </p:transition>
</p:sld>
</file>

<file path=ppt/slides/slide4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DOMAIN 5 · SERVICE DECISION</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Network troubleshooting: selection and controls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CHOOSE WHEN</a:t>
            </a:r>
          </a:p>
          <a:p>
            <a:pPr algn="l">
              <a:spcAft>
                <a:spcPts val="300"/>
              </a:spcAft>
            </a:pPr>
            <a:r>
              <a:rPr sz="1050" b="0">
                <a:solidFill>
                  <a:srgbClr val="5B6372"/>
                </a:solidFill>
                <a:latin typeface="Arial"/>
              </a:rPr>
              <a:t>Use configuration path analysis first, then flow/DNS/load-balancer evidence to locate the failed layer.</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DEVOPS ENGINEERING</a:t>
            </a:r>
          </a:p>
          <a:p>
            <a:pPr algn="l">
              <a:spcAft>
                <a:spcPts val="300"/>
              </a:spcAft>
            </a:pPr>
            <a:r>
              <a:rPr sz="1050" b="0">
                <a:solidFill>
                  <a:srgbClr val="5B6372"/>
                </a:solidFill>
                <a:latin typeface="Arial"/>
              </a:rPr>
              <a:t>Check source/destination, DNS, route both ways, security groups, NACLs, endpoints, target health and application listener.</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MODE</a:t>
            </a:r>
          </a:p>
          <a:p>
            <a:pPr algn="l">
              <a:spcAft>
                <a:spcPts val="300"/>
              </a:spcAft>
            </a:pPr>
            <a:r>
              <a:rPr sz="1050" b="0">
                <a:solidFill>
                  <a:srgbClr val="5B6372"/>
                </a:solidFill>
                <a:latin typeface="Arial"/>
              </a:rPr>
              <a:t>Treating every timeout as a security-group issue leads to random changes and larger blast radius.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EVIDENCE</a:t>
            </a:r>
          </a:p>
          <a:p>
            <a:pPr algn="l">
              <a:spcAft>
                <a:spcPts val="300"/>
              </a:spcAft>
            </a:pPr>
            <a:r>
              <a:rPr sz="1050" b="0">
                <a:solidFill>
                  <a:srgbClr val="5B6372"/>
                </a:solidFill>
                <a:latin typeface="Arial"/>
              </a:rPr>
              <a:t>Path result, flow-log action, DNS response, route, target health, application log and corrected control.</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475</a:t>
            </a:r>
          </a:p>
        </p:txBody>
      </p:sp>
    </p:spTree>
  </p:cSld>
  <p:clrMapOvr>
    <a:masterClrMapping/>
  </p:clrMapOvr>
  <p:transition xmlns:p14="http://schemas.microsoft.com/office/powerpoint/2010/main" p14:dur="380">
    <p:fade/>
  </p:transition>
</p:sld>
</file>

<file path=ppt/slides/slide4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DOMAIN 5 · AWS DEVELOPER SERVICES</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300" b="1">
                <a:solidFill>
                  <a:srgbClr val="161B26"/>
                </a:solidFill>
                <a:latin typeface="Arial"/>
              </a:rPr>
              <a:t>Developer deep dive: SQS buffering, ordering and dead-letter handling</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PURPOSE</a:t>
            </a:r>
          </a:p>
          <a:p>
            <a:pPr algn="l">
              <a:spcAft>
                <a:spcPts val="300"/>
              </a:spcAft>
            </a:pPr>
            <a:r>
              <a:rPr sz="1050" b="0">
                <a:solidFill>
                  <a:srgbClr val="5B6372"/>
                </a:solidFill>
                <a:latin typeface="Arial"/>
              </a:rPr>
              <a:t>Decouple producers from consumers while making delivery, visibility, idempotency and poison-message behavior explicit.</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SERVICE BOUNDARY</a:t>
            </a:r>
          </a:p>
          <a:p>
            <a:pPr algn="l">
              <a:spcAft>
                <a:spcPts val="300"/>
              </a:spcAft>
            </a:pPr>
            <a:r>
              <a:rPr sz="1050" b="0">
                <a:solidFill>
                  <a:srgbClr val="5B6372"/>
                </a:solidFill>
                <a:latin typeface="Arial"/>
              </a:rPr>
              <a:t>SQS Standard · FIFO · dead-letter queues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PRIMARY DESIGN DECISION</a:t>
            </a:r>
          </a:p>
          <a:p>
            <a:pPr algn="l">
              <a:spcAft>
                <a:spcPts val="300"/>
              </a:spcAft>
            </a:pPr>
            <a:r>
              <a:rPr sz="1050" b="0">
                <a:solidFill>
                  <a:srgbClr val="5B6372"/>
                </a:solidFill>
                <a:latin typeface="Arial"/>
              </a:rPr>
              <a:t>Make the charge operation idempotent, extend visibility while healthy, cap retry attempts and isolate permanent failures in a DLQ.</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BOUNDARY</a:t>
            </a:r>
          </a:p>
          <a:p>
            <a:pPr algn="l">
              <a:spcAft>
                <a:spcPts val="300"/>
              </a:spcAft>
            </a:pPr>
            <a:r>
              <a:rPr sz="1050" b="0">
                <a:solidFill>
                  <a:srgbClr val="5B6372"/>
                </a:solidFill>
                <a:latin typeface="Arial"/>
              </a:rPr>
              <a:t>Increasing visibility indefinitely hides stuck work; relying only on FIFO deduplication does not protect downstream side effects forever.</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476</a:t>
            </a:r>
          </a:p>
        </p:txBody>
      </p:sp>
    </p:spTree>
  </p:cSld>
  <p:clrMapOvr>
    <a:masterClrMapping/>
  </p:clrMapOvr>
  <p:transition xmlns:p14="http://schemas.microsoft.com/office/powerpoint/2010/main" p14:dur="380">
    <p:fade/>
  </p:transition>
</p:sld>
</file>

<file path=ppt/slides/slide4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DOMAIN 5 · SERVICE MECHANICS</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500" b="1">
                <a:solidFill>
                  <a:srgbClr val="161B26"/>
                </a:solidFill>
                <a:latin typeface="Arial"/>
              </a:rPr>
              <a:t>SQS buffering, ordering and dead-letter handling: how it works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1</a:t>
            </a:r>
          </a:p>
          <a:p>
            <a:pPr algn="l">
              <a:spcAft>
                <a:spcPts val="300"/>
              </a:spcAft>
            </a:pPr>
            <a:r>
              <a:rPr sz="1050" b="0">
                <a:solidFill>
                  <a:srgbClr val="5B6372"/>
                </a:solidFill>
                <a:latin typeface="Arial"/>
              </a:rPr>
              <a:t>Standard queues scale broadly with at-least-once delivery and best-effort ordering; consumers must tolerate duplicate and reordered messages.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2</a:t>
            </a:r>
          </a:p>
          <a:p>
            <a:pPr algn="l">
              <a:spcAft>
                <a:spcPts val="300"/>
              </a:spcAft>
            </a:pPr>
            <a:r>
              <a:rPr sz="1050" b="0">
                <a:solidFill>
                  <a:srgbClr val="5B6372"/>
                </a:solidFill>
                <a:latin typeface="Arial"/>
              </a:rPr>
              <a:t>FIFO queues preserve order within a message group and deduplicate within the supported window, but throughput and group design still matter.</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3</a:t>
            </a:r>
          </a:p>
          <a:p>
            <a:pPr algn="l">
              <a:spcAft>
                <a:spcPts val="300"/>
              </a:spcAft>
            </a:pPr>
            <a:r>
              <a:rPr sz="1050" b="0">
                <a:solidFill>
                  <a:srgbClr val="5B6372"/>
                </a:solidFill>
                <a:latin typeface="Arial"/>
              </a:rPr>
              <a:t>Visibility timeout hides a received message while processing; it must exceed normal work or be extended through a heartbeat.</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4</a:t>
            </a:r>
          </a:p>
          <a:p>
            <a:pPr algn="l">
              <a:spcAft>
                <a:spcPts val="300"/>
              </a:spcAft>
            </a:pPr>
            <a:r>
              <a:rPr sz="1050" b="0">
                <a:solidFill>
                  <a:srgbClr val="5B6372"/>
                </a:solidFill>
                <a:latin typeface="Arial"/>
              </a:rPr>
              <a:t>Long polling reduces empty receives, while redrive policies move repeatedly failing messages to a DLQ for inspection and controlled replay.</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477</a:t>
            </a:r>
          </a:p>
        </p:txBody>
      </p:sp>
    </p:spTree>
  </p:cSld>
  <p:clrMapOvr>
    <a:masterClrMapping/>
  </p:clrMapOvr>
  <p:transition xmlns:p14="http://schemas.microsoft.com/office/powerpoint/2010/main" p14:dur="380">
    <p:fade/>
  </p:transition>
</p:sld>
</file>

<file path=ppt/slides/slide4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DOMAIN 5 · CONTROL AND DATA FLOW</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500" b="1">
                <a:solidFill>
                  <a:srgbClr val="161B26"/>
                </a:solidFill>
                <a:latin typeface="Arial"/>
              </a:rPr>
              <a:t>SQS buffering, ordering and dead-letter handling: operating flow</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6354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79829"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982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Send durable message</a:t>
            </a:r>
          </a:p>
        </p:txBody>
      </p:sp>
      <p:sp>
        <p:nvSpPr>
          <p:cNvPr id="12" name="Rectangle 11"/>
          <p:cNvSpPr/>
          <p:nvPr/>
        </p:nvSpPr>
        <p:spPr>
          <a:xfrm>
            <a:off x="2969971"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69971" y="2148840"/>
            <a:ext cx="186354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572560"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72560"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6" name="TextBox 15"/>
          <p:cNvSpPr txBox="1"/>
          <p:nvPr/>
        </p:nvSpPr>
        <p:spPr>
          <a:xfrm>
            <a:off x="3088843"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Long-poll receive</a:t>
            </a:r>
          </a:p>
        </p:txBody>
      </p:sp>
      <p:sp>
        <p:nvSpPr>
          <p:cNvPr id="17" name="Rectangle 16"/>
          <p:cNvSpPr/>
          <p:nvPr/>
        </p:nvSpPr>
        <p:spPr>
          <a:xfrm>
            <a:off x="5162702"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62702" y="2148840"/>
            <a:ext cx="186354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765291"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6529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1" name="TextBox 20"/>
          <p:cNvSpPr txBox="1"/>
          <p:nvPr/>
        </p:nvSpPr>
        <p:spPr>
          <a:xfrm>
            <a:off x="5281574"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Acquire visibility lease</a:t>
            </a:r>
          </a:p>
        </p:txBody>
      </p:sp>
      <p:sp>
        <p:nvSpPr>
          <p:cNvPr id="22" name="Rectangle 21"/>
          <p:cNvSpPr/>
          <p:nvPr/>
        </p:nvSpPr>
        <p:spPr>
          <a:xfrm>
            <a:off x="7355433"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355433" y="2148840"/>
            <a:ext cx="186354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958022"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5802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6" name="TextBox 25"/>
          <p:cNvSpPr txBox="1"/>
          <p:nvPr/>
        </p:nvSpPr>
        <p:spPr>
          <a:xfrm>
            <a:off x="7474305"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Process idempotently</a:t>
            </a:r>
          </a:p>
        </p:txBody>
      </p:sp>
      <p:sp>
        <p:nvSpPr>
          <p:cNvPr id="27" name="Rectangle 26"/>
          <p:cNvSpPr/>
          <p:nvPr/>
        </p:nvSpPr>
        <p:spPr>
          <a:xfrm>
            <a:off x="9548164"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548164" y="2148840"/>
            <a:ext cx="1863547" cy="914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50753" y="2532888"/>
            <a:ext cx="658368" cy="658368"/>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5075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5</a:t>
            </a:r>
          </a:p>
        </p:txBody>
      </p:sp>
      <p:sp>
        <p:nvSpPr>
          <p:cNvPr id="31" name="TextBox 30"/>
          <p:cNvSpPr txBox="1"/>
          <p:nvPr/>
        </p:nvSpPr>
        <p:spPr>
          <a:xfrm>
            <a:off x="9667036"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Delete or redrive</a:t>
            </a:r>
          </a:p>
        </p:txBody>
      </p:sp>
      <p:cxnSp>
        <p:nvCxnSpPr>
          <p:cNvPr id="32" name="Connector 31"/>
          <p:cNvCxnSpPr/>
          <p:nvPr/>
        </p:nvCxnSpPr>
        <p:spPr>
          <a:xfrm>
            <a:off x="2640787"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83351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026249"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21898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EC711E"/>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8" name="TextBox 3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9" name="TextBox 3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0" name="TextBox 3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478</a:t>
            </a:r>
          </a:p>
        </p:txBody>
      </p:sp>
    </p:spTree>
  </p:cSld>
  <p:clrMapOvr>
    <a:masterClrMapping/>
  </p:clrMapOvr>
  <p:transition xmlns:p14="http://schemas.microsoft.com/office/powerpoint/2010/main" p14:dur="380">
    <p:fade/>
  </p:transition>
</p:sld>
</file>

<file path=ppt/slides/slide4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DOMAIN 5 · CHOOSE DELIBERATELY</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100" b="1">
                <a:solidFill>
                  <a:srgbClr val="161B26"/>
                </a:solidFill>
                <a:latin typeface="Arial"/>
              </a:rPr>
              <a:t>SQS buffering, ordering and dead-letter handling: configuration decisions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QUEUE TYPE</a:t>
            </a:r>
          </a:p>
          <a:p>
            <a:pPr algn="l">
              <a:spcAft>
                <a:spcPts val="300"/>
              </a:spcAft>
            </a:pPr>
            <a:r>
              <a:rPr sz="1050" b="0">
                <a:solidFill>
                  <a:srgbClr val="5B6372"/>
                </a:solidFill>
                <a:latin typeface="Arial"/>
              </a:rPr>
              <a:t>Choose FIFO only when ordered groups/deduplication are real requirements; Standard remains the default for independent work.</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BATCHING</a:t>
            </a:r>
          </a:p>
          <a:p>
            <a:pPr algn="l">
              <a:spcAft>
                <a:spcPts val="300"/>
              </a:spcAft>
            </a:pPr>
            <a:r>
              <a:rPr sz="1050" b="0">
                <a:solidFill>
                  <a:srgbClr val="5B6372"/>
                </a:solidFill>
                <a:latin typeface="Arial"/>
              </a:rPr>
              <a:t>Batch send/receive/delete for efficiency, but handle per-entry success and failure independently.</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DLQ</a:t>
            </a:r>
          </a:p>
          <a:p>
            <a:pPr algn="l">
              <a:spcAft>
                <a:spcPts val="300"/>
              </a:spcAft>
            </a:pPr>
            <a:r>
              <a:rPr sz="1050" b="0">
                <a:solidFill>
                  <a:srgbClr val="5B6372"/>
                </a:solidFill>
                <a:latin typeface="Arial"/>
              </a:rPr>
              <a:t>Set max receives from real retry behavior and monitor age/depth; a DLQ is an investigation queue, not a disposal bin.</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SECURITY</a:t>
            </a:r>
          </a:p>
          <a:p>
            <a:pPr algn="l">
              <a:spcAft>
                <a:spcPts val="300"/>
              </a:spcAft>
            </a:pPr>
            <a:r>
              <a:rPr sz="1050" b="0">
                <a:solidFill>
                  <a:srgbClr val="5B6372"/>
                </a:solidFill>
                <a:latin typeface="Arial"/>
              </a:rPr>
              <a:t>Use queue policies for producer access, KMS where required and VPC endpoints for controlled private API paths.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479</a:t>
            </a:r>
          </a:p>
        </p:txBody>
      </p:sp>
    </p:spTree>
  </p:cSld>
  <p:clrMapOvr>
    <a:masterClrMapping/>
  </p:clrMapOvr>
  <p:transition xmlns:p14="http://schemas.microsoft.com/office/powerpoint/2010/main" p14:dur="380">
    <p:fade/>
  </p:transition>
</p:sld>
</file>

<file path=ppt/slides/slide4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DOMAIN 5 · APPLIED ARCHITECTURE</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1900" b="1">
                <a:solidFill>
                  <a:srgbClr val="161B26"/>
                </a:solidFill>
                <a:latin typeface="Arial"/>
              </a:rPr>
              <a:t>SQS buffering, ordering and dead-letter handling: worked architecture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SCENARIO</a:t>
            </a:r>
          </a:p>
          <a:p>
            <a:pPr algn="l">
              <a:spcAft>
                <a:spcPts val="300"/>
              </a:spcAft>
            </a:pPr>
            <a:r>
              <a:rPr sz="1050" b="0">
                <a:solidFill>
                  <a:srgbClr val="5B6372"/>
                </a:solidFill>
                <a:latin typeface="Arial"/>
              </a:rPr>
              <a:t>A worker occasionally exceeds the visibility timeout, causing two instances to charge the same order.</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DESIGN DECISION</a:t>
            </a:r>
          </a:p>
          <a:p>
            <a:pPr algn="l">
              <a:spcAft>
                <a:spcPts val="300"/>
              </a:spcAft>
            </a:pPr>
            <a:r>
              <a:rPr sz="1050" b="0">
                <a:solidFill>
                  <a:srgbClr val="5B6372"/>
                </a:solidFill>
                <a:latin typeface="Arial"/>
              </a:rPr>
              <a:t>Make the charge operation idempotent, extend visibility while healthy, cap retry attempts and isolate permanent failures in a DLQ.</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TO AVOID</a:t>
            </a:r>
          </a:p>
          <a:p>
            <a:pPr algn="l">
              <a:spcAft>
                <a:spcPts val="300"/>
              </a:spcAft>
            </a:pPr>
            <a:r>
              <a:rPr sz="1050" b="0">
                <a:solidFill>
                  <a:srgbClr val="5B6372"/>
                </a:solidFill>
                <a:latin typeface="Arial"/>
              </a:rPr>
              <a:t>Increasing visibility indefinitely hides stuck work; relying only on FIFO deduplication does not protect downstream side effects forever.</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ACCEPTANCE EVIDENCE</a:t>
            </a:r>
          </a:p>
          <a:p>
            <a:pPr algn="l">
              <a:spcAft>
                <a:spcPts val="300"/>
              </a:spcAft>
            </a:pPr>
            <a:r>
              <a:rPr sz="1050" b="0">
                <a:solidFill>
                  <a:srgbClr val="5B6372"/>
                </a:solidFill>
                <a:latin typeface="Arial"/>
              </a:rPr>
              <a:t>Message ID/group, receive count, processing heartbeat, idempotency record, deletion result, DLQ age and redrive record.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480</a:t>
            </a:r>
          </a:p>
        </p:txBody>
      </p:sp>
    </p:spTree>
  </p:cSld>
  <p:clrMapOvr>
    <a:masterClrMapping/>
  </p:clrMapOvr>
  <p:transition xmlns:p14="http://schemas.microsoft.com/office/powerpoint/2010/main" p14:dur="380">
    <p:fade/>
  </p:transition>
</p:sld>
</file>

<file path=ppt/slides/slide4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DOMAIN 5 · AWS DEVELOPER SERVICES</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500" b="1">
                <a:solidFill>
                  <a:srgbClr val="161B26"/>
                </a:solidFill>
                <a:latin typeface="Arial"/>
              </a:rPr>
              <a:t>Developer deep dive: SNS, EventBridge and API event contracts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PURPOSE</a:t>
            </a:r>
          </a:p>
          <a:p>
            <a:pPr algn="l">
              <a:spcAft>
                <a:spcPts val="300"/>
              </a:spcAft>
            </a:pPr>
            <a:r>
              <a:rPr sz="1050" b="0">
                <a:solidFill>
                  <a:srgbClr val="5B6372"/>
                </a:solidFill>
                <a:latin typeface="Arial"/>
              </a:rPr>
              <a:t>Select fan-out, event routing or synchronous API integration from contract, delivery and consumer-isolation requirements.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SERVICE BOUNDARY</a:t>
            </a:r>
          </a:p>
          <a:p>
            <a:pPr algn="l">
              <a:spcAft>
                <a:spcPts val="300"/>
              </a:spcAft>
            </a:pPr>
            <a:r>
              <a:rPr sz="1050" b="0">
                <a:solidFill>
                  <a:srgbClr val="5B6372"/>
                </a:solidFill>
                <a:latin typeface="Arial"/>
              </a:rPr>
              <a:t>SNS · EventBridge · API Gateway · Lambda</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PRIMARY DESIGN DECISION</a:t>
            </a:r>
          </a:p>
          <a:p>
            <a:pPr algn="l">
              <a:spcAft>
                <a:spcPts val="300"/>
              </a:spcAft>
            </a:pPr>
            <a:r>
              <a:rPr sz="1050" b="0">
                <a:solidFill>
                  <a:srgbClr val="5B6372"/>
                </a:solidFill>
                <a:latin typeface="Arial"/>
              </a:rPr>
              <a:t>Publish a versioned domain event to EventBridge, filter to per-consumer queues and let each consumer own retry/DLQ behavior.</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BOUNDARY</a:t>
            </a:r>
          </a:p>
          <a:p>
            <a:pPr algn="l">
              <a:spcAft>
                <a:spcPts val="300"/>
              </a:spcAft>
            </a:pPr>
            <a:r>
              <a:rPr sz="1050" b="0">
                <a:solidFill>
                  <a:srgbClr val="5B6372"/>
                </a:solidFill>
                <a:latin typeface="Arial"/>
              </a:rPr>
              <a:t>Direct synchronous calls couple availability and release schedules; a broad event pattern can invoke the wrong automation.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481</a:t>
            </a:r>
          </a:p>
        </p:txBody>
      </p:sp>
    </p:spTree>
  </p:cSld>
  <p:clrMapOvr>
    <a:masterClrMapping/>
  </p:clrMapOvr>
  <p:transition xmlns:p14="http://schemas.microsoft.com/office/powerpoint/2010/main" p14:dur="380">
    <p:fade/>
  </p:transition>
</p:sld>
</file>

<file path=ppt/slides/slide4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DOMAIN 5 · SERVICE MECHANICS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700" b="1">
                <a:solidFill>
                  <a:srgbClr val="161B26"/>
                </a:solidFill>
                <a:latin typeface="Arial"/>
              </a:rPr>
              <a:t>SNS, EventBridge and API event contracts: how it works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1</a:t>
            </a:r>
          </a:p>
          <a:p>
            <a:pPr algn="l">
              <a:spcAft>
                <a:spcPts val="300"/>
              </a:spcAft>
            </a:pPr>
            <a:r>
              <a:rPr sz="1050" b="0">
                <a:solidFill>
                  <a:srgbClr val="5B6372"/>
                </a:solidFill>
                <a:latin typeface="Arial"/>
              </a:rPr>
              <a:t>SNS publishes one message to multiple subscriptions and supports filtering, retries and protocol-specific delivery behavior.</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2</a:t>
            </a:r>
          </a:p>
          <a:p>
            <a:pPr algn="l">
              <a:spcAft>
                <a:spcPts val="300"/>
              </a:spcAft>
            </a:pPr>
            <a:r>
              <a:rPr sz="1050" b="0">
                <a:solidFill>
                  <a:srgbClr val="5B6372"/>
                </a:solidFill>
                <a:latin typeface="Arial"/>
              </a:rPr>
              <a:t>EventBridge routes structured events by content across buses, supports schemas, archives/replay and SaaS or cross-account integration patterns.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3</a:t>
            </a:r>
          </a:p>
          <a:p>
            <a:pPr algn="l">
              <a:spcAft>
                <a:spcPts val="300"/>
              </a:spcAft>
            </a:pPr>
            <a:r>
              <a:rPr sz="1050" b="0">
                <a:solidFill>
                  <a:srgbClr val="5B6372"/>
                </a:solidFill>
                <a:latin typeface="Arial"/>
              </a:rPr>
              <a:t>API Gateway exposes REST, HTTP or WebSocket APIs with stages, integrations, authorization, throttling, logging and deployment controls.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4</a:t>
            </a:r>
          </a:p>
          <a:p>
            <a:pPr algn="l">
              <a:spcAft>
                <a:spcPts val="300"/>
              </a:spcAft>
            </a:pPr>
            <a:r>
              <a:rPr sz="1050" b="0">
                <a:solidFill>
                  <a:srgbClr val="5B6372"/>
                </a:solidFill>
                <a:latin typeface="Arial"/>
              </a:rPr>
              <a:t>Lambda proxy integrations pass a defined event envelope; non-proxy mappings can transform and validate requests before reaching the backend.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482</a:t>
            </a:r>
          </a:p>
        </p:txBody>
      </p:sp>
    </p:spTree>
  </p:cSld>
  <p:clrMapOvr>
    <a:masterClrMapping/>
  </p:clrMapOvr>
  <p:transition xmlns:p14="http://schemas.microsoft.com/office/powerpoint/2010/main" p14:dur="380">
    <p:fade/>
  </p:transition>
</p:sld>
</file>

<file path=ppt/slides/slide4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DOMAIN 5 · CONTROL AND DATA FLOW</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700" b="1">
                <a:solidFill>
                  <a:srgbClr val="161B26"/>
                </a:solidFill>
                <a:latin typeface="Arial"/>
              </a:rPr>
              <a:t>SNS, EventBridge and API event contracts: operating flow</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6354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79829"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982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Define versioned contract</a:t>
            </a:r>
          </a:p>
        </p:txBody>
      </p:sp>
      <p:sp>
        <p:nvSpPr>
          <p:cNvPr id="12" name="Rectangle 11"/>
          <p:cNvSpPr/>
          <p:nvPr/>
        </p:nvSpPr>
        <p:spPr>
          <a:xfrm>
            <a:off x="2969971"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69971" y="2148840"/>
            <a:ext cx="186354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572560"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72560"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6" name="TextBox 15"/>
          <p:cNvSpPr txBox="1"/>
          <p:nvPr/>
        </p:nvSpPr>
        <p:spPr>
          <a:xfrm>
            <a:off x="3088843"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Authenticate producer</a:t>
            </a:r>
          </a:p>
        </p:txBody>
      </p:sp>
      <p:sp>
        <p:nvSpPr>
          <p:cNvPr id="17" name="Rectangle 16"/>
          <p:cNvSpPr/>
          <p:nvPr/>
        </p:nvSpPr>
        <p:spPr>
          <a:xfrm>
            <a:off x="5162702"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62702" y="2148840"/>
            <a:ext cx="186354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765291"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6529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1" name="TextBox 20"/>
          <p:cNvSpPr txBox="1"/>
          <p:nvPr/>
        </p:nvSpPr>
        <p:spPr>
          <a:xfrm>
            <a:off x="5281574"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Filter or validate</a:t>
            </a:r>
          </a:p>
        </p:txBody>
      </p:sp>
      <p:sp>
        <p:nvSpPr>
          <p:cNvPr id="22" name="Rectangle 21"/>
          <p:cNvSpPr/>
          <p:nvPr/>
        </p:nvSpPr>
        <p:spPr>
          <a:xfrm>
            <a:off x="7355433"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355433" y="2148840"/>
            <a:ext cx="186354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958022"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5802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6" name="TextBox 25"/>
          <p:cNvSpPr txBox="1"/>
          <p:nvPr/>
        </p:nvSpPr>
        <p:spPr>
          <a:xfrm>
            <a:off x="7474305"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Deliver to isolated consumer</a:t>
            </a:r>
          </a:p>
        </p:txBody>
      </p:sp>
      <p:sp>
        <p:nvSpPr>
          <p:cNvPr id="27" name="Rectangle 26"/>
          <p:cNvSpPr/>
          <p:nvPr/>
        </p:nvSpPr>
        <p:spPr>
          <a:xfrm>
            <a:off x="9548164"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548164" y="2148840"/>
            <a:ext cx="1863547" cy="914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50753" y="2532888"/>
            <a:ext cx="658368" cy="658368"/>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5075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5</a:t>
            </a:r>
          </a:p>
        </p:txBody>
      </p:sp>
      <p:sp>
        <p:nvSpPr>
          <p:cNvPr id="31" name="TextBox 30"/>
          <p:cNvSpPr txBox="1"/>
          <p:nvPr/>
        </p:nvSpPr>
        <p:spPr>
          <a:xfrm>
            <a:off x="9667036"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Handle failure and observe</a:t>
            </a:r>
          </a:p>
        </p:txBody>
      </p:sp>
      <p:cxnSp>
        <p:nvCxnSpPr>
          <p:cNvPr id="32" name="Connector 31"/>
          <p:cNvCxnSpPr/>
          <p:nvPr/>
        </p:nvCxnSpPr>
        <p:spPr>
          <a:xfrm>
            <a:off x="2640787"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83351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026249"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21898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EC711E"/>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8" name="TextBox 3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9" name="TextBox 3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0" name="TextBox 3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483</a:t>
            </a:r>
          </a:p>
        </p:txBody>
      </p:sp>
    </p:spTree>
  </p:cSld>
  <p:clrMapOvr>
    <a:masterClrMapping/>
  </p:clrMapOvr>
  <p:transition xmlns:p14="http://schemas.microsoft.com/office/powerpoint/2010/main" p14:dur="380">
    <p:fade/>
  </p:transition>
</p:sld>
</file>

<file path=ppt/slides/slide4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DOMAIN 5 · CHOOSE DELIBERATELY</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500" b="1">
                <a:solidFill>
                  <a:srgbClr val="161B26"/>
                </a:solidFill>
                <a:latin typeface="Arial"/>
              </a:rPr>
              <a:t>SNS, EventBridge and API event contracts: configuration decisions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SNS</a:t>
            </a:r>
          </a:p>
          <a:p>
            <a:pPr algn="l">
              <a:spcAft>
                <a:spcPts val="300"/>
              </a:spcAft>
            </a:pPr>
            <a:r>
              <a:rPr sz="1050" b="0">
                <a:solidFill>
                  <a:srgbClr val="5B6372"/>
                </a:solidFill>
                <a:latin typeface="Arial"/>
              </a:rPr>
              <a:t>Choose for push-based fan-out where subscribers receive the same publication through supported protocols.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EVENTBRIDGE</a:t>
            </a:r>
          </a:p>
          <a:p>
            <a:pPr algn="l">
              <a:spcAft>
                <a:spcPts val="300"/>
              </a:spcAft>
            </a:pPr>
            <a:r>
              <a:rPr sz="1050" b="0">
                <a:solidFill>
                  <a:srgbClr val="5B6372"/>
                </a:solidFill>
                <a:latin typeface="Arial"/>
              </a:rPr>
              <a:t>Choose for content-based routing, account decoupling, event discovery and replayable operational events.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API GATEWAY</a:t>
            </a:r>
          </a:p>
          <a:p>
            <a:pPr algn="l">
              <a:spcAft>
                <a:spcPts val="300"/>
              </a:spcAft>
            </a:pPr>
            <a:r>
              <a:rPr sz="1050" b="0">
                <a:solidFill>
                  <a:srgbClr val="5B6372"/>
                </a:solidFill>
                <a:latin typeface="Arial"/>
              </a:rPr>
              <a:t>Choose for managed synchronous HTTP/WebSocket entry with authorization, quotas and request/response controls.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BUFFER</a:t>
            </a:r>
          </a:p>
          <a:p>
            <a:pPr algn="l">
              <a:spcAft>
                <a:spcPts val="300"/>
              </a:spcAft>
            </a:pPr>
            <a:r>
              <a:rPr sz="1050" b="0">
                <a:solidFill>
                  <a:srgbClr val="5B6372"/>
                </a:solidFill>
                <a:latin typeface="Arial"/>
              </a:rPr>
              <a:t>Place SQS between routing and slow consumers when back-pressure and independent retry are required.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484</a:t>
            </a:r>
          </a:p>
        </p:txBody>
      </p:sp>
    </p:spTree>
  </p:cSld>
  <p:clrMapOvr>
    <a:masterClrMapping/>
  </p:clrMapOvr>
  <p:transition xmlns:p14="http://schemas.microsoft.com/office/powerpoint/2010/main" p14:dur="380">
    <p:fade/>
  </p:transition>
</p:sld>
</file>

<file path=ppt/slides/slide4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DOMAIN 5 · APPLIED ARCHITECTURE</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100" b="1">
                <a:solidFill>
                  <a:srgbClr val="161B26"/>
                </a:solidFill>
                <a:latin typeface="Arial"/>
              </a:rPr>
              <a:t>SNS, EventBridge and API event contracts: worked architecture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SCENARIO</a:t>
            </a:r>
          </a:p>
          <a:p>
            <a:pPr algn="l">
              <a:spcAft>
                <a:spcPts val="300"/>
              </a:spcAft>
            </a:pPr>
            <a:r>
              <a:rPr sz="1050" b="0">
                <a:solidFill>
                  <a:srgbClr val="5B6372"/>
                </a:solidFill>
                <a:latin typeface="Arial"/>
              </a:rPr>
              <a:t>An order event must reach billing, analytics and notification teams without the producer knowing their endpoints or failure state.</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DESIGN DECISION</a:t>
            </a:r>
          </a:p>
          <a:p>
            <a:pPr algn="l">
              <a:spcAft>
                <a:spcPts val="300"/>
              </a:spcAft>
            </a:pPr>
            <a:r>
              <a:rPr sz="1050" b="0">
                <a:solidFill>
                  <a:srgbClr val="5B6372"/>
                </a:solidFill>
                <a:latin typeface="Arial"/>
              </a:rPr>
              <a:t>Publish a versioned domain event to EventBridge, filter to per-consumer queues and let each consumer own retry/DLQ behavior.</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TO AVOID</a:t>
            </a:r>
          </a:p>
          <a:p>
            <a:pPr algn="l">
              <a:spcAft>
                <a:spcPts val="300"/>
              </a:spcAft>
            </a:pPr>
            <a:r>
              <a:rPr sz="1050" b="0">
                <a:solidFill>
                  <a:srgbClr val="5B6372"/>
                </a:solidFill>
                <a:latin typeface="Arial"/>
              </a:rPr>
              <a:t>Direct synchronous calls couple availability and release schedules; a broad event pattern can invoke the wrong automation.</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ACCEPTANCE EVIDENCE</a:t>
            </a:r>
          </a:p>
          <a:p>
            <a:pPr algn="l">
              <a:spcAft>
                <a:spcPts val="300"/>
              </a:spcAft>
            </a:pPr>
            <a:r>
              <a:rPr sz="1050" b="0">
                <a:solidFill>
                  <a:srgbClr val="5B6372"/>
                </a:solidFill>
                <a:latin typeface="Arial"/>
              </a:rPr>
              <a:t>Schema/version, producer identity, matched rule, delivery attempts, consumer queue depth, DLQ record and correlation ID.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485</a:t>
            </a:r>
          </a:p>
        </p:txBody>
      </p:sp>
    </p:spTree>
  </p:cSld>
  <p:clrMapOvr>
    <a:masterClrMapping/>
  </p:clrMapOvr>
  <p:transition xmlns:p14="http://schemas.microsoft.com/office/powerpoint/2010/main" p14:dur="380">
    <p:fade/>
  </p:transition>
</p:sld>
</file>

<file path=ppt/slides/slide4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DOMAIN 5 · INCIDENT AND EVENT RESPONSE</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Event-driven operations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OUTCOME</a:t>
            </a:r>
          </a:p>
          <a:p>
            <a:pPr algn="l">
              <a:spcAft>
                <a:spcPts val="300"/>
              </a:spcAft>
            </a:pPr>
            <a:r>
              <a:rPr sz="1050" b="0">
                <a:solidFill>
                  <a:srgbClr val="5B6372"/>
                </a:solidFill>
                <a:latin typeface="Arial"/>
              </a:rPr>
              <a:t>Route operational events to the right automated or human response with explicit contracts.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ARCHITECTURE</a:t>
            </a:r>
          </a:p>
          <a:p>
            <a:pPr algn="l">
              <a:spcAft>
                <a:spcPts val="300"/>
              </a:spcAft>
            </a:pPr>
            <a:r>
              <a:rPr sz="1050" b="0">
                <a:solidFill>
                  <a:srgbClr val="5B6372"/>
                </a:solidFill>
                <a:latin typeface="Arial"/>
              </a:rPr>
              <a:t>Use precise event patterns, schemas, input transformation, retries, DLQs and archive/replay where required.</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MODE</a:t>
            </a:r>
          </a:p>
          <a:p>
            <a:pPr algn="l">
              <a:spcAft>
                <a:spcPts val="300"/>
              </a:spcAft>
            </a:pPr>
            <a:r>
              <a:rPr sz="1050" b="0">
                <a:solidFill>
                  <a:srgbClr val="5B6372"/>
                </a:solidFill>
                <a:latin typeface="Arial"/>
              </a:rPr>
              <a:t>An overly broad rule can invoke expensive or destructive automation for unrelated events.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EVIDENCE</a:t>
            </a:r>
          </a:p>
          <a:p>
            <a:pPr algn="l">
              <a:spcAft>
                <a:spcPts val="300"/>
              </a:spcAft>
            </a:pPr>
            <a:r>
              <a:rPr sz="1050" b="0">
                <a:solidFill>
                  <a:srgbClr val="5B6372"/>
                </a:solidFill>
                <a:latin typeface="Arial"/>
              </a:rPr>
              <a:t>Event pattern, matched sample, target role, retry policy, DLQ and replay record.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486</a:t>
            </a:r>
          </a:p>
        </p:txBody>
      </p:sp>
    </p:spTree>
  </p:cSld>
  <p:clrMapOvr>
    <a:masterClrMapping/>
  </p:clrMapOvr>
  <p:transition xmlns:p14="http://schemas.microsoft.com/office/powerpoint/2010/main" p14:dur="380">
    <p:fade/>
  </p:transition>
</p:sld>
</file>

<file path=ppt/slides/slide4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DOMAIN 5 · PROCESS MODEL</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Event-driven operations: operating flow</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6354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79829"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982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Source event</a:t>
            </a:r>
          </a:p>
        </p:txBody>
      </p:sp>
      <p:sp>
        <p:nvSpPr>
          <p:cNvPr id="12" name="Rectangle 11"/>
          <p:cNvSpPr/>
          <p:nvPr/>
        </p:nvSpPr>
        <p:spPr>
          <a:xfrm>
            <a:off x="2969971"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69971" y="2148840"/>
            <a:ext cx="186354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572560"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72560"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6" name="TextBox 15"/>
          <p:cNvSpPr txBox="1"/>
          <p:nvPr/>
        </p:nvSpPr>
        <p:spPr>
          <a:xfrm>
            <a:off x="3088843"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Match pattern</a:t>
            </a:r>
          </a:p>
        </p:txBody>
      </p:sp>
      <p:sp>
        <p:nvSpPr>
          <p:cNvPr id="17" name="Rectangle 16"/>
          <p:cNvSpPr/>
          <p:nvPr/>
        </p:nvSpPr>
        <p:spPr>
          <a:xfrm>
            <a:off x="5162702"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62702" y="2148840"/>
            <a:ext cx="186354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765291"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6529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1" name="TextBox 20"/>
          <p:cNvSpPr txBox="1"/>
          <p:nvPr/>
        </p:nvSpPr>
        <p:spPr>
          <a:xfrm>
            <a:off x="5281574"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Transform</a:t>
            </a:r>
          </a:p>
        </p:txBody>
      </p:sp>
      <p:sp>
        <p:nvSpPr>
          <p:cNvPr id="22" name="Rectangle 21"/>
          <p:cNvSpPr/>
          <p:nvPr/>
        </p:nvSpPr>
        <p:spPr>
          <a:xfrm>
            <a:off x="7355433"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355433" y="2148840"/>
            <a:ext cx="186354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958022"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5802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6" name="TextBox 25"/>
          <p:cNvSpPr txBox="1"/>
          <p:nvPr/>
        </p:nvSpPr>
        <p:spPr>
          <a:xfrm>
            <a:off x="7474305"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Invoke target</a:t>
            </a:r>
          </a:p>
        </p:txBody>
      </p:sp>
      <p:sp>
        <p:nvSpPr>
          <p:cNvPr id="27" name="Rectangle 26"/>
          <p:cNvSpPr/>
          <p:nvPr/>
        </p:nvSpPr>
        <p:spPr>
          <a:xfrm>
            <a:off x="9548164"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548164" y="2148840"/>
            <a:ext cx="1863547" cy="914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50753" y="2532888"/>
            <a:ext cx="658368" cy="658368"/>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5075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5</a:t>
            </a:r>
          </a:p>
        </p:txBody>
      </p:sp>
      <p:sp>
        <p:nvSpPr>
          <p:cNvPr id="31" name="TextBox 30"/>
          <p:cNvSpPr txBox="1"/>
          <p:nvPr/>
        </p:nvSpPr>
        <p:spPr>
          <a:xfrm>
            <a:off x="9667036"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Retry or quarantine</a:t>
            </a:r>
          </a:p>
        </p:txBody>
      </p:sp>
      <p:cxnSp>
        <p:nvCxnSpPr>
          <p:cNvPr id="32" name="Connector 31"/>
          <p:cNvCxnSpPr/>
          <p:nvPr/>
        </p:nvCxnSpPr>
        <p:spPr>
          <a:xfrm>
            <a:off x="2640787"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83351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026249"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21898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EC711E"/>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8" name="TextBox 3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9" name="TextBox 3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0" name="TextBox 3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487</a:t>
            </a:r>
          </a:p>
        </p:txBody>
      </p:sp>
    </p:spTree>
  </p:cSld>
  <p:clrMapOvr>
    <a:masterClrMapping/>
  </p:clrMapOvr>
  <p:transition xmlns:p14="http://schemas.microsoft.com/office/powerpoint/2010/main" p14:dur="380">
    <p:fade/>
  </p:transition>
</p:sld>
</file>

<file path=ppt/slides/slide4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DOMAIN 5 ·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Event-driven operations: design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83280" cy="43708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70832"/>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011680"/>
            <a:ext cx="530352" cy="530352"/>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011680"/>
            <a:ext cx="530352" cy="530352"/>
          </a:xfrm>
          <a:prstGeom prst="rect">
            <a:avLst/>
          </a:prstGeom>
          <a:noFill/>
        </p:spPr>
        <p:txBody>
          <a:bodyPr wrap="square" anchor="ctr">
            <a:spAutoFit/>
          </a:bodyPr>
          <a:lstStyle/>
          <a:p>
            <a:pPr algn="ctr">
              <a:spcAft>
                <a:spcPts val="400"/>
              </a:spcAft>
            </a:pPr>
            <a:r>
              <a:rPr sz="2000" b="1">
                <a:solidFill>
                  <a:srgbClr val="FFFFFF"/>
                </a:solidFill>
                <a:latin typeface="Arial"/>
              </a:rPr>
              <a:t>?</a:t>
            </a:r>
          </a:p>
        </p:txBody>
      </p:sp>
      <p:sp>
        <p:nvSpPr>
          <p:cNvPr id="11" name="TextBox 10"/>
          <p:cNvSpPr txBox="1"/>
          <p:nvPr/>
        </p:nvSpPr>
        <p:spPr>
          <a:xfrm>
            <a:off x="1709928" y="1984248"/>
            <a:ext cx="2212848" cy="502920"/>
          </a:xfrm>
          <a:prstGeom prst="rect">
            <a:avLst/>
          </a:prstGeom>
          <a:noFill/>
        </p:spPr>
        <p:txBody>
          <a:bodyPr wrap="square" anchor="ctr">
            <a:spAutoFit/>
          </a:bodyPr>
          <a:lstStyle/>
          <a:p>
            <a:pPr algn="l">
              <a:spcAft>
                <a:spcPts val="400"/>
              </a:spcAft>
            </a:pPr>
            <a:r>
              <a:rPr sz="1350" b="1">
                <a:solidFill>
                  <a:srgbClr val="EC711E"/>
                </a:solidFill>
                <a:latin typeface="Arial"/>
              </a:rPr>
              <a:t>SCENARIO</a:t>
            </a:r>
          </a:p>
        </p:txBody>
      </p:sp>
      <p:sp>
        <p:nvSpPr>
          <p:cNvPr id="12" name="TextBox 11"/>
          <p:cNvSpPr txBox="1"/>
          <p:nvPr/>
        </p:nvSpPr>
        <p:spPr>
          <a:xfrm>
            <a:off x="1051560" y="2743200"/>
            <a:ext cx="2834640" cy="3136392"/>
          </a:xfrm>
          <a:prstGeom prst="rect">
            <a:avLst/>
          </a:prstGeom>
          <a:noFill/>
        </p:spPr>
        <p:txBody>
          <a:bodyPr wrap="square" anchor="t">
            <a:spAutoFit/>
          </a:bodyPr>
          <a:lstStyle/>
          <a:p>
            <a:pPr algn="l">
              <a:spcAft>
                <a:spcPts val="400"/>
              </a:spcAft>
            </a:pPr>
            <a:r>
              <a:rPr sz="1300" b="0">
                <a:solidFill>
                  <a:srgbClr val="161B26"/>
                </a:solidFill>
                <a:latin typeface="Arial"/>
              </a:rPr>
              <a:t>Only failed production deployments should create an incident and trigger rollback diagnostics.</a:t>
            </a:r>
          </a:p>
        </p:txBody>
      </p:sp>
      <p:sp>
        <p:nvSpPr>
          <p:cNvPr id="13" name="Rectangle 12"/>
          <p:cNvSpPr/>
          <p:nvPr/>
        </p:nvSpPr>
        <p:spPr>
          <a:xfrm>
            <a:off x="4434840"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34840" y="1783080"/>
            <a:ext cx="91440"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636008" y="1965960"/>
            <a:ext cx="438912" cy="43891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6008"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7" name="TextBox 16"/>
          <p:cNvSpPr txBox="1"/>
          <p:nvPr/>
        </p:nvSpPr>
        <p:spPr>
          <a:xfrm>
            <a:off x="5212080" y="1929384"/>
            <a:ext cx="2286000" cy="475488"/>
          </a:xfrm>
          <a:prstGeom prst="rect">
            <a:avLst/>
          </a:prstGeom>
          <a:noFill/>
        </p:spPr>
        <p:txBody>
          <a:bodyPr wrap="square" anchor="ctr">
            <a:spAutoFit/>
          </a:bodyPr>
          <a:lstStyle/>
          <a:p>
            <a:pPr algn="l">
              <a:spcAft>
                <a:spcPts val="400"/>
              </a:spcAft>
            </a:pPr>
            <a:r>
              <a:rPr sz="1250" b="1">
                <a:solidFill>
                  <a:srgbClr val="10B981"/>
                </a:solidFill>
                <a:latin typeface="Arial"/>
              </a:rPr>
              <a:t>DESIGN RESPONSE</a:t>
            </a:r>
          </a:p>
        </p:txBody>
      </p:sp>
      <p:sp>
        <p:nvSpPr>
          <p:cNvPr id="18" name="TextBox 17"/>
          <p:cNvSpPr txBox="1"/>
          <p:nvPr/>
        </p:nvSpPr>
        <p:spPr>
          <a:xfrm>
            <a:off x="4663440"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Use precise event patterns, schemas, input transformation, retries, DLQs and archive/replay where required.</a:t>
            </a:r>
          </a:p>
        </p:txBody>
      </p:sp>
      <p:sp>
        <p:nvSpPr>
          <p:cNvPr id="19" name="Rectangle 18"/>
          <p:cNvSpPr/>
          <p:nvPr/>
        </p:nvSpPr>
        <p:spPr>
          <a:xfrm>
            <a:off x="7973568"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973568" y="1783080"/>
            <a:ext cx="91440" cy="21488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174736" y="1965960"/>
            <a:ext cx="438912" cy="43891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74736"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23" name="TextBox 22"/>
          <p:cNvSpPr txBox="1"/>
          <p:nvPr/>
        </p:nvSpPr>
        <p:spPr>
          <a:xfrm>
            <a:off x="8750808" y="1929384"/>
            <a:ext cx="2286000" cy="475488"/>
          </a:xfrm>
          <a:prstGeom prst="rect">
            <a:avLst/>
          </a:prstGeom>
          <a:noFill/>
        </p:spPr>
        <p:txBody>
          <a:bodyPr wrap="square" anchor="ctr">
            <a:spAutoFit/>
          </a:bodyPr>
          <a:lstStyle/>
          <a:p>
            <a:pPr algn="l">
              <a:spcAft>
                <a:spcPts val="400"/>
              </a:spcAft>
            </a:pPr>
            <a:r>
              <a:rPr sz="1250" b="1">
                <a:solidFill>
                  <a:srgbClr val="7C3AED"/>
                </a:solidFill>
                <a:latin typeface="Arial"/>
              </a:rPr>
              <a:t>PRIMARY SERVICES</a:t>
            </a:r>
          </a:p>
        </p:txBody>
      </p:sp>
      <p:sp>
        <p:nvSpPr>
          <p:cNvPr id="24" name="TextBox 23"/>
          <p:cNvSpPr txBox="1"/>
          <p:nvPr/>
        </p:nvSpPr>
        <p:spPr>
          <a:xfrm>
            <a:off x="8202168"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EventBridge · Pipes · Scheduler · Lambda</a:t>
            </a:r>
          </a:p>
        </p:txBody>
      </p:sp>
      <p:sp>
        <p:nvSpPr>
          <p:cNvPr id="25" name="Rectangle 24"/>
          <p:cNvSpPr/>
          <p:nvPr/>
        </p:nvSpPr>
        <p:spPr>
          <a:xfrm>
            <a:off x="4434840"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34840" y="4005072"/>
            <a:ext cx="91440" cy="21488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636008" y="4187952"/>
            <a:ext cx="438912" cy="43891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36008"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9" name="TextBox 28"/>
          <p:cNvSpPr txBox="1"/>
          <p:nvPr/>
        </p:nvSpPr>
        <p:spPr>
          <a:xfrm>
            <a:off x="5212080" y="4151376"/>
            <a:ext cx="2286000" cy="475488"/>
          </a:xfrm>
          <a:prstGeom prst="rect">
            <a:avLst/>
          </a:prstGeom>
          <a:noFill/>
        </p:spPr>
        <p:txBody>
          <a:bodyPr wrap="square" anchor="ctr">
            <a:spAutoFit/>
          </a:bodyPr>
          <a:lstStyle/>
          <a:p>
            <a:pPr algn="l">
              <a:spcAft>
                <a:spcPts val="400"/>
              </a:spcAft>
            </a:pPr>
            <a:r>
              <a:rPr sz="1250" b="1">
                <a:solidFill>
                  <a:srgbClr val="F59E0B"/>
                </a:solidFill>
                <a:latin typeface="Arial"/>
              </a:rPr>
              <a:t>FAILURE MODE</a:t>
            </a:r>
          </a:p>
        </p:txBody>
      </p:sp>
      <p:sp>
        <p:nvSpPr>
          <p:cNvPr id="30" name="TextBox 29"/>
          <p:cNvSpPr txBox="1"/>
          <p:nvPr/>
        </p:nvSpPr>
        <p:spPr>
          <a:xfrm>
            <a:off x="4663440"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An overly broad rule can invoke expensive or destructive automation for unrelated events.</a:t>
            </a:r>
          </a:p>
        </p:txBody>
      </p:sp>
      <p:sp>
        <p:nvSpPr>
          <p:cNvPr id="31" name="Rectangle 30"/>
          <p:cNvSpPr/>
          <p:nvPr/>
        </p:nvSpPr>
        <p:spPr>
          <a:xfrm>
            <a:off x="7973568"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73568" y="4005072"/>
            <a:ext cx="91440" cy="21488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174736" y="4187952"/>
            <a:ext cx="438912" cy="438912"/>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74736"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5" name="TextBox 34"/>
          <p:cNvSpPr txBox="1"/>
          <p:nvPr/>
        </p:nvSpPr>
        <p:spPr>
          <a:xfrm>
            <a:off x="8750808" y="4151376"/>
            <a:ext cx="2286000" cy="475488"/>
          </a:xfrm>
          <a:prstGeom prst="rect">
            <a:avLst/>
          </a:prstGeom>
          <a:noFill/>
        </p:spPr>
        <p:txBody>
          <a:bodyPr wrap="square" anchor="ctr">
            <a:spAutoFit/>
          </a:bodyPr>
          <a:lstStyle/>
          <a:p>
            <a:pPr algn="l">
              <a:spcAft>
                <a:spcPts val="400"/>
              </a:spcAft>
            </a:pPr>
            <a:r>
              <a:rPr sz="1250" b="1">
                <a:solidFill>
                  <a:srgbClr val="EC711E"/>
                </a:solidFill>
                <a:latin typeface="Arial"/>
              </a:rPr>
              <a:t>PROOF</a:t>
            </a:r>
          </a:p>
        </p:txBody>
      </p:sp>
      <p:sp>
        <p:nvSpPr>
          <p:cNvPr id="36" name="TextBox 35"/>
          <p:cNvSpPr txBox="1"/>
          <p:nvPr/>
        </p:nvSpPr>
        <p:spPr>
          <a:xfrm>
            <a:off x="8202168"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Event pattern, matched sample, target role, retry policy, DLQ and replay record.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488</a:t>
            </a:r>
          </a:p>
        </p:txBody>
      </p:sp>
    </p:spTree>
  </p:cSld>
  <p:clrMapOvr>
    <a:masterClrMapping/>
  </p:clrMapOvr>
  <p:transition xmlns:p14="http://schemas.microsoft.com/office/powerpoint/2010/main" p14:dur="380">
    <p:fade/>
  </p:transition>
</p:sld>
</file>

<file path=ppt/slides/slide4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DOMAIN 5 · OPERATIONS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Event-driven operations: failure diagnostic</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RECOGNISE</a:t>
            </a:r>
          </a:p>
          <a:p>
            <a:pPr algn="l">
              <a:spcAft>
                <a:spcPts val="300"/>
              </a:spcAft>
            </a:pPr>
            <a:r>
              <a:rPr sz="1050" b="0">
                <a:solidFill>
                  <a:srgbClr val="5B6372"/>
                </a:solidFill>
                <a:latin typeface="Arial"/>
              </a:rPr>
              <a:t>Observable failure condition: An overly broad rule can invoke expensive or destructive automation for unrelated events.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CONTAIN</a:t>
            </a:r>
          </a:p>
          <a:p>
            <a:pPr algn="l">
              <a:spcAft>
                <a:spcPts val="300"/>
              </a:spcAft>
            </a:pPr>
            <a:r>
              <a:rPr sz="1050" b="0">
                <a:solidFill>
                  <a:srgbClr val="5B6372"/>
                </a:solidFill>
                <a:latin typeface="Arial"/>
              </a:rPr>
              <a:t>Pause promotion, preserve evidence and reduce impact without destroying diagnostic state.</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DIAGNOSE</a:t>
            </a:r>
          </a:p>
          <a:p>
            <a:pPr algn="l">
              <a:spcAft>
                <a:spcPts val="300"/>
              </a:spcAft>
            </a:pPr>
            <a:r>
              <a:rPr sz="1050" b="0">
                <a:solidFill>
                  <a:srgbClr val="5B6372"/>
                </a:solidFill>
                <a:latin typeface="Arial"/>
              </a:rPr>
              <a:t>Trace the workflow from Source event through Retry or quarantine; compare intended configuration with runtime state.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RECOVER</a:t>
            </a:r>
          </a:p>
          <a:p>
            <a:pPr algn="l">
              <a:spcAft>
                <a:spcPts val="300"/>
              </a:spcAft>
            </a:pPr>
            <a:r>
              <a:rPr sz="1050" b="0">
                <a:solidFill>
                  <a:srgbClr val="5B6372"/>
                </a:solidFill>
                <a:latin typeface="Arial"/>
              </a:rPr>
              <a:t>Restore the last known-good state, then prove recovery with Event pattern, matched sample, target role, retry policy, DLQ and replay record.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489</a:t>
            </a:r>
          </a:p>
        </p:txBody>
      </p:sp>
    </p:spTree>
  </p:cSld>
  <p:clrMapOvr>
    <a:masterClrMapping/>
  </p:clrMapOvr>
  <p:transition xmlns:p14="http://schemas.microsoft.com/office/powerpoint/2010/main" p14:dur="380">
    <p:fade/>
  </p:transition>
</p:sld>
</file>

<file path=ppt/slides/slide4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DOMAIN 5 · APPLIED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Event-driven operations: worked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CONSTRAINT</a:t>
            </a:r>
          </a:p>
          <a:p>
            <a:pPr algn="l">
              <a:spcAft>
                <a:spcPts val="300"/>
              </a:spcAft>
            </a:pPr>
            <a:r>
              <a:rPr sz="1050" b="0">
                <a:solidFill>
                  <a:srgbClr val="5B6372"/>
                </a:solidFill>
                <a:latin typeface="Arial"/>
              </a:rPr>
              <a:t>Only failed production deployments should create an incident and trigger rollback diagnostics.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DECISION</a:t>
            </a:r>
          </a:p>
          <a:p>
            <a:pPr algn="l">
              <a:spcAft>
                <a:spcPts val="300"/>
              </a:spcAft>
            </a:pPr>
            <a:r>
              <a:rPr sz="1050" b="0">
                <a:solidFill>
                  <a:srgbClr val="5B6372"/>
                </a:solidFill>
                <a:latin typeface="Arial"/>
              </a:rPr>
              <a:t>Use precise event patterns, schemas, input transformation, retries, DLQs and archive/replay where required.</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WHY ALTERNATIVES LOSE</a:t>
            </a:r>
          </a:p>
          <a:p>
            <a:pPr algn="l">
              <a:spcAft>
                <a:spcPts val="300"/>
              </a:spcAft>
            </a:pPr>
            <a:r>
              <a:rPr sz="1050" b="0">
                <a:solidFill>
                  <a:srgbClr val="5B6372"/>
                </a:solidFill>
                <a:latin typeface="Arial"/>
              </a:rPr>
              <a:t>Reject options that do not change the stated failure boundary: An overly broad rule can invoke expensive or destructive automation for unrelated events.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ACCEPTANCE TEST</a:t>
            </a:r>
          </a:p>
          <a:p>
            <a:pPr algn="l">
              <a:spcAft>
                <a:spcPts val="300"/>
              </a:spcAft>
            </a:pPr>
            <a:r>
              <a:rPr sz="1050" b="0">
                <a:solidFill>
                  <a:srgbClr val="5B6372"/>
                </a:solidFill>
                <a:latin typeface="Arial"/>
              </a:rPr>
              <a:t>The decision is complete only when this proof exists: Event pattern, matched sample, target role, retry policy, DLQ and replay record.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490</a:t>
            </a:r>
          </a:p>
        </p:txBody>
      </p:sp>
    </p:spTree>
  </p:cSld>
  <p:clrMapOvr>
    <a:masterClrMapping/>
  </p:clrMapOvr>
  <p:transition xmlns:p14="http://schemas.microsoft.com/office/powerpoint/2010/main" p14:dur="380">
    <p:fade/>
  </p:transition>
</p:sld>
</file>

<file path=ppt/slides/slide4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DOMAIN 5 · INCIDENT AND EVENT RESPONSE</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Health and audit event correlation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OUTCOME</a:t>
            </a:r>
          </a:p>
          <a:p>
            <a:pPr algn="l">
              <a:spcAft>
                <a:spcPts val="300"/>
              </a:spcAft>
            </a:pPr>
            <a:r>
              <a:rPr sz="1050" b="0">
                <a:solidFill>
                  <a:srgbClr val="5B6372"/>
                </a:solidFill>
                <a:latin typeface="Arial"/>
              </a:rPr>
              <a:t>Distinguish provider events, configuration changes and workload symptoms during an incident.</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ARCHITECTURE</a:t>
            </a:r>
          </a:p>
          <a:p>
            <a:pPr algn="l">
              <a:spcAft>
                <a:spcPts val="300"/>
              </a:spcAft>
            </a:pPr>
            <a:r>
              <a:rPr sz="1050" b="0">
                <a:solidFill>
                  <a:srgbClr val="5B6372"/>
                </a:solidFill>
                <a:latin typeface="Arial"/>
              </a:rPr>
              <a:t>Correlate Health events with API history and resource telemetry using account, Region, resource and time.</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MODE</a:t>
            </a:r>
          </a:p>
          <a:p>
            <a:pPr algn="l">
              <a:spcAft>
                <a:spcPts val="300"/>
              </a:spcAft>
            </a:pPr>
            <a:r>
              <a:rPr sz="1050" b="0">
                <a:solidFill>
                  <a:srgbClr val="5B6372"/>
                </a:solidFill>
                <a:latin typeface="Arial"/>
              </a:rPr>
              <a:t>Treating every symptom as an application defect delays response to service or control-plane events.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EVIDENCE</a:t>
            </a:r>
          </a:p>
          <a:p>
            <a:pPr algn="l">
              <a:spcAft>
                <a:spcPts val="300"/>
              </a:spcAft>
            </a:pPr>
            <a:r>
              <a:rPr sz="1050" b="0">
                <a:solidFill>
                  <a:srgbClr val="5B6372"/>
                </a:solidFill>
                <a:latin typeface="Arial"/>
              </a:rPr>
              <a:t>Health event ARN, CloudTrail event ID, affected entities, timeline and correlated alarm.</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491</a:t>
            </a:r>
          </a:p>
        </p:txBody>
      </p:sp>
    </p:spTree>
  </p:cSld>
  <p:clrMapOvr>
    <a:masterClrMapping/>
  </p:clrMapOvr>
  <p:transition xmlns:p14="http://schemas.microsoft.com/office/powerpoint/2010/main" p14:dur="380">
    <p:fade/>
  </p:transition>
</p:sld>
</file>

<file path=ppt/slides/slide4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DOMAIN 5 · PROCESS MODEL</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Health and audit event correlation: operating flow</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6354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79829"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982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Detect symptom</a:t>
            </a:r>
          </a:p>
        </p:txBody>
      </p:sp>
      <p:sp>
        <p:nvSpPr>
          <p:cNvPr id="12" name="Rectangle 11"/>
          <p:cNvSpPr/>
          <p:nvPr/>
        </p:nvSpPr>
        <p:spPr>
          <a:xfrm>
            <a:off x="2969971"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69971" y="2148840"/>
            <a:ext cx="186354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572560"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72560"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6" name="TextBox 15"/>
          <p:cNvSpPr txBox="1"/>
          <p:nvPr/>
        </p:nvSpPr>
        <p:spPr>
          <a:xfrm>
            <a:off x="3088843"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Check Health</a:t>
            </a:r>
          </a:p>
        </p:txBody>
      </p:sp>
      <p:sp>
        <p:nvSpPr>
          <p:cNvPr id="17" name="Rectangle 16"/>
          <p:cNvSpPr/>
          <p:nvPr/>
        </p:nvSpPr>
        <p:spPr>
          <a:xfrm>
            <a:off x="5162702"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62702" y="2148840"/>
            <a:ext cx="186354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765291"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6529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1" name="TextBox 20"/>
          <p:cNvSpPr txBox="1"/>
          <p:nvPr/>
        </p:nvSpPr>
        <p:spPr>
          <a:xfrm>
            <a:off x="5281574"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Query API history</a:t>
            </a:r>
          </a:p>
        </p:txBody>
      </p:sp>
      <p:sp>
        <p:nvSpPr>
          <p:cNvPr id="22" name="Rectangle 21"/>
          <p:cNvSpPr/>
          <p:nvPr/>
        </p:nvSpPr>
        <p:spPr>
          <a:xfrm>
            <a:off x="7355433"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355433" y="2148840"/>
            <a:ext cx="186354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958022"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5802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6" name="TextBox 25"/>
          <p:cNvSpPr txBox="1"/>
          <p:nvPr/>
        </p:nvSpPr>
        <p:spPr>
          <a:xfrm>
            <a:off x="7474305"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Correlate resource</a:t>
            </a:r>
          </a:p>
        </p:txBody>
      </p:sp>
      <p:sp>
        <p:nvSpPr>
          <p:cNvPr id="27" name="Rectangle 26"/>
          <p:cNvSpPr/>
          <p:nvPr/>
        </p:nvSpPr>
        <p:spPr>
          <a:xfrm>
            <a:off x="9548164"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548164" y="2148840"/>
            <a:ext cx="1863547" cy="914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50753" y="2532888"/>
            <a:ext cx="658368" cy="658368"/>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5075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5</a:t>
            </a:r>
          </a:p>
        </p:txBody>
      </p:sp>
      <p:sp>
        <p:nvSpPr>
          <p:cNvPr id="31" name="TextBox 30"/>
          <p:cNvSpPr txBox="1"/>
          <p:nvPr/>
        </p:nvSpPr>
        <p:spPr>
          <a:xfrm>
            <a:off x="9667036"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Choose response</a:t>
            </a:r>
          </a:p>
        </p:txBody>
      </p:sp>
      <p:cxnSp>
        <p:nvCxnSpPr>
          <p:cNvPr id="32" name="Connector 31"/>
          <p:cNvCxnSpPr/>
          <p:nvPr/>
        </p:nvCxnSpPr>
        <p:spPr>
          <a:xfrm>
            <a:off x="2640787"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83351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026249"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21898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EC711E"/>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8" name="TextBox 3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9" name="TextBox 3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0" name="TextBox 3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492</a:t>
            </a:r>
          </a:p>
        </p:txBody>
      </p:sp>
    </p:spTree>
  </p:cSld>
  <p:clrMapOvr>
    <a:masterClrMapping/>
  </p:clrMapOvr>
  <p:transition xmlns:p14="http://schemas.microsoft.com/office/powerpoint/2010/main" p14:dur="380">
    <p:fade/>
  </p:transition>
</p:sld>
</file>

<file path=ppt/slides/slide4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DOMAIN 5 ·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Health and audit event correlation: design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83280" cy="43708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70832"/>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011680"/>
            <a:ext cx="530352" cy="530352"/>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011680"/>
            <a:ext cx="530352" cy="530352"/>
          </a:xfrm>
          <a:prstGeom prst="rect">
            <a:avLst/>
          </a:prstGeom>
          <a:noFill/>
        </p:spPr>
        <p:txBody>
          <a:bodyPr wrap="square" anchor="ctr">
            <a:spAutoFit/>
          </a:bodyPr>
          <a:lstStyle/>
          <a:p>
            <a:pPr algn="ctr">
              <a:spcAft>
                <a:spcPts val="400"/>
              </a:spcAft>
            </a:pPr>
            <a:r>
              <a:rPr sz="2000" b="1">
                <a:solidFill>
                  <a:srgbClr val="FFFFFF"/>
                </a:solidFill>
                <a:latin typeface="Arial"/>
              </a:rPr>
              <a:t>?</a:t>
            </a:r>
          </a:p>
        </p:txBody>
      </p:sp>
      <p:sp>
        <p:nvSpPr>
          <p:cNvPr id="11" name="TextBox 10"/>
          <p:cNvSpPr txBox="1"/>
          <p:nvPr/>
        </p:nvSpPr>
        <p:spPr>
          <a:xfrm>
            <a:off x="1709928" y="1984248"/>
            <a:ext cx="2212848" cy="502920"/>
          </a:xfrm>
          <a:prstGeom prst="rect">
            <a:avLst/>
          </a:prstGeom>
          <a:noFill/>
        </p:spPr>
        <p:txBody>
          <a:bodyPr wrap="square" anchor="ctr">
            <a:spAutoFit/>
          </a:bodyPr>
          <a:lstStyle/>
          <a:p>
            <a:pPr algn="l">
              <a:spcAft>
                <a:spcPts val="400"/>
              </a:spcAft>
            </a:pPr>
            <a:r>
              <a:rPr sz="1350" b="1">
                <a:solidFill>
                  <a:srgbClr val="EC711E"/>
                </a:solidFill>
                <a:latin typeface="Arial"/>
              </a:rPr>
              <a:t>SCENARIO</a:t>
            </a:r>
          </a:p>
        </p:txBody>
      </p:sp>
      <p:sp>
        <p:nvSpPr>
          <p:cNvPr id="12" name="TextBox 11"/>
          <p:cNvSpPr txBox="1"/>
          <p:nvPr/>
        </p:nvSpPr>
        <p:spPr>
          <a:xfrm>
            <a:off x="1051560" y="2743200"/>
            <a:ext cx="2834640" cy="3136392"/>
          </a:xfrm>
          <a:prstGeom prst="rect">
            <a:avLst/>
          </a:prstGeom>
          <a:noFill/>
        </p:spPr>
        <p:txBody>
          <a:bodyPr wrap="square" anchor="t">
            <a:spAutoFit/>
          </a:bodyPr>
          <a:lstStyle/>
          <a:p>
            <a:pPr algn="l">
              <a:spcAft>
                <a:spcPts val="400"/>
              </a:spcAft>
            </a:pPr>
            <a:r>
              <a:rPr sz="1300" b="0">
                <a:solidFill>
                  <a:srgbClr val="161B26"/>
                </a:solidFill>
                <a:latin typeface="Arial"/>
              </a:rPr>
              <a:t>Instances fail in one Region after a maintenance event while a deployment occurred minutes earlier.</a:t>
            </a:r>
          </a:p>
        </p:txBody>
      </p:sp>
      <p:sp>
        <p:nvSpPr>
          <p:cNvPr id="13" name="Rectangle 12"/>
          <p:cNvSpPr/>
          <p:nvPr/>
        </p:nvSpPr>
        <p:spPr>
          <a:xfrm>
            <a:off x="4434840"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34840" y="1783080"/>
            <a:ext cx="91440"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636008" y="1965960"/>
            <a:ext cx="438912" cy="43891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6008"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7" name="TextBox 16"/>
          <p:cNvSpPr txBox="1"/>
          <p:nvPr/>
        </p:nvSpPr>
        <p:spPr>
          <a:xfrm>
            <a:off x="5212080" y="1929384"/>
            <a:ext cx="2286000" cy="475488"/>
          </a:xfrm>
          <a:prstGeom prst="rect">
            <a:avLst/>
          </a:prstGeom>
          <a:noFill/>
        </p:spPr>
        <p:txBody>
          <a:bodyPr wrap="square" anchor="ctr">
            <a:spAutoFit/>
          </a:bodyPr>
          <a:lstStyle/>
          <a:p>
            <a:pPr algn="l">
              <a:spcAft>
                <a:spcPts val="400"/>
              </a:spcAft>
            </a:pPr>
            <a:r>
              <a:rPr sz="1250" b="1">
                <a:solidFill>
                  <a:srgbClr val="10B981"/>
                </a:solidFill>
                <a:latin typeface="Arial"/>
              </a:rPr>
              <a:t>DESIGN RESPONSE</a:t>
            </a:r>
          </a:p>
        </p:txBody>
      </p:sp>
      <p:sp>
        <p:nvSpPr>
          <p:cNvPr id="18" name="TextBox 17"/>
          <p:cNvSpPr txBox="1"/>
          <p:nvPr/>
        </p:nvSpPr>
        <p:spPr>
          <a:xfrm>
            <a:off x="4663440"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Correlate Health events with API history and resource telemetry using account, Region, resource and time.</a:t>
            </a:r>
          </a:p>
        </p:txBody>
      </p:sp>
      <p:sp>
        <p:nvSpPr>
          <p:cNvPr id="19" name="Rectangle 18"/>
          <p:cNvSpPr/>
          <p:nvPr/>
        </p:nvSpPr>
        <p:spPr>
          <a:xfrm>
            <a:off x="7973568"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973568" y="1783080"/>
            <a:ext cx="91440" cy="21488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174736" y="1965960"/>
            <a:ext cx="438912" cy="43891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74736"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23" name="TextBox 22"/>
          <p:cNvSpPr txBox="1"/>
          <p:nvPr/>
        </p:nvSpPr>
        <p:spPr>
          <a:xfrm>
            <a:off x="8750808" y="1929384"/>
            <a:ext cx="2286000" cy="475488"/>
          </a:xfrm>
          <a:prstGeom prst="rect">
            <a:avLst/>
          </a:prstGeom>
          <a:noFill/>
        </p:spPr>
        <p:txBody>
          <a:bodyPr wrap="square" anchor="ctr">
            <a:spAutoFit/>
          </a:bodyPr>
          <a:lstStyle/>
          <a:p>
            <a:pPr algn="l">
              <a:spcAft>
                <a:spcPts val="400"/>
              </a:spcAft>
            </a:pPr>
            <a:r>
              <a:rPr sz="1250" b="1">
                <a:solidFill>
                  <a:srgbClr val="7C3AED"/>
                </a:solidFill>
                <a:latin typeface="Arial"/>
              </a:rPr>
              <a:t>PRIMARY SERVICES</a:t>
            </a:r>
          </a:p>
        </p:txBody>
      </p:sp>
      <p:sp>
        <p:nvSpPr>
          <p:cNvPr id="24" name="TextBox 23"/>
          <p:cNvSpPr txBox="1"/>
          <p:nvPr/>
        </p:nvSpPr>
        <p:spPr>
          <a:xfrm>
            <a:off x="8202168"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AWS Health · CloudTrail · EventBridge</a:t>
            </a:r>
          </a:p>
        </p:txBody>
      </p:sp>
      <p:sp>
        <p:nvSpPr>
          <p:cNvPr id="25" name="Rectangle 24"/>
          <p:cNvSpPr/>
          <p:nvPr/>
        </p:nvSpPr>
        <p:spPr>
          <a:xfrm>
            <a:off x="4434840"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34840" y="4005072"/>
            <a:ext cx="91440" cy="21488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636008" y="4187952"/>
            <a:ext cx="438912" cy="43891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36008"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9" name="TextBox 28"/>
          <p:cNvSpPr txBox="1"/>
          <p:nvPr/>
        </p:nvSpPr>
        <p:spPr>
          <a:xfrm>
            <a:off x="5212080" y="4151376"/>
            <a:ext cx="2286000" cy="475488"/>
          </a:xfrm>
          <a:prstGeom prst="rect">
            <a:avLst/>
          </a:prstGeom>
          <a:noFill/>
        </p:spPr>
        <p:txBody>
          <a:bodyPr wrap="square" anchor="ctr">
            <a:spAutoFit/>
          </a:bodyPr>
          <a:lstStyle/>
          <a:p>
            <a:pPr algn="l">
              <a:spcAft>
                <a:spcPts val="400"/>
              </a:spcAft>
            </a:pPr>
            <a:r>
              <a:rPr sz="1250" b="1">
                <a:solidFill>
                  <a:srgbClr val="F59E0B"/>
                </a:solidFill>
                <a:latin typeface="Arial"/>
              </a:rPr>
              <a:t>FAILURE MODE</a:t>
            </a:r>
          </a:p>
        </p:txBody>
      </p:sp>
      <p:sp>
        <p:nvSpPr>
          <p:cNvPr id="30" name="TextBox 29"/>
          <p:cNvSpPr txBox="1"/>
          <p:nvPr/>
        </p:nvSpPr>
        <p:spPr>
          <a:xfrm>
            <a:off x="4663440"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Treating every symptom as an application defect delays response to service or control-plane events.</a:t>
            </a:r>
          </a:p>
        </p:txBody>
      </p:sp>
      <p:sp>
        <p:nvSpPr>
          <p:cNvPr id="31" name="Rectangle 30"/>
          <p:cNvSpPr/>
          <p:nvPr/>
        </p:nvSpPr>
        <p:spPr>
          <a:xfrm>
            <a:off x="7973568"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73568" y="4005072"/>
            <a:ext cx="91440" cy="21488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174736" y="4187952"/>
            <a:ext cx="438912" cy="438912"/>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74736"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5" name="TextBox 34"/>
          <p:cNvSpPr txBox="1"/>
          <p:nvPr/>
        </p:nvSpPr>
        <p:spPr>
          <a:xfrm>
            <a:off x="8750808" y="4151376"/>
            <a:ext cx="2286000" cy="475488"/>
          </a:xfrm>
          <a:prstGeom prst="rect">
            <a:avLst/>
          </a:prstGeom>
          <a:noFill/>
        </p:spPr>
        <p:txBody>
          <a:bodyPr wrap="square" anchor="ctr">
            <a:spAutoFit/>
          </a:bodyPr>
          <a:lstStyle/>
          <a:p>
            <a:pPr algn="l">
              <a:spcAft>
                <a:spcPts val="400"/>
              </a:spcAft>
            </a:pPr>
            <a:r>
              <a:rPr sz="1250" b="1">
                <a:solidFill>
                  <a:srgbClr val="EC711E"/>
                </a:solidFill>
                <a:latin typeface="Arial"/>
              </a:rPr>
              <a:t>PROOF</a:t>
            </a:r>
          </a:p>
        </p:txBody>
      </p:sp>
      <p:sp>
        <p:nvSpPr>
          <p:cNvPr id="36" name="TextBox 35"/>
          <p:cNvSpPr txBox="1"/>
          <p:nvPr/>
        </p:nvSpPr>
        <p:spPr>
          <a:xfrm>
            <a:off x="8202168"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Health event ARN, CloudTrail event ID, affected entities, timeline and correlated alarm.</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493</a:t>
            </a:r>
          </a:p>
        </p:txBody>
      </p:sp>
    </p:spTree>
  </p:cSld>
  <p:clrMapOvr>
    <a:masterClrMapping/>
  </p:clrMapOvr>
  <p:transition xmlns:p14="http://schemas.microsoft.com/office/powerpoint/2010/main" p14:dur="380">
    <p:fade/>
  </p:transition>
</p:sld>
</file>

<file path=ppt/slides/slide4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DOMAIN 5 · OPERATIONS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Health and audit event correlation: failure diagnostic</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RECOGNISE</a:t>
            </a:r>
          </a:p>
          <a:p>
            <a:pPr algn="l">
              <a:spcAft>
                <a:spcPts val="300"/>
              </a:spcAft>
            </a:pPr>
            <a:r>
              <a:rPr sz="1050" b="0">
                <a:solidFill>
                  <a:srgbClr val="5B6372"/>
                </a:solidFill>
                <a:latin typeface="Arial"/>
              </a:rPr>
              <a:t>Observable failure condition: Treating every symptom as an application defect delays response to service or control-plane events.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CONTAIN</a:t>
            </a:r>
          </a:p>
          <a:p>
            <a:pPr algn="l">
              <a:spcAft>
                <a:spcPts val="300"/>
              </a:spcAft>
            </a:pPr>
            <a:r>
              <a:rPr sz="1050" b="0">
                <a:solidFill>
                  <a:srgbClr val="5B6372"/>
                </a:solidFill>
                <a:latin typeface="Arial"/>
              </a:rPr>
              <a:t>Pause promotion, preserve evidence and reduce impact without destroying diagnostic state.</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DIAGNOSE</a:t>
            </a:r>
          </a:p>
          <a:p>
            <a:pPr algn="l">
              <a:spcAft>
                <a:spcPts val="300"/>
              </a:spcAft>
            </a:pPr>
            <a:r>
              <a:rPr sz="1050" b="0">
                <a:solidFill>
                  <a:srgbClr val="5B6372"/>
                </a:solidFill>
                <a:latin typeface="Arial"/>
              </a:rPr>
              <a:t>Trace the workflow from Detect symptom through Choose response; compare intended configuration with runtime state.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RECOVER</a:t>
            </a:r>
          </a:p>
          <a:p>
            <a:pPr algn="l">
              <a:spcAft>
                <a:spcPts val="300"/>
              </a:spcAft>
            </a:pPr>
            <a:r>
              <a:rPr sz="1050" b="0">
                <a:solidFill>
                  <a:srgbClr val="5B6372"/>
                </a:solidFill>
                <a:latin typeface="Arial"/>
              </a:rPr>
              <a:t>Restore the last known-good state, then prove recovery with Health event ARN, CloudTrail event ID, affected entities, timeline and correlated alarm.</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494</a:t>
            </a:r>
          </a:p>
        </p:txBody>
      </p:sp>
    </p:spTree>
  </p:cSld>
  <p:clrMapOvr>
    <a:masterClrMapping/>
  </p:clrMapOvr>
  <p:transition xmlns:p14="http://schemas.microsoft.com/office/powerpoint/2010/main" p14:dur="380">
    <p:fade/>
  </p:transition>
</p:sld>
</file>

<file path=ppt/slides/slide4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DOMAIN 5 · APPLIED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Health and audit event correlation: worked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CONSTRAINT</a:t>
            </a:r>
          </a:p>
          <a:p>
            <a:pPr algn="l">
              <a:spcAft>
                <a:spcPts val="300"/>
              </a:spcAft>
            </a:pPr>
            <a:r>
              <a:rPr sz="1050" b="0">
                <a:solidFill>
                  <a:srgbClr val="5B6372"/>
                </a:solidFill>
                <a:latin typeface="Arial"/>
              </a:rPr>
              <a:t>Instances fail in one Region after a maintenance event while a deployment occurred minutes earlier.</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DECISION</a:t>
            </a:r>
          </a:p>
          <a:p>
            <a:pPr algn="l">
              <a:spcAft>
                <a:spcPts val="300"/>
              </a:spcAft>
            </a:pPr>
            <a:r>
              <a:rPr sz="1050" b="0">
                <a:solidFill>
                  <a:srgbClr val="5B6372"/>
                </a:solidFill>
                <a:latin typeface="Arial"/>
              </a:rPr>
              <a:t>Correlate Health events with API history and resource telemetry using account, Region, resource and time.</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WHY ALTERNATIVES LOSE</a:t>
            </a:r>
          </a:p>
          <a:p>
            <a:pPr algn="l">
              <a:spcAft>
                <a:spcPts val="300"/>
              </a:spcAft>
            </a:pPr>
            <a:r>
              <a:rPr sz="1050" b="0">
                <a:solidFill>
                  <a:srgbClr val="5B6372"/>
                </a:solidFill>
                <a:latin typeface="Arial"/>
              </a:rPr>
              <a:t>Reject options that do not change the stated failure boundary: Treating every symptom as an application defect delays response to service or control-plane events.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ACCEPTANCE TEST</a:t>
            </a:r>
          </a:p>
          <a:p>
            <a:pPr algn="l">
              <a:spcAft>
                <a:spcPts val="300"/>
              </a:spcAft>
            </a:pPr>
            <a:r>
              <a:rPr sz="1050" b="0">
                <a:solidFill>
                  <a:srgbClr val="5B6372"/>
                </a:solidFill>
                <a:latin typeface="Arial"/>
              </a:rPr>
              <a:t>The decision is complete only when this proof exists: Health event ARN, CloudTrail event ID, affected entities, timeline and correlated alarm.</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495</a:t>
            </a:r>
          </a:p>
        </p:txBody>
      </p:sp>
    </p:spTree>
  </p:cSld>
  <p:clrMapOvr>
    <a:masterClrMapping/>
  </p:clrMapOvr>
  <p:transition xmlns:p14="http://schemas.microsoft.com/office/powerpoint/2010/main" p14:dur="380">
    <p:fade/>
  </p:transition>
</p:sld>
</file>

<file path=ppt/slides/slide4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DOMAIN 5 · INCIDENT AND EVENT RESPONSE</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Queues, dead-letter queues and redrive</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OUTCOME</a:t>
            </a:r>
          </a:p>
          <a:p>
            <a:pPr algn="l">
              <a:spcAft>
                <a:spcPts val="300"/>
              </a:spcAft>
            </a:pPr>
            <a:r>
              <a:rPr sz="1050" b="0">
                <a:solidFill>
                  <a:srgbClr val="5B6372"/>
                </a:solidFill>
                <a:latin typeface="Arial"/>
              </a:rPr>
              <a:t>Contain poison messages, preserve evidence and restore flow without replaying successful work.</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ARCHITECTURE</a:t>
            </a:r>
          </a:p>
          <a:p>
            <a:pPr algn="l">
              <a:spcAft>
                <a:spcPts val="300"/>
              </a:spcAft>
            </a:pPr>
            <a:r>
              <a:rPr sz="1050" b="0">
                <a:solidFill>
                  <a:srgbClr val="5B6372"/>
                </a:solidFill>
                <a:latin typeface="Arial"/>
              </a:rPr>
              <a:t>Set max receives from retry cost, alarm on age and DLQ depth, inspect safely and redrive in controlled batches.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MODE</a:t>
            </a:r>
          </a:p>
          <a:p>
            <a:pPr algn="l">
              <a:spcAft>
                <a:spcPts val="300"/>
              </a:spcAft>
            </a:pPr>
            <a:r>
              <a:rPr sz="1050" b="0">
                <a:solidFill>
                  <a:srgbClr val="5B6372"/>
                </a:solidFill>
                <a:latin typeface="Arial"/>
              </a:rPr>
              <a:t>Redriving an uncorrected poison message recreates the incident.</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EVIDENCE</a:t>
            </a:r>
          </a:p>
          <a:p>
            <a:pPr algn="l">
              <a:spcAft>
                <a:spcPts val="300"/>
              </a:spcAft>
            </a:pPr>
            <a:r>
              <a:rPr sz="1050" b="0">
                <a:solidFill>
                  <a:srgbClr val="5B6372"/>
                </a:solidFill>
                <a:latin typeface="Arial"/>
              </a:rPr>
              <a:t>Message ID, receive count, failure reason, DLQ age, fix version and redrive result.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496</a:t>
            </a:r>
          </a:p>
        </p:txBody>
      </p:sp>
    </p:spTree>
  </p:cSld>
  <p:clrMapOvr>
    <a:masterClrMapping/>
  </p:clrMapOvr>
  <p:transition xmlns:p14="http://schemas.microsoft.com/office/powerpoint/2010/main" p14:dur="380">
    <p:fade/>
  </p:transition>
</p:sld>
</file>

<file path=ppt/slides/slide4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DOMAIN 5 · PROCESS MODEL</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Queues, dead-letter queues and redrive: operating flow</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49809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97102"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9710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Consume</a:t>
            </a:r>
          </a:p>
        </p:txBody>
      </p:sp>
      <p:sp>
        <p:nvSpPr>
          <p:cNvPr id="12" name="Rectangle 11"/>
          <p:cNvSpPr/>
          <p:nvPr/>
        </p:nvSpPr>
        <p:spPr>
          <a:xfrm>
            <a:off x="2604516"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04516" y="2148840"/>
            <a:ext cx="149809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024378"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24378"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6" name="TextBox 15"/>
          <p:cNvSpPr txBox="1"/>
          <p:nvPr/>
        </p:nvSpPr>
        <p:spPr>
          <a:xfrm>
            <a:off x="2723388"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Fail</a:t>
            </a:r>
          </a:p>
        </p:txBody>
      </p:sp>
      <p:sp>
        <p:nvSpPr>
          <p:cNvPr id="17" name="Rectangle 16"/>
          <p:cNvSpPr/>
          <p:nvPr/>
        </p:nvSpPr>
        <p:spPr>
          <a:xfrm>
            <a:off x="4431792"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431792" y="2148840"/>
            <a:ext cx="149809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851654"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51654"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1" name="TextBox 20"/>
          <p:cNvSpPr txBox="1"/>
          <p:nvPr/>
        </p:nvSpPr>
        <p:spPr>
          <a:xfrm>
            <a:off x="4550664"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Retry</a:t>
            </a:r>
          </a:p>
        </p:txBody>
      </p:sp>
      <p:sp>
        <p:nvSpPr>
          <p:cNvPr id="22" name="Rectangle 21"/>
          <p:cNvSpPr/>
          <p:nvPr/>
        </p:nvSpPr>
        <p:spPr>
          <a:xfrm>
            <a:off x="6259068"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59068" y="2148840"/>
            <a:ext cx="149809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678930"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78930"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6" name="TextBox 25"/>
          <p:cNvSpPr txBox="1"/>
          <p:nvPr/>
        </p:nvSpPr>
        <p:spPr>
          <a:xfrm>
            <a:off x="6377940"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Move to DLQ</a:t>
            </a:r>
          </a:p>
        </p:txBody>
      </p:sp>
      <p:sp>
        <p:nvSpPr>
          <p:cNvPr id="27" name="Rectangle 26"/>
          <p:cNvSpPr/>
          <p:nvPr/>
        </p:nvSpPr>
        <p:spPr>
          <a:xfrm>
            <a:off x="8086344"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086344" y="2148840"/>
            <a:ext cx="1498092" cy="914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506206" y="2532888"/>
            <a:ext cx="658368" cy="658368"/>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06206"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5</a:t>
            </a:r>
          </a:p>
        </p:txBody>
      </p:sp>
      <p:sp>
        <p:nvSpPr>
          <p:cNvPr id="31" name="TextBox 30"/>
          <p:cNvSpPr txBox="1"/>
          <p:nvPr/>
        </p:nvSpPr>
        <p:spPr>
          <a:xfrm>
            <a:off x="8205216"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Diagnose</a:t>
            </a:r>
          </a:p>
        </p:txBody>
      </p:sp>
      <p:sp>
        <p:nvSpPr>
          <p:cNvPr id="32" name="Rectangle 31"/>
          <p:cNvSpPr/>
          <p:nvPr/>
        </p:nvSpPr>
        <p:spPr>
          <a:xfrm>
            <a:off x="9913620"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913620" y="2148840"/>
            <a:ext cx="1498092" cy="91440"/>
          </a:xfrm>
          <a:prstGeom prst="rect">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333482" y="2532888"/>
            <a:ext cx="658368" cy="658368"/>
          </a:xfrm>
          <a:prstGeom prst="ellipse">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3348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6</a:t>
            </a:r>
          </a:p>
        </p:txBody>
      </p:sp>
      <p:sp>
        <p:nvSpPr>
          <p:cNvPr id="36" name="TextBox 35"/>
          <p:cNvSpPr txBox="1"/>
          <p:nvPr/>
        </p:nvSpPr>
        <p:spPr>
          <a:xfrm>
            <a:off x="10032492"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Redrive after fix</a:t>
            </a:r>
          </a:p>
        </p:txBody>
      </p:sp>
      <p:cxnSp>
        <p:nvCxnSpPr>
          <p:cNvPr id="37" name="Connector 36"/>
          <p:cNvCxnSpPr/>
          <p:nvPr/>
        </p:nvCxnSpPr>
        <p:spPr>
          <a:xfrm>
            <a:off x="2275332"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10260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929884"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775716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9584436"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EC711E"/>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44" name="TextBox 4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45" name="TextBox 4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6" name="TextBox 4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497</a:t>
            </a:r>
          </a:p>
        </p:txBody>
      </p:sp>
    </p:spTree>
  </p:cSld>
  <p:clrMapOvr>
    <a:masterClrMapping/>
  </p:clrMapOvr>
  <p:transition xmlns:p14="http://schemas.microsoft.com/office/powerpoint/2010/main" p14:dur="380">
    <p:fade/>
  </p:transition>
</p:sld>
</file>

<file path=ppt/slides/slide4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DOMAIN 5 ·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700" b="1">
                <a:solidFill>
                  <a:srgbClr val="161B26"/>
                </a:solidFill>
                <a:latin typeface="Arial"/>
              </a:rPr>
              <a:t>Queues, dead-letter queues and redrive: design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83280" cy="43708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70832"/>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011680"/>
            <a:ext cx="530352" cy="530352"/>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011680"/>
            <a:ext cx="530352" cy="530352"/>
          </a:xfrm>
          <a:prstGeom prst="rect">
            <a:avLst/>
          </a:prstGeom>
          <a:noFill/>
        </p:spPr>
        <p:txBody>
          <a:bodyPr wrap="square" anchor="ctr">
            <a:spAutoFit/>
          </a:bodyPr>
          <a:lstStyle/>
          <a:p>
            <a:pPr algn="ctr">
              <a:spcAft>
                <a:spcPts val="400"/>
              </a:spcAft>
            </a:pPr>
            <a:r>
              <a:rPr sz="2000" b="1">
                <a:solidFill>
                  <a:srgbClr val="FFFFFF"/>
                </a:solidFill>
                <a:latin typeface="Arial"/>
              </a:rPr>
              <a:t>?</a:t>
            </a:r>
          </a:p>
        </p:txBody>
      </p:sp>
      <p:sp>
        <p:nvSpPr>
          <p:cNvPr id="11" name="TextBox 10"/>
          <p:cNvSpPr txBox="1"/>
          <p:nvPr/>
        </p:nvSpPr>
        <p:spPr>
          <a:xfrm>
            <a:off x="1709928" y="1984248"/>
            <a:ext cx="2212848" cy="502920"/>
          </a:xfrm>
          <a:prstGeom prst="rect">
            <a:avLst/>
          </a:prstGeom>
          <a:noFill/>
        </p:spPr>
        <p:txBody>
          <a:bodyPr wrap="square" anchor="ctr">
            <a:spAutoFit/>
          </a:bodyPr>
          <a:lstStyle/>
          <a:p>
            <a:pPr algn="l">
              <a:spcAft>
                <a:spcPts val="400"/>
              </a:spcAft>
            </a:pPr>
            <a:r>
              <a:rPr sz="1350" b="1">
                <a:solidFill>
                  <a:srgbClr val="EC711E"/>
                </a:solidFill>
                <a:latin typeface="Arial"/>
              </a:rPr>
              <a:t>SCENARIO</a:t>
            </a:r>
          </a:p>
        </p:txBody>
      </p:sp>
      <p:sp>
        <p:nvSpPr>
          <p:cNvPr id="12" name="TextBox 11"/>
          <p:cNvSpPr txBox="1"/>
          <p:nvPr/>
        </p:nvSpPr>
        <p:spPr>
          <a:xfrm>
            <a:off x="1051560" y="2743200"/>
            <a:ext cx="2834640" cy="3136392"/>
          </a:xfrm>
          <a:prstGeom prst="rect">
            <a:avLst/>
          </a:prstGeom>
          <a:noFill/>
        </p:spPr>
        <p:txBody>
          <a:bodyPr wrap="square" anchor="t">
            <a:spAutoFit/>
          </a:bodyPr>
          <a:lstStyle/>
          <a:p>
            <a:pPr algn="l">
              <a:spcAft>
                <a:spcPts val="400"/>
              </a:spcAft>
            </a:pPr>
            <a:r>
              <a:rPr sz="1300" b="0">
                <a:solidFill>
                  <a:srgbClr val="161B26"/>
                </a:solidFill>
                <a:latin typeface="Arial"/>
              </a:rPr>
              <a:t>A malformed event blocks a consumer while valid orders accumulate behind it.</a:t>
            </a:r>
          </a:p>
        </p:txBody>
      </p:sp>
      <p:sp>
        <p:nvSpPr>
          <p:cNvPr id="13" name="Rectangle 12"/>
          <p:cNvSpPr/>
          <p:nvPr/>
        </p:nvSpPr>
        <p:spPr>
          <a:xfrm>
            <a:off x="4434840"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34840" y="1783080"/>
            <a:ext cx="91440"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636008" y="1965960"/>
            <a:ext cx="438912" cy="43891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6008"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7" name="TextBox 16"/>
          <p:cNvSpPr txBox="1"/>
          <p:nvPr/>
        </p:nvSpPr>
        <p:spPr>
          <a:xfrm>
            <a:off x="5212080" y="1929384"/>
            <a:ext cx="2286000" cy="475488"/>
          </a:xfrm>
          <a:prstGeom prst="rect">
            <a:avLst/>
          </a:prstGeom>
          <a:noFill/>
        </p:spPr>
        <p:txBody>
          <a:bodyPr wrap="square" anchor="ctr">
            <a:spAutoFit/>
          </a:bodyPr>
          <a:lstStyle/>
          <a:p>
            <a:pPr algn="l">
              <a:spcAft>
                <a:spcPts val="400"/>
              </a:spcAft>
            </a:pPr>
            <a:r>
              <a:rPr sz="1250" b="1">
                <a:solidFill>
                  <a:srgbClr val="10B981"/>
                </a:solidFill>
                <a:latin typeface="Arial"/>
              </a:rPr>
              <a:t>DESIGN RESPONSE</a:t>
            </a:r>
          </a:p>
        </p:txBody>
      </p:sp>
      <p:sp>
        <p:nvSpPr>
          <p:cNvPr id="18" name="TextBox 17"/>
          <p:cNvSpPr txBox="1"/>
          <p:nvPr/>
        </p:nvSpPr>
        <p:spPr>
          <a:xfrm>
            <a:off x="4663440"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Set max receives from retry cost, alarm on age and DLQ depth, inspect safely and redrive in controlled batches.</a:t>
            </a:r>
          </a:p>
        </p:txBody>
      </p:sp>
      <p:sp>
        <p:nvSpPr>
          <p:cNvPr id="19" name="Rectangle 18"/>
          <p:cNvSpPr/>
          <p:nvPr/>
        </p:nvSpPr>
        <p:spPr>
          <a:xfrm>
            <a:off x="7973568"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973568" y="1783080"/>
            <a:ext cx="91440" cy="21488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174736" y="1965960"/>
            <a:ext cx="438912" cy="43891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74736"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23" name="TextBox 22"/>
          <p:cNvSpPr txBox="1"/>
          <p:nvPr/>
        </p:nvSpPr>
        <p:spPr>
          <a:xfrm>
            <a:off x="8750808" y="1929384"/>
            <a:ext cx="2286000" cy="475488"/>
          </a:xfrm>
          <a:prstGeom prst="rect">
            <a:avLst/>
          </a:prstGeom>
          <a:noFill/>
        </p:spPr>
        <p:txBody>
          <a:bodyPr wrap="square" anchor="ctr">
            <a:spAutoFit/>
          </a:bodyPr>
          <a:lstStyle/>
          <a:p>
            <a:pPr algn="l">
              <a:spcAft>
                <a:spcPts val="400"/>
              </a:spcAft>
            </a:pPr>
            <a:r>
              <a:rPr sz="1250" b="1">
                <a:solidFill>
                  <a:srgbClr val="7C3AED"/>
                </a:solidFill>
                <a:latin typeface="Arial"/>
              </a:rPr>
              <a:t>PRIMARY SERVICES</a:t>
            </a:r>
          </a:p>
        </p:txBody>
      </p:sp>
      <p:sp>
        <p:nvSpPr>
          <p:cNvPr id="24" name="TextBox 23"/>
          <p:cNvSpPr txBox="1"/>
          <p:nvPr/>
        </p:nvSpPr>
        <p:spPr>
          <a:xfrm>
            <a:off x="8202168"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SQS · SNS · Lambda</a:t>
            </a:r>
          </a:p>
        </p:txBody>
      </p:sp>
      <p:sp>
        <p:nvSpPr>
          <p:cNvPr id="25" name="Rectangle 24"/>
          <p:cNvSpPr/>
          <p:nvPr/>
        </p:nvSpPr>
        <p:spPr>
          <a:xfrm>
            <a:off x="4434840"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34840" y="4005072"/>
            <a:ext cx="91440" cy="21488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636008" y="4187952"/>
            <a:ext cx="438912" cy="43891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36008"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9" name="TextBox 28"/>
          <p:cNvSpPr txBox="1"/>
          <p:nvPr/>
        </p:nvSpPr>
        <p:spPr>
          <a:xfrm>
            <a:off x="5212080" y="4151376"/>
            <a:ext cx="2286000" cy="475488"/>
          </a:xfrm>
          <a:prstGeom prst="rect">
            <a:avLst/>
          </a:prstGeom>
          <a:noFill/>
        </p:spPr>
        <p:txBody>
          <a:bodyPr wrap="square" anchor="ctr">
            <a:spAutoFit/>
          </a:bodyPr>
          <a:lstStyle/>
          <a:p>
            <a:pPr algn="l">
              <a:spcAft>
                <a:spcPts val="400"/>
              </a:spcAft>
            </a:pPr>
            <a:r>
              <a:rPr sz="1250" b="1">
                <a:solidFill>
                  <a:srgbClr val="F59E0B"/>
                </a:solidFill>
                <a:latin typeface="Arial"/>
              </a:rPr>
              <a:t>FAILURE MODE</a:t>
            </a:r>
          </a:p>
        </p:txBody>
      </p:sp>
      <p:sp>
        <p:nvSpPr>
          <p:cNvPr id="30" name="TextBox 29"/>
          <p:cNvSpPr txBox="1"/>
          <p:nvPr/>
        </p:nvSpPr>
        <p:spPr>
          <a:xfrm>
            <a:off x="4663440"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Redriving an uncorrected poison message recreates the incident.</a:t>
            </a:r>
          </a:p>
        </p:txBody>
      </p:sp>
      <p:sp>
        <p:nvSpPr>
          <p:cNvPr id="31" name="Rectangle 30"/>
          <p:cNvSpPr/>
          <p:nvPr/>
        </p:nvSpPr>
        <p:spPr>
          <a:xfrm>
            <a:off x="7973568"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73568" y="4005072"/>
            <a:ext cx="91440" cy="21488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174736" y="4187952"/>
            <a:ext cx="438912" cy="438912"/>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74736"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5" name="TextBox 34"/>
          <p:cNvSpPr txBox="1"/>
          <p:nvPr/>
        </p:nvSpPr>
        <p:spPr>
          <a:xfrm>
            <a:off x="8750808" y="4151376"/>
            <a:ext cx="2286000" cy="475488"/>
          </a:xfrm>
          <a:prstGeom prst="rect">
            <a:avLst/>
          </a:prstGeom>
          <a:noFill/>
        </p:spPr>
        <p:txBody>
          <a:bodyPr wrap="square" anchor="ctr">
            <a:spAutoFit/>
          </a:bodyPr>
          <a:lstStyle/>
          <a:p>
            <a:pPr algn="l">
              <a:spcAft>
                <a:spcPts val="400"/>
              </a:spcAft>
            </a:pPr>
            <a:r>
              <a:rPr sz="1250" b="1">
                <a:solidFill>
                  <a:srgbClr val="EC711E"/>
                </a:solidFill>
                <a:latin typeface="Arial"/>
              </a:rPr>
              <a:t>PROOF</a:t>
            </a:r>
          </a:p>
        </p:txBody>
      </p:sp>
      <p:sp>
        <p:nvSpPr>
          <p:cNvPr id="36" name="TextBox 35"/>
          <p:cNvSpPr txBox="1"/>
          <p:nvPr/>
        </p:nvSpPr>
        <p:spPr>
          <a:xfrm>
            <a:off x="8202168"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Message ID, receive count, failure reason, DLQ age, fix version and redrive result.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498</a:t>
            </a:r>
          </a:p>
        </p:txBody>
      </p:sp>
    </p:spTree>
  </p:cSld>
  <p:clrMapOvr>
    <a:masterClrMapping/>
  </p:clrMapOvr>
  <p:transition xmlns:p14="http://schemas.microsoft.com/office/powerpoint/2010/main" p14:dur="380">
    <p:fade/>
  </p:transition>
</p:sld>
</file>

<file path=ppt/slides/slide5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DOMAIN 5 · OPERATIONS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700" b="1">
                <a:solidFill>
                  <a:srgbClr val="161B26"/>
                </a:solidFill>
                <a:latin typeface="Arial"/>
              </a:rPr>
              <a:t>Queues, dead-letter queues and redrive: failure diagnostic</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RECOGNISE</a:t>
            </a:r>
          </a:p>
          <a:p>
            <a:pPr algn="l">
              <a:spcAft>
                <a:spcPts val="300"/>
              </a:spcAft>
            </a:pPr>
            <a:r>
              <a:rPr sz="1050" b="0">
                <a:solidFill>
                  <a:srgbClr val="5B6372"/>
                </a:solidFill>
                <a:latin typeface="Arial"/>
              </a:rPr>
              <a:t>Observable failure condition: Redriving an uncorrected poison message recreates the incident.</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CONTAIN</a:t>
            </a:r>
          </a:p>
          <a:p>
            <a:pPr algn="l">
              <a:spcAft>
                <a:spcPts val="300"/>
              </a:spcAft>
            </a:pPr>
            <a:r>
              <a:rPr sz="1050" b="0">
                <a:solidFill>
                  <a:srgbClr val="5B6372"/>
                </a:solidFill>
                <a:latin typeface="Arial"/>
              </a:rPr>
              <a:t>Pause promotion, preserve evidence and reduce impact without destroying diagnostic state.</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DIAGNOSE</a:t>
            </a:r>
          </a:p>
          <a:p>
            <a:pPr algn="l">
              <a:spcAft>
                <a:spcPts val="300"/>
              </a:spcAft>
            </a:pPr>
            <a:r>
              <a:rPr sz="1050" b="0">
                <a:solidFill>
                  <a:srgbClr val="5B6372"/>
                </a:solidFill>
                <a:latin typeface="Arial"/>
              </a:rPr>
              <a:t>Trace the workflow from Consume through Redrive after fix; compare intended configuration with runtime state.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RECOVER</a:t>
            </a:r>
          </a:p>
          <a:p>
            <a:pPr algn="l">
              <a:spcAft>
                <a:spcPts val="300"/>
              </a:spcAft>
            </a:pPr>
            <a:r>
              <a:rPr sz="1050" b="0">
                <a:solidFill>
                  <a:srgbClr val="5B6372"/>
                </a:solidFill>
                <a:latin typeface="Arial"/>
              </a:rPr>
              <a:t>Restore the last known-good state, then prove recovery with Message ID, receive count, failure reason, DLQ age, fix version and redrive result.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499</a:t>
            </a:r>
          </a:p>
        </p:txBody>
      </p:sp>
    </p:spTree>
  </p:cSld>
  <p:clrMapOvr>
    <a:masterClrMapping/>
  </p:clrMapOvr>
  <p:transition xmlns:p14="http://schemas.microsoft.com/office/powerpoint/2010/main" p14:dur="380">
    <p:fade/>
  </p:transition>
</p:sld>
</file>

<file path=ppt/slides/slide5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DOMAIN 5 · APPLIED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700" b="1">
                <a:solidFill>
                  <a:srgbClr val="161B26"/>
                </a:solidFill>
                <a:latin typeface="Arial"/>
              </a:rPr>
              <a:t>Queues, dead-letter queues and redrive: worked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CONSTRAINT</a:t>
            </a:r>
          </a:p>
          <a:p>
            <a:pPr algn="l">
              <a:spcAft>
                <a:spcPts val="300"/>
              </a:spcAft>
            </a:pPr>
            <a:r>
              <a:rPr sz="1050" b="0">
                <a:solidFill>
                  <a:srgbClr val="5B6372"/>
                </a:solidFill>
                <a:latin typeface="Arial"/>
              </a:rPr>
              <a:t>A malformed event blocks a consumer while valid orders accumulate behind it.</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DECISION</a:t>
            </a:r>
          </a:p>
          <a:p>
            <a:pPr algn="l">
              <a:spcAft>
                <a:spcPts val="300"/>
              </a:spcAft>
            </a:pPr>
            <a:r>
              <a:rPr sz="1050" b="0">
                <a:solidFill>
                  <a:srgbClr val="5B6372"/>
                </a:solidFill>
                <a:latin typeface="Arial"/>
              </a:rPr>
              <a:t>Set max receives from retry cost, alarm on age and DLQ depth, inspect safely and redrive in controlled batches.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WHY ALTERNATIVES LOSE</a:t>
            </a:r>
          </a:p>
          <a:p>
            <a:pPr algn="l">
              <a:spcAft>
                <a:spcPts val="300"/>
              </a:spcAft>
            </a:pPr>
            <a:r>
              <a:rPr sz="1050" b="0">
                <a:solidFill>
                  <a:srgbClr val="5B6372"/>
                </a:solidFill>
                <a:latin typeface="Arial"/>
              </a:rPr>
              <a:t>Reject options that do not change the stated failure boundary: Redriving an uncorrected poison message recreates the incident.</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ACCEPTANCE TEST</a:t>
            </a:r>
          </a:p>
          <a:p>
            <a:pPr algn="l">
              <a:spcAft>
                <a:spcPts val="300"/>
              </a:spcAft>
            </a:pPr>
            <a:r>
              <a:rPr sz="1050" b="0">
                <a:solidFill>
                  <a:srgbClr val="5B6372"/>
                </a:solidFill>
                <a:latin typeface="Arial"/>
              </a:rPr>
              <a:t>The decision is complete only when this proof exists: Message ID, receive count, failure reason, DLQ age, fix version and redrive result.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500</a:t>
            </a:r>
          </a:p>
        </p:txBody>
      </p:sp>
    </p:spTree>
  </p:cSld>
  <p:clrMapOvr>
    <a:masterClrMapping/>
  </p:clrMapOvr>
  <p:transition xmlns:p14="http://schemas.microsoft.com/office/powerpoint/2010/main" p14:dur="380">
    <p:fade/>
  </p:transition>
</p:sld>
</file>

<file path=ppt/slides/slide5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DOMAIN 5 · INCIDENT AND EVENT RESPONSE</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Automated remediation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OUTCOME</a:t>
            </a:r>
          </a:p>
          <a:p>
            <a:pPr algn="l">
              <a:spcAft>
                <a:spcPts val="300"/>
              </a:spcAft>
            </a:pPr>
            <a:r>
              <a:rPr sz="1050" b="0">
                <a:solidFill>
                  <a:srgbClr val="5B6372"/>
                </a:solidFill>
                <a:latin typeface="Arial"/>
              </a:rPr>
              <a:t>Correct known, bounded failure modes quickly while preserving safety and auditability.</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ARCHITECTURE</a:t>
            </a:r>
          </a:p>
          <a:p>
            <a:pPr algn="l">
              <a:spcAft>
                <a:spcPts val="300"/>
              </a:spcAft>
            </a:pPr>
            <a:r>
              <a:rPr sz="1050" b="0">
                <a:solidFill>
                  <a:srgbClr val="5B6372"/>
                </a:solidFill>
                <a:latin typeface="Arial"/>
              </a:rPr>
              <a:t>Validate preconditions, scope targets, use approvals for high-risk steps, enforce rate controls and verify postconditions.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MODE</a:t>
            </a:r>
          </a:p>
          <a:p>
            <a:pPr algn="l">
              <a:spcAft>
                <a:spcPts val="300"/>
              </a:spcAft>
            </a:pPr>
            <a:r>
              <a:rPr sz="1050" b="0">
                <a:solidFill>
                  <a:srgbClr val="5B6372"/>
                </a:solidFill>
                <a:latin typeface="Arial"/>
              </a:rPr>
              <a:t>Automation that acts on uncertain diagnosis can deepen an outage.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EVIDENCE</a:t>
            </a:r>
          </a:p>
          <a:p>
            <a:pPr algn="l">
              <a:spcAft>
                <a:spcPts val="300"/>
              </a:spcAft>
            </a:pPr>
            <a:r>
              <a:rPr sz="1050" b="0">
                <a:solidFill>
                  <a:srgbClr val="5B6372"/>
                </a:solidFill>
                <a:latin typeface="Arial"/>
              </a:rPr>
              <a:t>Trigger evidence, automation execution, approvals, step output, rollback and postcondition check.</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501</a:t>
            </a:r>
          </a:p>
        </p:txBody>
      </p:sp>
    </p:spTree>
  </p:cSld>
  <p:clrMapOvr>
    <a:masterClrMapping/>
  </p:clrMapOvr>
  <p:transition xmlns:p14="http://schemas.microsoft.com/office/powerpoint/2010/main" p14:dur="380">
    <p:fade/>
  </p:transition>
</p:sld>
</file>

<file path=ppt/slides/slide5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DOMAIN 5 · PROCESS MODEL</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Automated remediation: operating flow</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49809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97102"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9710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Detect known condition</a:t>
            </a:r>
          </a:p>
        </p:txBody>
      </p:sp>
      <p:sp>
        <p:nvSpPr>
          <p:cNvPr id="12" name="Rectangle 11"/>
          <p:cNvSpPr/>
          <p:nvPr/>
        </p:nvSpPr>
        <p:spPr>
          <a:xfrm>
            <a:off x="2604516"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04516" y="2148840"/>
            <a:ext cx="149809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024378"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24378"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6" name="TextBox 15"/>
          <p:cNvSpPr txBox="1"/>
          <p:nvPr/>
        </p:nvSpPr>
        <p:spPr>
          <a:xfrm>
            <a:off x="2723388"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Validate</a:t>
            </a:r>
          </a:p>
        </p:txBody>
      </p:sp>
      <p:sp>
        <p:nvSpPr>
          <p:cNvPr id="17" name="Rectangle 16"/>
          <p:cNvSpPr/>
          <p:nvPr/>
        </p:nvSpPr>
        <p:spPr>
          <a:xfrm>
            <a:off x="4431792"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431792" y="2148840"/>
            <a:ext cx="149809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851654"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51654"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1" name="TextBox 20"/>
          <p:cNvSpPr txBox="1"/>
          <p:nvPr/>
        </p:nvSpPr>
        <p:spPr>
          <a:xfrm>
            <a:off x="4550664"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Approve if required</a:t>
            </a:r>
          </a:p>
        </p:txBody>
      </p:sp>
      <p:sp>
        <p:nvSpPr>
          <p:cNvPr id="22" name="Rectangle 21"/>
          <p:cNvSpPr/>
          <p:nvPr/>
        </p:nvSpPr>
        <p:spPr>
          <a:xfrm>
            <a:off x="6259068"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59068" y="2148840"/>
            <a:ext cx="149809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678930"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78930"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6" name="TextBox 25"/>
          <p:cNvSpPr txBox="1"/>
          <p:nvPr/>
        </p:nvSpPr>
        <p:spPr>
          <a:xfrm>
            <a:off x="6377940"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Remediate canary</a:t>
            </a:r>
          </a:p>
        </p:txBody>
      </p:sp>
      <p:sp>
        <p:nvSpPr>
          <p:cNvPr id="27" name="Rectangle 26"/>
          <p:cNvSpPr/>
          <p:nvPr/>
        </p:nvSpPr>
        <p:spPr>
          <a:xfrm>
            <a:off x="8086344"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086344" y="2148840"/>
            <a:ext cx="1498092" cy="914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506206" y="2532888"/>
            <a:ext cx="658368" cy="658368"/>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06206"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5</a:t>
            </a:r>
          </a:p>
        </p:txBody>
      </p:sp>
      <p:sp>
        <p:nvSpPr>
          <p:cNvPr id="31" name="TextBox 30"/>
          <p:cNvSpPr txBox="1"/>
          <p:nvPr/>
        </p:nvSpPr>
        <p:spPr>
          <a:xfrm>
            <a:off x="8205216"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Expand</a:t>
            </a:r>
          </a:p>
        </p:txBody>
      </p:sp>
      <p:sp>
        <p:nvSpPr>
          <p:cNvPr id="32" name="Rectangle 31"/>
          <p:cNvSpPr/>
          <p:nvPr/>
        </p:nvSpPr>
        <p:spPr>
          <a:xfrm>
            <a:off x="9913620"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913620" y="2148840"/>
            <a:ext cx="1498092" cy="91440"/>
          </a:xfrm>
          <a:prstGeom prst="rect">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333482" y="2532888"/>
            <a:ext cx="658368" cy="658368"/>
          </a:xfrm>
          <a:prstGeom prst="ellipse">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3348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6</a:t>
            </a:r>
          </a:p>
        </p:txBody>
      </p:sp>
      <p:sp>
        <p:nvSpPr>
          <p:cNvPr id="36" name="TextBox 35"/>
          <p:cNvSpPr txBox="1"/>
          <p:nvPr/>
        </p:nvSpPr>
        <p:spPr>
          <a:xfrm>
            <a:off x="10032492"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Verify</a:t>
            </a:r>
          </a:p>
        </p:txBody>
      </p:sp>
      <p:cxnSp>
        <p:nvCxnSpPr>
          <p:cNvPr id="37" name="Connector 36"/>
          <p:cNvCxnSpPr/>
          <p:nvPr/>
        </p:nvCxnSpPr>
        <p:spPr>
          <a:xfrm>
            <a:off x="2275332"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10260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929884"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775716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9584436"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EC711E"/>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44" name="TextBox 4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45" name="TextBox 4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6" name="TextBox 4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502</a:t>
            </a:r>
          </a:p>
        </p:txBody>
      </p:sp>
    </p:spTree>
  </p:cSld>
  <p:clrMapOvr>
    <a:masterClrMapping/>
  </p:clrMapOvr>
  <p:transition xmlns:p14="http://schemas.microsoft.com/office/powerpoint/2010/main" p14:dur="380">
    <p:fade/>
  </p:transition>
</p:sld>
</file>

<file path=ppt/slides/slide5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DOMAIN 5 ·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Automated remediation: design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83280" cy="43708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70832"/>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011680"/>
            <a:ext cx="530352" cy="530352"/>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011680"/>
            <a:ext cx="530352" cy="530352"/>
          </a:xfrm>
          <a:prstGeom prst="rect">
            <a:avLst/>
          </a:prstGeom>
          <a:noFill/>
        </p:spPr>
        <p:txBody>
          <a:bodyPr wrap="square" anchor="ctr">
            <a:spAutoFit/>
          </a:bodyPr>
          <a:lstStyle/>
          <a:p>
            <a:pPr algn="ctr">
              <a:spcAft>
                <a:spcPts val="400"/>
              </a:spcAft>
            </a:pPr>
            <a:r>
              <a:rPr sz="2000" b="1">
                <a:solidFill>
                  <a:srgbClr val="FFFFFF"/>
                </a:solidFill>
                <a:latin typeface="Arial"/>
              </a:rPr>
              <a:t>?</a:t>
            </a:r>
          </a:p>
        </p:txBody>
      </p:sp>
      <p:sp>
        <p:nvSpPr>
          <p:cNvPr id="11" name="TextBox 10"/>
          <p:cNvSpPr txBox="1"/>
          <p:nvPr/>
        </p:nvSpPr>
        <p:spPr>
          <a:xfrm>
            <a:off x="1709928" y="1984248"/>
            <a:ext cx="2212848" cy="502920"/>
          </a:xfrm>
          <a:prstGeom prst="rect">
            <a:avLst/>
          </a:prstGeom>
          <a:noFill/>
        </p:spPr>
        <p:txBody>
          <a:bodyPr wrap="square" anchor="ctr">
            <a:spAutoFit/>
          </a:bodyPr>
          <a:lstStyle/>
          <a:p>
            <a:pPr algn="l">
              <a:spcAft>
                <a:spcPts val="400"/>
              </a:spcAft>
            </a:pPr>
            <a:r>
              <a:rPr sz="1350" b="1">
                <a:solidFill>
                  <a:srgbClr val="EC711E"/>
                </a:solidFill>
                <a:latin typeface="Arial"/>
              </a:rPr>
              <a:t>SCENARIO</a:t>
            </a:r>
          </a:p>
        </p:txBody>
      </p:sp>
      <p:sp>
        <p:nvSpPr>
          <p:cNvPr id="12" name="TextBox 11"/>
          <p:cNvSpPr txBox="1"/>
          <p:nvPr/>
        </p:nvSpPr>
        <p:spPr>
          <a:xfrm>
            <a:off x="1051560" y="2743200"/>
            <a:ext cx="2834640" cy="3136392"/>
          </a:xfrm>
          <a:prstGeom prst="rect">
            <a:avLst/>
          </a:prstGeom>
          <a:noFill/>
        </p:spPr>
        <p:txBody>
          <a:bodyPr wrap="square" anchor="t">
            <a:spAutoFit/>
          </a:bodyPr>
          <a:lstStyle/>
          <a:p>
            <a:pPr algn="l">
              <a:spcAft>
                <a:spcPts val="400"/>
              </a:spcAft>
            </a:pPr>
            <a:r>
              <a:rPr sz="1300" b="0">
                <a:solidFill>
                  <a:srgbClr val="161B26"/>
                </a:solidFill>
                <a:latin typeface="Arial"/>
              </a:rPr>
              <a:t>A public security group rule must be removed automatically without touching approved exceptions.</a:t>
            </a:r>
          </a:p>
        </p:txBody>
      </p:sp>
      <p:sp>
        <p:nvSpPr>
          <p:cNvPr id="13" name="Rectangle 12"/>
          <p:cNvSpPr/>
          <p:nvPr/>
        </p:nvSpPr>
        <p:spPr>
          <a:xfrm>
            <a:off x="4434840"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34840" y="1783080"/>
            <a:ext cx="91440"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636008" y="1965960"/>
            <a:ext cx="438912" cy="43891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6008"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7" name="TextBox 16"/>
          <p:cNvSpPr txBox="1"/>
          <p:nvPr/>
        </p:nvSpPr>
        <p:spPr>
          <a:xfrm>
            <a:off x="5212080" y="1929384"/>
            <a:ext cx="2286000" cy="475488"/>
          </a:xfrm>
          <a:prstGeom prst="rect">
            <a:avLst/>
          </a:prstGeom>
          <a:noFill/>
        </p:spPr>
        <p:txBody>
          <a:bodyPr wrap="square" anchor="ctr">
            <a:spAutoFit/>
          </a:bodyPr>
          <a:lstStyle/>
          <a:p>
            <a:pPr algn="l">
              <a:spcAft>
                <a:spcPts val="400"/>
              </a:spcAft>
            </a:pPr>
            <a:r>
              <a:rPr sz="1250" b="1">
                <a:solidFill>
                  <a:srgbClr val="10B981"/>
                </a:solidFill>
                <a:latin typeface="Arial"/>
              </a:rPr>
              <a:t>DESIGN RESPONSE</a:t>
            </a:r>
          </a:p>
        </p:txBody>
      </p:sp>
      <p:sp>
        <p:nvSpPr>
          <p:cNvPr id="18" name="TextBox 17"/>
          <p:cNvSpPr txBox="1"/>
          <p:nvPr/>
        </p:nvSpPr>
        <p:spPr>
          <a:xfrm>
            <a:off x="4663440"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Validate preconditions, scope targets, use approvals for high-risk steps, enforce rate controls and verify postconditions.</a:t>
            </a:r>
          </a:p>
        </p:txBody>
      </p:sp>
      <p:sp>
        <p:nvSpPr>
          <p:cNvPr id="19" name="Rectangle 18"/>
          <p:cNvSpPr/>
          <p:nvPr/>
        </p:nvSpPr>
        <p:spPr>
          <a:xfrm>
            <a:off x="7973568"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973568" y="1783080"/>
            <a:ext cx="91440" cy="21488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174736" y="1965960"/>
            <a:ext cx="438912" cy="43891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74736"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23" name="TextBox 22"/>
          <p:cNvSpPr txBox="1"/>
          <p:nvPr/>
        </p:nvSpPr>
        <p:spPr>
          <a:xfrm>
            <a:off x="8750808" y="1929384"/>
            <a:ext cx="2286000" cy="475488"/>
          </a:xfrm>
          <a:prstGeom prst="rect">
            <a:avLst/>
          </a:prstGeom>
          <a:noFill/>
        </p:spPr>
        <p:txBody>
          <a:bodyPr wrap="square" anchor="ctr">
            <a:spAutoFit/>
          </a:bodyPr>
          <a:lstStyle/>
          <a:p>
            <a:pPr algn="l">
              <a:spcAft>
                <a:spcPts val="400"/>
              </a:spcAft>
            </a:pPr>
            <a:r>
              <a:rPr sz="1250" b="1">
                <a:solidFill>
                  <a:srgbClr val="7C3AED"/>
                </a:solidFill>
                <a:latin typeface="Arial"/>
              </a:rPr>
              <a:t>PRIMARY SERVICES</a:t>
            </a:r>
          </a:p>
        </p:txBody>
      </p:sp>
      <p:sp>
        <p:nvSpPr>
          <p:cNvPr id="24" name="TextBox 23"/>
          <p:cNvSpPr txBox="1"/>
          <p:nvPr/>
        </p:nvSpPr>
        <p:spPr>
          <a:xfrm>
            <a:off x="8202168"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Systems Manager Automation · Config · Lambda</a:t>
            </a:r>
          </a:p>
        </p:txBody>
      </p:sp>
      <p:sp>
        <p:nvSpPr>
          <p:cNvPr id="25" name="Rectangle 24"/>
          <p:cNvSpPr/>
          <p:nvPr/>
        </p:nvSpPr>
        <p:spPr>
          <a:xfrm>
            <a:off x="4434840"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34840" y="4005072"/>
            <a:ext cx="91440" cy="21488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636008" y="4187952"/>
            <a:ext cx="438912" cy="43891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36008"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9" name="TextBox 28"/>
          <p:cNvSpPr txBox="1"/>
          <p:nvPr/>
        </p:nvSpPr>
        <p:spPr>
          <a:xfrm>
            <a:off x="5212080" y="4151376"/>
            <a:ext cx="2286000" cy="475488"/>
          </a:xfrm>
          <a:prstGeom prst="rect">
            <a:avLst/>
          </a:prstGeom>
          <a:noFill/>
        </p:spPr>
        <p:txBody>
          <a:bodyPr wrap="square" anchor="ctr">
            <a:spAutoFit/>
          </a:bodyPr>
          <a:lstStyle/>
          <a:p>
            <a:pPr algn="l">
              <a:spcAft>
                <a:spcPts val="400"/>
              </a:spcAft>
            </a:pPr>
            <a:r>
              <a:rPr sz="1250" b="1">
                <a:solidFill>
                  <a:srgbClr val="F59E0B"/>
                </a:solidFill>
                <a:latin typeface="Arial"/>
              </a:rPr>
              <a:t>FAILURE MODE</a:t>
            </a:r>
          </a:p>
        </p:txBody>
      </p:sp>
      <p:sp>
        <p:nvSpPr>
          <p:cNvPr id="30" name="TextBox 29"/>
          <p:cNvSpPr txBox="1"/>
          <p:nvPr/>
        </p:nvSpPr>
        <p:spPr>
          <a:xfrm>
            <a:off x="4663440"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Automation that acts on uncertain diagnosis can deepen an outage.</a:t>
            </a:r>
          </a:p>
        </p:txBody>
      </p:sp>
      <p:sp>
        <p:nvSpPr>
          <p:cNvPr id="31" name="Rectangle 30"/>
          <p:cNvSpPr/>
          <p:nvPr/>
        </p:nvSpPr>
        <p:spPr>
          <a:xfrm>
            <a:off x="7973568"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73568" y="4005072"/>
            <a:ext cx="91440" cy="21488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174736" y="4187952"/>
            <a:ext cx="438912" cy="438912"/>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74736"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5" name="TextBox 34"/>
          <p:cNvSpPr txBox="1"/>
          <p:nvPr/>
        </p:nvSpPr>
        <p:spPr>
          <a:xfrm>
            <a:off x="8750808" y="4151376"/>
            <a:ext cx="2286000" cy="475488"/>
          </a:xfrm>
          <a:prstGeom prst="rect">
            <a:avLst/>
          </a:prstGeom>
          <a:noFill/>
        </p:spPr>
        <p:txBody>
          <a:bodyPr wrap="square" anchor="ctr">
            <a:spAutoFit/>
          </a:bodyPr>
          <a:lstStyle/>
          <a:p>
            <a:pPr algn="l">
              <a:spcAft>
                <a:spcPts val="400"/>
              </a:spcAft>
            </a:pPr>
            <a:r>
              <a:rPr sz="1250" b="1">
                <a:solidFill>
                  <a:srgbClr val="EC711E"/>
                </a:solidFill>
                <a:latin typeface="Arial"/>
              </a:rPr>
              <a:t>PROOF</a:t>
            </a:r>
          </a:p>
        </p:txBody>
      </p:sp>
      <p:sp>
        <p:nvSpPr>
          <p:cNvPr id="36" name="TextBox 35"/>
          <p:cNvSpPr txBox="1"/>
          <p:nvPr/>
        </p:nvSpPr>
        <p:spPr>
          <a:xfrm>
            <a:off x="8202168"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Trigger evidence, automation execution, approvals, step output, rollback and postcondition check.</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503</a:t>
            </a:r>
          </a:p>
        </p:txBody>
      </p:sp>
    </p:spTree>
  </p:cSld>
  <p:clrMapOvr>
    <a:masterClrMapping/>
  </p:clrMapOvr>
  <p:transition xmlns:p14="http://schemas.microsoft.com/office/powerpoint/2010/main" p14:dur="380">
    <p:fade/>
  </p:transition>
</p:sld>
</file>

<file path=ppt/slides/slide5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DOMAIN 5 · OPERATIONS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Automated remediation: failure diagnostic</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RECOGNISE</a:t>
            </a:r>
          </a:p>
          <a:p>
            <a:pPr algn="l">
              <a:spcAft>
                <a:spcPts val="300"/>
              </a:spcAft>
            </a:pPr>
            <a:r>
              <a:rPr sz="1050" b="0">
                <a:solidFill>
                  <a:srgbClr val="5B6372"/>
                </a:solidFill>
                <a:latin typeface="Arial"/>
              </a:rPr>
              <a:t>Observable failure condition: Automation that acts on uncertain diagnosis can deepen an outage.</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CONTAIN</a:t>
            </a:r>
          </a:p>
          <a:p>
            <a:pPr algn="l">
              <a:spcAft>
                <a:spcPts val="300"/>
              </a:spcAft>
            </a:pPr>
            <a:r>
              <a:rPr sz="1050" b="0">
                <a:solidFill>
                  <a:srgbClr val="5B6372"/>
                </a:solidFill>
                <a:latin typeface="Arial"/>
              </a:rPr>
              <a:t>Pause promotion, preserve evidence and reduce impact without destroying diagnostic state.</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DIAGNOSE</a:t>
            </a:r>
          </a:p>
          <a:p>
            <a:pPr algn="l">
              <a:spcAft>
                <a:spcPts val="300"/>
              </a:spcAft>
            </a:pPr>
            <a:r>
              <a:rPr sz="1050" b="0">
                <a:solidFill>
                  <a:srgbClr val="5B6372"/>
                </a:solidFill>
                <a:latin typeface="Arial"/>
              </a:rPr>
              <a:t>Trace the workflow from Detect known condition through Verify; compare intended configuration with runtime state.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RECOVER</a:t>
            </a:r>
          </a:p>
          <a:p>
            <a:pPr algn="l">
              <a:spcAft>
                <a:spcPts val="300"/>
              </a:spcAft>
            </a:pPr>
            <a:r>
              <a:rPr sz="1050" b="0">
                <a:solidFill>
                  <a:srgbClr val="5B6372"/>
                </a:solidFill>
                <a:latin typeface="Arial"/>
              </a:rPr>
              <a:t>Restore the last known-good state, then prove recovery with Trigger evidence, automation execution, approvals, step output, rollback and postcondition check.</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504</a:t>
            </a:r>
          </a:p>
        </p:txBody>
      </p:sp>
    </p:spTree>
  </p:cSld>
  <p:clrMapOvr>
    <a:masterClrMapping/>
  </p:clrMapOvr>
  <p:transition xmlns:p14="http://schemas.microsoft.com/office/powerpoint/2010/main" p14:dur="380">
    <p:fade/>
  </p:transition>
</p:sld>
</file>

<file path=ppt/slides/slide5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DOMAIN 5 · APPLIED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Automated remediation: worked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CONSTRAINT</a:t>
            </a:r>
          </a:p>
          <a:p>
            <a:pPr algn="l">
              <a:spcAft>
                <a:spcPts val="300"/>
              </a:spcAft>
            </a:pPr>
            <a:r>
              <a:rPr sz="1050" b="0">
                <a:solidFill>
                  <a:srgbClr val="5B6372"/>
                </a:solidFill>
                <a:latin typeface="Arial"/>
              </a:rPr>
              <a:t>A public security group rule must be removed automatically without touching approved exceptions.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DECISION</a:t>
            </a:r>
          </a:p>
          <a:p>
            <a:pPr algn="l">
              <a:spcAft>
                <a:spcPts val="300"/>
              </a:spcAft>
            </a:pPr>
            <a:r>
              <a:rPr sz="1050" b="0">
                <a:solidFill>
                  <a:srgbClr val="5B6372"/>
                </a:solidFill>
                <a:latin typeface="Arial"/>
              </a:rPr>
              <a:t>Validate preconditions, scope targets, use approvals for high-risk steps, enforce rate controls and verify postconditions.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WHY ALTERNATIVES LOSE</a:t>
            </a:r>
          </a:p>
          <a:p>
            <a:pPr algn="l">
              <a:spcAft>
                <a:spcPts val="300"/>
              </a:spcAft>
            </a:pPr>
            <a:r>
              <a:rPr sz="1050" b="0">
                <a:solidFill>
                  <a:srgbClr val="5B6372"/>
                </a:solidFill>
                <a:latin typeface="Arial"/>
              </a:rPr>
              <a:t>Reject options that do not change the stated failure boundary: Automation that acts on uncertain diagnosis can deepen an outage.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ACCEPTANCE TEST</a:t>
            </a:r>
          </a:p>
          <a:p>
            <a:pPr algn="l">
              <a:spcAft>
                <a:spcPts val="300"/>
              </a:spcAft>
            </a:pPr>
            <a:r>
              <a:rPr sz="1050" b="0">
                <a:solidFill>
                  <a:srgbClr val="5B6372"/>
                </a:solidFill>
                <a:latin typeface="Arial"/>
              </a:rPr>
              <a:t>The decision is complete only when this proof exists: Trigger evidence, automation execution, approvals, step output, rollback and postcondition check.</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505</a:t>
            </a:r>
          </a:p>
        </p:txBody>
      </p:sp>
    </p:spTree>
  </p:cSld>
  <p:clrMapOvr>
    <a:masterClrMapping/>
  </p:clrMapOvr>
  <p:transition xmlns:p14="http://schemas.microsoft.com/office/powerpoint/2010/main" p14:dur="380">
    <p:fade/>
  </p:transition>
</p:sld>
</file>

<file path=ppt/slides/slide5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DOMAIN 5 · INCIDENT AND EVENT RESPONSE</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Incident coordination and runbooks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OUTCOME</a:t>
            </a:r>
          </a:p>
          <a:p>
            <a:pPr algn="l">
              <a:spcAft>
                <a:spcPts val="300"/>
              </a:spcAft>
            </a:pPr>
            <a:r>
              <a:rPr sz="1050" b="0">
                <a:solidFill>
                  <a:srgbClr val="5B6372"/>
                </a:solidFill>
                <a:latin typeface="Arial"/>
              </a:rPr>
              <a:t>Create a shared timeline, ownership model and executable response path during incidents.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ARCHITECTURE</a:t>
            </a:r>
          </a:p>
          <a:p>
            <a:pPr algn="l">
              <a:spcAft>
                <a:spcPts val="300"/>
              </a:spcAft>
            </a:pPr>
            <a:r>
              <a:rPr sz="1050" b="0">
                <a:solidFill>
                  <a:srgbClr val="5B6372"/>
                </a:solidFill>
                <a:latin typeface="Arial"/>
              </a:rPr>
              <a:t>Define severity, response plans, contacts, escalation, runbooks and post-incident actions before failure.</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MODE</a:t>
            </a:r>
          </a:p>
          <a:p>
            <a:pPr algn="l">
              <a:spcAft>
                <a:spcPts val="300"/>
              </a:spcAft>
            </a:pPr>
            <a:r>
              <a:rPr sz="1050" b="0">
                <a:solidFill>
                  <a:srgbClr val="5B6372"/>
                </a:solidFill>
                <a:latin typeface="Arial"/>
              </a:rPr>
              <a:t>A technically correct fix can still fail when ownership and communication are unclear.</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EVIDENCE</a:t>
            </a:r>
          </a:p>
          <a:p>
            <a:pPr algn="l">
              <a:spcAft>
                <a:spcPts val="300"/>
              </a:spcAft>
            </a:pPr>
            <a:r>
              <a:rPr sz="1050" b="0">
                <a:solidFill>
                  <a:srgbClr val="5B6372"/>
                </a:solidFill>
                <a:latin typeface="Arial"/>
              </a:rPr>
              <a:t>Incident record, responder engagement, timeline, runbook execution, decision log and action items.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506</a:t>
            </a:r>
          </a:p>
        </p:txBody>
      </p:sp>
    </p:spTree>
  </p:cSld>
  <p:clrMapOvr>
    <a:masterClrMapping/>
  </p:clrMapOvr>
  <p:transition xmlns:p14="http://schemas.microsoft.com/office/powerpoint/2010/main" p14:dur="380">
    <p:fade/>
  </p:transition>
</p:sld>
</file>

<file path=ppt/slides/slide5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DOMAIN 5 · PROCESS MODEL</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Incident coordination and runbooks: operating flow</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49809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97102"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9710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Declare</a:t>
            </a:r>
          </a:p>
        </p:txBody>
      </p:sp>
      <p:sp>
        <p:nvSpPr>
          <p:cNvPr id="12" name="Rectangle 11"/>
          <p:cNvSpPr/>
          <p:nvPr/>
        </p:nvSpPr>
        <p:spPr>
          <a:xfrm>
            <a:off x="2604516"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04516" y="2148840"/>
            <a:ext cx="149809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024378"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24378"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6" name="TextBox 15"/>
          <p:cNvSpPr txBox="1"/>
          <p:nvPr/>
        </p:nvSpPr>
        <p:spPr>
          <a:xfrm>
            <a:off x="2723388"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Engage owners</a:t>
            </a:r>
          </a:p>
        </p:txBody>
      </p:sp>
      <p:sp>
        <p:nvSpPr>
          <p:cNvPr id="17" name="Rectangle 16"/>
          <p:cNvSpPr/>
          <p:nvPr/>
        </p:nvSpPr>
        <p:spPr>
          <a:xfrm>
            <a:off x="4431792"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431792" y="2148840"/>
            <a:ext cx="149809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851654"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51654"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1" name="TextBox 20"/>
          <p:cNvSpPr txBox="1"/>
          <p:nvPr/>
        </p:nvSpPr>
        <p:spPr>
          <a:xfrm>
            <a:off x="4550664"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Stabilize</a:t>
            </a:r>
          </a:p>
        </p:txBody>
      </p:sp>
      <p:sp>
        <p:nvSpPr>
          <p:cNvPr id="22" name="Rectangle 21"/>
          <p:cNvSpPr/>
          <p:nvPr/>
        </p:nvSpPr>
        <p:spPr>
          <a:xfrm>
            <a:off x="6259068"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59068" y="2148840"/>
            <a:ext cx="149809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678930"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78930"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6" name="TextBox 25"/>
          <p:cNvSpPr txBox="1"/>
          <p:nvPr/>
        </p:nvSpPr>
        <p:spPr>
          <a:xfrm>
            <a:off x="6377940"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Diagnose</a:t>
            </a:r>
          </a:p>
        </p:txBody>
      </p:sp>
      <p:sp>
        <p:nvSpPr>
          <p:cNvPr id="27" name="Rectangle 26"/>
          <p:cNvSpPr/>
          <p:nvPr/>
        </p:nvSpPr>
        <p:spPr>
          <a:xfrm>
            <a:off x="8086344"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086344" y="2148840"/>
            <a:ext cx="1498092" cy="914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506206" y="2532888"/>
            <a:ext cx="658368" cy="658368"/>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06206"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5</a:t>
            </a:r>
          </a:p>
        </p:txBody>
      </p:sp>
      <p:sp>
        <p:nvSpPr>
          <p:cNvPr id="31" name="TextBox 30"/>
          <p:cNvSpPr txBox="1"/>
          <p:nvPr/>
        </p:nvSpPr>
        <p:spPr>
          <a:xfrm>
            <a:off x="8205216"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Recover</a:t>
            </a:r>
          </a:p>
        </p:txBody>
      </p:sp>
      <p:sp>
        <p:nvSpPr>
          <p:cNvPr id="32" name="Rectangle 31"/>
          <p:cNvSpPr/>
          <p:nvPr/>
        </p:nvSpPr>
        <p:spPr>
          <a:xfrm>
            <a:off x="9913620"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913620" y="2148840"/>
            <a:ext cx="1498092" cy="91440"/>
          </a:xfrm>
          <a:prstGeom prst="rect">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333482" y="2532888"/>
            <a:ext cx="658368" cy="658368"/>
          </a:xfrm>
          <a:prstGeom prst="ellipse">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3348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6</a:t>
            </a:r>
          </a:p>
        </p:txBody>
      </p:sp>
      <p:sp>
        <p:nvSpPr>
          <p:cNvPr id="36" name="TextBox 35"/>
          <p:cNvSpPr txBox="1"/>
          <p:nvPr/>
        </p:nvSpPr>
        <p:spPr>
          <a:xfrm>
            <a:off x="10032492"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Learn</a:t>
            </a:r>
          </a:p>
        </p:txBody>
      </p:sp>
      <p:cxnSp>
        <p:nvCxnSpPr>
          <p:cNvPr id="37" name="Connector 36"/>
          <p:cNvCxnSpPr/>
          <p:nvPr/>
        </p:nvCxnSpPr>
        <p:spPr>
          <a:xfrm>
            <a:off x="2275332"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10260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929884"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775716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9584436"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EC711E"/>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44" name="TextBox 4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45" name="TextBox 4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6" name="TextBox 4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507</a:t>
            </a:r>
          </a:p>
        </p:txBody>
      </p:sp>
    </p:spTree>
  </p:cSld>
  <p:clrMapOvr>
    <a:masterClrMapping/>
  </p:clrMapOvr>
  <p:transition xmlns:p14="http://schemas.microsoft.com/office/powerpoint/2010/main" p14:dur="380">
    <p:fade/>
  </p:transition>
</p:sld>
</file>

<file path=ppt/slides/slide5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DOMAIN 5 ·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Incident coordination and runbooks: design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83280" cy="43708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70832"/>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011680"/>
            <a:ext cx="530352" cy="530352"/>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011680"/>
            <a:ext cx="530352" cy="530352"/>
          </a:xfrm>
          <a:prstGeom prst="rect">
            <a:avLst/>
          </a:prstGeom>
          <a:noFill/>
        </p:spPr>
        <p:txBody>
          <a:bodyPr wrap="square" anchor="ctr">
            <a:spAutoFit/>
          </a:bodyPr>
          <a:lstStyle/>
          <a:p>
            <a:pPr algn="ctr">
              <a:spcAft>
                <a:spcPts val="400"/>
              </a:spcAft>
            </a:pPr>
            <a:r>
              <a:rPr sz="2000" b="1">
                <a:solidFill>
                  <a:srgbClr val="FFFFFF"/>
                </a:solidFill>
                <a:latin typeface="Arial"/>
              </a:rPr>
              <a:t>?</a:t>
            </a:r>
          </a:p>
        </p:txBody>
      </p:sp>
      <p:sp>
        <p:nvSpPr>
          <p:cNvPr id="11" name="TextBox 10"/>
          <p:cNvSpPr txBox="1"/>
          <p:nvPr/>
        </p:nvSpPr>
        <p:spPr>
          <a:xfrm>
            <a:off x="1709928" y="1984248"/>
            <a:ext cx="2212848" cy="502920"/>
          </a:xfrm>
          <a:prstGeom prst="rect">
            <a:avLst/>
          </a:prstGeom>
          <a:noFill/>
        </p:spPr>
        <p:txBody>
          <a:bodyPr wrap="square" anchor="ctr">
            <a:spAutoFit/>
          </a:bodyPr>
          <a:lstStyle/>
          <a:p>
            <a:pPr algn="l">
              <a:spcAft>
                <a:spcPts val="400"/>
              </a:spcAft>
            </a:pPr>
            <a:r>
              <a:rPr sz="1350" b="1">
                <a:solidFill>
                  <a:srgbClr val="EC711E"/>
                </a:solidFill>
                <a:latin typeface="Arial"/>
              </a:rPr>
              <a:t>SCENARIO</a:t>
            </a:r>
          </a:p>
        </p:txBody>
      </p:sp>
      <p:sp>
        <p:nvSpPr>
          <p:cNvPr id="12" name="TextBox 11"/>
          <p:cNvSpPr txBox="1"/>
          <p:nvPr/>
        </p:nvSpPr>
        <p:spPr>
          <a:xfrm>
            <a:off x="1051560" y="2743200"/>
            <a:ext cx="2834640" cy="3136392"/>
          </a:xfrm>
          <a:prstGeom prst="rect">
            <a:avLst/>
          </a:prstGeom>
          <a:noFill/>
        </p:spPr>
        <p:txBody>
          <a:bodyPr wrap="square" anchor="t">
            <a:spAutoFit/>
          </a:bodyPr>
          <a:lstStyle/>
          <a:p>
            <a:pPr algn="l">
              <a:spcAft>
                <a:spcPts val="400"/>
              </a:spcAft>
            </a:pPr>
            <a:r>
              <a:rPr sz="1300" b="0">
                <a:solidFill>
                  <a:srgbClr val="161B26"/>
                </a:solidFill>
                <a:latin typeface="Arial"/>
              </a:rPr>
              <a:t>A critical API outage requires application, platform, security and business responders to coordinate.</a:t>
            </a:r>
          </a:p>
        </p:txBody>
      </p:sp>
      <p:sp>
        <p:nvSpPr>
          <p:cNvPr id="13" name="Rectangle 12"/>
          <p:cNvSpPr/>
          <p:nvPr/>
        </p:nvSpPr>
        <p:spPr>
          <a:xfrm>
            <a:off x="4434840"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34840" y="1783080"/>
            <a:ext cx="91440"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636008" y="1965960"/>
            <a:ext cx="438912" cy="43891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6008"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7" name="TextBox 16"/>
          <p:cNvSpPr txBox="1"/>
          <p:nvPr/>
        </p:nvSpPr>
        <p:spPr>
          <a:xfrm>
            <a:off x="5212080" y="1929384"/>
            <a:ext cx="2286000" cy="475488"/>
          </a:xfrm>
          <a:prstGeom prst="rect">
            <a:avLst/>
          </a:prstGeom>
          <a:noFill/>
        </p:spPr>
        <p:txBody>
          <a:bodyPr wrap="square" anchor="ctr">
            <a:spAutoFit/>
          </a:bodyPr>
          <a:lstStyle/>
          <a:p>
            <a:pPr algn="l">
              <a:spcAft>
                <a:spcPts val="400"/>
              </a:spcAft>
            </a:pPr>
            <a:r>
              <a:rPr sz="1250" b="1">
                <a:solidFill>
                  <a:srgbClr val="10B981"/>
                </a:solidFill>
                <a:latin typeface="Arial"/>
              </a:rPr>
              <a:t>DESIGN RESPONSE</a:t>
            </a:r>
          </a:p>
        </p:txBody>
      </p:sp>
      <p:sp>
        <p:nvSpPr>
          <p:cNvPr id="18" name="TextBox 17"/>
          <p:cNvSpPr txBox="1"/>
          <p:nvPr/>
        </p:nvSpPr>
        <p:spPr>
          <a:xfrm>
            <a:off x="4663440"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Define severity, response plans, contacts, escalation, runbooks and post-incident actions before failure.</a:t>
            </a:r>
          </a:p>
        </p:txBody>
      </p:sp>
      <p:sp>
        <p:nvSpPr>
          <p:cNvPr id="19" name="Rectangle 18"/>
          <p:cNvSpPr/>
          <p:nvPr/>
        </p:nvSpPr>
        <p:spPr>
          <a:xfrm>
            <a:off x="7973568"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973568" y="1783080"/>
            <a:ext cx="91440" cy="21488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174736" y="1965960"/>
            <a:ext cx="438912" cy="43891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74736"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23" name="TextBox 22"/>
          <p:cNvSpPr txBox="1"/>
          <p:nvPr/>
        </p:nvSpPr>
        <p:spPr>
          <a:xfrm>
            <a:off x="8750808" y="1929384"/>
            <a:ext cx="2286000" cy="475488"/>
          </a:xfrm>
          <a:prstGeom prst="rect">
            <a:avLst/>
          </a:prstGeom>
          <a:noFill/>
        </p:spPr>
        <p:txBody>
          <a:bodyPr wrap="square" anchor="ctr">
            <a:spAutoFit/>
          </a:bodyPr>
          <a:lstStyle/>
          <a:p>
            <a:pPr algn="l">
              <a:spcAft>
                <a:spcPts val="400"/>
              </a:spcAft>
            </a:pPr>
            <a:r>
              <a:rPr sz="1250" b="1">
                <a:solidFill>
                  <a:srgbClr val="7C3AED"/>
                </a:solidFill>
                <a:latin typeface="Arial"/>
              </a:rPr>
              <a:t>PRIMARY SERVICES</a:t>
            </a:r>
          </a:p>
        </p:txBody>
      </p:sp>
      <p:sp>
        <p:nvSpPr>
          <p:cNvPr id="24" name="TextBox 23"/>
          <p:cNvSpPr txBox="1"/>
          <p:nvPr/>
        </p:nvSpPr>
        <p:spPr>
          <a:xfrm>
            <a:off x="8202168"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Incident Manager · OpsCenter · Chatbot</a:t>
            </a:r>
          </a:p>
        </p:txBody>
      </p:sp>
      <p:sp>
        <p:nvSpPr>
          <p:cNvPr id="25" name="Rectangle 24"/>
          <p:cNvSpPr/>
          <p:nvPr/>
        </p:nvSpPr>
        <p:spPr>
          <a:xfrm>
            <a:off x="4434840"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34840" y="4005072"/>
            <a:ext cx="91440" cy="21488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636008" y="4187952"/>
            <a:ext cx="438912" cy="43891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36008"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9" name="TextBox 28"/>
          <p:cNvSpPr txBox="1"/>
          <p:nvPr/>
        </p:nvSpPr>
        <p:spPr>
          <a:xfrm>
            <a:off x="5212080" y="4151376"/>
            <a:ext cx="2286000" cy="475488"/>
          </a:xfrm>
          <a:prstGeom prst="rect">
            <a:avLst/>
          </a:prstGeom>
          <a:noFill/>
        </p:spPr>
        <p:txBody>
          <a:bodyPr wrap="square" anchor="ctr">
            <a:spAutoFit/>
          </a:bodyPr>
          <a:lstStyle/>
          <a:p>
            <a:pPr algn="l">
              <a:spcAft>
                <a:spcPts val="400"/>
              </a:spcAft>
            </a:pPr>
            <a:r>
              <a:rPr sz="1250" b="1">
                <a:solidFill>
                  <a:srgbClr val="F59E0B"/>
                </a:solidFill>
                <a:latin typeface="Arial"/>
              </a:rPr>
              <a:t>FAILURE MODE</a:t>
            </a:r>
          </a:p>
        </p:txBody>
      </p:sp>
      <p:sp>
        <p:nvSpPr>
          <p:cNvPr id="30" name="TextBox 29"/>
          <p:cNvSpPr txBox="1"/>
          <p:nvPr/>
        </p:nvSpPr>
        <p:spPr>
          <a:xfrm>
            <a:off x="4663440"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A technically correct fix can still fail when ownership and communication are unclear.</a:t>
            </a:r>
          </a:p>
        </p:txBody>
      </p:sp>
      <p:sp>
        <p:nvSpPr>
          <p:cNvPr id="31" name="Rectangle 30"/>
          <p:cNvSpPr/>
          <p:nvPr/>
        </p:nvSpPr>
        <p:spPr>
          <a:xfrm>
            <a:off x="7973568"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73568" y="4005072"/>
            <a:ext cx="91440" cy="21488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174736" y="4187952"/>
            <a:ext cx="438912" cy="438912"/>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74736"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5" name="TextBox 34"/>
          <p:cNvSpPr txBox="1"/>
          <p:nvPr/>
        </p:nvSpPr>
        <p:spPr>
          <a:xfrm>
            <a:off x="8750808" y="4151376"/>
            <a:ext cx="2286000" cy="475488"/>
          </a:xfrm>
          <a:prstGeom prst="rect">
            <a:avLst/>
          </a:prstGeom>
          <a:noFill/>
        </p:spPr>
        <p:txBody>
          <a:bodyPr wrap="square" anchor="ctr">
            <a:spAutoFit/>
          </a:bodyPr>
          <a:lstStyle/>
          <a:p>
            <a:pPr algn="l">
              <a:spcAft>
                <a:spcPts val="400"/>
              </a:spcAft>
            </a:pPr>
            <a:r>
              <a:rPr sz="1250" b="1">
                <a:solidFill>
                  <a:srgbClr val="EC711E"/>
                </a:solidFill>
                <a:latin typeface="Arial"/>
              </a:rPr>
              <a:t>PROOF</a:t>
            </a:r>
          </a:p>
        </p:txBody>
      </p:sp>
      <p:sp>
        <p:nvSpPr>
          <p:cNvPr id="36" name="TextBox 35"/>
          <p:cNvSpPr txBox="1"/>
          <p:nvPr/>
        </p:nvSpPr>
        <p:spPr>
          <a:xfrm>
            <a:off x="8202168"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Incident record, responder engagement, timeline, runbook execution, decision log and action items.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508</a:t>
            </a:r>
          </a:p>
        </p:txBody>
      </p:sp>
    </p:spTree>
  </p:cSld>
  <p:clrMapOvr>
    <a:masterClrMapping/>
  </p:clrMapOvr>
  <p:transition xmlns:p14="http://schemas.microsoft.com/office/powerpoint/2010/main" p14:dur="380">
    <p:fade/>
  </p:transition>
</p:sld>
</file>

<file path=ppt/slides/slide5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DOMAIN 5 · OPERATIONS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Incident coordination and runbooks: failure diagnostic</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RECOGNISE</a:t>
            </a:r>
          </a:p>
          <a:p>
            <a:pPr algn="l">
              <a:spcAft>
                <a:spcPts val="300"/>
              </a:spcAft>
            </a:pPr>
            <a:r>
              <a:rPr sz="1050" b="0">
                <a:solidFill>
                  <a:srgbClr val="5B6372"/>
                </a:solidFill>
                <a:latin typeface="Arial"/>
              </a:rPr>
              <a:t>Observable failure condition: A technically correct fix can still fail when ownership and communication are unclear.</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CONTAIN</a:t>
            </a:r>
          </a:p>
          <a:p>
            <a:pPr algn="l">
              <a:spcAft>
                <a:spcPts val="300"/>
              </a:spcAft>
            </a:pPr>
            <a:r>
              <a:rPr sz="1050" b="0">
                <a:solidFill>
                  <a:srgbClr val="5B6372"/>
                </a:solidFill>
                <a:latin typeface="Arial"/>
              </a:rPr>
              <a:t>Pause promotion, preserve evidence and reduce impact without destroying diagnostic state.</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DIAGNOSE</a:t>
            </a:r>
          </a:p>
          <a:p>
            <a:pPr algn="l">
              <a:spcAft>
                <a:spcPts val="300"/>
              </a:spcAft>
            </a:pPr>
            <a:r>
              <a:rPr sz="1050" b="0">
                <a:solidFill>
                  <a:srgbClr val="5B6372"/>
                </a:solidFill>
                <a:latin typeface="Arial"/>
              </a:rPr>
              <a:t>Trace the workflow from Declare through Learn; compare intended configuration with runtime state.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RECOVER</a:t>
            </a:r>
          </a:p>
          <a:p>
            <a:pPr algn="l">
              <a:spcAft>
                <a:spcPts val="300"/>
              </a:spcAft>
            </a:pPr>
            <a:r>
              <a:rPr sz="1050" b="0">
                <a:solidFill>
                  <a:srgbClr val="5B6372"/>
                </a:solidFill>
                <a:latin typeface="Arial"/>
              </a:rPr>
              <a:t>Restore the last known-good state, then prove recovery with Incident record, responder engagement, timeline, runbook execution, decision log and action items.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509</a:t>
            </a:r>
          </a:p>
        </p:txBody>
      </p:sp>
    </p:spTree>
  </p:cSld>
  <p:clrMapOvr>
    <a:masterClrMapping/>
  </p:clrMapOvr>
  <p:transition xmlns:p14="http://schemas.microsoft.com/office/powerpoint/2010/main" p14:dur="380">
    <p:fade/>
  </p:transition>
</p:sld>
</file>

<file path=ppt/slides/slide5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DOMAIN 5 · APPLIED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Incident coordination and runbooks: worked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CONSTRAINT</a:t>
            </a:r>
          </a:p>
          <a:p>
            <a:pPr algn="l">
              <a:spcAft>
                <a:spcPts val="300"/>
              </a:spcAft>
            </a:pPr>
            <a:r>
              <a:rPr sz="1050" b="0">
                <a:solidFill>
                  <a:srgbClr val="5B6372"/>
                </a:solidFill>
                <a:latin typeface="Arial"/>
              </a:rPr>
              <a:t>A critical API outage requires application, platform, security and business responders to coordinate.</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DECISION</a:t>
            </a:r>
          </a:p>
          <a:p>
            <a:pPr algn="l">
              <a:spcAft>
                <a:spcPts val="300"/>
              </a:spcAft>
            </a:pPr>
            <a:r>
              <a:rPr sz="1050" b="0">
                <a:solidFill>
                  <a:srgbClr val="5B6372"/>
                </a:solidFill>
                <a:latin typeface="Arial"/>
              </a:rPr>
              <a:t>Define severity, response plans, contacts, escalation, runbooks and post-incident actions before failure.</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WHY ALTERNATIVES LOSE</a:t>
            </a:r>
          </a:p>
          <a:p>
            <a:pPr algn="l">
              <a:spcAft>
                <a:spcPts val="300"/>
              </a:spcAft>
            </a:pPr>
            <a:r>
              <a:rPr sz="1050" b="0">
                <a:solidFill>
                  <a:srgbClr val="5B6372"/>
                </a:solidFill>
                <a:latin typeface="Arial"/>
              </a:rPr>
              <a:t>Reject options that do not change the stated failure boundary: A technically correct fix can still fail when ownership and communication are unclear.</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ACCEPTANCE TEST</a:t>
            </a:r>
          </a:p>
          <a:p>
            <a:pPr algn="l">
              <a:spcAft>
                <a:spcPts val="300"/>
              </a:spcAft>
            </a:pPr>
            <a:r>
              <a:rPr sz="1050" b="0">
                <a:solidFill>
                  <a:srgbClr val="5B6372"/>
                </a:solidFill>
                <a:latin typeface="Arial"/>
              </a:rPr>
              <a:t>The decision is complete only when this proof exists: Incident record, responder engagement, timeline, runbook execution, decision log and action items.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510</a:t>
            </a:r>
          </a:p>
        </p:txBody>
      </p:sp>
    </p:spTree>
  </p:cSld>
  <p:clrMapOvr>
    <a:masterClrMapping/>
  </p:clrMapOvr>
  <p:transition xmlns:p14="http://schemas.microsoft.com/office/powerpoint/2010/main" p14:dur="380">
    <p:fade/>
  </p:transition>
</p:sld>
</file>

<file path=ppt/slides/slide5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DOMAIN 5 · INCIDENT AND EVENT RESPONSE</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Structured troubleshooting</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OUTCOME</a:t>
            </a:r>
          </a:p>
          <a:p>
            <a:pPr algn="l">
              <a:spcAft>
                <a:spcPts val="300"/>
              </a:spcAft>
            </a:pPr>
            <a:r>
              <a:rPr sz="1050" b="0">
                <a:solidFill>
                  <a:srgbClr val="5B6372"/>
                </a:solidFill>
                <a:latin typeface="Arial"/>
              </a:rPr>
              <a:t>Reduce mean time to recovery through hypothesis-driven diagnosis and controlled changes.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ARCHITECTURE</a:t>
            </a:r>
          </a:p>
          <a:p>
            <a:pPr algn="l">
              <a:spcAft>
                <a:spcPts val="300"/>
              </a:spcAft>
            </a:pPr>
            <a:r>
              <a:rPr sz="1050" b="0">
                <a:solidFill>
                  <a:srgbClr val="5B6372"/>
                </a:solidFill>
                <a:latin typeface="Arial"/>
              </a:rPr>
              <a:t>Start from user impact, check recent changes, narrow by dependency, compare healthy baselines and change one variable at a time.</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MODE</a:t>
            </a:r>
          </a:p>
          <a:p>
            <a:pPr algn="l">
              <a:spcAft>
                <a:spcPts val="300"/>
              </a:spcAft>
            </a:pPr>
            <a:r>
              <a:rPr sz="1050" b="0">
                <a:solidFill>
                  <a:srgbClr val="5B6372"/>
                </a:solidFill>
                <a:latin typeface="Arial"/>
              </a:rPr>
              <a:t>Random changes destroy evidence and create new failure modes.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EVIDENCE</a:t>
            </a:r>
          </a:p>
          <a:p>
            <a:pPr algn="l">
              <a:spcAft>
                <a:spcPts val="300"/>
              </a:spcAft>
            </a:pPr>
            <a:r>
              <a:rPr sz="1050" b="0">
                <a:solidFill>
                  <a:srgbClr val="5B6372"/>
                </a:solidFill>
                <a:latin typeface="Arial"/>
              </a:rPr>
              <a:t>Impact statement, timeline, hypotheses, evidence, change record, recovery metric and root cause.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511</a:t>
            </a:r>
          </a:p>
        </p:txBody>
      </p:sp>
    </p:spTree>
  </p:cSld>
  <p:clrMapOvr>
    <a:masterClrMapping/>
  </p:clrMapOvr>
  <p:transition xmlns:p14="http://schemas.microsoft.com/office/powerpoint/2010/main" p14:dur="380">
    <p:fade/>
  </p:transition>
</p:sld>
</file>

<file path=ppt/slides/slide5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DOMAIN 5 · PROCESS MODEL</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Structured troubleshooting: operating flow</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49809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97102"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9710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Define impact</a:t>
            </a:r>
          </a:p>
        </p:txBody>
      </p:sp>
      <p:sp>
        <p:nvSpPr>
          <p:cNvPr id="12" name="Rectangle 11"/>
          <p:cNvSpPr/>
          <p:nvPr/>
        </p:nvSpPr>
        <p:spPr>
          <a:xfrm>
            <a:off x="2604516"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04516" y="2148840"/>
            <a:ext cx="149809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024378"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24378"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6" name="TextBox 15"/>
          <p:cNvSpPr txBox="1"/>
          <p:nvPr/>
        </p:nvSpPr>
        <p:spPr>
          <a:xfrm>
            <a:off x="2723388"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Build timeline</a:t>
            </a:r>
          </a:p>
        </p:txBody>
      </p:sp>
      <p:sp>
        <p:nvSpPr>
          <p:cNvPr id="17" name="Rectangle 16"/>
          <p:cNvSpPr/>
          <p:nvPr/>
        </p:nvSpPr>
        <p:spPr>
          <a:xfrm>
            <a:off x="4431792"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431792" y="2148840"/>
            <a:ext cx="149809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851654"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51654"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1" name="TextBox 20"/>
          <p:cNvSpPr txBox="1"/>
          <p:nvPr/>
        </p:nvSpPr>
        <p:spPr>
          <a:xfrm>
            <a:off x="4550664"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Rank hypotheses</a:t>
            </a:r>
          </a:p>
        </p:txBody>
      </p:sp>
      <p:sp>
        <p:nvSpPr>
          <p:cNvPr id="22" name="Rectangle 21"/>
          <p:cNvSpPr/>
          <p:nvPr/>
        </p:nvSpPr>
        <p:spPr>
          <a:xfrm>
            <a:off x="6259068"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59068" y="2148840"/>
            <a:ext cx="149809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678930"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78930"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6" name="TextBox 25"/>
          <p:cNvSpPr txBox="1"/>
          <p:nvPr/>
        </p:nvSpPr>
        <p:spPr>
          <a:xfrm>
            <a:off x="6377940"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Test safely</a:t>
            </a:r>
          </a:p>
        </p:txBody>
      </p:sp>
      <p:sp>
        <p:nvSpPr>
          <p:cNvPr id="27" name="Rectangle 26"/>
          <p:cNvSpPr/>
          <p:nvPr/>
        </p:nvSpPr>
        <p:spPr>
          <a:xfrm>
            <a:off x="8086344"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086344" y="2148840"/>
            <a:ext cx="1498092" cy="914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506206" y="2532888"/>
            <a:ext cx="658368" cy="658368"/>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06206"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5</a:t>
            </a:r>
          </a:p>
        </p:txBody>
      </p:sp>
      <p:sp>
        <p:nvSpPr>
          <p:cNvPr id="31" name="TextBox 30"/>
          <p:cNvSpPr txBox="1"/>
          <p:nvPr/>
        </p:nvSpPr>
        <p:spPr>
          <a:xfrm>
            <a:off x="8205216"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Recover</a:t>
            </a:r>
          </a:p>
        </p:txBody>
      </p:sp>
      <p:sp>
        <p:nvSpPr>
          <p:cNvPr id="32" name="Rectangle 31"/>
          <p:cNvSpPr/>
          <p:nvPr/>
        </p:nvSpPr>
        <p:spPr>
          <a:xfrm>
            <a:off x="9913620"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913620" y="2148840"/>
            <a:ext cx="1498092" cy="91440"/>
          </a:xfrm>
          <a:prstGeom prst="rect">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333482" y="2532888"/>
            <a:ext cx="658368" cy="658368"/>
          </a:xfrm>
          <a:prstGeom prst="ellipse">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3348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6</a:t>
            </a:r>
          </a:p>
        </p:txBody>
      </p:sp>
      <p:sp>
        <p:nvSpPr>
          <p:cNvPr id="36" name="TextBox 35"/>
          <p:cNvSpPr txBox="1"/>
          <p:nvPr/>
        </p:nvSpPr>
        <p:spPr>
          <a:xfrm>
            <a:off x="10032492"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Validate and document</a:t>
            </a:r>
          </a:p>
        </p:txBody>
      </p:sp>
      <p:cxnSp>
        <p:nvCxnSpPr>
          <p:cNvPr id="37" name="Connector 36"/>
          <p:cNvCxnSpPr/>
          <p:nvPr/>
        </p:nvCxnSpPr>
        <p:spPr>
          <a:xfrm>
            <a:off x="2275332"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10260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929884"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775716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9584436"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EC711E"/>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44" name="TextBox 4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45" name="TextBox 4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6" name="TextBox 4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512</a:t>
            </a:r>
          </a:p>
        </p:txBody>
      </p:sp>
    </p:spTree>
  </p:cSld>
  <p:clrMapOvr>
    <a:masterClrMapping/>
  </p:clrMapOvr>
  <p:transition xmlns:p14="http://schemas.microsoft.com/office/powerpoint/2010/main" p14:dur="380">
    <p:fade/>
  </p:transition>
</p:sld>
</file>

<file path=ppt/slides/slide5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DOMAIN 5 ·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Structured troubleshooting: design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83280" cy="43708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70832"/>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011680"/>
            <a:ext cx="530352" cy="530352"/>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011680"/>
            <a:ext cx="530352" cy="530352"/>
          </a:xfrm>
          <a:prstGeom prst="rect">
            <a:avLst/>
          </a:prstGeom>
          <a:noFill/>
        </p:spPr>
        <p:txBody>
          <a:bodyPr wrap="square" anchor="ctr">
            <a:spAutoFit/>
          </a:bodyPr>
          <a:lstStyle/>
          <a:p>
            <a:pPr algn="ctr">
              <a:spcAft>
                <a:spcPts val="400"/>
              </a:spcAft>
            </a:pPr>
            <a:r>
              <a:rPr sz="2000" b="1">
                <a:solidFill>
                  <a:srgbClr val="FFFFFF"/>
                </a:solidFill>
                <a:latin typeface="Arial"/>
              </a:rPr>
              <a:t>?</a:t>
            </a:r>
          </a:p>
        </p:txBody>
      </p:sp>
      <p:sp>
        <p:nvSpPr>
          <p:cNvPr id="11" name="TextBox 10"/>
          <p:cNvSpPr txBox="1"/>
          <p:nvPr/>
        </p:nvSpPr>
        <p:spPr>
          <a:xfrm>
            <a:off x="1709928" y="1984248"/>
            <a:ext cx="2212848" cy="502920"/>
          </a:xfrm>
          <a:prstGeom prst="rect">
            <a:avLst/>
          </a:prstGeom>
          <a:noFill/>
        </p:spPr>
        <p:txBody>
          <a:bodyPr wrap="square" anchor="ctr">
            <a:spAutoFit/>
          </a:bodyPr>
          <a:lstStyle/>
          <a:p>
            <a:pPr algn="l">
              <a:spcAft>
                <a:spcPts val="400"/>
              </a:spcAft>
            </a:pPr>
            <a:r>
              <a:rPr sz="1350" b="1">
                <a:solidFill>
                  <a:srgbClr val="EC711E"/>
                </a:solidFill>
                <a:latin typeface="Arial"/>
              </a:rPr>
              <a:t>SCENARIO</a:t>
            </a:r>
          </a:p>
        </p:txBody>
      </p:sp>
      <p:sp>
        <p:nvSpPr>
          <p:cNvPr id="12" name="TextBox 11"/>
          <p:cNvSpPr txBox="1"/>
          <p:nvPr/>
        </p:nvSpPr>
        <p:spPr>
          <a:xfrm>
            <a:off x="1051560" y="2743200"/>
            <a:ext cx="2834640" cy="3136392"/>
          </a:xfrm>
          <a:prstGeom prst="rect">
            <a:avLst/>
          </a:prstGeom>
          <a:noFill/>
        </p:spPr>
        <p:txBody>
          <a:bodyPr wrap="square" anchor="t">
            <a:spAutoFit/>
          </a:bodyPr>
          <a:lstStyle/>
          <a:p>
            <a:pPr algn="l">
              <a:spcAft>
                <a:spcPts val="400"/>
              </a:spcAft>
            </a:pPr>
            <a:r>
              <a:rPr sz="1300" b="0">
                <a:solidFill>
                  <a:srgbClr val="161B26"/>
                </a:solidFill>
                <a:latin typeface="Arial"/>
              </a:rPr>
              <a:t>Latency rises after a deployment, but only for requests using one downstream dependency.</a:t>
            </a:r>
          </a:p>
        </p:txBody>
      </p:sp>
      <p:sp>
        <p:nvSpPr>
          <p:cNvPr id="13" name="Rectangle 12"/>
          <p:cNvSpPr/>
          <p:nvPr/>
        </p:nvSpPr>
        <p:spPr>
          <a:xfrm>
            <a:off x="4434840"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34840" y="1783080"/>
            <a:ext cx="91440"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636008" y="1965960"/>
            <a:ext cx="438912" cy="43891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6008"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7" name="TextBox 16"/>
          <p:cNvSpPr txBox="1"/>
          <p:nvPr/>
        </p:nvSpPr>
        <p:spPr>
          <a:xfrm>
            <a:off x="5212080" y="1929384"/>
            <a:ext cx="2286000" cy="475488"/>
          </a:xfrm>
          <a:prstGeom prst="rect">
            <a:avLst/>
          </a:prstGeom>
          <a:noFill/>
        </p:spPr>
        <p:txBody>
          <a:bodyPr wrap="square" anchor="ctr">
            <a:spAutoFit/>
          </a:bodyPr>
          <a:lstStyle/>
          <a:p>
            <a:pPr algn="l">
              <a:spcAft>
                <a:spcPts val="400"/>
              </a:spcAft>
            </a:pPr>
            <a:r>
              <a:rPr sz="1250" b="1">
                <a:solidFill>
                  <a:srgbClr val="10B981"/>
                </a:solidFill>
                <a:latin typeface="Arial"/>
              </a:rPr>
              <a:t>DESIGN RESPONSE</a:t>
            </a:r>
          </a:p>
        </p:txBody>
      </p:sp>
      <p:sp>
        <p:nvSpPr>
          <p:cNvPr id="18" name="TextBox 17"/>
          <p:cNvSpPr txBox="1"/>
          <p:nvPr/>
        </p:nvSpPr>
        <p:spPr>
          <a:xfrm>
            <a:off x="4663440"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Start from user impact, check recent changes, narrow by dependency, compare healthy baselines and change one variable at a time.</a:t>
            </a:r>
          </a:p>
        </p:txBody>
      </p:sp>
      <p:sp>
        <p:nvSpPr>
          <p:cNvPr id="19" name="Rectangle 18"/>
          <p:cNvSpPr/>
          <p:nvPr/>
        </p:nvSpPr>
        <p:spPr>
          <a:xfrm>
            <a:off x="7973568"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973568" y="1783080"/>
            <a:ext cx="91440" cy="21488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174736" y="1965960"/>
            <a:ext cx="438912" cy="43891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74736"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23" name="TextBox 22"/>
          <p:cNvSpPr txBox="1"/>
          <p:nvPr/>
        </p:nvSpPr>
        <p:spPr>
          <a:xfrm>
            <a:off x="8750808" y="1929384"/>
            <a:ext cx="2286000" cy="475488"/>
          </a:xfrm>
          <a:prstGeom prst="rect">
            <a:avLst/>
          </a:prstGeom>
          <a:noFill/>
        </p:spPr>
        <p:txBody>
          <a:bodyPr wrap="square" anchor="ctr">
            <a:spAutoFit/>
          </a:bodyPr>
          <a:lstStyle/>
          <a:p>
            <a:pPr algn="l">
              <a:spcAft>
                <a:spcPts val="400"/>
              </a:spcAft>
            </a:pPr>
            <a:r>
              <a:rPr sz="1250" b="1">
                <a:solidFill>
                  <a:srgbClr val="7C3AED"/>
                </a:solidFill>
                <a:latin typeface="Arial"/>
              </a:rPr>
              <a:t>PRIMARY SERVICES</a:t>
            </a:r>
          </a:p>
        </p:txBody>
      </p:sp>
      <p:sp>
        <p:nvSpPr>
          <p:cNvPr id="24" name="TextBox 23"/>
          <p:cNvSpPr txBox="1"/>
          <p:nvPr/>
        </p:nvSpPr>
        <p:spPr>
          <a:xfrm>
            <a:off x="8202168"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CloudWatch · X-Ray · CloudTrail · Systems Manager</a:t>
            </a:r>
          </a:p>
        </p:txBody>
      </p:sp>
      <p:sp>
        <p:nvSpPr>
          <p:cNvPr id="25" name="Rectangle 24"/>
          <p:cNvSpPr/>
          <p:nvPr/>
        </p:nvSpPr>
        <p:spPr>
          <a:xfrm>
            <a:off x="4434840"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34840" y="4005072"/>
            <a:ext cx="91440" cy="21488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636008" y="4187952"/>
            <a:ext cx="438912" cy="43891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36008"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9" name="TextBox 28"/>
          <p:cNvSpPr txBox="1"/>
          <p:nvPr/>
        </p:nvSpPr>
        <p:spPr>
          <a:xfrm>
            <a:off x="5212080" y="4151376"/>
            <a:ext cx="2286000" cy="475488"/>
          </a:xfrm>
          <a:prstGeom prst="rect">
            <a:avLst/>
          </a:prstGeom>
          <a:noFill/>
        </p:spPr>
        <p:txBody>
          <a:bodyPr wrap="square" anchor="ctr">
            <a:spAutoFit/>
          </a:bodyPr>
          <a:lstStyle/>
          <a:p>
            <a:pPr algn="l">
              <a:spcAft>
                <a:spcPts val="400"/>
              </a:spcAft>
            </a:pPr>
            <a:r>
              <a:rPr sz="1250" b="1">
                <a:solidFill>
                  <a:srgbClr val="F59E0B"/>
                </a:solidFill>
                <a:latin typeface="Arial"/>
              </a:rPr>
              <a:t>FAILURE MODE</a:t>
            </a:r>
          </a:p>
        </p:txBody>
      </p:sp>
      <p:sp>
        <p:nvSpPr>
          <p:cNvPr id="30" name="TextBox 29"/>
          <p:cNvSpPr txBox="1"/>
          <p:nvPr/>
        </p:nvSpPr>
        <p:spPr>
          <a:xfrm>
            <a:off x="4663440"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Random changes destroy evidence and create new failure modes.</a:t>
            </a:r>
          </a:p>
        </p:txBody>
      </p:sp>
      <p:sp>
        <p:nvSpPr>
          <p:cNvPr id="31" name="Rectangle 30"/>
          <p:cNvSpPr/>
          <p:nvPr/>
        </p:nvSpPr>
        <p:spPr>
          <a:xfrm>
            <a:off x="7973568"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73568" y="4005072"/>
            <a:ext cx="91440" cy="21488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174736" y="4187952"/>
            <a:ext cx="438912" cy="438912"/>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74736"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5" name="TextBox 34"/>
          <p:cNvSpPr txBox="1"/>
          <p:nvPr/>
        </p:nvSpPr>
        <p:spPr>
          <a:xfrm>
            <a:off x="8750808" y="4151376"/>
            <a:ext cx="2286000" cy="475488"/>
          </a:xfrm>
          <a:prstGeom prst="rect">
            <a:avLst/>
          </a:prstGeom>
          <a:noFill/>
        </p:spPr>
        <p:txBody>
          <a:bodyPr wrap="square" anchor="ctr">
            <a:spAutoFit/>
          </a:bodyPr>
          <a:lstStyle/>
          <a:p>
            <a:pPr algn="l">
              <a:spcAft>
                <a:spcPts val="400"/>
              </a:spcAft>
            </a:pPr>
            <a:r>
              <a:rPr sz="1250" b="1">
                <a:solidFill>
                  <a:srgbClr val="EC711E"/>
                </a:solidFill>
                <a:latin typeface="Arial"/>
              </a:rPr>
              <a:t>PROOF</a:t>
            </a:r>
          </a:p>
        </p:txBody>
      </p:sp>
      <p:sp>
        <p:nvSpPr>
          <p:cNvPr id="36" name="TextBox 35"/>
          <p:cNvSpPr txBox="1"/>
          <p:nvPr/>
        </p:nvSpPr>
        <p:spPr>
          <a:xfrm>
            <a:off x="8202168"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Impact statement, timeline, hypotheses, evidence, change record, recovery metric and root cause.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513</a:t>
            </a:r>
          </a:p>
        </p:txBody>
      </p:sp>
    </p:spTree>
  </p:cSld>
  <p:clrMapOvr>
    <a:masterClrMapping/>
  </p:clrMapOvr>
  <p:transition xmlns:p14="http://schemas.microsoft.com/office/powerpoint/2010/main" p14:dur="380">
    <p:fade/>
  </p:transition>
</p:sld>
</file>

<file path=ppt/slides/slide5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DOMAIN 5 · OPERATIONS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Structured troubleshooting: failure diagnostic</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RECOGNISE</a:t>
            </a:r>
          </a:p>
          <a:p>
            <a:pPr algn="l">
              <a:spcAft>
                <a:spcPts val="300"/>
              </a:spcAft>
            </a:pPr>
            <a:r>
              <a:rPr sz="1050" b="0">
                <a:solidFill>
                  <a:srgbClr val="5B6372"/>
                </a:solidFill>
                <a:latin typeface="Arial"/>
              </a:rPr>
              <a:t>Observable failure condition: Random changes destroy evidence and create new failure modes.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CONTAIN</a:t>
            </a:r>
          </a:p>
          <a:p>
            <a:pPr algn="l">
              <a:spcAft>
                <a:spcPts val="300"/>
              </a:spcAft>
            </a:pPr>
            <a:r>
              <a:rPr sz="1050" b="0">
                <a:solidFill>
                  <a:srgbClr val="5B6372"/>
                </a:solidFill>
                <a:latin typeface="Arial"/>
              </a:rPr>
              <a:t>Pause promotion, preserve evidence and reduce impact without destroying diagnostic state.</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DIAGNOSE</a:t>
            </a:r>
          </a:p>
          <a:p>
            <a:pPr algn="l">
              <a:spcAft>
                <a:spcPts val="300"/>
              </a:spcAft>
            </a:pPr>
            <a:r>
              <a:rPr sz="1050" b="0">
                <a:solidFill>
                  <a:srgbClr val="5B6372"/>
                </a:solidFill>
                <a:latin typeface="Arial"/>
              </a:rPr>
              <a:t>Trace the workflow from Define impact through Validate and document; compare intended configuration with runtime state.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RECOVER</a:t>
            </a:r>
          </a:p>
          <a:p>
            <a:pPr algn="l">
              <a:spcAft>
                <a:spcPts val="300"/>
              </a:spcAft>
            </a:pPr>
            <a:r>
              <a:rPr sz="1050" b="0">
                <a:solidFill>
                  <a:srgbClr val="5B6372"/>
                </a:solidFill>
                <a:latin typeface="Arial"/>
              </a:rPr>
              <a:t>Restore the last known-good state, then prove recovery with Impact statement, timeline, hypotheses, evidence, change record, recovery metric and root cause.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514</a:t>
            </a:r>
          </a:p>
        </p:txBody>
      </p:sp>
    </p:spTree>
  </p:cSld>
  <p:clrMapOvr>
    <a:masterClrMapping/>
  </p:clrMapOvr>
  <p:transition xmlns:p14="http://schemas.microsoft.com/office/powerpoint/2010/main" p14:dur="380">
    <p:fade/>
  </p:transition>
</p:sld>
</file>

<file path=ppt/slides/slide5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DOMAIN 5 · APPLIED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Structured troubleshooting: worked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CONSTRAINT</a:t>
            </a:r>
          </a:p>
          <a:p>
            <a:pPr algn="l">
              <a:spcAft>
                <a:spcPts val="300"/>
              </a:spcAft>
            </a:pPr>
            <a:r>
              <a:rPr sz="1050" b="0">
                <a:solidFill>
                  <a:srgbClr val="5B6372"/>
                </a:solidFill>
                <a:latin typeface="Arial"/>
              </a:rPr>
              <a:t>Latency rises after a deployment, but only for requests using one downstream dependency.</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DECISION</a:t>
            </a:r>
          </a:p>
          <a:p>
            <a:pPr algn="l">
              <a:spcAft>
                <a:spcPts val="300"/>
              </a:spcAft>
            </a:pPr>
            <a:r>
              <a:rPr sz="1050" b="0">
                <a:solidFill>
                  <a:srgbClr val="5B6372"/>
                </a:solidFill>
                <a:latin typeface="Arial"/>
              </a:rPr>
              <a:t>Start from user impact, check recent changes, narrow by dependency, compare healthy baselines and change one variable at a time.</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WHY ALTERNATIVES LOSE</a:t>
            </a:r>
          </a:p>
          <a:p>
            <a:pPr algn="l">
              <a:spcAft>
                <a:spcPts val="300"/>
              </a:spcAft>
            </a:pPr>
            <a:r>
              <a:rPr sz="1050" b="0">
                <a:solidFill>
                  <a:srgbClr val="5B6372"/>
                </a:solidFill>
                <a:latin typeface="Arial"/>
              </a:rPr>
              <a:t>Reject options that do not change the stated failure boundary: Random changes destroy evidence and create new failure modes.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ACCEPTANCE TEST</a:t>
            </a:r>
          </a:p>
          <a:p>
            <a:pPr algn="l">
              <a:spcAft>
                <a:spcPts val="300"/>
              </a:spcAft>
            </a:pPr>
            <a:r>
              <a:rPr sz="1050" b="0">
                <a:solidFill>
                  <a:srgbClr val="5B6372"/>
                </a:solidFill>
                <a:latin typeface="Arial"/>
              </a:rPr>
              <a:t>The decision is complete only when this proof exists: Impact statement, timeline, hypotheses, evidence, change record, recovery metric and root cause.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515</a:t>
            </a:r>
          </a:p>
        </p:txBody>
      </p:sp>
    </p:spTree>
  </p:cSld>
  <p:clrMapOvr>
    <a:masterClrMapping/>
  </p:clrMapOvr>
  <p:transition xmlns:p14="http://schemas.microsoft.com/office/powerpoint/2010/main" p14:dur="380">
    <p:fade/>
  </p:transition>
</p:sld>
</file>

<file path=ppt/slides/slide5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DOMAIN 5 · SERVICE BOUNDARIES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Event-driven operations: architecture map</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241173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53921"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5392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319272"/>
            <a:ext cx="2173986" cy="384048"/>
          </a:xfrm>
          <a:prstGeom prst="rect">
            <a:avLst/>
          </a:prstGeom>
          <a:noFill/>
        </p:spPr>
        <p:txBody>
          <a:bodyPr wrap="square" anchor="ctr">
            <a:spAutoFit/>
          </a:bodyPr>
          <a:lstStyle/>
          <a:p>
            <a:pPr algn="ctr">
              <a:spcAft>
                <a:spcPts val="400"/>
              </a:spcAft>
            </a:pPr>
            <a:r>
              <a:rPr sz="1150" b="1">
                <a:solidFill>
                  <a:srgbClr val="1F6FEB"/>
                </a:solidFill>
                <a:latin typeface="Arial"/>
              </a:rPr>
              <a:t>TRIGGER / INPUT</a:t>
            </a:r>
          </a:p>
        </p:txBody>
      </p:sp>
      <p:sp>
        <p:nvSpPr>
          <p:cNvPr id="12" name="TextBox 11"/>
          <p:cNvSpPr txBox="1"/>
          <p:nvPr/>
        </p:nvSpPr>
        <p:spPr>
          <a:xfrm>
            <a:off x="896112"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Source event</a:t>
            </a:r>
          </a:p>
        </p:txBody>
      </p:sp>
      <p:sp>
        <p:nvSpPr>
          <p:cNvPr id="13" name="Rectangle 12"/>
          <p:cNvSpPr/>
          <p:nvPr/>
        </p:nvSpPr>
        <p:spPr>
          <a:xfrm>
            <a:off x="3518154"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18154" y="2148840"/>
            <a:ext cx="241173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394835"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94835"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7" name="TextBox 16"/>
          <p:cNvSpPr txBox="1"/>
          <p:nvPr/>
        </p:nvSpPr>
        <p:spPr>
          <a:xfrm>
            <a:off x="3637026" y="3319272"/>
            <a:ext cx="2173986" cy="384048"/>
          </a:xfrm>
          <a:prstGeom prst="rect">
            <a:avLst/>
          </a:prstGeom>
          <a:noFill/>
        </p:spPr>
        <p:txBody>
          <a:bodyPr wrap="square" anchor="ctr">
            <a:spAutoFit/>
          </a:bodyPr>
          <a:lstStyle/>
          <a:p>
            <a:pPr algn="ctr">
              <a:spcAft>
                <a:spcPts val="400"/>
              </a:spcAft>
            </a:pPr>
            <a:r>
              <a:rPr sz="1150" b="1">
                <a:solidFill>
                  <a:srgbClr val="10B981"/>
                </a:solidFill>
                <a:latin typeface="Arial"/>
              </a:rPr>
              <a:t>CONTROL PLANE</a:t>
            </a:r>
          </a:p>
        </p:txBody>
      </p:sp>
      <p:sp>
        <p:nvSpPr>
          <p:cNvPr id="18" name="TextBox 17"/>
          <p:cNvSpPr txBox="1"/>
          <p:nvPr/>
        </p:nvSpPr>
        <p:spPr>
          <a:xfrm>
            <a:off x="3637026"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Use precise event patterns, schemas, input transformation, retries, DLQs and archive/replay where required.</a:t>
            </a:r>
          </a:p>
        </p:txBody>
      </p:sp>
      <p:sp>
        <p:nvSpPr>
          <p:cNvPr id="19" name="Rectangle 18"/>
          <p:cNvSpPr/>
          <p:nvPr/>
        </p:nvSpPr>
        <p:spPr>
          <a:xfrm>
            <a:off x="6259068"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9068" y="2148840"/>
            <a:ext cx="241173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5749"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574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3" name="TextBox 22"/>
          <p:cNvSpPr txBox="1"/>
          <p:nvPr/>
        </p:nvSpPr>
        <p:spPr>
          <a:xfrm>
            <a:off x="6377940" y="3319272"/>
            <a:ext cx="2173986" cy="384048"/>
          </a:xfrm>
          <a:prstGeom prst="rect">
            <a:avLst/>
          </a:prstGeom>
          <a:noFill/>
        </p:spPr>
        <p:txBody>
          <a:bodyPr wrap="square" anchor="ctr">
            <a:spAutoFit/>
          </a:bodyPr>
          <a:lstStyle/>
          <a:p>
            <a:pPr algn="ctr">
              <a:spcAft>
                <a:spcPts val="400"/>
              </a:spcAft>
            </a:pPr>
            <a:r>
              <a:rPr sz="1150" b="1">
                <a:solidFill>
                  <a:srgbClr val="7C3AED"/>
                </a:solidFill>
                <a:latin typeface="Arial"/>
              </a:rPr>
              <a:t>AWS SERVICES</a:t>
            </a:r>
          </a:p>
        </p:txBody>
      </p:sp>
      <p:sp>
        <p:nvSpPr>
          <p:cNvPr id="24" name="TextBox 23"/>
          <p:cNvSpPr txBox="1"/>
          <p:nvPr/>
        </p:nvSpPr>
        <p:spPr>
          <a:xfrm>
            <a:off x="6377940"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EventBridge · Pipes · Scheduler · Lambda</a:t>
            </a:r>
          </a:p>
        </p:txBody>
      </p:sp>
      <p:sp>
        <p:nvSpPr>
          <p:cNvPr id="25" name="Rectangle 24"/>
          <p:cNvSpPr/>
          <p:nvPr/>
        </p:nvSpPr>
        <p:spPr>
          <a:xfrm>
            <a:off x="8999982"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99982" y="2148840"/>
            <a:ext cx="2411730"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76663"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7666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9" name="TextBox 28"/>
          <p:cNvSpPr txBox="1"/>
          <p:nvPr/>
        </p:nvSpPr>
        <p:spPr>
          <a:xfrm>
            <a:off x="9118854" y="3319272"/>
            <a:ext cx="2173986" cy="384048"/>
          </a:xfrm>
          <a:prstGeom prst="rect">
            <a:avLst/>
          </a:prstGeom>
          <a:noFill/>
        </p:spPr>
        <p:txBody>
          <a:bodyPr wrap="square" anchor="ctr">
            <a:spAutoFit/>
          </a:bodyPr>
          <a:lstStyle/>
          <a:p>
            <a:pPr algn="ctr">
              <a:spcAft>
                <a:spcPts val="400"/>
              </a:spcAft>
            </a:pPr>
            <a:r>
              <a:rPr sz="1150" b="1">
                <a:solidFill>
                  <a:srgbClr val="F59E0B"/>
                </a:solidFill>
                <a:latin typeface="Arial"/>
              </a:rPr>
              <a:t>EVIDENCE BOUNDARY</a:t>
            </a:r>
          </a:p>
        </p:txBody>
      </p:sp>
      <p:sp>
        <p:nvSpPr>
          <p:cNvPr id="30" name="TextBox 29"/>
          <p:cNvSpPr txBox="1"/>
          <p:nvPr/>
        </p:nvSpPr>
        <p:spPr>
          <a:xfrm>
            <a:off x="9118854"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Event pattern, matched sample, target role, retry policy, DLQ and replay record.</a:t>
            </a:r>
          </a:p>
        </p:txBody>
      </p:sp>
      <p:cxnSp>
        <p:nvCxnSpPr>
          <p:cNvPr id="31" name="Connector 30"/>
          <p:cNvCxnSpPr/>
          <p:nvPr/>
        </p:nvCxnSpPr>
        <p:spPr>
          <a:xfrm>
            <a:off x="318897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929884"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67079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EC711E"/>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516</a:t>
            </a:r>
          </a:p>
        </p:txBody>
      </p:sp>
    </p:spTree>
  </p:cSld>
  <p:clrMapOvr>
    <a:masterClrMapping/>
  </p:clrMapOvr>
  <p:transition xmlns:p14="http://schemas.microsoft.com/office/powerpoint/2010/main" p14:dur="380">
    <p:fade/>
  </p:transition>
</p:sld>
</file>

<file path=ppt/slides/slide5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DOMAIN 5 · SERVICE BOUNDARIES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Health and audit event correlation: architecture map</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241173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53921"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5392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319272"/>
            <a:ext cx="2173986" cy="384048"/>
          </a:xfrm>
          <a:prstGeom prst="rect">
            <a:avLst/>
          </a:prstGeom>
          <a:noFill/>
        </p:spPr>
        <p:txBody>
          <a:bodyPr wrap="square" anchor="ctr">
            <a:spAutoFit/>
          </a:bodyPr>
          <a:lstStyle/>
          <a:p>
            <a:pPr algn="ctr">
              <a:spcAft>
                <a:spcPts val="400"/>
              </a:spcAft>
            </a:pPr>
            <a:r>
              <a:rPr sz="1150" b="1">
                <a:solidFill>
                  <a:srgbClr val="1F6FEB"/>
                </a:solidFill>
                <a:latin typeface="Arial"/>
              </a:rPr>
              <a:t>TRIGGER / INPUT</a:t>
            </a:r>
          </a:p>
        </p:txBody>
      </p:sp>
      <p:sp>
        <p:nvSpPr>
          <p:cNvPr id="12" name="TextBox 11"/>
          <p:cNvSpPr txBox="1"/>
          <p:nvPr/>
        </p:nvSpPr>
        <p:spPr>
          <a:xfrm>
            <a:off x="896112"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Detect symptom</a:t>
            </a:r>
          </a:p>
        </p:txBody>
      </p:sp>
      <p:sp>
        <p:nvSpPr>
          <p:cNvPr id="13" name="Rectangle 12"/>
          <p:cNvSpPr/>
          <p:nvPr/>
        </p:nvSpPr>
        <p:spPr>
          <a:xfrm>
            <a:off x="3518154"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18154" y="2148840"/>
            <a:ext cx="241173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394835"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94835"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7" name="TextBox 16"/>
          <p:cNvSpPr txBox="1"/>
          <p:nvPr/>
        </p:nvSpPr>
        <p:spPr>
          <a:xfrm>
            <a:off x="3637026" y="3319272"/>
            <a:ext cx="2173986" cy="384048"/>
          </a:xfrm>
          <a:prstGeom prst="rect">
            <a:avLst/>
          </a:prstGeom>
          <a:noFill/>
        </p:spPr>
        <p:txBody>
          <a:bodyPr wrap="square" anchor="ctr">
            <a:spAutoFit/>
          </a:bodyPr>
          <a:lstStyle/>
          <a:p>
            <a:pPr algn="ctr">
              <a:spcAft>
                <a:spcPts val="400"/>
              </a:spcAft>
            </a:pPr>
            <a:r>
              <a:rPr sz="1150" b="1">
                <a:solidFill>
                  <a:srgbClr val="10B981"/>
                </a:solidFill>
                <a:latin typeface="Arial"/>
              </a:rPr>
              <a:t>CONTROL PLANE</a:t>
            </a:r>
          </a:p>
        </p:txBody>
      </p:sp>
      <p:sp>
        <p:nvSpPr>
          <p:cNvPr id="18" name="TextBox 17"/>
          <p:cNvSpPr txBox="1"/>
          <p:nvPr/>
        </p:nvSpPr>
        <p:spPr>
          <a:xfrm>
            <a:off x="3637026"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Correlate Health events with API history and resource telemetry using account, Region, resource and time.</a:t>
            </a:r>
          </a:p>
        </p:txBody>
      </p:sp>
      <p:sp>
        <p:nvSpPr>
          <p:cNvPr id="19" name="Rectangle 18"/>
          <p:cNvSpPr/>
          <p:nvPr/>
        </p:nvSpPr>
        <p:spPr>
          <a:xfrm>
            <a:off x="6259068"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9068" y="2148840"/>
            <a:ext cx="241173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5749"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574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3" name="TextBox 22"/>
          <p:cNvSpPr txBox="1"/>
          <p:nvPr/>
        </p:nvSpPr>
        <p:spPr>
          <a:xfrm>
            <a:off x="6377940" y="3319272"/>
            <a:ext cx="2173986" cy="384048"/>
          </a:xfrm>
          <a:prstGeom prst="rect">
            <a:avLst/>
          </a:prstGeom>
          <a:noFill/>
        </p:spPr>
        <p:txBody>
          <a:bodyPr wrap="square" anchor="ctr">
            <a:spAutoFit/>
          </a:bodyPr>
          <a:lstStyle/>
          <a:p>
            <a:pPr algn="ctr">
              <a:spcAft>
                <a:spcPts val="400"/>
              </a:spcAft>
            </a:pPr>
            <a:r>
              <a:rPr sz="1150" b="1">
                <a:solidFill>
                  <a:srgbClr val="7C3AED"/>
                </a:solidFill>
                <a:latin typeface="Arial"/>
              </a:rPr>
              <a:t>AWS SERVICES</a:t>
            </a:r>
          </a:p>
        </p:txBody>
      </p:sp>
      <p:sp>
        <p:nvSpPr>
          <p:cNvPr id="24" name="TextBox 23"/>
          <p:cNvSpPr txBox="1"/>
          <p:nvPr/>
        </p:nvSpPr>
        <p:spPr>
          <a:xfrm>
            <a:off x="6377940"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AWS Health · CloudTrail · EventBridge</a:t>
            </a:r>
          </a:p>
        </p:txBody>
      </p:sp>
      <p:sp>
        <p:nvSpPr>
          <p:cNvPr id="25" name="Rectangle 24"/>
          <p:cNvSpPr/>
          <p:nvPr/>
        </p:nvSpPr>
        <p:spPr>
          <a:xfrm>
            <a:off x="8999982"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99982" y="2148840"/>
            <a:ext cx="2411730"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76663"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7666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9" name="TextBox 28"/>
          <p:cNvSpPr txBox="1"/>
          <p:nvPr/>
        </p:nvSpPr>
        <p:spPr>
          <a:xfrm>
            <a:off x="9118854" y="3319272"/>
            <a:ext cx="2173986" cy="384048"/>
          </a:xfrm>
          <a:prstGeom prst="rect">
            <a:avLst/>
          </a:prstGeom>
          <a:noFill/>
        </p:spPr>
        <p:txBody>
          <a:bodyPr wrap="square" anchor="ctr">
            <a:spAutoFit/>
          </a:bodyPr>
          <a:lstStyle/>
          <a:p>
            <a:pPr algn="ctr">
              <a:spcAft>
                <a:spcPts val="400"/>
              </a:spcAft>
            </a:pPr>
            <a:r>
              <a:rPr sz="1150" b="1">
                <a:solidFill>
                  <a:srgbClr val="F59E0B"/>
                </a:solidFill>
                <a:latin typeface="Arial"/>
              </a:rPr>
              <a:t>EVIDENCE BOUNDARY</a:t>
            </a:r>
          </a:p>
        </p:txBody>
      </p:sp>
      <p:sp>
        <p:nvSpPr>
          <p:cNvPr id="30" name="TextBox 29"/>
          <p:cNvSpPr txBox="1"/>
          <p:nvPr/>
        </p:nvSpPr>
        <p:spPr>
          <a:xfrm>
            <a:off x="9118854"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Health event ARN, CloudTrail event ID, affected entities, timeline and correlated alarm.</a:t>
            </a:r>
          </a:p>
        </p:txBody>
      </p:sp>
      <p:cxnSp>
        <p:nvCxnSpPr>
          <p:cNvPr id="31" name="Connector 30"/>
          <p:cNvCxnSpPr/>
          <p:nvPr/>
        </p:nvCxnSpPr>
        <p:spPr>
          <a:xfrm>
            <a:off x="318897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929884"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67079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EC711E"/>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517</a:t>
            </a:r>
          </a:p>
        </p:txBody>
      </p:sp>
    </p:spTree>
  </p:cSld>
  <p:clrMapOvr>
    <a:masterClrMapping/>
  </p:clrMapOvr>
  <p:transition xmlns:p14="http://schemas.microsoft.com/office/powerpoint/2010/main" p14:dur="380">
    <p:fade/>
  </p:transition>
</p:sld>
</file>

<file path=ppt/slides/slide5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DOMAIN 5 · SERVICE BOUNDARIES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700" b="1">
                <a:solidFill>
                  <a:srgbClr val="161B26"/>
                </a:solidFill>
                <a:latin typeface="Arial"/>
              </a:rPr>
              <a:t>Queues, dead-letter queues and redrive: architecture map</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241173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53921"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5392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319272"/>
            <a:ext cx="2173986" cy="384048"/>
          </a:xfrm>
          <a:prstGeom prst="rect">
            <a:avLst/>
          </a:prstGeom>
          <a:noFill/>
        </p:spPr>
        <p:txBody>
          <a:bodyPr wrap="square" anchor="ctr">
            <a:spAutoFit/>
          </a:bodyPr>
          <a:lstStyle/>
          <a:p>
            <a:pPr algn="ctr">
              <a:spcAft>
                <a:spcPts val="400"/>
              </a:spcAft>
            </a:pPr>
            <a:r>
              <a:rPr sz="1150" b="1">
                <a:solidFill>
                  <a:srgbClr val="1F6FEB"/>
                </a:solidFill>
                <a:latin typeface="Arial"/>
              </a:rPr>
              <a:t>TRIGGER / INPUT</a:t>
            </a:r>
          </a:p>
        </p:txBody>
      </p:sp>
      <p:sp>
        <p:nvSpPr>
          <p:cNvPr id="12" name="TextBox 11"/>
          <p:cNvSpPr txBox="1"/>
          <p:nvPr/>
        </p:nvSpPr>
        <p:spPr>
          <a:xfrm>
            <a:off x="896112"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Consume</a:t>
            </a:r>
          </a:p>
        </p:txBody>
      </p:sp>
      <p:sp>
        <p:nvSpPr>
          <p:cNvPr id="13" name="Rectangle 12"/>
          <p:cNvSpPr/>
          <p:nvPr/>
        </p:nvSpPr>
        <p:spPr>
          <a:xfrm>
            <a:off x="3518154"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18154" y="2148840"/>
            <a:ext cx="241173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394835"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94835"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7" name="TextBox 16"/>
          <p:cNvSpPr txBox="1"/>
          <p:nvPr/>
        </p:nvSpPr>
        <p:spPr>
          <a:xfrm>
            <a:off x="3637026" y="3319272"/>
            <a:ext cx="2173986" cy="384048"/>
          </a:xfrm>
          <a:prstGeom prst="rect">
            <a:avLst/>
          </a:prstGeom>
          <a:noFill/>
        </p:spPr>
        <p:txBody>
          <a:bodyPr wrap="square" anchor="ctr">
            <a:spAutoFit/>
          </a:bodyPr>
          <a:lstStyle/>
          <a:p>
            <a:pPr algn="ctr">
              <a:spcAft>
                <a:spcPts val="400"/>
              </a:spcAft>
            </a:pPr>
            <a:r>
              <a:rPr sz="1150" b="1">
                <a:solidFill>
                  <a:srgbClr val="10B981"/>
                </a:solidFill>
                <a:latin typeface="Arial"/>
              </a:rPr>
              <a:t>CONTROL PLANE</a:t>
            </a:r>
          </a:p>
        </p:txBody>
      </p:sp>
      <p:sp>
        <p:nvSpPr>
          <p:cNvPr id="18" name="TextBox 17"/>
          <p:cNvSpPr txBox="1"/>
          <p:nvPr/>
        </p:nvSpPr>
        <p:spPr>
          <a:xfrm>
            <a:off x="3637026"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Set max receives from retry cost, alarm on age and DLQ depth, inspect safely and redrive in controlled batches.</a:t>
            </a:r>
          </a:p>
        </p:txBody>
      </p:sp>
      <p:sp>
        <p:nvSpPr>
          <p:cNvPr id="19" name="Rectangle 18"/>
          <p:cNvSpPr/>
          <p:nvPr/>
        </p:nvSpPr>
        <p:spPr>
          <a:xfrm>
            <a:off x="6259068"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9068" y="2148840"/>
            <a:ext cx="241173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5749"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574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3" name="TextBox 22"/>
          <p:cNvSpPr txBox="1"/>
          <p:nvPr/>
        </p:nvSpPr>
        <p:spPr>
          <a:xfrm>
            <a:off x="6377940" y="3319272"/>
            <a:ext cx="2173986" cy="384048"/>
          </a:xfrm>
          <a:prstGeom prst="rect">
            <a:avLst/>
          </a:prstGeom>
          <a:noFill/>
        </p:spPr>
        <p:txBody>
          <a:bodyPr wrap="square" anchor="ctr">
            <a:spAutoFit/>
          </a:bodyPr>
          <a:lstStyle/>
          <a:p>
            <a:pPr algn="ctr">
              <a:spcAft>
                <a:spcPts val="400"/>
              </a:spcAft>
            </a:pPr>
            <a:r>
              <a:rPr sz="1150" b="1">
                <a:solidFill>
                  <a:srgbClr val="7C3AED"/>
                </a:solidFill>
                <a:latin typeface="Arial"/>
              </a:rPr>
              <a:t>AWS SERVICES</a:t>
            </a:r>
          </a:p>
        </p:txBody>
      </p:sp>
      <p:sp>
        <p:nvSpPr>
          <p:cNvPr id="24" name="TextBox 23"/>
          <p:cNvSpPr txBox="1"/>
          <p:nvPr/>
        </p:nvSpPr>
        <p:spPr>
          <a:xfrm>
            <a:off x="6377940"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SQS · SNS · Lambda</a:t>
            </a:r>
          </a:p>
        </p:txBody>
      </p:sp>
      <p:sp>
        <p:nvSpPr>
          <p:cNvPr id="25" name="Rectangle 24"/>
          <p:cNvSpPr/>
          <p:nvPr/>
        </p:nvSpPr>
        <p:spPr>
          <a:xfrm>
            <a:off x="8999982"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99982" y="2148840"/>
            <a:ext cx="2411730"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76663"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7666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9" name="TextBox 28"/>
          <p:cNvSpPr txBox="1"/>
          <p:nvPr/>
        </p:nvSpPr>
        <p:spPr>
          <a:xfrm>
            <a:off x="9118854" y="3319272"/>
            <a:ext cx="2173986" cy="384048"/>
          </a:xfrm>
          <a:prstGeom prst="rect">
            <a:avLst/>
          </a:prstGeom>
          <a:noFill/>
        </p:spPr>
        <p:txBody>
          <a:bodyPr wrap="square" anchor="ctr">
            <a:spAutoFit/>
          </a:bodyPr>
          <a:lstStyle/>
          <a:p>
            <a:pPr algn="ctr">
              <a:spcAft>
                <a:spcPts val="400"/>
              </a:spcAft>
            </a:pPr>
            <a:r>
              <a:rPr sz="1150" b="1">
                <a:solidFill>
                  <a:srgbClr val="F59E0B"/>
                </a:solidFill>
                <a:latin typeface="Arial"/>
              </a:rPr>
              <a:t>EVIDENCE BOUNDARY</a:t>
            </a:r>
          </a:p>
        </p:txBody>
      </p:sp>
      <p:sp>
        <p:nvSpPr>
          <p:cNvPr id="30" name="TextBox 29"/>
          <p:cNvSpPr txBox="1"/>
          <p:nvPr/>
        </p:nvSpPr>
        <p:spPr>
          <a:xfrm>
            <a:off x="9118854"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Message ID, receive count, failure reason, DLQ age, fix version and redrive result.</a:t>
            </a:r>
          </a:p>
        </p:txBody>
      </p:sp>
      <p:cxnSp>
        <p:nvCxnSpPr>
          <p:cNvPr id="31" name="Connector 30"/>
          <p:cNvCxnSpPr/>
          <p:nvPr/>
        </p:nvCxnSpPr>
        <p:spPr>
          <a:xfrm>
            <a:off x="318897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929884"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67079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EC711E"/>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518</a:t>
            </a:r>
          </a:p>
        </p:txBody>
      </p:sp>
    </p:spTree>
  </p:cSld>
  <p:clrMapOvr>
    <a:masterClrMapping/>
  </p:clrMapOvr>
  <p:transition xmlns:p14="http://schemas.microsoft.com/office/powerpoint/2010/main" p14:dur="380">
    <p:fade/>
  </p:transition>
</p:sld>
</file>

<file path=ppt/slides/slide5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DOMAIN 5 · SERVICE BOUNDARIES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Automated remediation: architecture map</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241173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53921"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5392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319272"/>
            <a:ext cx="2173986" cy="384048"/>
          </a:xfrm>
          <a:prstGeom prst="rect">
            <a:avLst/>
          </a:prstGeom>
          <a:noFill/>
        </p:spPr>
        <p:txBody>
          <a:bodyPr wrap="square" anchor="ctr">
            <a:spAutoFit/>
          </a:bodyPr>
          <a:lstStyle/>
          <a:p>
            <a:pPr algn="ctr">
              <a:spcAft>
                <a:spcPts val="400"/>
              </a:spcAft>
            </a:pPr>
            <a:r>
              <a:rPr sz="1150" b="1">
                <a:solidFill>
                  <a:srgbClr val="1F6FEB"/>
                </a:solidFill>
                <a:latin typeface="Arial"/>
              </a:rPr>
              <a:t>TRIGGER / INPUT</a:t>
            </a:r>
          </a:p>
        </p:txBody>
      </p:sp>
      <p:sp>
        <p:nvSpPr>
          <p:cNvPr id="12" name="TextBox 11"/>
          <p:cNvSpPr txBox="1"/>
          <p:nvPr/>
        </p:nvSpPr>
        <p:spPr>
          <a:xfrm>
            <a:off x="896112"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Detect known condition</a:t>
            </a:r>
          </a:p>
        </p:txBody>
      </p:sp>
      <p:sp>
        <p:nvSpPr>
          <p:cNvPr id="13" name="Rectangle 12"/>
          <p:cNvSpPr/>
          <p:nvPr/>
        </p:nvSpPr>
        <p:spPr>
          <a:xfrm>
            <a:off x="3518154"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18154" y="2148840"/>
            <a:ext cx="241173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394835"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94835"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7" name="TextBox 16"/>
          <p:cNvSpPr txBox="1"/>
          <p:nvPr/>
        </p:nvSpPr>
        <p:spPr>
          <a:xfrm>
            <a:off x="3637026" y="3319272"/>
            <a:ext cx="2173986" cy="384048"/>
          </a:xfrm>
          <a:prstGeom prst="rect">
            <a:avLst/>
          </a:prstGeom>
          <a:noFill/>
        </p:spPr>
        <p:txBody>
          <a:bodyPr wrap="square" anchor="ctr">
            <a:spAutoFit/>
          </a:bodyPr>
          <a:lstStyle/>
          <a:p>
            <a:pPr algn="ctr">
              <a:spcAft>
                <a:spcPts val="400"/>
              </a:spcAft>
            </a:pPr>
            <a:r>
              <a:rPr sz="1150" b="1">
                <a:solidFill>
                  <a:srgbClr val="10B981"/>
                </a:solidFill>
                <a:latin typeface="Arial"/>
              </a:rPr>
              <a:t>CONTROL PLANE</a:t>
            </a:r>
          </a:p>
        </p:txBody>
      </p:sp>
      <p:sp>
        <p:nvSpPr>
          <p:cNvPr id="18" name="TextBox 17"/>
          <p:cNvSpPr txBox="1"/>
          <p:nvPr/>
        </p:nvSpPr>
        <p:spPr>
          <a:xfrm>
            <a:off x="3637026"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Validate preconditions, scope targets, use approvals for high-risk steps, enforce rate controls and verify postconditions.</a:t>
            </a:r>
          </a:p>
        </p:txBody>
      </p:sp>
      <p:sp>
        <p:nvSpPr>
          <p:cNvPr id="19" name="Rectangle 18"/>
          <p:cNvSpPr/>
          <p:nvPr/>
        </p:nvSpPr>
        <p:spPr>
          <a:xfrm>
            <a:off x="6259068"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9068" y="2148840"/>
            <a:ext cx="241173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5749"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574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3" name="TextBox 22"/>
          <p:cNvSpPr txBox="1"/>
          <p:nvPr/>
        </p:nvSpPr>
        <p:spPr>
          <a:xfrm>
            <a:off x="6377940" y="3319272"/>
            <a:ext cx="2173986" cy="384048"/>
          </a:xfrm>
          <a:prstGeom prst="rect">
            <a:avLst/>
          </a:prstGeom>
          <a:noFill/>
        </p:spPr>
        <p:txBody>
          <a:bodyPr wrap="square" anchor="ctr">
            <a:spAutoFit/>
          </a:bodyPr>
          <a:lstStyle/>
          <a:p>
            <a:pPr algn="ctr">
              <a:spcAft>
                <a:spcPts val="400"/>
              </a:spcAft>
            </a:pPr>
            <a:r>
              <a:rPr sz="1150" b="1">
                <a:solidFill>
                  <a:srgbClr val="7C3AED"/>
                </a:solidFill>
                <a:latin typeface="Arial"/>
              </a:rPr>
              <a:t>AWS SERVICES</a:t>
            </a:r>
          </a:p>
        </p:txBody>
      </p:sp>
      <p:sp>
        <p:nvSpPr>
          <p:cNvPr id="24" name="TextBox 23"/>
          <p:cNvSpPr txBox="1"/>
          <p:nvPr/>
        </p:nvSpPr>
        <p:spPr>
          <a:xfrm>
            <a:off x="6377940"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Systems Manager Automation · Config · Lambda</a:t>
            </a:r>
          </a:p>
        </p:txBody>
      </p:sp>
      <p:sp>
        <p:nvSpPr>
          <p:cNvPr id="25" name="Rectangle 24"/>
          <p:cNvSpPr/>
          <p:nvPr/>
        </p:nvSpPr>
        <p:spPr>
          <a:xfrm>
            <a:off x="8999982"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99982" y="2148840"/>
            <a:ext cx="2411730"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76663"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7666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9" name="TextBox 28"/>
          <p:cNvSpPr txBox="1"/>
          <p:nvPr/>
        </p:nvSpPr>
        <p:spPr>
          <a:xfrm>
            <a:off x="9118854" y="3319272"/>
            <a:ext cx="2173986" cy="384048"/>
          </a:xfrm>
          <a:prstGeom prst="rect">
            <a:avLst/>
          </a:prstGeom>
          <a:noFill/>
        </p:spPr>
        <p:txBody>
          <a:bodyPr wrap="square" anchor="ctr">
            <a:spAutoFit/>
          </a:bodyPr>
          <a:lstStyle/>
          <a:p>
            <a:pPr algn="ctr">
              <a:spcAft>
                <a:spcPts val="400"/>
              </a:spcAft>
            </a:pPr>
            <a:r>
              <a:rPr sz="1150" b="1">
                <a:solidFill>
                  <a:srgbClr val="F59E0B"/>
                </a:solidFill>
                <a:latin typeface="Arial"/>
              </a:rPr>
              <a:t>EVIDENCE BOUNDARY</a:t>
            </a:r>
          </a:p>
        </p:txBody>
      </p:sp>
      <p:sp>
        <p:nvSpPr>
          <p:cNvPr id="30" name="TextBox 29"/>
          <p:cNvSpPr txBox="1"/>
          <p:nvPr/>
        </p:nvSpPr>
        <p:spPr>
          <a:xfrm>
            <a:off x="9118854"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Trigger evidence, automation execution, approvals, step output, rollback and postcondition check.</a:t>
            </a:r>
          </a:p>
        </p:txBody>
      </p:sp>
      <p:cxnSp>
        <p:nvCxnSpPr>
          <p:cNvPr id="31" name="Connector 30"/>
          <p:cNvCxnSpPr/>
          <p:nvPr/>
        </p:nvCxnSpPr>
        <p:spPr>
          <a:xfrm>
            <a:off x="318897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929884"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67079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EC711E"/>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519</a:t>
            </a:r>
          </a:p>
        </p:txBody>
      </p:sp>
    </p:spTree>
  </p:cSld>
  <p:clrMapOvr>
    <a:masterClrMapping/>
  </p:clrMapOvr>
  <p:transition xmlns:p14="http://schemas.microsoft.com/office/powerpoint/2010/main" p14:dur="380">
    <p:fade/>
  </p:transition>
</p:sld>
</file>

<file path=ppt/slides/slide5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DOMAIN 5 · SERVICE BOUNDARIES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Incident coordination and runbooks: architecture map</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241173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53921"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5392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319272"/>
            <a:ext cx="2173986" cy="384048"/>
          </a:xfrm>
          <a:prstGeom prst="rect">
            <a:avLst/>
          </a:prstGeom>
          <a:noFill/>
        </p:spPr>
        <p:txBody>
          <a:bodyPr wrap="square" anchor="ctr">
            <a:spAutoFit/>
          </a:bodyPr>
          <a:lstStyle/>
          <a:p>
            <a:pPr algn="ctr">
              <a:spcAft>
                <a:spcPts val="400"/>
              </a:spcAft>
            </a:pPr>
            <a:r>
              <a:rPr sz="1150" b="1">
                <a:solidFill>
                  <a:srgbClr val="1F6FEB"/>
                </a:solidFill>
                <a:latin typeface="Arial"/>
              </a:rPr>
              <a:t>TRIGGER / INPUT</a:t>
            </a:r>
          </a:p>
        </p:txBody>
      </p:sp>
      <p:sp>
        <p:nvSpPr>
          <p:cNvPr id="12" name="TextBox 11"/>
          <p:cNvSpPr txBox="1"/>
          <p:nvPr/>
        </p:nvSpPr>
        <p:spPr>
          <a:xfrm>
            <a:off x="896112"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Declare</a:t>
            </a:r>
          </a:p>
        </p:txBody>
      </p:sp>
      <p:sp>
        <p:nvSpPr>
          <p:cNvPr id="13" name="Rectangle 12"/>
          <p:cNvSpPr/>
          <p:nvPr/>
        </p:nvSpPr>
        <p:spPr>
          <a:xfrm>
            <a:off x="3518154"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18154" y="2148840"/>
            <a:ext cx="241173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394835"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94835"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7" name="TextBox 16"/>
          <p:cNvSpPr txBox="1"/>
          <p:nvPr/>
        </p:nvSpPr>
        <p:spPr>
          <a:xfrm>
            <a:off x="3637026" y="3319272"/>
            <a:ext cx="2173986" cy="384048"/>
          </a:xfrm>
          <a:prstGeom prst="rect">
            <a:avLst/>
          </a:prstGeom>
          <a:noFill/>
        </p:spPr>
        <p:txBody>
          <a:bodyPr wrap="square" anchor="ctr">
            <a:spAutoFit/>
          </a:bodyPr>
          <a:lstStyle/>
          <a:p>
            <a:pPr algn="ctr">
              <a:spcAft>
                <a:spcPts val="400"/>
              </a:spcAft>
            </a:pPr>
            <a:r>
              <a:rPr sz="1150" b="1">
                <a:solidFill>
                  <a:srgbClr val="10B981"/>
                </a:solidFill>
                <a:latin typeface="Arial"/>
              </a:rPr>
              <a:t>CONTROL PLANE</a:t>
            </a:r>
          </a:p>
        </p:txBody>
      </p:sp>
      <p:sp>
        <p:nvSpPr>
          <p:cNvPr id="18" name="TextBox 17"/>
          <p:cNvSpPr txBox="1"/>
          <p:nvPr/>
        </p:nvSpPr>
        <p:spPr>
          <a:xfrm>
            <a:off x="3637026"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Define severity, response plans, contacts, escalation, runbooks and post-incident actions before failure.</a:t>
            </a:r>
          </a:p>
        </p:txBody>
      </p:sp>
      <p:sp>
        <p:nvSpPr>
          <p:cNvPr id="19" name="Rectangle 18"/>
          <p:cNvSpPr/>
          <p:nvPr/>
        </p:nvSpPr>
        <p:spPr>
          <a:xfrm>
            <a:off x="6259068"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9068" y="2148840"/>
            <a:ext cx="241173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5749"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574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3" name="TextBox 22"/>
          <p:cNvSpPr txBox="1"/>
          <p:nvPr/>
        </p:nvSpPr>
        <p:spPr>
          <a:xfrm>
            <a:off x="6377940" y="3319272"/>
            <a:ext cx="2173986" cy="384048"/>
          </a:xfrm>
          <a:prstGeom prst="rect">
            <a:avLst/>
          </a:prstGeom>
          <a:noFill/>
        </p:spPr>
        <p:txBody>
          <a:bodyPr wrap="square" anchor="ctr">
            <a:spAutoFit/>
          </a:bodyPr>
          <a:lstStyle/>
          <a:p>
            <a:pPr algn="ctr">
              <a:spcAft>
                <a:spcPts val="400"/>
              </a:spcAft>
            </a:pPr>
            <a:r>
              <a:rPr sz="1150" b="1">
                <a:solidFill>
                  <a:srgbClr val="7C3AED"/>
                </a:solidFill>
                <a:latin typeface="Arial"/>
              </a:rPr>
              <a:t>AWS SERVICES</a:t>
            </a:r>
          </a:p>
        </p:txBody>
      </p:sp>
      <p:sp>
        <p:nvSpPr>
          <p:cNvPr id="24" name="TextBox 23"/>
          <p:cNvSpPr txBox="1"/>
          <p:nvPr/>
        </p:nvSpPr>
        <p:spPr>
          <a:xfrm>
            <a:off x="6377940"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Incident Manager · OpsCenter · Chatbot</a:t>
            </a:r>
          </a:p>
        </p:txBody>
      </p:sp>
      <p:sp>
        <p:nvSpPr>
          <p:cNvPr id="25" name="Rectangle 24"/>
          <p:cNvSpPr/>
          <p:nvPr/>
        </p:nvSpPr>
        <p:spPr>
          <a:xfrm>
            <a:off x="8999982"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99982" y="2148840"/>
            <a:ext cx="2411730"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76663"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7666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9" name="TextBox 28"/>
          <p:cNvSpPr txBox="1"/>
          <p:nvPr/>
        </p:nvSpPr>
        <p:spPr>
          <a:xfrm>
            <a:off x="9118854" y="3319272"/>
            <a:ext cx="2173986" cy="384048"/>
          </a:xfrm>
          <a:prstGeom prst="rect">
            <a:avLst/>
          </a:prstGeom>
          <a:noFill/>
        </p:spPr>
        <p:txBody>
          <a:bodyPr wrap="square" anchor="ctr">
            <a:spAutoFit/>
          </a:bodyPr>
          <a:lstStyle/>
          <a:p>
            <a:pPr algn="ctr">
              <a:spcAft>
                <a:spcPts val="400"/>
              </a:spcAft>
            </a:pPr>
            <a:r>
              <a:rPr sz="1150" b="1">
                <a:solidFill>
                  <a:srgbClr val="F59E0B"/>
                </a:solidFill>
                <a:latin typeface="Arial"/>
              </a:rPr>
              <a:t>EVIDENCE BOUNDARY</a:t>
            </a:r>
          </a:p>
        </p:txBody>
      </p:sp>
      <p:sp>
        <p:nvSpPr>
          <p:cNvPr id="30" name="TextBox 29"/>
          <p:cNvSpPr txBox="1"/>
          <p:nvPr/>
        </p:nvSpPr>
        <p:spPr>
          <a:xfrm>
            <a:off x="9118854"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Incident record, responder engagement, timeline, runbook execution, decision log and action items.</a:t>
            </a:r>
          </a:p>
        </p:txBody>
      </p:sp>
      <p:cxnSp>
        <p:nvCxnSpPr>
          <p:cNvPr id="31" name="Connector 30"/>
          <p:cNvCxnSpPr/>
          <p:nvPr/>
        </p:nvCxnSpPr>
        <p:spPr>
          <a:xfrm>
            <a:off x="318897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929884"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67079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EC711E"/>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520</a:t>
            </a:r>
          </a:p>
        </p:txBody>
      </p:sp>
    </p:spTree>
  </p:cSld>
  <p:clrMapOvr>
    <a:masterClrMapping/>
  </p:clrMapOvr>
  <p:transition xmlns:p14="http://schemas.microsoft.com/office/powerpoint/2010/main" p14:dur="380">
    <p:fade/>
  </p:transition>
</p:sld>
</file>

<file path=ppt/slides/slide5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DOMAIN 5 · SERVICE BOUNDARIES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Structured troubleshooting: architecture map</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241173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53921"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5392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319272"/>
            <a:ext cx="2173986" cy="384048"/>
          </a:xfrm>
          <a:prstGeom prst="rect">
            <a:avLst/>
          </a:prstGeom>
          <a:noFill/>
        </p:spPr>
        <p:txBody>
          <a:bodyPr wrap="square" anchor="ctr">
            <a:spAutoFit/>
          </a:bodyPr>
          <a:lstStyle/>
          <a:p>
            <a:pPr algn="ctr">
              <a:spcAft>
                <a:spcPts val="400"/>
              </a:spcAft>
            </a:pPr>
            <a:r>
              <a:rPr sz="1150" b="1">
                <a:solidFill>
                  <a:srgbClr val="1F6FEB"/>
                </a:solidFill>
                <a:latin typeface="Arial"/>
              </a:rPr>
              <a:t>TRIGGER / INPUT</a:t>
            </a:r>
          </a:p>
        </p:txBody>
      </p:sp>
      <p:sp>
        <p:nvSpPr>
          <p:cNvPr id="12" name="TextBox 11"/>
          <p:cNvSpPr txBox="1"/>
          <p:nvPr/>
        </p:nvSpPr>
        <p:spPr>
          <a:xfrm>
            <a:off x="896112"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Define impact</a:t>
            </a:r>
          </a:p>
        </p:txBody>
      </p:sp>
      <p:sp>
        <p:nvSpPr>
          <p:cNvPr id="13" name="Rectangle 12"/>
          <p:cNvSpPr/>
          <p:nvPr/>
        </p:nvSpPr>
        <p:spPr>
          <a:xfrm>
            <a:off x="3518154"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18154" y="2148840"/>
            <a:ext cx="241173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394835"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94835"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7" name="TextBox 16"/>
          <p:cNvSpPr txBox="1"/>
          <p:nvPr/>
        </p:nvSpPr>
        <p:spPr>
          <a:xfrm>
            <a:off x="3637026" y="3319272"/>
            <a:ext cx="2173986" cy="384048"/>
          </a:xfrm>
          <a:prstGeom prst="rect">
            <a:avLst/>
          </a:prstGeom>
          <a:noFill/>
        </p:spPr>
        <p:txBody>
          <a:bodyPr wrap="square" anchor="ctr">
            <a:spAutoFit/>
          </a:bodyPr>
          <a:lstStyle/>
          <a:p>
            <a:pPr algn="ctr">
              <a:spcAft>
                <a:spcPts val="400"/>
              </a:spcAft>
            </a:pPr>
            <a:r>
              <a:rPr sz="1150" b="1">
                <a:solidFill>
                  <a:srgbClr val="10B981"/>
                </a:solidFill>
                <a:latin typeface="Arial"/>
              </a:rPr>
              <a:t>CONTROL PLANE</a:t>
            </a:r>
          </a:p>
        </p:txBody>
      </p:sp>
      <p:sp>
        <p:nvSpPr>
          <p:cNvPr id="18" name="TextBox 17"/>
          <p:cNvSpPr txBox="1"/>
          <p:nvPr/>
        </p:nvSpPr>
        <p:spPr>
          <a:xfrm>
            <a:off x="3637026"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Start from user impact, check recent changes, narrow by dependency, compare healthy baselines and change one variable at a time.</a:t>
            </a:r>
          </a:p>
        </p:txBody>
      </p:sp>
      <p:sp>
        <p:nvSpPr>
          <p:cNvPr id="19" name="Rectangle 18"/>
          <p:cNvSpPr/>
          <p:nvPr/>
        </p:nvSpPr>
        <p:spPr>
          <a:xfrm>
            <a:off x="6259068"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9068" y="2148840"/>
            <a:ext cx="241173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5749"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574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3" name="TextBox 22"/>
          <p:cNvSpPr txBox="1"/>
          <p:nvPr/>
        </p:nvSpPr>
        <p:spPr>
          <a:xfrm>
            <a:off x="6377940" y="3319272"/>
            <a:ext cx="2173986" cy="384048"/>
          </a:xfrm>
          <a:prstGeom prst="rect">
            <a:avLst/>
          </a:prstGeom>
          <a:noFill/>
        </p:spPr>
        <p:txBody>
          <a:bodyPr wrap="square" anchor="ctr">
            <a:spAutoFit/>
          </a:bodyPr>
          <a:lstStyle/>
          <a:p>
            <a:pPr algn="ctr">
              <a:spcAft>
                <a:spcPts val="400"/>
              </a:spcAft>
            </a:pPr>
            <a:r>
              <a:rPr sz="1150" b="1">
                <a:solidFill>
                  <a:srgbClr val="7C3AED"/>
                </a:solidFill>
                <a:latin typeface="Arial"/>
              </a:rPr>
              <a:t>AWS SERVICES</a:t>
            </a:r>
          </a:p>
        </p:txBody>
      </p:sp>
      <p:sp>
        <p:nvSpPr>
          <p:cNvPr id="24" name="TextBox 23"/>
          <p:cNvSpPr txBox="1"/>
          <p:nvPr/>
        </p:nvSpPr>
        <p:spPr>
          <a:xfrm>
            <a:off x="6377940"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CloudWatch · X-Ray · CloudTrail · Systems Manager</a:t>
            </a:r>
          </a:p>
        </p:txBody>
      </p:sp>
      <p:sp>
        <p:nvSpPr>
          <p:cNvPr id="25" name="Rectangle 24"/>
          <p:cNvSpPr/>
          <p:nvPr/>
        </p:nvSpPr>
        <p:spPr>
          <a:xfrm>
            <a:off x="8999982"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99982" y="2148840"/>
            <a:ext cx="2411730"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76663"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7666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9" name="TextBox 28"/>
          <p:cNvSpPr txBox="1"/>
          <p:nvPr/>
        </p:nvSpPr>
        <p:spPr>
          <a:xfrm>
            <a:off x="9118854" y="3319272"/>
            <a:ext cx="2173986" cy="384048"/>
          </a:xfrm>
          <a:prstGeom prst="rect">
            <a:avLst/>
          </a:prstGeom>
          <a:noFill/>
        </p:spPr>
        <p:txBody>
          <a:bodyPr wrap="square" anchor="ctr">
            <a:spAutoFit/>
          </a:bodyPr>
          <a:lstStyle/>
          <a:p>
            <a:pPr algn="ctr">
              <a:spcAft>
                <a:spcPts val="400"/>
              </a:spcAft>
            </a:pPr>
            <a:r>
              <a:rPr sz="1150" b="1">
                <a:solidFill>
                  <a:srgbClr val="F59E0B"/>
                </a:solidFill>
                <a:latin typeface="Arial"/>
              </a:rPr>
              <a:t>EVIDENCE BOUNDARY</a:t>
            </a:r>
          </a:p>
        </p:txBody>
      </p:sp>
      <p:sp>
        <p:nvSpPr>
          <p:cNvPr id="30" name="TextBox 29"/>
          <p:cNvSpPr txBox="1"/>
          <p:nvPr/>
        </p:nvSpPr>
        <p:spPr>
          <a:xfrm>
            <a:off x="9118854"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Impact statement, timeline, hypotheses, evidence, change record, recovery metric and root cause.</a:t>
            </a:r>
          </a:p>
        </p:txBody>
      </p:sp>
      <p:cxnSp>
        <p:nvCxnSpPr>
          <p:cNvPr id="31" name="Connector 30"/>
          <p:cNvCxnSpPr/>
          <p:nvPr/>
        </p:nvCxnSpPr>
        <p:spPr>
          <a:xfrm>
            <a:off x="318897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929884"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67079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EC711E"/>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521</a:t>
            </a:r>
          </a:p>
        </p:txBody>
      </p:sp>
    </p:spTree>
  </p:cSld>
  <p:clrMapOvr>
    <a:masterClrMapping/>
  </p:clrMapOvr>
  <p:transition xmlns:p14="http://schemas.microsoft.com/office/powerpoint/2010/main" p14:dur="380">
    <p:fade/>
  </p:transition>
</p:sld>
</file>

<file path=ppt/slides/slide5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LAB 19 · DAY 4 · LO5 · HANDS-ON</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Route Incidents with Amazon EventBridge</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37360"/>
            <a:ext cx="1417320" cy="45720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83080"/>
            <a:ext cx="1417320" cy="365760"/>
          </a:xfrm>
          <a:prstGeom prst="rect">
            <a:avLst/>
          </a:prstGeom>
          <a:noFill/>
        </p:spPr>
        <p:txBody>
          <a:bodyPr wrap="square" anchor="t">
            <a:spAutoFit/>
          </a:bodyPr>
          <a:lstStyle/>
          <a:p>
            <a:pPr algn="ctr">
              <a:spcAft>
                <a:spcPts val="400"/>
              </a:spcAft>
            </a:pPr>
            <a:r>
              <a:rPr sz="1600" b="1">
                <a:solidFill>
                  <a:srgbClr val="FFFFFF"/>
                </a:solidFill>
                <a:latin typeface="Arial"/>
              </a:rPr>
              <a:t>LAB 19</a:t>
            </a:r>
          </a:p>
        </p:txBody>
      </p:sp>
      <p:sp>
        <p:nvSpPr>
          <p:cNvPr id="9" name="TextBox 8"/>
          <p:cNvSpPr txBox="1"/>
          <p:nvPr/>
        </p:nvSpPr>
        <p:spPr>
          <a:xfrm>
            <a:off x="2514600" y="1783080"/>
            <a:ext cx="3749039" cy="365760"/>
          </a:xfrm>
          <a:prstGeom prst="rect">
            <a:avLst/>
          </a:prstGeom>
          <a:noFill/>
        </p:spPr>
        <p:txBody>
          <a:bodyPr wrap="square" anchor="t">
            <a:spAutoFit/>
          </a:bodyPr>
          <a:lstStyle/>
          <a:p>
            <a:pPr algn="l">
              <a:spcAft>
                <a:spcPts val="400"/>
              </a:spcAft>
            </a:pPr>
            <a:r>
              <a:rPr sz="1150" b="1">
                <a:solidFill>
                  <a:srgbClr val="5B6372"/>
                </a:solidFill>
                <a:latin typeface="Arial"/>
              </a:rPr>
              <a:t>Day 4 · LO5 · K7, A5</a:t>
            </a:r>
          </a:p>
        </p:txBody>
      </p:sp>
      <p:sp>
        <p:nvSpPr>
          <p:cNvPr id="10" name="TextBox 9"/>
          <p:cNvSpPr txBox="1"/>
          <p:nvPr/>
        </p:nvSpPr>
        <p:spPr>
          <a:xfrm>
            <a:off x="777240" y="2286000"/>
            <a:ext cx="5486400" cy="992505"/>
          </a:xfrm>
          <a:prstGeom prst="rect">
            <a:avLst/>
          </a:prstGeom>
          <a:noFill/>
        </p:spPr>
        <p:txBody>
          <a:bodyPr wrap="square" anchor="t">
            <a:spAutoFit/>
          </a:bodyPr>
          <a:lstStyle/>
          <a:p>
            <a:pPr algn="l">
              <a:spcAft>
                <a:spcPts val="400"/>
              </a:spcAft>
            </a:pPr>
            <a:r>
              <a:rPr sz="1350" b="0">
                <a:solidFill>
                  <a:srgbClr val="161B26"/>
                </a:solidFill>
                <a:latin typeface="Arial"/>
              </a:rPr>
              <a:t>Your team wants a single 'routing brain' for operational incidents.</a:t>
            </a:r>
          </a:p>
        </p:txBody>
      </p:sp>
      <p:sp>
        <p:nvSpPr>
          <p:cNvPr id="11" name="Rectangle 10"/>
          <p:cNvSpPr/>
          <p:nvPr/>
        </p:nvSpPr>
        <p:spPr>
          <a:xfrm>
            <a:off x="777240" y="3388233"/>
            <a:ext cx="5486400" cy="155105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388233"/>
            <a:ext cx="91440" cy="1551051"/>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3516249"/>
            <a:ext cx="5120640" cy="274320"/>
          </a:xfrm>
          <a:prstGeom prst="rect">
            <a:avLst/>
          </a:prstGeom>
          <a:noFill/>
        </p:spPr>
        <p:txBody>
          <a:bodyPr wrap="square" anchor="t">
            <a:spAutoFit/>
          </a:bodyPr>
          <a:lstStyle/>
          <a:p>
            <a:pPr algn="l">
              <a:spcAft>
                <a:spcPts val="400"/>
              </a:spcAft>
            </a:pPr>
            <a:r>
              <a:rPr sz="1200" b="1">
                <a:solidFill>
                  <a:srgbClr val="EC711E"/>
                </a:solidFill>
                <a:latin typeface="Arial"/>
              </a:rPr>
              <a:t>YOU'LL BUILD</a:t>
            </a:r>
          </a:p>
        </p:txBody>
      </p:sp>
      <p:sp>
        <p:nvSpPr>
          <p:cNvPr id="14" name="TextBox 13"/>
          <p:cNvSpPr txBox="1"/>
          <p:nvPr/>
        </p:nvSpPr>
        <p:spPr>
          <a:xfrm>
            <a:off x="960120" y="3790569"/>
            <a:ext cx="5166360" cy="619125"/>
          </a:xfrm>
          <a:prstGeom prst="rect">
            <a:avLst/>
          </a:prstGeom>
          <a:noFill/>
        </p:spPr>
        <p:txBody>
          <a:bodyPr wrap="square" anchor="t">
            <a:spAutoFit/>
          </a:bodyPr>
          <a:lstStyle/>
          <a:p>
            <a:pPr algn="l">
              <a:spcAft>
                <a:spcPts val="400"/>
              </a:spcAft>
            </a:pPr>
            <a:r>
              <a:rPr sz="1250" b="1">
                <a:solidFill>
                  <a:srgbClr val="161B26"/>
                </a:solidFill>
                <a:latin typeface="Arial"/>
              </a:rPr>
              <a:t>An enabled EventBridge rule on the default bus whose validated event pattern matches CloudWatch Alarm state changes, EC2 state-change notifications.</a:t>
            </a:r>
          </a:p>
        </p:txBody>
      </p:sp>
      <p:sp>
        <p:nvSpPr>
          <p:cNvPr id="15" name="TextBox 14"/>
          <p:cNvSpPr txBox="1"/>
          <p:nvPr/>
        </p:nvSpPr>
        <p:spPr>
          <a:xfrm>
            <a:off x="960120" y="4464558"/>
            <a:ext cx="5166360" cy="346710"/>
          </a:xfrm>
          <a:prstGeom prst="rect">
            <a:avLst/>
          </a:prstGeom>
          <a:noFill/>
        </p:spPr>
        <p:txBody>
          <a:bodyPr wrap="square" anchor="t">
            <a:spAutoFit/>
          </a:bodyPr>
          <a:lstStyle/>
          <a:p>
            <a:pPr algn="l">
              <a:spcAft>
                <a:spcPts val="400"/>
              </a:spcAft>
            </a:pPr>
            <a:r>
              <a:rPr sz="1050" b="0">
                <a:solidFill>
                  <a:srgbClr val="5B6372"/>
                </a:solidFill>
                <a:latin typeface="Arial"/>
              </a:rPr>
              <a:t>Tools:  Amazon EventBridge, Amazon SNS, Amazon CloudWatch, CloudWatch Logs, IAM</a:t>
            </a:r>
          </a:p>
        </p:txBody>
      </p:sp>
      <p:sp>
        <p:nvSpPr>
          <p:cNvPr id="16" name="Rectangle 15"/>
          <p:cNvSpPr/>
          <p:nvPr/>
        </p:nvSpPr>
        <p:spPr>
          <a:xfrm>
            <a:off x="777240" y="5049012"/>
            <a:ext cx="5486400" cy="1278636"/>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049012"/>
            <a:ext cx="91440" cy="127863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5177028"/>
            <a:ext cx="5120640" cy="274320"/>
          </a:xfrm>
          <a:prstGeom prst="rect">
            <a:avLst/>
          </a:prstGeom>
          <a:noFill/>
        </p:spPr>
        <p:txBody>
          <a:bodyPr wrap="square" anchor="t">
            <a:spAutoFit/>
          </a:bodyPr>
          <a:lstStyle/>
          <a:p>
            <a:pPr algn="l">
              <a:spcAft>
                <a:spcPts val="400"/>
              </a:spcAft>
            </a:pPr>
            <a:r>
              <a:rPr sz="1200" b="1">
                <a:solidFill>
                  <a:srgbClr val="10B981"/>
                </a:solidFill>
                <a:latin typeface="Arial"/>
              </a:rPr>
              <a:t>OUTCOME &amp; EVIDENCE</a:t>
            </a:r>
          </a:p>
        </p:txBody>
      </p:sp>
      <p:sp>
        <p:nvSpPr>
          <p:cNvPr id="19" name="TextBox 18"/>
          <p:cNvSpPr txBox="1"/>
          <p:nvPr/>
        </p:nvSpPr>
        <p:spPr>
          <a:xfrm>
            <a:off x="960120" y="5451348"/>
            <a:ext cx="5166360" cy="693420"/>
          </a:xfrm>
          <a:prstGeom prst="rect">
            <a:avLst/>
          </a:prstGeom>
          <a:noFill/>
        </p:spPr>
        <p:txBody>
          <a:bodyPr wrap="square" anchor="t">
            <a:spAutoFit/>
          </a:bodyPr>
          <a:lstStyle/>
          <a:p>
            <a:pPr algn="l">
              <a:spcAft>
                <a:spcPts val="300"/>
              </a:spcAft>
            </a:pPr>
            <a:r>
              <a:rPr sz="1050" b="0">
                <a:solidFill>
                  <a:srgbClr val="5B6372"/>
                </a:solidFill>
                <a:latin typeface="Arial"/>
              </a:rPr>
              <a:t>Outcome:  Build an EventBridge rule that matches incident signals and fans them out to notify and log targets (LO5, K7, A5).</a:t>
            </a:r>
          </a:p>
          <a:p>
            <a:pPr algn="l">
              <a:spcAft>
                <a:spcPts val="300"/>
              </a:spcAft>
            </a:pPr>
            <a:r>
              <a:rPr sz="1050" b="0">
                <a:solidFill>
                  <a:srgbClr val="5B6372"/>
                </a:solidFill>
                <a:latin typeface="Arial"/>
              </a:rPr>
              <a:t>Evidence:  The three results showing true / true / false for the alarm, EC2 and unrelated samples.</a:t>
            </a:r>
          </a:p>
        </p:txBody>
      </p:sp>
      <p:sp>
        <p:nvSpPr>
          <p:cNvPr id="20" name="Rectangle 19"/>
          <p:cNvSpPr/>
          <p:nvPr/>
        </p:nvSpPr>
        <p:spPr>
          <a:xfrm>
            <a:off x="6446520" y="1783080"/>
            <a:ext cx="5029200" cy="290140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ab-19-eventbridge-incident-routing.jpg"/>
          <p:cNvPicPr>
            <a:picLocks noChangeAspect="1"/>
          </p:cNvPicPr>
          <p:nvPr/>
        </p:nvPicPr>
        <p:blipFill>
          <a:blip r:embed="rId2"/>
          <a:stretch>
            <a:fillRect/>
          </a:stretch>
        </p:blipFill>
        <p:spPr>
          <a:xfrm>
            <a:off x="6492240" y="1828800"/>
            <a:ext cx="4937760" cy="2809963"/>
          </a:xfrm>
          <a:prstGeom prst="rect">
            <a:avLst/>
          </a:prstGeom>
        </p:spPr>
      </p:pic>
      <p:sp>
        <p:nvSpPr>
          <p:cNvPr id="22" name="TextBox 21"/>
          <p:cNvSpPr txBox="1"/>
          <p:nvPr/>
        </p:nvSpPr>
        <p:spPr>
          <a:xfrm>
            <a:off x="6492240" y="4730203"/>
            <a:ext cx="4937760" cy="365760"/>
          </a:xfrm>
          <a:prstGeom prst="rect">
            <a:avLst/>
          </a:prstGeom>
          <a:noFill/>
        </p:spPr>
        <p:txBody>
          <a:bodyPr wrap="square" anchor="t">
            <a:spAutoFit/>
          </a:bodyPr>
          <a:lstStyle/>
          <a:p>
            <a:pPr algn="ctr">
              <a:spcAft>
                <a:spcPts val="400"/>
              </a:spcAft>
            </a:pPr>
            <a:r>
              <a:rPr sz="1100" b="1">
                <a:solidFill>
                  <a:srgbClr val="5B6372"/>
                </a:solidFill>
                <a:latin typeface="Arial"/>
              </a:rPr>
              <a:t>Reference architecture</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522</a:t>
            </a:r>
          </a:p>
        </p:txBody>
      </p:sp>
    </p:spTree>
  </p:cSld>
  <p:clrMapOvr>
    <a:masterClrMapping/>
  </p:clrMapOvr>
  <p:transition xmlns:p14="http://schemas.microsoft.com/office/powerpoint/2010/main" p14:dur="380">
    <p:fade/>
  </p:transition>
</p:sld>
</file>

<file path=ppt/slides/slide5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LAB 20 · DAY 4 · LO5 · HANDS-ON</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700" b="1">
                <a:solidFill>
                  <a:srgbClr val="161B26"/>
                </a:solidFill>
                <a:latin typeface="Arial"/>
              </a:rPr>
              <a:t>Automated Remediation with Lambda and Systems Manager</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37360"/>
            <a:ext cx="1417320" cy="45720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83080"/>
            <a:ext cx="1417320" cy="365760"/>
          </a:xfrm>
          <a:prstGeom prst="rect">
            <a:avLst/>
          </a:prstGeom>
          <a:noFill/>
        </p:spPr>
        <p:txBody>
          <a:bodyPr wrap="square" anchor="t">
            <a:spAutoFit/>
          </a:bodyPr>
          <a:lstStyle/>
          <a:p>
            <a:pPr algn="ctr">
              <a:spcAft>
                <a:spcPts val="400"/>
              </a:spcAft>
            </a:pPr>
            <a:r>
              <a:rPr sz="1600" b="1">
                <a:solidFill>
                  <a:srgbClr val="FFFFFF"/>
                </a:solidFill>
                <a:latin typeface="Arial"/>
              </a:rPr>
              <a:t>LAB 20</a:t>
            </a:r>
          </a:p>
        </p:txBody>
      </p:sp>
      <p:sp>
        <p:nvSpPr>
          <p:cNvPr id="9" name="TextBox 8"/>
          <p:cNvSpPr txBox="1"/>
          <p:nvPr/>
        </p:nvSpPr>
        <p:spPr>
          <a:xfrm>
            <a:off x="2514600" y="1783080"/>
            <a:ext cx="3749039" cy="365760"/>
          </a:xfrm>
          <a:prstGeom prst="rect">
            <a:avLst/>
          </a:prstGeom>
          <a:noFill/>
        </p:spPr>
        <p:txBody>
          <a:bodyPr wrap="square" anchor="t">
            <a:spAutoFit/>
          </a:bodyPr>
          <a:lstStyle/>
          <a:p>
            <a:pPr algn="l">
              <a:spcAft>
                <a:spcPts val="400"/>
              </a:spcAft>
            </a:pPr>
            <a:r>
              <a:rPr sz="1150" b="1">
                <a:solidFill>
                  <a:srgbClr val="5B6372"/>
                </a:solidFill>
                <a:latin typeface="Arial"/>
              </a:rPr>
              <a:t>Day 4 · LO5 · K7, A5</a:t>
            </a:r>
          </a:p>
        </p:txBody>
      </p:sp>
      <p:sp>
        <p:nvSpPr>
          <p:cNvPr id="10" name="TextBox 9"/>
          <p:cNvSpPr txBox="1"/>
          <p:nvPr/>
        </p:nvSpPr>
        <p:spPr>
          <a:xfrm>
            <a:off x="777240" y="2286000"/>
            <a:ext cx="5486400" cy="711835"/>
          </a:xfrm>
          <a:prstGeom prst="rect">
            <a:avLst/>
          </a:prstGeom>
          <a:noFill/>
        </p:spPr>
        <p:txBody>
          <a:bodyPr wrap="square" anchor="t">
            <a:spAutoFit/>
          </a:bodyPr>
          <a:lstStyle/>
          <a:p>
            <a:pPr algn="l">
              <a:spcAft>
                <a:spcPts val="400"/>
              </a:spcAft>
            </a:pPr>
            <a:r>
              <a:rPr sz="1350" b="0">
                <a:solidFill>
                  <a:srgbClr val="161B26"/>
                </a:solidFill>
                <a:latin typeface="Arial"/>
              </a:rPr>
              <a:t>Notification alone does not resolve an incident — the on-call engineer still has to act.</a:t>
            </a:r>
          </a:p>
        </p:txBody>
      </p:sp>
      <p:sp>
        <p:nvSpPr>
          <p:cNvPr id="11" name="Rectangle 10"/>
          <p:cNvSpPr/>
          <p:nvPr/>
        </p:nvSpPr>
        <p:spPr>
          <a:xfrm>
            <a:off x="777240" y="3107563"/>
            <a:ext cx="5486400" cy="165836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107563"/>
            <a:ext cx="91440" cy="1658366"/>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3235579"/>
            <a:ext cx="5120640" cy="274320"/>
          </a:xfrm>
          <a:prstGeom prst="rect">
            <a:avLst/>
          </a:prstGeom>
          <a:noFill/>
        </p:spPr>
        <p:txBody>
          <a:bodyPr wrap="square" anchor="t">
            <a:spAutoFit/>
          </a:bodyPr>
          <a:lstStyle/>
          <a:p>
            <a:pPr algn="l">
              <a:spcAft>
                <a:spcPts val="400"/>
              </a:spcAft>
            </a:pPr>
            <a:r>
              <a:rPr sz="1200" b="1">
                <a:solidFill>
                  <a:srgbClr val="EC711E"/>
                </a:solidFill>
                <a:latin typeface="Arial"/>
              </a:rPr>
              <a:t>YOU'LL BUILD</a:t>
            </a:r>
          </a:p>
        </p:txBody>
      </p:sp>
      <p:sp>
        <p:nvSpPr>
          <p:cNvPr id="14" name="TextBox 13"/>
          <p:cNvSpPr txBox="1"/>
          <p:nvPr/>
        </p:nvSpPr>
        <p:spPr>
          <a:xfrm>
            <a:off x="960120" y="3509899"/>
            <a:ext cx="5166360" cy="726440"/>
          </a:xfrm>
          <a:prstGeom prst="rect">
            <a:avLst/>
          </a:prstGeom>
          <a:noFill/>
        </p:spPr>
        <p:txBody>
          <a:bodyPr wrap="square" anchor="t">
            <a:spAutoFit/>
          </a:bodyPr>
          <a:lstStyle/>
          <a:p>
            <a:pPr algn="l">
              <a:spcAft>
                <a:spcPts val="400"/>
              </a:spcAft>
            </a:pPr>
            <a:r>
              <a:rPr sz="1100" b="1">
                <a:solidFill>
                  <a:srgbClr val="161B26"/>
                </a:solidFill>
                <a:latin typeface="Arial"/>
              </a:rPr>
              <a:t>A CloudFormation-deployed auto-remediation stack (EventBridge rule + least-privilege Lambda + SSM Automation runbook + SNS notify) that, on an unhealthy-instance event, restarts the instance automatically.</a:t>
            </a:r>
          </a:p>
        </p:txBody>
      </p:sp>
      <p:sp>
        <p:nvSpPr>
          <p:cNvPr id="15" name="TextBox 14"/>
          <p:cNvSpPr txBox="1"/>
          <p:nvPr/>
        </p:nvSpPr>
        <p:spPr>
          <a:xfrm>
            <a:off x="960120" y="4291203"/>
            <a:ext cx="5166360" cy="346710"/>
          </a:xfrm>
          <a:prstGeom prst="rect">
            <a:avLst/>
          </a:prstGeom>
          <a:noFill/>
        </p:spPr>
        <p:txBody>
          <a:bodyPr wrap="square" anchor="t">
            <a:spAutoFit/>
          </a:bodyPr>
          <a:lstStyle/>
          <a:p>
            <a:pPr algn="l">
              <a:spcAft>
                <a:spcPts val="400"/>
              </a:spcAft>
            </a:pPr>
            <a:r>
              <a:rPr sz="1050" b="0">
                <a:solidFill>
                  <a:srgbClr val="5B6372"/>
                </a:solidFill>
                <a:latin typeface="Arial"/>
              </a:rPr>
              <a:t>Tools:  AWS Lambda, AWS Systems Manager Automation, Amazon EventBridge, AWS IAM, Amazon CloudWatch Logs + 2 more</a:t>
            </a:r>
          </a:p>
        </p:txBody>
      </p:sp>
      <p:sp>
        <p:nvSpPr>
          <p:cNvPr id="16" name="Rectangle 15"/>
          <p:cNvSpPr/>
          <p:nvPr/>
        </p:nvSpPr>
        <p:spPr>
          <a:xfrm>
            <a:off x="777240" y="4875657"/>
            <a:ext cx="5486400" cy="145199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875657"/>
            <a:ext cx="91440" cy="145199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5003673"/>
            <a:ext cx="5120640" cy="274320"/>
          </a:xfrm>
          <a:prstGeom prst="rect">
            <a:avLst/>
          </a:prstGeom>
          <a:noFill/>
        </p:spPr>
        <p:txBody>
          <a:bodyPr wrap="square" anchor="t">
            <a:spAutoFit/>
          </a:bodyPr>
          <a:lstStyle/>
          <a:p>
            <a:pPr algn="l">
              <a:spcAft>
                <a:spcPts val="400"/>
              </a:spcAft>
            </a:pPr>
            <a:r>
              <a:rPr sz="1200" b="1">
                <a:solidFill>
                  <a:srgbClr val="10B981"/>
                </a:solidFill>
                <a:latin typeface="Arial"/>
              </a:rPr>
              <a:t>OUTCOME &amp; EVIDENCE</a:t>
            </a:r>
          </a:p>
        </p:txBody>
      </p:sp>
      <p:sp>
        <p:nvSpPr>
          <p:cNvPr id="19" name="TextBox 18"/>
          <p:cNvSpPr txBox="1"/>
          <p:nvPr/>
        </p:nvSpPr>
        <p:spPr>
          <a:xfrm>
            <a:off x="960120" y="5277993"/>
            <a:ext cx="5166360" cy="866775"/>
          </a:xfrm>
          <a:prstGeom prst="rect">
            <a:avLst/>
          </a:prstGeom>
          <a:noFill/>
        </p:spPr>
        <p:txBody>
          <a:bodyPr wrap="square" anchor="t">
            <a:spAutoFit/>
          </a:bodyPr>
          <a:lstStyle/>
          <a:p>
            <a:pPr algn="l">
              <a:spcAft>
                <a:spcPts val="300"/>
              </a:spcAft>
            </a:pPr>
            <a:r>
              <a:rPr sz="1050" b="0">
                <a:solidFill>
                  <a:srgbClr val="5B6372"/>
                </a:solidFill>
                <a:latin typeface="Arial"/>
              </a:rPr>
              <a:t>Outcome:  Wire an EventBridge target to a least-privilege Lambda that triggers an SSM Automation runbook so an unhealthy resource self-heals (LO5, K7, A5).</a:t>
            </a:r>
          </a:p>
          <a:p>
            <a:pPr algn="l">
              <a:spcAft>
                <a:spcPts val="300"/>
              </a:spcAft>
            </a:pPr>
            <a:r>
              <a:rPr sz="1050" b="0">
                <a:solidFill>
                  <a:srgbClr val="5B6372"/>
                </a:solidFill>
                <a:latin typeface="Arial"/>
              </a:rPr>
              <a:t>Evidence:  output proving the Lambda role is least-privilege (scoped runbook + tag-conditioned EC2, no broad wildcards).</a:t>
            </a:r>
          </a:p>
        </p:txBody>
      </p:sp>
      <p:sp>
        <p:nvSpPr>
          <p:cNvPr id="20" name="Rectangle 19"/>
          <p:cNvSpPr/>
          <p:nvPr/>
        </p:nvSpPr>
        <p:spPr>
          <a:xfrm>
            <a:off x="6446520" y="1783080"/>
            <a:ext cx="5029200" cy="290140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ab-20-lambda-ssm-auto-remediation.jpg"/>
          <p:cNvPicPr>
            <a:picLocks noChangeAspect="1"/>
          </p:cNvPicPr>
          <p:nvPr/>
        </p:nvPicPr>
        <p:blipFill>
          <a:blip r:embed="rId2"/>
          <a:stretch>
            <a:fillRect/>
          </a:stretch>
        </p:blipFill>
        <p:spPr>
          <a:xfrm>
            <a:off x="6492240" y="1828800"/>
            <a:ext cx="4937760" cy="2809963"/>
          </a:xfrm>
          <a:prstGeom prst="rect">
            <a:avLst/>
          </a:prstGeom>
        </p:spPr>
      </p:pic>
      <p:sp>
        <p:nvSpPr>
          <p:cNvPr id="22" name="TextBox 21"/>
          <p:cNvSpPr txBox="1"/>
          <p:nvPr/>
        </p:nvSpPr>
        <p:spPr>
          <a:xfrm>
            <a:off x="6492240" y="4730203"/>
            <a:ext cx="4937760" cy="365760"/>
          </a:xfrm>
          <a:prstGeom prst="rect">
            <a:avLst/>
          </a:prstGeom>
          <a:noFill/>
        </p:spPr>
        <p:txBody>
          <a:bodyPr wrap="square" anchor="t">
            <a:spAutoFit/>
          </a:bodyPr>
          <a:lstStyle/>
          <a:p>
            <a:pPr algn="ctr">
              <a:spcAft>
                <a:spcPts val="400"/>
              </a:spcAft>
            </a:pPr>
            <a:r>
              <a:rPr sz="1100" b="1">
                <a:solidFill>
                  <a:srgbClr val="5B6372"/>
                </a:solidFill>
                <a:latin typeface="Arial"/>
              </a:rPr>
              <a:t>Reference architecture</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523</a:t>
            </a:r>
          </a:p>
        </p:txBody>
      </p:sp>
    </p:spTree>
  </p:cSld>
  <p:clrMapOvr>
    <a:masterClrMapping/>
  </p:clrMapOvr>
  <p:transition xmlns:p14="http://schemas.microsoft.com/office/powerpoint/2010/main" p14:dur="380">
    <p:fade/>
  </p:transition>
</p:sld>
</file>

<file path=ppt/slides/slide5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EC711E"/>
                </a:solidFill>
                <a:latin typeface="Arial"/>
              </a:rPr>
              <a:t>DOMAIN RECAP</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Recap — Incident and Event Response</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350" b="1">
                <a:solidFill>
                  <a:srgbClr val="161B26"/>
                </a:solidFill>
                <a:latin typeface="Arial"/>
              </a:rPr>
              <a:t>Lab 19</a:t>
            </a:r>
          </a:p>
          <a:p>
            <a:pPr algn="l">
              <a:spcAft>
                <a:spcPts val="300"/>
              </a:spcAft>
            </a:pPr>
            <a:r>
              <a:rPr sz="950" b="0">
                <a:solidFill>
                  <a:srgbClr val="5B6372"/>
                </a:solidFill>
                <a:latin typeface="Arial"/>
              </a:rPr>
              <a:t>Build an EventBridge rule that matches incident signals.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350" b="1">
                <a:solidFill>
                  <a:srgbClr val="161B26"/>
                </a:solidFill>
                <a:latin typeface="Arial"/>
              </a:rPr>
              <a:t>Lab 20</a:t>
            </a:r>
          </a:p>
          <a:p>
            <a:pPr algn="l">
              <a:spcAft>
                <a:spcPts val="300"/>
              </a:spcAft>
            </a:pPr>
            <a:r>
              <a:rPr sz="950" b="0">
                <a:solidFill>
                  <a:srgbClr val="5B6372"/>
                </a:solidFill>
                <a:latin typeface="Arial"/>
              </a:rPr>
              <a:t>Wire an EventBridge target to a least-privilege Lambda that triggers an SSM Automation runbook so an unhealthy resource.</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350" b="1">
                <a:solidFill>
                  <a:srgbClr val="161B26"/>
                </a:solidFill>
                <a:latin typeface="Arial"/>
              </a:rPr>
              <a:t>Key principle</a:t>
            </a:r>
          </a:p>
          <a:p>
            <a:pPr algn="l">
              <a:spcAft>
                <a:spcPts val="300"/>
              </a:spcAft>
            </a:pPr>
            <a:r>
              <a:rPr sz="950" b="0">
                <a:solidFill>
                  <a:srgbClr val="5B6372"/>
                </a:solidFill>
                <a:latin typeface="Arial"/>
              </a:rPr>
              <a:t>EventBridge routes events from AWS services and applications to targets that act automatically.</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524</a:t>
            </a:r>
          </a:p>
        </p:txBody>
      </p:sp>
    </p:spTree>
  </p:cSld>
  <p:clrMapOvr>
    <a:masterClrMapping/>
  </p:clrMapOvr>
  <p:transition xmlns:p14="http://schemas.microsoft.com/office/powerpoint/2010/main" p14:dur="380">
    <p:fade/>
  </p:transition>
</p:sld>
</file>

<file path=ppt/slides/slide5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DOMAIN 06</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Security and Compliance</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Exam weighting 17%  ·  Identity &amp; access at scale · data protection · security monitoring &amp; audit</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06</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525</a:t>
            </a:r>
          </a:p>
        </p:txBody>
      </p:sp>
    </p:spTree>
  </p:cSld>
  <p:clrMapOvr>
    <a:masterClrMapping/>
  </p:clrMapOvr>
  <p:transition xmlns:p14="http://schemas.microsoft.com/office/powerpoint/2010/main" p14:dur="380">
    <p:fade/>
  </p:transition>
</p:sld>
</file>

<file path=ppt/slides/slide5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SECURITY &amp; COMPLIANCE</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Security and Compliance</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629037" y="1819655"/>
            <a:ext cx="6933620" cy="39502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devops-security-compliance.png"/>
          <p:cNvPicPr>
            <a:picLocks noChangeAspect="1"/>
          </p:cNvPicPr>
          <p:nvPr/>
        </p:nvPicPr>
        <p:blipFill>
          <a:blip r:embed="rId2"/>
          <a:stretch>
            <a:fillRect/>
          </a:stretch>
        </p:blipFill>
        <p:spPr>
          <a:xfrm>
            <a:off x="2683901" y="1874519"/>
            <a:ext cx="6823892" cy="3840480"/>
          </a:xfrm>
          <a:prstGeom prst="rect">
            <a:avLst/>
          </a:prstGeom>
        </p:spPr>
      </p:pic>
      <p:sp>
        <p:nvSpPr>
          <p:cNvPr id="9" name="Rectangle 8"/>
          <p:cNvSpPr/>
          <p:nvPr/>
        </p:nvSpPr>
        <p:spPr>
          <a:xfrm>
            <a:off x="777240" y="5852159"/>
            <a:ext cx="10634472"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852159"/>
            <a:ext cx="91440" cy="6400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52159"/>
            <a:ext cx="10241280" cy="640080"/>
          </a:xfrm>
          <a:prstGeom prst="rect">
            <a:avLst/>
          </a:prstGeom>
          <a:noFill/>
        </p:spPr>
        <p:txBody>
          <a:bodyPr wrap="square" anchor="ctr">
            <a:spAutoFit/>
          </a:bodyPr>
          <a:lstStyle/>
          <a:p>
            <a:pPr algn="l">
              <a:spcAft>
                <a:spcPts val="400"/>
              </a:spcAft>
            </a:pPr>
            <a:r>
              <a:rPr sz="1300" b="1">
                <a:solidFill>
                  <a:srgbClr val="C0392B"/>
                </a:solidFill>
                <a:latin typeface="Arial"/>
              </a:rPr>
              <a:t>▶  </a:t>
            </a:r>
            <a:r>
              <a:rPr sz="1350" b="0">
                <a:solidFill>
                  <a:srgbClr val="161B26"/>
                </a:solidFill>
                <a:latin typeface="Arial"/>
              </a:rPr>
              <a:t>Security and compliance as continuous, automated guardrails</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526</a:t>
            </a:r>
          </a:p>
        </p:txBody>
      </p:sp>
    </p:spTree>
  </p:cSld>
  <p:clrMapOvr>
    <a:masterClrMapping/>
  </p:clrMapOvr>
  <p:transition xmlns:p14="http://schemas.microsoft.com/office/powerpoint/2010/main" p14:dur="380">
    <p:fade/>
  </p:transition>
</p:sld>
</file>

<file path=ppt/slides/slide5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DOMAIN 06 · WEIGHTING 17%</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Key Concepts — Security and Compliance</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10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6408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6408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Identity &amp; access management</a:t>
            </a:r>
          </a:p>
          <a:p>
            <a:pPr algn="l">
              <a:spcAft>
                <a:spcPts val="300"/>
              </a:spcAft>
            </a:pPr>
            <a:r>
              <a:rPr sz="1150" b="0">
                <a:solidFill>
                  <a:srgbClr val="5B6372"/>
                </a:solidFill>
                <a:latin typeface="Arial"/>
              </a:rPr>
              <a:t>IAM users, roles, policies and permission boundaries enforce least privilege; roles beat long-lived keys.</a:t>
            </a:r>
          </a:p>
        </p:txBody>
      </p:sp>
      <p:sp>
        <p:nvSpPr>
          <p:cNvPr id="12" name="Rectangle 11"/>
          <p:cNvSpPr/>
          <p:nvPr/>
        </p:nvSpPr>
        <p:spPr>
          <a:xfrm>
            <a:off x="6231636" y="1783080"/>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3106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6408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6408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IAM at scale</a:t>
            </a:r>
          </a:p>
          <a:p>
            <a:pPr algn="l">
              <a:spcAft>
                <a:spcPts val="300"/>
              </a:spcAft>
            </a:pPr>
            <a:r>
              <a:rPr sz="1150" b="0">
                <a:solidFill>
                  <a:srgbClr val="5B6372"/>
                </a:solidFill>
                <a:latin typeface="Arial"/>
              </a:rPr>
              <a:t>Organizations SCPs, IAM Identity Center and federation manage access across many accounts.</a:t>
            </a:r>
          </a:p>
        </p:txBody>
      </p:sp>
      <p:sp>
        <p:nvSpPr>
          <p:cNvPr id="17" name="Rectangle 16"/>
          <p:cNvSpPr/>
          <p:nvPr/>
        </p:nvSpPr>
        <p:spPr>
          <a:xfrm>
            <a:off x="777240" y="3313176"/>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3176"/>
            <a:ext cx="91440" cy="13106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422904"/>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Data protection</a:t>
            </a:r>
          </a:p>
          <a:p>
            <a:pPr algn="l">
              <a:spcAft>
                <a:spcPts val="300"/>
              </a:spcAft>
            </a:pPr>
            <a:r>
              <a:rPr sz="1150" b="0">
                <a:solidFill>
                  <a:srgbClr val="5B6372"/>
                </a:solidFill>
                <a:latin typeface="Arial"/>
              </a:rPr>
              <a:t>KMS encryption, Secrets Manager, S3 Block Public Access and TLS protect data at rest and in transit.</a:t>
            </a:r>
          </a:p>
        </p:txBody>
      </p:sp>
      <p:sp>
        <p:nvSpPr>
          <p:cNvPr id="22" name="Rectangle 21"/>
          <p:cNvSpPr/>
          <p:nvPr/>
        </p:nvSpPr>
        <p:spPr>
          <a:xfrm>
            <a:off x="6231636" y="3313176"/>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3176"/>
            <a:ext cx="91440" cy="13106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422904"/>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Detective controls</a:t>
            </a:r>
          </a:p>
          <a:p>
            <a:pPr algn="l">
              <a:spcAft>
                <a:spcPts val="300"/>
              </a:spcAft>
            </a:pPr>
            <a:r>
              <a:rPr sz="1150" b="0">
                <a:solidFill>
                  <a:srgbClr val="5B6372"/>
                </a:solidFill>
                <a:latin typeface="Arial"/>
              </a:rPr>
              <a:t>CloudTrail, AWS Config, GuardDuty and Security Hub record, assess and score the account's posture.</a:t>
            </a:r>
          </a:p>
        </p:txBody>
      </p:sp>
      <p:sp>
        <p:nvSpPr>
          <p:cNvPr id="27" name="Rectangle 26"/>
          <p:cNvSpPr/>
          <p:nvPr/>
        </p:nvSpPr>
        <p:spPr>
          <a:xfrm>
            <a:off x="777240" y="4843272"/>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43272"/>
            <a:ext cx="91440" cy="13106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24272"/>
            <a:ext cx="548640" cy="548640"/>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2427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953000"/>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Automated compliance</a:t>
            </a:r>
          </a:p>
          <a:p>
            <a:pPr algn="l">
              <a:spcAft>
                <a:spcPts val="300"/>
              </a:spcAft>
            </a:pPr>
            <a:r>
              <a:rPr sz="1150" b="0">
                <a:solidFill>
                  <a:srgbClr val="5B6372"/>
                </a:solidFill>
                <a:latin typeface="Arial"/>
              </a:rPr>
              <a:t>Config rules and conformance packs continuously check resources against a technical blueprint.</a:t>
            </a:r>
          </a:p>
        </p:txBody>
      </p:sp>
      <p:sp>
        <p:nvSpPr>
          <p:cNvPr id="32" name="Rectangle 31"/>
          <p:cNvSpPr/>
          <p:nvPr/>
        </p:nvSpPr>
        <p:spPr>
          <a:xfrm>
            <a:off x="6231636" y="4843272"/>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43272"/>
            <a:ext cx="91440" cy="1310640"/>
          </a:xfrm>
          <a:prstGeom prst="rect">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24272"/>
            <a:ext cx="548640" cy="548640"/>
          </a:xfrm>
          <a:prstGeom prst="ellipse">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2427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953000"/>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Governance blueprint</a:t>
            </a:r>
          </a:p>
          <a:p>
            <a:pPr algn="l">
              <a:spcAft>
                <a:spcPts val="300"/>
              </a:spcAft>
            </a:pPr>
            <a:r>
              <a:rPr sz="1150" b="0">
                <a:solidFill>
                  <a:srgbClr val="5B6372"/>
                </a:solidFill>
                <a:latin typeface="Arial"/>
              </a:rPr>
              <a:t>A landing zone plus guardrails give a documented, auditable security and compliance baseline.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527</a:t>
            </a:r>
          </a:p>
        </p:txBody>
      </p:sp>
    </p:spTree>
  </p:cSld>
  <p:clrMapOvr>
    <a:masterClrMapping/>
  </p:clrMapOvr>
  <p:transition xmlns:p14="http://schemas.microsoft.com/office/powerpoint/2010/main" p14:dur="380">
    <p:fade/>
  </p:transition>
</p:sld>
</file>

<file path=ppt/slides/slide5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DOMAIN 06 · SECURE &amp; AUDIT</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Security &amp; Compliance Blueprint</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965960"/>
            <a:ext cx="2377440" cy="1051560"/>
          </a:xfrm>
          <a:prstGeom prst="roundRect">
            <a:avLst/>
          </a:prstGeom>
          <a:solidFill>
            <a:srgbClr val="F5F8FC"/>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965960"/>
            <a:ext cx="2377440" cy="82296"/>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075688"/>
            <a:ext cx="2194560" cy="868680"/>
          </a:xfrm>
          <a:prstGeom prst="rect">
            <a:avLst/>
          </a:prstGeom>
          <a:noFill/>
        </p:spPr>
        <p:txBody>
          <a:bodyPr wrap="square" anchor="ctr">
            <a:spAutoFit/>
          </a:bodyPr>
          <a:lstStyle/>
          <a:p>
            <a:pPr algn="ctr">
              <a:spcAft>
                <a:spcPts val="400"/>
              </a:spcAft>
            </a:pPr>
            <a:r>
              <a:rPr sz="1300" b="1">
                <a:solidFill>
                  <a:srgbClr val="161B26"/>
                </a:solidFill>
                <a:latin typeface="Arial"/>
              </a:rPr>
              <a:t>IAM
least-privilege roles</a:t>
            </a:r>
          </a:p>
        </p:txBody>
      </p:sp>
      <p:sp>
        <p:nvSpPr>
          <p:cNvPr id="10" name="Rounded Rectangle 9"/>
          <p:cNvSpPr/>
          <p:nvPr/>
        </p:nvSpPr>
        <p:spPr>
          <a:xfrm>
            <a:off x="777240" y="3657600"/>
            <a:ext cx="2377440" cy="1051560"/>
          </a:xfrm>
          <a:prstGeom prst="roundRect">
            <a:avLst/>
          </a:prstGeom>
          <a:solidFill>
            <a:srgbClr val="F5F8FC"/>
          </a:solidFill>
          <a:ln w="15875">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3657600"/>
            <a:ext cx="237744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767328"/>
            <a:ext cx="2194560" cy="868680"/>
          </a:xfrm>
          <a:prstGeom prst="rect">
            <a:avLst/>
          </a:prstGeom>
          <a:noFill/>
        </p:spPr>
        <p:txBody>
          <a:bodyPr wrap="square" anchor="ctr">
            <a:spAutoFit/>
          </a:bodyPr>
          <a:lstStyle/>
          <a:p>
            <a:pPr algn="ctr">
              <a:spcAft>
                <a:spcPts val="400"/>
              </a:spcAft>
            </a:pPr>
            <a:r>
              <a:rPr sz="1300" b="1">
                <a:solidFill>
                  <a:srgbClr val="161B26"/>
                </a:solidFill>
                <a:latin typeface="Arial"/>
              </a:rPr>
              <a:t>KMS + Secrets
encryption</a:t>
            </a:r>
          </a:p>
        </p:txBody>
      </p:sp>
      <p:sp>
        <p:nvSpPr>
          <p:cNvPr id="13" name="Rounded Rectangle 12"/>
          <p:cNvSpPr/>
          <p:nvPr/>
        </p:nvSpPr>
        <p:spPr>
          <a:xfrm>
            <a:off x="3520440" y="1965960"/>
            <a:ext cx="2377440" cy="1051560"/>
          </a:xfrm>
          <a:prstGeom prst="roundRect">
            <a:avLst/>
          </a:prstGeom>
          <a:solidFill>
            <a:srgbClr val="F5F8FC"/>
          </a:solidFill>
          <a:ln w="15875">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0440" y="1965960"/>
            <a:ext cx="2377440"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11880" y="2075688"/>
            <a:ext cx="2194560" cy="868680"/>
          </a:xfrm>
          <a:prstGeom prst="rect">
            <a:avLst/>
          </a:prstGeom>
          <a:noFill/>
        </p:spPr>
        <p:txBody>
          <a:bodyPr wrap="square" anchor="ctr">
            <a:spAutoFit/>
          </a:bodyPr>
          <a:lstStyle/>
          <a:p>
            <a:pPr algn="ctr">
              <a:spcAft>
                <a:spcPts val="400"/>
              </a:spcAft>
            </a:pPr>
            <a:r>
              <a:rPr sz="1300" b="1">
                <a:solidFill>
                  <a:srgbClr val="161B26"/>
                </a:solidFill>
                <a:latin typeface="Arial"/>
              </a:rPr>
              <a:t>CloudTrail
audit log</a:t>
            </a:r>
          </a:p>
        </p:txBody>
      </p:sp>
      <p:sp>
        <p:nvSpPr>
          <p:cNvPr id="16" name="Rounded Rectangle 15"/>
          <p:cNvSpPr/>
          <p:nvPr/>
        </p:nvSpPr>
        <p:spPr>
          <a:xfrm>
            <a:off x="6263640" y="1965960"/>
            <a:ext cx="2377440" cy="1051560"/>
          </a:xfrm>
          <a:prstGeom prst="roundRect">
            <a:avLst/>
          </a:prstGeom>
          <a:solidFill>
            <a:srgbClr val="F5F8FC"/>
          </a:solidFill>
          <a:ln w="15875">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63640" y="1965960"/>
            <a:ext cx="237744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55080" y="2075688"/>
            <a:ext cx="2194560" cy="868680"/>
          </a:xfrm>
          <a:prstGeom prst="rect">
            <a:avLst/>
          </a:prstGeom>
          <a:noFill/>
        </p:spPr>
        <p:txBody>
          <a:bodyPr wrap="square" anchor="ctr">
            <a:spAutoFit/>
          </a:bodyPr>
          <a:lstStyle/>
          <a:p>
            <a:pPr algn="ctr">
              <a:spcAft>
                <a:spcPts val="400"/>
              </a:spcAft>
            </a:pPr>
            <a:r>
              <a:rPr sz="1300" b="1">
                <a:solidFill>
                  <a:srgbClr val="161B26"/>
                </a:solidFill>
                <a:latin typeface="Arial"/>
              </a:rPr>
              <a:t>AWS Config
rules + drift</a:t>
            </a:r>
          </a:p>
        </p:txBody>
      </p:sp>
      <p:sp>
        <p:nvSpPr>
          <p:cNvPr id="19" name="Rounded Rectangle 18"/>
          <p:cNvSpPr/>
          <p:nvPr/>
        </p:nvSpPr>
        <p:spPr>
          <a:xfrm>
            <a:off x="9006840" y="1965960"/>
            <a:ext cx="2377440" cy="1051560"/>
          </a:xfrm>
          <a:prstGeom prst="roundRect">
            <a:avLst/>
          </a:prstGeom>
          <a:solidFill>
            <a:srgbClr val="F5F8FC"/>
          </a:solidFill>
          <a:ln w="15875">
            <a:solidFill>
              <a:srgbClr val="EC71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006840" y="1965960"/>
            <a:ext cx="2377440" cy="82296"/>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98280" y="2075688"/>
            <a:ext cx="2194560" cy="868680"/>
          </a:xfrm>
          <a:prstGeom prst="rect">
            <a:avLst/>
          </a:prstGeom>
          <a:noFill/>
        </p:spPr>
        <p:txBody>
          <a:bodyPr wrap="square" anchor="ctr">
            <a:spAutoFit/>
          </a:bodyPr>
          <a:lstStyle/>
          <a:p>
            <a:pPr algn="ctr">
              <a:spcAft>
                <a:spcPts val="400"/>
              </a:spcAft>
            </a:pPr>
            <a:r>
              <a:rPr sz="1300" b="1">
                <a:solidFill>
                  <a:srgbClr val="161B26"/>
                </a:solidFill>
                <a:latin typeface="Arial"/>
              </a:rPr>
              <a:t>Security Hub /
GuardDuty</a:t>
            </a:r>
          </a:p>
        </p:txBody>
      </p:sp>
      <p:sp>
        <p:nvSpPr>
          <p:cNvPr id="22" name="Rounded Rectangle 21"/>
          <p:cNvSpPr/>
          <p:nvPr/>
        </p:nvSpPr>
        <p:spPr>
          <a:xfrm>
            <a:off x="6263640" y="3657600"/>
            <a:ext cx="2377440" cy="1051560"/>
          </a:xfrm>
          <a:prstGeom prst="roundRect">
            <a:avLst/>
          </a:prstGeom>
          <a:solidFill>
            <a:srgbClr val="F5F8FC"/>
          </a:solidFill>
          <a:ln w="15875">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63640" y="3657600"/>
            <a:ext cx="2377440"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55080" y="3767328"/>
            <a:ext cx="2194560" cy="868680"/>
          </a:xfrm>
          <a:prstGeom prst="rect">
            <a:avLst/>
          </a:prstGeom>
          <a:noFill/>
        </p:spPr>
        <p:txBody>
          <a:bodyPr wrap="square" anchor="ctr">
            <a:spAutoFit/>
          </a:bodyPr>
          <a:lstStyle/>
          <a:p>
            <a:pPr algn="ctr">
              <a:spcAft>
                <a:spcPts val="400"/>
              </a:spcAft>
            </a:pPr>
            <a:r>
              <a:rPr sz="1300" b="1">
                <a:solidFill>
                  <a:srgbClr val="161B26"/>
                </a:solidFill>
                <a:latin typeface="Arial"/>
              </a:rPr>
              <a:t>Auto-remediate
/ notify</a:t>
            </a:r>
          </a:p>
        </p:txBody>
      </p:sp>
      <p:cxnSp>
        <p:nvCxnSpPr>
          <p:cNvPr id="25" name="Connector 24"/>
          <p:cNvCxnSpPr/>
          <p:nvPr/>
        </p:nvCxnSpPr>
        <p:spPr>
          <a:xfrm>
            <a:off x="3154680" y="2491740"/>
            <a:ext cx="365760" cy="0"/>
          </a:xfrm>
          <a:prstGeom prst="line">
            <a:avLst/>
          </a:prstGeom>
          <a:ln w="22225">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154680" y="2491740"/>
            <a:ext cx="365760" cy="1691640"/>
          </a:xfrm>
          <a:prstGeom prst="line">
            <a:avLst/>
          </a:prstGeom>
          <a:ln w="22225">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5897880" y="2491740"/>
            <a:ext cx="365760" cy="0"/>
          </a:xfrm>
          <a:prstGeom prst="line">
            <a:avLst/>
          </a:prstGeom>
          <a:ln w="22225">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8641080" y="2491740"/>
            <a:ext cx="365760" cy="0"/>
          </a:xfrm>
          <a:prstGeom prst="line">
            <a:avLst/>
          </a:prstGeom>
          <a:ln w="22225">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7452360" y="3017520"/>
            <a:ext cx="0" cy="640080"/>
          </a:xfrm>
          <a:prstGeom prst="line">
            <a:avLst/>
          </a:prstGeom>
          <a:ln w="22225">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777240" y="5669280"/>
            <a:ext cx="10634472" cy="548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5742432"/>
            <a:ext cx="10241280" cy="411480"/>
          </a:xfrm>
          <a:prstGeom prst="rect">
            <a:avLst/>
          </a:prstGeom>
          <a:noFill/>
        </p:spPr>
        <p:txBody>
          <a:bodyPr wrap="square" anchor="ctr">
            <a:spAutoFit/>
          </a:bodyPr>
          <a:lstStyle/>
          <a:p>
            <a:pPr algn="l">
              <a:spcAft>
                <a:spcPts val="400"/>
              </a:spcAft>
            </a:pPr>
            <a:r>
              <a:rPr sz="1300" b="1">
                <a:solidFill>
                  <a:srgbClr val="C0392B"/>
                </a:solidFill>
                <a:latin typeface="Arial"/>
              </a:rPr>
              <a:t>▶  </a:t>
            </a:r>
            <a:r>
              <a:rPr sz="1300" b="0">
                <a:solidFill>
                  <a:srgbClr val="161B26"/>
                </a:solidFill>
                <a:latin typeface="Arial"/>
              </a:rPr>
              <a:t>Least-privilege identity + encryption, with CloudTrail, Config and Security Hub providing continuous audit and scoring.</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528</a:t>
            </a:r>
          </a:p>
        </p:txBody>
      </p:sp>
    </p:spTree>
  </p:cSld>
  <p:clrMapOvr>
    <a:masterClrMapping/>
  </p:clrMapOvr>
  <p:transition xmlns:p14="http://schemas.microsoft.com/office/powerpoint/2010/main" p14:dur="380">
    <p:fade/>
  </p:transition>
</p:sld>
</file>

<file path=ppt/slides/slide5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LAYERED SECURITY</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Defence in Depth on AWS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10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6408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6408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Identity</a:t>
            </a:r>
          </a:p>
          <a:p>
            <a:pPr algn="l">
              <a:spcAft>
                <a:spcPts val="300"/>
              </a:spcAft>
            </a:pPr>
            <a:r>
              <a:rPr sz="1150" b="0">
                <a:solidFill>
                  <a:srgbClr val="5B6372"/>
                </a:solidFill>
                <a:latin typeface="Arial"/>
              </a:rPr>
              <a:t>IAM roles, permission boundaries, IAM Identity Center, SCPs.</a:t>
            </a:r>
          </a:p>
        </p:txBody>
      </p:sp>
      <p:sp>
        <p:nvSpPr>
          <p:cNvPr id="12" name="Rectangle 11"/>
          <p:cNvSpPr/>
          <p:nvPr/>
        </p:nvSpPr>
        <p:spPr>
          <a:xfrm>
            <a:off x="6231636" y="1783080"/>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3106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6408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6408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Data protection</a:t>
            </a:r>
          </a:p>
          <a:p>
            <a:pPr algn="l">
              <a:spcAft>
                <a:spcPts val="300"/>
              </a:spcAft>
            </a:pPr>
            <a:r>
              <a:rPr sz="1150" b="0">
                <a:solidFill>
                  <a:srgbClr val="5B6372"/>
                </a:solidFill>
                <a:latin typeface="Arial"/>
              </a:rPr>
              <a:t>KMS encryption, Secrets Manager, S3 Block Public Access, TLS.</a:t>
            </a:r>
          </a:p>
        </p:txBody>
      </p:sp>
      <p:sp>
        <p:nvSpPr>
          <p:cNvPr id="17" name="Rectangle 16"/>
          <p:cNvSpPr/>
          <p:nvPr/>
        </p:nvSpPr>
        <p:spPr>
          <a:xfrm>
            <a:off x="777240" y="3313176"/>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3176"/>
            <a:ext cx="91440" cy="13106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422904"/>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Detective controls</a:t>
            </a:r>
          </a:p>
          <a:p>
            <a:pPr algn="l">
              <a:spcAft>
                <a:spcPts val="300"/>
              </a:spcAft>
            </a:pPr>
            <a:r>
              <a:rPr sz="1150" b="0">
                <a:solidFill>
                  <a:srgbClr val="5B6372"/>
                </a:solidFill>
                <a:latin typeface="Arial"/>
              </a:rPr>
              <a:t>CloudTrail, AWS Config, GuardDuty, Security Hub.</a:t>
            </a:r>
          </a:p>
        </p:txBody>
      </p:sp>
      <p:sp>
        <p:nvSpPr>
          <p:cNvPr id="22" name="Rectangle 21"/>
          <p:cNvSpPr/>
          <p:nvPr/>
        </p:nvSpPr>
        <p:spPr>
          <a:xfrm>
            <a:off x="6231636" y="3313176"/>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3176"/>
            <a:ext cx="91440" cy="13106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422904"/>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Preventive controls</a:t>
            </a:r>
          </a:p>
          <a:p>
            <a:pPr algn="l">
              <a:spcAft>
                <a:spcPts val="300"/>
              </a:spcAft>
            </a:pPr>
            <a:r>
              <a:rPr sz="1150" b="0">
                <a:solidFill>
                  <a:srgbClr val="5B6372"/>
                </a:solidFill>
                <a:latin typeface="Arial"/>
              </a:rPr>
              <a:t>Security groups, WAF, SCPs and least-privilege policies.</a:t>
            </a:r>
          </a:p>
        </p:txBody>
      </p:sp>
      <p:sp>
        <p:nvSpPr>
          <p:cNvPr id="27" name="Rectangle 26"/>
          <p:cNvSpPr/>
          <p:nvPr/>
        </p:nvSpPr>
        <p:spPr>
          <a:xfrm>
            <a:off x="777240" y="4843272"/>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43272"/>
            <a:ext cx="91440" cy="13106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24272"/>
            <a:ext cx="548640" cy="548640"/>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2427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953000"/>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Automated compliance</a:t>
            </a:r>
          </a:p>
          <a:p>
            <a:pPr algn="l">
              <a:spcAft>
                <a:spcPts val="300"/>
              </a:spcAft>
            </a:pPr>
            <a:r>
              <a:rPr sz="1150" b="0">
                <a:solidFill>
                  <a:srgbClr val="5B6372"/>
                </a:solidFill>
                <a:latin typeface="Arial"/>
              </a:rPr>
              <a:t>Config rules and conformance packs check continuously.</a:t>
            </a:r>
          </a:p>
        </p:txBody>
      </p:sp>
      <p:sp>
        <p:nvSpPr>
          <p:cNvPr id="32" name="Rectangle 31"/>
          <p:cNvSpPr/>
          <p:nvPr/>
        </p:nvSpPr>
        <p:spPr>
          <a:xfrm>
            <a:off x="6231636" y="4843272"/>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43272"/>
            <a:ext cx="91440" cy="1310640"/>
          </a:xfrm>
          <a:prstGeom prst="rect">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24272"/>
            <a:ext cx="548640" cy="548640"/>
          </a:xfrm>
          <a:prstGeom prst="ellipse">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2427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953000"/>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Auditable blueprint</a:t>
            </a:r>
          </a:p>
          <a:p>
            <a:pPr algn="l">
              <a:spcAft>
                <a:spcPts val="300"/>
              </a:spcAft>
            </a:pPr>
            <a:r>
              <a:rPr sz="1150" b="0">
                <a:solidFill>
                  <a:srgbClr val="5B6372"/>
                </a:solidFill>
                <a:latin typeface="Arial"/>
              </a:rPr>
              <a:t>Landing zone + guardrails give a documented baseline.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529</a:t>
            </a:r>
          </a:p>
        </p:txBody>
      </p:sp>
    </p:spTree>
  </p:cSld>
  <p:clrMapOvr>
    <a:masterClrMapping/>
  </p:clrMapOvr>
  <p:transition xmlns:p14="http://schemas.microsoft.com/office/powerpoint/2010/main" p14:dur="380">
    <p:fade/>
  </p:transition>
</p:sld>
</file>

<file path=ppt/slides/slide5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LEAST PRIVILEGE</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IAM — Users vs Roles vs Policies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552273" cy="5029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6968" y="1783080"/>
            <a:ext cx="2369393" cy="502920"/>
          </a:xfrm>
          <a:prstGeom prst="rect">
            <a:avLst/>
          </a:prstGeom>
          <a:noFill/>
        </p:spPr>
        <p:txBody>
          <a:bodyPr wrap="square" anchor="ctr">
            <a:spAutoFit/>
          </a:bodyPr>
          <a:lstStyle/>
          <a:p>
            <a:pPr algn="l">
              <a:spcAft>
                <a:spcPts val="400"/>
              </a:spcAft>
            </a:pPr>
            <a:r>
              <a:rPr sz="1400" b="1">
                <a:solidFill>
                  <a:srgbClr val="FFFFFF"/>
                </a:solidFill>
                <a:latin typeface="Arial"/>
              </a:rPr>
              <a:t>Concept</a:t>
            </a:r>
          </a:p>
        </p:txBody>
      </p:sp>
      <p:sp>
        <p:nvSpPr>
          <p:cNvPr id="9" name="Rectangle 8"/>
          <p:cNvSpPr/>
          <p:nvPr/>
        </p:nvSpPr>
        <p:spPr>
          <a:xfrm>
            <a:off x="3329513" y="1783080"/>
            <a:ext cx="4253788" cy="5029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39241" y="1783080"/>
            <a:ext cx="4070908" cy="502920"/>
          </a:xfrm>
          <a:prstGeom prst="rect">
            <a:avLst/>
          </a:prstGeom>
          <a:noFill/>
        </p:spPr>
        <p:txBody>
          <a:bodyPr wrap="square" anchor="ctr">
            <a:spAutoFit/>
          </a:bodyPr>
          <a:lstStyle/>
          <a:p>
            <a:pPr algn="ctr">
              <a:spcAft>
                <a:spcPts val="400"/>
              </a:spcAft>
            </a:pPr>
            <a:r>
              <a:rPr sz="1400" b="1">
                <a:solidFill>
                  <a:srgbClr val="FFFFFF"/>
                </a:solidFill>
                <a:latin typeface="Arial"/>
              </a:rPr>
              <a:t>What it is</a:t>
            </a:r>
          </a:p>
        </p:txBody>
      </p:sp>
      <p:sp>
        <p:nvSpPr>
          <p:cNvPr id="11" name="Rectangle 10"/>
          <p:cNvSpPr/>
          <p:nvPr/>
        </p:nvSpPr>
        <p:spPr>
          <a:xfrm>
            <a:off x="7583301" y="1783080"/>
            <a:ext cx="3828409" cy="5029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93029" y="1783080"/>
            <a:ext cx="3645529" cy="502920"/>
          </a:xfrm>
          <a:prstGeom prst="rect">
            <a:avLst/>
          </a:prstGeom>
          <a:noFill/>
        </p:spPr>
        <p:txBody>
          <a:bodyPr wrap="square" anchor="ctr">
            <a:spAutoFit/>
          </a:bodyPr>
          <a:lstStyle/>
          <a:p>
            <a:pPr algn="ctr">
              <a:spcAft>
                <a:spcPts val="400"/>
              </a:spcAft>
            </a:pPr>
            <a:r>
              <a:rPr sz="1400" b="1">
                <a:solidFill>
                  <a:srgbClr val="FFFFFF"/>
                </a:solidFill>
                <a:latin typeface="Arial"/>
              </a:rPr>
              <a:t>Best practice</a:t>
            </a:r>
          </a:p>
        </p:txBody>
      </p:sp>
      <p:sp>
        <p:nvSpPr>
          <p:cNvPr id="13" name="Rectangle 12"/>
          <p:cNvSpPr/>
          <p:nvPr/>
        </p:nvSpPr>
        <p:spPr>
          <a:xfrm>
            <a:off x="777240" y="2286000"/>
            <a:ext cx="2552273"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6968" y="2286000"/>
            <a:ext cx="2369393" cy="822960"/>
          </a:xfrm>
          <a:prstGeom prst="rect">
            <a:avLst/>
          </a:prstGeom>
          <a:noFill/>
        </p:spPr>
        <p:txBody>
          <a:bodyPr wrap="square" anchor="ctr">
            <a:spAutoFit/>
          </a:bodyPr>
          <a:lstStyle/>
          <a:p>
            <a:pPr algn="l">
              <a:spcAft>
                <a:spcPts val="400"/>
              </a:spcAft>
            </a:pPr>
            <a:r>
              <a:rPr sz="1250" b="1">
                <a:solidFill>
                  <a:srgbClr val="161B26"/>
                </a:solidFill>
                <a:latin typeface="Arial"/>
              </a:rPr>
              <a:t>IAM User</a:t>
            </a:r>
          </a:p>
        </p:txBody>
      </p:sp>
      <p:sp>
        <p:nvSpPr>
          <p:cNvPr id="15" name="Rectangle 14"/>
          <p:cNvSpPr/>
          <p:nvPr/>
        </p:nvSpPr>
        <p:spPr>
          <a:xfrm>
            <a:off x="3329513" y="2286000"/>
            <a:ext cx="4253788"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39241" y="2286000"/>
            <a:ext cx="4070908" cy="822960"/>
          </a:xfrm>
          <a:prstGeom prst="rect">
            <a:avLst/>
          </a:prstGeom>
          <a:noFill/>
        </p:spPr>
        <p:txBody>
          <a:bodyPr wrap="square" anchor="ctr">
            <a:spAutoFit/>
          </a:bodyPr>
          <a:lstStyle/>
          <a:p>
            <a:pPr algn="ctr">
              <a:spcAft>
                <a:spcPts val="400"/>
              </a:spcAft>
            </a:pPr>
            <a:r>
              <a:rPr sz="1250" b="0">
                <a:solidFill>
                  <a:srgbClr val="5B6372"/>
                </a:solidFill>
                <a:latin typeface="Arial"/>
              </a:rPr>
              <a:t>Long-lived identity + credentials</a:t>
            </a:r>
          </a:p>
        </p:txBody>
      </p:sp>
      <p:sp>
        <p:nvSpPr>
          <p:cNvPr id="17" name="Rectangle 16"/>
          <p:cNvSpPr/>
          <p:nvPr/>
        </p:nvSpPr>
        <p:spPr>
          <a:xfrm>
            <a:off x="7583301" y="2286000"/>
            <a:ext cx="3828409"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3029" y="2286000"/>
            <a:ext cx="3645529" cy="822960"/>
          </a:xfrm>
          <a:prstGeom prst="rect">
            <a:avLst/>
          </a:prstGeom>
          <a:noFill/>
        </p:spPr>
        <p:txBody>
          <a:bodyPr wrap="square" anchor="ctr">
            <a:spAutoFit/>
          </a:bodyPr>
          <a:lstStyle/>
          <a:p>
            <a:pPr algn="ctr">
              <a:spcAft>
                <a:spcPts val="400"/>
              </a:spcAft>
            </a:pPr>
            <a:r>
              <a:rPr sz="1250" b="0">
                <a:solidFill>
                  <a:srgbClr val="5B6372"/>
                </a:solidFill>
                <a:latin typeface="Arial"/>
              </a:rPr>
              <a:t>Avoid; prefer federation</a:t>
            </a:r>
          </a:p>
        </p:txBody>
      </p:sp>
      <p:sp>
        <p:nvSpPr>
          <p:cNvPr id="19" name="Rectangle 18"/>
          <p:cNvSpPr/>
          <p:nvPr/>
        </p:nvSpPr>
        <p:spPr>
          <a:xfrm>
            <a:off x="777240" y="3108960"/>
            <a:ext cx="2552273"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3108960"/>
            <a:ext cx="2369393" cy="822960"/>
          </a:xfrm>
          <a:prstGeom prst="rect">
            <a:avLst/>
          </a:prstGeom>
          <a:noFill/>
        </p:spPr>
        <p:txBody>
          <a:bodyPr wrap="square" anchor="ctr">
            <a:spAutoFit/>
          </a:bodyPr>
          <a:lstStyle/>
          <a:p>
            <a:pPr algn="l">
              <a:spcAft>
                <a:spcPts val="400"/>
              </a:spcAft>
            </a:pPr>
            <a:r>
              <a:rPr sz="1250" b="1">
                <a:solidFill>
                  <a:srgbClr val="161B26"/>
                </a:solidFill>
                <a:latin typeface="Arial"/>
              </a:rPr>
              <a:t>IAM Role</a:t>
            </a:r>
          </a:p>
        </p:txBody>
      </p:sp>
      <p:sp>
        <p:nvSpPr>
          <p:cNvPr id="21" name="Rectangle 20"/>
          <p:cNvSpPr/>
          <p:nvPr/>
        </p:nvSpPr>
        <p:spPr>
          <a:xfrm>
            <a:off x="3329513" y="3108960"/>
            <a:ext cx="4253788"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439241" y="3108960"/>
            <a:ext cx="4070908" cy="822960"/>
          </a:xfrm>
          <a:prstGeom prst="rect">
            <a:avLst/>
          </a:prstGeom>
          <a:noFill/>
        </p:spPr>
        <p:txBody>
          <a:bodyPr wrap="square" anchor="ctr">
            <a:spAutoFit/>
          </a:bodyPr>
          <a:lstStyle/>
          <a:p>
            <a:pPr algn="ctr">
              <a:spcAft>
                <a:spcPts val="400"/>
              </a:spcAft>
            </a:pPr>
            <a:r>
              <a:rPr sz="1250" b="0">
                <a:solidFill>
                  <a:srgbClr val="5B6372"/>
                </a:solidFill>
                <a:latin typeface="Arial"/>
              </a:rPr>
              <a:t>Temporary, assumable permissions</a:t>
            </a:r>
          </a:p>
        </p:txBody>
      </p:sp>
      <p:sp>
        <p:nvSpPr>
          <p:cNvPr id="23" name="Rectangle 22"/>
          <p:cNvSpPr/>
          <p:nvPr/>
        </p:nvSpPr>
        <p:spPr>
          <a:xfrm>
            <a:off x="7583301" y="3108960"/>
            <a:ext cx="3828409"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93029" y="3108960"/>
            <a:ext cx="3645529" cy="822960"/>
          </a:xfrm>
          <a:prstGeom prst="rect">
            <a:avLst/>
          </a:prstGeom>
          <a:noFill/>
        </p:spPr>
        <p:txBody>
          <a:bodyPr wrap="square" anchor="ctr">
            <a:spAutoFit/>
          </a:bodyPr>
          <a:lstStyle/>
          <a:p>
            <a:pPr algn="ctr">
              <a:spcAft>
                <a:spcPts val="400"/>
              </a:spcAft>
            </a:pPr>
            <a:r>
              <a:rPr sz="1250" b="0">
                <a:solidFill>
                  <a:srgbClr val="5B6372"/>
                </a:solidFill>
                <a:latin typeface="Arial"/>
              </a:rPr>
              <a:t>Use for apps &amp; cross-account</a:t>
            </a:r>
          </a:p>
        </p:txBody>
      </p:sp>
      <p:sp>
        <p:nvSpPr>
          <p:cNvPr id="25" name="Rectangle 24"/>
          <p:cNvSpPr/>
          <p:nvPr/>
        </p:nvSpPr>
        <p:spPr>
          <a:xfrm>
            <a:off x="777240" y="3931920"/>
            <a:ext cx="2552273"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6968" y="3931920"/>
            <a:ext cx="2369393" cy="822960"/>
          </a:xfrm>
          <a:prstGeom prst="rect">
            <a:avLst/>
          </a:prstGeom>
          <a:noFill/>
        </p:spPr>
        <p:txBody>
          <a:bodyPr wrap="square" anchor="ctr">
            <a:spAutoFit/>
          </a:bodyPr>
          <a:lstStyle/>
          <a:p>
            <a:pPr algn="l">
              <a:spcAft>
                <a:spcPts val="400"/>
              </a:spcAft>
            </a:pPr>
            <a:r>
              <a:rPr sz="1250" b="1">
                <a:solidFill>
                  <a:srgbClr val="161B26"/>
                </a:solidFill>
                <a:latin typeface="Arial"/>
              </a:rPr>
              <a:t>Policy</a:t>
            </a:r>
          </a:p>
        </p:txBody>
      </p:sp>
      <p:sp>
        <p:nvSpPr>
          <p:cNvPr id="27" name="Rectangle 26"/>
          <p:cNvSpPr/>
          <p:nvPr/>
        </p:nvSpPr>
        <p:spPr>
          <a:xfrm>
            <a:off x="3329513" y="3931920"/>
            <a:ext cx="4253788"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439241" y="3931920"/>
            <a:ext cx="4070908" cy="822960"/>
          </a:xfrm>
          <a:prstGeom prst="rect">
            <a:avLst/>
          </a:prstGeom>
          <a:noFill/>
        </p:spPr>
        <p:txBody>
          <a:bodyPr wrap="square" anchor="ctr">
            <a:spAutoFit/>
          </a:bodyPr>
          <a:lstStyle/>
          <a:p>
            <a:pPr algn="ctr">
              <a:spcAft>
                <a:spcPts val="400"/>
              </a:spcAft>
            </a:pPr>
            <a:r>
              <a:rPr sz="1250" b="0">
                <a:solidFill>
                  <a:srgbClr val="5B6372"/>
                </a:solidFill>
                <a:latin typeface="Arial"/>
              </a:rPr>
              <a:t>JSON permissions document</a:t>
            </a:r>
          </a:p>
        </p:txBody>
      </p:sp>
      <p:sp>
        <p:nvSpPr>
          <p:cNvPr id="29" name="Rectangle 28"/>
          <p:cNvSpPr/>
          <p:nvPr/>
        </p:nvSpPr>
        <p:spPr>
          <a:xfrm>
            <a:off x="7583301" y="3931920"/>
            <a:ext cx="3828409"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93029" y="3931920"/>
            <a:ext cx="3645529" cy="822960"/>
          </a:xfrm>
          <a:prstGeom prst="rect">
            <a:avLst/>
          </a:prstGeom>
          <a:noFill/>
        </p:spPr>
        <p:txBody>
          <a:bodyPr wrap="square" anchor="ctr">
            <a:spAutoFit/>
          </a:bodyPr>
          <a:lstStyle/>
          <a:p>
            <a:pPr algn="ctr">
              <a:spcAft>
                <a:spcPts val="400"/>
              </a:spcAft>
            </a:pPr>
            <a:r>
              <a:rPr sz="1250" b="0">
                <a:solidFill>
                  <a:srgbClr val="5B6372"/>
                </a:solidFill>
                <a:latin typeface="Arial"/>
              </a:rPr>
              <a:t>Least privilege; scope by condition</a:t>
            </a:r>
          </a:p>
        </p:txBody>
      </p:sp>
      <p:sp>
        <p:nvSpPr>
          <p:cNvPr id="31" name="Rectangle 30"/>
          <p:cNvSpPr/>
          <p:nvPr/>
        </p:nvSpPr>
        <p:spPr>
          <a:xfrm>
            <a:off x="777240" y="4754880"/>
            <a:ext cx="2552273"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6968" y="4754880"/>
            <a:ext cx="2369393" cy="822960"/>
          </a:xfrm>
          <a:prstGeom prst="rect">
            <a:avLst/>
          </a:prstGeom>
          <a:noFill/>
        </p:spPr>
        <p:txBody>
          <a:bodyPr wrap="square" anchor="ctr">
            <a:spAutoFit/>
          </a:bodyPr>
          <a:lstStyle/>
          <a:p>
            <a:pPr algn="l">
              <a:spcAft>
                <a:spcPts val="400"/>
              </a:spcAft>
            </a:pPr>
            <a:r>
              <a:rPr sz="1250" b="1">
                <a:solidFill>
                  <a:srgbClr val="161B26"/>
                </a:solidFill>
                <a:latin typeface="Arial"/>
              </a:rPr>
              <a:t>Permission boundary</a:t>
            </a:r>
          </a:p>
        </p:txBody>
      </p:sp>
      <p:sp>
        <p:nvSpPr>
          <p:cNvPr id="33" name="Rectangle 32"/>
          <p:cNvSpPr/>
          <p:nvPr/>
        </p:nvSpPr>
        <p:spPr>
          <a:xfrm>
            <a:off x="3329513" y="4754880"/>
            <a:ext cx="4253788"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439241" y="4754880"/>
            <a:ext cx="4070908" cy="822960"/>
          </a:xfrm>
          <a:prstGeom prst="rect">
            <a:avLst/>
          </a:prstGeom>
          <a:noFill/>
        </p:spPr>
        <p:txBody>
          <a:bodyPr wrap="square" anchor="ctr">
            <a:spAutoFit/>
          </a:bodyPr>
          <a:lstStyle/>
          <a:p>
            <a:pPr algn="ctr">
              <a:spcAft>
                <a:spcPts val="400"/>
              </a:spcAft>
            </a:pPr>
            <a:r>
              <a:rPr sz="1250" b="0">
                <a:solidFill>
                  <a:srgbClr val="5B6372"/>
                </a:solidFill>
                <a:latin typeface="Arial"/>
              </a:rPr>
              <a:t>Max permissions a principal can have</a:t>
            </a:r>
          </a:p>
        </p:txBody>
      </p:sp>
      <p:sp>
        <p:nvSpPr>
          <p:cNvPr id="35" name="Rectangle 34"/>
          <p:cNvSpPr/>
          <p:nvPr/>
        </p:nvSpPr>
        <p:spPr>
          <a:xfrm>
            <a:off x="7583301" y="4754880"/>
            <a:ext cx="3828409"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93029" y="4754880"/>
            <a:ext cx="3645529" cy="822960"/>
          </a:xfrm>
          <a:prstGeom prst="rect">
            <a:avLst/>
          </a:prstGeom>
          <a:noFill/>
        </p:spPr>
        <p:txBody>
          <a:bodyPr wrap="square" anchor="ctr">
            <a:spAutoFit/>
          </a:bodyPr>
          <a:lstStyle/>
          <a:p>
            <a:pPr algn="ctr">
              <a:spcAft>
                <a:spcPts val="400"/>
              </a:spcAft>
            </a:pPr>
            <a:r>
              <a:rPr sz="1250" b="0">
                <a:solidFill>
                  <a:srgbClr val="5B6372"/>
                </a:solidFill>
                <a:latin typeface="Arial"/>
              </a:rPr>
              <a:t>Guardrail for delegated admin</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530</a:t>
            </a:r>
          </a:p>
        </p:txBody>
      </p:sp>
    </p:spTree>
  </p:cSld>
  <p:clrMapOvr>
    <a:masterClrMapping/>
  </p:clrMapOvr>
  <p:transition xmlns:p14="http://schemas.microsoft.com/office/powerpoint/2010/main" p14:dur="380">
    <p:fade/>
  </p:transition>
</p:sld>
</file>

<file path=ppt/slides/slide5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GUARDRAILS THAT WATCH</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AWS Config — Continuous Compliance</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Recorder
tracks resources</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C0392B"/>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Rules
managed/custom</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C0392B"/>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Evaluate
compliance</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C0392B"/>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Non-compliant
flagged</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C0392B"/>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Remediate
auto/manual</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531</a:t>
            </a:r>
          </a:p>
        </p:txBody>
      </p:sp>
    </p:spTree>
  </p:cSld>
  <p:clrMapOvr>
    <a:masterClrMapping/>
  </p:clrMapOvr>
  <p:transition xmlns:p14="http://schemas.microsoft.com/office/powerpoint/2010/main" p14:dur="380">
    <p:fade/>
  </p:transition>
</p:sld>
</file>

<file path=ppt/slides/slide5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KNOW WHAT HAPPENED</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Detective &amp; Governance Services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5029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6968" y="1783080"/>
            <a:ext cx="2582082" cy="502920"/>
          </a:xfrm>
          <a:prstGeom prst="rect">
            <a:avLst/>
          </a:prstGeom>
          <a:noFill/>
        </p:spPr>
        <p:txBody>
          <a:bodyPr wrap="square" anchor="ctr">
            <a:spAutoFit/>
          </a:bodyPr>
          <a:lstStyle/>
          <a:p>
            <a:pPr algn="l">
              <a:spcAft>
                <a:spcPts val="400"/>
              </a:spcAft>
            </a:pPr>
            <a:r>
              <a:rPr sz="1400" b="1">
                <a:solidFill>
                  <a:srgbClr val="FFFFFF"/>
                </a:solidFill>
                <a:latin typeface="Arial"/>
              </a:rPr>
              <a:t>Service</a:t>
            </a:r>
          </a:p>
        </p:txBody>
      </p:sp>
      <p:sp>
        <p:nvSpPr>
          <p:cNvPr id="9" name="Rectangle 8"/>
          <p:cNvSpPr/>
          <p:nvPr/>
        </p:nvSpPr>
        <p:spPr>
          <a:xfrm>
            <a:off x="3542202" y="1783080"/>
            <a:ext cx="7869509" cy="5029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1930" y="1783080"/>
            <a:ext cx="7686629" cy="502920"/>
          </a:xfrm>
          <a:prstGeom prst="rect">
            <a:avLst/>
          </a:prstGeom>
          <a:noFill/>
        </p:spPr>
        <p:txBody>
          <a:bodyPr wrap="square" anchor="ctr">
            <a:spAutoFit/>
          </a:bodyPr>
          <a:lstStyle/>
          <a:p>
            <a:pPr algn="ctr">
              <a:spcAft>
                <a:spcPts val="400"/>
              </a:spcAft>
            </a:pPr>
            <a:r>
              <a:rPr sz="1400" b="1">
                <a:solidFill>
                  <a:srgbClr val="FFFFFF"/>
                </a:solidFill>
                <a:latin typeface="Arial"/>
              </a:rPr>
              <a:t>What it does</a:t>
            </a:r>
          </a:p>
        </p:txBody>
      </p:sp>
      <p:sp>
        <p:nvSpPr>
          <p:cNvPr id="11" name="Rectangle 10"/>
          <p:cNvSpPr/>
          <p:nvPr/>
        </p:nvSpPr>
        <p:spPr>
          <a:xfrm>
            <a:off x="777240" y="2286000"/>
            <a:ext cx="2764962"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86968" y="2286000"/>
            <a:ext cx="2582082" cy="822960"/>
          </a:xfrm>
          <a:prstGeom prst="rect">
            <a:avLst/>
          </a:prstGeom>
          <a:noFill/>
        </p:spPr>
        <p:txBody>
          <a:bodyPr wrap="square" anchor="ctr">
            <a:spAutoFit/>
          </a:bodyPr>
          <a:lstStyle/>
          <a:p>
            <a:pPr algn="l">
              <a:spcAft>
                <a:spcPts val="400"/>
              </a:spcAft>
            </a:pPr>
            <a:r>
              <a:rPr sz="1250" b="1">
                <a:solidFill>
                  <a:srgbClr val="161B26"/>
                </a:solidFill>
                <a:latin typeface="Arial"/>
              </a:rPr>
              <a:t>CloudTrail</a:t>
            </a:r>
          </a:p>
        </p:txBody>
      </p:sp>
      <p:sp>
        <p:nvSpPr>
          <p:cNvPr id="13" name="Rectangle 12"/>
          <p:cNvSpPr/>
          <p:nvPr/>
        </p:nvSpPr>
        <p:spPr>
          <a:xfrm>
            <a:off x="3542202" y="2286000"/>
            <a:ext cx="7869509"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1930" y="2286000"/>
            <a:ext cx="7686629" cy="822960"/>
          </a:xfrm>
          <a:prstGeom prst="rect">
            <a:avLst/>
          </a:prstGeom>
          <a:noFill/>
        </p:spPr>
        <p:txBody>
          <a:bodyPr wrap="square" anchor="ctr">
            <a:spAutoFit/>
          </a:bodyPr>
          <a:lstStyle/>
          <a:p>
            <a:pPr algn="ctr">
              <a:spcAft>
                <a:spcPts val="400"/>
              </a:spcAft>
            </a:pPr>
            <a:r>
              <a:rPr sz="1250" b="0">
                <a:solidFill>
                  <a:srgbClr val="5B6372"/>
                </a:solidFill>
                <a:latin typeface="Arial"/>
              </a:rPr>
              <a:t>Records every API call for audit and forensics</a:t>
            </a:r>
          </a:p>
        </p:txBody>
      </p:sp>
      <p:sp>
        <p:nvSpPr>
          <p:cNvPr id="15" name="Rectangle 14"/>
          <p:cNvSpPr/>
          <p:nvPr/>
        </p:nvSpPr>
        <p:spPr>
          <a:xfrm>
            <a:off x="777240" y="3108960"/>
            <a:ext cx="2764962"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6968" y="3108960"/>
            <a:ext cx="2582082" cy="822960"/>
          </a:xfrm>
          <a:prstGeom prst="rect">
            <a:avLst/>
          </a:prstGeom>
          <a:noFill/>
        </p:spPr>
        <p:txBody>
          <a:bodyPr wrap="square" anchor="ctr">
            <a:spAutoFit/>
          </a:bodyPr>
          <a:lstStyle/>
          <a:p>
            <a:pPr algn="l">
              <a:spcAft>
                <a:spcPts val="400"/>
              </a:spcAft>
            </a:pPr>
            <a:r>
              <a:rPr sz="1250" b="1">
                <a:solidFill>
                  <a:srgbClr val="161B26"/>
                </a:solidFill>
                <a:latin typeface="Arial"/>
              </a:rPr>
              <a:t>AWS Config</a:t>
            </a:r>
          </a:p>
        </p:txBody>
      </p:sp>
      <p:sp>
        <p:nvSpPr>
          <p:cNvPr id="17" name="Rectangle 16"/>
          <p:cNvSpPr/>
          <p:nvPr/>
        </p:nvSpPr>
        <p:spPr>
          <a:xfrm>
            <a:off x="3542202" y="3108960"/>
            <a:ext cx="7869509"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1930" y="3108960"/>
            <a:ext cx="7686629" cy="822960"/>
          </a:xfrm>
          <a:prstGeom prst="rect">
            <a:avLst/>
          </a:prstGeom>
          <a:noFill/>
        </p:spPr>
        <p:txBody>
          <a:bodyPr wrap="square" anchor="ctr">
            <a:spAutoFit/>
          </a:bodyPr>
          <a:lstStyle/>
          <a:p>
            <a:pPr algn="ctr">
              <a:spcAft>
                <a:spcPts val="400"/>
              </a:spcAft>
            </a:pPr>
            <a:r>
              <a:rPr sz="1250" b="0">
                <a:solidFill>
                  <a:srgbClr val="5B6372"/>
                </a:solidFill>
                <a:latin typeface="Arial"/>
              </a:rPr>
              <a:t>Tracks resource configuration &amp; compliance over time</a:t>
            </a:r>
          </a:p>
        </p:txBody>
      </p:sp>
      <p:sp>
        <p:nvSpPr>
          <p:cNvPr id="19" name="Rectangle 18"/>
          <p:cNvSpPr/>
          <p:nvPr/>
        </p:nvSpPr>
        <p:spPr>
          <a:xfrm>
            <a:off x="777240" y="3931920"/>
            <a:ext cx="2764962"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3931920"/>
            <a:ext cx="2582082" cy="822960"/>
          </a:xfrm>
          <a:prstGeom prst="rect">
            <a:avLst/>
          </a:prstGeom>
          <a:noFill/>
        </p:spPr>
        <p:txBody>
          <a:bodyPr wrap="square" anchor="ctr">
            <a:spAutoFit/>
          </a:bodyPr>
          <a:lstStyle/>
          <a:p>
            <a:pPr algn="l">
              <a:spcAft>
                <a:spcPts val="400"/>
              </a:spcAft>
            </a:pPr>
            <a:r>
              <a:rPr sz="1250" b="1">
                <a:solidFill>
                  <a:srgbClr val="161B26"/>
                </a:solidFill>
                <a:latin typeface="Arial"/>
              </a:rPr>
              <a:t>GuardDuty</a:t>
            </a:r>
          </a:p>
        </p:txBody>
      </p:sp>
      <p:sp>
        <p:nvSpPr>
          <p:cNvPr id="21" name="Rectangle 20"/>
          <p:cNvSpPr/>
          <p:nvPr/>
        </p:nvSpPr>
        <p:spPr>
          <a:xfrm>
            <a:off x="3542202" y="3931920"/>
            <a:ext cx="7869509"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51930" y="3931920"/>
            <a:ext cx="7686629" cy="822960"/>
          </a:xfrm>
          <a:prstGeom prst="rect">
            <a:avLst/>
          </a:prstGeom>
          <a:noFill/>
        </p:spPr>
        <p:txBody>
          <a:bodyPr wrap="square" anchor="ctr">
            <a:spAutoFit/>
          </a:bodyPr>
          <a:lstStyle/>
          <a:p>
            <a:pPr algn="ctr">
              <a:spcAft>
                <a:spcPts val="400"/>
              </a:spcAft>
            </a:pPr>
            <a:r>
              <a:rPr sz="1250" b="0">
                <a:solidFill>
                  <a:srgbClr val="5B6372"/>
                </a:solidFill>
                <a:latin typeface="Arial"/>
              </a:rPr>
              <a:t>ML threat detection from logs &amp; network traffic</a:t>
            </a:r>
          </a:p>
        </p:txBody>
      </p:sp>
      <p:sp>
        <p:nvSpPr>
          <p:cNvPr id="23" name="Rectangle 22"/>
          <p:cNvSpPr/>
          <p:nvPr/>
        </p:nvSpPr>
        <p:spPr>
          <a:xfrm>
            <a:off x="777240" y="4754880"/>
            <a:ext cx="2764962"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86968" y="4754880"/>
            <a:ext cx="2582082" cy="822960"/>
          </a:xfrm>
          <a:prstGeom prst="rect">
            <a:avLst/>
          </a:prstGeom>
          <a:noFill/>
        </p:spPr>
        <p:txBody>
          <a:bodyPr wrap="square" anchor="ctr">
            <a:spAutoFit/>
          </a:bodyPr>
          <a:lstStyle/>
          <a:p>
            <a:pPr algn="l">
              <a:spcAft>
                <a:spcPts val="400"/>
              </a:spcAft>
            </a:pPr>
            <a:r>
              <a:rPr sz="1250" b="1">
                <a:solidFill>
                  <a:srgbClr val="161B26"/>
                </a:solidFill>
                <a:latin typeface="Arial"/>
              </a:rPr>
              <a:t>Security Hub</a:t>
            </a:r>
          </a:p>
        </p:txBody>
      </p:sp>
      <p:sp>
        <p:nvSpPr>
          <p:cNvPr id="25" name="Rectangle 24"/>
          <p:cNvSpPr/>
          <p:nvPr/>
        </p:nvSpPr>
        <p:spPr>
          <a:xfrm>
            <a:off x="3542202" y="4754880"/>
            <a:ext cx="7869509"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51930" y="4754880"/>
            <a:ext cx="7686629" cy="822960"/>
          </a:xfrm>
          <a:prstGeom prst="rect">
            <a:avLst/>
          </a:prstGeom>
          <a:noFill/>
        </p:spPr>
        <p:txBody>
          <a:bodyPr wrap="square" anchor="ctr">
            <a:spAutoFit/>
          </a:bodyPr>
          <a:lstStyle/>
          <a:p>
            <a:pPr algn="ctr">
              <a:spcAft>
                <a:spcPts val="400"/>
              </a:spcAft>
            </a:pPr>
            <a:r>
              <a:rPr sz="1250" b="0">
                <a:solidFill>
                  <a:srgbClr val="5B6372"/>
                </a:solidFill>
                <a:latin typeface="Arial"/>
              </a:rPr>
              <a:t>Aggregates findings &amp; scores posture against standards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532</a:t>
            </a:r>
          </a:p>
        </p:txBody>
      </p:sp>
    </p:spTree>
  </p:cSld>
  <p:clrMapOvr>
    <a:masterClrMapping/>
  </p:clrMapOvr>
  <p:transition xmlns:p14="http://schemas.microsoft.com/office/powerpoint/2010/main" p14:dur="380">
    <p:fade/>
  </p:transition>
</p:sld>
</file>

<file path=ppt/slides/slide5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PROTECTING DATA</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Encryption Everywhere</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600" b="1">
                <a:solidFill>
                  <a:srgbClr val="161B26"/>
                </a:solidFill>
                <a:latin typeface="Arial"/>
              </a:rPr>
              <a:t>At rest</a:t>
            </a:r>
          </a:p>
          <a:p>
            <a:pPr algn="l">
              <a:spcAft>
                <a:spcPts val="300"/>
              </a:spcAft>
            </a:pPr>
            <a:r>
              <a:rPr sz="1200" b="0">
                <a:solidFill>
                  <a:srgbClr val="5B6372"/>
                </a:solidFill>
                <a:latin typeface="Arial"/>
              </a:rPr>
              <a:t>KMS-managed keys for S3, EBS, RDS, DynamoDB.</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600" b="1">
                <a:solidFill>
                  <a:srgbClr val="161B26"/>
                </a:solidFill>
                <a:latin typeface="Arial"/>
              </a:rPr>
              <a:t>In transit</a:t>
            </a:r>
          </a:p>
          <a:p>
            <a:pPr algn="l">
              <a:spcAft>
                <a:spcPts val="300"/>
              </a:spcAft>
            </a:pPr>
            <a:r>
              <a:rPr sz="1200" b="0">
                <a:solidFill>
                  <a:srgbClr val="5B6372"/>
                </a:solidFill>
                <a:latin typeface="Arial"/>
              </a:rPr>
              <a:t>TLS for all service and app traffic.</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600" b="1">
                <a:solidFill>
                  <a:srgbClr val="161B26"/>
                </a:solidFill>
                <a:latin typeface="Arial"/>
              </a:rPr>
              <a:t>Secrets</a:t>
            </a:r>
          </a:p>
          <a:p>
            <a:pPr algn="l">
              <a:spcAft>
                <a:spcPts val="300"/>
              </a:spcAft>
            </a:pPr>
            <a:r>
              <a:rPr sz="1200" b="0">
                <a:solidFill>
                  <a:srgbClr val="5B6372"/>
                </a:solidFill>
                <a:latin typeface="Arial"/>
              </a:rPr>
              <a:t>Secrets Manager with automatic rotation.</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600" b="1">
                <a:solidFill>
                  <a:srgbClr val="161B26"/>
                </a:solidFill>
                <a:latin typeface="Arial"/>
              </a:rPr>
              <a:t>Key governance</a:t>
            </a:r>
          </a:p>
          <a:p>
            <a:pPr algn="l">
              <a:spcAft>
                <a:spcPts val="300"/>
              </a:spcAft>
            </a:pPr>
            <a:r>
              <a:rPr sz="1200" b="0">
                <a:solidFill>
                  <a:srgbClr val="5B6372"/>
                </a:solidFill>
                <a:latin typeface="Arial"/>
              </a:rPr>
              <a:t>Key policies, grants and rotation with AWS KMS.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533</a:t>
            </a:r>
          </a:p>
        </p:txBody>
      </p:sp>
    </p:spTree>
  </p:cSld>
  <p:clrMapOvr>
    <a:masterClrMapping/>
  </p:clrMapOvr>
  <p:transition xmlns:p14="http://schemas.microsoft.com/office/powerpoint/2010/main" p14:dur="380">
    <p:fade/>
  </p:transition>
</p:sld>
</file>

<file path=ppt/slides/slide5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IN DEPTH</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Identity and access — least privilege by design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51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212080" cy="914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38528"/>
            <a:ext cx="4754880" cy="365760"/>
          </a:xfrm>
          <a:prstGeom prst="rect">
            <a:avLst/>
          </a:prstGeom>
          <a:noFill/>
        </p:spPr>
        <p:txBody>
          <a:bodyPr wrap="square" anchor="t">
            <a:spAutoFit/>
          </a:bodyPr>
          <a:lstStyle/>
          <a:p>
            <a:pPr algn="l">
              <a:spcAft>
                <a:spcPts val="400"/>
              </a:spcAft>
            </a:pPr>
            <a:r>
              <a:rPr sz="1200" b="1">
                <a:solidFill>
                  <a:srgbClr val="C0392B"/>
                </a:solidFill>
                <a:latin typeface="Arial"/>
              </a:rPr>
              <a:t>IN DEPTH</a:t>
            </a:r>
          </a:p>
        </p:txBody>
      </p:sp>
      <p:sp>
        <p:nvSpPr>
          <p:cNvPr id="10" name="TextBox 9"/>
          <p:cNvSpPr txBox="1"/>
          <p:nvPr/>
        </p:nvSpPr>
        <p:spPr>
          <a:xfrm>
            <a:off x="1005840" y="2377440"/>
            <a:ext cx="4754880" cy="3566160"/>
          </a:xfrm>
          <a:prstGeom prst="rect">
            <a:avLst/>
          </a:prstGeom>
          <a:noFill/>
        </p:spPr>
        <p:txBody>
          <a:bodyPr wrap="square">
            <a:spAutoFit/>
          </a:bodyPr>
          <a:lstStyle/>
          <a:p>
            <a:pPr>
              <a:spcAft>
                <a:spcPts val="800"/>
              </a:spcAft>
            </a:pPr>
            <a:r>
              <a:rPr sz="1350" b="0">
                <a:solidFill>
                  <a:srgbClr val="161B26"/>
                </a:solidFill>
                <a:latin typeface="Arial"/>
              </a:rPr>
              <a:t>•  IAM policies grant explicit permissions; roles provide temporary, assumable credentials for apps and cross-account access.</a:t>
            </a:r>
          </a:p>
          <a:p>
            <a:pPr>
              <a:spcAft>
                <a:spcPts val="800"/>
              </a:spcAft>
            </a:pPr>
            <a:r>
              <a:rPr sz="1350" b="0">
                <a:solidFill>
                  <a:srgbClr val="161B26"/>
                </a:solidFill>
                <a:latin typeface="Arial"/>
              </a:rPr>
              <a:t>•  Permission boundaries cap the maximum permissions a delegated admin can grant.</a:t>
            </a:r>
          </a:p>
          <a:p>
            <a:pPr>
              <a:spcAft>
                <a:spcPts val="800"/>
              </a:spcAft>
            </a:pPr>
            <a:r>
              <a:rPr sz="1350" b="0">
                <a:solidFill>
                  <a:srgbClr val="161B26"/>
                </a:solidFill>
                <a:latin typeface="Arial"/>
              </a:rPr>
              <a:t>•  Prefer roles and short-lived credentials over long-lived access keys everywhere.</a:t>
            </a:r>
          </a:p>
        </p:txBody>
      </p:sp>
      <p:sp>
        <p:nvSpPr>
          <p:cNvPr id="11" name="Rectangle 10"/>
          <p:cNvSpPr/>
          <p:nvPr/>
        </p:nvSpPr>
        <p:spPr>
          <a:xfrm>
            <a:off x="6172200" y="178308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1783080"/>
            <a:ext cx="91440" cy="13258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8232" y="1892808"/>
            <a:ext cx="4782312" cy="320040"/>
          </a:xfrm>
          <a:prstGeom prst="rect">
            <a:avLst/>
          </a:prstGeom>
          <a:noFill/>
        </p:spPr>
        <p:txBody>
          <a:bodyPr wrap="square" anchor="t">
            <a:spAutoFit/>
          </a:bodyPr>
          <a:lstStyle/>
          <a:p>
            <a:pPr algn="l">
              <a:spcAft>
                <a:spcPts val="400"/>
              </a:spcAft>
            </a:pPr>
            <a:r>
              <a:rPr sz="1150" b="1">
                <a:solidFill>
                  <a:srgbClr val="C0392B"/>
                </a:solidFill>
                <a:latin typeface="Arial"/>
              </a:rPr>
              <a:t>WHY IT MATTERS</a:t>
            </a:r>
          </a:p>
        </p:txBody>
      </p:sp>
      <p:sp>
        <p:nvSpPr>
          <p:cNvPr id="14" name="TextBox 13"/>
          <p:cNvSpPr txBox="1"/>
          <p:nvPr/>
        </p:nvSpPr>
        <p:spPr>
          <a:xfrm>
            <a:off x="6428232" y="222199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Least privilege limits the blast radius of any compromised credential or mistaken policy to exactly what was needed.</a:t>
            </a:r>
          </a:p>
        </p:txBody>
      </p:sp>
      <p:sp>
        <p:nvSpPr>
          <p:cNvPr id="15" name="Rectangle 14"/>
          <p:cNvSpPr/>
          <p:nvPr/>
        </p:nvSpPr>
        <p:spPr>
          <a:xfrm>
            <a:off x="6172200" y="324612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3246120"/>
            <a:ext cx="91440" cy="13258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8232" y="3355848"/>
            <a:ext cx="4782312" cy="320040"/>
          </a:xfrm>
          <a:prstGeom prst="rect">
            <a:avLst/>
          </a:prstGeom>
          <a:noFill/>
        </p:spPr>
        <p:txBody>
          <a:bodyPr wrap="square" anchor="t">
            <a:spAutoFit/>
          </a:bodyPr>
          <a:lstStyle/>
          <a:p>
            <a:pPr algn="l">
              <a:spcAft>
                <a:spcPts val="400"/>
              </a:spcAft>
            </a:pPr>
            <a:r>
              <a:rPr sz="1150" b="1">
                <a:solidFill>
                  <a:srgbClr val="C0392B"/>
                </a:solidFill>
                <a:latin typeface="Arial"/>
              </a:rPr>
              <a:t>FAILURE MODE</a:t>
            </a:r>
          </a:p>
        </p:txBody>
      </p:sp>
      <p:sp>
        <p:nvSpPr>
          <p:cNvPr id="18" name="TextBox 17"/>
          <p:cNvSpPr txBox="1"/>
          <p:nvPr/>
        </p:nvSpPr>
        <p:spPr>
          <a:xfrm>
            <a:off x="6428232" y="368503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A wildcard 'Action: *' policy or shared long-lived keys turn one leaked secret into full account compromise.</a:t>
            </a:r>
          </a:p>
        </p:txBody>
      </p:sp>
      <p:sp>
        <p:nvSpPr>
          <p:cNvPr id="19" name="Rectangle 18"/>
          <p:cNvSpPr/>
          <p:nvPr/>
        </p:nvSpPr>
        <p:spPr>
          <a:xfrm>
            <a:off x="6172200" y="470916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2200" y="4709160"/>
            <a:ext cx="91440" cy="1325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28232" y="4818888"/>
            <a:ext cx="4782312" cy="320040"/>
          </a:xfrm>
          <a:prstGeom prst="rect">
            <a:avLst/>
          </a:prstGeom>
          <a:noFill/>
        </p:spPr>
        <p:txBody>
          <a:bodyPr wrap="square" anchor="t">
            <a:spAutoFit/>
          </a:bodyPr>
          <a:lstStyle/>
          <a:p>
            <a:pPr algn="l">
              <a:spcAft>
                <a:spcPts val="400"/>
              </a:spcAft>
            </a:pPr>
            <a:r>
              <a:rPr sz="1150" b="1">
                <a:solidFill>
                  <a:srgbClr val="F59E0B"/>
                </a:solidFill>
                <a:latin typeface="Arial"/>
              </a:rPr>
              <a:t>TRADE-OFF / DECISION</a:t>
            </a:r>
          </a:p>
        </p:txBody>
      </p:sp>
      <p:sp>
        <p:nvSpPr>
          <p:cNvPr id="22" name="TextBox 21"/>
          <p:cNvSpPr txBox="1"/>
          <p:nvPr/>
        </p:nvSpPr>
        <p:spPr>
          <a:xfrm>
            <a:off x="6428232" y="514807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Tight policies take more effort to author and maintain — Access Analyzer and policy generation reduce that cost.</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534</a:t>
            </a:r>
          </a:p>
        </p:txBody>
      </p:sp>
    </p:spTree>
  </p:cSld>
  <p:clrMapOvr>
    <a:masterClrMapping/>
  </p:clrMapOvr>
  <p:transition xmlns:p14="http://schemas.microsoft.com/office/powerpoint/2010/main" p14:dur="380">
    <p:fade/>
  </p:transition>
</p:sld>
</file>

<file path=ppt/slides/slide5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IN DEPTH</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Identity at scale — Identity Center, federation, SCPs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51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212080" cy="914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38528"/>
            <a:ext cx="4754880" cy="365760"/>
          </a:xfrm>
          <a:prstGeom prst="rect">
            <a:avLst/>
          </a:prstGeom>
          <a:noFill/>
        </p:spPr>
        <p:txBody>
          <a:bodyPr wrap="square" anchor="t">
            <a:spAutoFit/>
          </a:bodyPr>
          <a:lstStyle/>
          <a:p>
            <a:pPr algn="l">
              <a:spcAft>
                <a:spcPts val="400"/>
              </a:spcAft>
            </a:pPr>
            <a:r>
              <a:rPr sz="1200" b="1">
                <a:solidFill>
                  <a:srgbClr val="C0392B"/>
                </a:solidFill>
                <a:latin typeface="Arial"/>
              </a:rPr>
              <a:t>IN DEPTH</a:t>
            </a:r>
          </a:p>
        </p:txBody>
      </p:sp>
      <p:sp>
        <p:nvSpPr>
          <p:cNvPr id="10" name="TextBox 9"/>
          <p:cNvSpPr txBox="1"/>
          <p:nvPr/>
        </p:nvSpPr>
        <p:spPr>
          <a:xfrm>
            <a:off x="1005840" y="2377440"/>
            <a:ext cx="4754880" cy="3566160"/>
          </a:xfrm>
          <a:prstGeom prst="rect">
            <a:avLst/>
          </a:prstGeom>
          <a:noFill/>
        </p:spPr>
        <p:txBody>
          <a:bodyPr wrap="square">
            <a:spAutoFit/>
          </a:bodyPr>
          <a:lstStyle/>
          <a:p>
            <a:pPr>
              <a:spcAft>
                <a:spcPts val="800"/>
              </a:spcAft>
            </a:pPr>
            <a:r>
              <a:rPr sz="1350" b="0">
                <a:solidFill>
                  <a:srgbClr val="161B26"/>
                </a:solidFill>
                <a:latin typeface="Arial"/>
              </a:rPr>
              <a:t>•  IAM Identity Center centralises workforce access and single sign-on across many accounts.</a:t>
            </a:r>
          </a:p>
          <a:p>
            <a:pPr>
              <a:spcAft>
                <a:spcPts val="800"/>
              </a:spcAft>
            </a:pPr>
            <a:r>
              <a:rPr sz="1350" b="0">
                <a:solidFill>
                  <a:srgbClr val="161B26"/>
                </a:solidFill>
                <a:latin typeface="Arial"/>
              </a:rPr>
              <a:t>•  Federation lets your corporate identity provider issue temporary AWS access — no per-user IAM users.</a:t>
            </a:r>
          </a:p>
          <a:p>
            <a:pPr>
              <a:spcAft>
                <a:spcPts val="800"/>
              </a:spcAft>
            </a:pPr>
            <a:r>
              <a:rPr sz="1350" b="0">
                <a:solidFill>
                  <a:srgbClr val="161B26"/>
                </a:solidFill>
                <a:latin typeface="Arial"/>
              </a:rPr>
              <a:t>•  Service Control Policies set org-wide guardrails no account can exceed.</a:t>
            </a:r>
          </a:p>
        </p:txBody>
      </p:sp>
      <p:sp>
        <p:nvSpPr>
          <p:cNvPr id="11" name="Rectangle 10"/>
          <p:cNvSpPr/>
          <p:nvPr/>
        </p:nvSpPr>
        <p:spPr>
          <a:xfrm>
            <a:off x="6172200" y="178308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1783080"/>
            <a:ext cx="91440" cy="13258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8232" y="1892808"/>
            <a:ext cx="4782312" cy="320040"/>
          </a:xfrm>
          <a:prstGeom prst="rect">
            <a:avLst/>
          </a:prstGeom>
          <a:noFill/>
        </p:spPr>
        <p:txBody>
          <a:bodyPr wrap="square" anchor="t">
            <a:spAutoFit/>
          </a:bodyPr>
          <a:lstStyle/>
          <a:p>
            <a:pPr algn="l">
              <a:spcAft>
                <a:spcPts val="400"/>
              </a:spcAft>
            </a:pPr>
            <a:r>
              <a:rPr sz="1150" b="1">
                <a:solidFill>
                  <a:srgbClr val="C0392B"/>
                </a:solidFill>
                <a:latin typeface="Arial"/>
              </a:rPr>
              <a:t>WHY IT MATTERS</a:t>
            </a:r>
          </a:p>
        </p:txBody>
      </p:sp>
      <p:sp>
        <p:nvSpPr>
          <p:cNvPr id="14" name="TextBox 13"/>
          <p:cNvSpPr txBox="1"/>
          <p:nvPr/>
        </p:nvSpPr>
        <p:spPr>
          <a:xfrm>
            <a:off x="6428232" y="222199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Central identity plus org guardrails make access consistent, auditable and revocable across a whole organisation.</a:t>
            </a:r>
          </a:p>
        </p:txBody>
      </p:sp>
      <p:sp>
        <p:nvSpPr>
          <p:cNvPr id="15" name="Rectangle 14"/>
          <p:cNvSpPr/>
          <p:nvPr/>
        </p:nvSpPr>
        <p:spPr>
          <a:xfrm>
            <a:off x="6172200" y="324612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3246120"/>
            <a:ext cx="91440" cy="13258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8232" y="3355848"/>
            <a:ext cx="4782312" cy="320040"/>
          </a:xfrm>
          <a:prstGeom prst="rect">
            <a:avLst/>
          </a:prstGeom>
          <a:noFill/>
        </p:spPr>
        <p:txBody>
          <a:bodyPr wrap="square" anchor="t">
            <a:spAutoFit/>
          </a:bodyPr>
          <a:lstStyle/>
          <a:p>
            <a:pPr algn="l">
              <a:spcAft>
                <a:spcPts val="400"/>
              </a:spcAft>
            </a:pPr>
            <a:r>
              <a:rPr sz="1150" b="1">
                <a:solidFill>
                  <a:srgbClr val="C0392B"/>
                </a:solidFill>
                <a:latin typeface="Arial"/>
              </a:rPr>
              <a:t>FAILURE MODE</a:t>
            </a:r>
          </a:p>
        </p:txBody>
      </p:sp>
      <p:sp>
        <p:nvSpPr>
          <p:cNvPr id="18" name="TextBox 17"/>
          <p:cNvSpPr txBox="1"/>
          <p:nvPr/>
        </p:nvSpPr>
        <p:spPr>
          <a:xfrm>
            <a:off x="6428232" y="368503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Per-account IAM users multiply credentials to rotate and audit and inevitably drift out of least privilege.</a:t>
            </a:r>
          </a:p>
        </p:txBody>
      </p:sp>
      <p:sp>
        <p:nvSpPr>
          <p:cNvPr id="19" name="Rectangle 18"/>
          <p:cNvSpPr/>
          <p:nvPr/>
        </p:nvSpPr>
        <p:spPr>
          <a:xfrm>
            <a:off x="6172200" y="470916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2200" y="4709160"/>
            <a:ext cx="91440" cy="1325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28232" y="4818888"/>
            <a:ext cx="4782312" cy="320040"/>
          </a:xfrm>
          <a:prstGeom prst="rect">
            <a:avLst/>
          </a:prstGeom>
          <a:noFill/>
        </p:spPr>
        <p:txBody>
          <a:bodyPr wrap="square" anchor="t">
            <a:spAutoFit/>
          </a:bodyPr>
          <a:lstStyle/>
          <a:p>
            <a:pPr algn="l">
              <a:spcAft>
                <a:spcPts val="400"/>
              </a:spcAft>
            </a:pPr>
            <a:r>
              <a:rPr sz="1150" b="1">
                <a:solidFill>
                  <a:srgbClr val="F59E0B"/>
                </a:solidFill>
                <a:latin typeface="Arial"/>
              </a:rPr>
              <a:t>TRADE-OFF / DECISION</a:t>
            </a:r>
          </a:p>
        </p:txBody>
      </p:sp>
      <p:sp>
        <p:nvSpPr>
          <p:cNvPr id="22" name="TextBox 21"/>
          <p:cNvSpPr txBox="1"/>
          <p:nvPr/>
        </p:nvSpPr>
        <p:spPr>
          <a:xfrm>
            <a:off x="6428232" y="514807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Central control needs governance so it doesn't become a bottleneck for teams needing new access.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535</a:t>
            </a:r>
          </a:p>
        </p:txBody>
      </p:sp>
    </p:spTree>
  </p:cSld>
  <p:clrMapOvr>
    <a:masterClrMapping/>
  </p:clrMapOvr>
  <p:transition xmlns:p14="http://schemas.microsoft.com/office/powerpoint/2010/main" p14:dur="380">
    <p:fade/>
  </p:transition>
</p:sld>
</file>

<file path=ppt/slides/slide5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IN DEPTH</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Data protection — encryption and secrets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51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212080" cy="914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38528"/>
            <a:ext cx="4754880" cy="365760"/>
          </a:xfrm>
          <a:prstGeom prst="rect">
            <a:avLst/>
          </a:prstGeom>
          <a:noFill/>
        </p:spPr>
        <p:txBody>
          <a:bodyPr wrap="square" anchor="t">
            <a:spAutoFit/>
          </a:bodyPr>
          <a:lstStyle/>
          <a:p>
            <a:pPr algn="l">
              <a:spcAft>
                <a:spcPts val="400"/>
              </a:spcAft>
            </a:pPr>
            <a:r>
              <a:rPr sz="1200" b="1">
                <a:solidFill>
                  <a:srgbClr val="C0392B"/>
                </a:solidFill>
                <a:latin typeface="Arial"/>
              </a:rPr>
              <a:t>IN DEPTH</a:t>
            </a:r>
          </a:p>
        </p:txBody>
      </p:sp>
      <p:sp>
        <p:nvSpPr>
          <p:cNvPr id="10" name="TextBox 9"/>
          <p:cNvSpPr txBox="1"/>
          <p:nvPr/>
        </p:nvSpPr>
        <p:spPr>
          <a:xfrm>
            <a:off x="1005840" y="2377440"/>
            <a:ext cx="4754880" cy="3566160"/>
          </a:xfrm>
          <a:prstGeom prst="rect">
            <a:avLst/>
          </a:prstGeom>
          <a:noFill/>
        </p:spPr>
        <p:txBody>
          <a:bodyPr wrap="square">
            <a:spAutoFit/>
          </a:bodyPr>
          <a:lstStyle/>
          <a:p>
            <a:pPr>
              <a:spcAft>
                <a:spcPts val="800"/>
              </a:spcAft>
            </a:pPr>
            <a:r>
              <a:rPr sz="1350" b="0">
                <a:solidFill>
                  <a:srgbClr val="161B26"/>
                </a:solidFill>
                <a:latin typeface="Arial"/>
              </a:rPr>
              <a:t>•  KMS manages encryption keys and key policies for data at rest across S3, EBS, RDS and DynamoDB; TLS protects data in transit.</a:t>
            </a:r>
          </a:p>
          <a:p>
            <a:pPr>
              <a:spcAft>
                <a:spcPts val="800"/>
              </a:spcAft>
            </a:pPr>
            <a:r>
              <a:rPr sz="1350" b="0">
                <a:solidFill>
                  <a:srgbClr val="161B26"/>
                </a:solidFill>
                <a:latin typeface="Arial"/>
              </a:rPr>
              <a:t>•  Secrets Manager stores and rotates credentials; S3 Block Public Access prevents accidental exposure.</a:t>
            </a:r>
          </a:p>
          <a:p>
            <a:pPr>
              <a:spcAft>
                <a:spcPts val="800"/>
              </a:spcAft>
            </a:pPr>
            <a:r>
              <a:rPr sz="1350" b="0">
                <a:solidFill>
                  <a:srgbClr val="161B26"/>
                </a:solidFill>
                <a:latin typeface="Arial"/>
              </a:rPr>
              <a:t>•  Envelope encryption and key policies control exactly who can use which key.</a:t>
            </a:r>
          </a:p>
        </p:txBody>
      </p:sp>
      <p:sp>
        <p:nvSpPr>
          <p:cNvPr id="11" name="Rectangle 10"/>
          <p:cNvSpPr/>
          <p:nvPr/>
        </p:nvSpPr>
        <p:spPr>
          <a:xfrm>
            <a:off x="6172200" y="178308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1783080"/>
            <a:ext cx="91440" cy="13258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8232" y="1892808"/>
            <a:ext cx="4782312" cy="320040"/>
          </a:xfrm>
          <a:prstGeom prst="rect">
            <a:avLst/>
          </a:prstGeom>
          <a:noFill/>
        </p:spPr>
        <p:txBody>
          <a:bodyPr wrap="square" anchor="t">
            <a:spAutoFit/>
          </a:bodyPr>
          <a:lstStyle/>
          <a:p>
            <a:pPr algn="l">
              <a:spcAft>
                <a:spcPts val="400"/>
              </a:spcAft>
            </a:pPr>
            <a:r>
              <a:rPr sz="1150" b="1">
                <a:solidFill>
                  <a:srgbClr val="C0392B"/>
                </a:solidFill>
                <a:latin typeface="Arial"/>
              </a:rPr>
              <a:t>WHY IT MATTERS</a:t>
            </a:r>
          </a:p>
        </p:txBody>
      </p:sp>
      <p:sp>
        <p:nvSpPr>
          <p:cNvPr id="14" name="TextBox 13"/>
          <p:cNvSpPr txBox="1"/>
          <p:nvPr/>
        </p:nvSpPr>
        <p:spPr>
          <a:xfrm>
            <a:off x="6428232" y="222199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Encrypting everywhere and centralising key and secret governance protect data even if another control fails.</a:t>
            </a:r>
          </a:p>
        </p:txBody>
      </p:sp>
      <p:sp>
        <p:nvSpPr>
          <p:cNvPr id="15" name="Rectangle 14"/>
          <p:cNvSpPr/>
          <p:nvPr/>
        </p:nvSpPr>
        <p:spPr>
          <a:xfrm>
            <a:off x="6172200" y="324612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3246120"/>
            <a:ext cx="91440" cy="13258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8232" y="3355848"/>
            <a:ext cx="4782312" cy="320040"/>
          </a:xfrm>
          <a:prstGeom prst="rect">
            <a:avLst/>
          </a:prstGeom>
          <a:noFill/>
        </p:spPr>
        <p:txBody>
          <a:bodyPr wrap="square" anchor="t">
            <a:spAutoFit/>
          </a:bodyPr>
          <a:lstStyle/>
          <a:p>
            <a:pPr algn="l">
              <a:spcAft>
                <a:spcPts val="400"/>
              </a:spcAft>
            </a:pPr>
            <a:r>
              <a:rPr sz="1150" b="1">
                <a:solidFill>
                  <a:srgbClr val="C0392B"/>
                </a:solidFill>
                <a:latin typeface="Arial"/>
              </a:rPr>
              <a:t>FAILURE MODE</a:t>
            </a:r>
          </a:p>
        </p:txBody>
      </p:sp>
      <p:sp>
        <p:nvSpPr>
          <p:cNvPr id="18" name="TextBox 17"/>
          <p:cNvSpPr txBox="1"/>
          <p:nvPr/>
        </p:nvSpPr>
        <p:spPr>
          <a:xfrm>
            <a:off x="6428232" y="368503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An unencrypted volume or a public bucket exposes data regardless of how strong the network perimeter is.</a:t>
            </a:r>
          </a:p>
        </p:txBody>
      </p:sp>
      <p:sp>
        <p:nvSpPr>
          <p:cNvPr id="19" name="Rectangle 18"/>
          <p:cNvSpPr/>
          <p:nvPr/>
        </p:nvSpPr>
        <p:spPr>
          <a:xfrm>
            <a:off x="6172200" y="470916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2200" y="4709160"/>
            <a:ext cx="91440" cy="1325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28232" y="4818888"/>
            <a:ext cx="4782312" cy="320040"/>
          </a:xfrm>
          <a:prstGeom prst="rect">
            <a:avLst/>
          </a:prstGeom>
          <a:noFill/>
        </p:spPr>
        <p:txBody>
          <a:bodyPr wrap="square" anchor="t">
            <a:spAutoFit/>
          </a:bodyPr>
          <a:lstStyle/>
          <a:p>
            <a:pPr algn="l">
              <a:spcAft>
                <a:spcPts val="400"/>
              </a:spcAft>
            </a:pPr>
            <a:r>
              <a:rPr sz="1150" b="1">
                <a:solidFill>
                  <a:srgbClr val="F59E0B"/>
                </a:solidFill>
                <a:latin typeface="Arial"/>
              </a:rPr>
              <a:t>TRADE-OFF / DECISION</a:t>
            </a:r>
          </a:p>
        </p:txBody>
      </p:sp>
      <p:sp>
        <p:nvSpPr>
          <p:cNvPr id="22" name="TextBox 21"/>
          <p:cNvSpPr txBox="1"/>
          <p:nvPr/>
        </p:nvSpPr>
        <p:spPr>
          <a:xfrm>
            <a:off x="6428232" y="514807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Customer-managed keys give control and auditability but add key-management responsibility and cost.</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536</a:t>
            </a:r>
          </a:p>
        </p:txBody>
      </p:sp>
    </p:spTree>
  </p:cSld>
  <p:clrMapOvr>
    <a:masterClrMapping/>
  </p:clrMapOvr>
  <p:transition xmlns:p14="http://schemas.microsoft.com/office/powerpoint/2010/main" p14:dur="380">
    <p:fade/>
  </p:transition>
</p:sld>
</file>

<file path=ppt/slides/slide5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IN DEPTH</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Detective controls — the audit trail</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51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212080" cy="914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38528"/>
            <a:ext cx="4754880" cy="365760"/>
          </a:xfrm>
          <a:prstGeom prst="rect">
            <a:avLst/>
          </a:prstGeom>
          <a:noFill/>
        </p:spPr>
        <p:txBody>
          <a:bodyPr wrap="square" anchor="t">
            <a:spAutoFit/>
          </a:bodyPr>
          <a:lstStyle/>
          <a:p>
            <a:pPr algn="l">
              <a:spcAft>
                <a:spcPts val="400"/>
              </a:spcAft>
            </a:pPr>
            <a:r>
              <a:rPr sz="1200" b="1">
                <a:solidFill>
                  <a:srgbClr val="C0392B"/>
                </a:solidFill>
                <a:latin typeface="Arial"/>
              </a:rPr>
              <a:t>IN DEPTH</a:t>
            </a:r>
          </a:p>
        </p:txBody>
      </p:sp>
      <p:sp>
        <p:nvSpPr>
          <p:cNvPr id="10" name="TextBox 9"/>
          <p:cNvSpPr txBox="1"/>
          <p:nvPr/>
        </p:nvSpPr>
        <p:spPr>
          <a:xfrm>
            <a:off x="1005840" y="2377440"/>
            <a:ext cx="4754880" cy="3566160"/>
          </a:xfrm>
          <a:prstGeom prst="rect">
            <a:avLst/>
          </a:prstGeom>
          <a:noFill/>
        </p:spPr>
        <p:txBody>
          <a:bodyPr wrap="square">
            <a:spAutoFit/>
          </a:bodyPr>
          <a:lstStyle/>
          <a:p>
            <a:pPr>
              <a:spcAft>
                <a:spcPts val="800"/>
              </a:spcAft>
            </a:pPr>
            <a:r>
              <a:rPr sz="1350" b="0">
                <a:solidFill>
                  <a:srgbClr val="161B26"/>
                </a:solidFill>
                <a:latin typeface="Arial"/>
              </a:rPr>
              <a:t>•  CloudTrail records every API call for audit and forensics; AWS Config tracks configuration state over time.</a:t>
            </a:r>
          </a:p>
          <a:p>
            <a:pPr>
              <a:spcAft>
                <a:spcPts val="800"/>
              </a:spcAft>
            </a:pPr>
            <a:r>
              <a:rPr sz="1350" b="0">
                <a:solidFill>
                  <a:srgbClr val="161B26"/>
                </a:solidFill>
                <a:latin typeface="Arial"/>
              </a:rPr>
              <a:t>•  GuardDuty applies ML threat detection to logs and network flows; Security Hub aggregates and scores findings.</a:t>
            </a:r>
          </a:p>
          <a:p>
            <a:pPr>
              <a:spcAft>
                <a:spcPts val="800"/>
              </a:spcAft>
            </a:pPr>
            <a:r>
              <a:rPr sz="1350" b="0">
                <a:solidFill>
                  <a:srgbClr val="161B26"/>
                </a:solidFill>
                <a:latin typeface="Arial"/>
              </a:rPr>
              <a:t>•  Together they answer 'what happened, when, by whom, and are we compliant?'</a:t>
            </a:r>
          </a:p>
        </p:txBody>
      </p:sp>
      <p:sp>
        <p:nvSpPr>
          <p:cNvPr id="11" name="Rectangle 10"/>
          <p:cNvSpPr/>
          <p:nvPr/>
        </p:nvSpPr>
        <p:spPr>
          <a:xfrm>
            <a:off x="6172200" y="178308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1783080"/>
            <a:ext cx="91440" cy="13258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8232" y="1892808"/>
            <a:ext cx="4782312" cy="320040"/>
          </a:xfrm>
          <a:prstGeom prst="rect">
            <a:avLst/>
          </a:prstGeom>
          <a:noFill/>
        </p:spPr>
        <p:txBody>
          <a:bodyPr wrap="square" anchor="t">
            <a:spAutoFit/>
          </a:bodyPr>
          <a:lstStyle/>
          <a:p>
            <a:pPr algn="l">
              <a:spcAft>
                <a:spcPts val="400"/>
              </a:spcAft>
            </a:pPr>
            <a:r>
              <a:rPr sz="1150" b="1">
                <a:solidFill>
                  <a:srgbClr val="C0392B"/>
                </a:solidFill>
                <a:latin typeface="Arial"/>
              </a:rPr>
              <a:t>WHY IT MATTERS</a:t>
            </a:r>
          </a:p>
        </p:txBody>
      </p:sp>
      <p:sp>
        <p:nvSpPr>
          <p:cNvPr id="14" name="TextBox 13"/>
          <p:cNvSpPr txBox="1"/>
          <p:nvPr/>
        </p:nvSpPr>
        <p:spPr>
          <a:xfrm>
            <a:off x="6428232" y="222199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Detective controls provide the evidence for incident forensics, audits and continuous compliance scoring.</a:t>
            </a:r>
          </a:p>
        </p:txBody>
      </p:sp>
      <p:sp>
        <p:nvSpPr>
          <p:cNvPr id="15" name="Rectangle 14"/>
          <p:cNvSpPr/>
          <p:nvPr/>
        </p:nvSpPr>
        <p:spPr>
          <a:xfrm>
            <a:off x="6172200" y="324612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3246120"/>
            <a:ext cx="91440" cy="13258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8232" y="3355848"/>
            <a:ext cx="4782312" cy="320040"/>
          </a:xfrm>
          <a:prstGeom prst="rect">
            <a:avLst/>
          </a:prstGeom>
          <a:noFill/>
        </p:spPr>
        <p:txBody>
          <a:bodyPr wrap="square" anchor="t">
            <a:spAutoFit/>
          </a:bodyPr>
          <a:lstStyle/>
          <a:p>
            <a:pPr algn="l">
              <a:spcAft>
                <a:spcPts val="400"/>
              </a:spcAft>
            </a:pPr>
            <a:r>
              <a:rPr sz="1150" b="1">
                <a:solidFill>
                  <a:srgbClr val="C0392B"/>
                </a:solidFill>
                <a:latin typeface="Arial"/>
              </a:rPr>
              <a:t>FAILURE MODE</a:t>
            </a:r>
          </a:p>
        </p:txBody>
      </p:sp>
      <p:sp>
        <p:nvSpPr>
          <p:cNvPr id="18" name="TextBox 17"/>
          <p:cNvSpPr txBox="1"/>
          <p:nvPr/>
        </p:nvSpPr>
        <p:spPr>
          <a:xfrm>
            <a:off x="6428232" y="368503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No CloudTrail (or a trail without log-file validation) means an incident can't be reconstructed and audits fail.</a:t>
            </a:r>
          </a:p>
        </p:txBody>
      </p:sp>
      <p:sp>
        <p:nvSpPr>
          <p:cNvPr id="19" name="Rectangle 18"/>
          <p:cNvSpPr/>
          <p:nvPr/>
        </p:nvSpPr>
        <p:spPr>
          <a:xfrm>
            <a:off x="6172200" y="470916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2200" y="4709160"/>
            <a:ext cx="91440" cy="1325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28232" y="4818888"/>
            <a:ext cx="4782312" cy="320040"/>
          </a:xfrm>
          <a:prstGeom prst="rect">
            <a:avLst/>
          </a:prstGeom>
          <a:noFill/>
        </p:spPr>
        <p:txBody>
          <a:bodyPr wrap="square" anchor="t">
            <a:spAutoFit/>
          </a:bodyPr>
          <a:lstStyle/>
          <a:p>
            <a:pPr algn="l">
              <a:spcAft>
                <a:spcPts val="400"/>
              </a:spcAft>
            </a:pPr>
            <a:r>
              <a:rPr sz="1150" b="1">
                <a:solidFill>
                  <a:srgbClr val="F59E0B"/>
                </a:solidFill>
                <a:latin typeface="Arial"/>
              </a:rPr>
              <a:t>TRADE-OFF / DECISION</a:t>
            </a:r>
          </a:p>
        </p:txBody>
      </p:sp>
      <p:sp>
        <p:nvSpPr>
          <p:cNvPr id="22" name="TextBox 21"/>
          <p:cNvSpPr txBox="1"/>
          <p:nvPr/>
        </p:nvSpPr>
        <p:spPr>
          <a:xfrm>
            <a:off x="6428232" y="514807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Full logging and threat detection cost money and generate findings to triage — tune and prioritise by severity.</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537</a:t>
            </a:r>
          </a:p>
        </p:txBody>
      </p:sp>
    </p:spTree>
  </p:cSld>
  <p:clrMapOvr>
    <a:masterClrMapping/>
  </p:clrMapOvr>
  <p:transition xmlns:p14="http://schemas.microsoft.com/office/powerpoint/2010/main" p14:dur="380">
    <p:fade/>
  </p:transition>
</p:sld>
</file>

<file path=ppt/slides/slide5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IN DEPTH</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500" b="1">
                <a:solidFill>
                  <a:srgbClr val="161B26"/>
                </a:solidFill>
                <a:latin typeface="Arial"/>
              </a:rPr>
              <a:t>Automated compliance — Config rules and conformance packs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51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212080" cy="914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38528"/>
            <a:ext cx="4754880" cy="365760"/>
          </a:xfrm>
          <a:prstGeom prst="rect">
            <a:avLst/>
          </a:prstGeom>
          <a:noFill/>
        </p:spPr>
        <p:txBody>
          <a:bodyPr wrap="square" anchor="t">
            <a:spAutoFit/>
          </a:bodyPr>
          <a:lstStyle/>
          <a:p>
            <a:pPr algn="l">
              <a:spcAft>
                <a:spcPts val="400"/>
              </a:spcAft>
            </a:pPr>
            <a:r>
              <a:rPr sz="1200" b="1">
                <a:solidFill>
                  <a:srgbClr val="C0392B"/>
                </a:solidFill>
                <a:latin typeface="Arial"/>
              </a:rPr>
              <a:t>IN DEPTH</a:t>
            </a:r>
          </a:p>
        </p:txBody>
      </p:sp>
      <p:sp>
        <p:nvSpPr>
          <p:cNvPr id="10" name="TextBox 9"/>
          <p:cNvSpPr txBox="1"/>
          <p:nvPr/>
        </p:nvSpPr>
        <p:spPr>
          <a:xfrm>
            <a:off x="1005840" y="2377440"/>
            <a:ext cx="4754880" cy="3566160"/>
          </a:xfrm>
          <a:prstGeom prst="rect">
            <a:avLst/>
          </a:prstGeom>
          <a:noFill/>
        </p:spPr>
        <p:txBody>
          <a:bodyPr wrap="square">
            <a:spAutoFit/>
          </a:bodyPr>
          <a:lstStyle/>
          <a:p>
            <a:pPr>
              <a:spcAft>
                <a:spcPts val="800"/>
              </a:spcAft>
            </a:pPr>
            <a:r>
              <a:rPr sz="1350" b="0">
                <a:solidFill>
                  <a:srgbClr val="161B26"/>
                </a:solidFill>
                <a:latin typeface="Arial"/>
              </a:rPr>
              <a:t>•  Config rules continuously evaluate resources against a technical blueprint (managed or custom rules).</a:t>
            </a:r>
          </a:p>
          <a:p>
            <a:pPr>
              <a:spcAft>
                <a:spcPts val="800"/>
              </a:spcAft>
            </a:pPr>
            <a:r>
              <a:rPr sz="1350" b="0">
                <a:solidFill>
                  <a:srgbClr val="161B26"/>
                </a:solidFill>
                <a:latin typeface="Arial"/>
              </a:rPr>
              <a:t>•  Conformance packs bundle rules and remediations to a standard (e.g. CIS, PCI) and deploy org-wide.</a:t>
            </a:r>
          </a:p>
          <a:p>
            <a:pPr>
              <a:spcAft>
                <a:spcPts val="800"/>
              </a:spcAft>
            </a:pPr>
            <a:r>
              <a:rPr sz="1350" b="0">
                <a:solidFill>
                  <a:srgbClr val="161B26"/>
                </a:solidFill>
                <a:latin typeface="Arial"/>
              </a:rPr>
              <a:t>•  Non-compliant resources are flagged and can be auto-remediated.</a:t>
            </a:r>
          </a:p>
        </p:txBody>
      </p:sp>
      <p:sp>
        <p:nvSpPr>
          <p:cNvPr id="11" name="Rectangle 10"/>
          <p:cNvSpPr/>
          <p:nvPr/>
        </p:nvSpPr>
        <p:spPr>
          <a:xfrm>
            <a:off x="6172200" y="178308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1783080"/>
            <a:ext cx="91440" cy="13258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8232" y="1892808"/>
            <a:ext cx="4782312" cy="320040"/>
          </a:xfrm>
          <a:prstGeom prst="rect">
            <a:avLst/>
          </a:prstGeom>
          <a:noFill/>
        </p:spPr>
        <p:txBody>
          <a:bodyPr wrap="square" anchor="t">
            <a:spAutoFit/>
          </a:bodyPr>
          <a:lstStyle/>
          <a:p>
            <a:pPr algn="l">
              <a:spcAft>
                <a:spcPts val="400"/>
              </a:spcAft>
            </a:pPr>
            <a:r>
              <a:rPr sz="1150" b="1">
                <a:solidFill>
                  <a:srgbClr val="C0392B"/>
                </a:solidFill>
                <a:latin typeface="Arial"/>
              </a:rPr>
              <a:t>WHY IT MATTERS</a:t>
            </a:r>
          </a:p>
        </p:txBody>
      </p:sp>
      <p:sp>
        <p:nvSpPr>
          <p:cNvPr id="14" name="TextBox 13"/>
          <p:cNvSpPr txBox="1"/>
          <p:nvPr/>
        </p:nvSpPr>
        <p:spPr>
          <a:xfrm>
            <a:off x="6428232" y="222199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Continuous, codified compliance replaces point-in-time audits with always-on assurance and evidence.</a:t>
            </a:r>
          </a:p>
        </p:txBody>
      </p:sp>
      <p:sp>
        <p:nvSpPr>
          <p:cNvPr id="15" name="Rectangle 14"/>
          <p:cNvSpPr/>
          <p:nvPr/>
        </p:nvSpPr>
        <p:spPr>
          <a:xfrm>
            <a:off x="6172200" y="324612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3246120"/>
            <a:ext cx="91440" cy="13258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8232" y="3355848"/>
            <a:ext cx="4782312" cy="320040"/>
          </a:xfrm>
          <a:prstGeom prst="rect">
            <a:avLst/>
          </a:prstGeom>
          <a:noFill/>
        </p:spPr>
        <p:txBody>
          <a:bodyPr wrap="square" anchor="t">
            <a:spAutoFit/>
          </a:bodyPr>
          <a:lstStyle/>
          <a:p>
            <a:pPr algn="l">
              <a:spcAft>
                <a:spcPts val="400"/>
              </a:spcAft>
            </a:pPr>
            <a:r>
              <a:rPr sz="1150" b="1">
                <a:solidFill>
                  <a:srgbClr val="C0392B"/>
                </a:solidFill>
                <a:latin typeface="Arial"/>
              </a:rPr>
              <a:t>FAILURE MODE</a:t>
            </a:r>
          </a:p>
        </p:txBody>
      </p:sp>
      <p:sp>
        <p:nvSpPr>
          <p:cNvPr id="18" name="TextBox 17"/>
          <p:cNvSpPr txBox="1"/>
          <p:nvPr/>
        </p:nvSpPr>
        <p:spPr>
          <a:xfrm>
            <a:off x="6428232" y="368503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Manual quarterly audits miss the days-to-weeks a resource sits non-compliant between checks.</a:t>
            </a:r>
          </a:p>
        </p:txBody>
      </p:sp>
      <p:sp>
        <p:nvSpPr>
          <p:cNvPr id="19" name="Rectangle 18"/>
          <p:cNvSpPr/>
          <p:nvPr/>
        </p:nvSpPr>
        <p:spPr>
          <a:xfrm>
            <a:off x="6172200" y="470916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2200" y="4709160"/>
            <a:ext cx="91440" cy="1325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28232" y="4818888"/>
            <a:ext cx="4782312" cy="320040"/>
          </a:xfrm>
          <a:prstGeom prst="rect">
            <a:avLst/>
          </a:prstGeom>
          <a:noFill/>
        </p:spPr>
        <p:txBody>
          <a:bodyPr wrap="square" anchor="t">
            <a:spAutoFit/>
          </a:bodyPr>
          <a:lstStyle/>
          <a:p>
            <a:pPr algn="l">
              <a:spcAft>
                <a:spcPts val="400"/>
              </a:spcAft>
            </a:pPr>
            <a:r>
              <a:rPr sz="1150" b="1">
                <a:solidFill>
                  <a:srgbClr val="F59E0B"/>
                </a:solidFill>
                <a:latin typeface="Arial"/>
              </a:rPr>
              <a:t>TRADE-OFF / DECISION</a:t>
            </a:r>
          </a:p>
        </p:txBody>
      </p:sp>
      <p:sp>
        <p:nvSpPr>
          <p:cNvPr id="22" name="TextBox 21"/>
          <p:cNvSpPr txBox="1"/>
          <p:nvPr/>
        </p:nvSpPr>
        <p:spPr>
          <a:xfrm>
            <a:off x="6428232" y="514807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Strict conformance packs improve posture but can generate noise — phase in rules and remediations.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538</a:t>
            </a:r>
          </a:p>
        </p:txBody>
      </p:sp>
    </p:spTree>
  </p:cSld>
  <p:clrMapOvr>
    <a:masterClrMapping/>
  </p:clrMapOvr>
  <p:transition xmlns:p14="http://schemas.microsoft.com/office/powerpoint/2010/main" p14:dur="380">
    <p:fade/>
  </p:transition>
</p:sld>
</file>

<file path=ppt/slides/slide5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IN DEPTH</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Preventive controls and defence in depth</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51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212080" cy="914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38528"/>
            <a:ext cx="4754880" cy="365760"/>
          </a:xfrm>
          <a:prstGeom prst="rect">
            <a:avLst/>
          </a:prstGeom>
          <a:noFill/>
        </p:spPr>
        <p:txBody>
          <a:bodyPr wrap="square" anchor="t">
            <a:spAutoFit/>
          </a:bodyPr>
          <a:lstStyle/>
          <a:p>
            <a:pPr algn="l">
              <a:spcAft>
                <a:spcPts val="400"/>
              </a:spcAft>
            </a:pPr>
            <a:r>
              <a:rPr sz="1200" b="1">
                <a:solidFill>
                  <a:srgbClr val="C0392B"/>
                </a:solidFill>
                <a:latin typeface="Arial"/>
              </a:rPr>
              <a:t>IN DEPTH</a:t>
            </a:r>
          </a:p>
        </p:txBody>
      </p:sp>
      <p:sp>
        <p:nvSpPr>
          <p:cNvPr id="10" name="TextBox 9"/>
          <p:cNvSpPr txBox="1"/>
          <p:nvPr/>
        </p:nvSpPr>
        <p:spPr>
          <a:xfrm>
            <a:off x="1005840" y="2377440"/>
            <a:ext cx="4754880" cy="3566160"/>
          </a:xfrm>
          <a:prstGeom prst="rect">
            <a:avLst/>
          </a:prstGeom>
          <a:noFill/>
        </p:spPr>
        <p:txBody>
          <a:bodyPr wrap="square">
            <a:spAutoFit/>
          </a:bodyPr>
          <a:lstStyle/>
          <a:p>
            <a:pPr>
              <a:spcAft>
                <a:spcPts val="800"/>
              </a:spcAft>
            </a:pPr>
            <a:r>
              <a:rPr sz="1350" b="0">
                <a:solidFill>
                  <a:srgbClr val="161B26"/>
                </a:solidFill>
                <a:latin typeface="Arial"/>
              </a:rPr>
              <a:t>•  Security groups and network ACLs, WAF, and least-privilege policies stop bad requests before they reach resources.</a:t>
            </a:r>
          </a:p>
          <a:p>
            <a:pPr>
              <a:spcAft>
                <a:spcPts val="800"/>
              </a:spcAft>
            </a:pPr>
            <a:r>
              <a:rPr sz="1350" b="0">
                <a:solidFill>
                  <a:srgbClr val="161B26"/>
                </a:solidFill>
                <a:latin typeface="Arial"/>
              </a:rPr>
              <a:t>•  SCPs prevent whole classes of action org-wide; VPC design limits lateral movement.</a:t>
            </a:r>
          </a:p>
          <a:p>
            <a:pPr>
              <a:spcAft>
                <a:spcPts val="800"/>
              </a:spcAft>
            </a:pPr>
            <a:r>
              <a:rPr sz="1350" b="0">
                <a:solidFill>
                  <a:srgbClr val="161B26"/>
                </a:solidFill>
                <a:latin typeface="Arial"/>
              </a:rPr>
              <a:t>•  Layered controls mean no single failure exposes the system.</a:t>
            </a:r>
          </a:p>
        </p:txBody>
      </p:sp>
      <p:sp>
        <p:nvSpPr>
          <p:cNvPr id="11" name="Rectangle 10"/>
          <p:cNvSpPr/>
          <p:nvPr/>
        </p:nvSpPr>
        <p:spPr>
          <a:xfrm>
            <a:off x="6172200" y="178308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1783080"/>
            <a:ext cx="91440" cy="13258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8232" y="1892808"/>
            <a:ext cx="4782312" cy="320040"/>
          </a:xfrm>
          <a:prstGeom prst="rect">
            <a:avLst/>
          </a:prstGeom>
          <a:noFill/>
        </p:spPr>
        <p:txBody>
          <a:bodyPr wrap="square" anchor="t">
            <a:spAutoFit/>
          </a:bodyPr>
          <a:lstStyle/>
          <a:p>
            <a:pPr algn="l">
              <a:spcAft>
                <a:spcPts val="400"/>
              </a:spcAft>
            </a:pPr>
            <a:r>
              <a:rPr sz="1150" b="1">
                <a:solidFill>
                  <a:srgbClr val="C0392B"/>
                </a:solidFill>
                <a:latin typeface="Arial"/>
              </a:rPr>
              <a:t>WHY IT MATTERS</a:t>
            </a:r>
          </a:p>
        </p:txBody>
      </p:sp>
      <p:sp>
        <p:nvSpPr>
          <p:cNvPr id="14" name="TextBox 13"/>
          <p:cNvSpPr txBox="1"/>
          <p:nvPr/>
        </p:nvSpPr>
        <p:spPr>
          <a:xfrm>
            <a:off x="6428232" y="222199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Defence in depth ensures that when one layer fails — and layers do fail — others still protect the data.</a:t>
            </a:r>
          </a:p>
        </p:txBody>
      </p:sp>
      <p:sp>
        <p:nvSpPr>
          <p:cNvPr id="15" name="Rectangle 14"/>
          <p:cNvSpPr/>
          <p:nvPr/>
        </p:nvSpPr>
        <p:spPr>
          <a:xfrm>
            <a:off x="6172200" y="324612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3246120"/>
            <a:ext cx="91440" cy="13258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8232" y="3355848"/>
            <a:ext cx="4782312" cy="320040"/>
          </a:xfrm>
          <a:prstGeom prst="rect">
            <a:avLst/>
          </a:prstGeom>
          <a:noFill/>
        </p:spPr>
        <p:txBody>
          <a:bodyPr wrap="square" anchor="t">
            <a:spAutoFit/>
          </a:bodyPr>
          <a:lstStyle/>
          <a:p>
            <a:pPr algn="l">
              <a:spcAft>
                <a:spcPts val="400"/>
              </a:spcAft>
            </a:pPr>
            <a:r>
              <a:rPr sz="1150" b="1">
                <a:solidFill>
                  <a:srgbClr val="C0392B"/>
                </a:solidFill>
                <a:latin typeface="Arial"/>
              </a:rPr>
              <a:t>FAILURE MODE</a:t>
            </a:r>
          </a:p>
        </p:txBody>
      </p:sp>
      <p:sp>
        <p:nvSpPr>
          <p:cNvPr id="18" name="TextBox 17"/>
          <p:cNvSpPr txBox="1"/>
          <p:nvPr/>
        </p:nvSpPr>
        <p:spPr>
          <a:xfrm>
            <a:off x="6428232" y="368503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Relying on a single perimeter (a firewall) fails completely the moment that one control is bypassed.</a:t>
            </a:r>
          </a:p>
        </p:txBody>
      </p:sp>
      <p:sp>
        <p:nvSpPr>
          <p:cNvPr id="19" name="Rectangle 18"/>
          <p:cNvSpPr/>
          <p:nvPr/>
        </p:nvSpPr>
        <p:spPr>
          <a:xfrm>
            <a:off x="6172200" y="470916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2200" y="4709160"/>
            <a:ext cx="91440" cy="1325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28232" y="4818888"/>
            <a:ext cx="4782312" cy="320040"/>
          </a:xfrm>
          <a:prstGeom prst="rect">
            <a:avLst/>
          </a:prstGeom>
          <a:noFill/>
        </p:spPr>
        <p:txBody>
          <a:bodyPr wrap="square" anchor="t">
            <a:spAutoFit/>
          </a:bodyPr>
          <a:lstStyle/>
          <a:p>
            <a:pPr algn="l">
              <a:spcAft>
                <a:spcPts val="400"/>
              </a:spcAft>
            </a:pPr>
            <a:r>
              <a:rPr sz="1150" b="1">
                <a:solidFill>
                  <a:srgbClr val="F59E0B"/>
                </a:solidFill>
                <a:latin typeface="Arial"/>
              </a:rPr>
              <a:t>TRADE-OFF / DECISION</a:t>
            </a:r>
          </a:p>
        </p:txBody>
      </p:sp>
      <p:sp>
        <p:nvSpPr>
          <p:cNvPr id="22" name="TextBox 21"/>
          <p:cNvSpPr txBox="1"/>
          <p:nvPr/>
        </p:nvSpPr>
        <p:spPr>
          <a:xfrm>
            <a:off x="6428232" y="514807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More layers add complexity and can impede legitimate traffic — design them to be observable and testable.</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539</a:t>
            </a:r>
          </a:p>
        </p:txBody>
      </p:sp>
    </p:spTree>
  </p:cSld>
  <p:clrMapOvr>
    <a:masterClrMapping/>
  </p:clrMapOvr>
  <p:transition xmlns:p14="http://schemas.microsoft.com/office/powerpoint/2010/main" p14:dur="380">
    <p:fade/>
  </p:transition>
</p:sld>
</file>

<file path=ppt/slides/slide5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IN DEPTH</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Governance blueprint — landing zone and guardrails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51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212080" cy="914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38528"/>
            <a:ext cx="4754880" cy="365760"/>
          </a:xfrm>
          <a:prstGeom prst="rect">
            <a:avLst/>
          </a:prstGeom>
          <a:noFill/>
        </p:spPr>
        <p:txBody>
          <a:bodyPr wrap="square" anchor="t">
            <a:spAutoFit/>
          </a:bodyPr>
          <a:lstStyle/>
          <a:p>
            <a:pPr algn="l">
              <a:spcAft>
                <a:spcPts val="400"/>
              </a:spcAft>
            </a:pPr>
            <a:r>
              <a:rPr sz="1200" b="1">
                <a:solidFill>
                  <a:srgbClr val="C0392B"/>
                </a:solidFill>
                <a:latin typeface="Arial"/>
              </a:rPr>
              <a:t>IN DEPTH</a:t>
            </a:r>
          </a:p>
        </p:txBody>
      </p:sp>
      <p:sp>
        <p:nvSpPr>
          <p:cNvPr id="10" name="TextBox 9"/>
          <p:cNvSpPr txBox="1"/>
          <p:nvPr/>
        </p:nvSpPr>
        <p:spPr>
          <a:xfrm>
            <a:off x="1005840" y="2377440"/>
            <a:ext cx="4754880" cy="3566160"/>
          </a:xfrm>
          <a:prstGeom prst="rect">
            <a:avLst/>
          </a:prstGeom>
          <a:noFill/>
        </p:spPr>
        <p:txBody>
          <a:bodyPr wrap="square">
            <a:spAutoFit/>
          </a:bodyPr>
          <a:lstStyle/>
          <a:p>
            <a:pPr>
              <a:spcAft>
                <a:spcPts val="800"/>
              </a:spcAft>
            </a:pPr>
            <a:r>
              <a:rPr sz="1350" b="0">
                <a:solidFill>
                  <a:srgbClr val="161B26"/>
                </a:solidFill>
                <a:latin typeface="Arial"/>
              </a:rPr>
              <a:t>•  A landing zone (via Control Tower) gives a documented, auditable security and network baseline.</a:t>
            </a:r>
          </a:p>
          <a:p>
            <a:pPr>
              <a:spcAft>
                <a:spcPts val="800"/>
              </a:spcAft>
            </a:pPr>
            <a:r>
              <a:rPr sz="1350" b="0">
                <a:solidFill>
                  <a:srgbClr val="161B26"/>
                </a:solidFill>
                <a:latin typeface="Arial"/>
              </a:rPr>
              <a:t>•  Preventive guardrails (SCPs) and detective guardrails (Config rules) are applied to every account.</a:t>
            </a:r>
          </a:p>
          <a:p>
            <a:pPr>
              <a:spcAft>
                <a:spcPts val="800"/>
              </a:spcAft>
            </a:pPr>
            <a:r>
              <a:rPr sz="1350" b="0">
                <a:solidFill>
                  <a:srgbClr val="161B26"/>
                </a:solidFill>
                <a:latin typeface="Arial"/>
              </a:rPr>
              <a:t>•  New accounts inherit the baseline automatically through account vending.</a:t>
            </a:r>
          </a:p>
        </p:txBody>
      </p:sp>
      <p:sp>
        <p:nvSpPr>
          <p:cNvPr id="11" name="Rectangle 10"/>
          <p:cNvSpPr/>
          <p:nvPr/>
        </p:nvSpPr>
        <p:spPr>
          <a:xfrm>
            <a:off x="6172200" y="178308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1783080"/>
            <a:ext cx="91440" cy="13258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8232" y="1892808"/>
            <a:ext cx="4782312" cy="320040"/>
          </a:xfrm>
          <a:prstGeom prst="rect">
            <a:avLst/>
          </a:prstGeom>
          <a:noFill/>
        </p:spPr>
        <p:txBody>
          <a:bodyPr wrap="square" anchor="t">
            <a:spAutoFit/>
          </a:bodyPr>
          <a:lstStyle/>
          <a:p>
            <a:pPr algn="l">
              <a:spcAft>
                <a:spcPts val="400"/>
              </a:spcAft>
            </a:pPr>
            <a:r>
              <a:rPr sz="1150" b="1">
                <a:solidFill>
                  <a:srgbClr val="C0392B"/>
                </a:solidFill>
                <a:latin typeface="Arial"/>
              </a:rPr>
              <a:t>WHY IT MATTERS</a:t>
            </a:r>
          </a:p>
        </p:txBody>
      </p:sp>
      <p:sp>
        <p:nvSpPr>
          <p:cNvPr id="14" name="TextBox 13"/>
          <p:cNvSpPr txBox="1"/>
          <p:nvPr/>
        </p:nvSpPr>
        <p:spPr>
          <a:xfrm>
            <a:off x="6428232" y="222199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A governance blueprint makes 'secure and compliant' the default state of every account, not a per-project effort.</a:t>
            </a:r>
          </a:p>
        </p:txBody>
      </p:sp>
      <p:sp>
        <p:nvSpPr>
          <p:cNvPr id="15" name="Rectangle 14"/>
          <p:cNvSpPr/>
          <p:nvPr/>
        </p:nvSpPr>
        <p:spPr>
          <a:xfrm>
            <a:off x="6172200" y="324612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3246120"/>
            <a:ext cx="91440" cy="13258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8232" y="3355848"/>
            <a:ext cx="4782312" cy="320040"/>
          </a:xfrm>
          <a:prstGeom prst="rect">
            <a:avLst/>
          </a:prstGeom>
          <a:noFill/>
        </p:spPr>
        <p:txBody>
          <a:bodyPr wrap="square" anchor="t">
            <a:spAutoFit/>
          </a:bodyPr>
          <a:lstStyle/>
          <a:p>
            <a:pPr algn="l">
              <a:spcAft>
                <a:spcPts val="400"/>
              </a:spcAft>
            </a:pPr>
            <a:r>
              <a:rPr sz="1150" b="1">
                <a:solidFill>
                  <a:srgbClr val="C0392B"/>
                </a:solidFill>
                <a:latin typeface="Arial"/>
              </a:rPr>
              <a:t>FAILURE MODE</a:t>
            </a:r>
          </a:p>
        </p:txBody>
      </p:sp>
      <p:sp>
        <p:nvSpPr>
          <p:cNvPr id="18" name="TextBox 17"/>
          <p:cNvSpPr txBox="1"/>
          <p:nvPr/>
        </p:nvSpPr>
        <p:spPr>
          <a:xfrm>
            <a:off x="6428232" y="368503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Ad-hoc, per-project security guarantees nothing is consistent and every audit re-discovers the same gaps.</a:t>
            </a:r>
          </a:p>
        </p:txBody>
      </p:sp>
      <p:sp>
        <p:nvSpPr>
          <p:cNvPr id="19" name="Rectangle 18"/>
          <p:cNvSpPr/>
          <p:nvPr/>
        </p:nvSpPr>
        <p:spPr>
          <a:xfrm>
            <a:off x="6172200" y="470916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2200" y="4709160"/>
            <a:ext cx="91440" cy="1325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28232" y="4818888"/>
            <a:ext cx="4782312" cy="320040"/>
          </a:xfrm>
          <a:prstGeom prst="rect">
            <a:avLst/>
          </a:prstGeom>
          <a:noFill/>
        </p:spPr>
        <p:txBody>
          <a:bodyPr wrap="square" anchor="t">
            <a:spAutoFit/>
          </a:bodyPr>
          <a:lstStyle/>
          <a:p>
            <a:pPr algn="l">
              <a:spcAft>
                <a:spcPts val="400"/>
              </a:spcAft>
            </a:pPr>
            <a:r>
              <a:rPr sz="1150" b="1">
                <a:solidFill>
                  <a:srgbClr val="F59E0B"/>
                </a:solidFill>
                <a:latin typeface="Arial"/>
              </a:rPr>
              <a:t>TRADE-OFF / DECISION</a:t>
            </a:r>
          </a:p>
        </p:txBody>
      </p:sp>
      <p:sp>
        <p:nvSpPr>
          <p:cNvPr id="22" name="TextBox 21"/>
          <p:cNvSpPr txBox="1"/>
          <p:nvPr/>
        </p:nvSpPr>
        <p:spPr>
          <a:xfrm>
            <a:off x="6428232" y="514807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A central blueprint needs a platform team and change process — the payoff is org-wide, provable compliance.</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540</a:t>
            </a:r>
          </a:p>
        </p:txBody>
      </p:sp>
    </p:spTree>
  </p:cSld>
  <p:clrMapOvr>
    <a:masterClrMapping/>
  </p:clrMapOvr>
  <p:transition xmlns:p14="http://schemas.microsoft.com/office/powerpoint/2010/main" p14:dur="380">
    <p:fade/>
  </p:transition>
</p:sld>
</file>

<file path=ppt/slides/slide5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IN DEPTH</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Securing the pipeline itself (DevSecOps)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51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212080" cy="914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38528"/>
            <a:ext cx="4754880" cy="365760"/>
          </a:xfrm>
          <a:prstGeom prst="rect">
            <a:avLst/>
          </a:prstGeom>
          <a:noFill/>
        </p:spPr>
        <p:txBody>
          <a:bodyPr wrap="square" anchor="t">
            <a:spAutoFit/>
          </a:bodyPr>
          <a:lstStyle/>
          <a:p>
            <a:pPr algn="l">
              <a:spcAft>
                <a:spcPts val="400"/>
              </a:spcAft>
            </a:pPr>
            <a:r>
              <a:rPr sz="1200" b="1">
                <a:solidFill>
                  <a:srgbClr val="C0392B"/>
                </a:solidFill>
                <a:latin typeface="Arial"/>
              </a:rPr>
              <a:t>IN DEPTH</a:t>
            </a:r>
          </a:p>
        </p:txBody>
      </p:sp>
      <p:sp>
        <p:nvSpPr>
          <p:cNvPr id="10" name="TextBox 9"/>
          <p:cNvSpPr txBox="1"/>
          <p:nvPr/>
        </p:nvSpPr>
        <p:spPr>
          <a:xfrm>
            <a:off x="1005840" y="2377440"/>
            <a:ext cx="4754880" cy="3566160"/>
          </a:xfrm>
          <a:prstGeom prst="rect">
            <a:avLst/>
          </a:prstGeom>
          <a:noFill/>
        </p:spPr>
        <p:txBody>
          <a:bodyPr wrap="square">
            <a:spAutoFit/>
          </a:bodyPr>
          <a:lstStyle/>
          <a:p>
            <a:pPr>
              <a:spcAft>
                <a:spcPts val="800"/>
              </a:spcAft>
            </a:pPr>
            <a:r>
              <a:rPr sz="1350" b="0">
                <a:solidFill>
                  <a:srgbClr val="161B26"/>
                </a:solidFill>
                <a:latin typeface="Arial"/>
              </a:rPr>
              <a:t>•  Scan source and dependencies (SAST/SCA) and infrastructure templates in the build; sign and verify artifacts.</a:t>
            </a:r>
          </a:p>
          <a:p>
            <a:pPr>
              <a:spcAft>
                <a:spcPts val="800"/>
              </a:spcAft>
            </a:pPr>
            <a:r>
              <a:rPr sz="1350" b="0">
                <a:solidFill>
                  <a:srgbClr val="161B26"/>
                </a:solidFill>
                <a:latin typeface="Arial"/>
              </a:rPr>
              <a:t>•  Scope pipeline and deployment roles to least privilege and isolate environments by account.</a:t>
            </a:r>
          </a:p>
          <a:p>
            <a:pPr>
              <a:spcAft>
                <a:spcPts val="800"/>
              </a:spcAft>
            </a:pPr>
            <a:r>
              <a:rPr sz="1350" b="0">
                <a:solidFill>
                  <a:srgbClr val="161B26"/>
                </a:solidFill>
                <a:latin typeface="Arial"/>
              </a:rPr>
              <a:t>•  Store no secrets in code; pull them at deploy time from Secrets Manager/SSM.</a:t>
            </a:r>
          </a:p>
        </p:txBody>
      </p:sp>
      <p:sp>
        <p:nvSpPr>
          <p:cNvPr id="11" name="Rectangle 10"/>
          <p:cNvSpPr/>
          <p:nvPr/>
        </p:nvSpPr>
        <p:spPr>
          <a:xfrm>
            <a:off x="6172200" y="178308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1783080"/>
            <a:ext cx="91440" cy="13258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8232" y="1892808"/>
            <a:ext cx="4782312" cy="320040"/>
          </a:xfrm>
          <a:prstGeom prst="rect">
            <a:avLst/>
          </a:prstGeom>
          <a:noFill/>
        </p:spPr>
        <p:txBody>
          <a:bodyPr wrap="square" anchor="t">
            <a:spAutoFit/>
          </a:bodyPr>
          <a:lstStyle/>
          <a:p>
            <a:pPr algn="l">
              <a:spcAft>
                <a:spcPts val="400"/>
              </a:spcAft>
            </a:pPr>
            <a:r>
              <a:rPr sz="1150" b="1">
                <a:solidFill>
                  <a:srgbClr val="C0392B"/>
                </a:solidFill>
                <a:latin typeface="Arial"/>
              </a:rPr>
              <a:t>WHY IT MATTERS</a:t>
            </a:r>
          </a:p>
        </p:txBody>
      </p:sp>
      <p:sp>
        <p:nvSpPr>
          <p:cNvPr id="14" name="TextBox 13"/>
          <p:cNvSpPr txBox="1"/>
          <p:nvPr/>
        </p:nvSpPr>
        <p:spPr>
          <a:xfrm>
            <a:off x="6428232" y="222199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The pipeline has powerful credentials and touches production — a compromised pipeline is a compromised environment.</a:t>
            </a:r>
          </a:p>
        </p:txBody>
      </p:sp>
      <p:sp>
        <p:nvSpPr>
          <p:cNvPr id="15" name="Rectangle 14"/>
          <p:cNvSpPr/>
          <p:nvPr/>
        </p:nvSpPr>
        <p:spPr>
          <a:xfrm>
            <a:off x="6172200" y="324612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3246120"/>
            <a:ext cx="91440" cy="13258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8232" y="3355848"/>
            <a:ext cx="4782312" cy="320040"/>
          </a:xfrm>
          <a:prstGeom prst="rect">
            <a:avLst/>
          </a:prstGeom>
          <a:noFill/>
        </p:spPr>
        <p:txBody>
          <a:bodyPr wrap="square" anchor="t">
            <a:spAutoFit/>
          </a:bodyPr>
          <a:lstStyle/>
          <a:p>
            <a:pPr algn="l">
              <a:spcAft>
                <a:spcPts val="400"/>
              </a:spcAft>
            </a:pPr>
            <a:r>
              <a:rPr sz="1150" b="1">
                <a:solidFill>
                  <a:srgbClr val="C0392B"/>
                </a:solidFill>
                <a:latin typeface="Arial"/>
              </a:rPr>
              <a:t>FAILURE MODE</a:t>
            </a:r>
          </a:p>
        </p:txBody>
      </p:sp>
      <p:sp>
        <p:nvSpPr>
          <p:cNvPr id="18" name="TextBox 17"/>
          <p:cNvSpPr txBox="1"/>
          <p:nvPr/>
        </p:nvSpPr>
        <p:spPr>
          <a:xfrm>
            <a:off x="6428232" y="368503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A pipeline role with broad permissions and secrets in the repo is a direct path from a code leak to full compromise.</a:t>
            </a:r>
          </a:p>
        </p:txBody>
      </p:sp>
      <p:sp>
        <p:nvSpPr>
          <p:cNvPr id="19" name="Rectangle 18"/>
          <p:cNvSpPr/>
          <p:nvPr/>
        </p:nvSpPr>
        <p:spPr>
          <a:xfrm>
            <a:off x="6172200" y="4709160"/>
            <a:ext cx="5239512" cy="13258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2200" y="4709160"/>
            <a:ext cx="91440" cy="1325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28232" y="4818888"/>
            <a:ext cx="4782312" cy="320040"/>
          </a:xfrm>
          <a:prstGeom prst="rect">
            <a:avLst/>
          </a:prstGeom>
          <a:noFill/>
        </p:spPr>
        <p:txBody>
          <a:bodyPr wrap="square" anchor="t">
            <a:spAutoFit/>
          </a:bodyPr>
          <a:lstStyle/>
          <a:p>
            <a:pPr algn="l">
              <a:spcAft>
                <a:spcPts val="400"/>
              </a:spcAft>
            </a:pPr>
            <a:r>
              <a:rPr sz="1150" b="1">
                <a:solidFill>
                  <a:srgbClr val="F59E0B"/>
                </a:solidFill>
                <a:latin typeface="Arial"/>
              </a:rPr>
              <a:t>TRADE-OFF / DECISION</a:t>
            </a:r>
          </a:p>
        </p:txBody>
      </p:sp>
      <p:sp>
        <p:nvSpPr>
          <p:cNvPr id="22" name="TextBox 21"/>
          <p:cNvSpPr txBox="1"/>
          <p:nvPr/>
        </p:nvSpPr>
        <p:spPr>
          <a:xfrm>
            <a:off x="6428232" y="5148072"/>
            <a:ext cx="4782312" cy="822960"/>
          </a:xfrm>
          <a:prstGeom prst="rect">
            <a:avLst/>
          </a:prstGeom>
          <a:noFill/>
        </p:spPr>
        <p:txBody>
          <a:bodyPr wrap="square" anchor="t">
            <a:spAutoFit/>
          </a:bodyPr>
          <a:lstStyle/>
          <a:p>
            <a:pPr algn="l">
              <a:spcAft>
                <a:spcPts val="400"/>
              </a:spcAft>
            </a:pPr>
            <a:r>
              <a:rPr sz="1250" b="0">
                <a:solidFill>
                  <a:srgbClr val="161B26"/>
                </a:solidFill>
                <a:latin typeface="Arial"/>
              </a:rPr>
              <a:t>Security gates add build time — order them fast-to-slow and fail fast to keep the pipeline usable.</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541</a:t>
            </a:r>
          </a:p>
        </p:txBody>
      </p:sp>
    </p:spTree>
  </p:cSld>
  <p:clrMapOvr>
    <a:masterClrMapping/>
  </p:clrMapOvr>
  <p:transition xmlns:p14="http://schemas.microsoft.com/office/powerpoint/2010/main" p14:dur="380">
    <p:fade/>
  </p:transition>
</p:sld>
</file>

<file path=ppt/slides/slide5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LEAST PRIVILEGE AT SCALE</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IAM — Users vs Roles vs Federation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977652" cy="5029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6968" y="1783080"/>
            <a:ext cx="2794772" cy="502920"/>
          </a:xfrm>
          <a:prstGeom prst="rect">
            <a:avLst/>
          </a:prstGeom>
          <a:noFill/>
        </p:spPr>
        <p:txBody>
          <a:bodyPr wrap="square" anchor="ctr">
            <a:spAutoFit/>
          </a:bodyPr>
          <a:lstStyle/>
          <a:p>
            <a:pPr algn="l">
              <a:spcAft>
                <a:spcPts val="400"/>
              </a:spcAft>
            </a:pPr>
            <a:r>
              <a:rPr sz="1400" b="1">
                <a:solidFill>
                  <a:srgbClr val="FFFFFF"/>
                </a:solidFill>
                <a:latin typeface="Arial"/>
              </a:rPr>
              <a:t>Identity</a:t>
            </a:r>
          </a:p>
        </p:txBody>
      </p:sp>
      <p:sp>
        <p:nvSpPr>
          <p:cNvPr id="9" name="Rectangle 8"/>
          <p:cNvSpPr/>
          <p:nvPr/>
        </p:nvSpPr>
        <p:spPr>
          <a:xfrm>
            <a:off x="3754892" y="1783080"/>
            <a:ext cx="3828409" cy="5029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64620" y="1783080"/>
            <a:ext cx="3645529" cy="502920"/>
          </a:xfrm>
          <a:prstGeom prst="rect">
            <a:avLst/>
          </a:prstGeom>
          <a:noFill/>
        </p:spPr>
        <p:txBody>
          <a:bodyPr wrap="square" anchor="ctr">
            <a:spAutoFit/>
          </a:bodyPr>
          <a:lstStyle/>
          <a:p>
            <a:pPr algn="ctr">
              <a:spcAft>
                <a:spcPts val="400"/>
              </a:spcAft>
            </a:pPr>
            <a:r>
              <a:rPr sz="1400" b="1">
                <a:solidFill>
                  <a:srgbClr val="FFFFFF"/>
                </a:solidFill>
                <a:latin typeface="Arial"/>
              </a:rPr>
              <a:t>What it is</a:t>
            </a:r>
          </a:p>
        </p:txBody>
      </p:sp>
      <p:sp>
        <p:nvSpPr>
          <p:cNvPr id="11" name="Rectangle 10"/>
          <p:cNvSpPr/>
          <p:nvPr/>
        </p:nvSpPr>
        <p:spPr>
          <a:xfrm>
            <a:off x="7583301" y="1783080"/>
            <a:ext cx="3828409" cy="5029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93029" y="1783080"/>
            <a:ext cx="3645529" cy="502920"/>
          </a:xfrm>
          <a:prstGeom prst="rect">
            <a:avLst/>
          </a:prstGeom>
          <a:noFill/>
        </p:spPr>
        <p:txBody>
          <a:bodyPr wrap="square" anchor="ctr">
            <a:spAutoFit/>
          </a:bodyPr>
          <a:lstStyle/>
          <a:p>
            <a:pPr algn="ctr">
              <a:spcAft>
                <a:spcPts val="400"/>
              </a:spcAft>
            </a:pPr>
            <a:r>
              <a:rPr sz="1400" b="1">
                <a:solidFill>
                  <a:srgbClr val="FFFFFF"/>
                </a:solidFill>
                <a:latin typeface="Arial"/>
              </a:rPr>
              <a:t>Best practice</a:t>
            </a:r>
          </a:p>
        </p:txBody>
      </p:sp>
      <p:sp>
        <p:nvSpPr>
          <p:cNvPr id="13" name="Rectangle 12"/>
          <p:cNvSpPr/>
          <p:nvPr/>
        </p:nvSpPr>
        <p:spPr>
          <a:xfrm>
            <a:off x="777240" y="2286000"/>
            <a:ext cx="2977652"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6968" y="2286000"/>
            <a:ext cx="2794772" cy="822960"/>
          </a:xfrm>
          <a:prstGeom prst="rect">
            <a:avLst/>
          </a:prstGeom>
          <a:noFill/>
        </p:spPr>
        <p:txBody>
          <a:bodyPr wrap="square" anchor="ctr">
            <a:spAutoFit/>
          </a:bodyPr>
          <a:lstStyle/>
          <a:p>
            <a:pPr algn="l">
              <a:spcAft>
                <a:spcPts val="400"/>
              </a:spcAft>
            </a:pPr>
            <a:r>
              <a:rPr sz="1250" b="1">
                <a:solidFill>
                  <a:srgbClr val="161B26"/>
                </a:solidFill>
                <a:latin typeface="Arial"/>
              </a:rPr>
              <a:t>IAM user + keys</a:t>
            </a:r>
          </a:p>
        </p:txBody>
      </p:sp>
      <p:sp>
        <p:nvSpPr>
          <p:cNvPr id="15" name="Rectangle 14"/>
          <p:cNvSpPr/>
          <p:nvPr/>
        </p:nvSpPr>
        <p:spPr>
          <a:xfrm>
            <a:off x="3754892" y="2286000"/>
            <a:ext cx="3828409"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64620" y="2286000"/>
            <a:ext cx="3645529" cy="822960"/>
          </a:xfrm>
          <a:prstGeom prst="rect">
            <a:avLst/>
          </a:prstGeom>
          <a:noFill/>
        </p:spPr>
        <p:txBody>
          <a:bodyPr wrap="square" anchor="ctr">
            <a:spAutoFit/>
          </a:bodyPr>
          <a:lstStyle/>
          <a:p>
            <a:pPr algn="ctr">
              <a:spcAft>
                <a:spcPts val="400"/>
              </a:spcAft>
            </a:pPr>
            <a:r>
              <a:rPr sz="1250" b="0">
                <a:solidFill>
                  <a:srgbClr val="5B6372"/>
                </a:solidFill>
                <a:latin typeface="Arial"/>
              </a:rPr>
              <a:t>Long-lived credential</a:t>
            </a:r>
          </a:p>
        </p:txBody>
      </p:sp>
      <p:sp>
        <p:nvSpPr>
          <p:cNvPr id="17" name="Rectangle 16"/>
          <p:cNvSpPr/>
          <p:nvPr/>
        </p:nvSpPr>
        <p:spPr>
          <a:xfrm>
            <a:off x="7583301" y="2286000"/>
            <a:ext cx="3828409"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3029" y="2286000"/>
            <a:ext cx="3645529" cy="822960"/>
          </a:xfrm>
          <a:prstGeom prst="rect">
            <a:avLst/>
          </a:prstGeom>
          <a:noFill/>
        </p:spPr>
        <p:txBody>
          <a:bodyPr wrap="square" anchor="ctr">
            <a:spAutoFit/>
          </a:bodyPr>
          <a:lstStyle/>
          <a:p>
            <a:pPr algn="ctr">
              <a:spcAft>
                <a:spcPts val="400"/>
              </a:spcAft>
            </a:pPr>
            <a:r>
              <a:rPr sz="1250" b="0">
                <a:solidFill>
                  <a:srgbClr val="5B6372"/>
                </a:solidFill>
                <a:latin typeface="Arial"/>
              </a:rPr>
              <a:t>Avoid; rotate/retire, prefer roles</a:t>
            </a:r>
          </a:p>
        </p:txBody>
      </p:sp>
      <p:sp>
        <p:nvSpPr>
          <p:cNvPr id="19" name="Rectangle 18"/>
          <p:cNvSpPr/>
          <p:nvPr/>
        </p:nvSpPr>
        <p:spPr>
          <a:xfrm>
            <a:off x="777240" y="3108960"/>
            <a:ext cx="2977652"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3108960"/>
            <a:ext cx="2794772" cy="822960"/>
          </a:xfrm>
          <a:prstGeom prst="rect">
            <a:avLst/>
          </a:prstGeom>
          <a:noFill/>
        </p:spPr>
        <p:txBody>
          <a:bodyPr wrap="square" anchor="ctr">
            <a:spAutoFit/>
          </a:bodyPr>
          <a:lstStyle/>
          <a:p>
            <a:pPr algn="l">
              <a:spcAft>
                <a:spcPts val="400"/>
              </a:spcAft>
            </a:pPr>
            <a:r>
              <a:rPr sz="1250" b="1">
                <a:solidFill>
                  <a:srgbClr val="161B26"/>
                </a:solidFill>
                <a:latin typeface="Arial"/>
              </a:rPr>
              <a:t>IAM role</a:t>
            </a:r>
          </a:p>
        </p:txBody>
      </p:sp>
      <p:sp>
        <p:nvSpPr>
          <p:cNvPr id="21" name="Rectangle 20"/>
          <p:cNvSpPr/>
          <p:nvPr/>
        </p:nvSpPr>
        <p:spPr>
          <a:xfrm>
            <a:off x="3754892" y="3108960"/>
            <a:ext cx="3828409"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864620" y="3108960"/>
            <a:ext cx="3645529" cy="822960"/>
          </a:xfrm>
          <a:prstGeom prst="rect">
            <a:avLst/>
          </a:prstGeom>
          <a:noFill/>
        </p:spPr>
        <p:txBody>
          <a:bodyPr wrap="square" anchor="ctr">
            <a:spAutoFit/>
          </a:bodyPr>
          <a:lstStyle/>
          <a:p>
            <a:pPr algn="ctr">
              <a:spcAft>
                <a:spcPts val="400"/>
              </a:spcAft>
            </a:pPr>
            <a:r>
              <a:rPr sz="1250" b="0">
                <a:solidFill>
                  <a:srgbClr val="5B6372"/>
                </a:solidFill>
                <a:latin typeface="Arial"/>
              </a:rPr>
              <a:t>Temporary, assumable</a:t>
            </a:r>
          </a:p>
        </p:txBody>
      </p:sp>
      <p:sp>
        <p:nvSpPr>
          <p:cNvPr id="23" name="Rectangle 22"/>
          <p:cNvSpPr/>
          <p:nvPr/>
        </p:nvSpPr>
        <p:spPr>
          <a:xfrm>
            <a:off x="7583301" y="3108960"/>
            <a:ext cx="3828409"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93029" y="3108960"/>
            <a:ext cx="3645529" cy="822960"/>
          </a:xfrm>
          <a:prstGeom prst="rect">
            <a:avLst/>
          </a:prstGeom>
          <a:noFill/>
        </p:spPr>
        <p:txBody>
          <a:bodyPr wrap="square" anchor="ctr">
            <a:spAutoFit/>
          </a:bodyPr>
          <a:lstStyle/>
          <a:p>
            <a:pPr algn="ctr">
              <a:spcAft>
                <a:spcPts val="400"/>
              </a:spcAft>
            </a:pPr>
            <a:r>
              <a:rPr sz="1250" b="0">
                <a:solidFill>
                  <a:srgbClr val="5B6372"/>
                </a:solidFill>
                <a:latin typeface="Arial"/>
              </a:rPr>
              <a:t>Use for apps and cross-account</a:t>
            </a:r>
          </a:p>
        </p:txBody>
      </p:sp>
      <p:sp>
        <p:nvSpPr>
          <p:cNvPr id="25" name="Rectangle 24"/>
          <p:cNvSpPr/>
          <p:nvPr/>
        </p:nvSpPr>
        <p:spPr>
          <a:xfrm>
            <a:off x="777240" y="3931920"/>
            <a:ext cx="2977652"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6968" y="3931920"/>
            <a:ext cx="2794772" cy="822960"/>
          </a:xfrm>
          <a:prstGeom prst="rect">
            <a:avLst/>
          </a:prstGeom>
          <a:noFill/>
        </p:spPr>
        <p:txBody>
          <a:bodyPr wrap="square" anchor="ctr">
            <a:spAutoFit/>
          </a:bodyPr>
          <a:lstStyle/>
          <a:p>
            <a:pPr algn="l">
              <a:spcAft>
                <a:spcPts val="400"/>
              </a:spcAft>
            </a:pPr>
            <a:r>
              <a:rPr sz="1250" b="1">
                <a:solidFill>
                  <a:srgbClr val="161B26"/>
                </a:solidFill>
                <a:latin typeface="Arial"/>
              </a:rPr>
              <a:t>Federation / Identity Center</a:t>
            </a:r>
          </a:p>
        </p:txBody>
      </p:sp>
      <p:sp>
        <p:nvSpPr>
          <p:cNvPr id="27" name="Rectangle 26"/>
          <p:cNvSpPr/>
          <p:nvPr/>
        </p:nvSpPr>
        <p:spPr>
          <a:xfrm>
            <a:off x="3754892" y="3931920"/>
            <a:ext cx="3828409"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864620" y="3931920"/>
            <a:ext cx="3645529" cy="822960"/>
          </a:xfrm>
          <a:prstGeom prst="rect">
            <a:avLst/>
          </a:prstGeom>
          <a:noFill/>
        </p:spPr>
        <p:txBody>
          <a:bodyPr wrap="square" anchor="ctr">
            <a:spAutoFit/>
          </a:bodyPr>
          <a:lstStyle/>
          <a:p>
            <a:pPr algn="ctr">
              <a:spcAft>
                <a:spcPts val="400"/>
              </a:spcAft>
            </a:pPr>
            <a:r>
              <a:rPr sz="1250" b="0">
                <a:solidFill>
                  <a:srgbClr val="5B6372"/>
                </a:solidFill>
                <a:latin typeface="Arial"/>
              </a:rPr>
              <a:t>IdP issues short-lived access</a:t>
            </a:r>
          </a:p>
        </p:txBody>
      </p:sp>
      <p:sp>
        <p:nvSpPr>
          <p:cNvPr id="29" name="Rectangle 28"/>
          <p:cNvSpPr/>
          <p:nvPr/>
        </p:nvSpPr>
        <p:spPr>
          <a:xfrm>
            <a:off x="7583301" y="3931920"/>
            <a:ext cx="3828409" cy="8229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93029" y="3931920"/>
            <a:ext cx="3645529" cy="822960"/>
          </a:xfrm>
          <a:prstGeom prst="rect">
            <a:avLst/>
          </a:prstGeom>
          <a:noFill/>
        </p:spPr>
        <p:txBody>
          <a:bodyPr wrap="square" anchor="ctr">
            <a:spAutoFit/>
          </a:bodyPr>
          <a:lstStyle/>
          <a:p>
            <a:pPr algn="ctr">
              <a:spcAft>
                <a:spcPts val="400"/>
              </a:spcAft>
            </a:pPr>
            <a:r>
              <a:rPr sz="1250" b="0">
                <a:solidFill>
                  <a:srgbClr val="5B6372"/>
                </a:solidFill>
                <a:latin typeface="Arial"/>
              </a:rPr>
              <a:t>Standard for workforce access</a:t>
            </a:r>
          </a:p>
        </p:txBody>
      </p:sp>
      <p:sp>
        <p:nvSpPr>
          <p:cNvPr id="31" name="Rectangle 30"/>
          <p:cNvSpPr/>
          <p:nvPr/>
        </p:nvSpPr>
        <p:spPr>
          <a:xfrm>
            <a:off x="777240" y="4754880"/>
            <a:ext cx="2977652"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6968" y="4754880"/>
            <a:ext cx="2794772" cy="822960"/>
          </a:xfrm>
          <a:prstGeom prst="rect">
            <a:avLst/>
          </a:prstGeom>
          <a:noFill/>
        </p:spPr>
        <p:txBody>
          <a:bodyPr wrap="square" anchor="ctr">
            <a:spAutoFit/>
          </a:bodyPr>
          <a:lstStyle/>
          <a:p>
            <a:pPr algn="l">
              <a:spcAft>
                <a:spcPts val="400"/>
              </a:spcAft>
            </a:pPr>
            <a:r>
              <a:rPr sz="1250" b="1">
                <a:solidFill>
                  <a:srgbClr val="161B26"/>
                </a:solidFill>
                <a:latin typeface="Arial"/>
              </a:rPr>
              <a:t>Permission boundary</a:t>
            </a:r>
          </a:p>
        </p:txBody>
      </p:sp>
      <p:sp>
        <p:nvSpPr>
          <p:cNvPr id="33" name="Rectangle 32"/>
          <p:cNvSpPr/>
          <p:nvPr/>
        </p:nvSpPr>
        <p:spPr>
          <a:xfrm>
            <a:off x="3754892" y="4754880"/>
            <a:ext cx="3828409"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864620" y="4754880"/>
            <a:ext cx="3645529" cy="822960"/>
          </a:xfrm>
          <a:prstGeom prst="rect">
            <a:avLst/>
          </a:prstGeom>
          <a:noFill/>
        </p:spPr>
        <p:txBody>
          <a:bodyPr wrap="square" anchor="ctr">
            <a:spAutoFit/>
          </a:bodyPr>
          <a:lstStyle/>
          <a:p>
            <a:pPr algn="ctr">
              <a:spcAft>
                <a:spcPts val="400"/>
              </a:spcAft>
            </a:pPr>
            <a:r>
              <a:rPr sz="1250" b="0">
                <a:solidFill>
                  <a:srgbClr val="5B6372"/>
                </a:solidFill>
                <a:latin typeface="Arial"/>
              </a:rPr>
              <a:t>Cap on granted permissions</a:t>
            </a:r>
          </a:p>
        </p:txBody>
      </p:sp>
      <p:sp>
        <p:nvSpPr>
          <p:cNvPr id="35" name="Rectangle 34"/>
          <p:cNvSpPr/>
          <p:nvPr/>
        </p:nvSpPr>
        <p:spPr>
          <a:xfrm>
            <a:off x="7583301" y="4754880"/>
            <a:ext cx="3828409"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93029" y="4754880"/>
            <a:ext cx="3645529" cy="822960"/>
          </a:xfrm>
          <a:prstGeom prst="rect">
            <a:avLst/>
          </a:prstGeom>
          <a:noFill/>
        </p:spPr>
        <p:txBody>
          <a:bodyPr wrap="square" anchor="ctr">
            <a:spAutoFit/>
          </a:bodyPr>
          <a:lstStyle/>
          <a:p>
            <a:pPr algn="ctr">
              <a:spcAft>
                <a:spcPts val="400"/>
              </a:spcAft>
            </a:pPr>
            <a:r>
              <a:rPr sz="1250" b="0">
                <a:solidFill>
                  <a:srgbClr val="5B6372"/>
                </a:solidFill>
                <a:latin typeface="Arial"/>
              </a:rPr>
              <a:t>Guardrail for delegated admins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542</a:t>
            </a:r>
          </a:p>
        </p:txBody>
      </p:sp>
    </p:spTree>
  </p:cSld>
  <p:clrMapOvr>
    <a:masterClrMapping/>
  </p:clrMapOvr>
  <p:transition xmlns:p14="http://schemas.microsoft.com/office/powerpoint/2010/main" p14:dur="380">
    <p:fade/>
  </p:transition>
</p:sld>
</file>

<file path=ppt/slides/slide5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CONTINUOUS COMPLIANCE WINS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700" b="1">
                <a:solidFill>
                  <a:srgbClr val="161B26"/>
                </a:solidFill>
                <a:latin typeface="Arial"/>
              </a:rPr>
              <a:t>Time-to-Detect a Public Bucket — Manual vs Continuous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828800"/>
          <a:ext cx="10634472" cy="3291840"/>
        </p:xfrm>
        <a:graphic>
          <a:graphicData uri="http://schemas.openxmlformats.org/drawingml/2006/chart">
            <c:chart xmlns:c="http://schemas.openxmlformats.org/drawingml/2006/chart" r:id="rId2"/>
          </a:graphicData>
        </a:graphic>
      </p:graphicFrame>
      <p:sp>
        <p:nvSpPr>
          <p:cNvPr id="8" name="Rectangle 7"/>
          <p:cNvSpPr/>
          <p:nvPr/>
        </p:nvSpPr>
        <p:spPr>
          <a:xfrm>
            <a:off x="777240" y="5349240"/>
            <a:ext cx="10634472" cy="868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349240"/>
            <a:ext cx="91440" cy="868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5440680"/>
            <a:ext cx="10241280" cy="320040"/>
          </a:xfrm>
          <a:prstGeom prst="rect">
            <a:avLst/>
          </a:prstGeom>
          <a:noFill/>
        </p:spPr>
        <p:txBody>
          <a:bodyPr wrap="square" anchor="t">
            <a:spAutoFit/>
          </a:bodyPr>
          <a:lstStyle/>
          <a:p>
            <a:pPr algn="l">
              <a:spcAft>
                <a:spcPts val="400"/>
              </a:spcAft>
            </a:pPr>
            <a:r>
              <a:rPr sz="1100" b="1">
                <a:solidFill>
                  <a:srgbClr val="C0392B"/>
                </a:solidFill>
                <a:latin typeface="Arial"/>
              </a:rPr>
              <a:t>WHAT THE DATA SHOWS</a:t>
            </a:r>
          </a:p>
        </p:txBody>
      </p:sp>
      <p:sp>
        <p:nvSpPr>
          <p:cNvPr id="11" name="TextBox 10"/>
          <p:cNvSpPr txBox="1"/>
          <p:nvPr/>
        </p:nvSpPr>
        <p:spPr>
          <a:xfrm>
            <a:off x="1005840" y="5742432"/>
            <a:ext cx="10241280" cy="457200"/>
          </a:xfrm>
          <a:prstGeom prst="rect">
            <a:avLst/>
          </a:prstGeom>
          <a:noFill/>
        </p:spPr>
        <p:txBody>
          <a:bodyPr wrap="square" anchor="t">
            <a:spAutoFit/>
          </a:bodyPr>
          <a:lstStyle/>
          <a:p>
            <a:pPr algn="l">
              <a:spcAft>
                <a:spcPts val="400"/>
              </a:spcAft>
            </a:pPr>
            <a:r>
              <a:rPr sz="1350" b="0">
                <a:solidFill>
                  <a:srgbClr val="161B26"/>
                </a:solidFill>
                <a:latin typeface="Arial"/>
              </a:rPr>
              <a:t>Continuous Config evaluation shrinks the exposure window from months to minutes — the difference between a finding and a breach.</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543</a:t>
            </a:r>
          </a:p>
        </p:txBody>
      </p:sp>
    </p:spTree>
  </p:cSld>
  <p:clrMapOvr>
    <a:masterClrMapping/>
  </p:clrMapOvr>
  <p:transition xmlns:p14="http://schemas.microsoft.com/office/powerpoint/2010/main" p14:dur="380">
    <p:fade/>
  </p:transition>
</p:sld>
</file>

<file path=ppt/slides/slide5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HOW ACCOUNTS GET COMPROMISED</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Security Failure Modes &amp; Anti-Patterns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10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6408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6408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Wildcard IAM policies</a:t>
            </a:r>
          </a:p>
          <a:p>
            <a:pPr algn="l">
              <a:spcAft>
                <a:spcPts val="300"/>
              </a:spcAft>
            </a:pPr>
            <a:r>
              <a:rPr sz="1100" b="0">
                <a:solidFill>
                  <a:srgbClr val="5B6372"/>
                </a:solidFill>
                <a:latin typeface="Arial"/>
              </a:rPr>
              <a:t>One leaked key = full access → least privilege + Access Analyzer.</a:t>
            </a:r>
          </a:p>
        </p:txBody>
      </p:sp>
      <p:sp>
        <p:nvSpPr>
          <p:cNvPr id="12" name="Rectangle 11"/>
          <p:cNvSpPr/>
          <p:nvPr/>
        </p:nvSpPr>
        <p:spPr>
          <a:xfrm>
            <a:off x="6231636" y="1783080"/>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3106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6408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6408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Long-lived access keys</a:t>
            </a:r>
          </a:p>
          <a:p>
            <a:pPr algn="l">
              <a:spcAft>
                <a:spcPts val="300"/>
              </a:spcAft>
            </a:pPr>
            <a:r>
              <a:rPr sz="1100" b="0">
                <a:solidFill>
                  <a:srgbClr val="5B6372"/>
                </a:solidFill>
                <a:latin typeface="Arial"/>
              </a:rPr>
              <a:t>Hard to rotate/audit → roles and federation.</a:t>
            </a:r>
          </a:p>
        </p:txBody>
      </p:sp>
      <p:sp>
        <p:nvSpPr>
          <p:cNvPr id="17" name="Rectangle 16"/>
          <p:cNvSpPr/>
          <p:nvPr/>
        </p:nvSpPr>
        <p:spPr>
          <a:xfrm>
            <a:off x="777240" y="3313176"/>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3176"/>
            <a:ext cx="91440" cy="13106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422904"/>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Public S3 / open SGs</a:t>
            </a:r>
          </a:p>
          <a:p>
            <a:pPr algn="l">
              <a:spcAft>
                <a:spcPts val="300"/>
              </a:spcAft>
            </a:pPr>
            <a:r>
              <a:rPr sz="1100" b="0">
                <a:solidFill>
                  <a:srgbClr val="5B6372"/>
                </a:solidFill>
                <a:latin typeface="Arial"/>
              </a:rPr>
              <a:t>Accidental exposure → Block Public Access, Config rules.</a:t>
            </a:r>
          </a:p>
        </p:txBody>
      </p:sp>
      <p:sp>
        <p:nvSpPr>
          <p:cNvPr id="22" name="Rectangle 21"/>
          <p:cNvSpPr/>
          <p:nvPr/>
        </p:nvSpPr>
        <p:spPr>
          <a:xfrm>
            <a:off x="6231636" y="3313176"/>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3176"/>
            <a:ext cx="91440" cy="13106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422904"/>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No CloudTrail / validation</a:t>
            </a:r>
          </a:p>
          <a:p>
            <a:pPr algn="l">
              <a:spcAft>
                <a:spcPts val="300"/>
              </a:spcAft>
            </a:pPr>
            <a:r>
              <a:rPr sz="1100" b="0">
                <a:solidFill>
                  <a:srgbClr val="5B6372"/>
                </a:solidFill>
                <a:latin typeface="Arial"/>
              </a:rPr>
              <a:t>Incidents unauditable → org trail + log-file validation.</a:t>
            </a:r>
          </a:p>
        </p:txBody>
      </p:sp>
      <p:sp>
        <p:nvSpPr>
          <p:cNvPr id="27" name="Rectangle 26"/>
          <p:cNvSpPr/>
          <p:nvPr/>
        </p:nvSpPr>
        <p:spPr>
          <a:xfrm>
            <a:off x="777240" y="4843272"/>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43272"/>
            <a:ext cx="91440" cy="13106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24272"/>
            <a:ext cx="548640" cy="548640"/>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2427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953000"/>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Secrets in code</a:t>
            </a:r>
          </a:p>
          <a:p>
            <a:pPr algn="l">
              <a:spcAft>
                <a:spcPts val="300"/>
              </a:spcAft>
            </a:pPr>
            <a:r>
              <a:rPr sz="1100" b="0">
                <a:solidFill>
                  <a:srgbClr val="5B6372"/>
                </a:solidFill>
                <a:latin typeface="Arial"/>
              </a:rPr>
              <a:t>Leak on repo access → Secrets Manager/SSM.</a:t>
            </a:r>
          </a:p>
        </p:txBody>
      </p:sp>
      <p:sp>
        <p:nvSpPr>
          <p:cNvPr id="32" name="Rectangle 31"/>
          <p:cNvSpPr/>
          <p:nvPr/>
        </p:nvSpPr>
        <p:spPr>
          <a:xfrm>
            <a:off x="6231636" y="4843272"/>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43272"/>
            <a:ext cx="91440" cy="1310640"/>
          </a:xfrm>
          <a:prstGeom prst="rect">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24272"/>
            <a:ext cx="548640" cy="548640"/>
          </a:xfrm>
          <a:prstGeom prst="ellipse">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2427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953000"/>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Over-privileged pipeline</a:t>
            </a:r>
          </a:p>
          <a:p>
            <a:pPr algn="l">
              <a:spcAft>
                <a:spcPts val="300"/>
              </a:spcAft>
            </a:pPr>
            <a:r>
              <a:rPr sz="1100" b="0">
                <a:solidFill>
                  <a:srgbClr val="5B6372"/>
                </a:solidFill>
                <a:latin typeface="Arial"/>
              </a:rPr>
              <a:t>Code leak → prod compromise → scope deploy roles.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544</a:t>
            </a:r>
          </a:p>
        </p:txBody>
      </p:sp>
    </p:spTree>
  </p:cSld>
  <p:clrMapOvr>
    <a:masterClrMapping/>
  </p:clrMapOvr>
  <p:transition xmlns:p14="http://schemas.microsoft.com/office/powerpoint/2010/main" p14:dur="380">
    <p:fade/>
  </p:transition>
</p:sld>
</file>

<file path=ppt/slides/slide5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PROVEN PRACTICES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Security Patterns Worth Adopting</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10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6408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6408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Least privilege everywhere</a:t>
            </a:r>
          </a:p>
          <a:p>
            <a:pPr algn="l">
              <a:spcAft>
                <a:spcPts val="300"/>
              </a:spcAft>
            </a:pPr>
            <a:r>
              <a:rPr sz="1100" b="0">
                <a:solidFill>
                  <a:srgbClr val="5B6372"/>
                </a:solidFill>
                <a:latin typeface="Arial"/>
              </a:rPr>
              <a:t>Roles, boundaries, scoped policies, no wildcards.</a:t>
            </a:r>
          </a:p>
        </p:txBody>
      </p:sp>
      <p:sp>
        <p:nvSpPr>
          <p:cNvPr id="12" name="Rectangle 11"/>
          <p:cNvSpPr/>
          <p:nvPr/>
        </p:nvSpPr>
        <p:spPr>
          <a:xfrm>
            <a:off x="6231636" y="1783080"/>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3106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6408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6408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Encrypt at rest and in transit</a:t>
            </a:r>
          </a:p>
          <a:p>
            <a:pPr algn="l">
              <a:spcAft>
                <a:spcPts val="300"/>
              </a:spcAft>
            </a:pPr>
            <a:r>
              <a:rPr sz="1100" b="0">
                <a:solidFill>
                  <a:srgbClr val="5B6372"/>
                </a:solidFill>
                <a:latin typeface="Arial"/>
              </a:rPr>
              <a:t>KMS + TLS by default on every store.</a:t>
            </a:r>
          </a:p>
        </p:txBody>
      </p:sp>
      <p:sp>
        <p:nvSpPr>
          <p:cNvPr id="17" name="Rectangle 16"/>
          <p:cNvSpPr/>
          <p:nvPr/>
        </p:nvSpPr>
        <p:spPr>
          <a:xfrm>
            <a:off x="777240" y="3313176"/>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3176"/>
            <a:ext cx="91440" cy="13106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422904"/>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Continuous compliance</a:t>
            </a:r>
          </a:p>
          <a:p>
            <a:pPr algn="l">
              <a:spcAft>
                <a:spcPts val="300"/>
              </a:spcAft>
            </a:pPr>
            <a:r>
              <a:rPr sz="1100" b="0">
                <a:solidFill>
                  <a:srgbClr val="5B6372"/>
                </a:solidFill>
                <a:latin typeface="Arial"/>
              </a:rPr>
              <a:t>Config rules + conformance packs, auto-remediate.</a:t>
            </a:r>
          </a:p>
        </p:txBody>
      </p:sp>
      <p:sp>
        <p:nvSpPr>
          <p:cNvPr id="22" name="Rectangle 21"/>
          <p:cNvSpPr/>
          <p:nvPr/>
        </p:nvSpPr>
        <p:spPr>
          <a:xfrm>
            <a:off x="6231636" y="3313176"/>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3176"/>
            <a:ext cx="91440" cy="13106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422904"/>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Central logging account</a:t>
            </a:r>
          </a:p>
          <a:p>
            <a:pPr algn="l">
              <a:spcAft>
                <a:spcPts val="300"/>
              </a:spcAft>
            </a:pPr>
            <a:r>
              <a:rPr sz="1100" b="0">
                <a:solidFill>
                  <a:srgbClr val="5B6372"/>
                </a:solidFill>
                <a:latin typeface="Arial"/>
              </a:rPr>
              <a:t>Immutable CloudTrail + Security Hub aggregation.</a:t>
            </a:r>
          </a:p>
        </p:txBody>
      </p:sp>
      <p:sp>
        <p:nvSpPr>
          <p:cNvPr id="27" name="Rectangle 26"/>
          <p:cNvSpPr/>
          <p:nvPr/>
        </p:nvSpPr>
        <p:spPr>
          <a:xfrm>
            <a:off x="777240" y="4843272"/>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43272"/>
            <a:ext cx="91440" cy="13106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24272"/>
            <a:ext cx="548640" cy="548640"/>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2427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953000"/>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Guardrails by SCP</a:t>
            </a:r>
          </a:p>
          <a:p>
            <a:pPr algn="l">
              <a:spcAft>
                <a:spcPts val="300"/>
              </a:spcAft>
            </a:pPr>
            <a:r>
              <a:rPr sz="1100" b="0">
                <a:solidFill>
                  <a:srgbClr val="5B6372"/>
                </a:solidFill>
                <a:latin typeface="Arial"/>
              </a:rPr>
              <a:t>Prevent whole action classes org-wide.</a:t>
            </a:r>
          </a:p>
        </p:txBody>
      </p:sp>
      <p:sp>
        <p:nvSpPr>
          <p:cNvPr id="32" name="Rectangle 31"/>
          <p:cNvSpPr/>
          <p:nvPr/>
        </p:nvSpPr>
        <p:spPr>
          <a:xfrm>
            <a:off x="6231636" y="4843272"/>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43272"/>
            <a:ext cx="91440" cy="1310640"/>
          </a:xfrm>
          <a:prstGeom prst="rect">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24272"/>
            <a:ext cx="548640" cy="548640"/>
          </a:xfrm>
          <a:prstGeom prst="ellipse">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2427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953000"/>
            <a:ext cx="3973068" cy="1127760"/>
          </a:xfrm>
          <a:prstGeom prst="rect">
            <a:avLst/>
          </a:prstGeom>
          <a:noFill/>
        </p:spPr>
        <p:txBody>
          <a:bodyPr wrap="square" anchor="ctr">
            <a:spAutoFit/>
          </a:bodyPr>
          <a:lstStyle/>
          <a:p>
            <a:pPr algn="l">
              <a:spcAft>
                <a:spcPts val="300"/>
              </a:spcAft>
            </a:pPr>
            <a:r>
              <a:rPr sz="1500" b="1">
                <a:solidFill>
                  <a:srgbClr val="161B26"/>
                </a:solidFill>
                <a:latin typeface="Arial"/>
              </a:rPr>
              <a:t>DevSecOps</a:t>
            </a:r>
          </a:p>
          <a:p>
            <a:pPr algn="l">
              <a:spcAft>
                <a:spcPts val="300"/>
              </a:spcAft>
            </a:pPr>
            <a:r>
              <a:rPr sz="1100" b="0">
                <a:solidFill>
                  <a:srgbClr val="5B6372"/>
                </a:solidFill>
                <a:latin typeface="Arial"/>
              </a:rPr>
              <a:t>Scan code, deps and IaC in the pipeline.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545</a:t>
            </a:r>
          </a:p>
        </p:txBody>
      </p:sp>
    </p:spTree>
  </p:cSld>
  <p:clrMapOvr>
    <a:masterClrMapping/>
  </p:clrMapOvr>
  <p:transition xmlns:p14="http://schemas.microsoft.com/office/powerpoint/2010/main" p14:dur="380">
    <p:fade/>
  </p:transition>
</p:sld>
</file>

<file path=ppt/slides/slide5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PREVENT, DETECT, REMEDIATE</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500" b="1">
                <a:solidFill>
                  <a:srgbClr val="161B26"/>
                </a:solidFill>
                <a:latin typeface="Arial"/>
              </a:rPr>
              <a:t>Architecture Decision — Where Do Compliance Controls Live?</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0574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057400"/>
            <a:ext cx="457200" cy="457200"/>
          </a:xfrm>
          <a:prstGeom prst="rect">
            <a:avLst/>
          </a:prstGeom>
          <a:noFill/>
        </p:spPr>
        <p:txBody>
          <a:bodyPr wrap="square" anchor="ctr">
            <a:spAutoFit/>
          </a:bodyPr>
          <a:lstStyle/>
          <a:p>
            <a:pPr algn="ctr">
              <a:spcAft>
                <a:spcPts val="400"/>
              </a:spcAft>
            </a:pPr>
            <a:r>
              <a:rPr sz="2000" b="1">
                <a:solidFill>
                  <a:srgbClr val="FFFFFF"/>
                </a:solidFill>
                <a:latin typeface="Arial"/>
              </a:rPr>
              <a:t>A</a:t>
            </a:r>
          </a:p>
        </p:txBody>
      </p:sp>
      <p:sp>
        <p:nvSpPr>
          <p:cNvPr id="11" name="TextBox 10"/>
          <p:cNvSpPr txBox="1"/>
          <p:nvPr/>
        </p:nvSpPr>
        <p:spPr>
          <a:xfrm>
            <a:off x="1645920" y="2084831"/>
            <a:ext cx="2286000" cy="640080"/>
          </a:xfrm>
          <a:prstGeom prst="rect">
            <a:avLst/>
          </a:prstGeom>
          <a:noFill/>
        </p:spPr>
        <p:txBody>
          <a:bodyPr wrap="square" anchor="ctr">
            <a:spAutoFit/>
          </a:bodyPr>
          <a:lstStyle/>
          <a:p>
            <a:pPr algn="l">
              <a:spcAft>
                <a:spcPts val="400"/>
              </a:spcAft>
            </a:pPr>
            <a:r>
              <a:rPr sz="1450" b="1">
                <a:solidFill>
                  <a:srgbClr val="C0392B"/>
                </a:solidFill>
                <a:latin typeface="Arial"/>
              </a:rPr>
              <a:t>Preventive (SCP / policy)</a:t>
            </a:r>
          </a:p>
        </p:txBody>
      </p:sp>
      <p:sp>
        <p:nvSpPr>
          <p:cNvPr id="12" name="TextBox 11"/>
          <p:cNvSpPr txBox="1"/>
          <p:nvPr/>
        </p:nvSpPr>
        <p:spPr>
          <a:xfrm>
            <a:off x="1033272" y="2788920"/>
            <a:ext cx="2880360" cy="3108960"/>
          </a:xfrm>
          <a:prstGeom prst="rect">
            <a:avLst/>
          </a:prstGeom>
          <a:noFill/>
        </p:spPr>
        <p:txBody>
          <a:bodyPr wrap="square" anchor="t">
            <a:spAutoFit/>
          </a:bodyPr>
          <a:lstStyle/>
          <a:p>
            <a:pPr algn="l">
              <a:spcAft>
                <a:spcPts val="400"/>
              </a:spcAft>
            </a:pPr>
            <a:r>
              <a:rPr sz="1250" b="0">
                <a:solidFill>
                  <a:srgbClr val="161B26"/>
                </a:solidFill>
                <a:latin typeface="Arial"/>
              </a:rPr>
              <a:t>Stop the action from ever happening org-wide. Strongest — but blunt; can block legitimate edge cases.</a:t>
            </a:r>
          </a:p>
        </p:txBody>
      </p:sp>
      <p:sp>
        <p:nvSpPr>
          <p:cNvPr id="13" name="Rectangle 12"/>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828032" y="2057400"/>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28032" y="2057400"/>
            <a:ext cx="457200" cy="457200"/>
          </a:xfrm>
          <a:prstGeom prst="rect">
            <a:avLst/>
          </a:prstGeom>
          <a:noFill/>
        </p:spPr>
        <p:txBody>
          <a:bodyPr wrap="square" anchor="ctr">
            <a:spAutoFit/>
          </a:bodyPr>
          <a:lstStyle/>
          <a:p>
            <a:pPr algn="ctr">
              <a:spcAft>
                <a:spcPts val="400"/>
              </a:spcAft>
            </a:pPr>
            <a:r>
              <a:rPr sz="2000" b="1">
                <a:solidFill>
                  <a:srgbClr val="FFFFFF"/>
                </a:solidFill>
                <a:latin typeface="Arial"/>
              </a:rPr>
              <a:t>B</a:t>
            </a:r>
          </a:p>
        </p:txBody>
      </p:sp>
      <p:sp>
        <p:nvSpPr>
          <p:cNvPr id="17" name="TextBox 16"/>
          <p:cNvSpPr txBox="1"/>
          <p:nvPr/>
        </p:nvSpPr>
        <p:spPr>
          <a:xfrm>
            <a:off x="5440680" y="2084831"/>
            <a:ext cx="2286000" cy="640080"/>
          </a:xfrm>
          <a:prstGeom prst="rect">
            <a:avLst/>
          </a:prstGeom>
          <a:noFill/>
        </p:spPr>
        <p:txBody>
          <a:bodyPr wrap="square" anchor="ctr">
            <a:spAutoFit/>
          </a:bodyPr>
          <a:lstStyle/>
          <a:p>
            <a:pPr algn="l">
              <a:spcAft>
                <a:spcPts val="400"/>
              </a:spcAft>
            </a:pPr>
            <a:r>
              <a:rPr sz="1450" b="1">
                <a:solidFill>
                  <a:srgbClr val="7C3AED"/>
                </a:solidFill>
                <a:latin typeface="Arial"/>
              </a:rPr>
              <a:t>Detective (Config / GuardDuty)</a:t>
            </a:r>
          </a:p>
        </p:txBody>
      </p:sp>
      <p:sp>
        <p:nvSpPr>
          <p:cNvPr id="18" name="TextBox 17"/>
          <p:cNvSpPr txBox="1"/>
          <p:nvPr/>
        </p:nvSpPr>
        <p:spPr>
          <a:xfrm>
            <a:off x="4828032" y="2788920"/>
            <a:ext cx="2880360" cy="3108960"/>
          </a:xfrm>
          <a:prstGeom prst="rect">
            <a:avLst/>
          </a:prstGeom>
          <a:noFill/>
        </p:spPr>
        <p:txBody>
          <a:bodyPr wrap="square" anchor="t">
            <a:spAutoFit/>
          </a:bodyPr>
          <a:lstStyle/>
          <a:p>
            <a:pPr algn="l">
              <a:spcAft>
                <a:spcPts val="400"/>
              </a:spcAft>
            </a:pPr>
            <a:r>
              <a:rPr sz="1250" b="0">
                <a:solidFill>
                  <a:srgbClr val="161B26"/>
                </a:solidFill>
                <a:latin typeface="Arial"/>
              </a:rPr>
              <a:t>Allow, but continuously detect and score. Flexible and auditable — leaves a (short) exposure window.</a:t>
            </a:r>
          </a:p>
        </p:txBody>
      </p:sp>
      <p:sp>
        <p:nvSpPr>
          <p:cNvPr id="19" name="Rectangle 18"/>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36676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622792" y="205740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22792" y="2057400"/>
            <a:ext cx="457200" cy="457200"/>
          </a:xfrm>
          <a:prstGeom prst="rect">
            <a:avLst/>
          </a:prstGeom>
          <a:noFill/>
        </p:spPr>
        <p:txBody>
          <a:bodyPr wrap="square" anchor="ctr">
            <a:spAutoFit/>
          </a:bodyPr>
          <a:lstStyle/>
          <a:p>
            <a:pPr algn="ctr">
              <a:spcAft>
                <a:spcPts val="400"/>
              </a:spcAft>
            </a:pPr>
            <a:r>
              <a:rPr sz="2000" b="1">
                <a:solidFill>
                  <a:srgbClr val="FFFFFF"/>
                </a:solidFill>
                <a:latin typeface="Arial"/>
              </a:rPr>
              <a:t>C</a:t>
            </a:r>
          </a:p>
        </p:txBody>
      </p:sp>
      <p:sp>
        <p:nvSpPr>
          <p:cNvPr id="23" name="TextBox 22"/>
          <p:cNvSpPr txBox="1"/>
          <p:nvPr/>
        </p:nvSpPr>
        <p:spPr>
          <a:xfrm>
            <a:off x="9235440" y="2084831"/>
            <a:ext cx="2286000" cy="640080"/>
          </a:xfrm>
          <a:prstGeom prst="rect">
            <a:avLst/>
          </a:prstGeom>
          <a:noFill/>
        </p:spPr>
        <p:txBody>
          <a:bodyPr wrap="square" anchor="ctr">
            <a:spAutoFit/>
          </a:bodyPr>
          <a:lstStyle/>
          <a:p>
            <a:pPr algn="l">
              <a:spcAft>
                <a:spcPts val="400"/>
              </a:spcAft>
            </a:pPr>
            <a:r>
              <a:rPr sz="1450" b="1">
                <a:solidFill>
                  <a:srgbClr val="10B981"/>
                </a:solidFill>
                <a:latin typeface="Arial"/>
              </a:rPr>
              <a:t>Automated remediation</a:t>
            </a:r>
          </a:p>
        </p:txBody>
      </p:sp>
      <p:sp>
        <p:nvSpPr>
          <p:cNvPr id="24" name="TextBox 23"/>
          <p:cNvSpPr txBox="1"/>
          <p:nvPr/>
        </p:nvSpPr>
        <p:spPr>
          <a:xfrm>
            <a:off x="8622792" y="2788920"/>
            <a:ext cx="2880360" cy="3108960"/>
          </a:xfrm>
          <a:prstGeom prst="rect">
            <a:avLst/>
          </a:prstGeom>
          <a:noFill/>
        </p:spPr>
        <p:txBody>
          <a:bodyPr wrap="square" anchor="t">
            <a:spAutoFit/>
          </a:bodyPr>
          <a:lstStyle/>
          <a:p>
            <a:pPr algn="l">
              <a:spcAft>
                <a:spcPts val="400"/>
              </a:spcAft>
            </a:pPr>
            <a:r>
              <a:rPr sz="1250" b="0">
                <a:solidFill>
                  <a:srgbClr val="161B26"/>
                </a:solidFill>
                <a:latin typeface="Arial"/>
              </a:rPr>
              <a:t>Detect then auto-fix (Config → SSM). Closes the window fast — needs careful scoping and logging.</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546</a:t>
            </a:r>
          </a:p>
        </p:txBody>
      </p:sp>
    </p:spTree>
  </p:cSld>
  <p:clrMapOvr>
    <a:masterClrMapping/>
  </p:clrMapOvr>
  <p:transition xmlns:p14="http://schemas.microsoft.com/office/powerpoint/2010/main" p14:dur="380">
    <p:fade/>
  </p:transition>
</p:sld>
</file>

<file path=ppt/slides/slide5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EVIDENCE ON DEMAND</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Scenario — Passing an external security audit</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91440" cy="91440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1847088"/>
            <a:ext cx="2194560" cy="320040"/>
          </a:xfrm>
          <a:prstGeom prst="rect">
            <a:avLst/>
          </a:prstGeom>
          <a:noFill/>
        </p:spPr>
        <p:txBody>
          <a:bodyPr wrap="square" anchor="t">
            <a:spAutoFit/>
          </a:bodyPr>
          <a:lstStyle/>
          <a:p>
            <a:pPr algn="l">
              <a:spcAft>
                <a:spcPts val="400"/>
              </a:spcAft>
            </a:pPr>
            <a:r>
              <a:rPr sz="1150" b="1">
                <a:solidFill>
                  <a:srgbClr val="5B6372"/>
                </a:solidFill>
                <a:latin typeface="Arial"/>
              </a:rPr>
              <a:t>SITUATION</a:t>
            </a:r>
          </a:p>
        </p:txBody>
      </p:sp>
      <p:sp>
        <p:nvSpPr>
          <p:cNvPr id="10" name="TextBox 9"/>
          <p:cNvSpPr txBox="1"/>
          <p:nvPr/>
        </p:nvSpPr>
        <p:spPr>
          <a:xfrm>
            <a:off x="1033272" y="2157984"/>
            <a:ext cx="10085832" cy="457200"/>
          </a:xfrm>
          <a:prstGeom prst="rect">
            <a:avLst/>
          </a:prstGeom>
          <a:noFill/>
        </p:spPr>
        <p:txBody>
          <a:bodyPr wrap="square" anchor="t">
            <a:spAutoFit/>
          </a:bodyPr>
          <a:lstStyle/>
          <a:p>
            <a:pPr algn="l">
              <a:spcAft>
                <a:spcPts val="400"/>
              </a:spcAft>
            </a:pPr>
            <a:r>
              <a:rPr sz="1300" b="0">
                <a:solidFill>
                  <a:srgbClr val="161B26"/>
                </a:solidFill>
                <a:latin typeface="Arial"/>
              </a:rPr>
              <a:t>An auditor asks you to prove that all volumes are encrypted and no bucket is public, historically and now.</a:t>
            </a:r>
          </a:p>
        </p:txBody>
      </p:sp>
      <p:sp>
        <p:nvSpPr>
          <p:cNvPr id="11" name="Rectangle 10"/>
          <p:cNvSpPr/>
          <p:nvPr/>
        </p:nvSpPr>
        <p:spPr>
          <a:xfrm>
            <a:off x="777240" y="2788920"/>
            <a:ext cx="10634472" cy="21945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788920"/>
            <a:ext cx="91440"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880360"/>
            <a:ext cx="2743200" cy="320040"/>
          </a:xfrm>
          <a:prstGeom prst="rect">
            <a:avLst/>
          </a:prstGeom>
          <a:noFill/>
        </p:spPr>
        <p:txBody>
          <a:bodyPr wrap="square" anchor="t">
            <a:spAutoFit/>
          </a:bodyPr>
          <a:lstStyle/>
          <a:p>
            <a:pPr algn="l">
              <a:spcAft>
                <a:spcPts val="400"/>
              </a:spcAft>
            </a:pPr>
            <a:r>
              <a:rPr sz="1150" b="1">
                <a:solidFill>
                  <a:srgbClr val="C0392B"/>
                </a:solidFill>
                <a:latin typeface="Arial"/>
              </a:rPr>
              <a:t>ANALYSIS</a:t>
            </a:r>
          </a:p>
        </p:txBody>
      </p:sp>
      <p:sp>
        <p:nvSpPr>
          <p:cNvPr id="14" name="TextBox 13"/>
          <p:cNvSpPr txBox="1"/>
          <p:nvPr/>
        </p:nvSpPr>
        <p:spPr>
          <a:xfrm>
            <a:off x="1033272" y="3246120"/>
            <a:ext cx="9994392" cy="1645920"/>
          </a:xfrm>
          <a:prstGeom prst="rect">
            <a:avLst/>
          </a:prstGeom>
          <a:noFill/>
        </p:spPr>
        <p:txBody>
          <a:bodyPr wrap="square">
            <a:spAutoFit/>
          </a:bodyPr>
          <a:lstStyle/>
          <a:p>
            <a:pPr>
              <a:spcAft>
                <a:spcPts val="700"/>
              </a:spcAft>
            </a:pPr>
            <a:r>
              <a:rPr sz="1300" b="0">
                <a:solidFill>
                  <a:srgbClr val="161B26"/>
                </a:solidFill>
                <a:latin typeface="Arial"/>
              </a:rPr>
              <a:t>•  Point-in-time console screenshots don't prove continuous compliance over the audit period.</a:t>
            </a:r>
          </a:p>
          <a:p>
            <a:pPr>
              <a:spcAft>
                <a:spcPts val="700"/>
              </a:spcAft>
            </a:pPr>
            <a:r>
              <a:rPr sz="1300" b="0">
                <a:solidFill>
                  <a:srgbClr val="161B26"/>
                </a:solidFill>
                <a:latin typeface="Arial"/>
              </a:rPr>
              <a:t>•  AWS Config records configuration history and rule-compliance over time — that history is the evidence.</a:t>
            </a:r>
          </a:p>
          <a:p>
            <a:pPr>
              <a:spcAft>
                <a:spcPts val="700"/>
              </a:spcAft>
            </a:pPr>
            <a:r>
              <a:rPr sz="1300" b="0">
                <a:solidFill>
                  <a:srgbClr val="161B26"/>
                </a:solidFill>
                <a:latin typeface="Arial"/>
              </a:rPr>
              <a:t>•  CloudTrail with log-file validation proves the audit record itself wasn't tampered with.</a:t>
            </a:r>
          </a:p>
        </p:txBody>
      </p:sp>
      <p:sp>
        <p:nvSpPr>
          <p:cNvPr id="15" name="Rectangle 14"/>
          <p:cNvSpPr/>
          <p:nvPr/>
        </p:nvSpPr>
        <p:spPr>
          <a:xfrm>
            <a:off x="777240" y="5102352"/>
            <a:ext cx="10634472"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5102352"/>
            <a:ext cx="91440" cy="9601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2" y="5193792"/>
            <a:ext cx="2743200" cy="320040"/>
          </a:xfrm>
          <a:prstGeom prst="rect">
            <a:avLst/>
          </a:prstGeom>
          <a:noFill/>
        </p:spPr>
        <p:txBody>
          <a:bodyPr wrap="square" anchor="t">
            <a:spAutoFit/>
          </a:bodyPr>
          <a:lstStyle/>
          <a:p>
            <a:pPr algn="l">
              <a:spcAft>
                <a:spcPts val="400"/>
              </a:spcAft>
            </a:pPr>
            <a:r>
              <a:rPr sz="1150" b="1">
                <a:solidFill>
                  <a:srgbClr val="10B981"/>
                </a:solidFill>
                <a:latin typeface="Arial"/>
              </a:rPr>
              <a:t>DECISION</a:t>
            </a:r>
          </a:p>
        </p:txBody>
      </p:sp>
      <p:sp>
        <p:nvSpPr>
          <p:cNvPr id="18" name="TextBox 17"/>
          <p:cNvSpPr txBox="1"/>
          <p:nvPr/>
        </p:nvSpPr>
        <p:spPr>
          <a:xfrm>
            <a:off x="1033272" y="5486400"/>
            <a:ext cx="10085832" cy="548640"/>
          </a:xfrm>
          <a:prstGeom prst="rect">
            <a:avLst/>
          </a:prstGeom>
          <a:noFill/>
        </p:spPr>
        <p:txBody>
          <a:bodyPr wrap="square" anchor="t">
            <a:spAutoFit/>
          </a:bodyPr>
          <a:lstStyle/>
          <a:p>
            <a:pPr algn="l">
              <a:spcAft>
                <a:spcPts val="400"/>
              </a:spcAft>
            </a:pPr>
            <a:r>
              <a:rPr sz="1300" b="1">
                <a:solidFill>
                  <a:srgbClr val="161B26"/>
                </a:solidFill>
                <a:latin typeface="Arial"/>
              </a:rPr>
              <a:t>Present Config compliance history and conformance-pack results as continuous evidence, backed by a validated CloudTrail — turning audit from a scramble into a query.</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547</a:t>
            </a:r>
          </a:p>
        </p:txBody>
      </p:sp>
    </p:spTree>
  </p:cSld>
  <p:clrMapOvr>
    <a:masterClrMapping/>
  </p:clrMapOvr>
  <p:transition xmlns:p14="http://schemas.microsoft.com/office/powerpoint/2010/main" p14:dur="380">
    <p:fade/>
  </p:transition>
</p:sld>
</file>

<file path=ppt/slides/slide5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LEAST PRIVILEGE IN PRACTICE</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Scenario — An app needs one new permission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91440" cy="91440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1847088"/>
            <a:ext cx="2194560" cy="320040"/>
          </a:xfrm>
          <a:prstGeom prst="rect">
            <a:avLst/>
          </a:prstGeom>
          <a:noFill/>
        </p:spPr>
        <p:txBody>
          <a:bodyPr wrap="square" anchor="t">
            <a:spAutoFit/>
          </a:bodyPr>
          <a:lstStyle/>
          <a:p>
            <a:pPr algn="l">
              <a:spcAft>
                <a:spcPts val="400"/>
              </a:spcAft>
            </a:pPr>
            <a:r>
              <a:rPr sz="1150" b="1">
                <a:solidFill>
                  <a:srgbClr val="5B6372"/>
                </a:solidFill>
                <a:latin typeface="Arial"/>
              </a:rPr>
              <a:t>SITUATION</a:t>
            </a:r>
          </a:p>
        </p:txBody>
      </p:sp>
      <p:sp>
        <p:nvSpPr>
          <p:cNvPr id="10" name="TextBox 9"/>
          <p:cNvSpPr txBox="1"/>
          <p:nvPr/>
        </p:nvSpPr>
        <p:spPr>
          <a:xfrm>
            <a:off x="1033272" y="2157984"/>
            <a:ext cx="10085832" cy="457200"/>
          </a:xfrm>
          <a:prstGeom prst="rect">
            <a:avLst/>
          </a:prstGeom>
          <a:noFill/>
        </p:spPr>
        <p:txBody>
          <a:bodyPr wrap="square" anchor="t">
            <a:spAutoFit/>
          </a:bodyPr>
          <a:lstStyle/>
          <a:p>
            <a:pPr algn="l">
              <a:spcAft>
                <a:spcPts val="400"/>
              </a:spcAft>
            </a:pPr>
            <a:r>
              <a:rPr sz="1300" b="0">
                <a:solidFill>
                  <a:srgbClr val="161B26"/>
                </a:solidFill>
                <a:latin typeface="Arial"/>
              </a:rPr>
              <a:t>A service fails with AccessDenied writing to a new S3 prefix. The quick fix is to grant s3:* on all buckets.</a:t>
            </a:r>
          </a:p>
        </p:txBody>
      </p:sp>
      <p:sp>
        <p:nvSpPr>
          <p:cNvPr id="11" name="Rectangle 10"/>
          <p:cNvSpPr/>
          <p:nvPr/>
        </p:nvSpPr>
        <p:spPr>
          <a:xfrm>
            <a:off x="777240" y="2788920"/>
            <a:ext cx="10634472" cy="21945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788920"/>
            <a:ext cx="91440"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880360"/>
            <a:ext cx="2743200" cy="320040"/>
          </a:xfrm>
          <a:prstGeom prst="rect">
            <a:avLst/>
          </a:prstGeom>
          <a:noFill/>
        </p:spPr>
        <p:txBody>
          <a:bodyPr wrap="square" anchor="t">
            <a:spAutoFit/>
          </a:bodyPr>
          <a:lstStyle/>
          <a:p>
            <a:pPr algn="l">
              <a:spcAft>
                <a:spcPts val="400"/>
              </a:spcAft>
            </a:pPr>
            <a:r>
              <a:rPr sz="1150" b="1">
                <a:solidFill>
                  <a:srgbClr val="C0392B"/>
                </a:solidFill>
                <a:latin typeface="Arial"/>
              </a:rPr>
              <a:t>ANALYSIS</a:t>
            </a:r>
          </a:p>
        </p:txBody>
      </p:sp>
      <p:sp>
        <p:nvSpPr>
          <p:cNvPr id="14" name="TextBox 13"/>
          <p:cNvSpPr txBox="1"/>
          <p:nvPr/>
        </p:nvSpPr>
        <p:spPr>
          <a:xfrm>
            <a:off x="1033272" y="3246120"/>
            <a:ext cx="9994392" cy="1645920"/>
          </a:xfrm>
          <a:prstGeom prst="rect">
            <a:avLst/>
          </a:prstGeom>
          <a:noFill/>
        </p:spPr>
        <p:txBody>
          <a:bodyPr wrap="square">
            <a:spAutoFit/>
          </a:bodyPr>
          <a:lstStyle/>
          <a:p>
            <a:pPr>
              <a:spcAft>
                <a:spcPts val="700"/>
              </a:spcAft>
            </a:pPr>
            <a:r>
              <a:rPr sz="1300" b="0">
                <a:solidFill>
                  <a:srgbClr val="161B26"/>
                </a:solidFill>
                <a:latin typeface="Arial"/>
              </a:rPr>
              <a:t>•  A wildcard grant fixes the error but massively widens blast radius if the role is ever compromised.</a:t>
            </a:r>
          </a:p>
          <a:p>
            <a:pPr>
              <a:spcAft>
                <a:spcPts val="700"/>
              </a:spcAft>
            </a:pPr>
            <a:r>
              <a:rPr sz="1300" b="0">
                <a:solidFill>
                  <a:srgbClr val="161B26"/>
                </a:solidFill>
                <a:latin typeface="Arial"/>
              </a:rPr>
              <a:t>•  IAM Access Analyzer can generate a policy scoped to exactly the actions and resources the app used.</a:t>
            </a:r>
          </a:p>
          <a:p>
            <a:pPr>
              <a:spcAft>
                <a:spcPts val="700"/>
              </a:spcAft>
            </a:pPr>
            <a:r>
              <a:rPr sz="1300" b="0">
                <a:solidFill>
                  <a:srgbClr val="161B26"/>
                </a:solidFill>
                <a:latin typeface="Arial"/>
              </a:rPr>
              <a:t>•  The correct grant is s3:PutObject on that specific bucket/prefix, nothing more.</a:t>
            </a:r>
          </a:p>
        </p:txBody>
      </p:sp>
      <p:sp>
        <p:nvSpPr>
          <p:cNvPr id="15" name="Rectangle 14"/>
          <p:cNvSpPr/>
          <p:nvPr/>
        </p:nvSpPr>
        <p:spPr>
          <a:xfrm>
            <a:off x="777240" y="5102352"/>
            <a:ext cx="10634472"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5102352"/>
            <a:ext cx="91440" cy="9601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2" y="5193792"/>
            <a:ext cx="2743200" cy="320040"/>
          </a:xfrm>
          <a:prstGeom prst="rect">
            <a:avLst/>
          </a:prstGeom>
          <a:noFill/>
        </p:spPr>
        <p:txBody>
          <a:bodyPr wrap="square" anchor="t">
            <a:spAutoFit/>
          </a:bodyPr>
          <a:lstStyle/>
          <a:p>
            <a:pPr algn="l">
              <a:spcAft>
                <a:spcPts val="400"/>
              </a:spcAft>
            </a:pPr>
            <a:r>
              <a:rPr sz="1150" b="1">
                <a:solidFill>
                  <a:srgbClr val="10B981"/>
                </a:solidFill>
                <a:latin typeface="Arial"/>
              </a:rPr>
              <a:t>DECISION</a:t>
            </a:r>
          </a:p>
        </p:txBody>
      </p:sp>
      <p:sp>
        <p:nvSpPr>
          <p:cNvPr id="18" name="TextBox 17"/>
          <p:cNvSpPr txBox="1"/>
          <p:nvPr/>
        </p:nvSpPr>
        <p:spPr>
          <a:xfrm>
            <a:off x="1033272" y="5486400"/>
            <a:ext cx="10085832" cy="548640"/>
          </a:xfrm>
          <a:prstGeom prst="rect">
            <a:avLst/>
          </a:prstGeom>
          <a:noFill/>
        </p:spPr>
        <p:txBody>
          <a:bodyPr wrap="square" anchor="t">
            <a:spAutoFit/>
          </a:bodyPr>
          <a:lstStyle/>
          <a:p>
            <a:pPr algn="l">
              <a:spcAft>
                <a:spcPts val="400"/>
              </a:spcAft>
            </a:pPr>
            <a:r>
              <a:rPr sz="1300" b="1">
                <a:solidFill>
                  <a:srgbClr val="161B26"/>
                </a:solidFill>
                <a:latin typeface="Arial"/>
              </a:rPr>
              <a:t>Grant the single scoped permission the app actually needs (not a wildcard), using Access Analyzer to right-size the policy — keeping least privilege intact under time pressure.</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548</a:t>
            </a:r>
          </a:p>
        </p:txBody>
      </p:sp>
    </p:spTree>
  </p:cSld>
  <p:clrMapOvr>
    <a:masterClrMapping/>
  </p:clrMapOvr>
  <p:transition xmlns:p14="http://schemas.microsoft.com/office/powerpoint/2010/main" p14:dur="380">
    <p:fade/>
  </p:transition>
</p:sld>
</file>

<file path=ppt/slides/slide5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FROM POLICY TO GUARDRAILS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Worked Analysis — Building a Compliance Blueprint</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4253788" cy="76581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73152" cy="76581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31028" y="1783080"/>
            <a:ext cx="6380684" cy="76581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8408" y="1783080"/>
            <a:ext cx="3933748" cy="765810"/>
          </a:xfrm>
          <a:prstGeom prst="rect">
            <a:avLst/>
          </a:prstGeom>
          <a:noFill/>
        </p:spPr>
        <p:txBody>
          <a:bodyPr wrap="square" anchor="ctr">
            <a:spAutoFit/>
          </a:bodyPr>
          <a:lstStyle/>
          <a:p>
            <a:pPr algn="l">
              <a:spcAft>
                <a:spcPts val="400"/>
              </a:spcAft>
            </a:pPr>
            <a:r>
              <a:rPr sz="1250" b="1">
                <a:solidFill>
                  <a:srgbClr val="161B26"/>
                </a:solidFill>
                <a:latin typeface="Arial"/>
              </a:rPr>
              <a:t>Requirement: encrypt all data at rest</a:t>
            </a:r>
          </a:p>
        </p:txBody>
      </p:sp>
      <p:sp>
        <p:nvSpPr>
          <p:cNvPr id="11" name="TextBox 10"/>
          <p:cNvSpPr txBox="1"/>
          <p:nvPr/>
        </p:nvSpPr>
        <p:spPr>
          <a:xfrm>
            <a:off x="5213908" y="1783080"/>
            <a:ext cx="6060644" cy="765810"/>
          </a:xfrm>
          <a:prstGeom prst="rect">
            <a:avLst/>
          </a:prstGeom>
          <a:noFill/>
        </p:spPr>
        <p:txBody>
          <a:bodyPr wrap="square" anchor="ctr">
            <a:spAutoFit/>
          </a:bodyPr>
          <a:lstStyle/>
          <a:p>
            <a:pPr algn="l">
              <a:spcAft>
                <a:spcPts val="400"/>
              </a:spcAft>
            </a:pPr>
            <a:r>
              <a:rPr sz="1200" b="0">
                <a:solidFill>
                  <a:srgbClr val="5B6372"/>
                </a:solidFill>
                <a:latin typeface="Arial"/>
              </a:rPr>
              <a:t>Config rule encrypted-volumes + S3 default encryption; KMS keys with scoped policies.</a:t>
            </a:r>
          </a:p>
        </p:txBody>
      </p:sp>
      <p:sp>
        <p:nvSpPr>
          <p:cNvPr id="12" name="Rectangle 11"/>
          <p:cNvSpPr/>
          <p:nvPr/>
        </p:nvSpPr>
        <p:spPr>
          <a:xfrm>
            <a:off x="777240" y="2548890"/>
            <a:ext cx="4253788" cy="76581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548890"/>
            <a:ext cx="73152" cy="76581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31028" y="2548890"/>
            <a:ext cx="6380684" cy="76581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78408" y="2548890"/>
            <a:ext cx="3933748" cy="765810"/>
          </a:xfrm>
          <a:prstGeom prst="rect">
            <a:avLst/>
          </a:prstGeom>
          <a:noFill/>
        </p:spPr>
        <p:txBody>
          <a:bodyPr wrap="square" anchor="ctr">
            <a:spAutoFit/>
          </a:bodyPr>
          <a:lstStyle/>
          <a:p>
            <a:pPr algn="l">
              <a:spcAft>
                <a:spcPts val="400"/>
              </a:spcAft>
            </a:pPr>
            <a:r>
              <a:rPr sz="1250" b="1">
                <a:solidFill>
                  <a:srgbClr val="161B26"/>
                </a:solidFill>
                <a:latin typeface="Arial"/>
              </a:rPr>
              <a:t>Requirement: no public data</a:t>
            </a:r>
          </a:p>
        </p:txBody>
      </p:sp>
      <p:sp>
        <p:nvSpPr>
          <p:cNvPr id="16" name="TextBox 15"/>
          <p:cNvSpPr txBox="1"/>
          <p:nvPr/>
        </p:nvSpPr>
        <p:spPr>
          <a:xfrm>
            <a:off x="5213908" y="2548890"/>
            <a:ext cx="6060644" cy="765810"/>
          </a:xfrm>
          <a:prstGeom prst="rect">
            <a:avLst/>
          </a:prstGeom>
          <a:noFill/>
        </p:spPr>
        <p:txBody>
          <a:bodyPr wrap="square" anchor="ctr">
            <a:spAutoFit/>
          </a:bodyPr>
          <a:lstStyle/>
          <a:p>
            <a:pPr algn="l">
              <a:spcAft>
                <a:spcPts val="400"/>
              </a:spcAft>
            </a:pPr>
            <a:r>
              <a:rPr sz="1200" b="0">
                <a:solidFill>
                  <a:srgbClr val="5B6372"/>
                </a:solidFill>
                <a:latin typeface="Arial"/>
              </a:rPr>
              <a:t>S3 Block Public Access org-wide + s3-bucket-public-read-prohibited rule.</a:t>
            </a:r>
          </a:p>
        </p:txBody>
      </p:sp>
      <p:sp>
        <p:nvSpPr>
          <p:cNvPr id="17" name="Rectangle 16"/>
          <p:cNvSpPr/>
          <p:nvPr/>
        </p:nvSpPr>
        <p:spPr>
          <a:xfrm>
            <a:off x="777240" y="3314700"/>
            <a:ext cx="4253788" cy="76581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4700"/>
            <a:ext cx="73152" cy="76581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31028" y="3314700"/>
            <a:ext cx="6380684" cy="76581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3314700"/>
            <a:ext cx="3933748" cy="765810"/>
          </a:xfrm>
          <a:prstGeom prst="rect">
            <a:avLst/>
          </a:prstGeom>
          <a:noFill/>
        </p:spPr>
        <p:txBody>
          <a:bodyPr wrap="square" anchor="ctr">
            <a:spAutoFit/>
          </a:bodyPr>
          <a:lstStyle/>
          <a:p>
            <a:pPr algn="l">
              <a:spcAft>
                <a:spcPts val="400"/>
              </a:spcAft>
            </a:pPr>
            <a:r>
              <a:rPr sz="1250" b="1">
                <a:solidFill>
                  <a:srgbClr val="161B26"/>
                </a:solidFill>
                <a:latin typeface="Arial"/>
              </a:rPr>
              <a:t>Requirement: full audit trail</a:t>
            </a:r>
          </a:p>
        </p:txBody>
      </p:sp>
      <p:sp>
        <p:nvSpPr>
          <p:cNvPr id="21" name="TextBox 20"/>
          <p:cNvSpPr txBox="1"/>
          <p:nvPr/>
        </p:nvSpPr>
        <p:spPr>
          <a:xfrm>
            <a:off x="5213908" y="3314700"/>
            <a:ext cx="6060644" cy="765810"/>
          </a:xfrm>
          <a:prstGeom prst="rect">
            <a:avLst/>
          </a:prstGeom>
          <a:noFill/>
        </p:spPr>
        <p:txBody>
          <a:bodyPr wrap="square" anchor="ctr">
            <a:spAutoFit/>
          </a:bodyPr>
          <a:lstStyle/>
          <a:p>
            <a:pPr algn="l">
              <a:spcAft>
                <a:spcPts val="400"/>
              </a:spcAft>
            </a:pPr>
            <a:r>
              <a:rPr sz="1200" b="0">
                <a:solidFill>
                  <a:srgbClr val="5B6372"/>
                </a:solidFill>
                <a:latin typeface="Arial"/>
              </a:rPr>
              <a:t>Org CloudTrail to an encrypted, access-controlled logging account with validation.</a:t>
            </a:r>
          </a:p>
        </p:txBody>
      </p:sp>
      <p:sp>
        <p:nvSpPr>
          <p:cNvPr id="22" name="Rectangle 21"/>
          <p:cNvSpPr/>
          <p:nvPr/>
        </p:nvSpPr>
        <p:spPr>
          <a:xfrm>
            <a:off x="777240" y="4080510"/>
            <a:ext cx="4253788" cy="76581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080510"/>
            <a:ext cx="73152" cy="76581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031028" y="4080510"/>
            <a:ext cx="6380684" cy="76581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8408" y="4080510"/>
            <a:ext cx="3933748" cy="765810"/>
          </a:xfrm>
          <a:prstGeom prst="rect">
            <a:avLst/>
          </a:prstGeom>
          <a:noFill/>
        </p:spPr>
        <p:txBody>
          <a:bodyPr wrap="square" anchor="ctr">
            <a:spAutoFit/>
          </a:bodyPr>
          <a:lstStyle/>
          <a:p>
            <a:pPr algn="l">
              <a:spcAft>
                <a:spcPts val="400"/>
              </a:spcAft>
            </a:pPr>
            <a:r>
              <a:rPr sz="1250" b="1">
                <a:solidFill>
                  <a:srgbClr val="161B26"/>
                </a:solidFill>
                <a:latin typeface="Arial"/>
              </a:rPr>
              <a:t>Requirement: least-privilege identity</a:t>
            </a:r>
          </a:p>
        </p:txBody>
      </p:sp>
      <p:sp>
        <p:nvSpPr>
          <p:cNvPr id="26" name="TextBox 25"/>
          <p:cNvSpPr txBox="1"/>
          <p:nvPr/>
        </p:nvSpPr>
        <p:spPr>
          <a:xfrm>
            <a:off x="5213908" y="4080510"/>
            <a:ext cx="6060644" cy="765810"/>
          </a:xfrm>
          <a:prstGeom prst="rect">
            <a:avLst/>
          </a:prstGeom>
          <a:noFill/>
        </p:spPr>
        <p:txBody>
          <a:bodyPr wrap="square" anchor="ctr">
            <a:spAutoFit/>
          </a:bodyPr>
          <a:lstStyle/>
          <a:p>
            <a:pPr algn="l">
              <a:spcAft>
                <a:spcPts val="400"/>
              </a:spcAft>
            </a:pPr>
            <a:r>
              <a:rPr sz="1200" b="0">
                <a:solidFill>
                  <a:srgbClr val="5B6372"/>
                </a:solidFill>
                <a:latin typeface="Arial"/>
              </a:rPr>
              <a:t>Roles + Identity Center + permission boundaries + Access Analyzer reviews.</a:t>
            </a:r>
          </a:p>
        </p:txBody>
      </p:sp>
      <p:sp>
        <p:nvSpPr>
          <p:cNvPr id="27" name="Rectangle 26"/>
          <p:cNvSpPr/>
          <p:nvPr/>
        </p:nvSpPr>
        <p:spPr>
          <a:xfrm>
            <a:off x="777240" y="5010912"/>
            <a:ext cx="10634472" cy="868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010912"/>
            <a:ext cx="91440" cy="8686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33272" y="5102352"/>
            <a:ext cx="2743200" cy="320040"/>
          </a:xfrm>
          <a:prstGeom prst="rect">
            <a:avLst/>
          </a:prstGeom>
          <a:noFill/>
        </p:spPr>
        <p:txBody>
          <a:bodyPr wrap="square" anchor="t">
            <a:spAutoFit/>
          </a:bodyPr>
          <a:lstStyle/>
          <a:p>
            <a:pPr algn="l">
              <a:spcAft>
                <a:spcPts val="400"/>
              </a:spcAft>
            </a:pPr>
            <a:r>
              <a:rPr sz="1150" b="1">
                <a:solidFill>
                  <a:srgbClr val="10B981"/>
                </a:solidFill>
                <a:latin typeface="Arial"/>
              </a:rPr>
              <a:t>TAKEAWAY</a:t>
            </a:r>
          </a:p>
        </p:txBody>
      </p:sp>
      <p:sp>
        <p:nvSpPr>
          <p:cNvPr id="30" name="TextBox 29"/>
          <p:cNvSpPr txBox="1"/>
          <p:nvPr/>
        </p:nvSpPr>
        <p:spPr>
          <a:xfrm>
            <a:off x="1033272" y="5394960"/>
            <a:ext cx="10085832" cy="457200"/>
          </a:xfrm>
          <a:prstGeom prst="rect">
            <a:avLst/>
          </a:prstGeom>
          <a:noFill/>
        </p:spPr>
        <p:txBody>
          <a:bodyPr wrap="square" anchor="t">
            <a:spAutoFit/>
          </a:bodyPr>
          <a:lstStyle/>
          <a:p>
            <a:pPr algn="l">
              <a:spcAft>
                <a:spcPts val="400"/>
              </a:spcAft>
            </a:pPr>
            <a:r>
              <a:rPr sz="1300" b="1">
                <a:solidFill>
                  <a:srgbClr val="161B26"/>
                </a:solidFill>
                <a:latin typeface="Arial"/>
              </a:rPr>
              <a:t>A compliance blueprint maps each written requirement to a concrete, testable AWS control — so 'we are compliant' is something you can prove, continuously.</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549</a:t>
            </a:r>
          </a:p>
        </p:txBody>
      </p:sp>
    </p:spTree>
  </p:cSld>
  <p:clrMapOvr>
    <a:masterClrMapping/>
  </p:clrMapOvr>
  <p:transition xmlns:p14="http://schemas.microsoft.com/office/powerpoint/2010/main" p14:dur="380">
    <p:fade/>
  </p:transition>
</p:sld>
</file>

<file path=ppt/slides/slide5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DOMAIN 6 · IAM · IAM IDENTITY CENTER · STS · RESOURCE POLICIES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AWS foundations: Identity and temporary access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PURPOSE</a:t>
            </a:r>
          </a:p>
          <a:p>
            <a:pPr algn="l">
              <a:spcAft>
                <a:spcPts val="300"/>
              </a:spcAft>
            </a:pPr>
            <a:r>
              <a:rPr sz="1050" b="0">
                <a:solidFill>
                  <a:srgbClr val="5B6372"/>
                </a:solidFill>
                <a:latin typeface="Arial"/>
              </a:rPr>
              <a:t>Grant human and workload access through least privilege, federation and short-lived sessions.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FEATURE 1</a:t>
            </a:r>
          </a:p>
          <a:p>
            <a:pPr algn="l">
              <a:spcAft>
                <a:spcPts val="300"/>
              </a:spcAft>
            </a:pPr>
            <a:r>
              <a:rPr sz="1050" b="0">
                <a:solidFill>
                  <a:srgbClr val="5B6372"/>
                </a:solidFill>
                <a:latin typeface="Arial"/>
              </a:rPr>
              <a:t>Identity policies, resource policies, permission boundaries and SCPs intersect to determine effective access.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FEATURE 2</a:t>
            </a:r>
          </a:p>
          <a:p>
            <a:pPr algn="l">
              <a:spcAft>
                <a:spcPts val="300"/>
              </a:spcAft>
            </a:pPr>
            <a:r>
              <a:rPr sz="1050" b="0">
                <a:solidFill>
                  <a:srgbClr val="5B6372"/>
                </a:solidFill>
                <a:latin typeface="Arial"/>
              </a:rPr>
              <a:t>STS issues temporary credentials for roles and federation.</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FEATURE 3</a:t>
            </a:r>
          </a:p>
          <a:p>
            <a:pPr algn="l">
              <a:spcAft>
                <a:spcPts val="300"/>
              </a:spcAft>
            </a:pPr>
            <a:r>
              <a:rPr sz="1050" b="0">
                <a:solidFill>
                  <a:srgbClr val="5B6372"/>
                </a:solidFill>
                <a:latin typeface="Arial"/>
              </a:rPr>
              <a:t>IAM Identity Center assigns workforce access across accounts/applications using permission sets.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550</a:t>
            </a:r>
          </a:p>
        </p:txBody>
      </p:sp>
    </p:spTree>
  </p:cSld>
  <p:clrMapOvr>
    <a:masterClrMapping/>
  </p:clrMapOvr>
  <p:transition xmlns:p14="http://schemas.microsoft.com/office/powerpoint/2010/main" p14:dur="380">
    <p:fade/>
  </p:transition>
</p:sld>
</file>

<file path=ppt/slides/slide5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DOMAIN 6 · SERVICE DECISION</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Identity and temporary access: selection and controls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CHOOSE WHEN</a:t>
            </a:r>
          </a:p>
          <a:p>
            <a:pPr algn="l">
              <a:spcAft>
                <a:spcPts val="300"/>
              </a:spcAft>
            </a:pPr>
            <a:r>
              <a:rPr sz="1050" b="0">
                <a:solidFill>
                  <a:srgbClr val="5B6372"/>
                </a:solidFill>
                <a:latin typeface="Arial"/>
              </a:rPr>
              <a:t>Use roles and federation for humans/workloads; use resource policies for cross-principal resource access where supported.</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DEVOPS ENGINEERING</a:t>
            </a:r>
          </a:p>
          <a:p>
            <a:pPr algn="l">
              <a:spcAft>
                <a:spcPts val="300"/>
              </a:spcAft>
            </a:pPr>
            <a:r>
              <a:rPr sz="1050" b="0">
                <a:solidFill>
                  <a:srgbClr val="5B6372"/>
                </a:solidFill>
                <a:latin typeface="Arial"/>
              </a:rPr>
              <a:t>Constrain trust policies, require context such as ExternalId/tags where appropriate, analyse access and remove unused permission.</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MODE</a:t>
            </a:r>
          </a:p>
          <a:p>
            <a:pPr algn="l">
              <a:spcAft>
                <a:spcPts val="300"/>
              </a:spcAft>
            </a:pPr>
            <a:r>
              <a:rPr sz="1050" b="0">
                <a:solidFill>
                  <a:srgbClr val="5B6372"/>
                </a:solidFill>
                <a:latin typeface="Arial"/>
              </a:rPr>
              <a:t>An Allow can still be blocked by an explicit deny, permission boundary, session policy or SCP.</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EVIDENCE</a:t>
            </a:r>
          </a:p>
          <a:p>
            <a:pPr algn="l">
              <a:spcAft>
                <a:spcPts val="300"/>
              </a:spcAft>
            </a:pPr>
            <a:r>
              <a:rPr sz="1050" b="0">
                <a:solidFill>
                  <a:srgbClr val="5B6372"/>
                </a:solidFill>
                <a:latin typeface="Arial"/>
              </a:rPr>
              <a:t>Principal/session, evaluated policy layers, Access Analyzer finding, CloudTrail event and last-accessed data.</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551</a:t>
            </a:r>
          </a:p>
        </p:txBody>
      </p:sp>
    </p:spTree>
  </p:cSld>
  <p:clrMapOvr>
    <a:masterClrMapping/>
  </p:clrMapOvr>
  <p:transition xmlns:p14="http://schemas.microsoft.com/office/powerpoint/2010/main" p14:dur="380">
    <p:fade/>
  </p:transition>
</p:sld>
</file>

<file path=ppt/slides/slide5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DOMAIN 6 · KMS · SECRETS MANAGER · PARAMETER STORE · ACM</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AWS foundations: Encryption and secrets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PURPOSE</a:t>
            </a:r>
          </a:p>
          <a:p>
            <a:pPr algn="l">
              <a:spcAft>
                <a:spcPts val="300"/>
              </a:spcAft>
            </a:pPr>
            <a:r>
              <a:rPr sz="1050" b="0">
                <a:solidFill>
                  <a:srgbClr val="5B6372"/>
                </a:solidFill>
                <a:latin typeface="Arial"/>
              </a:rPr>
              <a:t>Protect data and credentials through governed keys, rotation and workload-time retrieval.</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FEATURE 1</a:t>
            </a:r>
          </a:p>
          <a:p>
            <a:pPr algn="l">
              <a:spcAft>
                <a:spcPts val="300"/>
              </a:spcAft>
            </a:pPr>
            <a:r>
              <a:rPr sz="1050" b="0">
                <a:solidFill>
                  <a:srgbClr val="5B6372"/>
                </a:solidFill>
                <a:latin typeface="Arial"/>
              </a:rPr>
              <a:t>KMS keys enforce cryptographic permissions through key and IAM policies and emit CloudTrail evidence.</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FEATURE 2</a:t>
            </a:r>
          </a:p>
          <a:p>
            <a:pPr algn="l">
              <a:spcAft>
                <a:spcPts val="300"/>
              </a:spcAft>
            </a:pPr>
            <a:r>
              <a:rPr sz="1050" b="0">
                <a:solidFill>
                  <a:srgbClr val="5B6372"/>
                </a:solidFill>
                <a:latin typeface="Arial"/>
              </a:rPr>
              <a:t>Secrets Manager stores/rotates secrets and versions; Parameter Store manages hierarchical parameters and SecureString values.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FEATURE 3</a:t>
            </a:r>
          </a:p>
          <a:p>
            <a:pPr algn="l">
              <a:spcAft>
                <a:spcPts val="300"/>
              </a:spcAft>
            </a:pPr>
            <a:r>
              <a:rPr sz="1050" b="0">
                <a:solidFill>
                  <a:srgbClr val="5B6372"/>
                </a:solidFill>
                <a:latin typeface="Arial"/>
              </a:rPr>
              <a:t>ACM provisions and renews supported public/private certificates for integrated services.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552</a:t>
            </a:r>
          </a:p>
        </p:txBody>
      </p:sp>
    </p:spTree>
  </p:cSld>
  <p:clrMapOvr>
    <a:masterClrMapping/>
  </p:clrMapOvr>
  <p:transition xmlns:p14="http://schemas.microsoft.com/office/powerpoint/2010/main" p14:dur="380">
    <p:fade/>
  </p:transition>
</p:sld>
</file>

<file path=ppt/slides/slide5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DOMAIN 6 · SERVICE DECISION</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Encryption and secrets: selection and controls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CHOOSE WHEN</a:t>
            </a:r>
          </a:p>
          <a:p>
            <a:pPr algn="l">
              <a:spcAft>
                <a:spcPts val="300"/>
              </a:spcAft>
            </a:pPr>
            <a:r>
              <a:rPr sz="1050" b="0">
                <a:solidFill>
                  <a:srgbClr val="5B6372"/>
                </a:solidFill>
                <a:latin typeface="Arial"/>
              </a:rPr>
              <a:t>Use Secrets Manager for rotating credentials, Parameter Store for configuration/parameters and KMS for control of encryption keys.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DEVOPS ENGINEERING</a:t>
            </a:r>
          </a:p>
          <a:p>
            <a:pPr algn="l">
              <a:spcAft>
                <a:spcPts val="300"/>
              </a:spcAft>
            </a:pPr>
            <a:r>
              <a:rPr sz="1050" b="0">
                <a:solidFill>
                  <a:srgbClr val="5B6372"/>
                </a:solidFill>
                <a:latin typeface="Arial"/>
              </a:rPr>
              <a:t>Use envelope encryption, scope decrypt by key/context, retrieve at runtime, rotate and never log secret values.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MODE</a:t>
            </a:r>
          </a:p>
          <a:p>
            <a:pPr algn="l">
              <a:spcAft>
                <a:spcPts val="300"/>
              </a:spcAft>
            </a:pPr>
            <a:r>
              <a:rPr sz="1050" b="0">
                <a:solidFill>
                  <a:srgbClr val="5B6372"/>
                </a:solidFill>
                <a:latin typeface="Arial"/>
              </a:rPr>
              <a:t>Encrypting data does not help if broad principals can decrypt it or plaintext is copied into pipeline logs.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EVIDENCE</a:t>
            </a:r>
          </a:p>
          <a:p>
            <a:pPr algn="l">
              <a:spcAft>
                <a:spcPts val="300"/>
              </a:spcAft>
            </a:pPr>
            <a:r>
              <a:rPr sz="1050" b="0">
                <a:solidFill>
                  <a:srgbClr val="5B6372"/>
                </a:solidFill>
                <a:latin typeface="Arial"/>
              </a:rPr>
              <a:t>Key policy/grant, encryption context, rotation/version stage, access event and failed-decrypt alert.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553</a:t>
            </a:r>
          </a:p>
        </p:txBody>
      </p:sp>
    </p:spTree>
  </p:cSld>
  <p:clrMapOvr>
    <a:masterClrMapping/>
  </p:clrMapOvr>
  <p:transition xmlns:p14="http://schemas.microsoft.com/office/powerpoint/2010/main" p14:dur="380">
    <p:fade/>
  </p:transition>
</p:sld>
</file>

<file path=ppt/slides/slide5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DOMAIN 6 · ORGANIZATIONS · SCPS · CONTROL TOWER GUARDRAILS · CONFIG</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AWS foundations: Preventive governance</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PURPOSE</a:t>
            </a:r>
          </a:p>
          <a:p>
            <a:pPr algn="l">
              <a:spcAft>
                <a:spcPts val="300"/>
              </a:spcAft>
            </a:pPr>
            <a:r>
              <a:rPr sz="1050" b="0">
                <a:solidFill>
                  <a:srgbClr val="5B6372"/>
                </a:solidFill>
                <a:latin typeface="Arial"/>
              </a:rPr>
              <a:t>Set permission ceilings and mandatory account controls while leaving workload teams clear deployment paths.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FEATURE 1</a:t>
            </a:r>
          </a:p>
          <a:p>
            <a:pPr algn="l">
              <a:spcAft>
                <a:spcPts val="300"/>
              </a:spcAft>
            </a:pPr>
            <a:r>
              <a:rPr sz="1050" b="0">
                <a:solidFill>
                  <a:srgbClr val="5B6372"/>
                </a:solidFill>
                <a:latin typeface="Arial"/>
              </a:rPr>
              <a:t>SCPs limit available permissions but do not grant permissions.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FEATURE 2</a:t>
            </a:r>
          </a:p>
          <a:p>
            <a:pPr algn="l">
              <a:spcAft>
                <a:spcPts val="300"/>
              </a:spcAft>
            </a:pPr>
            <a:r>
              <a:rPr sz="1050" b="0">
                <a:solidFill>
                  <a:srgbClr val="5B6372"/>
                </a:solidFill>
                <a:latin typeface="Arial"/>
              </a:rPr>
              <a:t>Control Tower preventive/proactive/detective controls apply managed governance patterns.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FEATURE 3</a:t>
            </a:r>
          </a:p>
          <a:p>
            <a:pPr algn="l">
              <a:spcAft>
                <a:spcPts val="300"/>
              </a:spcAft>
            </a:pPr>
            <a:r>
              <a:rPr sz="1050" b="0">
                <a:solidFill>
                  <a:srgbClr val="5B6372"/>
                </a:solidFill>
                <a:latin typeface="Arial"/>
              </a:rPr>
              <a:t>Config rules evaluate resource configuration and can trigger scoped remediation.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554</a:t>
            </a:r>
          </a:p>
        </p:txBody>
      </p:sp>
    </p:spTree>
  </p:cSld>
  <p:clrMapOvr>
    <a:masterClrMapping/>
  </p:clrMapOvr>
  <p:transition xmlns:p14="http://schemas.microsoft.com/office/powerpoint/2010/main" p14:dur="380">
    <p:fade/>
  </p:transition>
</p:sld>
</file>

<file path=ppt/slides/slide5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DOMAIN 6 · SERVICE DECISION</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Preventive governance: selection and controls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CHOOSE WHEN</a:t>
            </a:r>
          </a:p>
          <a:p>
            <a:pPr algn="l">
              <a:spcAft>
                <a:spcPts val="300"/>
              </a:spcAft>
            </a:pPr>
            <a:r>
              <a:rPr sz="1050" b="0">
                <a:solidFill>
                  <a:srgbClr val="5B6372"/>
                </a:solidFill>
                <a:latin typeface="Arial"/>
              </a:rPr>
              <a:t>Use preventive controls for actions that must never occur and detective controls where context or exception handling is required.</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DEVOPS ENGINEERING</a:t>
            </a:r>
          </a:p>
          <a:p>
            <a:pPr algn="l">
              <a:spcAft>
                <a:spcPts val="300"/>
              </a:spcAft>
            </a:pPr>
            <a:r>
              <a:rPr sz="1050" b="0">
                <a:solidFill>
                  <a:srgbClr val="5B6372"/>
                </a:solidFill>
                <a:latin typeface="Arial"/>
              </a:rPr>
              <a:t>Test in a canary OU, protect break-glass paths, document exemptions and monitor policy/control drift.</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MODE</a:t>
            </a:r>
          </a:p>
          <a:p>
            <a:pPr algn="l">
              <a:spcAft>
                <a:spcPts val="300"/>
              </a:spcAft>
            </a:pPr>
            <a:r>
              <a:rPr sz="1050" b="0">
                <a:solidFill>
                  <a:srgbClr val="5B6372"/>
                </a:solidFill>
                <a:latin typeface="Arial"/>
              </a:rPr>
              <a:t>A deny deployed at the root without testing can block security and recovery operations across all accounts.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EVIDENCE</a:t>
            </a:r>
          </a:p>
          <a:p>
            <a:pPr algn="l">
              <a:spcAft>
                <a:spcPts val="300"/>
              </a:spcAft>
            </a:pPr>
            <a:r>
              <a:rPr sz="1050" b="0">
                <a:solidFill>
                  <a:srgbClr val="5B6372"/>
                </a:solidFill>
                <a:latin typeface="Arial"/>
              </a:rPr>
              <a:t>Policy version, target hierarchy, simulation/test, exception, Config evaluation and remediation result.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555</a:t>
            </a:r>
          </a:p>
        </p:txBody>
      </p:sp>
    </p:spTree>
  </p:cSld>
  <p:clrMapOvr>
    <a:masterClrMapping/>
  </p:clrMapOvr>
  <p:transition xmlns:p14="http://schemas.microsoft.com/office/powerpoint/2010/main" p14:dur="380">
    <p:fade/>
  </p:transition>
</p:sld>
</file>

<file path=ppt/slides/slide5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DOMAIN 6 · SECURITY HUB · GUARDDUTY · INSPECTOR · MACIE · WAF/SHIELD/FIREWALL MANAGER</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AWS foundations: Threat detection and edge protection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PURPOSE</a:t>
            </a:r>
          </a:p>
          <a:p>
            <a:pPr algn="l">
              <a:spcAft>
                <a:spcPts val="300"/>
              </a:spcAft>
            </a:pPr>
            <a:r>
              <a:rPr sz="1050" b="0">
                <a:solidFill>
                  <a:srgbClr val="5B6372"/>
                </a:solidFill>
                <a:latin typeface="Arial"/>
              </a:rPr>
              <a:t>Detect suspicious activity, vulnerabilities and sensitive-data exposure, then apply consistent edge/network protections.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FEATURE 1</a:t>
            </a:r>
          </a:p>
          <a:p>
            <a:pPr algn="l">
              <a:spcAft>
                <a:spcPts val="300"/>
              </a:spcAft>
            </a:pPr>
            <a:r>
              <a:rPr sz="1050" b="0">
                <a:solidFill>
                  <a:srgbClr val="5B6372"/>
                </a:solidFill>
                <a:latin typeface="Arial"/>
              </a:rPr>
              <a:t>GuardDuty analyses AWS data sources for threats; Inspector scans supported compute/container functions for vulnerabilities.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FEATURE 2</a:t>
            </a:r>
          </a:p>
          <a:p>
            <a:pPr algn="l">
              <a:spcAft>
                <a:spcPts val="300"/>
              </a:spcAft>
            </a:pPr>
            <a:r>
              <a:rPr sz="1050" b="0">
                <a:solidFill>
                  <a:srgbClr val="5B6372"/>
                </a:solidFill>
                <a:latin typeface="Arial"/>
              </a:rPr>
              <a:t>Macie discovers sensitive data in S3; Security Hub normalises/aggregates findings and workflow status.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FEATURE 3</a:t>
            </a:r>
          </a:p>
          <a:p>
            <a:pPr algn="l">
              <a:spcAft>
                <a:spcPts val="300"/>
              </a:spcAft>
            </a:pPr>
            <a:r>
              <a:rPr sz="1050" b="0">
                <a:solidFill>
                  <a:srgbClr val="5B6372"/>
                </a:solidFill>
                <a:latin typeface="Arial"/>
              </a:rPr>
              <a:t>WAF filters Layer 7 requests, Shield mitigates DDoS, and Firewall Manager applies policies across accounts.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556</a:t>
            </a:r>
          </a:p>
        </p:txBody>
      </p:sp>
    </p:spTree>
  </p:cSld>
  <p:clrMapOvr>
    <a:masterClrMapping/>
  </p:clrMapOvr>
  <p:transition xmlns:p14="http://schemas.microsoft.com/office/powerpoint/2010/main" p14:dur="380">
    <p:fade/>
  </p:transition>
</p:sld>
</file>

<file path=ppt/slides/slide5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DOMAIN 6 · SERVICE DECISION</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700" b="1">
                <a:solidFill>
                  <a:srgbClr val="161B26"/>
                </a:solidFill>
                <a:latin typeface="Arial"/>
              </a:rPr>
              <a:t>Threat detection and edge protection: selection and controls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CHOOSE WHEN</a:t>
            </a:r>
          </a:p>
          <a:p>
            <a:pPr algn="l">
              <a:spcAft>
                <a:spcPts val="300"/>
              </a:spcAft>
            </a:pPr>
            <a:r>
              <a:rPr sz="1050" b="0">
                <a:solidFill>
                  <a:srgbClr val="5B6372"/>
                </a:solidFill>
                <a:latin typeface="Arial"/>
              </a:rPr>
              <a:t>Select the control from threat surface: identity/network behaviour, vulnerable software, sensitive data, application requests or organization-wide policy.</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DEVOPS ENGINEERING</a:t>
            </a:r>
          </a:p>
          <a:p>
            <a:pPr algn="l">
              <a:spcAft>
                <a:spcPts val="300"/>
              </a:spcAft>
            </a:pPr>
            <a:r>
              <a:rPr sz="1050" b="0">
                <a:solidFill>
                  <a:srgbClr val="5B6372"/>
                </a:solidFill>
                <a:latin typeface="Arial"/>
              </a:rPr>
              <a:t>Delegate administration, tune findings/rules, enrich ownership, automate only well-understood containment and preserve evidence.</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MODE</a:t>
            </a:r>
          </a:p>
          <a:p>
            <a:pPr algn="l">
              <a:spcAft>
                <a:spcPts val="300"/>
              </a:spcAft>
            </a:pPr>
            <a:r>
              <a:rPr sz="1050" b="0">
                <a:solidFill>
                  <a:srgbClr val="5B6372"/>
                </a:solidFill>
                <a:latin typeface="Arial"/>
              </a:rPr>
              <a:t>Enabling every managed rule in block mode without observation can create a security-induced outage.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EVIDENCE</a:t>
            </a:r>
          </a:p>
          <a:p>
            <a:pPr algn="l">
              <a:spcAft>
                <a:spcPts val="300"/>
              </a:spcAft>
            </a:pPr>
            <a:r>
              <a:rPr sz="1050" b="0">
                <a:solidFill>
                  <a:srgbClr val="5B6372"/>
                </a:solidFill>
                <a:latin typeface="Arial"/>
              </a:rPr>
              <a:t>Finding ID/severity, affected resource, rule sample, workflow status, owner, containment and closure evidence.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557</a:t>
            </a:r>
          </a:p>
        </p:txBody>
      </p:sp>
    </p:spTree>
  </p:cSld>
  <p:clrMapOvr>
    <a:masterClrMapping/>
  </p:clrMapOvr>
  <p:transition xmlns:p14="http://schemas.microsoft.com/office/powerpoint/2010/main" p14:dur="380">
    <p:fade/>
  </p:transition>
</p:sld>
</file>

<file path=ppt/slides/slide5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DOMAIN 6 · AWS DEVELOPER SERVICES</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300" b="1">
                <a:solidFill>
                  <a:srgbClr val="161B26"/>
                </a:solidFill>
                <a:latin typeface="Arial"/>
              </a:rPr>
              <a:t>Developer deep dive: IAM, STS and Cognito authorization boundaries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PURPOSE</a:t>
            </a:r>
          </a:p>
          <a:p>
            <a:pPr algn="l">
              <a:spcAft>
                <a:spcPts val="300"/>
              </a:spcAft>
            </a:pPr>
            <a:r>
              <a:rPr sz="1050" b="0">
                <a:solidFill>
                  <a:srgbClr val="5B6372"/>
                </a:solidFill>
                <a:latin typeface="Arial"/>
              </a:rPr>
              <a:t>Separate workforce, workload and customer identity while reasoning through every policy layer that shapes effective permission.</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SERVICE BOUNDARY</a:t>
            </a:r>
          </a:p>
          <a:p>
            <a:pPr algn="l">
              <a:spcAft>
                <a:spcPts val="300"/>
              </a:spcAft>
            </a:pPr>
            <a:r>
              <a:rPr sz="1050" b="0">
                <a:solidFill>
                  <a:srgbClr val="5B6372"/>
                </a:solidFill>
                <a:latin typeface="Arial"/>
              </a:rPr>
              <a:t>IAM · STS · IAM Identity Center · Cognito</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PRIMARY DESIGN DECISION</a:t>
            </a:r>
          </a:p>
          <a:p>
            <a:pPr algn="l">
              <a:spcAft>
                <a:spcPts val="300"/>
              </a:spcAft>
            </a:pPr>
            <a:r>
              <a:rPr sz="1050" b="0">
                <a:solidFill>
                  <a:srgbClr val="5B6372"/>
                </a:solidFill>
                <a:latin typeface="Arial"/>
              </a:rPr>
              <a:t>Create a customer role with narrow S3 permissions, a vendor principal in the trust policy and a unique ExternalId condition; log every assumed session.</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BOUNDARY</a:t>
            </a:r>
          </a:p>
          <a:p>
            <a:pPr algn="l">
              <a:spcAft>
                <a:spcPts val="300"/>
              </a:spcAft>
            </a:pPr>
            <a:r>
              <a:rPr sz="1050" b="0">
                <a:solidFill>
                  <a:srgbClr val="5B6372"/>
                </a:solidFill>
                <a:latin typeface="Arial"/>
              </a:rPr>
              <a:t>Granting the vendor identity directly across resources is hard to revoke and audit; a trust policy alone grants no S3 action.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558</a:t>
            </a:r>
          </a:p>
        </p:txBody>
      </p:sp>
    </p:spTree>
  </p:cSld>
  <p:clrMapOvr>
    <a:masterClrMapping/>
  </p:clrMapOvr>
  <p:transition xmlns:p14="http://schemas.microsoft.com/office/powerpoint/2010/main" p14:dur="380">
    <p:fade/>
  </p:transition>
</p:sld>
</file>

<file path=ppt/slides/slide5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DOMAIN 6 · SERVICE MECHANICS</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500" b="1">
                <a:solidFill>
                  <a:srgbClr val="161B26"/>
                </a:solidFill>
                <a:latin typeface="Arial"/>
              </a:rPr>
              <a:t>IAM, STS and Cognito authorization boundaries: how it works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1</a:t>
            </a:r>
          </a:p>
          <a:p>
            <a:pPr algn="l">
              <a:spcAft>
                <a:spcPts val="300"/>
              </a:spcAft>
            </a:pPr>
            <a:r>
              <a:rPr sz="1050" b="0">
                <a:solidFill>
                  <a:srgbClr val="5B6372"/>
                </a:solidFill>
                <a:latin typeface="Arial"/>
              </a:rPr>
              <a:t>IAM evaluation combines identity and resource policies, with explicit denies, permission boundaries, session policies and SCPs limiting the final result.</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2</a:t>
            </a:r>
          </a:p>
          <a:p>
            <a:pPr algn="l">
              <a:spcAft>
                <a:spcPts val="300"/>
              </a:spcAft>
            </a:pPr>
            <a:r>
              <a:rPr sz="1050" b="0">
                <a:solidFill>
                  <a:srgbClr val="5B6372"/>
                </a:solidFill>
                <a:latin typeface="Arial"/>
              </a:rPr>
              <a:t>A role trust policy controls who may assume the role; the role permission policy controls what the resulting session may do.</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3</a:t>
            </a:r>
          </a:p>
          <a:p>
            <a:pPr algn="l">
              <a:spcAft>
                <a:spcPts val="300"/>
              </a:spcAft>
            </a:pPr>
            <a:r>
              <a:rPr sz="1050" b="0">
                <a:solidFill>
                  <a:srgbClr val="5B6372"/>
                </a:solidFill>
                <a:latin typeface="Arial"/>
              </a:rPr>
              <a:t>STS sessions are temporary and can carry session tags for attribute-based access; ExternalId helps mitigate confused-deputy risk in third-party access.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4</a:t>
            </a:r>
          </a:p>
          <a:p>
            <a:pPr algn="l">
              <a:spcAft>
                <a:spcPts val="300"/>
              </a:spcAft>
            </a:pPr>
            <a:r>
              <a:rPr sz="1050" b="0">
                <a:solidFill>
                  <a:srgbClr val="5B6372"/>
                </a:solidFill>
                <a:latin typeface="Arial"/>
              </a:rPr>
              <a:t>Cognito user pools authenticate application users, while identity pools exchange supported identities for scoped AWS credentials.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559</a:t>
            </a:r>
          </a:p>
        </p:txBody>
      </p:sp>
    </p:spTree>
  </p:cSld>
  <p:clrMapOvr>
    <a:masterClrMapping/>
  </p:clrMapOvr>
  <p:transition xmlns:p14="http://schemas.microsoft.com/office/powerpoint/2010/main" p14:dur="380">
    <p:fade/>
  </p:transition>
</p:sld>
</file>

<file path=ppt/slides/slide5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DOMAIN 6 · CONTROL AND DATA FLOW</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500" b="1">
                <a:solidFill>
                  <a:srgbClr val="161B26"/>
                </a:solidFill>
                <a:latin typeface="Arial"/>
              </a:rPr>
              <a:t>IAM, STS and Cognito authorization boundaries: operating flow</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6354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79829"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982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Authenticate identity</a:t>
            </a:r>
          </a:p>
        </p:txBody>
      </p:sp>
      <p:sp>
        <p:nvSpPr>
          <p:cNvPr id="12" name="Rectangle 11"/>
          <p:cNvSpPr/>
          <p:nvPr/>
        </p:nvSpPr>
        <p:spPr>
          <a:xfrm>
            <a:off x="2969971"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69971" y="2148840"/>
            <a:ext cx="186354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572560"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72560"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6" name="TextBox 15"/>
          <p:cNvSpPr txBox="1"/>
          <p:nvPr/>
        </p:nvSpPr>
        <p:spPr>
          <a:xfrm>
            <a:off x="3088843"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Evaluate trust</a:t>
            </a:r>
          </a:p>
        </p:txBody>
      </p:sp>
      <p:sp>
        <p:nvSpPr>
          <p:cNvPr id="17" name="Rectangle 16"/>
          <p:cNvSpPr/>
          <p:nvPr/>
        </p:nvSpPr>
        <p:spPr>
          <a:xfrm>
            <a:off x="5162702"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62702" y="2148840"/>
            <a:ext cx="186354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765291"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6529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1" name="TextBox 20"/>
          <p:cNvSpPr txBox="1"/>
          <p:nvPr/>
        </p:nvSpPr>
        <p:spPr>
          <a:xfrm>
            <a:off x="5281574"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Issue temporary session</a:t>
            </a:r>
          </a:p>
        </p:txBody>
      </p:sp>
      <p:sp>
        <p:nvSpPr>
          <p:cNvPr id="22" name="Rectangle 21"/>
          <p:cNvSpPr/>
          <p:nvPr/>
        </p:nvSpPr>
        <p:spPr>
          <a:xfrm>
            <a:off x="7355433"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355433" y="2148840"/>
            <a:ext cx="186354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958022"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5802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6" name="TextBox 25"/>
          <p:cNvSpPr txBox="1"/>
          <p:nvPr/>
        </p:nvSpPr>
        <p:spPr>
          <a:xfrm>
            <a:off x="7474305"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Evaluate effective policies</a:t>
            </a:r>
          </a:p>
        </p:txBody>
      </p:sp>
      <p:sp>
        <p:nvSpPr>
          <p:cNvPr id="27" name="Rectangle 26"/>
          <p:cNvSpPr/>
          <p:nvPr/>
        </p:nvSpPr>
        <p:spPr>
          <a:xfrm>
            <a:off x="9548164"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548164" y="2148840"/>
            <a:ext cx="1863547" cy="914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50753" y="2532888"/>
            <a:ext cx="658368" cy="658368"/>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5075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5</a:t>
            </a:r>
          </a:p>
        </p:txBody>
      </p:sp>
      <p:sp>
        <p:nvSpPr>
          <p:cNvPr id="31" name="TextBox 30"/>
          <p:cNvSpPr txBox="1"/>
          <p:nvPr/>
        </p:nvSpPr>
        <p:spPr>
          <a:xfrm>
            <a:off x="9667036"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Record and review access</a:t>
            </a:r>
          </a:p>
        </p:txBody>
      </p:sp>
      <p:cxnSp>
        <p:nvCxnSpPr>
          <p:cNvPr id="32" name="Connector 31"/>
          <p:cNvCxnSpPr/>
          <p:nvPr/>
        </p:nvCxnSpPr>
        <p:spPr>
          <a:xfrm>
            <a:off x="2640787"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83351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026249"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21898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C0392B"/>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8" name="TextBox 3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9" name="TextBox 3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0" name="TextBox 3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560</a:t>
            </a:r>
          </a:p>
        </p:txBody>
      </p:sp>
    </p:spTree>
  </p:cSld>
  <p:clrMapOvr>
    <a:masterClrMapping/>
  </p:clrMapOvr>
  <p:transition xmlns:p14="http://schemas.microsoft.com/office/powerpoint/2010/main" p14:dur="380">
    <p:fade/>
  </p:transition>
</p:sld>
</file>

<file path=ppt/slides/slide5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DOMAIN 6 · CHOOSE DELIBERATELY</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100" b="1">
                <a:solidFill>
                  <a:srgbClr val="161B26"/>
                </a:solidFill>
                <a:latin typeface="Arial"/>
              </a:rPr>
              <a:t>IAM, STS and Cognito authorization boundaries: configuration decisions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WORKFORCE</a:t>
            </a:r>
          </a:p>
          <a:p>
            <a:pPr algn="l">
              <a:spcAft>
                <a:spcPts val="300"/>
              </a:spcAft>
            </a:pPr>
            <a:r>
              <a:rPr sz="1050" b="0">
                <a:solidFill>
                  <a:srgbClr val="5B6372"/>
                </a:solidFill>
                <a:latin typeface="Arial"/>
              </a:rPr>
              <a:t>Use IAM Identity Center and account permission sets for centrally managed employee access.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WORKLOAD</a:t>
            </a:r>
          </a:p>
          <a:p>
            <a:pPr algn="l">
              <a:spcAft>
                <a:spcPts val="300"/>
              </a:spcAft>
            </a:pPr>
            <a:r>
              <a:rPr sz="1050" b="0">
                <a:solidFill>
                  <a:srgbClr val="5B6372"/>
                </a:solidFill>
                <a:latin typeface="Arial"/>
              </a:rPr>
              <a:t>Attach roles to compute and restrict trust to the intended service, account and conditions.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CUSTOMER</a:t>
            </a:r>
          </a:p>
          <a:p>
            <a:pPr algn="l">
              <a:spcAft>
                <a:spcPts val="300"/>
              </a:spcAft>
            </a:pPr>
            <a:r>
              <a:rPr sz="1050" b="0">
                <a:solidFill>
                  <a:srgbClr val="5B6372"/>
                </a:solidFill>
                <a:latin typeface="Arial"/>
              </a:rPr>
              <a:t>Use user pools for application authentication and identity pools only when clients need scoped AWS credentials.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ANALYSIS</a:t>
            </a:r>
          </a:p>
          <a:p>
            <a:pPr algn="l">
              <a:spcAft>
                <a:spcPts val="300"/>
              </a:spcAft>
            </a:pPr>
            <a:r>
              <a:rPr sz="1050" b="0">
                <a:solidFill>
                  <a:srgbClr val="5B6372"/>
                </a:solidFill>
                <a:latin typeface="Arial"/>
              </a:rPr>
              <a:t>Use policy simulation, Access Analyzer and last-accessed data to validate and reduce permissions.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561</a:t>
            </a:r>
          </a:p>
        </p:txBody>
      </p:sp>
    </p:spTree>
  </p:cSld>
  <p:clrMapOvr>
    <a:masterClrMapping/>
  </p:clrMapOvr>
  <p:transition xmlns:p14="http://schemas.microsoft.com/office/powerpoint/2010/main" p14:dur="380">
    <p:fade/>
  </p:transition>
</p:sld>
</file>

<file path=ppt/slides/slide5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DOMAIN 6 · APPLIED ARCHITECTURE</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100" b="1">
                <a:solidFill>
                  <a:srgbClr val="161B26"/>
                </a:solidFill>
                <a:latin typeface="Arial"/>
              </a:rPr>
              <a:t>IAM, STS and Cognito authorization boundaries: worked architecture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SCENARIO</a:t>
            </a:r>
          </a:p>
          <a:p>
            <a:pPr algn="l">
              <a:spcAft>
                <a:spcPts val="300"/>
              </a:spcAft>
            </a:pPr>
            <a:r>
              <a:rPr sz="1050" b="0">
                <a:solidFill>
                  <a:srgbClr val="5B6372"/>
                </a:solidFill>
                <a:latin typeface="Arial"/>
              </a:rPr>
              <a:t>A SaaS vendor needs read access to one customer prefix without receiving reusable customer credentials.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DESIGN DECISION</a:t>
            </a:r>
          </a:p>
          <a:p>
            <a:pPr algn="l">
              <a:spcAft>
                <a:spcPts val="300"/>
              </a:spcAft>
            </a:pPr>
            <a:r>
              <a:rPr sz="1050" b="0">
                <a:solidFill>
                  <a:srgbClr val="5B6372"/>
                </a:solidFill>
                <a:latin typeface="Arial"/>
              </a:rPr>
              <a:t>Create a customer role with narrow S3 permissions, a vendor principal in the trust policy and a unique ExternalId condition; log every assumed session.</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TO AVOID</a:t>
            </a:r>
          </a:p>
          <a:p>
            <a:pPr algn="l">
              <a:spcAft>
                <a:spcPts val="300"/>
              </a:spcAft>
            </a:pPr>
            <a:r>
              <a:rPr sz="1050" b="0">
                <a:solidFill>
                  <a:srgbClr val="5B6372"/>
                </a:solidFill>
                <a:latin typeface="Arial"/>
              </a:rPr>
              <a:t>Granting the vendor identity directly across resources is hard to revoke and audit; a trust policy alone grants no S3 action.</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ACCEPTANCE EVIDENCE</a:t>
            </a:r>
          </a:p>
          <a:p>
            <a:pPr algn="l">
              <a:spcAft>
                <a:spcPts val="300"/>
              </a:spcAft>
            </a:pPr>
            <a:r>
              <a:rPr sz="1050" b="0">
                <a:solidFill>
                  <a:srgbClr val="5B6372"/>
                </a:solidFill>
                <a:latin typeface="Arial"/>
              </a:rPr>
              <a:t>Trust policy, permission policy, ExternalId control, session ARN/tags, Access Analyzer result and CloudTrail AssumeRole event.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562</a:t>
            </a:r>
          </a:p>
        </p:txBody>
      </p:sp>
    </p:spTree>
  </p:cSld>
  <p:clrMapOvr>
    <a:masterClrMapping/>
  </p:clrMapOvr>
  <p:transition xmlns:p14="http://schemas.microsoft.com/office/powerpoint/2010/main" p14:dur="380">
    <p:fade/>
  </p:transition>
</p:sld>
</file>

<file path=ppt/slides/slide5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DOMAIN 6 · AWS DEVELOPER SERVICES</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500" b="1">
                <a:solidFill>
                  <a:srgbClr val="161B26"/>
                </a:solidFill>
                <a:latin typeface="Arial"/>
              </a:rPr>
              <a:t>Developer deep dive: KMS, secrets and application-edge protection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PURPOSE</a:t>
            </a:r>
          </a:p>
          <a:p>
            <a:pPr algn="l">
              <a:spcAft>
                <a:spcPts val="300"/>
              </a:spcAft>
            </a:pPr>
            <a:r>
              <a:rPr sz="1050" b="0">
                <a:solidFill>
                  <a:srgbClr val="5B6372"/>
                </a:solidFill>
                <a:latin typeface="Arial"/>
              </a:rPr>
              <a:t>Protect data, credentials and public application paths with controls whose permissions, rotation and failure behavior are observable.</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SERVICE BOUNDARY</a:t>
            </a:r>
          </a:p>
          <a:p>
            <a:pPr algn="l">
              <a:spcAft>
                <a:spcPts val="300"/>
              </a:spcAft>
            </a:pPr>
            <a:r>
              <a:rPr sz="1050" b="0">
                <a:solidFill>
                  <a:srgbClr val="5B6372"/>
                </a:solidFill>
                <a:latin typeface="Arial"/>
              </a:rPr>
              <a:t>KMS · Secrets Manager · ACM · WAF · Shield</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PRIMARY DESIGN DECISION</a:t>
            </a:r>
          </a:p>
          <a:p>
            <a:pPr algn="l">
              <a:spcAft>
                <a:spcPts val="300"/>
              </a:spcAft>
            </a:pPr>
            <a:r>
              <a:rPr sz="1050" b="0">
                <a:solidFill>
                  <a:srgbClr val="5B6372"/>
                </a:solidFill>
                <a:latin typeface="Arial"/>
              </a:rPr>
              <a:t>Use staged secret rotation with connection refresh, encrypt under a scoped key, deploy WAF in count mode first and promote the validated rule to block.</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BOUNDARY</a:t>
            </a:r>
          </a:p>
          <a:p>
            <a:pPr algn="l">
              <a:spcAft>
                <a:spcPts val="300"/>
              </a:spcAft>
            </a:pPr>
            <a:r>
              <a:rPr sz="1050" b="0">
                <a:solidFill>
                  <a:srgbClr val="5B6372"/>
                </a:solidFill>
                <a:latin typeface="Arial"/>
              </a:rPr>
              <a:t>A key policy that excludes recovery administrators can lock out data; immediate blocking can create a security-induced outage.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563</a:t>
            </a:r>
          </a:p>
        </p:txBody>
      </p:sp>
    </p:spTree>
  </p:cSld>
  <p:clrMapOvr>
    <a:masterClrMapping/>
  </p:clrMapOvr>
  <p:transition xmlns:p14="http://schemas.microsoft.com/office/powerpoint/2010/main" p14:dur="380">
    <p:fade/>
  </p:transition>
</p:sld>
</file>

<file path=ppt/slides/slide5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DOMAIN 6 · SERVICE MECHANICS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700" b="1">
                <a:solidFill>
                  <a:srgbClr val="161B26"/>
                </a:solidFill>
                <a:latin typeface="Arial"/>
              </a:rPr>
              <a:t>KMS, secrets and application-edge protection: how it works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1</a:t>
            </a:r>
          </a:p>
          <a:p>
            <a:pPr algn="l">
              <a:spcAft>
                <a:spcPts val="300"/>
              </a:spcAft>
            </a:pPr>
            <a:r>
              <a:rPr sz="1050" b="0">
                <a:solidFill>
                  <a:srgbClr val="5B6372"/>
                </a:solidFill>
                <a:latin typeface="Arial"/>
              </a:rPr>
              <a:t>KMS performs cryptographic operations under key and IAM policies; envelope encryption keeps large data operations outside KMS while protecting data keys.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2</a:t>
            </a:r>
          </a:p>
          <a:p>
            <a:pPr algn="l">
              <a:spcAft>
                <a:spcPts val="300"/>
              </a:spcAft>
            </a:pPr>
            <a:r>
              <a:rPr sz="1050" b="0">
                <a:solidFill>
                  <a:srgbClr val="5B6372"/>
                </a:solidFill>
                <a:latin typeface="Arial"/>
              </a:rPr>
              <a:t>Encryption context can bind decrypt permission to non-secret request attributes and is recorded with supported audit events.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3</a:t>
            </a:r>
          </a:p>
          <a:p>
            <a:pPr algn="l">
              <a:spcAft>
                <a:spcPts val="300"/>
              </a:spcAft>
            </a:pPr>
            <a:r>
              <a:rPr sz="1050" b="0">
                <a:solidFill>
                  <a:srgbClr val="5B6372"/>
                </a:solidFill>
                <a:latin typeface="Arial"/>
              </a:rPr>
              <a:t>Secrets Manager stores versioned secret values with staging labels and can automate rotation; applications should cache retrieval and handle rotation overlap.</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MECHANIC 4</a:t>
            </a:r>
          </a:p>
          <a:p>
            <a:pPr algn="l">
              <a:spcAft>
                <a:spcPts val="300"/>
              </a:spcAft>
            </a:pPr>
            <a:r>
              <a:rPr sz="1050" b="0">
                <a:solidFill>
                  <a:srgbClr val="5B6372"/>
                </a:solidFill>
                <a:latin typeface="Arial"/>
              </a:rPr>
              <a:t>ACM manages supported certificates, WAF evaluates Layer 7 rules and Shield provides DDoS protections; Firewall Manager applies policies across governed accounts.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564</a:t>
            </a:r>
          </a:p>
        </p:txBody>
      </p:sp>
    </p:spTree>
  </p:cSld>
  <p:clrMapOvr>
    <a:masterClrMapping/>
  </p:clrMapOvr>
  <p:transition xmlns:p14="http://schemas.microsoft.com/office/powerpoint/2010/main" p14:dur="380">
    <p:fade/>
  </p:transition>
</p:sld>
</file>

<file path=ppt/slides/slide5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DOMAIN 6 · CONTROL AND DATA FLOW</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700" b="1">
                <a:solidFill>
                  <a:srgbClr val="161B26"/>
                </a:solidFill>
                <a:latin typeface="Arial"/>
              </a:rPr>
              <a:t>KMS, secrets and application-edge protection: operating flow</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6354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79829"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982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Classify data and threat</a:t>
            </a:r>
          </a:p>
        </p:txBody>
      </p:sp>
      <p:sp>
        <p:nvSpPr>
          <p:cNvPr id="12" name="Rectangle 11"/>
          <p:cNvSpPr/>
          <p:nvPr/>
        </p:nvSpPr>
        <p:spPr>
          <a:xfrm>
            <a:off x="2969971"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69971" y="2148840"/>
            <a:ext cx="186354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572560"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72560"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6" name="TextBox 15"/>
          <p:cNvSpPr txBox="1"/>
          <p:nvPr/>
        </p:nvSpPr>
        <p:spPr>
          <a:xfrm>
            <a:off x="3088843"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Select key/secret ownership</a:t>
            </a:r>
          </a:p>
        </p:txBody>
      </p:sp>
      <p:sp>
        <p:nvSpPr>
          <p:cNvPr id="17" name="Rectangle 16"/>
          <p:cNvSpPr/>
          <p:nvPr/>
        </p:nvSpPr>
        <p:spPr>
          <a:xfrm>
            <a:off x="5162702"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62702" y="2148840"/>
            <a:ext cx="186354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765291"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6529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1" name="TextBox 20"/>
          <p:cNvSpPr txBox="1"/>
          <p:nvPr/>
        </p:nvSpPr>
        <p:spPr>
          <a:xfrm>
            <a:off x="5281574"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Authorize runtime retrieval</a:t>
            </a:r>
          </a:p>
        </p:txBody>
      </p:sp>
      <p:sp>
        <p:nvSpPr>
          <p:cNvPr id="22" name="Rectangle 21"/>
          <p:cNvSpPr/>
          <p:nvPr/>
        </p:nvSpPr>
        <p:spPr>
          <a:xfrm>
            <a:off x="7355433"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355433" y="2148840"/>
            <a:ext cx="186354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958022"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5802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6" name="TextBox 25"/>
          <p:cNvSpPr txBox="1"/>
          <p:nvPr/>
        </p:nvSpPr>
        <p:spPr>
          <a:xfrm>
            <a:off x="7474305"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Inspect edge request</a:t>
            </a:r>
          </a:p>
        </p:txBody>
      </p:sp>
      <p:sp>
        <p:nvSpPr>
          <p:cNvPr id="27" name="Rectangle 26"/>
          <p:cNvSpPr/>
          <p:nvPr/>
        </p:nvSpPr>
        <p:spPr>
          <a:xfrm>
            <a:off x="9548164"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548164" y="2148840"/>
            <a:ext cx="1863547" cy="914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50753" y="2532888"/>
            <a:ext cx="658368" cy="658368"/>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5075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5</a:t>
            </a:r>
          </a:p>
        </p:txBody>
      </p:sp>
      <p:sp>
        <p:nvSpPr>
          <p:cNvPr id="31" name="TextBox 30"/>
          <p:cNvSpPr txBox="1"/>
          <p:nvPr/>
        </p:nvSpPr>
        <p:spPr>
          <a:xfrm>
            <a:off x="9667036"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Rotate, alert and retain evidence</a:t>
            </a:r>
          </a:p>
        </p:txBody>
      </p:sp>
      <p:cxnSp>
        <p:nvCxnSpPr>
          <p:cNvPr id="32" name="Connector 31"/>
          <p:cNvCxnSpPr/>
          <p:nvPr/>
        </p:nvCxnSpPr>
        <p:spPr>
          <a:xfrm>
            <a:off x="2640787"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83351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026249"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21898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C0392B"/>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8" name="TextBox 3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9" name="TextBox 3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0" name="TextBox 3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565</a:t>
            </a:r>
          </a:p>
        </p:txBody>
      </p:sp>
    </p:spTree>
  </p:cSld>
  <p:clrMapOvr>
    <a:masterClrMapping/>
  </p:clrMapOvr>
  <p:transition xmlns:p14="http://schemas.microsoft.com/office/powerpoint/2010/main" p14:dur="380">
    <p:fade/>
  </p:transition>
</p:sld>
</file>

<file path=ppt/slides/slide5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DOMAIN 6 · CHOOSE DELIBERATELY</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300" b="1">
                <a:solidFill>
                  <a:srgbClr val="161B26"/>
                </a:solidFill>
                <a:latin typeface="Arial"/>
              </a:rPr>
              <a:t>KMS, secrets and application-edge protection: configuration decisions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KEY OWNERSHIP</a:t>
            </a:r>
          </a:p>
          <a:p>
            <a:pPr algn="l">
              <a:spcAft>
                <a:spcPts val="300"/>
              </a:spcAft>
            </a:pPr>
            <a:r>
              <a:rPr sz="1050" b="0">
                <a:solidFill>
                  <a:srgbClr val="5B6372"/>
                </a:solidFill>
                <a:latin typeface="Arial"/>
              </a:rPr>
              <a:t>Choose AWS-owned, AWS-managed or customer-managed keys from policy, separation, rotation and cross-account requirements.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GRANTS</a:t>
            </a:r>
          </a:p>
          <a:p>
            <a:pPr algn="l">
              <a:spcAft>
                <a:spcPts val="300"/>
              </a:spcAft>
            </a:pPr>
            <a:r>
              <a:rPr sz="1050" b="0">
                <a:solidFill>
                  <a:srgbClr val="5B6372"/>
                </a:solidFill>
                <a:latin typeface="Arial"/>
              </a:rPr>
              <a:t>Use grants for delegated service use where appropriate and retire them with the consuming resource lifecycle.</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ROTATION</a:t>
            </a:r>
          </a:p>
          <a:p>
            <a:pPr algn="l">
              <a:spcAft>
                <a:spcPts val="300"/>
              </a:spcAft>
            </a:pPr>
            <a:r>
              <a:rPr sz="1050" b="0">
                <a:solidFill>
                  <a:srgbClr val="5B6372"/>
                </a:solidFill>
                <a:latin typeface="Arial"/>
              </a:rPr>
              <a:t>Support overlapping credential versions and test both rotation and emergency revocation paths.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WAF ROLLOUT</a:t>
            </a:r>
          </a:p>
          <a:p>
            <a:pPr algn="l">
              <a:spcAft>
                <a:spcPts val="300"/>
              </a:spcAft>
            </a:pPr>
            <a:r>
              <a:rPr sz="1050" b="0">
                <a:solidFill>
                  <a:srgbClr val="5B6372"/>
                </a:solidFill>
                <a:latin typeface="Arial"/>
              </a:rPr>
              <a:t>Observe managed rules in count mode, inspect sampled requests and introduce blocking with exception ownership.</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566</a:t>
            </a:r>
          </a:p>
        </p:txBody>
      </p:sp>
    </p:spTree>
  </p:cSld>
  <p:clrMapOvr>
    <a:masterClrMapping/>
  </p:clrMapOvr>
  <p:transition xmlns:p14="http://schemas.microsoft.com/office/powerpoint/2010/main" p14:dur="380">
    <p:fade/>
  </p:transition>
</p:sld>
</file>

<file path=ppt/slides/slide5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DOMAIN 6 · APPLIED ARCHITECTURE</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100" b="1">
                <a:solidFill>
                  <a:srgbClr val="161B26"/>
                </a:solidFill>
                <a:latin typeface="Arial"/>
              </a:rPr>
              <a:t>KMS, secrets and application-edge protection: worked architecture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SCENARIO</a:t>
            </a:r>
          </a:p>
          <a:p>
            <a:pPr algn="l">
              <a:spcAft>
                <a:spcPts val="300"/>
              </a:spcAft>
            </a:pPr>
            <a:r>
              <a:rPr sz="1050" b="0">
                <a:solidFill>
                  <a:srgbClr val="5B6372"/>
                </a:solidFill>
                <a:latin typeface="Arial"/>
              </a:rPr>
              <a:t>A public API must rotate its database secret without downtime and block a new malicious request pattern safely.</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DESIGN DECISION</a:t>
            </a:r>
          </a:p>
          <a:p>
            <a:pPr algn="l">
              <a:spcAft>
                <a:spcPts val="300"/>
              </a:spcAft>
            </a:pPr>
            <a:r>
              <a:rPr sz="1050" b="0">
                <a:solidFill>
                  <a:srgbClr val="5B6372"/>
                </a:solidFill>
                <a:latin typeface="Arial"/>
              </a:rPr>
              <a:t>Use staged secret rotation with connection refresh, encrypt under a scoped key, deploy WAF in count mode first and promote the validated rule to block.</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TO AVOID</a:t>
            </a:r>
          </a:p>
          <a:p>
            <a:pPr algn="l">
              <a:spcAft>
                <a:spcPts val="300"/>
              </a:spcAft>
            </a:pPr>
            <a:r>
              <a:rPr sz="1050" b="0">
                <a:solidFill>
                  <a:srgbClr val="5B6372"/>
                </a:solidFill>
                <a:latin typeface="Arial"/>
              </a:rPr>
              <a:t>A key policy that excludes recovery administrators can lock out data; immediate blocking can create a security-induced outage.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ACCEPTANCE EVIDENCE</a:t>
            </a:r>
          </a:p>
          <a:p>
            <a:pPr algn="l">
              <a:spcAft>
                <a:spcPts val="300"/>
              </a:spcAft>
            </a:pPr>
            <a:r>
              <a:rPr sz="1050" b="0">
                <a:solidFill>
                  <a:srgbClr val="5B6372"/>
                </a:solidFill>
                <a:latin typeface="Arial"/>
              </a:rPr>
              <a:t>Key policy/grant, encryption-context event, secret version stages, rotation result, WAF samples, blocked-rate metric and exception record.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567</a:t>
            </a:r>
          </a:p>
        </p:txBody>
      </p:sp>
    </p:spTree>
  </p:cSld>
  <p:clrMapOvr>
    <a:masterClrMapping/>
  </p:clrMapOvr>
  <p:transition xmlns:p14="http://schemas.microsoft.com/office/powerpoint/2010/main" p14:dur="380">
    <p:fade/>
  </p:transition>
</p:sld>
</file>

<file path=ppt/slides/slide5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DOMAIN 6 · SECURITY AND COMPLIANCE</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Identity at scale</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OUTCOME</a:t>
            </a:r>
          </a:p>
          <a:p>
            <a:pPr algn="l">
              <a:spcAft>
                <a:spcPts val="300"/>
              </a:spcAft>
            </a:pPr>
            <a:r>
              <a:rPr sz="1050" b="0">
                <a:solidFill>
                  <a:srgbClr val="5B6372"/>
                </a:solidFill>
                <a:latin typeface="Arial"/>
              </a:rPr>
              <a:t>Provide workforce and workload access through federation, short-lived credentials and least privilege.</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ARCHITECTURE</a:t>
            </a:r>
          </a:p>
          <a:p>
            <a:pPr algn="l">
              <a:spcAft>
                <a:spcPts val="300"/>
              </a:spcAft>
            </a:pPr>
            <a:r>
              <a:rPr sz="1050" b="0">
                <a:solidFill>
                  <a:srgbClr val="5B6372"/>
                </a:solidFill>
                <a:latin typeface="Arial"/>
              </a:rPr>
              <a:t>Use permission sets, roles, session controls and access analysis; avoid long-lived IAM user keys.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MODE</a:t>
            </a:r>
          </a:p>
          <a:p>
            <a:pPr algn="l">
              <a:spcAft>
                <a:spcPts val="300"/>
              </a:spcAft>
            </a:pPr>
            <a:r>
              <a:rPr sz="1050" b="0">
                <a:solidFill>
                  <a:srgbClr val="5B6372"/>
                </a:solidFill>
                <a:latin typeface="Arial"/>
              </a:rPr>
              <a:t>Broad shared roles erase accountability and expand blast radius.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EVIDENCE</a:t>
            </a:r>
          </a:p>
          <a:p>
            <a:pPr algn="l">
              <a:spcAft>
                <a:spcPts val="300"/>
              </a:spcAft>
            </a:pPr>
            <a:r>
              <a:rPr sz="1050" b="0">
                <a:solidFill>
                  <a:srgbClr val="5B6372"/>
                </a:solidFill>
                <a:latin typeface="Arial"/>
              </a:rPr>
              <a:t>Identity source, permission-set version, role session, access finding and CloudTrail principal.</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568</a:t>
            </a:r>
          </a:p>
        </p:txBody>
      </p:sp>
    </p:spTree>
  </p:cSld>
  <p:clrMapOvr>
    <a:masterClrMapping/>
  </p:clrMapOvr>
  <p:transition xmlns:p14="http://schemas.microsoft.com/office/powerpoint/2010/main" p14:dur="380">
    <p:fade/>
  </p:transition>
</p:sld>
</file>

<file path=ppt/slides/slide5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DOMAIN 6 · PROCESS MODEL</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Identity at scale: operating flow</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6354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79829"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982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Authenticate</a:t>
            </a:r>
          </a:p>
        </p:txBody>
      </p:sp>
      <p:sp>
        <p:nvSpPr>
          <p:cNvPr id="12" name="Rectangle 11"/>
          <p:cNvSpPr/>
          <p:nvPr/>
        </p:nvSpPr>
        <p:spPr>
          <a:xfrm>
            <a:off x="2969971"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69971" y="2148840"/>
            <a:ext cx="186354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572560"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72560"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6" name="TextBox 15"/>
          <p:cNvSpPr txBox="1"/>
          <p:nvPr/>
        </p:nvSpPr>
        <p:spPr>
          <a:xfrm>
            <a:off x="3088843"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Assign permission set</a:t>
            </a:r>
          </a:p>
        </p:txBody>
      </p:sp>
      <p:sp>
        <p:nvSpPr>
          <p:cNvPr id="17" name="Rectangle 16"/>
          <p:cNvSpPr/>
          <p:nvPr/>
        </p:nvSpPr>
        <p:spPr>
          <a:xfrm>
            <a:off x="5162702"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62702" y="2148840"/>
            <a:ext cx="186354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765291"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6529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1" name="TextBox 20"/>
          <p:cNvSpPr txBox="1"/>
          <p:nvPr/>
        </p:nvSpPr>
        <p:spPr>
          <a:xfrm>
            <a:off x="5281574"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Assume role</a:t>
            </a:r>
          </a:p>
        </p:txBody>
      </p:sp>
      <p:sp>
        <p:nvSpPr>
          <p:cNvPr id="22" name="Rectangle 21"/>
          <p:cNvSpPr/>
          <p:nvPr/>
        </p:nvSpPr>
        <p:spPr>
          <a:xfrm>
            <a:off x="7355433"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355433" y="2148840"/>
            <a:ext cx="186354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958022"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5802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6" name="TextBox 25"/>
          <p:cNvSpPr txBox="1"/>
          <p:nvPr/>
        </p:nvSpPr>
        <p:spPr>
          <a:xfrm>
            <a:off x="7474305"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Authorize</a:t>
            </a:r>
          </a:p>
        </p:txBody>
      </p:sp>
      <p:sp>
        <p:nvSpPr>
          <p:cNvPr id="27" name="Rectangle 26"/>
          <p:cNvSpPr/>
          <p:nvPr/>
        </p:nvSpPr>
        <p:spPr>
          <a:xfrm>
            <a:off x="9548164"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548164" y="2148840"/>
            <a:ext cx="1863547" cy="914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50753" y="2532888"/>
            <a:ext cx="658368" cy="658368"/>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5075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5</a:t>
            </a:r>
          </a:p>
        </p:txBody>
      </p:sp>
      <p:sp>
        <p:nvSpPr>
          <p:cNvPr id="31" name="TextBox 30"/>
          <p:cNvSpPr txBox="1"/>
          <p:nvPr/>
        </p:nvSpPr>
        <p:spPr>
          <a:xfrm>
            <a:off x="9667036"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Record session</a:t>
            </a:r>
          </a:p>
        </p:txBody>
      </p:sp>
      <p:cxnSp>
        <p:nvCxnSpPr>
          <p:cNvPr id="32" name="Connector 31"/>
          <p:cNvCxnSpPr/>
          <p:nvPr/>
        </p:nvCxnSpPr>
        <p:spPr>
          <a:xfrm>
            <a:off x="2640787"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83351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026249"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21898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C0392B"/>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8" name="TextBox 3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9" name="TextBox 3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0" name="TextBox 3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569</a:t>
            </a:r>
          </a:p>
        </p:txBody>
      </p:sp>
    </p:spTree>
  </p:cSld>
  <p:clrMapOvr>
    <a:masterClrMapping/>
  </p:clrMapOvr>
  <p:transition xmlns:p14="http://schemas.microsoft.com/office/powerpoint/2010/main" p14:dur="380">
    <p:fade/>
  </p:transition>
</p:sld>
</file>

<file path=ppt/slides/slide5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DOMAIN 6 ·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Identity at scale: design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83280" cy="43708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70832"/>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011680"/>
            <a:ext cx="530352" cy="530352"/>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011680"/>
            <a:ext cx="530352" cy="530352"/>
          </a:xfrm>
          <a:prstGeom prst="rect">
            <a:avLst/>
          </a:prstGeom>
          <a:noFill/>
        </p:spPr>
        <p:txBody>
          <a:bodyPr wrap="square" anchor="ctr">
            <a:spAutoFit/>
          </a:bodyPr>
          <a:lstStyle/>
          <a:p>
            <a:pPr algn="ctr">
              <a:spcAft>
                <a:spcPts val="400"/>
              </a:spcAft>
            </a:pPr>
            <a:r>
              <a:rPr sz="2000" b="1">
                <a:solidFill>
                  <a:srgbClr val="FFFFFF"/>
                </a:solidFill>
                <a:latin typeface="Arial"/>
              </a:rPr>
              <a:t>?</a:t>
            </a:r>
          </a:p>
        </p:txBody>
      </p:sp>
      <p:sp>
        <p:nvSpPr>
          <p:cNvPr id="11" name="TextBox 10"/>
          <p:cNvSpPr txBox="1"/>
          <p:nvPr/>
        </p:nvSpPr>
        <p:spPr>
          <a:xfrm>
            <a:off x="1709928" y="1984248"/>
            <a:ext cx="2212848" cy="502920"/>
          </a:xfrm>
          <a:prstGeom prst="rect">
            <a:avLst/>
          </a:prstGeom>
          <a:noFill/>
        </p:spPr>
        <p:txBody>
          <a:bodyPr wrap="square" anchor="ctr">
            <a:spAutoFit/>
          </a:bodyPr>
          <a:lstStyle/>
          <a:p>
            <a:pPr algn="l">
              <a:spcAft>
                <a:spcPts val="400"/>
              </a:spcAft>
            </a:pPr>
            <a:r>
              <a:rPr sz="1350" b="1">
                <a:solidFill>
                  <a:srgbClr val="C0392B"/>
                </a:solidFill>
                <a:latin typeface="Arial"/>
              </a:rPr>
              <a:t>SCENARIO</a:t>
            </a:r>
          </a:p>
        </p:txBody>
      </p:sp>
      <p:sp>
        <p:nvSpPr>
          <p:cNvPr id="12" name="TextBox 11"/>
          <p:cNvSpPr txBox="1"/>
          <p:nvPr/>
        </p:nvSpPr>
        <p:spPr>
          <a:xfrm>
            <a:off x="1051560" y="2743200"/>
            <a:ext cx="2834640" cy="3136392"/>
          </a:xfrm>
          <a:prstGeom prst="rect">
            <a:avLst/>
          </a:prstGeom>
          <a:noFill/>
        </p:spPr>
        <p:txBody>
          <a:bodyPr wrap="square" anchor="t">
            <a:spAutoFit/>
          </a:bodyPr>
          <a:lstStyle/>
          <a:p>
            <a:pPr algn="l">
              <a:spcAft>
                <a:spcPts val="400"/>
              </a:spcAft>
            </a:pPr>
            <a:r>
              <a:rPr sz="1300" b="0">
                <a:solidFill>
                  <a:srgbClr val="161B26"/>
                </a:solidFill>
                <a:latin typeface="Arial"/>
              </a:rPr>
              <a:t>Engineers need auditable access to development and production accounts with different privileges.</a:t>
            </a:r>
          </a:p>
        </p:txBody>
      </p:sp>
      <p:sp>
        <p:nvSpPr>
          <p:cNvPr id="13" name="Rectangle 12"/>
          <p:cNvSpPr/>
          <p:nvPr/>
        </p:nvSpPr>
        <p:spPr>
          <a:xfrm>
            <a:off x="4434840"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34840" y="1783080"/>
            <a:ext cx="91440"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636008" y="1965960"/>
            <a:ext cx="438912" cy="43891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6008"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7" name="TextBox 16"/>
          <p:cNvSpPr txBox="1"/>
          <p:nvPr/>
        </p:nvSpPr>
        <p:spPr>
          <a:xfrm>
            <a:off x="5212080" y="1929384"/>
            <a:ext cx="2286000" cy="475488"/>
          </a:xfrm>
          <a:prstGeom prst="rect">
            <a:avLst/>
          </a:prstGeom>
          <a:noFill/>
        </p:spPr>
        <p:txBody>
          <a:bodyPr wrap="square" anchor="ctr">
            <a:spAutoFit/>
          </a:bodyPr>
          <a:lstStyle/>
          <a:p>
            <a:pPr algn="l">
              <a:spcAft>
                <a:spcPts val="400"/>
              </a:spcAft>
            </a:pPr>
            <a:r>
              <a:rPr sz="1250" b="1">
                <a:solidFill>
                  <a:srgbClr val="10B981"/>
                </a:solidFill>
                <a:latin typeface="Arial"/>
              </a:rPr>
              <a:t>DESIGN RESPONSE</a:t>
            </a:r>
          </a:p>
        </p:txBody>
      </p:sp>
      <p:sp>
        <p:nvSpPr>
          <p:cNvPr id="18" name="TextBox 17"/>
          <p:cNvSpPr txBox="1"/>
          <p:nvPr/>
        </p:nvSpPr>
        <p:spPr>
          <a:xfrm>
            <a:off x="4663440"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Use permission sets, roles, session controls and access analysis; avoid long-lived IAM user keys.</a:t>
            </a:r>
          </a:p>
        </p:txBody>
      </p:sp>
      <p:sp>
        <p:nvSpPr>
          <p:cNvPr id="19" name="Rectangle 18"/>
          <p:cNvSpPr/>
          <p:nvPr/>
        </p:nvSpPr>
        <p:spPr>
          <a:xfrm>
            <a:off x="7973568"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973568" y="1783080"/>
            <a:ext cx="91440" cy="21488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174736" y="1965960"/>
            <a:ext cx="438912" cy="43891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74736"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23" name="TextBox 22"/>
          <p:cNvSpPr txBox="1"/>
          <p:nvPr/>
        </p:nvSpPr>
        <p:spPr>
          <a:xfrm>
            <a:off x="8750808" y="1929384"/>
            <a:ext cx="2286000" cy="475488"/>
          </a:xfrm>
          <a:prstGeom prst="rect">
            <a:avLst/>
          </a:prstGeom>
          <a:noFill/>
        </p:spPr>
        <p:txBody>
          <a:bodyPr wrap="square" anchor="ctr">
            <a:spAutoFit/>
          </a:bodyPr>
          <a:lstStyle/>
          <a:p>
            <a:pPr algn="l">
              <a:spcAft>
                <a:spcPts val="400"/>
              </a:spcAft>
            </a:pPr>
            <a:r>
              <a:rPr sz="1250" b="1">
                <a:solidFill>
                  <a:srgbClr val="7C3AED"/>
                </a:solidFill>
                <a:latin typeface="Arial"/>
              </a:rPr>
              <a:t>PRIMARY SERVICES</a:t>
            </a:r>
          </a:p>
        </p:txBody>
      </p:sp>
      <p:sp>
        <p:nvSpPr>
          <p:cNvPr id="24" name="TextBox 23"/>
          <p:cNvSpPr txBox="1"/>
          <p:nvPr/>
        </p:nvSpPr>
        <p:spPr>
          <a:xfrm>
            <a:off x="8202168"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IAM Identity Center · IAM · STS</a:t>
            </a:r>
          </a:p>
        </p:txBody>
      </p:sp>
      <p:sp>
        <p:nvSpPr>
          <p:cNvPr id="25" name="Rectangle 24"/>
          <p:cNvSpPr/>
          <p:nvPr/>
        </p:nvSpPr>
        <p:spPr>
          <a:xfrm>
            <a:off x="4434840"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34840" y="4005072"/>
            <a:ext cx="91440" cy="21488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636008" y="4187952"/>
            <a:ext cx="438912" cy="43891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36008"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9" name="TextBox 28"/>
          <p:cNvSpPr txBox="1"/>
          <p:nvPr/>
        </p:nvSpPr>
        <p:spPr>
          <a:xfrm>
            <a:off x="5212080" y="4151376"/>
            <a:ext cx="2286000" cy="475488"/>
          </a:xfrm>
          <a:prstGeom prst="rect">
            <a:avLst/>
          </a:prstGeom>
          <a:noFill/>
        </p:spPr>
        <p:txBody>
          <a:bodyPr wrap="square" anchor="ctr">
            <a:spAutoFit/>
          </a:bodyPr>
          <a:lstStyle/>
          <a:p>
            <a:pPr algn="l">
              <a:spcAft>
                <a:spcPts val="400"/>
              </a:spcAft>
            </a:pPr>
            <a:r>
              <a:rPr sz="1250" b="1">
                <a:solidFill>
                  <a:srgbClr val="F59E0B"/>
                </a:solidFill>
                <a:latin typeface="Arial"/>
              </a:rPr>
              <a:t>FAILURE MODE</a:t>
            </a:r>
          </a:p>
        </p:txBody>
      </p:sp>
      <p:sp>
        <p:nvSpPr>
          <p:cNvPr id="30" name="TextBox 29"/>
          <p:cNvSpPr txBox="1"/>
          <p:nvPr/>
        </p:nvSpPr>
        <p:spPr>
          <a:xfrm>
            <a:off x="4663440"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Broad shared roles erase accountability and expand blast radius.</a:t>
            </a:r>
          </a:p>
        </p:txBody>
      </p:sp>
      <p:sp>
        <p:nvSpPr>
          <p:cNvPr id="31" name="Rectangle 30"/>
          <p:cNvSpPr/>
          <p:nvPr/>
        </p:nvSpPr>
        <p:spPr>
          <a:xfrm>
            <a:off x="7973568"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73568" y="4005072"/>
            <a:ext cx="91440" cy="21488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174736" y="4187952"/>
            <a:ext cx="438912" cy="438912"/>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74736"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5" name="TextBox 34"/>
          <p:cNvSpPr txBox="1"/>
          <p:nvPr/>
        </p:nvSpPr>
        <p:spPr>
          <a:xfrm>
            <a:off x="8750808" y="4151376"/>
            <a:ext cx="2286000" cy="475488"/>
          </a:xfrm>
          <a:prstGeom prst="rect">
            <a:avLst/>
          </a:prstGeom>
          <a:noFill/>
        </p:spPr>
        <p:txBody>
          <a:bodyPr wrap="square" anchor="ctr">
            <a:spAutoFit/>
          </a:bodyPr>
          <a:lstStyle/>
          <a:p>
            <a:pPr algn="l">
              <a:spcAft>
                <a:spcPts val="400"/>
              </a:spcAft>
            </a:pPr>
            <a:r>
              <a:rPr sz="1250" b="1">
                <a:solidFill>
                  <a:srgbClr val="EC711E"/>
                </a:solidFill>
                <a:latin typeface="Arial"/>
              </a:rPr>
              <a:t>PROOF</a:t>
            </a:r>
          </a:p>
        </p:txBody>
      </p:sp>
      <p:sp>
        <p:nvSpPr>
          <p:cNvPr id="36" name="TextBox 35"/>
          <p:cNvSpPr txBox="1"/>
          <p:nvPr/>
        </p:nvSpPr>
        <p:spPr>
          <a:xfrm>
            <a:off x="8202168"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Identity source, permission-set version, role session, access finding and CloudTrail principal.</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570</a:t>
            </a:r>
          </a:p>
        </p:txBody>
      </p:sp>
    </p:spTree>
  </p:cSld>
  <p:clrMapOvr>
    <a:masterClrMapping/>
  </p:clrMapOvr>
  <p:transition xmlns:p14="http://schemas.microsoft.com/office/powerpoint/2010/main" p14:dur="380">
    <p:fade/>
  </p:transition>
</p:sld>
</file>

<file path=ppt/slides/slide5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DOMAIN 6 · OPERATIONS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Identity at scale: failure diagnostic</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RECOGNISE</a:t>
            </a:r>
          </a:p>
          <a:p>
            <a:pPr algn="l">
              <a:spcAft>
                <a:spcPts val="300"/>
              </a:spcAft>
            </a:pPr>
            <a:r>
              <a:rPr sz="1050" b="0">
                <a:solidFill>
                  <a:srgbClr val="5B6372"/>
                </a:solidFill>
                <a:latin typeface="Arial"/>
              </a:rPr>
              <a:t>Observable failure condition: Broad shared roles erase accountability and expand blast radius.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CONTAIN</a:t>
            </a:r>
          </a:p>
          <a:p>
            <a:pPr algn="l">
              <a:spcAft>
                <a:spcPts val="300"/>
              </a:spcAft>
            </a:pPr>
            <a:r>
              <a:rPr sz="1050" b="0">
                <a:solidFill>
                  <a:srgbClr val="5B6372"/>
                </a:solidFill>
                <a:latin typeface="Arial"/>
              </a:rPr>
              <a:t>Pause promotion, preserve evidence and reduce impact without destroying diagnostic state.</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DIAGNOSE</a:t>
            </a:r>
          </a:p>
          <a:p>
            <a:pPr algn="l">
              <a:spcAft>
                <a:spcPts val="300"/>
              </a:spcAft>
            </a:pPr>
            <a:r>
              <a:rPr sz="1050" b="0">
                <a:solidFill>
                  <a:srgbClr val="5B6372"/>
                </a:solidFill>
                <a:latin typeface="Arial"/>
              </a:rPr>
              <a:t>Trace the workflow from Authenticate through Record session; compare intended configuration with runtime state.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RECOVER</a:t>
            </a:r>
          </a:p>
          <a:p>
            <a:pPr algn="l">
              <a:spcAft>
                <a:spcPts val="300"/>
              </a:spcAft>
            </a:pPr>
            <a:r>
              <a:rPr sz="1050" b="0">
                <a:solidFill>
                  <a:srgbClr val="5B6372"/>
                </a:solidFill>
                <a:latin typeface="Arial"/>
              </a:rPr>
              <a:t>Restore the last known-good state, then prove recovery with Identity source, permission-set version, role session, access finding and CloudTrail principal.</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571</a:t>
            </a:r>
          </a:p>
        </p:txBody>
      </p:sp>
    </p:spTree>
  </p:cSld>
  <p:clrMapOvr>
    <a:masterClrMapping/>
  </p:clrMapOvr>
  <p:transition xmlns:p14="http://schemas.microsoft.com/office/powerpoint/2010/main" p14:dur="380">
    <p:fade/>
  </p:transition>
</p:sld>
</file>

<file path=ppt/slides/slide5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DOMAIN 6 · APPLIED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Identity at scale: worked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CONSTRAINT</a:t>
            </a:r>
          </a:p>
          <a:p>
            <a:pPr algn="l">
              <a:spcAft>
                <a:spcPts val="300"/>
              </a:spcAft>
            </a:pPr>
            <a:r>
              <a:rPr sz="1050" b="0">
                <a:solidFill>
                  <a:srgbClr val="5B6372"/>
                </a:solidFill>
                <a:latin typeface="Arial"/>
              </a:rPr>
              <a:t>Engineers need auditable access to development and production accounts with different privileges.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DECISION</a:t>
            </a:r>
          </a:p>
          <a:p>
            <a:pPr algn="l">
              <a:spcAft>
                <a:spcPts val="300"/>
              </a:spcAft>
            </a:pPr>
            <a:r>
              <a:rPr sz="1050" b="0">
                <a:solidFill>
                  <a:srgbClr val="5B6372"/>
                </a:solidFill>
                <a:latin typeface="Arial"/>
              </a:rPr>
              <a:t>Use permission sets, roles, session controls and access analysis; avoid long-lived IAM user keys.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WHY ALTERNATIVES LOSE</a:t>
            </a:r>
          </a:p>
          <a:p>
            <a:pPr algn="l">
              <a:spcAft>
                <a:spcPts val="300"/>
              </a:spcAft>
            </a:pPr>
            <a:r>
              <a:rPr sz="1050" b="0">
                <a:solidFill>
                  <a:srgbClr val="5B6372"/>
                </a:solidFill>
                <a:latin typeface="Arial"/>
              </a:rPr>
              <a:t>Reject options that do not change the stated failure boundary: Broad shared roles erase accountability and expand blast radius.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ACCEPTANCE TEST</a:t>
            </a:r>
          </a:p>
          <a:p>
            <a:pPr algn="l">
              <a:spcAft>
                <a:spcPts val="300"/>
              </a:spcAft>
            </a:pPr>
            <a:r>
              <a:rPr sz="1050" b="0">
                <a:solidFill>
                  <a:srgbClr val="5B6372"/>
                </a:solidFill>
                <a:latin typeface="Arial"/>
              </a:rPr>
              <a:t>The decision is complete only when this proof exists: Identity source, permission-set version, role session, access finding and CloudTrail principal.</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572</a:t>
            </a:r>
          </a:p>
        </p:txBody>
      </p:sp>
    </p:spTree>
  </p:cSld>
  <p:clrMapOvr>
    <a:masterClrMapping/>
  </p:clrMapOvr>
  <p:transition xmlns:p14="http://schemas.microsoft.com/office/powerpoint/2010/main" p14:dur="380">
    <p:fade/>
  </p:transition>
</p:sld>
</file>

<file path=ppt/slides/slide5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DOMAIN 6 · SECURITY AND COMPLIANCE</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Organizations and preventive guardrails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OUTCOME</a:t>
            </a:r>
          </a:p>
          <a:p>
            <a:pPr algn="l">
              <a:spcAft>
                <a:spcPts val="300"/>
              </a:spcAft>
            </a:pPr>
            <a:r>
              <a:rPr sz="1050" b="0">
                <a:solidFill>
                  <a:srgbClr val="5B6372"/>
                </a:solidFill>
                <a:latin typeface="Arial"/>
              </a:rPr>
              <a:t>Set organization-wide permission boundaries while preserving account autonomy inside approved limits.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ARCHITECTURE</a:t>
            </a:r>
          </a:p>
          <a:p>
            <a:pPr algn="l">
              <a:spcAft>
                <a:spcPts val="300"/>
              </a:spcAft>
            </a:pPr>
            <a:r>
              <a:rPr sz="1050" b="0">
                <a:solidFill>
                  <a:srgbClr val="5B6372"/>
                </a:solidFill>
                <a:latin typeface="Arial"/>
              </a:rPr>
              <a:t>Design OU structure from governance needs, test SCP impact, use deny guardrails carefully and keep break-glass access.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MODE</a:t>
            </a:r>
          </a:p>
          <a:p>
            <a:pPr algn="l">
              <a:spcAft>
                <a:spcPts val="300"/>
              </a:spcAft>
            </a:pPr>
            <a:r>
              <a:rPr sz="1050" b="0">
                <a:solidFill>
                  <a:srgbClr val="5B6372"/>
                </a:solidFill>
                <a:latin typeface="Arial"/>
              </a:rPr>
              <a:t>An SCP does not grant permission; it limits what identity and resource policies may allow.</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EVIDENCE</a:t>
            </a:r>
          </a:p>
          <a:p>
            <a:pPr algn="l">
              <a:spcAft>
                <a:spcPts val="300"/>
              </a:spcAft>
            </a:pPr>
            <a:r>
              <a:rPr sz="1050" b="0">
                <a:solidFill>
                  <a:srgbClr val="5B6372"/>
                </a:solidFill>
                <a:latin typeface="Arial"/>
              </a:rPr>
              <a:t>OU hierarchy, SCP version, policy simulator result, exception and affected-account inventory.</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573</a:t>
            </a:r>
          </a:p>
        </p:txBody>
      </p:sp>
    </p:spTree>
  </p:cSld>
  <p:clrMapOvr>
    <a:masterClrMapping/>
  </p:clrMapOvr>
  <p:transition xmlns:p14="http://schemas.microsoft.com/office/powerpoint/2010/main" p14:dur="380">
    <p:fade/>
  </p:transition>
</p:sld>
</file>

<file path=ppt/slides/slide5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DOMAIN 6 · PROCESS MODEL</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Organizations and preventive guardrails: operating flow</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6354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79829"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982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Classify account</a:t>
            </a:r>
          </a:p>
        </p:txBody>
      </p:sp>
      <p:sp>
        <p:nvSpPr>
          <p:cNvPr id="12" name="Rectangle 11"/>
          <p:cNvSpPr/>
          <p:nvPr/>
        </p:nvSpPr>
        <p:spPr>
          <a:xfrm>
            <a:off x="2969971"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69971" y="2148840"/>
            <a:ext cx="186354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572560"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72560"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6" name="TextBox 15"/>
          <p:cNvSpPr txBox="1"/>
          <p:nvPr/>
        </p:nvSpPr>
        <p:spPr>
          <a:xfrm>
            <a:off x="3088843"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Attach baseline</a:t>
            </a:r>
          </a:p>
        </p:txBody>
      </p:sp>
      <p:sp>
        <p:nvSpPr>
          <p:cNvPr id="17" name="Rectangle 16"/>
          <p:cNvSpPr/>
          <p:nvPr/>
        </p:nvSpPr>
        <p:spPr>
          <a:xfrm>
            <a:off x="5162702"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62702" y="2148840"/>
            <a:ext cx="186354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765291"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6529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1" name="TextBox 20"/>
          <p:cNvSpPr txBox="1"/>
          <p:nvPr/>
        </p:nvSpPr>
        <p:spPr>
          <a:xfrm>
            <a:off x="5281574"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Evaluate effective permission</a:t>
            </a:r>
          </a:p>
        </p:txBody>
      </p:sp>
      <p:sp>
        <p:nvSpPr>
          <p:cNvPr id="22" name="Rectangle 21"/>
          <p:cNvSpPr/>
          <p:nvPr/>
        </p:nvSpPr>
        <p:spPr>
          <a:xfrm>
            <a:off x="7355433"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355433" y="2148840"/>
            <a:ext cx="186354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958022"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5802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6" name="TextBox 25"/>
          <p:cNvSpPr txBox="1"/>
          <p:nvPr/>
        </p:nvSpPr>
        <p:spPr>
          <a:xfrm>
            <a:off x="7474305"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Test workload</a:t>
            </a:r>
          </a:p>
        </p:txBody>
      </p:sp>
      <p:sp>
        <p:nvSpPr>
          <p:cNvPr id="27" name="Rectangle 26"/>
          <p:cNvSpPr/>
          <p:nvPr/>
        </p:nvSpPr>
        <p:spPr>
          <a:xfrm>
            <a:off x="9548164" y="2148840"/>
            <a:ext cx="1863547"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548164" y="2148840"/>
            <a:ext cx="1863547" cy="914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50753" y="2532888"/>
            <a:ext cx="658368" cy="658368"/>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5075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5</a:t>
            </a:r>
          </a:p>
        </p:txBody>
      </p:sp>
      <p:sp>
        <p:nvSpPr>
          <p:cNvPr id="31" name="TextBox 30"/>
          <p:cNvSpPr txBox="1"/>
          <p:nvPr/>
        </p:nvSpPr>
        <p:spPr>
          <a:xfrm>
            <a:off x="9667036" y="3474720"/>
            <a:ext cx="1625803" cy="1737360"/>
          </a:xfrm>
          <a:prstGeom prst="rect">
            <a:avLst/>
          </a:prstGeom>
          <a:noFill/>
        </p:spPr>
        <p:txBody>
          <a:bodyPr wrap="square" anchor="ctr">
            <a:spAutoFit/>
          </a:bodyPr>
          <a:lstStyle/>
          <a:p>
            <a:pPr algn="ctr">
              <a:spcAft>
                <a:spcPts val="400"/>
              </a:spcAft>
            </a:pPr>
            <a:r>
              <a:rPr sz="1250" b="0">
                <a:solidFill>
                  <a:srgbClr val="161B26"/>
                </a:solidFill>
                <a:latin typeface="Arial"/>
              </a:rPr>
              <a:t>Monitor exceptions</a:t>
            </a:r>
          </a:p>
        </p:txBody>
      </p:sp>
      <p:cxnSp>
        <p:nvCxnSpPr>
          <p:cNvPr id="32" name="Connector 31"/>
          <p:cNvCxnSpPr/>
          <p:nvPr/>
        </p:nvCxnSpPr>
        <p:spPr>
          <a:xfrm>
            <a:off x="2640787"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83351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026249"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21898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C0392B"/>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8" name="TextBox 3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9" name="TextBox 3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0" name="TextBox 3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574</a:t>
            </a:r>
          </a:p>
        </p:txBody>
      </p:sp>
    </p:spTree>
  </p:cSld>
  <p:clrMapOvr>
    <a:masterClrMapping/>
  </p:clrMapOvr>
  <p:transition xmlns:p14="http://schemas.microsoft.com/office/powerpoint/2010/main" p14:dur="380">
    <p:fade/>
  </p:transition>
</p:sld>
</file>

<file path=ppt/slides/slide5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DOMAIN 6 ·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700" b="1">
                <a:solidFill>
                  <a:srgbClr val="161B26"/>
                </a:solidFill>
                <a:latin typeface="Arial"/>
              </a:rPr>
              <a:t>Organizations and preventive guardrails: design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83280" cy="43708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70832"/>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011680"/>
            <a:ext cx="530352" cy="530352"/>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011680"/>
            <a:ext cx="530352" cy="530352"/>
          </a:xfrm>
          <a:prstGeom prst="rect">
            <a:avLst/>
          </a:prstGeom>
          <a:noFill/>
        </p:spPr>
        <p:txBody>
          <a:bodyPr wrap="square" anchor="ctr">
            <a:spAutoFit/>
          </a:bodyPr>
          <a:lstStyle/>
          <a:p>
            <a:pPr algn="ctr">
              <a:spcAft>
                <a:spcPts val="400"/>
              </a:spcAft>
            </a:pPr>
            <a:r>
              <a:rPr sz="2000" b="1">
                <a:solidFill>
                  <a:srgbClr val="FFFFFF"/>
                </a:solidFill>
                <a:latin typeface="Arial"/>
              </a:rPr>
              <a:t>?</a:t>
            </a:r>
          </a:p>
        </p:txBody>
      </p:sp>
      <p:sp>
        <p:nvSpPr>
          <p:cNvPr id="11" name="TextBox 10"/>
          <p:cNvSpPr txBox="1"/>
          <p:nvPr/>
        </p:nvSpPr>
        <p:spPr>
          <a:xfrm>
            <a:off x="1709928" y="1984248"/>
            <a:ext cx="2212848" cy="502920"/>
          </a:xfrm>
          <a:prstGeom prst="rect">
            <a:avLst/>
          </a:prstGeom>
          <a:noFill/>
        </p:spPr>
        <p:txBody>
          <a:bodyPr wrap="square" anchor="ctr">
            <a:spAutoFit/>
          </a:bodyPr>
          <a:lstStyle/>
          <a:p>
            <a:pPr algn="l">
              <a:spcAft>
                <a:spcPts val="400"/>
              </a:spcAft>
            </a:pPr>
            <a:r>
              <a:rPr sz="1350" b="1">
                <a:solidFill>
                  <a:srgbClr val="C0392B"/>
                </a:solidFill>
                <a:latin typeface="Arial"/>
              </a:rPr>
              <a:t>SCENARIO</a:t>
            </a:r>
          </a:p>
        </p:txBody>
      </p:sp>
      <p:sp>
        <p:nvSpPr>
          <p:cNvPr id="12" name="TextBox 11"/>
          <p:cNvSpPr txBox="1"/>
          <p:nvPr/>
        </p:nvSpPr>
        <p:spPr>
          <a:xfrm>
            <a:off x="1051560" y="2743200"/>
            <a:ext cx="2834640" cy="3136392"/>
          </a:xfrm>
          <a:prstGeom prst="rect">
            <a:avLst/>
          </a:prstGeom>
          <a:noFill/>
        </p:spPr>
        <p:txBody>
          <a:bodyPr wrap="square" anchor="t">
            <a:spAutoFit/>
          </a:bodyPr>
          <a:lstStyle/>
          <a:p>
            <a:pPr algn="l">
              <a:spcAft>
                <a:spcPts val="400"/>
              </a:spcAft>
            </a:pPr>
            <a:r>
              <a:rPr sz="1300" b="0">
                <a:solidFill>
                  <a:srgbClr val="161B26"/>
                </a:solidFill>
                <a:latin typeface="Arial"/>
              </a:rPr>
              <a:t>Production accounts must never disable CloudTrail or create unencrypted storage.</a:t>
            </a:r>
          </a:p>
        </p:txBody>
      </p:sp>
      <p:sp>
        <p:nvSpPr>
          <p:cNvPr id="13" name="Rectangle 12"/>
          <p:cNvSpPr/>
          <p:nvPr/>
        </p:nvSpPr>
        <p:spPr>
          <a:xfrm>
            <a:off x="4434840"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34840" y="1783080"/>
            <a:ext cx="91440"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636008" y="1965960"/>
            <a:ext cx="438912" cy="43891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6008"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7" name="TextBox 16"/>
          <p:cNvSpPr txBox="1"/>
          <p:nvPr/>
        </p:nvSpPr>
        <p:spPr>
          <a:xfrm>
            <a:off x="5212080" y="1929384"/>
            <a:ext cx="2286000" cy="475488"/>
          </a:xfrm>
          <a:prstGeom prst="rect">
            <a:avLst/>
          </a:prstGeom>
          <a:noFill/>
        </p:spPr>
        <p:txBody>
          <a:bodyPr wrap="square" anchor="ctr">
            <a:spAutoFit/>
          </a:bodyPr>
          <a:lstStyle/>
          <a:p>
            <a:pPr algn="l">
              <a:spcAft>
                <a:spcPts val="400"/>
              </a:spcAft>
            </a:pPr>
            <a:r>
              <a:rPr sz="1250" b="1">
                <a:solidFill>
                  <a:srgbClr val="10B981"/>
                </a:solidFill>
                <a:latin typeface="Arial"/>
              </a:rPr>
              <a:t>DESIGN RESPONSE</a:t>
            </a:r>
          </a:p>
        </p:txBody>
      </p:sp>
      <p:sp>
        <p:nvSpPr>
          <p:cNvPr id="18" name="TextBox 17"/>
          <p:cNvSpPr txBox="1"/>
          <p:nvPr/>
        </p:nvSpPr>
        <p:spPr>
          <a:xfrm>
            <a:off x="4663440"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Design OU structure from governance needs, test SCP impact, use deny guardrails carefully and keep break-glass access.</a:t>
            </a:r>
          </a:p>
        </p:txBody>
      </p:sp>
      <p:sp>
        <p:nvSpPr>
          <p:cNvPr id="19" name="Rectangle 18"/>
          <p:cNvSpPr/>
          <p:nvPr/>
        </p:nvSpPr>
        <p:spPr>
          <a:xfrm>
            <a:off x="7973568"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973568" y="1783080"/>
            <a:ext cx="91440" cy="21488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174736" y="1965960"/>
            <a:ext cx="438912" cy="43891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74736"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23" name="TextBox 22"/>
          <p:cNvSpPr txBox="1"/>
          <p:nvPr/>
        </p:nvSpPr>
        <p:spPr>
          <a:xfrm>
            <a:off x="8750808" y="1929384"/>
            <a:ext cx="2286000" cy="475488"/>
          </a:xfrm>
          <a:prstGeom prst="rect">
            <a:avLst/>
          </a:prstGeom>
          <a:noFill/>
        </p:spPr>
        <p:txBody>
          <a:bodyPr wrap="square" anchor="ctr">
            <a:spAutoFit/>
          </a:bodyPr>
          <a:lstStyle/>
          <a:p>
            <a:pPr algn="l">
              <a:spcAft>
                <a:spcPts val="400"/>
              </a:spcAft>
            </a:pPr>
            <a:r>
              <a:rPr sz="1250" b="1">
                <a:solidFill>
                  <a:srgbClr val="7C3AED"/>
                </a:solidFill>
                <a:latin typeface="Arial"/>
              </a:rPr>
              <a:t>PRIMARY SERVICES</a:t>
            </a:r>
          </a:p>
        </p:txBody>
      </p:sp>
      <p:sp>
        <p:nvSpPr>
          <p:cNvPr id="24" name="TextBox 23"/>
          <p:cNvSpPr txBox="1"/>
          <p:nvPr/>
        </p:nvSpPr>
        <p:spPr>
          <a:xfrm>
            <a:off x="8202168"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Organizations · SCPs · Control Tower</a:t>
            </a:r>
          </a:p>
        </p:txBody>
      </p:sp>
      <p:sp>
        <p:nvSpPr>
          <p:cNvPr id="25" name="Rectangle 24"/>
          <p:cNvSpPr/>
          <p:nvPr/>
        </p:nvSpPr>
        <p:spPr>
          <a:xfrm>
            <a:off x="4434840"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34840" y="4005072"/>
            <a:ext cx="91440" cy="21488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636008" y="4187952"/>
            <a:ext cx="438912" cy="43891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36008"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9" name="TextBox 28"/>
          <p:cNvSpPr txBox="1"/>
          <p:nvPr/>
        </p:nvSpPr>
        <p:spPr>
          <a:xfrm>
            <a:off x="5212080" y="4151376"/>
            <a:ext cx="2286000" cy="475488"/>
          </a:xfrm>
          <a:prstGeom prst="rect">
            <a:avLst/>
          </a:prstGeom>
          <a:noFill/>
        </p:spPr>
        <p:txBody>
          <a:bodyPr wrap="square" anchor="ctr">
            <a:spAutoFit/>
          </a:bodyPr>
          <a:lstStyle/>
          <a:p>
            <a:pPr algn="l">
              <a:spcAft>
                <a:spcPts val="400"/>
              </a:spcAft>
            </a:pPr>
            <a:r>
              <a:rPr sz="1250" b="1">
                <a:solidFill>
                  <a:srgbClr val="F59E0B"/>
                </a:solidFill>
                <a:latin typeface="Arial"/>
              </a:rPr>
              <a:t>FAILURE MODE</a:t>
            </a:r>
          </a:p>
        </p:txBody>
      </p:sp>
      <p:sp>
        <p:nvSpPr>
          <p:cNvPr id="30" name="TextBox 29"/>
          <p:cNvSpPr txBox="1"/>
          <p:nvPr/>
        </p:nvSpPr>
        <p:spPr>
          <a:xfrm>
            <a:off x="4663440"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An SCP does not grant permission; it limits what identity and resource policies may allow.</a:t>
            </a:r>
          </a:p>
        </p:txBody>
      </p:sp>
      <p:sp>
        <p:nvSpPr>
          <p:cNvPr id="31" name="Rectangle 30"/>
          <p:cNvSpPr/>
          <p:nvPr/>
        </p:nvSpPr>
        <p:spPr>
          <a:xfrm>
            <a:off x="7973568"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73568" y="4005072"/>
            <a:ext cx="91440" cy="21488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174736" y="4187952"/>
            <a:ext cx="438912" cy="438912"/>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74736"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5" name="TextBox 34"/>
          <p:cNvSpPr txBox="1"/>
          <p:nvPr/>
        </p:nvSpPr>
        <p:spPr>
          <a:xfrm>
            <a:off x="8750808" y="4151376"/>
            <a:ext cx="2286000" cy="475488"/>
          </a:xfrm>
          <a:prstGeom prst="rect">
            <a:avLst/>
          </a:prstGeom>
          <a:noFill/>
        </p:spPr>
        <p:txBody>
          <a:bodyPr wrap="square" anchor="ctr">
            <a:spAutoFit/>
          </a:bodyPr>
          <a:lstStyle/>
          <a:p>
            <a:pPr algn="l">
              <a:spcAft>
                <a:spcPts val="400"/>
              </a:spcAft>
            </a:pPr>
            <a:r>
              <a:rPr sz="1250" b="1">
                <a:solidFill>
                  <a:srgbClr val="EC711E"/>
                </a:solidFill>
                <a:latin typeface="Arial"/>
              </a:rPr>
              <a:t>PROOF</a:t>
            </a:r>
          </a:p>
        </p:txBody>
      </p:sp>
      <p:sp>
        <p:nvSpPr>
          <p:cNvPr id="36" name="TextBox 35"/>
          <p:cNvSpPr txBox="1"/>
          <p:nvPr/>
        </p:nvSpPr>
        <p:spPr>
          <a:xfrm>
            <a:off x="8202168"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OU hierarchy, SCP version, policy simulator result, exception and affected-account inventory.</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575</a:t>
            </a:r>
          </a:p>
        </p:txBody>
      </p:sp>
    </p:spTree>
  </p:cSld>
  <p:clrMapOvr>
    <a:masterClrMapping/>
  </p:clrMapOvr>
  <p:transition xmlns:p14="http://schemas.microsoft.com/office/powerpoint/2010/main" p14:dur="380">
    <p:fade/>
  </p:transition>
</p:sld>
</file>

<file path=ppt/slides/slide5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DOMAIN 6 · OPERATIONS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700" b="1">
                <a:solidFill>
                  <a:srgbClr val="161B26"/>
                </a:solidFill>
                <a:latin typeface="Arial"/>
              </a:rPr>
              <a:t>Organizations and preventive guardrails: failure diagnostic</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RECOGNISE</a:t>
            </a:r>
          </a:p>
          <a:p>
            <a:pPr algn="l">
              <a:spcAft>
                <a:spcPts val="300"/>
              </a:spcAft>
            </a:pPr>
            <a:r>
              <a:rPr sz="1050" b="0">
                <a:solidFill>
                  <a:srgbClr val="5B6372"/>
                </a:solidFill>
                <a:latin typeface="Arial"/>
              </a:rPr>
              <a:t>Observable failure condition: An SCP does not grant permission; it limits what identity and resource policies may allow.</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CONTAIN</a:t>
            </a:r>
          </a:p>
          <a:p>
            <a:pPr algn="l">
              <a:spcAft>
                <a:spcPts val="300"/>
              </a:spcAft>
            </a:pPr>
            <a:r>
              <a:rPr sz="1050" b="0">
                <a:solidFill>
                  <a:srgbClr val="5B6372"/>
                </a:solidFill>
                <a:latin typeface="Arial"/>
              </a:rPr>
              <a:t>Pause promotion, preserve evidence and reduce impact without destroying diagnostic state.</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DIAGNOSE</a:t>
            </a:r>
          </a:p>
          <a:p>
            <a:pPr algn="l">
              <a:spcAft>
                <a:spcPts val="300"/>
              </a:spcAft>
            </a:pPr>
            <a:r>
              <a:rPr sz="1050" b="0">
                <a:solidFill>
                  <a:srgbClr val="5B6372"/>
                </a:solidFill>
                <a:latin typeface="Arial"/>
              </a:rPr>
              <a:t>Trace the workflow from Classify account through Monitor exceptions; compare intended configuration with runtime state.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RECOVER</a:t>
            </a:r>
          </a:p>
          <a:p>
            <a:pPr algn="l">
              <a:spcAft>
                <a:spcPts val="300"/>
              </a:spcAft>
            </a:pPr>
            <a:r>
              <a:rPr sz="1050" b="0">
                <a:solidFill>
                  <a:srgbClr val="5B6372"/>
                </a:solidFill>
                <a:latin typeface="Arial"/>
              </a:rPr>
              <a:t>Restore the last known-good state, then prove recovery with OU hierarchy, SCP version, policy simulator result, exception and affected-account inventory.</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576</a:t>
            </a:r>
          </a:p>
        </p:txBody>
      </p:sp>
    </p:spTree>
  </p:cSld>
  <p:clrMapOvr>
    <a:masterClrMapping/>
  </p:clrMapOvr>
  <p:transition xmlns:p14="http://schemas.microsoft.com/office/powerpoint/2010/main" p14:dur="380">
    <p:fade/>
  </p:transition>
</p:sld>
</file>

<file path=ppt/slides/slide5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DOMAIN 6 · APPLIED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700" b="1">
                <a:solidFill>
                  <a:srgbClr val="161B26"/>
                </a:solidFill>
                <a:latin typeface="Arial"/>
              </a:rPr>
              <a:t>Organizations and preventive guardrails: worked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CONSTRAINT</a:t>
            </a:r>
          </a:p>
          <a:p>
            <a:pPr algn="l">
              <a:spcAft>
                <a:spcPts val="300"/>
              </a:spcAft>
            </a:pPr>
            <a:r>
              <a:rPr sz="1050" b="0">
                <a:solidFill>
                  <a:srgbClr val="5B6372"/>
                </a:solidFill>
                <a:latin typeface="Arial"/>
              </a:rPr>
              <a:t>Production accounts must never disable CloudTrail or create unencrypted storage.</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DECISION</a:t>
            </a:r>
          </a:p>
          <a:p>
            <a:pPr algn="l">
              <a:spcAft>
                <a:spcPts val="300"/>
              </a:spcAft>
            </a:pPr>
            <a:r>
              <a:rPr sz="1050" b="0">
                <a:solidFill>
                  <a:srgbClr val="5B6372"/>
                </a:solidFill>
                <a:latin typeface="Arial"/>
              </a:rPr>
              <a:t>Design OU structure from governance needs, test SCP impact, use deny guardrails carefully and keep break-glass access.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WHY ALTERNATIVES LOSE</a:t>
            </a:r>
          </a:p>
          <a:p>
            <a:pPr algn="l">
              <a:spcAft>
                <a:spcPts val="300"/>
              </a:spcAft>
            </a:pPr>
            <a:r>
              <a:rPr sz="1050" b="0">
                <a:solidFill>
                  <a:srgbClr val="5B6372"/>
                </a:solidFill>
                <a:latin typeface="Arial"/>
              </a:rPr>
              <a:t>Reject options that do not change the stated failure boundary: An SCP does not grant permission; it limits what identity and resource policies may allow.</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ACCEPTANCE TEST</a:t>
            </a:r>
          </a:p>
          <a:p>
            <a:pPr algn="l">
              <a:spcAft>
                <a:spcPts val="300"/>
              </a:spcAft>
            </a:pPr>
            <a:r>
              <a:rPr sz="1050" b="0">
                <a:solidFill>
                  <a:srgbClr val="5B6372"/>
                </a:solidFill>
                <a:latin typeface="Arial"/>
              </a:rPr>
              <a:t>The decision is complete only when this proof exists: OU hierarchy, SCP version, policy simulator result, exception and affected-account inventory.</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577</a:t>
            </a:r>
          </a:p>
        </p:txBody>
      </p:sp>
    </p:spTree>
  </p:cSld>
  <p:clrMapOvr>
    <a:masterClrMapping/>
  </p:clrMapOvr>
  <p:transition xmlns:p14="http://schemas.microsoft.com/office/powerpoint/2010/main" p14:dur="380">
    <p:fade/>
  </p:transition>
</p:sld>
</file>

<file path=ppt/slides/slide5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DOMAIN 6 · SECURITY AND COMPLIANCE</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Secrets, keys and data protection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OUTCOME</a:t>
            </a:r>
          </a:p>
          <a:p>
            <a:pPr algn="l">
              <a:spcAft>
                <a:spcPts val="300"/>
              </a:spcAft>
            </a:pPr>
            <a:r>
              <a:rPr sz="1050" b="0">
                <a:solidFill>
                  <a:srgbClr val="5B6372"/>
                </a:solidFill>
                <a:latin typeface="Arial"/>
              </a:rPr>
              <a:t>Protect data and credentials through encryption, controlled key use and automated rotation.</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ARCHITECTURE</a:t>
            </a:r>
          </a:p>
          <a:p>
            <a:pPr algn="l">
              <a:spcAft>
                <a:spcPts val="300"/>
              </a:spcAft>
            </a:pPr>
            <a:r>
              <a:rPr sz="1050" b="0">
                <a:solidFill>
                  <a:srgbClr val="5B6372"/>
                </a:solidFill>
                <a:latin typeface="Arial"/>
              </a:rPr>
              <a:t>Separate key administration from use, scope resource policies, rotate secrets safely and plan multi-Region recovery.</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MODE</a:t>
            </a:r>
          </a:p>
          <a:p>
            <a:pPr algn="l">
              <a:spcAft>
                <a:spcPts val="300"/>
              </a:spcAft>
            </a:pPr>
            <a:r>
              <a:rPr sz="1050" b="0">
                <a:solidFill>
                  <a:srgbClr val="5B6372"/>
                </a:solidFill>
                <a:latin typeface="Arial"/>
              </a:rPr>
              <a:t>Encrypting with a key that the recovery account cannot use makes backups operationally unavailable.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EVIDENCE</a:t>
            </a:r>
          </a:p>
          <a:p>
            <a:pPr algn="l">
              <a:spcAft>
                <a:spcPts val="300"/>
              </a:spcAft>
            </a:pPr>
            <a:r>
              <a:rPr sz="1050" b="0">
                <a:solidFill>
                  <a:srgbClr val="5B6372"/>
                </a:solidFill>
                <a:latin typeface="Arial"/>
              </a:rPr>
              <a:t>Key policy, grant, encryption context, secret version stages, rotation result and access trail.</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578</a:t>
            </a:r>
          </a:p>
        </p:txBody>
      </p:sp>
    </p:spTree>
  </p:cSld>
  <p:clrMapOvr>
    <a:masterClrMapping/>
  </p:clrMapOvr>
  <p:transition xmlns:p14="http://schemas.microsoft.com/office/powerpoint/2010/main" p14:dur="380">
    <p:fade/>
  </p:transition>
</p:sld>
</file>

<file path=ppt/slides/slide5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DOMAIN 6 · PROCESS MODEL</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Secrets, keys and data protection: operating flow</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49809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97102"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9710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Generate or store secret</a:t>
            </a:r>
          </a:p>
        </p:txBody>
      </p:sp>
      <p:sp>
        <p:nvSpPr>
          <p:cNvPr id="12" name="Rectangle 11"/>
          <p:cNvSpPr/>
          <p:nvPr/>
        </p:nvSpPr>
        <p:spPr>
          <a:xfrm>
            <a:off x="2604516"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04516" y="2148840"/>
            <a:ext cx="149809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024378"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24378"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6" name="TextBox 15"/>
          <p:cNvSpPr txBox="1"/>
          <p:nvPr/>
        </p:nvSpPr>
        <p:spPr>
          <a:xfrm>
            <a:off x="2723388"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Authorize workload</a:t>
            </a:r>
          </a:p>
        </p:txBody>
      </p:sp>
      <p:sp>
        <p:nvSpPr>
          <p:cNvPr id="17" name="Rectangle 16"/>
          <p:cNvSpPr/>
          <p:nvPr/>
        </p:nvSpPr>
        <p:spPr>
          <a:xfrm>
            <a:off x="4431792"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431792" y="2148840"/>
            <a:ext cx="149809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851654"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51654"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1" name="TextBox 20"/>
          <p:cNvSpPr txBox="1"/>
          <p:nvPr/>
        </p:nvSpPr>
        <p:spPr>
          <a:xfrm>
            <a:off x="4550664"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Encrypt</a:t>
            </a:r>
          </a:p>
        </p:txBody>
      </p:sp>
      <p:sp>
        <p:nvSpPr>
          <p:cNvPr id="22" name="Rectangle 21"/>
          <p:cNvSpPr/>
          <p:nvPr/>
        </p:nvSpPr>
        <p:spPr>
          <a:xfrm>
            <a:off x="6259068"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59068" y="2148840"/>
            <a:ext cx="149809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678930"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78930"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6" name="TextBox 25"/>
          <p:cNvSpPr txBox="1"/>
          <p:nvPr/>
        </p:nvSpPr>
        <p:spPr>
          <a:xfrm>
            <a:off x="6377940"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Use</a:t>
            </a:r>
          </a:p>
        </p:txBody>
      </p:sp>
      <p:sp>
        <p:nvSpPr>
          <p:cNvPr id="27" name="Rectangle 26"/>
          <p:cNvSpPr/>
          <p:nvPr/>
        </p:nvSpPr>
        <p:spPr>
          <a:xfrm>
            <a:off x="8086344"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086344" y="2148840"/>
            <a:ext cx="1498092" cy="914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506206" y="2532888"/>
            <a:ext cx="658368" cy="658368"/>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06206"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5</a:t>
            </a:r>
          </a:p>
        </p:txBody>
      </p:sp>
      <p:sp>
        <p:nvSpPr>
          <p:cNvPr id="31" name="TextBox 30"/>
          <p:cNvSpPr txBox="1"/>
          <p:nvPr/>
        </p:nvSpPr>
        <p:spPr>
          <a:xfrm>
            <a:off x="8205216"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Rotate</a:t>
            </a:r>
          </a:p>
        </p:txBody>
      </p:sp>
      <p:sp>
        <p:nvSpPr>
          <p:cNvPr id="32" name="Rectangle 31"/>
          <p:cNvSpPr/>
          <p:nvPr/>
        </p:nvSpPr>
        <p:spPr>
          <a:xfrm>
            <a:off x="9913620"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913620" y="2148840"/>
            <a:ext cx="1498092" cy="91440"/>
          </a:xfrm>
          <a:prstGeom prst="rect">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333482" y="2532888"/>
            <a:ext cx="658368" cy="658368"/>
          </a:xfrm>
          <a:prstGeom prst="ellipse">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3348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6</a:t>
            </a:r>
          </a:p>
        </p:txBody>
      </p:sp>
      <p:sp>
        <p:nvSpPr>
          <p:cNvPr id="36" name="TextBox 35"/>
          <p:cNvSpPr txBox="1"/>
          <p:nvPr/>
        </p:nvSpPr>
        <p:spPr>
          <a:xfrm>
            <a:off x="10032492"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Audit</a:t>
            </a:r>
          </a:p>
        </p:txBody>
      </p:sp>
      <p:cxnSp>
        <p:nvCxnSpPr>
          <p:cNvPr id="37" name="Connector 36"/>
          <p:cNvCxnSpPr/>
          <p:nvPr/>
        </p:nvCxnSpPr>
        <p:spPr>
          <a:xfrm>
            <a:off x="2275332"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10260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929884"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775716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9584436"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C0392B"/>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44" name="TextBox 4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45" name="TextBox 4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6" name="TextBox 4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579</a:t>
            </a:r>
          </a:p>
        </p:txBody>
      </p:sp>
    </p:spTree>
  </p:cSld>
  <p:clrMapOvr>
    <a:masterClrMapping/>
  </p:clrMapOvr>
  <p:transition xmlns:p14="http://schemas.microsoft.com/office/powerpoint/2010/main" p14:dur="380">
    <p:fade/>
  </p:transition>
</p:sld>
</file>

<file path=ppt/slides/slide5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DOMAIN 6 ·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Secrets, keys and data protection: design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83280" cy="43708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70832"/>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011680"/>
            <a:ext cx="530352" cy="530352"/>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011680"/>
            <a:ext cx="530352" cy="530352"/>
          </a:xfrm>
          <a:prstGeom prst="rect">
            <a:avLst/>
          </a:prstGeom>
          <a:noFill/>
        </p:spPr>
        <p:txBody>
          <a:bodyPr wrap="square" anchor="ctr">
            <a:spAutoFit/>
          </a:bodyPr>
          <a:lstStyle/>
          <a:p>
            <a:pPr algn="ctr">
              <a:spcAft>
                <a:spcPts val="400"/>
              </a:spcAft>
            </a:pPr>
            <a:r>
              <a:rPr sz="2000" b="1">
                <a:solidFill>
                  <a:srgbClr val="FFFFFF"/>
                </a:solidFill>
                <a:latin typeface="Arial"/>
              </a:rPr>
              <a:t>?</a:t>
            </a:r>
          </a:p>
        </p:txBody>
      </p:sp>
      <p:sp>
        <p:nvSpPr>
          <p:cNvPr id="11" name="TextBox 10"/>
          <p:cNvSpPr txBox="1"/>
          <p:nvPr/>
        </p:nvSpPr>
        <p:spPr>
          <a:xfrm>
            <a:off x="1709928" y="1984248"/>
            <a:ext cx="2212848" cy="502920"/>
          </a:xfrm>
          <a:prstGeom prst="rect">
            <a:avLst/>
          </a:prstGeom>
          <a:noFill/>
        </p:spPr>
        <p:txBody>
          <a:bodyPr wrap="square" anchor="ctr">
            <a:spAutoFit/>
          </a:bodyPr>
          <a:lstStyle/>
          <a:p>
            <a:pPr algn="l">
              <a:spcAft>
                <a:spcPts val="400"/>
              </a:spcAft>
            </a:pPr>
            <a:r>
              <a:rPr sz="1350" b="1">
                <a:solidFill>
                  <a:srgbClr val="C0392B"/>
                </a:solidFill>
                <a:latin typeface="Arial"/>
              </a:rPr>
              <a:t>SCENARIO</a:t>
            </a:r>
          </a:p>
        </p:txBody>
      </p:sp>
      <p:sp>
        <p:nvSpPr>
          <p:cNvPr id="12" name="TextBox 11"/>
          <p:cNvSpPr txBox="1"/>
          <p:nvPr/>
        </p:nvSpPr>
        <p:spPr>
          <a:xfrm>
            <a:off x="1051560" y="2743200"/>
            <a:ext cx="2834640" cy="3136392"/>
          </a:xfrm>
          <a:prstGeom prst="rect">
            <a:avLst/>
          </a:prstGeom>
          <a:noFill/>
        </p:spPr>
        <p:txBody>
          <a:bodyPr wrap="square" anchor="t">
            <a:spAutoFit/>
          </a:bodyPr>
          <a:lstStyle/>
          <a:p>
            <a:pPr algn="l">
              <a:spcAft>
                <a:spcPts val="400"/>
              </a:spcAft>
            </a:pPr>
            <a:r>
              <a:rPr sz="1300" b="0">
                <a:solidFill>
                  <a:srgbClr val="161B26"/>
                </a:solidFill>
                <a:latin typeface="Arial"/>
              </a:rPr>
              <a:t>A database credential must rotate without downtime and remain recoverable in the DR Region.</a:t>
            </a:r>
          </a:p>
        </p:txBody>
      </p:sp>
      <p:sp>
        <p:nvSpPr>
          <p:cNvPr id="13" name="Rectangle 12"/>
          <p:cNvSpPr/>
          <p:nvPr/>
        </p:nvSpPr>
        <p:spPr>
          <a:xfrm>
            <a:off x="4434840"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34840" y="1783080"/>
            <a:ext cx="91440"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636008" y="1965960"/>
            <a:ext cx="438912" cy="43891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6008"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7" name="TextBox 16"/>
          <p:cNvSpPr txBox="1"/>
          <p:nvPr/>
        </p:nvSpPr>
        <p:spPr>
          <a:xfrm>
            <a:off x="5212080" y="1929384"/>
            <a:ext cx="2286000" cy="475488"/>
          </a:xfrm>
          <a:prstGeom prst="rect">
            <a:avLst/>
          </a:prstGeom>
          <a:noFill/>
        </p:spPr>
        <p:txBody>
          <a:bodyPr wrap="square" anchor="ctr">
            <a:spAutoFit/>
          </a:bodyPr>
          <a:lstStyle/>
          <a:p>
            <a:pPr algn="l">
              <a:spcAft>
                <a:spcPts val="400"/>
              </a:spcAft>
            </a:pPr>
            <a:r>
              <a:rPr sz="1250" b="1">
                <a:solidFill>
                  <a:srgbClr val="10B981"/>
                </a:solidFill>
                <a:latin typeface="Arial"/>
              </a:rPr>
              <a:t>DESIGN RESPONSE</a:t>
            </a:r>
          </a:p>
        </p:txBody>
      </p:sp>
      <p:sp>
        <p:nvSpPr>
          <p:cNvPr id="18" name="TextBox 17"/>
          <p:cNvSpPr txBox="1"/>
          <p:nvPr/>
        </p:nvSpPr>
        <p:spPr>
          <a:xfrm>
            <a:off x="4663440"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Separate key administration from use, scope resource policies, rotate secrets safely and plan multi-Region recovery.</a:t>
            </a:r>
          </a:p>
        </p:txBody>
      </p:sp>
      <p:sp>
        <p:nvSpPr>
          <p:cNvPr id="19" name="Rectangle 18"/>
          <p:cNvSpPr/>
          <p:nvPr/>
        </p:nvSpPr>
        <p:spPr>
          <a:xfrm>
            <a:off x="7973568"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973568" y="1783080"/>
            <a:ext cx="91440" cy="21488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174736" y="1965960"/>
            <a:ext cx="438912" cy="43891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74736"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23" name="TextBox 22"/>
          <p:cNvSpPr txBox="1"/>
          <p:nvPr/>
        </p:nvSpPr>
        <p:spPr>
          <a:xfrm>
            <a:off x="8750808" y="1929384"/>
            <a:ext cx="2286000" cy="475488"/>
          </a:xfrm>
          <a:prstGeom prst="rect">
            <a:avLst/>
          </a:prstGeom>
          <a:noFill/>
        </p:spPr>
        <p:txBody>
          <a:bodyPr wrap="square" anchor="ctr">
            <a:spAutoFit/>
          </a:bodyPr>
          <a:lstStyle/>
          <a:p>
            <a:pPr algn="l">
              <a:spcAft>
                <a:spcPts val="400"/>
              </a:spcAft>
            </a:pPr>
            <a:r>
              <a:rPr sz="1250" b="1">
                <a:solidFill>
                  <a:srgbClr val="7C3AED"/>
                </a:solidFill>
                <a:latin typeface="Arial"/>
              </a:rPr>
              <a:t>PRIMARY SERVICES</a:t>
            </a:r>
          </a:p>
        </p:txBody>
      </p:sp>
      <p:sp>
        <p:nvSpPr>
          <p:cNvPr id="24" name="TextBox 23"/>
          <p:cNvSpPr txBox="1"/>
          <p:nvPr/>
        </p:nvSpPr>
        <p:spPr>
          <a:xfrm>
            <a:off x="8202168"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KMS · Secrets Manager · Parameter Store · ACM</a:t>
            </a:r>
          </a:p>
        </p:txBody>
      </p:sp>
      <p:sp>
        <p:nvSpPr>
          <p:cNvPr id="25" name="Rectangle 24"/>
          <p:cNvSpPr/>
          <p:nvPr/>
        </p:nvSpPr>
        <p:spPr>
          <a:xfrm>
            <a:off x="4434840"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34840" y="4005072"/>
            <a:ext cx="91440" cy="21488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636008" y="4187952"/>
            <a:ext cx="438912" cy="43891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36008"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9" name="TextBox 28"/>
          <p:cNvSpPr txBox="1"/>
          <p:nvPr/>
        </p:nvSpPr>
        <p:spPr>
          <a:xfrm>
            <a:off x="5212080" y="4151376"/>
            <a:ext cx="2286000" cy="475488"/>
          </a:xfrm>
          <a:prstGeom prst="rect">
            <a:avLst/>
          </a:prstGeom>
          <a:noFill/>
        </p:spPr>
        <p:txBody>
          <a:bodyPr wrap="square" anchor="ctr">
            <a:spAutoFit/>
          </a:bodyPr>
          <a:lstStyle/>
          <a:p>
            <a:pPr algn="l">
              <a:spcAft>
                <a:spcPts val="400"/>
              </a:spcAft>
            </a:pPr>
            <a:r>
              <a:rPr sz="1250" b="1">
                <a:solidFill>
                  <a:srgbClr val="F59E0B"/>
                </a:solidFill>
                <a:latin typeface="Arial"/>
              </a:rPr>
              <a:t>FAILURE MODE</a:t>
            </a:r>
          </a:p>
        </p:txBody>
      </p:sp>
      <p:sp>
        <p:nvSpPr>
          <p:cNvPr id="30" name="TextBox 29"/>
          <p:cNvSpPr txBox="1"/>
          <p:nvPr/>
        </p:nvSpPr>
        <p:spPr>
          <a:xfrm>
            <a:off x="4663440"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Encrypting with a key that the recovery account cannot use makes backups operationally unavailable.</a:t>
            </a:r>
          </a:p>
        </p:txBody>
      </p:sp>
      <p:sp>
        <p:nvSpPr>
          <p:cNvPr id="31" name="Rectangle 30"/>
          <p:cNvSpPr/>
          <p:nvPr/>
        </p:nvSpPr>
        <p:spPr>
          <a:xfrm>
            <a:off x="7973568"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73568" y="4005072"/>
            <a:ext cx="91440" cy="21488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174736" y="4187952"/>
            <a:ext cx="438912" cy="438912"/>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74736"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5" name="TextBox 34"/>
          <p:cNvSpPr txBox="1"/>
          <p:nvPr/>
        </p:nvSpPr>
        <p:spPr>
          <a:xfrm>
            <a:off x="8750808" y="4151376"/>
            <a:ext cx="2286000" cy="475488"/>
          </a:xfrm>
          <a:prstGeom prst="rect">
            <a:avLst/>
          </a:prstGeom>
          <a:noFill/>
        </p:spPr>
        <p:txBody>
          <a:bodyPr wrap="square" anchor="ctr">
            <a:spAutoFit/>
          </a:bodyPr>
          <a:lstStyle/>
          <a:p>
            <a:pPr algn="l">
              <a:spcAft>
                <a:spcPts val="400"/>
              </a:spcAft>
            </a:pPr>
            <a:r>
              <a:rPr sz="1250" b="1">
                <a:solidFill>
                  <a:srgbClr val="EC711E"/>
                </a:solidFill>
                <a:latin typeface="Arial"/>
              </a:rPr>
              <a:t>PROOF</a:t>
            </a:r>
          </a:p>
        </p:txBody>
      </p:sp>
      <p:sp>
        <p:nvSpPr>
          <p:cNvPr id="36" name="TextBox 35"/>
          <p:cNvSpPr txBox="1"/>
          <p:nvPr/>
        </p:nvSpPr>
        <p:spPr>
          <a:xfrm>
            <a:off x="8202168"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Key policy, grant, encryption context, secret version stages, rotation result and access trail.</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580</a:t>
            </a:r>
          </a:p>
        </p:txBody>
      </p:sp>
    </p:spTree>
  </p:cSld>
  <p:clrMapOvr>
    <a:masterClrMapping/>
  </p:clrMapOvr>
  <p:transition xmlns:p14="http://schemas.microsoft.com/office/powerpoint/2010/main" p14:dur="380">
    <p:fade/>
  </p:transition>
</p:sld>
</file>

<file path=ppt/slides/slide5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DOMAIN 6 · OPERATIONS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Secrets, keys and data protection: failure diagnostic</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RECOGNISE</a:t>
            </a:r>
          </a:p>
          <a:p>
            <a:pPr algn="l">
              <a:spcAft>
                <a:spcPts val="300"/>
              </a:spcAft>
            </a:pPr>
            <a:r>
              <a:rPr sz="1050" b="0">
                <a:solidFill>
                  <a:srgbClr val="5B6372"/>
                </a:solidFill>
                <a:latin typeface="Arial"/>
              </a:rPr>
              <a:t>Observable failure condition: Encrypting with a key that the recovery account cannot use makes backups operationally unavailable.</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CONTAIN</a:t>
            </a:r>
          </a:p>
          <a:p>
            <a:pPr algn="l">
              <a:spcAft>
                <a:spcPts val="300"/>
              </a:spcAft>
            </a:pPr>
            <a:r>
              <a:rPr sz="1050" b="0">
                <a:solidFill>
                  <a:srgbClr val="5B6372"/>
                </a:solidFill>
                <a:latin typeface="Arial"/>
              </a:rPr>
              <a:t>Pause promotion, preserve evidence and reduce impact without destroying diagnostic state.</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DIAGNOSE</a:t>
            </a:r>
          </a:p>
          <a:p>
            <a:pPr algn="l">
              <a:spcAft>
                <a:spcPts val="300"/>
              </a:spcAft>
            </a:pPr>
            <a:r>
              <a:rPr sz="1050" b="0">
                <a:solidFill>
                  <a:srgbClr val="5B6372"/>
                </a:solidFill>
                <a:latin typeface="Arial"/>
              </a:rPr>
              <a:t>Trace the workflow from Generate or store secret through Audit; compare intended configuration with runtime state.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RECOVER</a:t>
            </a:r>
          </a:p>
          <a:p>
            <a:pPr algn="l">
              <a:spcAft>
                <a:spcPts val="300"/>
              </a:spcAft>
            </a:pPr>
            <a:r>
              <a:rPr sz="1050" b="0">
                <a:solidFill>
                  <a:srgbClr val="5B6372"/>
                </a:solidFill>
                <a:latin typeface="Arial"/>
              </a:rPr>
              <a:t>Restore the last known-good state, then prove recovery with Key policy, grant, encryption context, secret version stages, rotation result and access trail.</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581</a:t>
            </a:r>
          </a:p>
        </p:txBody>
      </p:sp>
    </p:spTree>
  </p:cSld>
  <p:clrMapOvr>
    <a:masterClrMapping/>
  </p:clrMapOvr>
  <p:transition xmlns:p14="http://schemas.microsoft.com/office/powerpoint/2010/main" p14:dur="380">
    <p:fade/>
  </p:transition>
</p:sld>
</file>

<file path=ppt/slides/slide5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DOMAIN 6 · APPLIED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Secrets, keys and data protection: worked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CONSTRAINT</a:t>
            </a:r>
          </a:p>
          <a:p>
            <a:pPr algn="l">
              <a:spcAft>
                <a:spcPts val="300"/>
              </a:spcAft>
            </a:pPr>
            <a:r>
              <a:rPr sz="1050" b="0">
                <a:solidFill>
                  <a:srgbClr val="5B6372"/>
                </a:solidFill>
                <a:latin typeface="Arial"/>
              </a:rPr>
              <a:t>A database credential must rotate without downtime and remain recoverable in the DR Region.</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DECISION</a:t>
            </a:r>
          </a:p>
          <a:p>
            <a:pPr algn="l">
              <a:spcAft>
                <a:spcPts val="300"/>
              </a:spcAft>
            </a:pPr>
            <a:r>
              <a:rPr sz="1050" b="0">
                <a:solidFill>
                  <a:srgbClr val="5B6372"/>
                </a:solidFill>
                <a:latin typeface="Arial"/>
              </a:rPr>
              <a:t>Separate key administration from use, scope resource policies, rotate secrets safely and plan multi-Region recovery.</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WHY ALTERNATIVES LOSE</a:t>
            </a:r>
          </a:p>
          <a:p>
            <a:pPr algn="l">
              <a:spcAft>
                <a:spcPts val="300"/>
              </a:spcAft>
            </a:pPr>
            <a:r>
              <a:rPr sz="1050" b="0">
                <a:solidFill>
                  <a:srgbClr val="5B6372"/>
                </a:solidFill>
                <a:latin typeface="Arial"/>
              </a:rPr>
              <a:t>Reject options that do not change the stated failure boundary: Encrypting with a key that the recovery account cannot use makes backups operationally unavailable.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ACCEPTANCE TEST</a:t>
            </a:r>
          </a:p>
          <a:p>
            <a:pPr algn="l">
              <a:spcAft>
                <a:spcPts val="300"/>
              </a:spcAft>
            </a:pPr>
            <a:r>
              <a:rPr sz="1050" b="0">
                <a:solidFill>
                  <a:srgbClr val="5B6372"/>
                </a:solidFill>
                <a:latin typeface="Arial"/>
              </a:rPr>
              <a:t>The decision is complete only when this proof exists: Key policy, grant, encryption context, secret version stages, rotation result and access trail.</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582</a:t>
            </a:r>
          </a:p>
        </p:txBody>
      </p:sp>
    </p:spTree>
  </p:cSld>
  <p:clrMapOvr>
    <a:masterClrMapping/>
  </p:clrMapOvr>
  <p:transition xmlns:p14="http://schemas.microsoft.com/office/powerpoint/2010/main" p14:dur="380">
    <p:fade/>
  </p:transition>
</p:sld>
</file>

<file path=ppt/slides/slide5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DOMAIN 6 · SECURITY AND COMPLIANCE</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Config rules and conformance</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OUTCOME</a:t>
            </a:r>
          </a:p>
          <a:p>
            <a:pPr algn="l">
              <a:spcAft>
                <a:spcPts val="300"/>
              </a:spcAft>
            </a:pPr>
            <a:r>
              <a:rPr sz="1050" b="0">
                <a:solidFill>
                  <a:srgbClr val="5B6372"/>
                </a:solidFill>
                <a:latin typeface="Arial"/>
              </a:rPr>
              <a:t>Continuously evaluate resource configuration against explicit controls and remediate safely.</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ARCHITECTURE</a:t>
            </a:r>
          </a:p>
          <a:p>
            <a:pPr algn="l">
              <a:spcAft>
                <a:spcPts val="300"/>
              </a:spcAft>
            </a:pPr>
            <a:r>
              <a:rPr sz="1050" b="0">
                <a:solidFill>
                  <a:srgbClr val="5B6372"/>
                </a:solidFill>
                <a:latin typeface="Arial"/>
              </a:rPr>
              <a:t>Use managed/custom rules, aggregators, evidence retention and remediation with exception tagging.</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MODE</a:t>
            </a:r>
          </a:p>
          <a:p>
            <a:pPr algn="l">
              <a:spcAft>
                <a:spcPts val="300"/>
              </a:spcAft>
            </a:pPr>
            <a:r>
              <a:rPr sz="1050" b="0">
                <a:solidFill>
                  <a:srgbClr val="5B6372"/>
                </a:solidFill>
                <a:latin typeface="Arial"/>
              </a:rPr>
              <a:t>A compliant snapshot is not proof that the resource stayed compliant between evaluations.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EVIDENCE</a:t>
            </a:r>
          </a:p>
          <a:p>
            <a:pPr algn="l">
              <a:spcAft>
                <a:spcPts val="300"/>
              </a:spcAft>
            </a:pPr>
            <a:r>
              <a:rPr sz="1050" b="0">
                <a:solidFill>
                  <a:srgbClr val="5B6372"/>
                </a:solidFill>
                <a:latin typeface="Arial"/>
              </a:rPr>
              <a:t>Configuration timeline, rule evaluation, conformance score, exception, remediation execution and recheck.</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583</a:t>
            </a:r>
          </a:p>
        </p:txBody>
      </p:sp>
    </p:spTree>
  </p:cSld>
  <p:clrMapOvr>
    <a:masterClrMapping/>
  </p:clrMapOvr>
  <p:transition xmlns:p14="http://schemas.microsoft.com/office/powerpoint/2010/main" p14:dur="380">
    <p:fade/>
  </p:transition>
</p:sld>
</file>

<file path=ppt/slides/slide5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DOMAIN 6 · PROCESS MODEL</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Config rules and conformance: operating flow</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49809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97102"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9710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Record configuration</a:t>
            </a:r>
          </a:p>
        </p:txBody>
      </p:sp>
      <p:sp>
        <p:nvSpPr>
          <p:cNvPr id="12" name="Rectangle 11"/>
          <p:cNvSpPr/>
          <p:nvPr/>
        </p:nvSpPr>
        <p:spPr>
          <a:xfrm>
            <a:off x="2604516"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04516" y="2148840"/>
            <a:ext cx="149809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024378"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24378"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6" name="TextBox 15"/>
          <p:cNvSpPr txBox="1"/>
          <p:nvPr/>
        </p:nvSpPr>
        <p:spPr>
          <a:xfrm>
            <a:off x="2723388"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Evaluate rule</a:t>
            </a:r>
          </a:p>
        </p:txBody>
      </p:sp>
      <p:sp>
        <p:nvSpPr>
          <p:cNvPr id="17" name="Rectangle 16"/>
          <p:cNvSpPr/>
          <p:nvPr/>
        </p:nvSpPr>
        <p:spPr>
          <a:xfrm>
            <a:off x="4431792"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431792" y="2148840"/>
            <a:ext cx="149809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851654"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51654"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1" name="TextBox 20"/>
          <p:cNvSpPr txBox="1"/>
          <p:nvPr/>
        </p:nvSpPr>
        <p:spPr>
          <a:xfrm>
            <a:off x="4550664"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Aggregate</a:t>
            </a:r>
          </a:p>
        </p:txBody>
      </p:sp>
      <p:sp>
        <p:nvSpPr>
          <p:cNvPr id="22" name="Rectangle 21"/>
          <p:cNvSpPr/>
          <p:nvPr/>
        </p:nvSpPr>
        <p:spPr>
          <a:xfrm>
            <a:off x="6259068"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59068" y="2148840"/>
            <a:ext cx="149809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678930"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78930"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6" name="TextBox 25"/>
          <p:cNvSpPr txBox="1"/>
          <p:nvPr/>
        </p:nvSpPr>
        <p:spPr>
          <a:xfrm>
            <a:off x="6377940"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Notify</a:t>
            </a:r>
          </a:p>
        </p:txBody>
      </p:sp>
      <p:sp>
        <p:nvSpPr>
          <p:cNvPr id="27" name="Rectangle 26"/>
          <p:cNvSpPr/>
          <p:nvPr/>
        </p:nvSpPr>
        <p:spPr>
          <a:xfrm>
            <a:off x="8086344"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086344" y="2148840"/>
            <a:ext cx="1498092" cy="914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506206" y="2532888"/>
            <a:ext cx="658368" cy="658368"/>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06206"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5</a:t>
            </a:r>
          </a:p>
        </p:txBody>
      </p:sp>
      <p:sp>
        <p:nvSpPr>
          <p:cNvPr id="31" name="TextBox 30"/>
          <p:cNvSpPr txBox="1"/>
          <p:nvPr/>
        </p:nvSpPr>
        <p:spPr>
          <a:xfrm>
            <a:off x="8205216"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Remediate</a:t>
            </a:r>
          </a:p>
        </p:txBody>
      </p:sp>
      <p:sp>
        <p:nvSpPr>
          <p:cNvPr id="32" name="Rectangle 31"/>
          <p:cNvSpPr/>
          <p:nvPr/>
        </p:nvSpPr>
        <p:spPr>
          <a:xfrm>
            <a:off x="9913620"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913620" y="2148840"/>
            <a:ext cx="1498092" cy="91440"/>
          </a:xfrm>
          <a:prstGeom prst="rect">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333482" y="2532888"/>
            <a:ext cx="658368" cy="658368"/>
          </a:xfrm>
          <a:prstGeom prst="ellipse">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3348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6</a:t>
            </a:r>
          </a:p>
        </p:txBody>
      </p:sp>
      <p:sp>
        <p:nvSpPr>
          <p:cNvPr id="36" name="TextBox 35"/>
          <p:cNvSpPr txBox="1"/>
          <p:nvPr/>
        </p:nvSpPr>
        <p:spPr>
          <a:xfrm>
            <a:off x="10032492"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Re-evaluate</a:t>
            </a:r>
          </a:p>
        </p:txBody>
      </p:sp>
      <p:cxnSp>
        <p:nvCxnSpPr>
          <p:cNvPr id="37" name="Connector 36"/>
          <p:cNvCxnSpPr/>
          <p:nvPr/>
        </p:nvCxnSpPr>
        <p:spPr>
          <a:xfrm>
            <a:off x="2275332"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10260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929884"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775716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9584436"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C0392B"/>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44" name="TextBox 4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45" name="TextBox 4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6" name="TextBox 4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584</a:t>
            </a:r>
          </a:p>
        </p:txBody>
      </p:sp>
    </p:spTree>
  </p:cSld>
  <p:clrMapOvr>
    <a:masterClrMapping/>
  </p:clrMapOvr>
  <p:transition xmlns:p14="http://schemas.microsoft.com/office/powerpoint/2010/main" p14:dur="380">
    <p:fade/>
  </p:transition>
</p:sld>
</file>

<file path=ppt/slides/slide5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DOMAIN 6 ·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Config rules and conformance: design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83280" cy="43708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70832"/>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011680"/>
            <a:ext cx="530352" cy="530352"/>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011680"/>
            <a:ext cx="530352" cy="530352"/>
          </a:xfrm>
          <a:prstGeom prst="rect">
            <a:avLst/>
          </a:prstGeom>
          <a:noFill/>
        </p:spPr>
        <p:txBody>
          <a:bodyPr wrap="square" anchor="ctr">
            <a:spAutoFit/>
          </a:bodyPr>
          <a:lstStyle/>
          <a:p>
            <a:pPr algn="ctr">
              <a:spcAft>
                <a:spcPts val="400"/>
              </a:spcAft>
            </a:pPr>
            <a:r>
              <a:rPr sz="2000" b="1">
                <a:solidFill>
                  <a:srgbClr val="FFFFFF"/>
                </a:solidFill>
                <a:latin typeface="Arial"/>
              </a:rPr>
              <a:t>?</a:t>
            </a:r>
          </a:p>
        </p:txBody>
      </p:sp>
      <p:sp>
        <p:nvSpPr>
          <p:cNvPr id="11" name="TextBox 10"/>
          <p:cNvSpPr txBox="1"/>
          <p:nvPr/>
        </p:nvSpPr>
        <p:spPr>
          <a:xfrm>
            <a:off x="1709928" y="1984248"/>
            <a:ext cx="2212848" cy="502920"/>
          </a:xfrm>
          <a:prstGeom prst="rect">
            <a:avLst/>
          </a:prstGeom>
          <a:noFill/>
        </p:spPr>
        <p:txBody>
          <a:bodyPr wrap="square" anchor="ctr">
            <a:spAutoFit/>
          </a:bodyPr>
          <a:lstStyle/>
          <a:p>
            <a:pPr algn="l">
              <a:spcAft>
                <a:spcPts val="400"/>
              </a:spcAft>
            </a:pPr>
            <a:r>
              <a:rPr sz="1350" b="1">
                <a:solidFill>
                  <a:srgbClr val="C0392B"/>
                </a:solidFill>
                <a:latin typeface="Arial"/>
              </a:rPr>
              <a:t>SCENARIO</a:t>
            </a:r>
          </a:p>
        </p:txBody>
      </p:sp>
      <p:sp>
        <p:nvSpPr>
          <p:cNvPr id="12" name="TextBox 11"/>
          <p:cNvSpPr txBox="1"/>
          <p:nvPr/>
        </p:nvSpPr>
        <p:spPr>
          <a:xfrm>
            <a:off x="1051560" y="2743200"/>
            <a:ext cx="2834640" cy="3136392"/>
          </a:xfrm>
          <a:prstGeom prst="rect">
            <a:avLst/>
          </a:prstGeom>
          <a:noFill/>
        </p:spPr>
        <p:txBody>
          <a:bodyPr wrap="square" anchor="t">
            <a:spAutoFit/>
          </a:bodyPr>
          <a:lstStyle/>
          <a:p>
            <a:pPr algn="l">
              <a:spcAft>
                <a:spcPts val="400"/>
              </a:spcAft>
            </a:pPr>
            <a:r>
              <a:rPr sz="1300" b="0">
                <a:solidFill>
                  <a:srgbClr val="161B26"/>
                </a:solidFill>
                <a:latin typeface="Arial"/>
              </a:rPr>
              <a:t>Auditors require evidence that all production buckets remained encrypted and blocked public access.</a:t>
            </a:r>
          </a:p>
        </p:txBody>
      </p:sp>
      <p:sp>
        <p:nvSpPr>
          <p:cNvPr id="13" name="Rectangle 12"/>
          <p:cNvSpPr/>
          <p:nvPr/>
        </p:nvSpPr>
        <p:spPr>
          <a:xfrm>
            <a:off x="4434840"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34840" y="1783080"/>
            <a:ext cx="91440"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636008" y="1965960"/>
            <a:ext cx="438912" cy="43891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6008"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7" name="TextBox 16"/>
          <p:cNvSpPr txBox="1"/>
          <p:nvPr/>
        </p:nvSpPr>
        <p:spPr>
          <a:xfrm>
            <a:off x="5212080" y="1929384"/>
            <a:ext cx="2286000" cy="475488"/>
          </a:xfrm>
          <a:prstGeom prst="rect">
            <a:avLst/>
          </a:prstGeom>
          <a:noFill/>
        </p:spPr>
        <p:txBody>
          <a:bodyPr wrap="square" anchor="ctr">
            <a:spAutoFit/>
          </a:bodyPr>
          <a:lstStyle/>
          <a:p>
            <a:pPr algn="l">
              <a:spcAft>
                <a:spcPts val="400"/>
              </a:spcAft>
            </a:pPr>
            <a:r>
              <a:rPr sz="1250" b="1">
                <a:solidFill>
                  <a:srgbClr val="10B981"/>
                </a:solidFill>
                <a:latin typeface="Arial"/>
              </a:rPr>
              <a:t>DESIGN RESPONSE</a:t>
            </a:r>
          </a:p>
        </p:txBody>
      </p:sp>
      <p:sp>
        <p:nvSpPr>
          <p:cNvPr id="18" name="TextBox 17"/>
          <p:cNvSpPr txBox="1"/>
          <p:nvPr/>
        </p:nvSpPr>
        <p:spPr>
          <a:xfrm>
            <a:off x="4663440"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Use managed/custom rules, aggregators, evidence retention and remediation with exception tagging.</a:t>
            </a:r>
          </a:p>
        </p:txBody>
      </p:sp>
      <p:sp>
        <p:nvSpPr>
          <p:cNvPr id="19" name="Rectangle 18"/>
          <p:cNvSpPr/>
          <p:nvPr/>
        </p:nvSpPr>
        <p:spPr>
          <a:xfrm>
            <a:off x="7973568"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973568" y="1783080"/>
            <a:ext cx="91440" cy="21488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174736" y="1965960"/>
            <a:ext cx="438912" cy="43891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74736"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23" name="TextBox 22"/>
          <p:cNvSpPr txBox="1"/>
          <p:nvPr/>
        </p:nvSpPr>
        <p:spPr>
          <a:xfrm>
            <a:off x="8750808" y="1929384"/>
            <a:ext cx="2286000" cy="475488"/>
          </a:xfrm>
          <a:prstGeom prst="rect">
            <a:avLst/>
          </a:prstGeom>
          <a:noFill/>
        </p:spPr>
        <p:txBody>
          <a:bodyPr wrap="square" anchor="ctr">
            <a:spAutoFit/>
          </a:bodyPr>
          <a:lstStyle/>
          <a:p>
            <a:pPr algn="l">
              <a:spcAft>
                <a:spcPts val="400"/>
              </a:spcAft>
            </a:pPr>
            <a:r>
              <a:rPr sz="1250" b="1">
                <a:solidFill>
                  <a:srgbClr val="7C3AED"/>
                </a:solidFill>
                <a:latin typeface="Arial"/>
              </a:rPr>
              <a:t>PRIMARY SERVICES</a:t>
            </a:r>
          </a:p>
        </p:txBody>
      </p:sp>
      <p:sp>
        <p:nvSpPr>
          <p:cNvPr id="24" name="TextBox 23"/>
          <p:cNvSpPr txBox="1"/>
          <p:nvPr/>
        </p:nvSpPr>
        <p:spPr>
          <a:xfrm>
            <a:off x="8202168"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AWS Config · Conformance Packs · Systems Manager</a:t>
            </a:r>
          </a:p>
        </p:txBody>
      </p:sp>
      <p:sp>
        <p:nvSpPr>
          <p:cNvPr id="25" name="Rectangle 24"/>
          <p:cNvSpPr/>
          <p:nvPr/>
        </p:nvSpPr>
        <p:spPr>
          <a:xfrm>
            <a:off x="4434840"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34840" y="4005072"/>
            <a:ext cx="91440" cy="21488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636008" y="4187952"/>
            <a:ext cx="438912" cy="43891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36008"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9" name="TextBox 28"/>
          <p:cNvSpPr txBox="1"/>
          <p:nvPr/>
        </p:nvSpPr>
        <p:spPr>
          <a:xfrm>
            <a:off x="5212080" y="4151376"/>
            <a:ext cx="2286000" cy="475488"/>
          </a:xfrm>
          <a:prstGeom prst="rect">
            <a:avLst/>
          </a:prstGeom>
          <a:noFill/>
        </p:spPr>
        <p:txBody>
          <a:bodyPr wrap="square" anchor="ctr">
            <a:spAutoFit/>
          </a:bodyPr>
          <a:lstStyle/>
          <a:p>
            <a:pPr algn="l">
              <a:spcAft>
                <a:spcPts val="400"/>
              </a:spcAft>
            </a:pPr>
            <a:r>
              <a:rPr sz="1250" b="1">
                <a:solidFill>
                  <a:srgbClr val="F59E0B"/>
                </a:solidFill>
                <a:latin typeface="Arial"/>
              </a:rPr>
              <a:t>FAILURE MODE</a:t>
            </a:r>
          </a:p>
        </p:txBody>
      </p:sp>
      <p:sp>
        <p:nvSpPr>
          <p:cNvPr id="30" name="TextBox 29"/>
          <p:cNvSpPr txBox="1"/>
          <p:nvPr/>
        </p:nvSpPr>
        <p:spPr>
          <a:xfrm>
            <a:off x="4663440"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A compliant snapshot is not proof that the resource stayed compliant between evaluations.</a:t>
            </a:r>
          </a:p>
        </p:txBody>
      </p:sp>
      <p:sp>
        <p:nvSpPr>
          <p:cNvPr id="31" name="Rectangle 30"/>
          <p:cNvSpPr/>
          <p:nvPr/>
        </p:nvSpPr>
        <p:spPr>
          <a:xfrm>
            <a:off x="7973568"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73568" y="4005072"/>
            <a:ext cx="91440" cy="21488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174736" y="4187952"/>
            <a:ext cx="438912" cy="438912"/>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74736"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5" name="TextBox 34"/>
          <p:cNvSpPr txBox="1"/>
          <p:nvPr/>
        </p:nvSpPr>
        <p:spPr>
          <a:xfrm>
            <a:off x="8750808" y="4151376"/>
            <a:ext cx="2286000" cy="475488"/>
          </a:xfrm>
          <a:prstGeom prst="rect">
            <a:avLst/>
          </a:prstGeom>
          <a:noFill/>
        </p:spPr>
        <p:txBody>
          <a:bodyPr wrap="square" anchor="ctr">
            <a:spAutoFit/>
          </a:bodyPr>
          <a:lstStyle/>
          <a:p>
            <a:pPr algn="l">
              <a:spcAft>
                <a:spcPts val="400"/>
              </a:spcAft>
            </a:pPr>
            <a:r>
              <a:rPr sz="1250" b="1">
                <a:solidFill>
                  <a:srgbClr val="EC711E"/>
                </a:solidFill>
                <a:latin typeface="Arial"/>
              </a:rPr>
              <a:t>PROOF</a:t>
            </a:r>
          </a:p>
        </p:txBody>
      </p:sp>
      <p:sp>
        <p:nvSpPr>
          <p:cNvPr id="36" name="TextBox 35"/>
          <p:cNvSpPr txBox="1"/>
          <p:nvPr/>
        </p:nvSpPr>
        <p:spPr>
          <a:xfrm>
            <a:off x="8202168"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Configuration timeline, rule evaluation, conformance score, exception, remediation execution and recheck.</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585</a:t>
            </a:r>
          </a:p>
        </p:txBody>
      </p:sp>
    </p:spTree>
  </p:cSld>
  <p:clrMapOvr>
    <a:masterClrMapping/>
  </p:clrMapOvr>
  <p:transition xmlns:p14="http://schemas.microsoft.com/office/powerpoint/2010/main" p14:dur="380">
    <p:fade/>
  </p:transition>
</p:sld>
</file>

<file path=ppt/slides/slide5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DOMAIN 6 · OPERATIONS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Config rules and conformance: failure diagnostic</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RECOGNISE</a:t>
            </a:r>
          </a:p>
          <a:p>
            <a:pPr algn="l">
              <a:spcAft>
                <a:spcPts val="300"/>
              </a:spcAft>
            </a:pPr>
            <a:r>
              <a:rPr sz="1050" b="0">
                <a:solidFill>
                  <a:srgbClr val="5B6372"/>
                </a:solidFill>
                <a:latin typeface="Arial"/>
              </a:rPr>
              <a:t>Observable failure condition: A compliant snapshot is not proof that the resource stayed compliant between evaluations.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CONTAIN</a:t>
            </a:r>
          </a:p>
          <a:p>
            <a:pPr algn="l">
              <a:spcAft>
                <a:spcPts val="300"/>
              </a:spcAft>
            </a:pPr>
            <a:r>
              <a:rPr sz="1050" b="0">
                <a:solidFill>
                  <a:srgbClr val="5B6372"/>
                </a:solidFill>
                <a:latin typeface="Arial"/>
              </a:rPr>
              <a:t>Pause promotion, preserve evidence and reduce impact without destroying diagnostic state.</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DIAGNOSE</a:t>
            </a:r>
          </a:p>
          <a:p>
            <a:pPr algn="l">
              <a:spcAft>
                <a:spcPts val="300"/>
              </a:spcAft>
            </a:pPr>
            <a:r>
              <a:rPr sz="1050" b="0">
                <a:solidFill>
                  <a:srgbClr val="5B6372"/>
                </a:solidFill>
                <a:latin typeface="Arial"/>
              </a:rPr>
              <a:t>Trace the workflow from Record configuration through Re-evaluate; compare intended configuration with runtime state.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RECOVER</a:t>
            </a:r>
          </a:p>
          <a:p>
            <a:pPr algn="l">
              <a:spcAft>
                <a:spcPts val="300"/>
              </a:spcAft>
            </a:pPr>
            <a:r>
              <a:rPr sz="1050" b="0">
                <a:solidFill>
                  <a:srgbClr val="5B6372"/>
                </a:solidFill>
                <a:latin typeface="Arial"/>
              </a:rPr>
              <a:t>Restore the last known-good state, then prove recovery with Configuration timeline, rule evaluation, conformance score, exception, remediation execution and recheck.</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586</a:t>
            </a:r>
          </a:p>
        </p:txBody>
      </p:sp>
    </p:spTree>
  </p:cSld>
  <p:clrMapOvr>
    <a:masterClrMapping/>
  </p:clrMapOvr>
  <p:transition xmlns:p14="http://schemas.microsoft.com/office/powerpoint/2010/main" p14:dur="380">
    <p:fade/>
  </p:transition>
</p:sld>
</file>

<file path=ppt/slides/slide5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DOMAIN 6 · APPLIED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Config rules and conformance: worked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CONSTRAINT</a:t>
            </a:r>
          </a:p>
          <a:p>
            <a:pPr algn="l">
              <a:spcAft>
                <a:spcPts val="300"/>
              </a:spcAft>
            </a:pPr>
            <a:r>
              <a:rPr sz="1050" b="0">
                <a:solidFill>
                  <a:srgbClr val="5B6372"/>
                </a:solidFill>
                <a:latin typeface="Arial"/>
              </a:rPr>
              <a:t>Auditors require evidence that all production buckets remained encrypted and blocked public access.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DECISION</a:t>
            </a:r>
          </a:p>
          <a:p>
            <a:pPr algn="l">
              <a:spcAft>
                <a:spcPts val="300"/>
              </a:spcAft>
            </a:pPr>
            <a:r>
              <a:rPr sz="1050" b="0">
                <a:solidFill>
                  <a:srgbClr val="5B6372"/>
                </a:solidFill>
                <a:latin typeface="Arial"/>
              </a:rPr>
              <a:t>Use managed/custom rules, aggregators, evidence retention and remediation with exception tagging.</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WHY ALTERNATIVES LOSE</a:t>
            </a:r>
          </a:p>
          <a:p>
            <a:pPr algn="l">
              <a:spcAft>
                <a:spcPts val="300"/>
              </a:spcAft>
            </a:pPr>
            <a:r>
              <a:rPr sz="1050" b="0">
                <a:solidFill>
                  <a:srgbClr val="5B6372"/>
                </a:solidFill>
                <a:latin typeface="Arial"/>
              </a:rPr>
              <a:t>Reject options that do not change the stated failure boundary: A compliant snapshot is not proof that the resource stayed compliant between evaluations.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ACCEPTANCE TEST</a:t>
            </a:r>
          </a:p>
          <a:p>
            <a:pPr algn="l">
              <a:spcAft>
                <a:spcPts val="300"/>
              </a:spcAft>
            </a:pPr>
            <a:r>
              <a:rPr sz="1050" b="0">
                <a:solidFill>
                  <a:srgbClr val="5B6372"/>
                </a:solidFill>
                <a:latin typeface="Arial"/>
              </a:rPr>
              <a:t>The decision is complete only when this proof exists: Configuration timeline, rule evaluation, conformance score, exception, remediation execution and recheck.</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587</a:t>
            </a:r>
          </a:p>
        </p:txBody>
      </p:sp>
    </p:spTree>
  </p:cSld>
  <p:clrMapOvr>
    <a:masterClrMapping/>
  </p:clrMapOvr>
  <p:transition xmlns:p14="http://schemas.microsoft.com/office/powerpoint/2010/main" p14:dur="380">
    <p:fade/>
  </p:transition>
</p:sld>
</file>

<file path=ppt/slides/slide5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DOMAIN 6 · SECURITY AND COMPLIANCE</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Threat detection and investigation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OUTCOME</a:t>
            </a:r>
          </a:p>
          <a:p>
            <a:pPr algn="l">
              <a:spcAft>
                <a:spcPts val="300"/>
              </a:spcAft>
            </a:pPr>
            <a:r>
              <a:rPr sz="1050" b="0">
                <a:solidFill>
                  <a:srgbClr val="5B6372"/>
                </a:solidFill>
                <a:latin typeface="Arial"/>
              </a:rPr>
              <a:t>Combine findings, vulnerability context and behavior graphs to prioritize credible threats.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ARCHITECTURE</a:t>
            </a:r>
          </a:p>
          <a:p>
            <a:pPr algn="l">
              <a:spcAft>
                <a:spcPts val="300"/>
              </a:spcAft>
            </a:pPr>
            <a:r>
              <a:rPr sz="1050" b="0">
                <a:solidFill>
                  <a:srgbClr val="5B6372"/>
                </a:solidFill>
                <a:latin typeface="Arial"/>
              </a:rPr>
              <a:t>Delegate administration, centralize findings, normalize severity, enrich with ownership and automate only well-understood responses.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MODE</a:t>
            </a:r>
          </a:p>
          <a:p>
            <a:pPr algn="l">
              <a:spcAft>
                <a:spcPts val="300"/>
              </a:spcAft>
            </a:pPr>
            <a:r>
              <a:rPr sz="1050" b="0">
                <a:solidFill>
                  <a:srgbClr val="5B6372"/>
                </a:solidFill>
                <a:latin typeface="Arial"/>
              </a:rPr>
              <a:t>A high volume of unowned findings becomes an unworkable compliance queue.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EVIDENCE</a:t>
            </a:r>
          </a:p>
          <a:p>
            <a:pPr algn="l">
              <a:spcAft>
                <a:spcPts val="300"/>
              </a:spcAft>
            </a:pPr>
            <a:r>
              <a:rPr sz="1050" b="0">
                <a:solidFill>
                  <a:srgbClr val="5B6372"/>
                </a:solidFill>
                <a:latin typeface="Arial"/>
              </a:rPr>
              <a:t>Finding ID, affected resource, severity, vulnerability, graph evidence, workflow status and response.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588</a:t>
            </a:r>
          </a:p>
        </p:txBody>
      </p:sp>
    </p:spTree>
  </p:cSld>
  <p:clrMapOvr>
    <a:masterClrMapping/>
  </p:clrMapOvr>
  <p:transition xmlns:p14="http://schemas.microsoft.com/office/powerpoint/2010/main" p14:dur="380">
    <p:fade/>
  </p:transition>
</p:sld>
</file>

<file path=ppt/slides/slide5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DOMAIN 6 · PROCESS MODEL</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Threat detection and investigation: operating flow</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49809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97102"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9710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Detect</a:t>
            </a:r>
          </a:p>
        </p:txBody>
      </p:sp>
      <p:sp>
        <p:nvSpPr>
          <p:cNvPr id="12" name="Rectangle 11"/>
          <p:cNvSpPr/>
          <p:nvPr/>
        </p:nvSpPr>
        <p:spPr>
          <a:xfrm>
            <a:off x="2604516"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04516" y="2148840"/>
            <a:ext cx="149809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024378"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24378"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6" name="TextBox 15"/>
          <p:cNvSpPr txBox="1"/>
          <p:nvPr/>
        </p:nvSpPr>
        <p:spPr>
          <a:xfrm>
            <a:off x="2723388"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Normalize</a:t>
            </a:r>
          </a:p>
        </p:txBody>
      </p:sp>
      <p:sp>
        <p:nvSpPr>
          <p:cNvPr id="17" name="Rectangle 16"/>
          <p:cNvSpPr/>
          <p:nvPr/>
        </p:nvSpPr>
        <p:spPr>
          <a:xfrm>
            <a:off x="4431792"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431792" y="2148840"/>
            <a:ext cx="149809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851654"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51654"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1" name="TextBox 20"/>
          <p:cNvSpPr txBox="1"/>
          <p:nvPr/>
        </p:nvSpPr>
        <p:spPr>
          <a:xfrm>
            <a:off x="4550664"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Enrich</a:t>
            </a:r>
          </a:p>
        </p:txBody>
      </p:sp>
      <p:sp>
        <p:nvSpPr>
          <p:cNvPr id="22" name="Rectangle 21"/>
          <p:cNvSpPr/>
          <p:nvPr/>
        </p:nvSpPr>
        <p:spPr>
          <a:xfrm>
            <a:off x="6259068"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59068" y="2148840"/>
            <a:ext cx="149809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678930"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78930"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6" name="TextBox 25"/>
          <p:cNvSpPr txBox="1"/>
          <p:nvPr/>
        </p:nvSpPr>
        <p:spPr>
          <a:xfrm>
            <a:off x="6377940"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Prioritize</a:t>
            </a:r>
          </a:p>
        </p:txBody>
      </p:sp>
      <p:sp>
        <p:nvSpPr>
          <p:cNvPr id="27" name="Rectangle 26"/>
          <p:cNvSpPr/>
          <p:nvPr/>
        </p:nvSpPr>
        <p:spPr>
          <a:xfrm>
            <a:off x="8086344"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086344" y="2148840"/>
            <a:ext cx="1498092" cy="914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506206" y="2532888"/>
            <a:ext cx="658368" cy="658368"/>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06206"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5</a:t>
            </a:r>
          </a:p>
        </p:txBody>
      </p:sp>
      <p:sp>
        <p:nvSpPr>
          <p:cNvPr id="31" name="TextBox 30"/>
          <p:cNvSpPr txBox="1"/>
          <p:nvPr/>
        </p:nvSpPr>
        <p:spPr>
          <a:xfrm>
            <a:off x="8205216"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Investigate</a:t>
            </a:r>
          </a:p>
        </p:txBody>
      </p:sp>
      <p:sp>
        <p:nvSpPr>
          <p:cNvPr id="32" name="Rectangle 31"/>
          <p:cNvSpPr/>
          <p:nvPr/>
        </p:nvSpPr>
        <p:spPr>
          <a:xfrm>
            <a:off x="9913620"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913620" y="2148840"/>
            <a:ext cx="1498092" cy="91440"/>
          </a:xfrm>
          <a:prstGeom prst="rect">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333482" y="2532888"/>
            <a:ext cx="658368" cy="658368"/>
          </a:xfrm>
          <a:prstGeom prst="ellipse">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3348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6</a:t>
            </a:r>
          </a:p>
        </p:txBody>
      </p:sp>
      <p:sp>
        <p:nvSpPr>
          <p:cNvPr id="36" name="TextBox 35"/>
          <p:cNvSpPr txBox="1"/>
          <p:nvPr/>
        </p:nvSpPr>
        <p:spPr>
          <a:xfrm>
            <a:off x="10032492"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Contain</a:t>
            </a:r>
          </a:p>
        </p:txBody>
      </p:sp>
      <p:cxnSp>
        <p:nvCxnSpPr>
          <p:cNvPr id="37" name="Connector 36"/>
          <p:cNvCxnSpPr/>
          <p:nvPr/>
        </p:nvCxnSpPr>
        <p:spPr>
          <a:xfrm>
            <a:off x="2275332"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10260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929884"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775716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9584436"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C0392B"/>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44" name="TextBox 4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45" name="TextBox 4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6" name="TextBox 4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589</a:t>
            </a:r>
          </a:p>
        </p:txBody>
      </p:sp>
    </p:spTree>
  </p:cSld>
  <p:clrMapOvr>
    <a:masterClrMapping/>
  </p:clrMapOvr>
  <p:transition xmlns:p14="http://schemas.microsoft.com/office/powerpoint/2010/main" p14:dur="380">
    <p:fade/>
  </p:transition>
</p:sld>
</file>

<file path=ppt/slides/slide5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DOMAIN 6 ·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Threat detection and investigation: design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83280" cy="43708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70832"/>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011680"/>
            <a:ext cx="530352" cy="530352"/>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011680"/>
            <a:ext cx="530352" cy="530352"/>
          </a:xfrm>
          <a:prstGeom prst="rect">
            <a:avLst/>
          </a:prstGeom>
          <a:noFill/>
        </p:spPr>
        <p:txBody>
          <a:bodyPr wrap="square" anchor="ctr">
            <a:spAutoFit/>
          </a:bodyPr>
          <a:lstStyle/>
          <a:p>
            <a:pPr algn="ctr">
              <a:spcAft>
                <a:spcPts val="400"/>
              </a:spcAft>
            </a:pPr>
            <a:r>
              <a:rPr sz="2000" b="1">
                <a:solidFill>
                  <a:srgbClr val="FFFFFF"/>
                </a:solidFill>
                <a:latin typeface="Arial"/>
              </a:rPr>
              <a:t>?</a:t>
            </a:r>
          </a:p>
        </p:txBody>
      </p:sp>
      <p:sp>
        <p:nvSpPr>
          <p:cNvPr id="11" name="TextBox 10"/>
          <p:cNvSpPr txBox="1"/>
          <p:nvPr/>
        </p:nvSpPr>
        <p:spPr>
          <a:xfrm>
            <a:off x="1709928" y="1984248"/>
            <a:ext cx="2212848" cy="502920"/>
          </a:xfrm>
          <a:prstGeom prst="rect">
            <a:avLst/>
          </a:prstGeom>
          <a:noFill/>
        </p:spPr>
        <p:txBody>
          <a:bodyPr wrap="square" anchor="ctr">
            <a:spAutoFit/>
          </a:bodyPr>
          <a:lstStyle/>
          <a:p>
            <a:pPr algn="l">
              <a:spcAft>
                <a:spcPts val="400"/>
              </a:spcAft>
            </a:pPr>
            <a:r>
              <a:rPr sz="1350" b="1">
                <a:solidFill>
                  <a:srgbClr val="C0392B"/>
                </a:solidFill>
                <a:latin typeface="Arial"/>
              </a:rPr>
              <a:t>SCENARIO</a:t>
            </a:r>
          </a:p>
        </p:txBody>
      </p:sp>
      <p:sp>
        <p:nvSpPr>
          <p:cNvPr id="12" name="TextBox 11"/>
          <p:cNvSpPr txBox="1"/>
          <p:nvPr/>
        </p:nvSpPr>
        <p:spPr>
          <a:xfrm>
            <a:off x="1051560" y="2743200"/>
            <a:ext cx="2834640" cy="3136392"/>
          </a:xfrm>
          <a:prstGeom prst="rect">
            <a:avLst/>
          </a:prstGeom>
          <a:noFill/>
        </p:spPr>
        <p:txBody>
          <a:bodyPr wrap="square" anchor="t">
            <a:spAutoFit/>
          </a:bodyPr>
          <a:lstStyle/>
          <a:p>
            <a:pPr algn="l">
              <a:spcAft>
                <a:spcPts val="400"/>
              </a:spcAft>
            </a:pPr>
            <a:r>
              <a:rPr sz="1300" b="0">
                <a:solidFill>
                  <a:srgbClr val="161B26"/>
                </a:solidFill>
                <a:latin typeface="Arial"/>
              </a:rPr>
              <a:t>An exposed instance shows anomalous network activity and a critical package vulnerability.</a:t>
            </a:r>
          </a:p>
        </p:txBody>
      </p:sp>
      <p:sp>
        <p:nvSpPr>
          <p:cNvPr id="13" name="Rectangle 12"/>
          <p:cNvSpPr/>
          <p:nvPr/>
        </p:nvSpPr>
        <p:spPr>
          <a:xfrm>
            <a:off x="4434840"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34840" y="1783080"/>
            <a:ext cx="91440"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636008" y="1965960"/>
            <a:ext cx="438912" cy="43891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6008"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7" name="TextBox 16"/>
          <p:cNvSpPr txBox="1"/>
          <p:nvPr/>
        </p:nvSpPr>
        <p:spPr>
          <a:xfrm>
            <a:off x="5212080" y="1929384"/>
            <a:ext cx="2286000" cy="475488"/>
          </a:xfrm>
          <a:prstGeom prst="rect">
            <a:avLst/>
          </a:prstGeom>
          <a:noFill/>
        </p:spPr>
        <p:txBody>
          <a:bodyPr wrap="square" anchor="ctr">
            <a:spAutoFit/>
          </a:bodyPr>
          <a:lstStyle/>
          <a:p>
            <a:pPr algn="l">
              <a:spcAft>
                <a:spcPts val="400"/>
              </a:spcAft>
            </a:pPr>
            <a:r>
              <a:rPr sz="1250" b="1">
                <a:solidFill>
                  <a:srgbClr val="10B981"/>
                </a:solidFill>
                <a:latin typeface="Arial"/>
              </a:rPr>
              <a:t>DESIGN RESPONSE</a:t>
            </a:r>
          </a:p>
        </p:txBody>
      </p:sp>
      <p:sp>
        <p:nvSpPr>
          <p:cNvPr id="18" name="TextBox 17"/>
          <p:cNvSpPr txBox="1"/>
          <p:nvPr/>
        </p:nvSpPr>
        <p:spPr>
          <a:xfrm>
            <a:off x="4663440"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Delegate administration, centralize findings, normalize severity, enrich with ownership and automate only well-understood responses.</a:t>
            </a:r>
          </a:p>
        </p:txBody>
      </p:sp>
      <p:sp>
        <p:nvSpPr>
          <p:cNvPr id="19" name="Rectangle 18"/>
          <p:cNvSpPr/>
          <p:nvPr/>
        </p:nvSpPr>
        <p:spPr>
          <a:xfrm>
            <a:off x="7973568"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973568" y="1783080"/>
            <a:ext cx="91440" cy="21488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174736" y="1965960"/>
            <a:ext cx="438912" cy="43891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74736"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23" name="TextBox 22"/>
          <p:cNvSpPr txBox="1"/>
          <p:nvPr/>
        </p:nvSpPr>
        <p:spPr>
          <a:xfrm>
            <a:off x="8750808" y="1929384"/>
            <a:ext cx="2286000" cy="475488"/>
          </a:xfrm>
          <a:prstGeom prst="rect">
            <a:avLst/>
          </a:prstGeom>
          <a:noFill/>
        </p:spPr>
        <p:txBody>
          <a:bodyPr wrap="square" anchor="ctr">
            <a:spAutoFit/>
          </a:bodyPr>
          <a:lstStyle/>
          <a:p>
            <a:pPr algn="l">
              <a:spcAft>
                <a:spcPts val="400"/>
              </a:spcAft>
            </a:pPr>
            <a:r>
              <a:rPr sz="1250" b="1">
                <a:solidFill>
                  <a:srgbClr val="7C3AED"/>
                </a:solidFill>
                <a:latin typeface="Arial"/>
              </a:rPr>
              <a:t>PRIMARY SERVICES</a:t>
            </a:r>
          </a:p>
        </p:txBody>
      </p:sp>
      <p:sp>
        <p:nvSpPr>
          <p:cNvPr id="24" name="TextBox 23"/>
          <p:cNvSpPr txBox="1"/>
          <p:nvPr/>
        </p:nvSpPr>
        <p:spPr>
          <a:xfrm>
            <a:off x="8202168"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GuardDuty · Security Hub · Detective · Inspector</a:t>
            </a:r>
          </a:p>
        </p:txBody>
      </p:sp>
      <p:sp>
        <p:nvSpPr>
          <p:cNvPr id="25" name="Rectangle 24"/>
          <p:cNvSpPr/>
          <p:nvPr/>
        </p:nvSpPr>
        <p:spPr>
          <a:xfrm>
            <a:off x="4434840"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34840" y="4005072"/>
            <a:ext cx="91440" cy="21488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636008" y="4187952"/>
            <a:ext cx="438912" cy="43891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36008"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9" name="TextBox 28"/>
          <p:cNvSpPr txBox="1"/>
          <p:nvPr/>
        </p:nvSpPr>
        <p:spPr>
          <a:xfrm>
            <a:off x="5212080" y="4151376"/>
            <a:ext cx="2286000" cy="475488"/>
          </a:xfrm>
          <a:prstGeom prst="rect">
            <a:avLst/>
          </a:prstGeom>
          <a:noFill/>
        </p:spPr>
        <p:txBody>
          <a:bodyPr wrap="square" anchor="ctr">
            <a:spAutoFit/>
          </a:bodyPr>
          <a:lstStyle/>
          <a:p>
            <a:pPr algn="l">
              <a:spcAft>
                <a:spcPts val="400"/>
              </a:spcAft>
            </a:pPr>
            <a:r>
              <a:rPr sz="1250" b="1">
                <a:solidFill>
                  <a:srgbClr val="F59E0B"/>
                </a:solidFill>
                <a:latin typeface="Arial"/>
              </a:rPr>
              <a:t>FAILURE MODE</a:t>
            </a:r>
          </a:p>
        </p:txBody>
      </p:sp>
      <p:sp>
        <p:nvSpPr>
          <p:cNvPr id="30" name="TextBox 29"/>
          <p:cNvSpPr txBox="1"/>
          <p:nvPr/>
        </p:nvSpPr>
        <p:spPr>
          <a:xfrm>
            <a:off x="4663440"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A high volume of unowned findings becomes an unworkable compliance queue.</a:t>
            </a:r>
          </a:p>
        </p:txBody>
      </p:sp>
      <p:sp>
        <p:nvSpPr>
          <p:cNvPr id="31" name="Rectangle 30"/>
          <p:cNvSpPr/>
          <p:nvPr/>
        </p:nvSpPr>
        <p:spPr>
          <a:xfrm>
            <a:off x="7973568"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73568" y="4005072"/>
            <a:ext cx="91440" cy="21488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174736" y="4187952"/>
            <a:ext cx="438912" cy="438912"/>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74736"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5" name="TextBox 34"/>
          <p:cNvSpPr txBox="1"/>
          <p:nvPr/>
        </p:nvSpPr>
        <p:spPr>
          <a:xfrm>
            <a:off x="8750808" y="4151376"/>
            <a:ext cx="2286000" cy="475488"/>
          </a:xfrm>
          <a:prstGeom prst="rect">
            <a:avLst/>
          </a:prstGeom>
          <a:noFill/>
        </p:spPr>
        <p:txBody>
          <a:bodyPr wrap="square" anchor="ctr">
            <a:spAutoFit/>
          </a:bodyPr>
          <a:lstStyle/>
          <a:p>
            <a:pPr algn="l">
              <a:spcAft>
                <a:spcPts val="400"/>
              </a:spcAft>
            </a:pPr>
            <a:r>
              <a:rPr sz="1250" b="1">
                <a:solidFill>
                  <a:srgbClr val="EC711E"/>
                </a:solidFill>
                <a:latin typeface="Arial"/>
              </a:rPr>
              <a:t>PROOF</a:t>
            </a:r>
          </a:p>
        </p:txBody>
      </p:sp>
      <p:sp>
        <p:nvSpPr>
          <p:cNvPr id="36" name="TextBox 35"/>
          <p:cNvSpPr txBox="1"/>
          <p:nvPr/>
        </p:nvSpPr>
        <p:spPr>
          <a:xfrm>
            <a:off x="8202168"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Finding ID, affected resource, severity, vulnerability, graph evidence, workflow status and response.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590</a:t>
            </a:r>
          </a:p>
        </p:txBody>
      </p:sp>
    </p:spTree>
  </p:cSld>
  <p:clrMapOvr>
    <a:masterClrMapping/>
  </p:clrMapOvr>
  <p:transition xmlns:p14="http://schemas.microsoft.com/office/powerpoint/2010/main" p14:dur="380">
    <p:fade/>
  </p:transition>
</p:sld>
</file>

<file path=ppt/slides/slide5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DOMAIN 6 · OPERATIONS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Threat detection and investigation: failure diagnostic</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RECOGNISE</a:t>
            </a:r>
          </a:p>
          <a:p>
            <a:pPr algn="l">
              <a:spcAft>
                <a:spcPts val="300"/>
              </a:spcAft>
            </a:pPr>
            <a:r>
              <a:rPr sz="1050" b="0">
                <a:solidFill>
                  <a:srgbClr val="5B6372"/>
                </a:solidFill>
                <a:latin typeface="Arial"/>
              </a:rPr>
              <a:t>Observable failure condition: A high volume of unowned findings becomes an unworkable compliance queue.</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CONTAIN</a:t>
            </a:r>
          </a:p>
          <a:p>
            <a:pPr algn="l">
              <a:spcAft>
                <a:spcPts val="300"/>
              </a:spcAft>
            </a:pPr>
            <a:r>
              <a:rPr sz="1050" b="0">
                <a:solidFill>
                  <a:srgbClr val="5B6372"/>
                </a:solidFill>
                <a:latin typeface="Arial"/>
              </a:rPr>
              <a:t>Pause promotion, preserve evidence and reduce impact without destroying diagnostic state.</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DIAGNOSE</a:t>
            </a:r>
          </a:p>
          <a:p>
            <a:pPr algn="l">
              <a:spcAft>
                <a:spcPts val="300"/>
              </a:spcAft>
            </a:pPr>
            <a:r>
              <a:rPr sz="1050" b="0">
                <a:solidFill>
                  <a:srgbClr val="5B6372"/>
                </a:solidFill>
                <a:latin typeface="Arial"/>
              </a:rPr>
              <a:t>Trace the workflow from Detect through Contain; compare intended configuration with runtime state.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RECOVER</a:t>
            </a:r>
          </a:p>
          <a:p>
            <a:pPr algn="l">
              <a:spcAft>
                <a:spcPts val="300"/>
              </a:spcAft>
            </a:pPr>
            <a:r>
              <a:rPr sz="1050" b="0">
                <a:solidFill>
                  <a:srgbClr val="5B6372"/>
                </a:solidFill>
                <a:latin typeface="Arial"/>
              </a:rPr>
              <a:t>Restore the last known-good state, then prove recovery with Finding ID, affected resource, severity, vulnerability, graph evidence, workflow status and response.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591</a:t>
            </a:r>
          </a:p>
        </p:txBody>
      </p:sp>
    </p:spTree>
  </p:cSld>
  <p:clrMapOvr>
    <a:masterClrMapping/>
  </p:clrMapOvr>
  <p:transition xmlns:p14="http://schemas.microsoft.com/office/powerpoint/2010/main" p14:dur="380">
    <p:fade/>
  </p:transition>
</p:sld>
</file>

<file path=ppt/slides/slide5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DOMAIN 6 · APPLIED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Threat detection and investigation: worked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CONSTRAINT</a:t>
            </a:r>
          </a:p>
          <a:p>
            <a:pPr algn="l">
              <a:spcAft>
                <a:spcPts val="300"/>
              </a:spcAft>
            </a:pPr>
            <a:r>
              <a:rPr sz="1050" b="0">
                <a:solidFill>
                  <a:srgbClr val="5B6372"/>
                </a:solidFill>
                <a:latin typeface="Arial"/>
              </a:rPr>
              <a:t>An exposed instance shows anomalous network activity and a critical package vulnerability.</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DECISION</a:t>
            </a:r>
          </a:p>
          <a:p>
            <a:pPr algn="l">
              <a:spcAft>
                <a:spcPts val="300"/>
              </a:spcAft>
            </a:pPr>
            <a:r>
              <a:rPr sz="1050" b="0">
                <a:solidFill>
                  <a:srgbClr val="5B6372"/>
                </a:solidFill>
                <a:latin typeface="Arial"/>
              </a:rPr>
              <a:t>Delegate administration, centralize findings, normalize severity, enrich with ownership and automate only well-understood responses.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WHY ALTERNATIVES LOSE</a:t>
            </a:r>
          </a:p>
          <a:p>
            <a:pPr algn="l">
              <a:spcAft>
                <a:spcPts val="300"/>
              </a:spcAft>
            </a:pPr>
            <a:r>
              <a:rPr sz="1050" b="0">
                <a:solidFill>
                  <a:srgbClr val="5B6372"/>
                </a:solidFill>
                <a:latin typeface="Arial"/>
              </a:rPr>
              <a:t>Reject options that do not change the stated failure boundary: A high volume of unowned findings becomes an unworkable compliance queue.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ACCEPTANCE TEST</a:t>
            </a:r>
          </a:p>
          <a:p>
            <a:pPr algn="l">
              <a:spcAft>
                <a:spcPts val="300"/>
              </a:spcAft>
            </a:pPr>
            <a:r>
              <a:rPr sz="1050" b="0">
                <a:solidFill>
                  <a:srgbClr val="5B6372"/>
                </a:solidFill>
                <a:latin typeface="Arial"/>
              </a:rPr>
              <a:t>The decision is complete only when this proof exists: Finding ID, affected resource, severity, vulnerability, graph evidence, workflow status and response.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592</a:t>
            </a:r>
          </a:p>
        </p:txBody>
      </p:sp>
    </p:spTree>
  </p:cSld>
  <p:clrMapOvr>
    <a:masterClrMapping/>
  </p:clrMapOvr>
  <p:transition xmlns:p14="http://schemas.microsoft.com/office/powerpoint/2010/main" p14:dur="380">
    <p:fade/>
  </p:transition>
</p:sld>
</file>

<file path=ppt/slides/slide5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DOMAIN 6 · SECURITY AND COMPLIANCE</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Edge and network protection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OUTCOME</a:t>
            </a:r>
          </a:p>
          <a:p>
            <a:pPr algn="l">
              <a:spcAft>
                <a:spcPts val="300"/>
              </a:spcAft>
            </a:pPr>
            <a:r>
              <a:rPr sz="1050" b="0">
                <a:solidFill>
                  <a:srgbClr val="5B6372"/>
                </a:solidFill>
                <a:latin typeface="Arial"/>
              </a:rPr>
              <a:t>Apply consistent layered protection to public endpoints and network paths.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ARCHITECTURE</a:t>
            </a:r>
          </a:p>
          <a:p>
            <a:pPr algn="l">
              <a:spcAft>
                <a:spcPts val="300"/>
              </a:spcAft>
            </a:pPr>
            <a:r>
              <a:rPr sz="1050" b="0">
                <a:solidFill>
                  <a:srgbClr val="5B6372"/>
                </a:solidFill>
                <a:latin typeface="Arial"/>
              </a:rPr>
              <a:t>Use managed rules in count mode first, central policies, rate limits, logging and exception workflows.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MODE</a:t>
            </a:r>
          </a:p>
          <a:p>
            <a:pPr algn="l">
              <a:spcAft>
                <a:spcPts val="300"/>
              </a:spcAft>
            </a:pPr>
            <a:r>
              <a:rPr sz="1050" b="0">
                <a:solidFill>
                  <a:srgbClr val="5B6372"/>
                </a:solidFill>
                <a:latin typeface="Arial"/>
              </a:rPr>
              <a:t>Blocking without observing false positives can turn a security control into an outage.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EVIDENCE</a:t>
            </a:r>
          </a:p>
          <a:p>
            <a:pPr algn="l">
              <a:spcAft>
                <a:spcPts val="300"/>
              </a:spcAft>
            </a:pPr>
            <a:r>
              <a:rPr sz="1050" b="0">
                <a:solidFill>
                  <a:srgbClr val="5B6372"/>
                </a:solidFill>
                <a:latin typeface="Arial"/>
              </a:rPr>
              <a:t>Policy version, sampled request, rule action, log destination, exception and rollout scope.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593</a:t>
            </a:r>
          </a:p>
        </p:txBody>
      </p:sp>
    </p:spTree>
  </p:cSld>
  <p:clrMapOvr>
    <a:masterClrMapping/>
  </p:clrMapOvr>
  <p:transition xmlns:p14="http://schemas.microsoft.com/office/powerpoint/2010/main" p14:dur="380">
    <p:fade/>
  </p:transition>
</p:sld>
</file>

<file path=ppt/slides/slide5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DOMAIN 6 · PROCESS MODEL</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Edge and network protection: operating flow</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49809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97102"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9710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Observe traffic</a:t>
            </a:r>
          </a:p>
        </p:txBody>
      </p:sp>
      <p:sp>
        <p:nvSpPr>
          <p:cNvPr id="12" name="Rectangle 11"/>
          <p:cNvSpPr/>
          <p:nvPr/>
        </p:nvSpPr>
        <p:spPr>
          <a:xfrm>
            <a:off x="2604516"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04516" y="2148840"/>
            <a:ext cx="149809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024378"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24378"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6" name="TextBox 15"/>
          <p:cNvSpPr txBox="1"/>
          <p:nvPr/>
        </p:nvSpPr>
        <p:spPr>
          <a:xfrm>
            <a:off x="2723388"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Evaluate rule</a:t>
            </a:r>
          </a:p>
        </p:txBody>
      </p:sp>
      <p:sp>
        <p:nvSpPr>
          <p:cNvPr id="17" name="Rectangle 16"/>
          <p:cNvSpPr/>
          <p:nvPr/>
        </p:nvSpPr>
        <p:spPr>
          <a:xfrm>
            <a:off x="4431792"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431792" y="2148840"/>
            <a:ext cx="149809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851654"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51654"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1" name="TextBox 20"/>
          <p:cNvSpPr txBox="1"/>
          <p:nvPr/>
        </p:nvSpPr>
        <p:spPr>
          <a:xfrm>
            <a:off x="4550664"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Count</a:t>
            </a:r>
          </a:p>
        </p:txBody>
      </p:sp>
      <p:sp>
        <p:nvSpPr>
          <p:cNvPr id="22" name="Rectangle 21"/>
          <p:cNvSpPr/>
          <p:nvPr/>
        </p:nvSpPr>
        <p:spPr>
          <a:xfrm>
            <a:off x="6259068"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59068" y="2148840"/>
            <a:ext cx="149809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678930"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78930"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6" name="TextBox 25"/>
          <p:cNvSpPr txBox="1"/>
          <p:nvPr/>
        </p:nvSpPr>
        <p:spPr>
          <a:xfrm>
            <a:off x="6377940"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Tune exception</a:t>
            </a:r>
          </a:p>
        </p:txBody>
      </p:sp>
      <p:sp>
        <p:nvSpPr>
          <p:cNvPr id="27" name="Rectangle 26"/>
          <p:cNvSpPr/>
          <p:nvPr/>
        </p:nvSpPr>
        <p:spPr>
          <a:xfrm>
            <a:off x="8086344"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086344" y="2148840"/>
            <a:ext cx="1498092" cy="914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506206" y="2532888"/>
            <a:ext cx="658368" cy="658368"/>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06206"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5</a:t>
            </a:r>
          </a:p>
        </p:txBody>
      </p:sp>
      <p:sp>
        <p:nvSpPr>
          <p:cNvPr id="31" name="TextBox 30"/>
          <p:cNvSpPr txBox="1"/>
          <p:nvPr/>
        </p:nvSpPr>
        <p:spPr>
          <a:xfrm>
            <a:off x="8205216"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Block</a:t>
            </a:r>
          </a:p>
        </p:txBody>
      </p:sp>
      <p:sp>
        <p:nvSpPr>
          <p:cNvPr id="32" name="Rectangle 31"/>
          <p:cNvSpPr/>
          <p:nvPr/>
        </p:nvSpPr>
        <p:spPr>
          <a:xfrm>
            <a:off x="9913620"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913620" y="2148840"/>
            <a:ext cx="1498092" cy="91440"/>
          </a:xfrm>
          <a:prstGeom prst="rect">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333482" y="2532888"/>
            <a:ext cx="658368" cy="658368"/>
          </a:xfrm>
          <a:prstGeom prst="ellipse">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3348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6</a:t>
            </a:r>
          </a:p>
        </p:txBody>
      </p:sp>
      <p:sp>
        <p:nvSpPr>
          <p:cNvPr id="36" name="TextBox 35"/>
          <p:cNvSpPr txBox="1"/>
          <p:nvPr/>
        </p:nvSpPr>
        <p:spPr>
          <a:xfrm>
            <a:off x="10032492"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Monitor</a:t>
            </a:r>
          </a:p>
        </p:txBody>
      </p:sp>
      <p:cxnSp>
        <p:nvCxnSpPr>
          <p:cNvPr id="37" name="Connector 36"/>
          <p:cNvCxnSpPr/>
          <p:nvPr/>
        </p:nvCxnSpPr>
        <p:spPr>
          <a:xfrm>
            <a:off x="2275332"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10260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929884"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775716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9584436"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C0392B"/>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44" name="TextBox 4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45" name="TextBox 4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6" name="TextBox 4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594</a:t>
            </a:r>
          </a:p>
        </p:txBody>
      </p:sp>
    </p:spTree>
  </p:cSld>
  <p:clrMapOvr>
    <a:masterClrMapping/>
  </p:clrMapOvr>
  <p:transition xmlns:p14="http://schemas.microsoft.com/office/powerpoint/2010/main" p14:dur="380">
    <p:fade/>
  </p:transition>
</p:sld>
</file>

<file path=ppt/slides/slide5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DOMAIN 6 ·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Edge and network protection: design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83280" cy="43708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70832"/>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011680"/>
            <a:ext cx="530352" cy="530352"/>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011680"/>
            <a:ext cx="530352" cy="530352"/>
          </a:xfrm>
          <a:prstGeom prst="rect">
            <a:avLst/>
          </a:prstGeom>
          <a:noFill/>
        </p:spPr>
        <p:txBody>
          <a:bodyPr wrap="square" anchor="ctr">
            <a:spAutoFit/>
          </a:bodyPr>
          <a:lstStyle/>
          <a:p>
            <a:pPr algn="ctr">
              <a:spcAft>
                <a:spcPts val="400"/>
              </a:spcAft>
            </a:pPr>
            <a:r>
              <a:rPr sz="2000" b="1">
                <a:solidFill>
                  <a:srgbClr val="FFFFFF"/>
                </a:solidFill>
                <a:latin typeface="Arial"/>
              </a:rPr>
              <a:t>?</a:t>
            </a:r>
          </a:p>
        </p:txBody>
      </p:sp>
      <p:sp>
        <p:nvSpPr>
          <p:cNvPr id="11" name="TextBox 10"/>
          <p:cNvSpPr txBox="1"/>
          <p:nvPr/>
        </p:nvSpPr>
        <p:spPr>
          <a:xfrm>
            <a:off x="1709928" y="1984248"/>
            <a:ext cx="2212848" cy="502920"/>
          </a:xfrm>
          <a:prstGeom prst="rect">
            <a:avLst/>
          </a:prstGeom>
          <a:noFill/>
        </p:spPr>
        <p:txBody>
          <a:bodyPr wrap="square" anchor="ctr">
            <a:spAutoFit/>
          </a:bodyPr>
          <a:lstStyle/>
          <a:p>
            <a:pPr algn="l">
              <a:spcAft>
                <a:spcPts val="400"/>
              </a:spcAft>
            </a:pPr>
            <a:r>
              <a:rPr sz="1350" b="1">
                <a:solidFill>
                  <a:srgbClr val="C0392B"/>
                </a:solidFill>
                <a:latin typeface="Arial"/>
              </a:rPr>
              <a:t>SCENARIO</a:t>
            </a:r>
          </a:p>
        </p:txBody>
      </p:sp>
      <p:sp>
        <p:nvSpPr>
          <p:cNvPr id="12" name="TextBox 11"/>
          <p:cNvSpPr txBox="1"/>
          <p:nvPr/>
        </p:nvSpPr>
        <p:spPr>
          <a:xfrm>
            <a:off x="1051560" y="2743200"/>
            <a:ext cx="2834640" cy="3136392"/>
          </a:xfrm>
          <a:prstGeom prst="rect">
            <a:avLst/>
          </a:prstGeom>
          <a:noFill/>
        </p:spPr>
        <p:txBody>
          <a:bodyPr wrap="square" anchor="t">
            <a:spAutoFit/>
          </a:bodyPr>
          <a:lstStyle/>
          <a:p>
            <a:pPr algn="l">
              <a:spcAft>
                <a:spcPts val="400"/>
              </a:spcAft>
            </a:pPr>
            <a:r>
              <a:rPr sz="1300" b="0">
                <a:solidFill>
                  <a:srgbClr val="161B26"/>
                </a:solidFill>
                <a:latin typeface="Arial"/>
              </a:rPr>
              <a:t>A company must deploy baseline WAF controls to every internet-facing application across accounts.</a:t>
            </a:r>
          </a:p>
        </p:txBody>
      </p:sp>
      <p:sp>
        <p:nvSpPr>
          <p:cNvPr id="13" name="Rectangle 12"/>
          <p:cNvSpPr/>
          <p:nvPr/>
        </p:nvSpPr>
        <p:spPr>
          <a:xfrm>
            <a:off x="4434840"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34840" y="1783080"/>
            <a:ext cx="91440"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636008" y="1965960"/>
            <a:ext cx="438912" cy="43891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6008"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7" name="TextBox 16"/>
          <p:cNvSpPr txBox="1"/>
          <p:nvPr/>
        </p:nvSpPr>
        <p:spPr>
          <a:xfrm>
            <a:off x="5212080" y="1929384"/>
            <a:ext cx="2286000" cy="475488"/>
          </a:xfrm>
          <a:prstGeom prst="rect">
            <a:avLst/>
          </a:prstGeom>
          <a:noFill/>
        </p:spPr>
        <p:txBody>
          <a:bodyPr wrap="square" anchor="ctr">
            <a:spAutoFit/>
          </a:bodyPr>
          <a:lstStyle/>
          <a:p>
            <a:pPr algn="l">
              <a:spcAft>
                <a:spcPts val="400"/>
              </a:spcAft>
            </a:pPr>
            <a:r>
              <a:rPr sz="1250" b="1">
                <a:solidFill>
                  <a:srgbClr val="10B981"/>
                </a:solidFill>
                <a:latin typeface="Arial"/>
              </a:rPr>
              <a:t>DESIGN RESPONSE</a:t>
            </a:r>
          </a:p>
        </p:txBody>
      </p:sp>
      <p:sp>
        <p:nvSpPr>
          <p:cNvPr id="18" name="TextBox 17"/>
          <p:cNvSpPr txBox="1"/>
          <p:nvPr/>
        </p:nvSpPr>
        <p:spPr>
          <a:xfrm>
            <a:off x="4663440"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Use managed rules in count mode first, central policies, rate limits, logging and exception workflows.</a:t>
            </a:r>
          </a:p>
        </p:txBody>
      </p:sp>
      <p:sp>
        <p:nvSpPr>
          <p:cNvPr id="19" name="Rectangle 18"/>
          <p:cNvSpPr/>
          <p:nvPr/>
        </p:nvSpPr>
        <p:spPr>
          <a:xfrm>
            <a:off x="7973568"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973568" y="1783080"/>
            <a:ext cx="91440" cy="21488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174736" y="1965960"/>
            <a:ext cx="438912" cy="43891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74736"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23" name="TextBox 22"/>
          <p:cNvSpPr txBox="1"/>
          <p:nvPr/>
        </p:nvSpPr>
        <p:spPr>
          <a:xfrm>
            <a:off x="8750808" y="1929384"/>
            <a:ext cx="2286000" cy="475488"/>
          </a:xfrm>
          <a:prstGeom prst="rect">
            <a:avLst/>
          </a:prstGeom>
          <a:noFill/>
        </p:spPr>
        <p:txBody>
          <a:bodyPr wrap="square" anchor="ctr">
            <a:spAutoFit/>
          </a:bodyPr>
          <a:lstStyle/>
          <a:p>
            <a:pPr algn="l">
              <a:spcAft>
                <a:spcPts val="400"/>
              </a:spcAft>
            </a:pPr>
            <a:r>
              <a:rPr sz="1250" b="1">
                <a:solidFill>
                  <a:srgbClr val="7C3AED"/>
                </a:solidFill>
                <a:latin typeface="Arial"/>
              </a:rPr>
              <a:t>PRIMARY SERVICES</a:t>
            </a:r>
          </a:p>
        </p:txBody>
      </p:sp>
      <p:sp>
        <p:nvSpPr>
          <p:cNvPr id="24" name="TextBox 23"/>
          <p:cNvSpPr txBox="1"/>
          <p:nvPr/>
        </p:nvSpPr>
        <p:spPr>
          <a:xfrm>
            <a:off x="8202168"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WAF · Firewall Manager · Shield · Network Firewall</a:t>
            </a:r>
          </a:p>
        </p:txBody>
      </p:sp>
      <p:sp>
        <p:nvSpPr>
          <p:cNvPr id="25" name="Rectangle 24"/>
          <p:cNvSpPr/>
          <p:nvPr/>
        </p:nvSpPr>
        <p:spPr>
          <a:xfrm>
            <a:off x="4434840"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34840" y="4005072"/>
            <a:ext cx="91440" cy="21488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636008" y="4187952"/>
            <a:ext cx="438912" cy="43891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36008"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9" name="TextBox 28"/>
          <p:cNvSpPr txBox="1"/>
          <p:nvPr/>
        </p:nvSpPr>
        <p:spPr>
          <a:xfrm>
            <a:off x="5212080" y="4151376"/>
            <a:ext cx="2286000" cy="475488"/>
          </a:xfrm>
          <a:prstGeom prst="rect">
            <a:avLst/>
          </a:prstGeom>
          <a:noFill/>
        </p:spPr>
        <p:txBody>
          <a:bodyPr wrap="square" anchor="ctr">
            <a:spAutoFit/>
          </a:bodyPr>
          <a:lstStyle/>
          <a:p>
            <a:pPr algn="l">
              <a:spcAft>
                <a:spcPts val="400"/>
              </a:spcAft>
            </a:pPr>
            <a:r>
              <a:rPr sz="1250" b="1">
                <a:solidFill>
                  <a:srgbClr val="F59E0B"/>
                </a:solidFill>
                <a:latin typeface="Arial"/>
              </a:rPr>
              <a:t>FAILURE MODE</a:t>
            </a:r>
          </a:p>
        </p:txBody>
      </p:sp>
      <p:sp>
        <p:nvSpPr>
          <p:cNvPr id="30" name="TextBox 29"/>
          <p:cNvSpPr txBox="1"/>
          <p:nvPr/>
        </p:nvSpPr>
        <p:spPr>
          <a:xfrm>
            <a:off x="4663440"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Blocking without observing false positives can turn a security control into an outage.</a:t>
            </a:r>
          </a:p>
        </p:txBody>
      </p:sp>
      <p:sp>
        <p:nvSpPr>
          <p:cNvPr id="31" name="Rectangle 30"/>
          <p:cNvSpPr/>
          <p:nvPr/>
        </p:nvSpPr>
        <p:spPr>
          <a:xfrm>
            <a:off x="7973568"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73568" y="4005072"/>
            <a:ext cx="91440" cy="21488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174736" y="4187952"/>
            <a:ext cx="438912" cy="438912"/>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74736"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5" name="TextBox 34"/>
          <p:cNvSpPr txBox="1"/>
          <p:nvPr/>
        </p:nvSpPr>
        <p:spPr>
          <a:xfrm>
            <a:off x="8750808" y="4151376"/>
            <a:ext cx="2286000" cy="475488"/>
          </a:xfrm>
          <a:prstGeom prst="rect">
            <a:avLst/>
          </a:prstGeom>
          <a:noFill/>
        </p:spPr>
        <p:txBody>
          <a:bodyPr wrap="square" anchor="ctr">
            <a:spAutoFit/>
          </a:bodyPr>
          <a:lstStyle/>
          <a:p>
            <a:pPr algn="l">
              <a:spcAft>
                <a:spcPts val="400"/>
              </a:spcAft>
            </a:pPr>
            <a:r>
              <a:rPr sz="1250" b="1">
                <a:solidFill>
                  <a:srgbClr val="EC711E"/>
                </a:solidFill>
                <a:latin typeface="Arial"/>
              </a:rPr>
              <a:t>PROOF</a:t>
            </a:r>
          </a:p>
        </p:txBody>
      </p:sp>
      <p:sp>
        <p:nvSpPr>
          <p:cNvPr id="36" name="TextBox 35"/>
          <p:cNvSpPr txBox="1"/>
          <p:nvPr/>
        </p:nvSpPr>
        <p:spPr>
          <a:xfrm>
            <a:off x="8202168"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Policy version, sampled request, rule action, log destination, exception and rollout scope.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595</a:t>
            </a:r>
          </a:p>
        </p:txBody>
      </p:sp>
    </p:spTree>
  </p:cSld>
  <p:clrMapOvr>
    <a:masterClrMapping/>
  </p:clrMapOvr>
  <p:transition xmlns:p14="http://schemas.microsoft.com/office/powerpoint/2010/main" p14:dur="380">
    <p:fade/>
  </p:transition>
</p:sld>
</file>

<file path=ppt/slides/slide5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DOMAIN 6 · OPERATIONS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Edge and network protection: failure diagnostic</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RECOGNISE</a:t>
            </a:r>
          </a:p>
          <a:p>
            <a:pPr algn="l">
              <a:spcAft>
                <a:spcPts val="300"/>
              </a:spcAft>
            </a:pPr>
            <a:r>
              <a:rPr sz="1050" b="0">
                <a:solidFill>
                  <a:srgbClr val="5B6372"/>
                </a:solidFill>
                <a:latin typeface="Arial"/>
              </a:rPr>
              <a:t>Observable failure condition: Blocking without observing false positives can turn a security control into an outage.</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CONTAIN</a:t>
            </a:r>
          </a:p>
          <a:p>
            <a:pPr algn="l">
              <a:spcAft>
                <a:spcPts val="300"/>
              </a:spcAft>
            </a:pPr>
            <a:r>
              <a:rPr sz="1050" b="0">
                <a:solidFill>
                  <a:srgbClr val="5B6372"/>
                </a:solidFill>
                <a:latin typeface="Arial"/>
              </a:rPr>
              <a:t>Pause promotion, preserve evidence and reduce impact without destroying diagnostic state.</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DIAGNOSE</a:t>
            </a:r>
          </a:p>
          <a:p>
            <a:pPr algn="l">
              <a:spcAft>
                <a:spcPts val="300"/>
              </a:spcAft>
            </a:pPr>
            <a:r>
              <a:rPr sz="1050" b="0">
                <a:solidFill>
                  <a:srgbClr val="5B6372"/>
                </a:solidFill>
                <a:latin typeface="Arial"/>
              </a:rPr>
              <a:t>Trace the workflow from Observe traffic through Monitor; compare intended configuration with runtime state.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RECOVER</a:t>
            </a:r>
          </a:p>
          <a:p>
            <a:pPr algn="l">
              <a:spcAft>
                <a:spcPts val="300"/>
              </a:spcAft>
            </a:pPr>
            <a:r>
              <a:rPr sz="1050" b="0">
                <a:solidFill>
                  <a:srgbClr val="5B6372"/>
                </a:solidFill>
                <a:latin typeface="Arial"/>
              </a:rPr>
              <a:t>Restore the last known-good state, then prove recovery with Policy version, sampled request, rule action, log destination, exception and rollout scope.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596</a:t>
            </a:r>
          </a:p>
        </p:txBody>
      </p:sp>
    </p:spTree>
  </p:cSld>
  <p:clrMapOvr>
    <a:masterClrMapping/>
  </p:clrMapOvr>
  <p:transition xmlns:p14="http://schemas.microsoft.com/office/powerpoint/2010/main" p14:dur="380">
    <p:fade/>
  </p:transition>
</p:sld>
</file>

<file path=ppt/slides/slide5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DOMAIN 6 · APPLIED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Edge and network protection: worked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CONSTRAINT</a:t>
            </a:r>
          </a:p>
          <a:p>
            <a:pPr algn="l">
              <a:spcAft>
                <a:spcPts val="300"/>
              </a:spcAft>
            </a:pPr>
            <a:r>
              <a:rPr sz="1050" b="0">
                <a:solidFill>
                  <a:srgbClr val="5B6372"/>
                </a:solidFill>
                <a:latin typeface="Arial"/>
              </a:rPr>
              <a:t>A company must deploy baseline WAF controls to every internet-facing application across accounts.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DECISION</a:t>
            </a:r>
          </a:p>
          <a:p>
            <a:pPr algn="l">
              <a:spcAft>
                <a:spcPts val="300"/>
              </a:spcAft>
            </a:pPr>
            <a:r>
              <a:rPr sz="1050" b="0">
                <a:solidFill>
                  <a:srgbClr val="5B6372"/>
                </a:solidFill>
                <a:latin typeface="Arial"/>
              </a:rPr>
              <a:t>Use managed rules in count mode first, central policies, rate limits, logging and exception workflows.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WHY ALTERNATIVES LOSE</a:t>
            </a:r>
          </a:p>
          <a:p>
            <a:pPr algn="l">
              <a:spcAft>
                <a:spcPts val="300"/>
              </a:spcAft>
            </a:pPr>
            <a:r>
              <a:rPr sz="1050" b="0">
                <a:solidFill>
                  <a:srgbClr val="5B6372"/>
                </a:solidFill>
                <a:latin typeface="Arial"/>
              </a:rPr>
              <a:t>Reject options that do not change the stated failure boundary: Blocking without observing false positives can turn a security control into an outage.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ACCEPTANCE TEST</a:t>
            </a:r>
          </a:p>
          <a:p>
            <a:pPr algn="l">
              <a:spcAft>
                <a:spcPts val="300"/>
              </a:spcAft>
            </a:pPr>
            <a:r>
              <a:rPr sz="1050" b="0">
                <a:solidFill>
                  <a:srgbClr val="5B6372"/>
                </a:solidFill>
                <a:latin typeface="Arial"/>
              </a:rPr>
              <a:t>The decision is complete only when this proof exists: Policy version, sampled request, rule action, log destination, exception and rollout scope.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597</a:t>
            </a:r>
          </a:p>
        </p:txBody>
      </p:sp>
    </p:spTree>
  </p:cSld>
  <p:clrMapOvr>
    <a:masterClrMapping/>
  </p:clrMapOvr>
  <p:transition xmlns:p14="http://schemas.microsoft.com/office/powerpoint/2010/main" p14:dur="380">
    <p:fade/>
  </p:transition>
</p:sld>
</file>

<file path=ppt/slides/slide5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DOMAIN 6 · SECURITY AND COMPLIANCE</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Security blueprint and audit evidence</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OUTCOME</a:t>
            </a:r>
          </a:p>
          <a:p>
            <a:pPr algn="l">
              <a:spcAft>
                <a:spcPts val="300"/>
              </a:spcAft>
            </a:pPr>
            <a:r>
              <a:rPr sz="1050" b="0">
                <a:solidFill>
                  <a:srgbClr val="5B6372"/>
                </a:solidFill>
                <a:latin typeface="Arial"/>
              </a:rPr>
              <a:t>Translate risk and compliance obligations into components, controls, ownership and evidence flows.</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ARCHITECTURE</a:t>
            </a:r>
          </a:p>
          <a:p>
            <a:pPr algn="l">
              <a:spcAft>
                <a:spcPts val="300"/>
              </a:spcAft>
            </a:pPr>
            <a:r>
              <a:rPr sz="1050" b="0">
                <a:solidFill>
                  <a:srgbClr val="5B6372"/>
                </a:solidFill>
                <a:latin typeface="Arial"/>
              </a:rPr>
              <a:t>Document trust boundaries, data classification, preventive/detective controls, logging, retention and incident responsibilities.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FAILURE MODE</a:t>
            </a:r>
          </a:p>
          <a:p>
            <a:pPr algn="l">
              <a:spcAft>
                <a:spcPts val="300"/>
              </a:spcAft>
            </a:pPr>
            <a:r>
              <a:rPr sz="1050" b="0">
                <a:solidFill>
                  <a:srgbClr val="5B6372"/>
                </a:solidFill>
                <a:latin typeface="Arial"/>
              </a:rPr>
              <a:t>A service list without data flows, control intent and ownership is not an actionable blueprint.</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EVIDENCE</a:t>
            </a:r>
          </a:p>
          <a:p>
            <a:pPr algn="l">
              <a:spcAft>
                <a:spcPts val="300"/>
              </a:spcAft>
            </a:pPr>
            <a:r>
              <a:rPr sz="1050" b="0">
                <a:solidFill>
                  <a:srgbClr val="5B6372"/>
                </a:solidFill>
                <a:latin typeface="Arial"/>
              </a:rPr>
              <a:t>Architecture diagram, control matrix, evidence source, owner, retention rule, exception and review cadence.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598</a:t>
            </a:r>
          </a:p>
        </p:txBody>
      </p:sp>
    </p:spTree>
  </p:cSld>
  <p:clrMapOvr>
    <a:masterClrMapping/>
  </p:clrMapOvr>
  <p:transition xmlns:p14="http://schemas.microsoft.com/office/powerpoint/2010/main" p14:dur="380">
    <p:fade/>
  </p:transition>
</p:sld>
</file>

<file path=ppt/slides/slide6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DOMAIN 6 · PROCESS MODEL</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Security blueprint and audit evidence: operating flow</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49809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97102"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9710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Classify data</a:t>
            </a:r>
          </a:p>
        </p:txBody>
      </p:sp>
      <p:sp>
        <p:nvSpPr>
          <p:cNvPr id="12" name="Rectangle 11"/>
          <p:cNvSpPr/>
          <p:nvPr/>
        </p:nvSpPr>
        <p:spPr>
          <a:xfrm>
            <a:off x="2604516"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04516" y="2148840"/>
            <a:ext cx="149809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024378"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24378"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6" name="TextBox 15"/>
          <p:cNvSpPr txBox="1"/>
          <p:nvPr/>
        </p:nvSpPr>
        <p:spPr>
          <a:xfrm>
            <a:off x="2723388"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Map trust boundaries</a:t>
            </a:r>
          </a:p>
        </p:txBody>
      </p:sp>
      <p:sp>
        <p:nvSpPr>
          <p:cNvPr id="17" name="Rectangle 16"/>
          <p:cNvSpPr/>
          <p:nvPr/>
        </p:nvSpPr>
        <p:spPr>
          <a:xfrm>
            <a:off x="4431792"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431792" y="2148840"/>
            <a:ext cx="149809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851654"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51654"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1" name="TextBox 20"/>
          <p:cNvSpPr txBox="1"/>
          <p:nvPr/>
        </p:nvSpPr>
        <p:spPr>
          <a:xfrm>
            <a:off x="4550664"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Select controls</a:t>
            </a:r>
          </a:p>
        </p:txBody>
      </p:sp>
      <p:sp>
        <p:nvSpPr>
          <p:cNvPr id="22" name="Rectangle 21"/>
          <p:cNvSpPr/>
          <p:nvPr/>
        </p:nvSpPr>
        <p:spPr>
          <a:xfrm>
            <a:off x="6259068"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59068" y="2148840"/>
            <a:ext cx="149809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678930"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78930"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6" name="TextBox 25"/>
          <p:cNvSpPr txBox="1"/>
          <p:nvPr/>
        </p:nvSpPr>
        <p:spPr>
          <a:xfrm>
            <a:off x="6377940"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Assign owners</a:t>
            </a:r>
          </a:p>
        </p:txBody>
      </p:sp>
      <p:sp>
        <p:nvSpPr>
          <p:cNvPr id="27" name="Rectangle 26"/>
          <p:cNvSpPr/>
          <p:nvPr/>
        </p:nvSpPr>
        <p:spPr>
          <a:xfrm>
            <a:off x="8086344"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086344" y="2148840"/>
            <a:ext cx="1498092" cy="914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506206" y="2532888"/>
            <a:ext cx="658368" cy="658368"/>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06206"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5</a:t>
            </a:r>
          </a:p>
        </p:txBody>
      </p:sp>
      <p:sp>
        <p:nvSpPr>
          <p:cNvPr id="31" name="TextBox 30"/>
          <p:cNvSpPr txBox="1"/>
          <p:nvPr/>
        </p:nvSpPr>
        <p:spPr>
          <a:xfrm>
            <a:off x="8205216"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Collect evidence</a:t>
            </a:r>
          </a:p>
        </p:txBody>
      </p:sp>
      <p:sp>
        <p:nvSpPr>
          <p:cNvPr id="32" name="Rectangle 31"/>
          <p:cNvSpPr/>
          <p:nvPr/>
        </p:nvSpPr>
        <p:spPr>
          <a:xfrm>
            <a:off x="9913620" y="2148840"/>
            <a:ext cx="1498092"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913620" y="2148840"/>
            <a:ext cx="1498092" cy="91440"/>
          </a:xfrm>
          <a:prstGeom prst="rect">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333482" y="2532888"/>
            <a:ext cx="658368" cy="658368"/>
          </a:xfrm>
          <a:prstGeom prst="ellipse">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33482"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6</a:t>
            </a:r>
          </a:p>
        </p:txBody>
      </p:sp>
      <p:sp>
        <p:nvSpPr>
          <p:cNvPr id="36" name="TextBox 35"/>
          <p:cNvSpPr txBox="1"/>
          <p:nvPr/>
        </p:nvSpPr>
        <p:spPr>
          <a:xfrm>
            <a:off x="10032492" y="3474720"/>
            <a:ext cx="1260348" cy="1737360"/>
          </a:xfrm>
          <a:prstGeom prst="rect">
            <a:avLst/>
          </a:prstGeom>
          <a:noFill/>
        </p:spPr>
        <p:txBody>
          <a:bodyPr wrap="square" anchor="ctr">
            <a:spAutoFit/>
          </a:bodyPr>
          <a:lstStyle/>
          <a:p>
            <a:pPr algn="ctr">
              <a:spcAft>
                <a:spcPts val="400"/>
              </a:spcAft>
            </a:pPr>
            <a:r>
              <a:rPr sz="1250" b="0">
                <a:solidFill>
                  <a:srgbClr val="161B26"/>
                </a:solidFill>
                <a:latin typeface="Arial"/>
              </a:rPr>
              <a:t>Review</a:t>
            </a:r>
          </a:p>
        </p:txBody>
      </p:sp>
      <p:cxnSp>
        <p:nvCxnSpPr>
          <p:cNvPr id="37" name="Connector 36"/>
          <p:cNvCxnSpPr/>
          <p:nvPr/>
        </p:nvCxnSpPr>
        <p:spPr>
          <a:xfrm>
            <a:off x="2275332"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10260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929884"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775716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9584436"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C0392B"/>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44" name="TextBox 4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45" name="TextBox 4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6" name="TextBox 4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599</a:t>
            </a:r>
          </a:p>
        </p:txBody>
      </p:sp>
    </p:spTree>
  </p:cSld>
  <p:clrMapOvr>
    <a:masterClrMapping/>
  </p:clrMapOvr>
  <p:transition xmlns:p14="http://schemas.microsoft.com/office/powerpoint/2010/main" p14:dur="380">
    <p:fade/>
  </p:transition>
</p:sld>
</file>

<file path=ppt/slides/slide6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DOMAIN 6 ·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Security blueprint and audit evidence: design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83280" cy="43708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70832"/>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011680"/>
            <a:ext cx="530352" cy="530352"/>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011680"/>
            <a:ext cx="530352" cy="530352"/>
          </a:xfrm>
          <a:prstGeom prst="rect">
            <a:avLst/>
          </a:prstGeom>
          <a:noFill/>
        </p:spPr>
        <p:txBody>
          <a:bodyPr wrap="square" anchor="ctr">
            <a:spAutoFit/>
          </a:bodyPr>
          <a:lstStyle/>
          <a:p>
            <a:pPr algn="ctr">
              <a:spcAft>
                <a:spcPts val="400"/>
              </a:spcAft>
            </a:pPr>
            <a:r>
              <a:rPr sz="2000" b="1">
                <a:solidFill>
                  <a:srgbClr val="FFFFFF"/>
                </a:solidFill>
                <a:latin typeface="Arial"/>
              </a:rPr>
              <a:t>?</a:t>
            </a:r>
          </a:p>
        </p:txBody>
      </p:sp>
      <p:sp>
        <p:nvSpPr>
          <p:cNvPr id="11" name="TextBox 10"/>
          <p:cNvSpPr txBox="1"/>
          <p:nvPr/>
        </p:nvSpPr>
        <p:spPr>
          <a:xfrm>
            <a:off x="1709928" y="1984248"/>
            <a:ext cx="2212848" cy="502920"/>
          </a:xfrm>
          <a:prstGeom prst="rect">
            <a:avLst/>
          </a:prstGeom>
          <a:noFill/>
        </p:spPr>
        <p:txBody>
          <a:bodyPr wrap="square" anchor="ctr">
            <a:spAutoFit/>
          </a:bodyPr>
          <a:lstStyle/>
          <a:p>
            <a:pPr algn="l">
              <a:spcAft>
                <a:spcPts val="400"/>
              </a:spcAft>
            </a:pPr>
            <a:r>
              <a:rPr sz="1350" b="1">
                <a:solidFill>
                  <a:srgbClr val="C0392B"/>
                </a:solidFill>
                <a:latin typeface="Arial"/>
              </a:rPr>
              <a:t>SCENARIO</a:t>
            </a:r>
          </a:p>
        </p:txBody>
      </p:sp>
      <p:sp>
        <p:nvSpPr>
          <p:cNvPr id="12" name="TextBox 11"/>
          <p:cNvSpPr txBox="1"/>
          <p:nvPr/>
        </p:nvSpPr>
        <p:spPr>
          <a:xfrm>
            <a:off x="1051560" y="2743200"/>
            <a:ext cx="2834640" cy="3136392"/>
          </a:xfrm>
          <a:prstGeom prst="rect">
            <a:avLst/>
          </a:prstGeom>
          <a:noFill/>
        </p:spPr>
        <p:txBody>
          <a:bodyPr wrap="square" anchor="t">
            <a:spAutoFit/>
          </a:bodyPr>
          <a:lstStyle/>
          <a:p>
            <a:pPr algn="l">
              <a:spcAft>
                <a:spcPts val="400"/>
              </a:spcAft>
            </a:pPr>
            <a:r>
              <a:rPr sz="1300" b="0">
                <a:solidFill>
                  <a:srgbClr val="161B26"/>
                </a:solidFill>
                <a:latin typeface="Arial"/>
              </a:rPr>
              <a:t>A regulated workload needs a technical blueprint that developers, security and auditors can all execute.</a:t>
            </a:r>
          </a:p>
        </p:txBody>
      </p:sp>
      <p:sp>
        <p:nvSpPr>
          <p:cNvPr id="13" name="Rectangle 12"/>
          <p:cNvSpPr/>
          <p:nvPr/>
        </p:nvSpPr>
        <p:spPr>
          <a:xfrm>
            <a:off x="4434840"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34840" y="1783080"/>
            <a:ext cx="91440"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636008" y="1965960"/>
            <a:ext cx="438912" cy="43891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6008"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7" name="TextBox 16"/>
          <p:cNvSpPr txBox="1"/>
          <p:nvPr/>
        </p:nvSpPr>
        <p:spPr>
          <a:xfrm>
            <a:off x="5212080" y="1929384"/>
            <a:ext cx="2286000" cy="475488"/>
          </a:xfrm>
          <a:prstGeom prst="rect">
            <a:avLst/>
          </a:prstGeom>
          <a:noFill/>
        </p:spPr>
        <p:txBody>
          <a:bodyPr wrap="square" anchor="ctr">
            <a:spAutoFit/>
          </a:bodyPr>
          <a:lstStyle/>
          <a:p>
            <a:pPr algn="l">
              <a:spcAft>
                <a:spcPts val="400"/>
              </a:spcAft>
            </a:pPr>
            <a:r>
              <a:rPr sz="1250" b="1">
                <a:solidFill>
                  <a:srgbClr val="10B981"/>
                </a:solidFill>
                <a:latin typeface="Arial"/>
              </a:rPr>
              <a:t>DESIGN RESPONSE</a:t>
            </a:r>
          </a:p>
        </p:txBody>
      </p:sp>
      <p:sp>
        <p:nvSpPr>
          <p:cNvPr id="18" name="TextBox 17"/>
          <p:cNvSpPr txBox="1"/>
          <p:nvPr/>
        </p:nvSpPr>
        <p:spPr>
          <a:xfrm>
            <a:off x="4663440"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Document trust boundaries, data classification, preventive/detective controls, logging, retention and incident responsibilities.</a:t>
            </a:r>
          </a:p>
        </p:txBody>
      </p:sp>
      <p:sp>
        <p:nvSpPr>
          <p:cNvPr id="19" name="Rectangle 18"/>
          <p:cNvSpPr/>
          <p:nvPr/>
        </p:nvSpPr>
        <p:spPr>
          <a:xfrm>
            <a:off x="7973568" y="1783080"/>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973568" y="1783080"/>
            <a:ext cx="91440" cy="21488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174736" y="1965960"/>
            <a:ext cx="438912" cy="43891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74736" y="1965960"/>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23" name="TextBox 22"/>
          <p:cNvSpPr txBox="1"/>
          <p:nvPr/>
        </p:nvSpPr>
        <p:spPr>
          <a:xfrm>
            <a:off x="8750808" y="1929384"/>
            <a:ext cx="2286000" cy="475488"/>
          </a:xfrm>
          <a:prstGeom prst="rect">
            <a:avLst/>
          </a:prstGeom>
          <a:noFill/>
        </p:spPr>
        <p:txBody>
          <a:bodyPr wrap="square" anchor="ctr">
            <a:spAutoFit/>
          </a:bodyPr>
          <a:lstStyle/>
          <a:p>
            <a:pPr algn="l">
              <a:spcAft>
                <a:spcPts val="400"/>
              </a:spcAft>
            </a:pPr>
            <a:r>
              <a:rPr sz="1250" b="1">
                <a:solidFill>
                  <a:srgbClr val="7C3AED"/>
                </a:solidFill>
                <a:latin typeface="Arial"/>
              </a:rPr>
              <a:t>PRIMARY SERVICES</a:t>
            </a:r>
          </a:p>
        </p:txBody>
      </p:sp>
      <p:sp>
        <p:nvSpPr>
          <p:cNvPr id="24" name="TextBox 23"/>
          <p:cNvSpPr txBox="1"/>
          <p:nvPr/>
        </p:nvSpPr>
        <p:spPr>
          <a:xfrm>
            <a:off x="8202168" y="2514600"/>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Security Hub · Audit Manager · Artifact · Tagging</a:t>
            </a:r>
          </a:p>
        </p:txBody>
      </p:sp>
      <p:sp>
        <p:nvSpPr>
          <p:cNvPr id="25" name="Rectangle 24"/>
          <p:cNvSpPr/>
          <p:nvPr/>
        </p:nvSpPr>
        <p:spPr>
          <a:xfrm>
            <a:off x="4434840"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34840" y="4005072"/>
            <a:ext cx="91440" cy="21488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636008" y="4187952"/>
            <a:ext cx="438912" cy="43891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36008"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9" name="TextBox 28"/>
          <p:cNvSpPr txBox="1"/>
          <p:nvPr/>
        </p:nvSpPr>
        <p:spPr>
          <a:xfrm>
            <a:off x="5212080" y="4151376"/>
            <a:ext cx="2286000" cy="475488"/>
          </a:xfrm>
          <a:prstGeom prst="rect">
            <a:avLst/>
          </a:prstGeom>
          <a:noFill/>
        </p:spPr>
        <p:txBody>
          <a:bodyPr wrap="square" anchor="ctr">
            <a:spAutoFit/>
          </a:bodyPr>
          <a:lstStyle/>
          <a:p>
            <a:pPr algn="l">
              <a:spcAft>
                <a:spcPts val="400"/>
              </a:spcAft>
            </a:pPr>
            <a:r>
              <a:rPr sz="1250" b="1">
                <a:solidFill>
                  <a:srgbClr val="F59E0B"/>
                </a:solidFill>
                <a:latin typeface="Arial"/>
              </a:rPr>
              <a:t>FAILURE MODE</a:t>
            </a:r>
          </a:p>
        </p:txBody>
      </p:sp>
      <p:sp>
        <p:nvSpPr>
          <p:cNvPr id="30" name="TextBox 29"/>
          <p:cNvSpPr txBox="1"/>
          <p:nvPr/>
        </p:nvSpPr>
        <p:spPr>
          <a:xfrm>
            <a:off x="4663440"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A service list without data flows, control intent and ownership is not an actionable blueprint.</a:t>
            </a:r>
          </a:p>
        </p:txBody>
      </p:sp>
      <p:sp>
        <p:nvSpPr>
          <p:cNvPr id="31" name="Rectangle 30"/>
          <p:cNvSpPr/>
          <p:nvPr/>
        </p:nvSpPr>
        <p:spPr>
          <a:xfrm>
            <a:off x="7973568" y="4005072"/>
            <a:ext cx="3246120" cy="2148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73568" y="4005072"/>
            <a:ext cx="91440" cy="21488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174736" y="4187952"/>
            <a:ext cx="438912" cy="438912"/>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74736" y="4187952"/>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5" name="TextBox 34"/>
          <p:cNvSpPr txBox="1"/>
          <p:nvPr/>
        </p:nvSpPr>
        <p:spPr>
          <a:xfrm>
            <a:off x="8750808" y="4151376"/>
            <a:ext cx="2286000" cy="475488"/>
          </a:xfrm>
          <a:prstGeom prst="rect">
            <a:avLst/>
          </a:prstGeom>
          <a:noFill/>
        </p:spPr>
        <p:txBody>
          <a:bodyPr wrap="square" anchor="ctr">
            <a:spAutoFit/>
          </a:bodyPr>
          <a:lstStyle/>
          <a:p>
            <a:pPr algn="l">
              <a:spcAft>
                <a:spcPts val="400"/>
              </a:spcAft>
            </a:pPr>
            <a:r>
              <a:rPr sz="1250" b="1">
                <a:solidFill>
                  <a:srgbClr val="EC711E"/>
                </a:solidFill>
                <a:latin typeface="Arial"/>
              </a:rPr>
              <a:t>PROOF</a:t>
            </a:r>
          </a:p>
        </p:txBody>
      </p:sp>
      <p:sp>
        <p:nvSpPr>
          <p:cNvPr id="36" name="TextBox 35"/>
          <p:cNvSpPr txBox="1"/>
          <p:nvPr/>
        </p:nvSpPr>
        <p:spPr>
          <a:xfrm>
            <a:off x="8202168" y="4736592"/>
            <a:ext cx="2788920" cy="1280160"/>
          </a:xfrm>
          <a:prstGeom prst="rect">
            <a:avLst/>
          </a:prstGeom>
          <a:noFill/>
        </p:spPr>
        <p:txBody>
          <a:bodyPr wrap="square" anchor="t">
            <a:spAutoFit/>
          </a:bodyPr>
          <a:lstStyle/>
          <a:p>
            <a:pPr algn="l">
              <a:spcAft>
                <a:spcPts val="400"/>
              </a:spcAft>
            </a:pPr>
            <a:r>
              <a:rPr sz="1150" b="0">
                <a:solidFill>
                  <a:srgbClr val="161B26"/>
                </a:solidFill>
                <a:latin typeface="Arial"/>
              </a:rPr>
              <a:t>Architecture diagram, control matrix, evidence source, owner, retention rule, exception and review cadence.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600</a:t>
            </a:r>
          </a:p>
        </p:txBody>
      </p:sp>
    </p:spTree>
  </p:cSld>
  <p:clrMapOvr>
    <a:masterClrMapping/>
  </p:clrMapOvr>
  <p:transition xmlns:p14="http://schemas.microsoft.com/office/powerpoint/2010/main" p14:dur="380">
    <p:fade/>
  </p:transition>
</p:sld>
</file>

<file path=ppt/slides/slide6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DOMAIN 6 · OPERATIONS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Security blueprint and audit evidence: failure diagnostic</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RECOGNISE</a:t>
            </a:r>
          </a:p>
          <a:p>
            <a:pPr algn="l">
              <a:spcAft>
                <a:spcPts val="300"/>
              </a:spcAft>
            </a:pPr>
            <a:r>
              <a:rPr sz="1050" b="0">
                <a:solidFill>
                  <a:srgbClr val="5B6372"/>
                </a:solidFill>
                <a:latin typeface="Arial"/>
              </a:rPr>
              <a:t>Observable failure condition: A service list without data flows, control intent and ownership is not an actionable blueprint.</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CONTAIN</a:t>
            </a:r>
          </a:p>
          <a:p>
            <a:pPr algn="l">
              <a:spcAft>
                <a:spcPts val="300"/>
              </a:spcAft>
            </a:pPr>
            <a:r>
              <a:rPr sz="1050" b="0">
                <a:solidFill>
                  <a:srgbClr val="5B6372"/>
                </a:solidFill>
                <a:latin typeface="Arial"/>
              </a:rPr>
              <a:t>Pause promotion, preserve evidence and reduce impact without destroying diagnostic state.</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DIAGNOSE</a:t>
            </a:r>
          </a:p>
          <a:p>
            <a:pPr algn="l">
              <a:spcAft>
                <a:spcPts val="300"/>
              </a:spcAft>
            </a:pPr>
            <a:r>
              <a:rPr sz="1050" b="0">
                <a:solidFill>
                  <a:srgbClr val="5B6372"/>
                </a:solidFill>
                <a:latin typeface="Arial"/>
              </a:rPr>
              <a:t>Trace the workflow from Classify data through Review; compare intended configuration with runtime state.</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RECOVER</a:t>
            </a:r>
          </a:p>
          <a:p>
            <a:pPr algn="l">
              <a:spcAft>
                <a:spcPts val="300"/>
              </a:spcAft>
            </a:pPr>
            <a:r>
              <a:rPr sz="1050" b="0">
                <a:solidFill>
                  <a:srgbClr val="5B6372"/>
                </a:solidFill>
                <a:latin typeface="Arial"/>
              </a:rPr>
              <a:t>Restore the last known-good state, then prove recovery with Architecture diagram, control matrix, evidence source, owner, retention rule, exception and review cadence.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601</a:t>
            </a:r>
          </a:p>
        </p:txBody>
      </p:sp>
    </p:spTree>
  </p:cSld>
  <p:clrMapOvr>
    <a:masterClrMapping/>
  </p:clrMapOvr>
  <p:transition xmlns:p14="http://schemas.microsoft.com/office/powerpoint/2010/main" p14:dur="380">
    <p:fade/>
  </p:transition>
</p:sld>
</file>

<file path=ppt/slides/slide6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DOMAIN 6 · APPLIED SCENARIO</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Security blueprint and audit evidence: worked decision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CONSTRAINT</a:t>
            </a:r>
          </a:p>
          <a:p>
            <a:pPr algn="l">
              <a:spcAft>
                <a:spcPts val="300"/>
              </a:spcAft>
            </a:pPr>
            <a:r>
              <a:rPr sz="1050" b="0">
                <a:solidFill>
                  <a:srgbClr val="5B6372"/>
                </a:solidFill>
                <a:latin typeface="Arial"/>
              </a:rPr>
              <a:t>A regulated workload needs a technical blueprint that developers, security and auditors can all execute.</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DECISION</a:t>
            </a:r>
          </a:p>
          <a:p>
            <a:pPr algn="l">
              <a:spcAft>
                <a:spcPts val="300"/>
              </a:spcAft>
            </a:pPr>
            <a:r>
              <a:rPr sz="1050" b="0">
                <a:solidFill>
                  <a:srgbClr val="5B6372"/>
                </a:solidFill>
                <a:latin typeface="Arial"/>
              </a:rPr>
              <a:t>Document trust boundaries, data classification, preventive/detective controls, logging, retention and incident responsibilities.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WHY ALTERNATIVES LOSE</a:t>
            </a:r>
          </a:p>
          <a:p>
            <a:pPr algn="l">
              <a:spcAft>
                <a:spcPts val="300"/>
              </a:spcAft>
            </a:pPr>
            <a:r>
              <a:rPr sz="1050" b="0">
                <a:solidFill>
                  <a:srgbClr val="5B6372"/>
                </a:solidFill>
                <a:latin typeface="Arial"/>
              </a:rPr>
              <a:t>Reject options that do not change the stated failure boundary: A service list without data flows, control intent and ownership is not an actionable blueprint.</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450" b="1">
                <a:solidFill>
                  <a:srgbClr val="161B26"/>
                </a:solidFill>
                <a:latin typeface="Arial"/>
              </a:rPr>
              <a:t>ACCEPTANCE TEST</a:t>
            </a:r>
          </a:p>
          <a:p>
            <a:pPr algn="l">
              <a:spcAft>
                <a:spcPts val="300"/>
              </a:spcAft>
            </a:pPr>
            <a:r>
              <a:rPr sz="1050" b="0">
                <a:solidFill>
                  <a:srgbClr val="5B6372"/>
                </a:solidFill>
                <a:latin typeface="Arial"/>
              </a:rPr>
              <a:t>The decision is complete only when this proof exists: Architecture diagram, control matrix, evidence source, owner, retention rule, exception and review cadence.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602</a:t>
            </a:r>
          </a:p>
        </p:txBody>
      </p:sp>
    </p:spTree>
  </p:cSld>
  <p:clrMapOvr>
    <a:masterClrMapping/>
  </p:clrMapOvr>
  <p:transition xmlns:p14="http://schemas.microsoft.com/office/powerpoint/2010/main" p14:dur="380">
    <p:fade/>
  </p:transition>
</p:sld>
</file>

<file path=ppt/slides/slide6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DOMAIN 6 · SERVICE BOUNDARIES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Identity at scale: architecture map</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241173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53921"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5392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319272"/>
            <a:ext cx="2173986" cy="384048"/>
          </a:xfrm>
          <a:prstGeom prst="rect">
            <a:avLst/>
          </a:prstGeom>
          <a:noFill/>
        </p:spPr>
        <p:txBody>
          <a:bodyPr wrap="square" anchor="ctr">
            <a:spAutoFit/>
          </a:bodyPr>
          <a:lstStyle/>
          <a:p>
            <a:pPr algn="ctr">
              <a:spcAft>
                <a:spcPts val="400"/>
              </a:spcAft>
            </a:pPr>
            <a:r>
              <a:rPr sz="1150" b="1">
                <a:solidFill>
                  <a:srgbClr val="1F6FEB"/>
                </a:solidFill>
                <a:latin typeface="Arial"/>
              </a:rPr>
              <a:t>TRIGGER / INPUT</a:t>
            </a:r>
          </a:p>
        </p:txBody>
      </p:sp>
      <p:sp>
        <p:nvSpPr>
          <p:cNvPr id="12" name="TextBox 11"/>
          <p:cNvSpPr txBox="1"/>
          <p:nvPr/>
        </p:nvSpPr>
        <p:spPr>
          <a:xfrm>
            <a:off x="896112"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Authenticate</a:t>
            </a:r>
          </a:p>
        </p:txBody>
      </p:sp>
      <p:sp>
        <p:nvSpPr>
          <p:cNvPr id="13" name="Rectangle 12"/>
          <p:cNvSpPr/>
          <p:nvPr/>
        </p:nvSpPr>
        <p:spPr>
          <a:xfrm>
            <a:off x="3518154"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18154" y="2148840"/>
            <a:ext cx="241173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394835"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94835"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7" name="TextBox 16"/>
          <p:cNvSpPr txBox="1"/>
          <p:nvPr/>
        </p:nvSpPr>
        <p:spPr>
          <a:xfrm>
            <a:off x="3637026" y="3319272"/>
            <a:ext cx="2173986" cy="384048"/>
          </a:xfrm>
          <a:prstGeom prst="rect">
            <a:avLst/>
          </a:prstGeom>
          <a:noFill/>
        </p:spPr>
        <p:txBody>
          <a:bodyPr wrap="square" anchor="ctr">
            <a:spAutoFit/>
          </a:bodyPr>
          <a:lstStyle/>
          <a:p>
            <a:pPr algn="ctr">
              <a:spcAft>
                <a:spcPts val="400"/>
              </a:spcAft>
            </a:pPr>
            <a:r>
              <a:rPr sz="1150" b="1">
                <a:solidFill>
                  <a:srgbClr val="10B981"/>
                </a:solidFill>
                <a:latin typeface="Arial"/>
              </a:rPr>
              <a:t>CONTROL PLANE</a:t>
            </a:r>
          </a:p>
        </p:txBody>
      </p:sp>
      <p:sp>
        <p:nvSpPr>
          <p:cNvPr id="18" name="TextBox 17"/>
          <p:cNvSpPr txBox="1"/>
          <p:nvPr/>
        </p:nvSpPr>
        <p:spPr>
          <a:xfrm>
            <a:off x="3637026"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Use permission sets, roles, session controls and access analysis; avoid long-lived IAM user keys.</a:t>
            </a:r>
          </a:p>
        </p:txBody>
      </p:sp>
      <p:sp>
        <p:nvSpPr>
          <p:cNvPr id="19" name="Rectangle 18"/>
          <p:cNvSpPr/>
          <p:nvPr/>
        </p:nvSpPr>
        <p:spPr>
          <a:xfrm>
            <a:off x="6259068"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9068" y="2148840"/>
            <a:ext cx="241173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5749"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574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3" name="TextBox 22"/>
          <p:cNvSpPr txBox="1"/>
          <p:nvPr/>
        </p:nvSpPr>
        <p:spPr>
          <a:xfrm>
            <a:off x="6377940" y="3319272"/>
            <a:ext cx="2173986" cy="384048"/>
          </a:xfrm>
          <a:prstGeom prst="rect">
            <a:avLst/>
          </a:prstGeom>
          <a:noFill/>
        </p:spPr>
        <p:txBody>
          <a:bodyPr wrap="square" anchor="ctr">
            <a:spAutoFit/>
          </a:bodyPr>
          <a:lstStyle/>
          <a:p>
            <a:pPr algn="ctr">
              <a:spcAft>
                <a:spcPts val="400"/>
              </a:spcAft>
            </a:pPr>
            <a:r>
              <a:rPr sz="1150" b="1">
                <a:solidFill>
                  <a:srgbClr val="7C3AED"/>
                </a:solidFill>
                <a:latin typeface="Arial"/>
              </a:rPr>
              <a:t>AWS SERVICES</a:t>
            </a:r>
          </a:p>
        </p:txBody>
      </p:sp>
      <p:sp>
        <p:nvSpPr>
          <p:cNvPr id="24" name="TextBox 23"/>
          <p:cNvSpPr txBox="1"/>
          <p:nvPr/>
        </p:nvSpPr>
        <p:spPr>
          <a:xfrm>
            <a:off x="6377940"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IAM Identity Center · IAM · STS</a:t>
            </a:r>
          </a:p>
        </p:txBody>
      </p:sp>
      <p:sp>
        <p:nvSpPr>
          <p:cNvPr id="25" name="Rectangle 24"/>
          <p:cNvSpPr/>
          <p:nvPr/>
        </p:nvSpPr>
        <p:spPr>
          <a:xfrm>
            <a:off x="8999982"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99982" y="2148840"/>
            <a:ext cx="2411730"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76663"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7666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9" name="TextBox 28"/>
          <p:cNvSpPr txBox="1"/>
          <p:nvPr/>
        </p:nvSpPr>
        <p:spPr>
          <a:xfrm>
            <a:off x="9118854" y="3319272"/>
            <a:ext cx="2173986" cy="384048"/>
          </a:xfrm>
          <a:prstGeom prst="rect">
            <a:avLst/>
          </a:prstGeom>
          <a:noFill/>
        </p:spPr>
        <p:txBody>
          <a:bodyPr wrap="square" anchor="ctr">
            <a:spAutoFit/>
          </a:bodyPr>
          <a:lstStyle/>
          <a:p>
            <a:pPr algn="ctr">
              <a:spcAft>
                <a:spcPts val="400"/>
              </a:spcAft>
            </a:pPr>
            <a:r>
              <a:rPr sz="1150" b="1">
                <a:solidFill>
                  <a:srgbClr val="F59E0B"/>
                </a:solidFill>
                <a:latin typeface="Arial"/>
              </a:rPr>
              <a:t>EVIDENCE BOUNDARY</a:t>
            </a:r>
          </a:p>
        </p:txBody>
      </p:sp>
      <p:sp>
        <p:nvSpPr>
          <p:cNvPr id="30" name="TextBox 29"/>
          <p:cNvSpPr txBox="1"/>
          <p:nvPr/>
        </p:nvSpPr>
        <p:spPr>
          <a:xfrm>
            <a:off x="9118854"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Identity source, permission-set version, role session, access finding and CloudTrail principal.</a:t>
            </a:r>
          </a:p>
        </p:txBody>
      </p:sp>
      <p:cxnSp>
        <p:nvCxnSpPr>
          <p:cNvPr id="31" name="Connector 30"/>
          <p:cNvCxnSpPr/>
          <p:nvPr/>
        </p:nvCxnSpPr>
        <p:spPr>
          <a:xfrm>
            <a:off x="318897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929884"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67079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C0392B"/>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603</a:t>
            </a:r>
          </a:p>
        </p:txBody>
      </p:sp>
    </p:spTree>
  </p:cSld>
  <p:clrMapOvr>
    <a:masterClrMapping/>
  </p:clrMapOvr>
  <p:transition xmlns:p14="http://schemas.microsoft.com/office/powerpoint/2010/main" p14:dur="380">
    <p:fade/>
  </p:transition>
</p:sld>
</file>

<file path=ppt/slides/slide6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DOMAIN 6 · SERVICE BOUNDARIES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700" b="1">
                <a:solidFill>
                  <a:srgbClr val="161B26"/>
                </a:solidFill>
                <a:latin typeface="Arial"/>
              </a:rPr>
              <a:t>Organizations and preventive guardrails: architecture map</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241173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53921"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5392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319272"/>
            <a:ext cx="2173986" cy="384048"/>
          </a:xfrm>
          <a:prstGeom prst="rect">
            <a:avLst/>
          </a:prstGeom>
          <a:noFill/>
        </p:spPr>
        <p:txBody>
          <a:bodyPr wrap="square" anchor="ctr">
            <a:spAutoFit/>
          </a:bodyPr>
          <a:lstStyle/>
          <a:p>
            <a:pPr algn="ctr">
              <a:spcAft>
                <a:spcPts val="400"/>
              </a:spcAft>
            </a:pPr>
            <a:r>
              <a:rPr sz="1150" b="1">
                <a:solidFill>
                  <a:srgbClr val="1F6FEB"/>
                </a:solidFill>
                <a:latin typeface="Arial"/>
              </a:rPr>
              <a:t>TRIGGER / INPUT</a:t>
            </a:r>
          </a:p>
        </p:txBody>
      </p:sp>
      <p:sp>
        <p:nvSpPr>
          <p:cNvPr id="12" name="TextBox 11"/>
          <p:cNvSpPr txBox="1"/>
          <p:nvPr/>
        </p:nvSpPr>
        <p:spPr>
          <a:xfrm>
            <a:off x="896112"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Classify account</a:t>
            </a:r>
          </a:p>
        </p:txBody>
      </p:sp>
      <p:sp>
        <p:nvSpPr>
          <p:cNvPr id="13" name="Rectangle 12"/>
          <p:cNvSpPr/>
          <p:nvPr/>
        </p:nvSpPr>
        <p:spPr>
          <a:xfrm>
            <a:off x="3518154"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18154" y="2148840"/>
            <a:ext cx="241173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394835"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94835"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7" name="TextBox 16"/>
          <p:cNvSpPr txBox="1"/>
          <p:nvPr/>
        </p:nvSpPr>
        <p:spPr>
          <a:xfrm>
            <a:off x="3637026" y="3319272"/>
            <a:ext cx="2173986" cy="384048"/>
          </a:xfrm>
          <a:prstGeom prst="rect">
            <a:avLst/>
          </a:prstGeom>
          <a:noFill/>
        </p:spPr>
        <p:txBody>
          <a:bodyPr wrap="square" anchor="ctr">
            <a:spAutoFit/>
          </a:bodyPr>
          <a:lstStyle/>
          <a:p>
            <a:pPr algn="ctr">
              <a:spcAft>
                <a:spcPts val="400"/>
              </a:spcAft>
            </a:pPr>
            <a:r>
              <a:rPr sz="1150" b="1">
                <a:solidFill>
                  <a:srgbClr val="10B981"/>
                </a:solidFill>
                <a:latin typeface="Arial"/>
              </a:rPr>
              <a:t>CONTROL PLANE</a:t>
            </a:r>
          </a:p>
        </p:txBody>
      </p:sp>
      <p:sp>
        <p:nvSpPr>
          <p:cNvPr id="18" name="TextBox 17"/>
          <p:cNvSpPr txBox="1"/>
          <p:nvPr/>
        </p:nvSpPr>
        <p:spPr>
          <a:xfrm>
            <a:off x="3637026"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Design OU structure from governance needs, test SCP impact, use deny guardrails carefully and keep break-glass access.</a:t>
            </a:r>
          </a:p>
        </p:txBody>
      </p:sp>
      <p:sp>
        <p:nvSpPr>
          <p:cNvPr id="19" name="Rectangle 18"/>
          <p:cNvSpPr/>
          <p:nvPr/>
        </p:nvSpPr>
        <p:spPr>
          <a:xfrm>
            <a:off x="6259068"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9068" y="2148840"/>
            <a:ext cx="241173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5749"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574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3" name="TextBox 22"/>
          <p:cNvSpPr txBox="1"/>
          <p:nvPr/>
        </p:nvSpPr>
        <p:spPr>
          <a:xfrm>
            <a:off x="6377940" y="3319272"/>
            <a:ext cx="2173986" cy="384048"/>
          </a:xfrm>
          <a:prstGeom prst="rect">
            <a:avLst/>
          </a:prstGeom>
          <a:noFill/>
        </p:spPr>
        <p:txBody>
          <a:bodyPr wrap="square" anchor="ctr">
            <a:spAutoFit/>
          </a:bodyPr>
          <a:lstStyle/>
          <a:p>
            <a:pPr algn="ctr">
              <a:spcAft>
                <a:spcPts val="400"/>
              </a:spcAft>
            </a:pPr>
            <a:r>
              <a:rPr sz="1150" b="1">
                <a:solidFill>
                  <a:srgbClr val="7C3AED"/>
                </a:solidFill>
                <a:latin typeface="Arial"/>
              </a:rPr>
              <a:t>AWS SERVICES</a:t>
            </a:r>
          </a:p>
        </p:txBody>
      </p:sp>
      <p:sp>
        <p:nvSpPr>
          <p:cNvPr id="24" name="TextBox 23"/>
          <p:cNvSpPr txBox="1"/>
          <p:nvPr/>
        </p:nvSpPr>
        <p:spPr>
          <a:xfrm>
            <a:off x="6377940"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Organizations · SCPs · Control Tower</a:t>
            </a:r>
          </a:p>
        </p:txBody>
      </p:sp>
      <p:sp>
        <p:nvSpPr>
          <p:cNvPr id="25" name="Rectangle 24"/>
          <p:cNvSpPr/>
          <p:nvPr/>
        </p:nvSpPr>
        <p:spPr>
          <a:xfrm>
            <a:off x="8999982"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99982" y="2148840"/>
            <a:ext cx="2411730"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76663"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7666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9" name="TextBox 28"/>
          <p:cNvSpPr txBox="1"/>
          <p:nvPr/>
        </p:nvSpPr>
        <p:spPr>
          <a:xfrm>
            <a:off x="9118854" y="3319272"/>
            <a:ext cx="2173986" cy="384048"/>
          </a:xfrm>
          <a:prstGeom prst="rect">
            <a:avLst/>
          </a:prstGeom>
          <a:noFill/>
        </p:spPr>
        <p:txBody>
          <a:bodyPr wrap="square" anchor="ctr">
            <a:spAutoFit/>
          </a:bodyPr>
          <a:lstStyle/>
          <a:p>
            <a:pPr algn="ctr">
              <a:spcAft>
                <a:spcPts val="400"/>
              </a:spcAft>
            </a:pPr>
            <a:r>
              <a:rPr sz="1150" b="1">
                <a:solidFill>
                  <a:srgbClr val="F59E0B"/>
                </a:solidFill>
                <a:latin typeface="Arial"/>
              </a:rPr>
              <a:t>EVIDENCE BOUNDARY</a:t>
            </a:r>
          </a:p>
        </p:txBody>
      </p:sp>
      <p:sp>
        <p:nvSpPr>
          <p:cNvPr id="30" name="TextBox 29"/>
          <p:cNvSpPr txBox="1"/>
          <p:nvPr/>
        </p:nvSpPr>
        <p:spPr>
          <a:xfrm>
            <a:off x="9118854"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OU hierarchy, SCP version, policy simulator result, exception and affected-account inventory.</a:t>
            </a:r>
          </a:p>
        </p:txBody>
      </p:sp>
      <p:cxnSp>
        <p:nvCxnSpPr>
          <p:cNvPr id="31" name="Connector 30"/>
          <p:cNvCxnSpPr/>
          <p:nvPr/>
        </p:nvCxnSpPr>
        <p:spPr>
          <a:xfrm>
            <a:off x="318897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929884"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67079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C0392B"/>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604</a:t>
            </a:r>
          </a:p>
        </p:txBody>
      </p:sp>
    </p:spTree>
  </p:cSld>
  <p:clrMapOvr>
    <a:masterClrMapping/>
  </p:clrMapOvr>
  <p:transition xmlns:p14="http://schemas.microsoft.com/office/powerpoint/2010/main" p14:dur="380">
    <p:fade/>
  </p:transition>
</p:sld>
</file>

<file path=ppt/slides/slide6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DOMAIN 6 · SERVICE BOUNDARIES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Secrets, keys and data protection: architecture map</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241173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53921"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5392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319272"/>
            <a:ext cx="2173986" cy="384048"/>
          </a:xfrm>
          <a:prstGeom prst="rect">
            <a:avLst/>
          </a:prstGeom>
          <a:noFill/>
        </p:spPr>
        <p:txBody>
          <a:bodyPr wrap="square" anchor="ctr">
            <a:spAutoFit/>
          </a:bodyPr>
          <a:lstStyle/>
          <a:p>
            <a:pPr algn="ctr">
              <a:spcAft>
                <a:spcPts val="400"/>
              </a:spcAft>
            </a:pPr>
            <a:r>
              <a:rPr sz="1150" b="1">
                <a:solidFill>
                  <a:srgbClr val="1F6FEB"/>
                </a:solidFill>
                <a:latin typeface="Arial"/>
              </a:rPr>
              <a:t>TRIGGER / INPUT</a:t>
            </a:r>
          </a:p>
        </p:txBody>
      </p:sp>
      <p:sp>
        <p:nvSpPr>
          <p:cNvPr id="12" name="TextBox 11"/>
          <p:cNvSpPr txBox="1"/>
          <p:nvPr/>
        </p:nvSpPr>
        <p:spPr>
          <a:xfrm>
            <a:off x="896112"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Generate or store secret</a:t>
            </a:r>
          </a:p>
        </p:txBody>
      </p:sp>
      <p:sp>
        <p:nvSpPr>
          <p:cNvPr id="13" name="Rectangle 12"/>
          <p:cNvSpPr/>
          <p:nvPr/>
        </p:nvSpPr>
        <p:spPr>
          <a:xfrm>
            <a:off x="3518154"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18154" y="2148840"/>
            <a:ext cx="241173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394835"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94835"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7" name="TextBox 16"/>
          <p:cNvSpPr txBox="1"/>
          <p:nvPr/>
        </p:nvSpPr>
        <p:spPr>
          <a:xfrm>
            <a:off x="3637026" y="3319272"/>
            <a:ext cx="2173986" cy="384048"/>
          </a:xfrm>
          <a:prstGeom prst="rect">
            <a:avLst/>
          </a:prstGeom>
          <a:noFill/>
        </p:spPr>
        <p:txBody>
          <a:bodyPr wrap="square" anchor="ctr">
            <a:spAutoFit/>
          </a:bodyPr>
          <a:lstStyle/>
          <a:p>
            <a:pPr algn="ctr">
              <a:spcAft>
                <a:spcPts val="400"/>
              </a:spcAft>
            </a:pPr>
            <a:r>
              <a:rPr sz="1150" b="1">
                <a:solidFill>
                  <a:srgbClr val="10B981"/>
                </a:solidFill>
                <a:latin typeface="Arial"/>
              </a:rPr>
              <a:t>CONTROL PLANE</a:t>
            </a:r>
          </a:p>
        </p:txBody>
      </p:sp>
      <p:sp>
        <p:nvSpPr>
          <p:cNvPr id="18" name="TextBox 17"/>
          <p:cNvSpPr txBox="1"/>
          <p:nvPr/>
        </p:nvSpPr>
        <p:spPr>
          <a:xfrm>
            <a:off x="3637026"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Separate key administration from use, scope resource policies, rotate secrets safely and plan multi-Region recovery.</a:t>
            </a:r>
          </a:p>
        </p:txBody>
      </p:sp>
      <p:sp>
        <p:nvSpPr>
          <p:cNvPr id="19" name="Rectangle 18"/>
          <p:cNvSpPr/>
          <p:nvPr/>
        </p:nvSpPr>
        <p:spPr>
          <a:xfrm>
            <a:off x="6259068"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9068" y="2148840"/>
            <a:ext cx="241173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5749"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574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3" name="TextBox 22"/>
          <p:cNvSpPr txBox="1"/>
          <p:nvPr/>
        </p:nvSpPr>
        <p:spPr>
          <a:xfrm>
            <a:off x="6377940" y="3319272"/>
            <a:ext cx="2173986" cy="384048"/>
          </a:xfrm>
          <a:prstGeom prst="rect">
            <a:avLst/>
          </a:prstGeom>
          <a:noFill/>
        </p:spPr>
        <p:txBody>
          <a:bodyPr wrap="square" anchor="ctr">
            <a:spAutoFit/>
          </a:bodyPr>
          <a:lstStyle/>
          <a:p>
            <a:pPr algn="ctr">
              <a:spcAft>
                <a:spcPts val="400"/>
              </a:spcAft>
            </a:pPr>
            <a:r>
              <a:rPr sz="1150" b="1">
                <a:solidFill>
                  <a:srgbClr val="7C3AED"/>
                </a:solidFill>
                <a:latin typeface="Arial"/>
              </a:rPr>
              <a:t>AWS SERVICES</a:t>
            </a:r>
          </a:p>
        </p:txBody>
      </p:sp>
      <p:sp>
        <p:nvSpPr>
          <p:cNvPr id="24" name="TextBox 23"/>
          <p:cNvSpPr txBox="1"/>
          <p:nvPr/>
        </p:nvSpPr>
        <p:spPr>
          <a:xfrm>
            <a:off x="6377940"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KMS · Secrets Manager · Parameter Store · ACM</a:t>
            </a:r>
          </a:p>
        </p:txBody>
      </p:sp>
      <p:sp>
        <p:nvSpPr>
          <p:cNvPr id="25" name="Rectangle 24"/>
          <p:cNvSpPr/>
          <p:nvPr/>
        </p:nvSpPr>
        <p:spPr>
          <a:xfrm>
            <a:off x="8999982"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99982" y="2148840"/>
            <a:ext cx="2411730"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76663"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7666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9" name="TextBox 28"/>
          <p:cNvSpPr txBox="1"/>
          <p:nvPr/>
        </p:nvSpPr>
        <p:spPr>
          <a:xfrm>
            <a:off x="9118854" y="3319272"/>
            <a:ext cx="2173986" cy="384048"/>
          </a:xfrm>
          <a:prstGeom prst="rect">
            <a:avLst/>
          </a:prstGeom>
          <a:noFill/>
        </p:spPr>
        <p:txBody>
          <a:bodyPr wrap="square" anchor="ctr">
            <a:spAutoFit/>
          </a:bodyPr>
          <a:lstStyle/>
          <a:p>
            <a:pPr algn="ctr">
              <a:spcAft>
                <a:spcPts val="400"/>
              </a:spcAft>
            </a:pPr>
            <a:r>
              <a:rPr sz="1150" b="1">
                <a:solidFill>
                  <a:srgbClr val="F59E0B"/>
                </a:solidFill>
                <a:latin typeface="Arial"/>
              </a:rPr>
              <a:t>EVIDENCE BOUNDARY</a:t>
            </a:r>
          </a:p>
        </p:txBody>
      </p:sp>
      <p:sp>
        <p:nvSpPr>
          <p:cNvPr id="30" name="TextBox 29"/>
          <p:cNvSpPr txBox="1"/>
          <p:nvPr/>
        </p:nvSpPr>
        <p:spPr>
          <a:xfrm>
            <a:off x="9118854"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Key policy, grant, encryption context, secret version stages, rotation result and access trail.</a:t>
            </a:r>
          </a:p>
        </p:txBody>
      </p:sp>
      <p:cxnSp>
        <p:nvCxnSpPr>
          <p:cNvPr id="31" name="Connector 30"/>
          <p:cNvCxnSpPr/>
          <p:nvPr/>
        </p:nvCxnSpPr>
        <p:spPr>
          <a:xfrm>
            <a:off x="318897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929884"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67079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C0392B"/>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605</a:t>
            </a:r>
          </a:p>
        </p:txBody>
      </p:sp>
    </p:spTree>
  </p:cSld>
  <p:clrMapOvr>
    <a:masterClrMapping/>
  </p:clrMapOvr>
  <p:transition xmlns:p14="http://schemas.microsoft.com/office/powerpoint/2010/main" p14:dur="380">
    <p:fade/>
  </p:transition>
</p:sld>
</file>

<file path=ppt/slides/slide6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DOMAIN 6 · SERVICE BOUNDARIES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Config rules and conformance: architecture map</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241173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53921"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5392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319272"/>
            <a:ext cx="2173986" cy="384048"/>
          </a:xfrm>
          <a:prstGeom prst="rect">
            <a:avLst/>
          </a:prstGeom>
          <a:noFill/>
        </p:spPr>
        <p:txBody>
          <a:bodyPr wrap="square" anchor="ctr">
            <a:spAutoFit/>
          </a:bodyPr>
          <a:lstStyle/>
          <a:p>
            <a:pPr algn="ctr">
              <a:spcAft>
                <a:spcPts val="400"/>
              </a:spcAft>
            </a:pPr>
            <a:r>
              <a:rPr sz="1150" b="1">
                <a:solidFill>
                  <a:srgbClr val="1F6FEB"/>
                </a:solidFill>
                <a:latin typeface="Arial"/>
              </a:rPr>
              <a:t>TRIGGER / INPUT</a:t>
            </a:r>
          </a:p>
        </p:txBody>
      </p:sp>
      <p:sp>
        <p:nvSpPr>
          <p:cNvPr id="12" name="TextBox 11"/>
          <p:cNvSpPr txBox="1"/>
          <p:nvPr/>
        </p:nvSpPr>
        <p:spPr>
          <a:xfrm>
            <a:off x="896112"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Record configuration</a:t>
            </a:r>
          </a:p>
        </p:txBody>
      </p:sp>
      <p:sp>
        <p:nvSpPr>
          <p:cNvPr id="13" name="Rectangle 12"/>
          <p:cNvSpPr/>
          <p:nvPr/>
        </p:nvSpPr>
        <p:spPr>
          <a:xfrm>
            <a:off x="3518154"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18154" y="2148840"/>
            <a:ext cx="241173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394835"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94835"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7" name="TextBox 16"/>
          <p:cNvSpPr txBox="1"/>
          <p:nvPr/>
        </p:nvSpPr>
        <p:spPr>
          <a:xfrm>
            <a:off x="3637026" y="3319272"/>
            <a:ext cx="2173986" cy="384048"/>
          </a:xfrm>
          <a:prstGeom prst="rect">
            <a:avLst/>
          </a:prstGeom>
          <a:noFill/>
        </p:spPr>
        <p:txBody>
          <a:bodyPr wrap="square" anchor="ctr">
            <a:spAutoFit/>
          </a:bodyPr>
          <a:lstStyle/>
          <a:p>
            <a:pPr algn="ctr">
              <a:spcAft>
                <a:spcPts val="400"/>
              </a:spcAft>
            </a:pPr>
            <a:r>
              <a:rPr sz="1150" b="1">
                <a:solidFill>
                  <a:srgbClr val="10B981"/>
                </a:solidFill>
                <a:latin typeface="Arial"/>
              </a:rPr>
              <a:t>CONTROL PLANE</a:t>
            </a:r>
          </a:p>
        </p:txBody>
      </p:sp>
      <p:sp>
        <p:nvSpPr>
          <p:cNvPr id="18" name="TextBox 17"/>
          <p:cNvSpPr txBox="1"/>
          <p:nvPr/>
        </p:nvSpPr>
        <p:spPr>
          <a:xfrm>
            <a:off x="3637026"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Use managed/custom rules, aggregators, evidence retention and remediation with exception tagging.</a:t>
            </a:r>
          </a:p>
        </p:txBody>
      </p:sp>
      <p:sp>
        <p:nvSpPr>
          <p:cNvPr id="19" name="Rectangle 18"/>
          <p:cNvSpPr/>
          <p:nvPr/>
        </p:nvSpPr>
        <p:spPr>
          <a:xfrm>
            <a:off x="6259068"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9068" y="2148840"/>
            <a:ext cx="241173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5749"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574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3" name="TextBox 22"/>
          <p:cNvSpPr txBox="1"/>
          <p:nvPr/>
        </p:nvSpPr>
        <p:spPr>
          <a:xfrm>
            <a:off x="6377940" y="3319272"/>
            <a:ext cx="2173986" cy="384048"/>
          </a:xfrm>
          <a:prstGeom prst="rect">
            <a:avLst/>
          </a:prstGeom>
          <a:noFill/>
        </p:spPr>
        <p:txBody>
          <a:bodyPr wrap="square" anchor="ctr">
            <a:spAutoFit/>
          </a:bodyPr>
          <a:lstStyle/>
          <a:p>
            <a:pPr algn="ctr">
              <a:spcAft>
                <a:spcPts val="400"/>
              </a:spcAft>
            </a:pPr>
            <a:r>
              <a:rPr sz="1150" b="1">
                <a:solidFill>
                  <a:srgbClr val="7C3AED"/>
                </a:solidFill>
                <a:latin typeface="Arial"/>
              </a:rPr>
              <a:t>AWS SERVICES</a:t>
            </a:r>
          </a:p>
        </p:txBody>
      </p:sp>
      <p:sp>
        <p:nvSpPr>
          <p:cNvPr id="24" name="TextBox 23"/>
          <p:cNvSpPr txBox="1"/>
          <p:nvPr/>
        </p:nvSpPr>
        <p:spPr>
          <a:xfrm>
            <a:off x="6377940"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AWS Config · Conformance Packs · Systems Manager</a:t>
            </a:r>
          </a:p>
        </p:txBody>
      </p:sp>
      <p:sp>
        <p:nvSpPr>
          <p:cNvPr id="25" name="Rectangle 24"/>
          <p:cNvSpPr/>
          <p:nvPr/>
        </p:nvSpPr>
        <p:spPr>
          <a:xfrm>
            <a:off x="8999982"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99982" y="2148840"/>
            <a:ext cx="2411730"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76663"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7666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9" name="TextBox 28"/>
          <p:cNvSpPr txBox="1"/>
          <p:nvPr/>
        </p:nvSpPr>
        <p:spPr>
          <a:xfrm>
            <a:off x="9118854" y="3319272"/>
            <a:ext cx="2173986" cy="384048"/>
          </a:xfrm>
          <a:prstGeom prst="rect">
            <a:avLst/>
          </a:prstGeom>
          <a:noFill/>
        </p:spPr>
        <p:txBody>
          <a:bodyPr wrap="square" anchor="ctr">
            <a:spAutoFit/>
          </a:bodyPr>
          <a:lstStyle/>
          <a:p>
            <a:pPr algn="ctr">
              <a:spcAft>
                <a:spcPts val="400"/>
              </a:spcAft>
            </a:pPr>
            <a:r>
              <a:rPr sz="1150" b="1">
                <a:solidFill>
                  <a:srgbClr val="F59E0B"/>
                </a:solidFill>
                <a:latin typeface="Arial"/>
              </a:rPr>
              <a:t>EVIDENCE BOUNDARY</a:t>
            </a:r>
          </a:p>
        </p:txBody>
      </p:sp>
      <p:sp>
        <p:nvSpPr>
          <p:cNvPr id="30" name="TextBox 29"/>
          <p:cNvSpPr txBox="1"/>
          <p:nvPr/>
        </p:nvSpPr>
        <p:spPr>
          <a:xfrm>
            <a:off x="9118854"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Configuration timeline, rule evaluation, conformance score, exception, remediation execution and recheck.</a:t>
            </a:r>
          </a:p>
        </p:txBody>
      </p:sp>
      <p:cxnSp>
        <p:nvCxnSpPr>
          <p:cNvPr id="31" name="Connector 30"/>
          <p:cNvCxnSpPr/>
          <p:nvPr/>
        </p:nvCxnSpPr>
        <p:spPr>
          <a:xfrm>
            <a:off x="318897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929884"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67079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C0392B"/>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606</a:t>
            </a:r>
          </a:p>
        </p:txBody>
      </p:sp>
    </p:spTree>
  </p:cSld>
  <p:clrMapOvr>
    <a:masterClrMapping/>
  </p:clrMapOvr>
  <p:transition xmlns:p14="http://schemas.microsoft.com/office/powerpoint/2010/main" p14:dur="380">
    <p:fade/>
  </p:transition>
</p:sld>
</file>

<file path=ppt/slides/slide6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DOMAIN 6 · SERVICE BOUNDARIES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Threat detection and investigation: architecture map</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241173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53921"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5392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319272"/>
            <a:ext cx="2173986" cy="384048"/>
          </a:xfrm>
          <a:prstGeom prst="rect">
            <a:avLst/>
          </a:prstGeom>
          <a:noFill/>
        </p:spPr>
        <p:txBody>
          <a:bodyPr wrap="square" anchor="ctr">
            <a:spAutoFit/>
          </a:bodyPr>
          <a:lstStyle/>
          <a:p>
            <a:pPr algn="ctr">
              <a:spcAft>
                <a:spcPts val="400"/>
              </a:spcAft>
            </a:pPr>
            <a:r>
              <a:rPr sz="1150" b="1">
                <a:solidFill>
                  <a:srgbClr val="1F6FEB"/>
                </a:solidFill>
                <a:latin typeface="Arial"/>
              </a:rPr>
              <a:t>TRIGGER / INPUT</a:t>
            </a:r>
          </a:p>
        </p:txBody>
      </p:sp>
      <p:sp>
        <p:nvSpPr>
          <p:cNvPr id="12" name="TextBox 11"/>
          <p:cNvSpPr txBox="1"/>
          <p:nvPr/>
        </p:nvSpPr>
        <p:spPr>
          <a:xfrm>
            <a:off x="896112"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Detect</a:t>
            </a:r>
          </a:p>
        </p:txBody>
      </p:sp>
      <p:sp>
        <p:nvSpPr>
          <p:cNvPr id="13" name="Rectangle 12"/>
          <p:cNvSpPr/>
          <p:nvPr/>
        </p:nvSpPr>
        <p:spPr>
          <a:xfrm>
            <a:off x="3518154"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18154" y="2148840"/>
            <a:ext cx="241173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394835"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94835"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7" name="TextBox 16"/>
          <p:cNvSpPr txBox="1"/>
          <p:nvPr/>
        </p:nvSpPr>
        <p:spPr>
          <a:xfrm>
            <a:off x="3637026" y="3319272"/>
            <a:ext cx="2173986" cy="384048"/>
          </a:xfrm>
          <a:prstGeom prst="rect">
            <a:avLst/>
          </a:prstGeom>
          <a:noFill/>
        </p:spPr>
        <p:txBody>
          <a:bodyPr wrap="square" anchor="ctr">
            <a:spAutoFit/>
          </a:bodyPr>
          <a:lstStyle/>
          <a:p>
            <a:pPr algn="ctr">
              <a:spcAft>
                <a:spcPts val="400"/>
              </a:spcAft>
            </a:pPr>
            <a:r>
              <a:rPr sz="1150" b="1">
                <a:solidFill>
                  <a:srgbClr val="10B981"/>
                </a:solidFill>
                <a:latin typeface="Arial"/>
              </a:rPr>
              <a:t>CONTROL PLANE</a:t>
            </a:r>
          </a:p>
        </p:txBody>
      </p:sp>
      <p:sp>
        <p:nvSpPr>
          <p:cNvPr id="18" name="TextBox 17"/>
          <p:cNvSpPr txBox="1"/>
          <p:nvPr/>
        </p:nvSpPr>
        <p:spPr>
          <a:xfrm>
            <a:off x="3637026"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Delegate administration, centralize findings, normalize severity, enrich with ownership and automate only well-understood responses.</a:t>
            </a:r>
          </a:p>
        </p:txBody>
      </p:sp>
      <p:sp>
        <p:nvSpPr>
          <p:cNvPr id="19" name="Rectangle 18"/>
          <p:cNvSpPr/>
          <p:nvPr/>
        </p:nvSpPr>
        <p:spPr>
          <a:xfrm>
            <a:off x="6259068"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9068" y="2148840"/>
            <a:ext cx="241173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5749"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574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3" name="TextBox 22"/>
          <p:cNvSpPr txBox="1"/>
          <p:nvPr/>
        </p:nvSpPr>
        <p:spPr>
          <a:xfrm>
            <a:off x="6377940" y="3319272"/>
            <a:ext cx="2173986" cy="384048"/>
          </a:xfrm>
          <a:prstGeom prst="rect">
            <a:avLst/>
          </a:prstGeom>
          <a:noFill/>
        </p:spPr>
        <p:txBody>
          <a:bodyPr wrap="square" anchor="ctr">
            <a:spAutoFit/>
          </a:bodyPr>
          <a:lstStyle/>
          <a:p>
            <a:pPr algn="ctr">
              <a:spcAft>
                <a:spcPts val="400"/>
              </a:spcAft>
            </a:pPr>
            <a:r>
              <a:rPr sz="1150" b="1">
                <a:solidFill>
                  <a:srgbClr val="7C3AED"/>
                </a:solidFill>
                <a:latin typeface="Arial"/>
              </a:rPr>
              <a:t>AWS SERVICES</a:t>
            </a:r>
          </a:p>
        </p:txBody>
      </p:sp>
      <p:sp>
        <p:nvSpPr>
          <p:cNvPr id="24" name="TextBox 23"/>
          <p:cNvSpPr txBox="1"/>
          <p:nvPr/>
        </p:nvSpPr>
        <p:spPr>
          <a:xfrm>
            <a:off x="6377940"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GuardDuty · Security Hub · Detective · Inspector</a:t>
            </a:r>
          </a:p>
        </p:txBody>
      </p:sp>
      <p:sp>
        <p:nvSpPr>
          <p:cNvPr id="25" name="Rectangle 24"/>
          <p:cNvSpPr/>
          <p:nvPr/>
        </p:nvSpPr>
        <p:spPr>
          <a:xfrm>
            <a:off x="8999982"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99982" y="2148840"/>
            <a:ext cx="2411730"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76663"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7666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9" name="TextBox 28"/>
          <p:cNvSpPr txBox="1"/>
          <p:nvPr/>
        </p:nvSpPr>
        <p:spPr>
          <a:xfrm>
            <a:off x="9118854" y="3319272"/>
            <a:ext cx="2173986" cy="384048"/>
          </a:xfrm>
          <a:prstGeom prst="rect">
            <a:avLst/>
          </a:prstGeom>
          <a:noFill/>
        </p:spPr>
        <p:txBody>
          <a:bodyPr wrap="square" anchor="ctr">
            <a:spAutoFit/>
          </a:bodyPr>
          <a:lstStyle/>
          <a:p>
            <a:pPr algn="ctr">
              <a:spcAft>
                <a:spcPts val="400"/>
              </a:spcAft>
            </a:pPr>
            <a:r>
              <a:rPr sz="1150" b="1">
                <a:solidFill>
                  <a:srgbClr val="F59E0B"/>
                </a:solidFill>
                <a:latin typeface="Arial"/>
              </a:rPr>
              <a:t>EVIDENCE BOUNDARY</a:t>
            </a:r>
          </a:p>
        </p:txBody>
      </p:sp>
      <p:sp>
        <p:nvSpPr>
          <p:cNvPr id="30" name="TextBox 29"/>
          <p:cNvSpPr txBox="1"/>
          <p:nvPr/>
        </p:nvSpPr>
        <p:spPr>
          <a:xfrm>
            <a:off x="9118854"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Finding ID, affected resource, severity, vulnerability, graph evidence, workflow status and response.</a:t>
            </a:r>
          </a:p>
        </p:txBody>
      </p:sp>
      <p:cxnSp>
        <p:nvCxnSpPr>
          <p:cNvPr id="31" name="Connector 30"/>
          <p:cNvCxnSpPr/>
          <p:nvPr/>
        </p:nvCxnSpPr>
        <p:spPr>
          <a:xfrm>
            <a:off x="318897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929884"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67079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C0392B"/>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607</a:t>
            </a:r>
          </a:p>
        </p:txBody>
      </p:sp>
    </p:spTree>
  </p:cSld>
  <p:clrMapOvr>
    <a:masterClrMapping/>
  </p:clrMapOvr>
  <p:transition xmlns:p14="http://schemas.microsoft.com/office/powerpoint/2010/main" p14:dur="380">
    <p:fade/>
  </p:transition>
</p:sld>
</file>

<file path=ppt/slides/slide6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DOMAIN 6 · SERVICE BOUNDARIES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Edge and network protection: architecture map</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241173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53921"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5392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319272"/>
            <a:ext cx="2173986" cy="384048"/>
          </a:xfrm>
          <a:prstGeom prst="rect">
            <a:avLst/>
          </a:prstGeom>
          <a:noFill/>
        </p:spPr>
        <p:txBody>
          <a:bodyPr wrap="square" anchor="ctr">
            <a:spAutoFit/>
          </a:bodyPr>
          <a:lstStyle/>
          <a:p>
            <a:pPr algn="ctr">
              <a:spcAft>
                <a:spcPts val="400"/>
              </a:spcAft>
            </a:pPr>
            <a:r>
              <a:rPr sz="1150" b="1">
                <a:solidFill>
                  <a:srgbClr val="1F6FEB"/>
                </a:solidFill>
                <a:latin typeface="Arial"/>
              </a:rPr>
              <a:t>TRIGGER / INPUT</a:t>
            </a:r>
          </a:p>
        </p:txBody>
      </p:sp>
      <p:sp>
        <p:nvSpPr>
          <p:cNvPr id="12" name="TextBox 11"/>
          <p:cNvSpPr txBox="1"/>
          <p:nvPr/>
        </p:nvSpPr>
        <p:spPr>
          <a:xfrm>
            <a:off x="896112"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Observe traffic</a:t>
            </a:r>
          </a:p>
        </p:txBody>
      </p:sp>
      <p:sp>
        <p:nvSpPr>
          <p:cNvPr id="13" name="Rectangle 12"/>
          <p:cNvSpPr/>
          <p:nvPr/>
        </p:nvSpPr>
        <p:spPr>
          <a:xfrm>
            <a:off x="3518154"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18154" y="2148840"/>
            <a:ext cx="241173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394835"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94835"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7" name="TextBox 16"/>
          <p:cNvSpPr txBox="1"/>
          <p:nvPr/>
        </p:nvSpPr>
        <p:spPr>
          <a:xfrm>
            <a:off x="3637026" y="3319272"/>
            <a:ext cx="2173986" cy="384048"/>
          </a:xfrm>
          <a:prstGeom prst="rect">
            <a:avLst/>
          </a:prstGeom>
          <a:noFill/>
        </p:spPr>
        <p:txBody>
          <a:bodyPr wrap="square" anchor="ctr">
            <a:spAutoFit/>
          </a:bodyPr>
          <a:lstStyle/>
          <a:p>
            <a:pPr algn="ctr">
              <a:spcAft>
                <a:spcPts val="400"/>
              </a:spcAft>
            </a:pPr>
            <a:r>
              <a:rPr sz="1150" b="1">
                <a:solidFill>
                  <a:srgbClr val="10B981"/>
                </a:solidFill>
                <a:latin typeface="Arial"/>
              </a:rPr>
              <a:t>CONTROL PLANE</a:t>
            </a:r>
          </a:p>
        </p:txBody>
      </p:sp>
      <p:sp>
        <p:nvSpPr>
          <p:cNvPr id="18" name="TextBox 17"/>
          <p:cNvSpPr txBox="1"/>
          <p:nvPr/>
        </p:nvSpPr>
        <p:spPr>
          <a:xfrm>
            <a:off x="3637026"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Use managed rules in count mode first, central policies, rate limits, logging and exception workflows.</a:t>
            </a:r>
          </a:p>
        </p:txBody>
      </p:sp>
      <p:sp>
        <p:nvSpPr>
          <p:cNvPr id="19" name="Rectangle 18"/>
          <p:cNvSpPr/>
          <p:nvPr/>
        </p:nvSpPr>
        <p:spPr>
          <a:xfrm>
            <a:off x="6259068"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9068" y="2148840"/>
            <a:ext cx="241173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5749"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574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3" name="TextBox 22"/>
          <p:cNvSpPr txBox="1"/>
          <p:nvPr/>
        </p:nvSpPr>
        <p:spPr>
          <a:xfrm>
            <a:off x="6377940" y="3319272"/>
            <a:ext cx="2173986" cy="384048"/>
          </a:xfrm>
          <a:prstGeom prst="rect">
            <a:avLst/>
          </a:prstGeom>
          <a:noFill/>
        </p:spPr>
        <p:txBody>
          <a:bodyPr wrap="square" anchor="ctr">
            <a:spAutoFit/>
          </a:bodyPr>
          <a:lstStyle/>
          <a:p>
            <a:pPr algn="ctr">
              <a:spcAft>
                <a:spcPts val="400"/>
              </a:spcAft>
            </a:pPr>
            <a:r>
              <a:rPr sz="1150" b="1">
                <a:solidFill>
                  <a:srgbClr val="7C3AED"/>
                </a:solidFill>
                <a:latin typeface="Arial"/>
              </a:rPr>
              <a:t>AWS SERVICES</a:t>
            </a:r>
          </a:p>
        </p:txBody>
      </p:sp>
      <p:sp>
        <p:nvSpPr>
          <p:cNvPr id="24" name="TextBox 23"/>
          <p:cNvSpPr txBox="1"/>
          <p:nvPr/>
        </p:nvSpPr>
        <p:spPr>
          <a:xfrm>
            <a:off x="6377940"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WAF · Firewall Manager · Shield · Network Firewall</a:t>
            </a:r>
          </a:p>
        </p:txBody>
      </p:sp>
      <p:sp>
        <p:nvSpPr>
          <p:cNvPr id="25" name="Rectangle 24"/>
          <p:cNvSpPr/>
          <p:nvPr/>
        </p:nvSpPr>
        <p:spPr>
          <a:xfrm>
            <a:off x="8999982"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99982" y="2148840"/>
            <a:ext cx="2411730"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76663"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7666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9" name="TextBox 28"/>
          <p:cNvSpPr txBox="1"/>
          <p:nvPr/>
        </p:nvSpPr>
        <p:spPr>
          <a:xfrm>
            <a:off x="9118854" y="3319272"/>
            <a:ext cx="2173986" cy="384048"/>
          </a:xfrm>
          <a:prstGeom prst="rect">
            <a:avLst/>
          </a:prstGeom>
          <a:noFill/>
        </p:spPr>
        <p:txBody>
          <a:bodyPr wrap="square" anchor="ctr">
            <a:spAutoFit/>
          </a:bodyPr>
          <a:lstStyle/>
          <a:p>
            <a:pPr algn="ctr">
              <a:spcAft>
                <a:spcPts val="400"/>
              </a:spcAft>
            </a:pPr>
            <a:r>
              <a:rPr sz="1150" b="1">
                <a:solidFill>
                  <a:srgbClr val="F59E0B"/>
                </a:solidFill>
                <a:latin typeface="Arial"/>
              </a:rPr>
              <a:t>EVIDENCE BOUNDARY</a:t>
            </a:r>
          </a:p>
        </p:txBody>
      </p:sp>
      <p:sp>
        <p:nvSpPr>
          <p:cNvPr id="30" name="TextBox 29"/>
          <p:cNvSpPr txBox="1"/>
          <p:nvPr/>
        </p:nvSpPr>
        <p:spPr>
          <a:xfrm>
            <a:off x="9118854"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Policy version, sampled request, rule action, log destination, exception and rollout scope.</a:t>
            </a:r>
          </a:p>
        </p:txBody>
      </p:sp>
      <p:cxnSp>
        <p:nvCxnSpPr>
          <p:cNvPr id="31" name="Connector 30"/>
          <p:cNvCxnSpPr/>
          <p:nvPr/>
        </p:nvCxnSpPr>
        <p:spPr>
          <a:xfrm>
            <a:off x="318897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929884"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67079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C0392B"/>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608</a:t>
            </a:r>
          </a:p>
        </p:txBody>
      </p:sp>
    </p:spTree>
  </p:cSld>
  <p:clrMapOvr>
    <a:masterClrMapping/>
  </p:clrMapOvr>
  <p:transition xmlns:p14="http://schemas.microsoft.com/office/powerpoint/2010/main" p14:dur="380">
    <p:fade/>
  </p:transition>
</p:sld>
</file>

<file path=ppt/slides/slide6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DOMAIN 6 · SERVICE BOUNDARIES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Security blueprint and audit evidence: architecture map</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241173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53921" y="2532888"/>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53921"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1</a:t>
            </a:r>
          </a:p>
        </p:txBody>
      </p:sp>
      <p:sp>
        <p:nvSpPr>
          <p:cNvPr id="11" name="TextBox 10"/>
          <p:cNvSpPr txBox="1"/>
          <p:nvPr/>
        </p:nvSpPr>
        <p:spPr>
          <a:xfrm>
            <a:off x="896112" y="3319272"/>
            <a:ext cx="2173986" cy="384048"/>
          </a:xfrm>
          <a:prstGeom prst="rect">
            <a:avLst/>
          </a:prstGeom>
          <a:noFill/>
        </p:spPr>
        <p:txBody>
          <a:bodyPr wrap="square" anchor="ctr">
            <a:spAutoFit/>
          </a:bodyPr>
          <a:lstStyle/>
          <a:p>
            <a:pPr algn="ctr">
              <a:spcAft>
                <a:spcPts val="400"/>
              </a:spcAft>
            </a:pPr>
            <a:r>
              <a:rPr sz="1150" b="1">
                <a:solidFill>
                  <a:srgbClr val="1F6FEB"/>
                </a:solidFill>
                <a:latin typeface="Arial"/>
              </a:rPr>
              <a:t>TRIGGER / INPUT</a:t>
            </a:r>
          </a:p>
        </p:txBody>
      </p:sp>
      <p:sp>
        <p:nvSpPr>
          <p:cNvPr id="12" name="TextBox 11"/>
          <p:cNvSpPr txBox="1"/>
          <p:nvPr/>
        </p:nvSpPr>
        <p:spPr>
          <a:xfrm>
            <a:off x="896112"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Classify data</a:t>
            </a:r>
          </a:p>
        </p:txBody>
      </p:sp>
      <p:sp>
        <p:nvSpPr>
          <p:cNvPr id="13" name="Rectangle 12"/>
          <p:cNvSpPr/>
          <p:nvPr/>
        </p:nvSpPr>
        <p:spPr>
          <a:xfrm>
            <a:off x="3518154"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18154" y="2148840"/>
            <a:ext cx="241173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394835" y="2532888"/>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94835"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2</a:t>
            </a:r>
          </a:p>
        </p:txBody>
      </p:sp>
      <p:sp>
        <p:nvSpPr>
          <p:cNvPr id="17" name="TextBox 16"/>
          <p:cNvSpPr txBox="1"/>
          <p:nvPr/>
        </p:nvSpPr>
        <p:spPr>
          <a:xfrm>
            <a:off x="3637026" y="3319272"/>
            <a:ext cx="2173986" cy="384048"/>
          </a:xfrm>
          <a:prstGeom prst="rect">
            <a:avLst/>
          </a:prstGeom>
          <a:noFill/>
        </p:spPr>
        <p:txBody>
          <a:bodyPr wrap="square" anchor="ctr">
            <a:spAutoFit/>
          </a:bodyPr>
          <a:lstStyle/>
          <a:p>
            <a:pPr algn="ctr">
              <a:spcAft>
                <a:spcPts val="400"/>
              </a:spcAft>
            </a:pPr>
            <a:r>
              <a:rPr sz="1150" b="1">
                <a:solidFill>
                  <a:srgbClr val="10B981"/>
                </a:solidFill>
                <a:latin typeface="Arial"/>
              </a:rPr>
              <a:t>CONTROL PLANE</a:t>
            </a:r>
          </a:p>
        </p:txBody>
      </p:sp>
      <p:sp>
        <p:nvSpPr>
          <p:cNvPr id="18" name="TextBox 17"/>
          <p:cNvSpPr txBox="1"/>
          <p:nvPr/>
        </p:nvSpPr>
        <p:spPr>
          <a:xfrm>
            <a:off x="3637026"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Document trust boundaries, data classification, preventive/detective controls, logging, retention and incident responsibilities.</a:t>
            </a:r>
          </a:p>
        </p:txBody>
      </p:sp>
      <p:sp>
        <p:nvSpPr>
          <p:cNvPr id="19" name="Rectangle 18"/>
          <p:cNvSpPr/>
          <p:nvPr/>
        </p:nvSpPr>
        <p:spPr>
          <a:xfrm>
            <a:off x="6259068"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9068" y="2148840"/>
            <a:ext cx="241173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5749" y="2532888"/>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5749"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3</a:t>
            </a:r>
          </a:p>
        </p:txBody>
      </p:sp>
      <p:sp>
        <p:nvSpPr>
          <p:cNvPr id="23" name="TextBox 22"/>
          <p:cNvSpPr txBox="1"/>
          <p:nvPr/>
        </p:nvSpPr>
        <p:spPr>
          <a:xfrm>
            <a:off x="6377940" y="3319272"/>
            <a:ext cx="2173986" cy="384048"/>
          </a:xfrm>
          <a:prstGeom prst="rect">
            <a:avLst/>
          </a:prstGeom>
          <a:noFill/>
        </p:spPr>
        <p:txBody>
          <a:bodyPr wrap="square" anchor="ctr">
            <a:spAutoFit/>
          </a:bodyPr>
          <a:lstStyle/>
          <a:p>
            <a:pPr algn="ctr">
              <a:spcAft>
                <a:spcPts val="400"/>
              </a:spcAft>
            </a:pPr>
            <a:r>
              <a:rPr sz="1150" b="1">
                <a:solidFill>
                  <a:srgbClr val="7C3AED"/>
                </a:solidFill>
                <a:latin typeface="Arial"/>
              </a:rPr>
              <a:t>AWS SERVICES</a:t>
            </a:r>
          </a:p>
        </p:txBody>
      </p:sp>
      <p:sp>
        <p:nvSpPr>
          <p:cNvPr id="24" name="TextBox 23"/>
          <p:cNvSpPr txBox="1"/>
          <p:nvPr/>
        </p:nvSpPr>
        <p:spPr>
          <a:xfrm>
            <a:off x="6377940"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Security Hub · Audit Manager · Artifact · Tagging</a:t>
            </a:r>
          </a:p>
        </p:txBody>
      </p:sp>
      <p:sp>
        <p:nvSpPr>
          <p:cNvPr id="25" name="Rectangle 24"/>
          <p:cNvSpPr/>
          <p:nvPr/>
        </p:nvSpPr>
        <p:spPr>
          <a:xfrm>
            <a:off x="8999982" y="2148840"/>
            <a:ext cx="2411730" cy="32461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99982" y="2148840"/>
            <a:ext cx="2411730"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76663" y="2532888"/>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76663" y="2532888"/>
            <a:ext cx="658368" cy="658368"/>
          </a:xfrm>
          <a:prstGeom prst="rect">
            <a:avLst/>
          </a:prstGeom>
          <a:noFill/>
        </p:spPr>
        <p:txBody>
          <a:bodyPr wrap="square" anchor="ctr">
            <a:spAutoFit/>
          </a:bodyPr>
          <a:lstStyle/>
          <a:p>
            <a:pPr algn="ctr">
              <a:spcAft>
                <a:spcPts val="400"/>
              </a:spcAft>
            </a:pPr>
            <a:r>
              <a:rPr sz="2600" b="1">
                <a:solidFill>
                  <a:srgbClr val="FFFFFF"/>
                </a:solidFill>
                <a:latin typeface="Arial"/>
              </a:rPr>
              <a:t>4</a:t>
            </a:r>
          </a:p>
        </p:txBody>
      </p:sp>
      <p:sp>
        <p:nvSpPr>
          <p:cNvPr id="29" name="TextBox 28"/>
          <p:cNvSpPr txBox="1"/>
          <p:nvPr/>
        </p:nvSpPr>
        <p:spPr>
          <a:xfrm>
            <a:off x="9118854" y="3319272"/>
            <a:ext cx="2173986" cy="384048"/>
          </a:xfrm>
          <a:prstGeom prst="rect">
            <a:avLst/>
          </a:prstGeom>
          <a:noFill/>
        </p:spPr>
        <p:txBody>
          <a:bodyPr wrap="square" anchor="ctr">
            <a:spAutoFit/>
          </a:bodyPr>
          <a:lstStyle/>
          <a:p>
            <a:pPr algn="ctr">
              <a:spcAft>
                <a:spcPts val="400"/>
              </a:spcAft>
            </a:pPr>
            <a:r>
              <a:rPr sz="1150" b="1">
                <a:solidFill>
                  <a:srgbClr val="F59E0B"/>
                </a:solidFill>
                <a:latin typeface="Arial"/>
              </a:rPr>
              <a:t>EVIDENCE BOUNDARY</a:t>
            </a:r>
          </a:p>
        </p:txBody>
      </p:sp>
      <p:sp>
        <p:nvSpPr>
          <p:cNvPr id="30" name="TextBox 29"/>
          <p:cNvSpPr txBox="1"/>
          <p:nvPr/>
        </p:nvSpPr>
        <p:spPr>
          <a:xfrm>
            <a:off x="9118854" y="3749040"/>
            <a:ext cx="2173986" cy="1463040"/>
          </a:xfrm>
          <a:prstGeom prst="rect">
            <a:avLst/>
          </a:prstGeom>
          <a:noFill/>
        </p:spPr>
        <p:txBody>
          <a:bodyPr wrap="square" anchor="ctr">
            <a:spAutoFit/>
          </a:bodyPr>
          <a:lstStyle/>
          <a:p>
            <a:pPr algn="ctr">
              <a:spcAft>
                <a:spcPts val="400"/>
              </a:spcAft>
            </a:pPr>
            <a:r>
              <a:rPr sz="1150" b="0">
                <a:solidFill>
                  <a:srgbClr val="161B26"/>
                </a:solidFill>
                <a:latin typeface="Arial"/>
              </a:rPr>
              <a:t>Architecture diagram, control matrix, evidence source, owner, retention rule, exception and review cadence.</a:t>
            </a:r>
          </a:p>
        </p:txBody>
      </p:sp>
      <p:cxnSp>
        <p:nvCxnSpPr>
          <p:cNvPr id="31" name="Connector 30"/>
          <p:cNvCxnSpPr/>
          <p:nvPr/>
        </p:nvCxnSpPr>
        <p:spPr>
          <a:xfrm>
            <a:off x="3188970"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929884"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670798" y="3771900"/>
            <a:ext cx="329184" cy="0"/>
          </a:xfrm>
          <a:prstGeom prst="line">
            <a:avLst/>
          </a:prstGeom>
          <a:ln w="22860">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777240" y="560527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87552" y="5650992"/>
            <a:ext cx="10195560" cy="457200"/>
          </a:xfrm>
          <a:prstGeom prst="rect">
            <a:avLst/>
          </a:prstGeom>
          <a:noFill/>
        </p:spPr>
        <p:txBody>
          <a:bodyPr wrap="square" anchor="ctr">
            <a:spAutoFit/>
          </a:bodyPr>
          <a:lstStyle/>
          <a:p>
            <a:pPr algn="l">
              <a:spcAft>
                <a:spcPts val="400"/>
              </a:spcAft>
            </a:pPr>
            <a:r>
              <a:rPr sz="1150" b="1">
                <a:solidFill>
                  <a:srgbClr val="C0392B"/>
                </a:solidFill>
                <a:latin typeface="Arial"/>
              </a:rPr>
              <a:t>OPERATING PRINCIPLE  </a:t>
            </a:r>
            <a:r>
              <a:rPr sz="1250" b="0">
                <a:solidFill>
                  <a:srgbClr val="161B26"/>
                </a:solidFill>
                <a:latin typeface="Arial"/>
              </a:rPr>
              <a:t>Treat the stages as one controlled system; evidence from each stage informs the next decision.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609</a:t>
            </a:r>
          </a:p>
        </p:txBody>
      </p:sp>
    </p:spTree>
  </p:cSld>
  <p:clrMapOvr>
    <a:masterClrMapping/>
  </p:clrMapOvr>
  <p:transition xmlns:p14="http://schemas.microsoft.com/office/powerpoint/2010/main" p14:dur="380">
    <p:fade/>
  </p:transition>
</p:sld>
</file>

<file path=ppt/slides/slide6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LAB 21 · DAY 5 · LO6 · HANDS-ON</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100" b="1">
                <a:solidFill>
                  <a:srgbClr val="161B26"/>
                </a:solidFill>
                <a:latin typeface="Arial"/>
              </a:rPr>
              <a:t>Enforce IAM Least Privilege and Analyse Policies for Over-Permissive Access</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37360"/>
            <a:ext cx="1417320" cy="4572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83080"/>
            <a:ext cx="1417320" cy="365760"/>
          </a:xfrm>
          <a:prstGeom prst="rect">
            <a:avLst/>
          </a:prstGeom>
          <a:noFill/>
        </p:spPr>
        <p:txBody>
          <a:bodyPr wrap="square" anchor="t">
            <a:spAutoFit/>
          </a:bodyPr>
          <a:lstStyle/>
          <a:p>
            <a:pPr algn="ctr">
              <a:spcAft>
                <a:spcPts val="400"/>
              </a:spcAft>
            </a:pPr>
            <a:r>
              <a:rPr sz="1600" b="1">
                <a:solidFill>
                  <a:srgbClr val="FFFFFF"/>
                </a:solidFill>
                <a:latin typeface="Arial"/>
              </a:rPr>
              <a:t>LAB 21</a:t>
            </a:r>
          </a:p>
        </p:txBody>
      </p:sp>
      <p:sp>
        <p:nvSpPr>
          <p:cNvPr id="9" name="TextBox 8"/>
          <p:cNvSpPr txBox="1"/>
          <p:nvPr/>
        </p:nvSpPr>
        <p:spPr>
          <a:xfrm>
            <a:off x="2514600" y="1783080"/>
            <a:ext cx="3749039" cy="365760"/>
          </a:xfrm>
          <a:prstGeom prst="rect">
            <a:avLst/>
          </a:prstGeom>
          <a:noFill/>
        </p:spPr>
        <p:txBody>
          <a:bodyPr wrap="square" anchor="t">
            <a:spAutoFit/>
          </a:bodyPr>
          <a:lstStyle/>
          <a:p>
            <a:pPr algn="l">
              <a:spcAft>
                <a:spcPts val="400"/>
              </a:spcAft>
            </a:pPr>
            <a:r>
              <a:rPr sz="1150" b="1">
                <a:solidFill>
                  <a:srgbClr val="5B6372"/>
                </a:solidFill>
                <a:latin typeface="Arial"/>
              </a:rPr>
              <a:t>Day 5 · LO6 · K6, A4</a:t>
            </a:r>
          </a:p>
        </p:txBody>
      </p:sp>
      <p:sp>
        <p:nvSpPr>
          <p:cNvPr id="10" name="TextBox 9"/>
          <p:cNvSpPr txBox="1"/>
          <p:nvPr/>
        </p:nvSpPr>
        <p:spPr>
          <a:xfrm>
            <a:off x="777240" y="2286000"/>
            <a:ext cx="5486400" cy="1215390"/>
          </a:xfrm>
          <a:prstGeom prst="rect">
            <a:avLst/>
          </a:prstGeom>
          <a:noFill/>
        </p:spPr>
        <p:txBody>
          <a:bodyPr wrap="square" anchor="t">
            <a:spAutoFit/>
          </a:bodyPr>
          <a:lstStyle/>
          <a:p>
            <a:pPr algn="l">
              <a:spcAft>
                <a:spcPts val="400"/>
              </a:spcAft>
            </a:pPr>
            <a:r>
              <a:rPr sz="1350" b="0">
                <a:solidFill>
                  <a:srgbClr val="161B26"/>
                </a:solidFill>
                <a:latin typeface="Arial"/>
              </a:rPr>
              <a:t>Broad permissions are the single most common cloud security failure.</a:t>
            </a:r>
          </a:p>
        </p:txBody>
      </p:sp>
      <p:sp>
        <p:nvSpPr>
          <p:cNvPr id="11" name="Rectangle 10"/>
          <p:cNvSpPr/>
          <p:nvPr/>
        </p:nvSpPr>
        <p:spPr>
          <a:xfrm>
            <a:off x="777240" y="3611118"/>
            <a:ext cx="5486400" cy="132816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611118"/>
            <a:ext cx="91440" cy="1328166"/>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3739134"/>
            <a:ext cx="5120640" cy="274320"/>
          </a:xfrm>
          <a:prstGeom prst="rect">
            <a:avLst/>
          </a:prstGeom>
          <a:noFill/>
        </p:spPr>
        <p:txBody>
          <a:bodyPr wrap="square" anchor="t">
            <a:spAutoFit/>
          </a:bodyPr>
          <a:lstStyle/>
          <a:p>
            <a:pPr algn="l">
              <a:spcAft>
                <a:spcPts val="400"/>
              </a:spcAft>
            </a:pPr>
            <a:r>
              <a:rPr sz="1200" b="1">
                <a:solidFill>
                  <a:srgbClr val="C0392B"/>
                </a:solidFill>
                <a:latin typeface="Arial"/>
              </a:rPr>
              <a:t>YOU'LL BUILD</a:t>
            </a:r>
          </a:p>
        </p:txBody>
      </p:sp>
      <p:sp>
        <p:nvSpPr>
          <p:cNvPr id="14" name="TextBox 13"/>
          <p:cNvSpPr txBox="1"/>
          <p:nvPr/>
        </p:nvSpPr>
        <p:spPr>
          <a:xfrm>
            <a:off x="960120" y="4013454"/>
            <a:ext cx="5166360" cy="569595"/>
          </a:xfrm>
          <a:prstGeom prst="rect">
            <a:avLst/>
          </a:prstGeom>
          <a:noFill/>
        </p:spPr>
        <p:txBody>
          <a:bodyPr wrap="square" anchor="t">
            <a:spAutoFit/>
          </a:bodyPr>
          <a:lstStyle/>
          <a:p>
            <a:pPr algn="l">
              <a:spcAft>
                <a:spcPts val="400"/>
              </a:spcAft>
            </a:pPr>
            <a:r>
              <a:rPr sz="1150" b="1">
                <a:solidFill>
                  <a:srgbClr val="161B26"/>
                </a:solidFill>
                <a:latin typeface="Arial"/>
              </a:rPr>
              <a:t>A least-privilege IAM policy for the app role, capped by a permission boundary, that passes Access Analyzer validation with no security warnings and grants nothing beyond the app's real needs.</a:t>
            </a:r>
          </a:p>
        </p:txBody>
      </p:sp>
      <p:sp>
        <p:nvSpPr>
          <p:cNvPr id="15" name="TextBox 14"/>
          <p:cNvSpPr txBox="1"/>
          <p:nvPr/>
        </p:nvSpPr>
        <p:spPr>
          <a:xfrm>
            <a:off x="960120" y="4637913"/>
            <a:ext cx="5166360" cy="173355"/>
          </a:xfrm>
          <a:prstGeom prst="rect">
            <a:avLst/>
          </a:prstGeom>
          <a:noFill/>
        </p:spPr>
        <p:txBody>
          <a:bodyPr wrap="square" anchor="t">
            <a:spAutoFit/>
          </a:bodyPr>
          <a:lstStyle/>
          <a:p>
            <a:pPr algn="l">
              <a:spcAft>
                <a:spcPts val="400"/>
              </a:spcAft>
            </a:pPr>
            <a:r>
              <a:rPr sz="1050" b="0">
                <a:solidFill>
                  <a:srgbClr val="5B6372"/>
                </a:solidFill>
                <a:latin typeface="Arial"/>
              </a:rPr>
              <a:t>Tools:  AWS IAM, IAM Access Analyzer, AWS STS, AWS CloudFormation</a:t>
            </a:r>
          </a:p>
        </p:txBody>
      </p:sp>
      <p:sp>
        <p:nvSpPr>
          <p:cNvPr id="16" name="Rectangle 15"/>
          <p:cNvSpPr/>
          <p:nvPr/>
        </p:nvSpPr>
        <p:spPr>
          <a:xfrm>
            <a:off x="777240" y="5049012"/>
            <a:ext cx="5486400" cy="1278636"/>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049012"/>
            <a:ext cx="91440" cy="127863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5177028"/>
            <a:ext cx="5120640" cy="274320"/>
          </a:xfrm>
          <a:prstGeom prst="rect">
            <a:avLst/>
          </a:prstGeom>
          <a:noFill/>
        </p:spPr>
        <p:txBody>
          <a:bodyPr wrap="square" anchor="t">
            <a:spAutoFit/>
          </a:bodyPr>
          <a:lstStyle/>
          <a:p>
            <a:pPr algn="l">
              <a:spcAft>
                <a:spcPts val="400"/>
              </a:spcAft>
            </a:pPr>
            <a:r>
              <a:rPr sz="1200" b="1">
                <a:solidFill>
                  <a:srgbClr val="10B981"/>
                </a:solidFill>
                <a:latin typeface="Arial"/>
              </a:rPr>
              <a:t>OUTCOME &amp; EVIDENCE</a:t>
            </a:r>
          </a:p>
        </p:txBody>
      </p:sp>
      <p:sp>
        <p:nvSpPr>
          <p:cNvPr id="19" name="TextBox 18"/>
          <p:cNvSpPr txBox="1"/>
          <p:nvPr/>
        </p:nvSpPr>
        <p:spPr>
          <a:xfrm>
            <a:off x="960120" y="5451348"/>
            <a:ext cx="5166360" cy="693420"/>
          </a:xfrm>
          <a:prstGeom prst="rect">
            <a:avLst/>
          </a:prstGeom>
          <a:noFill/>
        </p:spPr>
        <p:txBody>
          <a:bodyPr wrap="square" anchor="t">
            <a:spAutoFit/>
          </a:bodyPr>
          <a:lstStyle/>
          <a:p>
            <a:pPr algn="l">
              <a:spcAft>
                <a:spcPts val="300"/>
              </a:spcAft>
            </a:pPr>
            <a:r>
              <a:rPr sz="1050" b="0">
                <a:solidFill>
                  <a:srgbClr val="5B6372"/>
                </a:solidFill>
                <a:latin typeface="Arial"/>
              </a:rPr>
              <a:t>Outcome:  Write a scoped IAM policy, cap it with a permission boundary, and prove least privilege with IAM Access Analyzer.</a:t>
            </a:r>
          </a:p>
          <a:p>
            <a:pPr algn="l">
              <a:spcAft>
                <a:spcPts val="300"/>
              </a:spcAft>
            </a:pPr>
            <a:r>
              <a:rPr sz="1050" b="0">
                <a:solidFill>
                  <a:srgbClr val="5B6372"/>
                </a:solidFill>
                <a:latin typeface="Arial"/>
              </a:rPr>
              <a:t>Evidence:  The output showing zero SECURITY_WARNING findings for iam-policy.json.</a:t>
            </a:r>
          </a:p>
        </p:txBody>
      </p:sp>
      <p:sp>
        <p:nvSpPr>
          <p:cNvPr id="20" name="Rectangle 19"/>
          <p:cNvSpPr/>
          <p:nvPr/>
        </p:nvSpPr>
        <p:spPr>
          <a:xfrm>
            <a:off x="6446520" y="1783080"/>
            <a:ext cx="5029200" cy="290140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ab-21-iam-least-privilege-analysis.jpg"/>
          <p:cNvPicPr>
            <a:picLocks noChangeAspect="1"/>
          </p:cNvPicPr>
          <p:nvPr/>
        </p:nvPicPr>
        <p:blipFill>
          <a:blip r:embed="rId2"/>
          <a:stretch>
            <a:fillRect/>
          </a:stretch>
        </p:blipFill>
        <p:spPr>
          <a:xfrm>
            <a:off x="6492240" y="1828800"/>
            <a:ext cx="4937760" cy="2809963"/>
          </a:xfrm>
          <a:prstGeom prst="rect">
            <a:avLst/>
          </a:prstGeom>
        </p:spPr>
      </p:pic>
      <p:sp>
        <p:nvSpPr>
          <p:cNvPr id="22" name="TextBox 21"/>
          <p:cNvSpPr txBox="1"/>
          <p:nvPr/>
        </p:nvSpPr>
        <p:spPr>
          <a:xfrm>
            <a:off x="6492240" y="4730203"/>
            <a:ext cx="4937760" cy="365760"/>
          </a:xfrm>
          <a:prstGeom prst="rect">
            <a:avLst/>
          </a:prstGeom>
          <a:noFill/>
        </p:spPr>
        <p:txBody>
          <a:bodyPr wrap="square" anchor="t">
            <a:spAutoFit/>
          </a:bodyPr>
          <a:lstStyle/>
          <a:p>
            <a:pPr algn="ctr">
              <a:spcAft>
                <a:spcPts val="400"/>
              </a:spcAft>
            </a:pPr>
            <a:r>
              <a:rPr sz="1100" b="1">
                <a:solidFill>
                  <a:srgbClr val="5B6372"/>
                </a:solidFill>
                <a:latin typeface="Arial"/>
              </a:rPr>
              <a:t>Reference architecture</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610</a:t>
            </a:r>
          </a:p>
        </p:txBody>
      </p:sp>
    </p:spTree>
  </p:cSld>
  <p:clrMapOvr>
    <a:masterClrMapping/>
  </p:clrMapOvr>
  <p:transition xmlns:p14="http://schemas.microsoft.com/office/powerpoint/2010/main" p14:dur="380">
    <p:fade/>
  </p:transition>
</p:sld>
</file>

<file path=ppt/slides/slide6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LAB 22 · DAY 5 · LO6 · HANDS-ON</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100" b="1">
                <a:solidFill>
                  <a:srgbClr val="161B26"/>
                </a:solidFill>
                <a:latin typeface="Arial"/>
              </a:rPr>
              <a:t>Protect Data with Secrets Manager and Customer-Managed KMS Encryption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37360"/>
            <a:ext cx="1417320" cy="4572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83080"/>
            <a:ext cx="1417320" cy="365760"/>
          </a:xfrm>
          <a:prstGeom prst="rect">
            <a:avLst/>
          </a:prstGeom>
          <a:noFill/>
        </p:spPr>
        <p:txBody>
          <a:bodyPr wrap="square" anchor="t">
            <a:spAutoFit/>
          </a:bodyPr>
          <a:lstStyle/>
          <a:p>
            <a:pPr algn="ctr">
              <a:spcAft>
                <a:spcPts val="400"/>
              </a:spcAft>
            </a:pPr>
            <a:r>
              <a:rPr sz="1600" b="1">
                <a:solidFill>
                  <a:srgbClr val="FFFFFF"/>
                </a:solidFill>
                <a:latin typeface="Arial"/>
              </a:rPr>
              <a:t>LAB 22</a:t>
            </a:r>
          </a:p>
        </p:txBody>
      </p:sp>
      <p:sp>
        <p:nvSpPr>
          <p:cNvPr id="9" name="TextBox 8"/>
          <p:cNvSpPr txBox="1"/>
          <p:nvPr/>
        </p:nvSpPr>
        <p:spPr>
          <a:xfrm>
            <a:off x="2514600" y="1783080"/>
            <a:ext cx="3749039" cy="365760"/>
          </a:xfrm>
          <a:prstGeom prst="rect">
            <a:avLst/>
          </a:prstGeom>
          <a:noFill/>
        </p:spPr>
        <p:txBody>
          <a:bodyPr wrap="square" anchor="t">
            <a:spAutoFit/>
          </a:bodyPr>
          <a:lstStyle/>
          <a:p>
            <a:pPr algn="l">
              <a:spcAft>
                <a:spcPts val="400"/>
              </a:spcAft>
            </a:pPr>
            <a:r>
              <a:rPr sz="1150" b="1">
                <a:solidFill>
                  <a:srgbClr val="5B6372"/>
                </a:solidFill>
                <a:latin typeface="Arial"/>
              </a:rPr>
              <a:t>Day 5 · LO6 · K6, A4</a:t>
            </a:r>
          </a:p>
        </p:txBody>
      </p:sp>
      <p:sp>
        <p:nvSpPr>
          <p:cNvPr id="10" name="TextBox 9"/>
          <p:cNvSpPr txBox="1"/>
          <p:nvPr/>
        </p:nvSpPr>
        <p:spPr>
          <a:xfrm>
            <a:off x="777240" y="2286000"/>
            <a:ext cx="5486400" cy="1017270"/>
          </a:xfrm>
          <a:prstGeom prst="rect">
            <a:avLst/>
          </a:prstGeom>
          <a:noFill/>
        </p:spPr>
        <p:txBody>
          <a:bodyPr wrap="square" anchor="t">
            <a:spAutoFit/>
          </a:bodyPr>
          <a:lstStyle/>
          <a:p>
            <a:pPr algn="l">
              <a:spcAft>
                <a:spcPts val="400"/>
              </a:spcAft>
            </a:pPr>
            <a:r>
              <a:rPr sz="1350" b="0">
                <a:solidFill>
                  <a:srgbClr val="161B26"/>
                </a:solidFill>
                <a:latin typeface="Arial"/>
              </a:rPr>
              <a:t>Sensitive data must be encrypted with keys you control and secrets must never live in code.</a:t>
            </a:r>
          </a:p>
        </p:txBody>
      </p:sp>
      <p:sp>
        <p:nvSpPr>
          <p:cNvPr id="11" name="Rectangle 10"/>
          <p:cNvSpPr/>
          <p:nvPr/>
        </p:nvSpPr>
        <p:spPr>
          <a:xfrm>
            <a:off x="777240" y="3412998"/>
            <a:ext cx="5486400" cy="152628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12998"/>
            <a:ext cx="91440" cy="1526286"/>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3541014"/>
            <a:ext cx="5120640" cy="274320"/>
          </a:xfrm>
          <a:prstGeom prst="rect">
            <a:avLst/>
          </a:prstGeom>
          <a:noFill/>
        </p:spPr>
        <p:txBody>
          <a:bodyPr wrap="square" anchor="t">
            <a:spAutoFit/>
          </a:bodyPr>
          <a:lstStyle/>
          <a:p>
            <a:pPr algn="l">
              <a:spcAft>
                <a:spcPts val="400"/>
              </a:spcAft>
            </a:pPr>
            <a:r>
              <a:rPr sz="1200" b="1">
                <a:solidFill>
                  <a:srgbClr val="C0392B"/>
                </a:solidFill>
                <a:latin typeface="Arial"/>
              </a:rPr>
              <a:t>YOU'LL BUILD</a:t>
            </a:r>
          </a:p>
        </p:txBody>
      </p:sp>
      <p:sp>
        <p:nvSpPr>
          <p:cNvPr id="14" name="TextBox 13"/>
          <p:cNvSpPr txBox="1"/>
          <p:nvPr/>
        </p:nvSpPr>
        <p:spPr>
          <a:xfrm>
            <a:off x="960120" y="3815334"/>
            <a:ext cx="5166360" cy="594360"/>
          </a:xfrm>
          <a:prstGeom prst="rect">
            <a:avLst/>
          </a:prstGeom>
          <a:noFill/>
        </p:spPr>
        <p:txBody>
          <a:bodyPr wrap="square" anchor="t">
            <a:spAutoFit/>
          </a:bodyPr>
          <a:lstStyle/>
          <a:p>
            <a:pPr algn="l">
              <a:spcAft>
                <a:spcPts val="400"/>
              </a:spcAft>
            </a:pPr>
            <a:r>
              <a:rPr sz="1200" b="1">
                <a:solidFill>
                  <a:srgbClr val="161B26"/>
                </a:solidFill>
                <a:latin typeface="Arial"/>
              </a:rPr>
              <a:t>A customer-managed KMS key with a scoped key policy, a rotating Secrets Manager secret, and an S3 bucket that encrypts by default with your key and rejects any unencrypted upload.</a:t>
            </a:r>
          </a:p>
        </p:txBody>
      </p:sp>
      <p:sp>
        <p:nvSpPr>
          <p:cNvPr id="15" name="TextBox 14"/>
          <p:cNvSpPr txBox="1"/>
          <p:nvPr/>
        </p:nvSpPr>
        <p:spPr>
          <a:xfrm>
            <a:off x="960120" y="4464558"/>
            <a:ext cx="5166360" cy="346710"/>
          </a:xfrm>
          <a:prstGeom prst="rect">
            <a:avLst/>
          </a:prstGeom>
          <a:noFill/>
        </p:spPr>
        <p:txBody>
          <a:bodyPr wrap="square" anchor="t">
            <a:spAutoFit/>
          </a:bodyPr>
          <a:lstStyle/>
          <a:p>
            <a:pPr algn="l">
              <a:spcAft>
                <a:spcPts val="400"/>
              </a:spcAft>
            </a:pPr>
            <a:r>
              <a:rPr sz="1050" b="0">
                <a:solidFill>
                  <a:srgbClr val="5B6372"/>
                </a:solidFill>
                <a:latin typeface="Arial"/>
              </a:rPr>
              <a:t>Tools:  AWS KMS, AWS Secrets Manager, Amazon S3, AWS Lambda (rotation), AWS CloudFormation</a:t>
            </a:r>
          </a:p>
        </p:txBody>
      </p:sp>
      <p:sp>
        <p:nvSpPr>
          <p:cNvPr id="16" name="Rectangle 15"/>
          <p:cNvSpPr/>
          <p:nvPr/>
        </p:nvSpPr>
        <p:spPr>
          <a:xfrm>
            <a:off x="777240" y="5049012"/>
            <a:ext cx="5486400" cy="1278636"/>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049012"/>
            <a:ext cx="91440" cy="127863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5177028"/>
            <a:ext cx="5120640" cy="274320"/>
          </a:xfrm>
          <a:prstGeom prst="rect">
            <a:avLst/>
          </a:prstGeom>
          <a:noFill/>
        </p:spPr>
        <p:txBody>
          <a:bodyPr wrap="square" anchor="t">
            <a:spAutoFit/>
          </a:bodyPr>
          <a:lstStyle/>
          <a:p>
            <a:pPr algn="l">
              <a:spcAft>
                <a:spcPts val="400"/>
              </a:spcAft>
            </a:pPr>
            <a:r>
              <a:rPr sz="1200" b="1">
                <a:solidFill>
                  <a:srgbClr val="10B981"/>
                </a:solidFill>
                <a:latin typeface="Arial"/>
              </a:rPr>
              <a:t>OUTCOME &amp; EVIDENCE</a:t>
            </a:r>
          </a:p>
        </p:txBody>
      </p:sp>
      <p:sp>
        <p:nvSpPr>
          <p:cNvPr id="19" name="TextBox 18"/>
          <p:cNvSpPr txBox="1"/>
          <p:nvPr/>
        </p:nvSpPr>
        <p:spPr>
          <a:xfrm>
            <a:off x="960120" y="5451348"/>
            <a:ext cx="5166360" cy="693420"/>
          </a:xfrm>
          <a:prstGeom prst="rect">
            <a:avLst/>
          </a:prstGeom>
          <a:noFill/>
        </p:spPr>
        <p:txBody>
          <a:bodyPr wrap="square" anchor="t">
            <a:spAutoFit/>
          </a:bodyPr>
          <a:lstStyle/>
          <a:p>
            <a:pPr algn="l">
              <a:spcAft>
                <a:spcPts val="300"/>
              </a:spcAft>
            </a:pPr>
            <a:r>
              <a:rPr sz="1050" b="0">
                <a:solidFill>
                  <a:srgbClr val="5B6372"/>
                </a:solidFill>
                <a:latin typeface="Arial"/>
              </a:rPr>
              <a:t>Outcome:  Create a customer-managed KMS key with a key policy, store a secret with rotation, and enforce encryption on S3.</a:t>
            </a:r>
          </a:p>
          <a:p>
            <a:pPr algn="l">
              <a:spcAft>
                <a:spcPts val="300"/>
              </a:spcAft>
            </a:pPr>
            <a:r>
              <a:rPr sz="1050" b="0">
                <a:solidFill>
                  <a:srgbClr val="5B6372"/>
                </a:solidFill>
                <a:latin typeface="Arial"/>
              </a:rPr>
              <a:t>Evidence:  describe-key output showing KeyManager CUSTOMER, KeyState Enabled and rotation enabled for alias/devops-app.</a:t>
            </a:r>
          </a:p>
        </p:txBody>
      </p:sp>
      <p:sp>
        <p:nvSpPr>
          <p:cNvPr id="20" name="Rectangle 19"/>
          <p:cNvSpPr/>
          <p:nvPr/>
        </p:nvSpPr>
        <p:spPr>
          <a:xfrm>
            <a:off x="6446520" y="1783080"/>
            <a:ext cx="5029200" cy="290140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ab-22-secrets-kms-encryption.jpg"/>
          <p:cNvPicPr>
            <a:picLocks noChangeAspect="1"/>
          </p:cNvPicPr>
          <p:nvPr/>
        </p:nvPicPr>
        <p:blipFill>
          <a:blip r:embed="rId2"/>
          <a:stretch>
            <a:fillRect/>
          </a:stretch>
        </p:blipFill>
        <p:spPr>
          <a:xfrm>
            <a:off x="6492240" y="1828800"/>
            <a:ext cx="4937760" cy="2809963"/>
          </a:xfrm>
          <a:prstGeom prst="rect">
            <a:avLst/>
          </a:prstGeom>
        </p:spPr>
      </p:pic>
      <p:sp>
        <p:nvSpPr>
          <p:cNvPr id="22" name="TextBox 21"/>
          <p:cNvSpPr txBox="1"/>
          <p:nvPr/>
        </p:nvSpPr>
        <p:spPr>
          <a:xfrm>
            <a:off x="6492240" y="4730203"/>
            <a:ext cx="4937760" cy="365760"/>
          </a:xfrm>
          <a:prstGeom prst="rect">
            <a:avLst/>
          </a:prstGeom>
          <a:noFill/>
        </p:spPr>
        <p:txBody>
          <a:bodyPr wrap="square" anchor="t">
            <a:spAutoFit/>
          </a:bodyPr>
          <a:lstStyle/>
          <a:p>
            <a:pPr algn="ctr">
              <a:spcAft>
                <a:spcPts val="400"/>
              </a:spcAft>
            </a:pPr>
            <a:r>
              <a:rPr sz="1100" b="1">
                <a:solidFill>
                  <a:srgbClr val="5B6372"/>
                </a:solidFill>
                <a:latin typeface="Arial"/>
              </a:rPr>
              <a:t>Reference architecture</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611</a:t>
            </a:r>
          </a:p>
        </p:txBody>
      </p:sp>
    </p:spTree>
  </p:cSld>
  <p:clrMapOvr>
    <a:masterClrMapping/>
  </p:clrMapOvr>
  <p:transition xmlns:p14="http://schemas.microsoft.com/office/powerpoint/2010/main" p14:dur="380">
    <p:fade/>
  </p:transition>
</p:sld>
</file>

<file path=ppt/slides/slide6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LAB 23 · DAY 5 · LO6 · HANDS-ON</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300" b="1">
                <a:solidFill>
                  <a:srgbClr val="161B26"/>
                </a:solidFill>
                <a:latin typeface="Arial"/>
              </a:rPr>
              <a:t>Produce CloudTrail Audit Evidence and Answer Who-Did-What-When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37360"/>
            <a:ext cx="1417320" cy="4572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83080"/>
            <a:ext cx="1417320" cy="365760"/>
          </a:xfrm>
          <a:prstGeom prst="rect">
            <a:avLst/>
          </a:prstGeom>
          <a:noFill/>
        </p:spPr>
        <p:txBody>
          <a:bodyPr wrap="square" anchor="t">
            <a:spAutoFit/>
          </a:bodyPr>
          <a:lstStyle/>
          <a:p>
            <a:pPr algn="ctr">
              <a:spcAft>
                <a:spcPts val="400"/>
              </a:spcAft>
            </a:pPr>
            <a:r>
              <a:rPr sz="1600" b="1">
                <a:solidFill>
                  <a:srgbClr val="FFFFFF"/>
                </a:solidFill>
                <a:latin typeface="Arial"/>
              </a:rPr>
              <a:t>LAB 23</a:t>
            </a:r>
          </a:p>
        </p:txBody>
      </p:sp>
      <p:sp>
        <p:nvSpPr>
          <p:cNvPr id="9" name="TextBox 8"/>
          <p:cNvSpPr txBox="1"/>
          <p:nvPr/>
        </p:nvSpPr>
        <p:spPr>
          <a:xfrm>
            <a:off x="2514600" y="1783080"/>
            <a:ext cx="3749039" cy="365760"/>
          </a:xfrm>
          <a:prstGeom prst="rect">
            <a:avLst/>
          </a:prstGeom>
          <a:noFill/>
        </p:spPr>
        <p:txBody>
          <a:bodyPr wrap="square" anchor="t">
            <a:spAutoFit/>
          </a:bodyPr>
          <a:lstStyle/>
          <a:p>
            <a:pPr algn="l">
              <a:spcAft>
                <a:spcPts val="400"/>
              </a:spcAft>
            </a:pPr>
            <a:r>
              <a:rPr sz="1150" b="1">
                <a:solidFill>
                  <a:srgbClr val="5B6372"/>
                </a:solidFill>
                <a:latin typeface="Arial"/>
              </a:rPr>
              <a:t>Day 5 · LO6 · K6, A4</a:t>
            </a:r>
          </a:p>
        </p:txBody>
      </p:sp>
      <p:sp>
        <p:nvSpPr>
          <p:cNvPr id="10" name="TextBox 9"/>
          <p:cNvSpPr txBox="1"/>
          <p:nvPr/>
        </p:nvSpPr>
        <p:spPr>
          <a:xfrm>
            <a:off x="777240" y="2286000"/>
            <a:ext cx="5486400" cy="992505"/>
          </a:xfrm>
          <a:prstGeom prst="rect">
            <a:avLst/>
          </a:prstGeom>
          <a:noFill/>
        </p:spPr>
        <p:txBody>
          <a:bodyPr wrap="square" anchor="t">
            <a:spAutoFit/>
          </a:bodyPr>
          <a:lstStyle/>
          <a:p>
            <a:pPr algn="l">
              <a:spcAft>
                <a:spcPts val="400"/>
              </a:spcAft>
            </a:pPr>
            <a:r>
              <a:rPr sz="1350" b="0">
                <a:solidFill>
                  <a:srgbClr val="161B26"/>
                </a:solidFill>
                <a:latin typeface="Arial"/>
              </a:rPr>
              <a:t>Auditors and incident responders need a tamper-evident record of every API call.</a:t>
            </a:r>
          </a:p>
        </p:txBody>
      </p:sp>
      <p:sp>
        <p:nvSpPr>
          <p:cNvPr id="11" name="Rectangle 10"/>
          <p:cNvSpPr/>
          <p:nvPr/>
        </p:nvSpPr>
        <p:spPr>
          <a:xfrm>
            <a:off x="777240" y="3388233"/>
            <a:ext cx="5486400" cy="155105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388233"/>
            <a:ext cx="91440" cy="1551051"/>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3516249"/>
            <a:ext cx="5120640" cy="274320"/>
          </a:xfrm>
          <a:prstGeom prst="rect">
            <a:avLst/>
          </a:prstGeom>
          <a:noFill/>
        </p:spPr>
        <p:txBody>
          <a:bodyPr wrap="square" anchor="t">
            <a:spAutoFit/>
          </a:bodyPr>
          <a:lstStyle/>
          <a:p>
            <a:pPr algn="l">
              <a:spcAft>
                <a:spcPts val="400"/>
              </a:spcAft>
            </a:pPr>
            <a:r>
              <a:rPr sz="1200" b="1">
                <a:solidFill>
                  <a:srgbClr val="C0392B"/>
                </a:solidFill>
                <a:latin typeface="Arial"/>
              </a:rPr>
              <a:t>YOU'LL BUILD</a:t>
            </a:r>
          </a:p>
        </p:txBody>
      </p:sp>
      <p:sp>
        <p:nvSpPr>
          <p:cNvPr id="14" name="TextBox 13"/>
          <p:cNvSpPr txBox="1"/>
          <p:nvPr/>
        </p:nvSpPr>
        <p:spPr>
          <a:xfrm>
            <a:off x="960120" y="3790569"/>
            <a:ext cx="5166360" cy="619125"/>
          </a:xfrm>
          <a:prstGeom prst="rect">
            <a:avLst/>
          </a:prstGeom>
          <a:noFill/>
        </p:spPr>
        <p:txBody>
          <a:bodyPr wrap="square" anchor="t">
            <a:spAutoFit/>
          </a:bodyPr>
          <a:lstStyle/>
          <a:p>
            <a:pPr algn="l">
              <a:spcAft>
                <a:spcPts val="400"/>
              </a:spcAft>
            </a:pPr>
            <a:r>
              <a:rPr sz="1250" b="1">
                <a:solidFill>
                  <a:srgbClr val="161B26"/>
                </a:solidFill>
                <a:latin typeface="Arial"/>
              </a:rPr>
              <a:t>A validated, multi-Region CloudTrail delivering encrypted logs to S3, plus Athena/CloudTrail Lake queries that answer who-did-what-when and an exported evidence pack.</a:t>
            </a:r>
          </a:p>
        </p:txBody>
      </p:sp>
      <p:sp>
        <p:nvSpPr>
          <p:cNvPr id="15" name="TextBox 14"/>
          <p:cNvSpPr txBox="1"/>
          <p:nvPr/>
        </p:nvSpPr>
        <p:spPr>
          <a:xfrm>
            <a:off x="960120" y="4464558"/>
            <a:ext cx="5166360" cy="346710"/>
          </a:xfrm>
          <a:prstGeom prst="rect">
            <a:avLst/>
          </a:prstGeom>
          <a:noFill/>
        </p:spPr>
        <p:txBody>
          <a:bodyPr wrap="square" anchor="t">
            <a:spAutoFit/>
          </a:bodyPr>
          <a:lstStyle/>
          <a:p>
            <a:pPr algn="l">
              <a:spcAft>
                <a:spcPts val="400"/>
              </a:spcAft>
            </a:pPr>
            <a:r>
              <a:rPr sz="1050" b="0">
                <a:solidFill>
                  <a:srgbClr val="5B6372"/>
                </a:solidFill>
                <a:latin typeface="Arial"/>
              </a:rPr>
              <a:t>Tools:  AWS CloudTrail, Amazon S3, Amazon Athena, CloudTrail Lake, AWS KMS</a:t>
            </a:r>
          </a:p>
        </p:txBody>
      </p:sp>
      <p:sp>
        <p:nvSpPr>
          <p:cNvPr id="16" name="Rectangle 15"/>
          <p:cNvSpPr/>
          <p:nvPr/>
        </p:nvSpPr>
        <p:spPr>
          <a:xfrm>
            <a:off x="777240" y="5049012"/>
            <a:ext cx="5486400" cy="1278636"/>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049012"/>
            <a:ext cx="91440" cy="127863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5177028"/>
            <a:ext cx="5120640" cy="274320"/>
          </a:xfrm>
          <a:prstGeom prst="rect">
            <a:avLst/>
          </a:prstGeom>
          <a:noFill/>
        </p:spPr>
        <p:txBody>
          <a:bodyPr wrap="square" anchor="t">
            <a:spAutoFit/>
          </a:bodyPr>
          <a:lstStyle/>
          <a:p>
            <a:pPr algn="l">
              <a:spcAft>
                <a:spcPts val="400"/>
              </a:spcAft>
            </a:pPr>
            <a:r>
              <a:rPr sz="1200" b="1">
                <a:solidFill>
                  <a:srgbClr val="10B981"/>
                </a:solidFill>
                <a:latin typeface="Arial"/>
              </a:rPr>
              <a:t>OUTCOME &amp; EVIDENCE</a:t>
            </a:r>
          </a:p>
        </p:txBody>
      </p:sp>
      <p:sp>
        <p:nvSpPr>
          <p:cNvPr id="19" name="TextBox 18"/>
          <p:cNvSpPr txBox="1"/>
          <p:nvPr/>
        </p:nvSpPr>
        <p:spPr>
          <a:xfrm>
            <a:off x="960120" y="5451348"/>
            <a:ext cx="5166360" cy="693420"/>
          </a:xfrm>
          <a:prstGeom prst="rect">
            <a:avLst/>
          </a:prstGeom>
          <a:noFill/>
        </p:spPr>
        <p:txBody>
          <a:bodyPr wrap="square" anchor="t">
            <a:spAutoFit/>
          </a:bodyPr>
          <a:lstStyle/>
          <a:p>
            <a:pPr algn="l">
              <a:spcAft>
                <a:spcPts val="300"/>
              </a:spcAft>
            </a:pPr>
            <a:r>
              <a:rPr sz="1050" b="0">
                <a:solidFill>
                  <a:srgbClr val="5B6372"/>
                </a:solidFill>
                <a:latin typeface="Arial"/>
              </a:rPr>
              <a:t>Outcome:  Stand up a multi-Region CloudTrail with log-file validation and query it to export audit evidence.</a:t>
            </a:r>
          </a:p>
          <a:p>
            <a:pPr algn="l">
              <a:spcAft>
                <a:spcPts val="300"/>
              </a:spcAft>
            </a:pPr>
            <a:r>
              <a:rPr sz="1050" b="0">
                <a:solidFill>
                  <a:srgbClr val="5B6372"/>
                </a:solidFill>
                <a:latin typeface="Arial"/>
              </a:rPr>
              <a:t>Evidence:  describe-trails output showing multi-Region true, log-file validation true and a KMS key on devops-trail.</a:t>
            </a:r>
          </a:p>
        </p:txBody>
      </p:sp>
      <p:sp>
        <p:nvSpPr>
          <p:cNvPr id="20" name="Rectangle 19"/>
          <p:cNvSpPr/>
          <p:nvPr/>
        </p:nvSpPr>
        <p:spPr>
          <a:xfrm>
            <a:off x="6446520" y="1783080"/>
            <a:ext cx="5029200" cy="290140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ab-23-cloudtrail-audit-evidence.jpg"/>
          <p:cNvPicPr>
            <a:picLocks noChangeAspect="1"/>
          </p:cNvPicPr>
          <p:nvPr/>
        </p:nvPicPr>
        <p:blipFill>
          <a:blip r:embed="rId2"/>
          <a:stretch>
            <a:fillRect/>
          </a:stretch>
        </p:blipFill>
        <p:spPr>
          <a:xfrm>
            <a:off x="6492240" y="1828800"/>
            <a:ext cx="4937760" cy="2809963"/>
          </a:xfrm>
          <a:prstGeom prst="rect">
            <a:avLst/>
          </a:prstGeom>
        </p:spPr>
      </p:pic>
      <p:sp>
        <p:nvSpPr>
          <p:cNvPr id="22" name="TextBox 21"/>
          <p:cNvSpPr txBox="1"/>
          <p:nvPr/>
        </p:nvSpPr>
        <p:spPr>
          <a:xfrm>
            <a:off x="6492240" y="4730203"/>
            <a:ext cx="4937760" cy="365760"/>
          </a:xfrm>
          <a:prstGeom prst="rect">
            <a:avLst/>
          </a:prstGeom>
          <a:noFill/>
        </p:spPr>
        <p:txBody>
          <a:bodyPr wrap="square" anchor="t">
            <a:spAutoFit/>
          </a:bodyPr>
          <a:lstStyle/>
          <a:p>
            <a:pPr algn="ctr">
              <a:spcAft>
                <a:spcPts val="400"/>
              </a:spcAft>
            </a:pPr>
            <a:r>
              <a:rPr sz="1100" b="1">
                <a:solidFill>
                  <a:srgbClr val="5B6372"/>
                </a:solidFill>
                <a:latin typeface="Arial"/>
              </a:rPr>
              <a:t>Reference architecture</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612</a:t>
            </a:r>
          </a:p>
        </p:txBody>
      </p:sp>
    </p:spTree>
  </p:cSld>
  <p:clrMapOvr>
    <a:masterClrMapping/>
  </p:clrMapOvr>
  <p:transition xmlns:p14="http://schemas.microsoft.com/office/powerpoint/2010/main" p14:dur="380">
    <p:fade/>
  </p:transition>
</p:sld>
</file>

<file path=ppt/slides/slide6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LAB 24 · DAY 5 · LO6 · HANDS-ON</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2500" b="1">
                <a:solidFill>
                  <a:srgbClr val="161B26"/>
                </a:solidFill>
                <a:latin typeface="Arial"/>
              </a:rPr>
              <a:t>Run Continuous Compliance with AWS Config and Security Hub</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37360"/>
            <a:ext cx="1417320" cy="4572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83080"/>
            <a:ext cx="1417320" cy="365760"/>
          </a:xfrm>
          <a:prstGeom prst="rect">
            <a:avLst/>
          </a:prstGeom>
          <a:noFill/>
        </p:spPr>
        <p:txBody>
          <a:bodyPr wrap="square" anchor="t">
            <a:spAutoFit/>
          </a:bodyPr>
          <a:lstStyle/>
          <a:p>
            <a:pPr algn="ctr">
              <a:spcAft>
                <a:spcPts val="400"/>
              </a:spcAft>
            </a:pPr>
            <a:r>
              <a:rPr sz="1600" b="1">
                <a:solidFill>
                  <a:srgbClr val="FFFFFF"/>
                </a:solidFill>
                <a:latin typeface="Arial"/>
              </a:rPr>
              <a:t>LAB 24</a:t>
            </a:r>
          </a:p>
        </p:txBody>
      </p:sp>
      <p:sp>
        <p:nvSpPr>
          <p:cNvPr id="9" name="TextBox 8"/>
          <p:cNvSpPr txBox="1"/>
          <p:nvPr/>
        </p:nvSpPr>
        <p:spPr>
          <a:xfrm>
            <a:off x="2514600" y="1783080"/>
            <a:ext cx="3749039" cy="365760"/>
          </a:xfrm>
          <a:prstGeom prst="rect">
            <a:avLst/>
          </a:prstGeom>
          <a:noFill/>
        </p:spPr>
        <p:txBody>
          <a:bodyPr wrap="square" anchor="t">
            <a:spAutoFit/>
          </a:bodyPr>
          <a:lstStyle/>
          <a:p>
            <a:pPr algn="l">
              <a:spcAft>
                <a:spcPts val="400"/>
              </a:spcAft>
            </a:pPr>
            <a:r>
              <a:rPr sz="1150" b="1">
                <a:solidFill>
                  <a:srgbClr val="5B6372"/>
                </a:solidFill>
                <a:latin typeface="Arial"/>
              </a:rPr>
              <a:t>Day 5 · LO6 · K6, A4</a:t>
            </a:r>
          </a:p>
        </p:txBody>
      </p:sp>
      <p:sp>
        <p:nvSpPr>
          <p:cNvPr id="10" name="TextBox 9"/>
          <p:cNvSpPr txBox="1"/>
          <p:nvPr/>
        </p:nvSpPr>
        <p:spPr>
          <a:xfrm>
            <a:off x="777240" y="2286000"/>
            <a:ext cx="5486400" cy="1042035"/>
          </a:xfrm>
          <a:prstGeom prst="rect">
            <a:avLst/>
          </a:prstGeom>
          <a:noFill/>
        </p:spPr>
        <p:txBody>
          <a:bodyPr wrap="square" anchor="t">
            <a:spAutoFit/>
          </a:bodyPr>
          <a:lstStyle/>
          <a:p>
            <a:pPr algn="l">
              <a:spcAft>
                <a:spcPts val="400"/>
              </a:spcAft>
            </a:pPr>
            <a:r>
              <a:rPr sz="1350" b="0">
                <a:solidFill>
                  <a:srgbClr val="161B26"/>
                </a:solidFill>
                <a:latin typeface="Arial"/>
              </a:rPr>
              <a:t>Compliance is not a one-off audit — it must run continuously.</a:t>
            </a:r>
          </a:p>
        </p:txBody>
      </p:sp>
      <p:sp>
        <p:nvSpPr>
          <p:cNvPr id="11" name="Rectangle 10"/>
          <p:cNvSpPr/>
          <p:nvPr/>
        </p:nvSpPr>
        <p:spPr>
          <a:xfrm>
            <a:off x="777240" y="3437763"/>
            <a:ext cx="5486400" cy="150152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37763"/>
            <a:ext cx="91440" cy="1501521"/>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3565779"/>
            <a:ext cx="5120640" cy="274320"/>
          </a:xfrm>
          <a:prstGeom prst="rect">
            <a:avLst/>
          </a:prstGeom>
          <a:noFill/>
        </p:spPr>
        <p:txBody>
          <a:bodyPr wrap="square" anchor="t">
            <a:spAutoFit/>
          </a:bodyPr>
          <a:lstStyle/>
          <a:p>
            <a:pPr algn="l">
              <a:spcAft>
                <a:spcPts val="400"/>
              </a:spcAft>
            </a:pPr>
            <a:r>
              <a:rPr sz="1200" b="1">
                <a:solidFill>
                  <a:srgbClr val="C0392B"/>
                </a:solidFill>
                <a:latin typeface="Arial"/>
              </a:rPr>
              <a:t>YOU'LL BUILD</a:t>
            </a:r>
          </a:p>
        </p:txBody>
      </p:sp>
      <p:sp>
        <p:nvSpPr>
          <p:cNvPr id="14" name="TextBox 13"/>
          <p:cNvSpPr txBox="1"/>
          <p:nvPr/>
        </p:nvSpPr>
        <p:spPr>
          <a:xfrm>
            <a:off x="960120" y="3840099"/>
            <a:ext cx="5166360" cy="569595"/>
          </a:xfrm>
          <a:prstGeom prst="rect">
            <a:avLst/>
          </a:prstGeom>
          <a:noFill/>
        </p:spPr>
        <p:txBody>
          <a:bodyPr wrap="square" anchor="t">
            <a:spAutoFit/>
          </a:bodyPr>
          <a:lstStyle/>
          <a:p>
            <a:pPr algn="l">
              <a:spcAft>
                <a:spcPts val="400"/>
              </a:spcAft>
            </a:pPr>
            <a:r>
              <a:rPr sz="1150" b="1">
                <a:solidFill>
                  <a:srgbClr val="161B26"/>
                </a:solidFill>
                <a:latin typeface="Arial"/>
              </a:rPr>
              <a:t>A continuously evaluating AWS Config + Security Hub setup that detects an injected violation as NON_COMPLIANT, auto-remediates it to COMPLIANT, and shows the posture score improve.</a:t>
            </a:r>
          </a:p>
        </p:txBody>
      </p:sp>
      <p:sp>
        <p:nvSpPr>
          <p:cNvPr id="15" name="TextBox 14"/>
          <p:cNvSpPr txBox="1"/>
          <p:nvPr/>
        </p:nvSpPr>
        <p:spPr>
          <a:xfrm>
            <a:off x="960120" y="4464558"/>
            <a:ext cx="5166360" cy="346710"/>
          </a:xfrm>
          <a:prstGeom prst="rect">
            <a:avLst/>
          </a:prstGeom>
          <a:noFill/>
        </p:spPr>
        <p:txBody>
          <a:bodyPr wrap="square" anchor="t">
            <a:spAutoFit/>
          </a:bodyPr>
          <a:lstStyle/>
          <a:p>
            <a:pPr algn="l">
              <a:spcAft>
                <a:spcPts val="400"/>
              </a:spcAft>
            </a:pPr>
            <a:r>
              <a:rPr sz="1050" b="0">
                <a:solidFill>
                  <a:srgbClr val="5B6372"/>
                </a:solidFill>
                <a:latin typeface="Arial"/>
              </a:rPr>
              <a:t>Tools:  AWS Config, AWS Security Hub, AWS Systems Manager Automation, Amazon S3, AWS CloudFormation + 1 more</a:t>
            </a:r>
          </a:p>
        </p:txBody>
      </p:sp>
      <p:sp>
        <p:nvSpPr>
          <p:cNvPr id="16" name="Rectangle 15"/>
          <p:cNvSpPr/>
          <p:nvPr/>
        </p:nvSpPr>
        <p:spPr>
          <a:xfrm>
            <a:off x="777240" y="5049012"/>
            <a:ext cx="5486400" cy="1278636"/>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049012"/>
            <a:ext cx="91440" cy="127863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5177028"/>
            <a:ext cx="5120640" cy="274320"/>
          </a:xfrm>
          <a:prstGeom prst="rect">
            <a:avLst/>
          </a:prstGeom>
          <a:noFill/>
        </p:spPr>
        <p:txBody>
          <a:bodyPr wrap="square" anchor="t">
            <a:spAutoFit/>
          </a:bodyPr>
          <a:lstStyle/>
          <a:p>
            <a:pPr algn="l">
              <a:spcAft>
                <a:spcPts val="400"/>
              </a:spcAft>
            </a:pPr>
            <a:r>
              <a:rPr sz="1200" b="1">
                <a:solidFill>
                  <a:srgbClr val="10B981"/>
                </a:solidFill>
                <a:latin typeface="Arial"/>
              </a:rPr>
              <a:t>OUTCOME &amp; EVIDENCE</a:t>
            </a:r>
          </a:p>
        </p:txBody>
      </p:sp>
      <p:sp>
        <p:nvSpPr>
          <p:cNvPr id="19" name="TextBox 18"/>
          <p:cNvSpPr txBox="1"/>
          <p:nvPr/>
        </p:nvSpPr>
        <p:spPr>
          <a:xfrm>
            <a:off x="960120" y="5451348"/>
            <a:ext cx="5166360" cy="693420"/>
          </a:xfrm>
          <a:prstGeom prst="rect">
            <a:avLst/>
          </a:prstGeom>
          <a:noFill/>
        </p:spPr>
        <p:txBody>
          <a:bodyPr wrap="square" anchor="t">
            <a:spAutoFit/>
          </a:bodyPr>
          <a:lstStyle/>
          <a:p>
            <a:pPr algn="l">
              <a:spcAft>
                <a:spcPts val="300"/>
              </a:spcAft>
            </a:pPr>
            <a:r>
              <a:rPr sz="1050" b="0">
                <a:solidFill>
                  <a:srgbClr val="5B6372"/>
                </a:solidFill>
                <a:latin typeface="Arial"/>
              </a:rPr>
              <a:t>Outcome:  Enable AWS Config managed rules and Security Hub standards, inject a violation and remediate to COMPLIANT.</a:t>
            </a:r>
          </a:p>
          <a:p>
            <a:pPr algn="l">
              <a:spcAft>
                <a:spcPts val="300"/>
              </a:spcAft>
            </a:pPr>
            <a:r>
              <a:rPr sz="1050" b="0">
                <a:solidFill>
                  <a:srgbClr val="5B6372"/>
                </a:solidFill>
                <a:latin typeface="Arial"/>
              </a:rPr>
              <a:t>Evidence:  describe-configuration-recorder-status showing recording true and get-enabled-standards showing FSBP enabled.</a:t>
            </a:r>
          </a:p>
        </p:txBody>
      </p:sp>
      <p:sp>
        <p:nvSpPr>
          <p:cNvPr id="20" name="Rectangle 19"/>
          <p:cNvSpPr/>
          <p:nvPr/>
        </p:nvSpPr>
        <p:spPr>
          <a:xfrm>
            <a:off x="6446520" y="1783080"/>
            <a:ext cx="5029200" cy="290140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ab-24-config-securityhub-compliance.jpg"/>
          <p:cNvPicPr>
            <a:picLocks noChangeAspect="1"/>
          </p:cNvPicPr>
          <p:nvPr/>
        </p:nvPicPr>
        <p:blipFill>
          <a:blip r:embed="rId2"/>
          <a:stretch>
            <a:fillRect/>
          </a:stretch>
        </p:blipFill>
        <p:spPr>
          <a:xfrm>
            <a:off x="6492240" y="1828800"/>
            <a:ext cx="4937760" cy="2809963"/>
          </a:xfrm>
          <a:prstGeom prst="rect">
            <a:avLst/>
          </a:prstGeom>
        </p:spPr>
      </p:pic>
      <p:sp>
        <p:nvSpPr>
          <p:cNvPr id="22" name="TextBox 21"/>
          <p:cNvSpPr txBox="1"/>
          <p:nvPr/>
        </p:nvSpPr>
        <p:spPr>
          <a:xfrm>
            <a:off x="6492240" y="4730203"/>
            <a:ext cx="4937760" cy="365760"/>
          </a:xfrm>
          <a:prstGeom prst="rect">
            <a:avLst/>
          </a:prstGeom>
          <a:noFill/>
        </p:spPr>
        <p:txBody>
          <a:bodyPr wrap="square" anchor="t">
            <a:spAutoFit/>
          </a:bodyPr>
          <a:lstStyle/>
          <a:p>
            <a:pPr algn="ctr">
              <a:spcAft>
                <a:spcPts val="400"/>
              </a:spcAft>
            </a:pPr>
            <a:r>
              <a:rPr sz="1100" b="1">
                <a:solidFill>
                  <a:srgbClr val="5B6372"/>
                </a:solidFill>
                <a:latin typeface="Arial"/>
              </a:rPr>
              <a:t>Reference architecture</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613</a:t>
            </a:r>
          </a:p>
        </p:txBody>
      </p:sp>
    </p:spTree>
  </p:cSld>
  <p:clrMapOvr>
    <a:masterClrMapping/>
  </p:clrMapOvr>
  <p:transition xmlns:p14="http://schemas.microsoft.com/office/powerpoint/2010/main" p14:dur="380">
    <p:fade/>
  </p:transition>
</p:sld>
</file>

<file path=ppt/slides/slide6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LAB 25 · DAY 5 · LO1–LO6 · HANDS-ON</a:t>
            </a:r>
          </a:p>
        </p:txBody>
      </p:sp>
      <p:sp>
        <p:nvSpPr>
          <p:cNvPr id="5" name="TextBox 4"/>
          <p:cNvSpPr txBox="1"/>
          <p:nvPr/>
        </p:nvSpPr>
        <p:spPr>
          <a:xfrm>
            <a:off x="777240" y="896112"/>
            <a:ext cx="10927080" cy="731520"/>
          </a:xfrm>
          <a:prstGeom prst="rect">
            <a:avLst/>
          </a:prstGeom>
          <a:noFill/>
        </p:spPr>
        <p:txBody>
          <a:bodyPr wrap="square" anchor="t">
            <a:spAutoFit/>
          </a:bodyPr>
          <a:lstStyle/>
          <a:p>
            <a:pPr algn="l">
              <a:spcAft>
                <a:spcPts val="400"/>
              </a:spcAft>
            </a:pPr>
            <a:r>
              <a:rPr sz="1600" b="1">
                <a:solidFill>
                  <a:srgbClr val="161B26"/>
                </a:solidFill>
                <a:latin typeface="Arial"/>
              </a:rPr>
              <a:t>Capstone — Blueprint, Well-Architected Review and Evidence Pack for the Whole Delivery System</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37360"/>
            <a:ext cx="1417320" cy="4572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83080"/>
            <a:ext cx="1417320" cy="365760"/>
          </a:xfrm>
          <a:prstGeom prst="rect">
            <a:avLst/>
          </a:prstGeom>
          <a:noFill/>
        </p:spPr>
        <p:txBody>
          <a:bodyPr wrap="square" anchor="t">
            <a:spAutoFit/>
          </a:bodyPr>
          <a:lstStyle/>
          <a:p>
            <a:pPr algn="ctr">
              <a:spcAft>
                <a:spcPts val="400"/>
              </a:spcAft>
            </a:pPr>
            <a:r>
              <a:rPr sz="1600" b="1">
                <a:solidFill>
                  <a:srgbClr val="FFFFFF"/>
                </a:solidFill>
                <a:latin typeface="Arial"/>
              </a:rPr>
              <a:t>LAB 25</a:t>
            </a:r>
          </a:p>
        </p:txBody>
      </p:sp>
      <p:sp>
        <p:nvSpPr>
          <p:cNvPr id="9" name="TextBox 8"/>
          <p:cNvSpPr txBox="1"/>
          <p:nvPr/>
        </p:nvSpPr>
        <p:spPr>
          <a:xfrm>
            <a:off x="2514600" y="1783080"/>
            <a:ext cx="3749039" cy="365760"/>
          </a:xfrm>
          <a:prstGeom prst="rect">
            <a:avLst/>
          </a:prstGeom>
          <a:noFill/>
        </p:spPr>
        <p:txBody>
          <a:bodyPr wrap="square" anchor="t">
            <a:spAutoFit/>
          </a:bodyPr>
          <a:lstStyle/>
          <a:p>
            <a:pPr algn="l">
              <a:spcAft>
                <a:spcPts val="400"/>
              </a:spcAft>
            </a:pPr>
            <a:r>
              <a:rPr sz="1150" b="1">
                <a:solidFill>
                  <a:srgbClr val="5B6372"/>
                </a:solidFill>
                <a:latin typeface="Arial"/>
              </a:rPr>
              <a:t>Day 5 · LO1–LO6 · K1, K2, K3, K4, K5, K6, K7, A1, A2, A3, A4, A5, A6</a:t>
            </a:r>
          </a:p>
        </p:txBody>
      </p:sp>
      <p:sp>
        <p:nvSpPr>
          <p:cNvPr id="10" name="TextBox 9"/>
          <p:cNvSpPr txBox="1"/>
          <p:nvPr/>
        </p:nvSpPr>
        <p:spPr>
          <a:xfrm>
            <a:off x="777240" y="2286000"/>
            <a:ext cx="5486400" cy="868680"/>
          </a:xfrm>
          <a:prstGeom prst="rect">
            <a:avLst/>
          </a:prstGeom>
          <a:noFill/>
        </p:spPr>
        <p:txBody>
          <a:bodyPr wrap="square" anchor="t">
            <a:spAutoFit/>
          </a:bodyPr>
          <a:lstStyle/>
          <a:p>
            <a:pPr algn="l">
              <a:spcAft>
                <a:spcPts val="400"/>
              </a:spcAft>
            </a:pPr>
            <a:r>
              <a:rPr sz="1350" b="0">
                <a:solidFill>
                  <a:srgbClr val="161B26"/>
                </a:solidFill>
                <a:latin typeface="Arial"/>
              </a:rPr>
              <a:t>This capstone ties the entire course together.</a:t>
            </a:r>
          </a:p>
        </p:txBody>
      </p:sp>
      <p:sp>
        <p:nvSpPr>
          <p:cNvPr id="11" name="Rectangle 10"/>
          <p:cNvSpPr/>
          <p:nvPr/>
        </p:nvSpPr>
        <p:spPr>
          <a:xfrm>
            <a:off x="777240" y="3264408"/>
            <a:ext cx="5486400" cy="150152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264408"/>
            <a:ext cx="91440" cy="1501521"/>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3392424"/>
            <a:ext cx="5120640" cy="274320"/>
          </a:xfrm>
          <a:prstGeom prst="rect">
            <a:avLst/>
          </a:prstGeom>
          <a:noFill/>
        </p:spPr>
        <p:txBody>
          <a:bodyPr wrap="square" anchor="t">
            <a:spAutoFit/>
          </a:bodyPr>
          <a:lstStyle/>
          <a:p>
            <a:pPr algn="l">
              <a:spcAft>
                <a:spcPts val="400"/>
              </a:spcAft>
            </a:pPr>
            <a:r>
              <a:rPr sz="1200" b="1">
                <a:solidFill>
                  <a:srgbClr val="C0392B"/>
                </a:solidFill>
                <a:latin typeface="Arial"/>
              </a:rPr>
              <a:t>YOU'LL BUILD</a:t>
            </a:r>
          </a:p>
        </p:txBody>
      </p:sp>
      <p:sp>
        <p:nvSpPr>
          <p:cNvPr id="14" name="TextBox 13"/>
          <p:cNvSpPr txBox="1"/>
          <p:nvPr/>
        </p:nvSpPr>
        <p:spPr>
          <a:xfrm>
            <a:off x="960120" y="3666744"/>
            <a:ext cx="5166360" cy="569595"/>
          </a:xfrm>
          <a:prstGeom prst="rect">
            <a:avLst/>
          </a:prstGeom>
          <a:noFill/>
        </p:spPr>
        <p:txBody>
          <a:bodyPr wrap="square" anchor="t">
            <a:spAutoFit/>
          </a:bodyPr>
          <a:lstStyle/>
          <a:p>
            <a:pPr algn="l">
              <a:spcAft>
                <a:spcPts val="400"/>
              </a:spcAft>
            </a:pPr>
            <a:r>
              <a:rPr sz="1150" b="1">
                <a:solidFill>
                  <a:srgbClr val="161B26"/>
                </a:solidFill>
                <a:latin typeface="Arial"/>
              </a:rPr>
              <a:t>A completed technical blueprint, a Well-Architected pillar review with scores and actions, and an evidence pack that proves the whole secured/resilient/observable delivery system against LO1–LO6.</a:t>
            </a:r>
          </a:p>
        </p:txBody>
      </p:sp>
      <p:sp>
        <p:nvSpPr>
          <p:cNvPr id="15" name="TextBox 14"/>
          <p:cNvSpPr txBox="1"/>
          <p:nvPr/>
        </p:nvSpPr>
        <p:spPr>
          <a:xfrm>
            <a:off x="960120" y="4291203"/>
            <a:ext cx="5166360" cy="346710"/>
          </a:xfrm>
          <a:prstGeom prst="rect">
            <a:avLst/>
          </a:prstGeom>
          <a:noFill/>
        </p:spPr>
        <p:txBody>
          <a:bodyPr wrap="square" anchor="t">
            <a:spAutoFit/>
          </a:bodyPr>
          <a:lstStyle/>
          <a:p>
            <a:pPr algn="l">
              <a:spcAft>
                <a:spcPts val="400"/>
              </a:spcAft>
            </a:pPr>
            <a:r>
              <a:rPr sz="1050" b="0">
                <a:solidFill>
                  <a:srgbClr val="5B6372"/>
                </a:solidFill>
                <a:latin typeface="Arial"/>
              </a:rPr>
              <a:t>Tools:  AWS CodePipeline/CodeBuild/CodeDeploy, CloudFormation, EC2/ALB/Auto Scaling, RDS, CloudWatch + 9 more</a:t>
            </a:r>
          </a:p>
        </p:txBody>
      </p:sp>
      <p:sp>
        <p:nvSpPr>
          <p:cNvPr id="16" name="Rectangle 15"/>
          <p:cNvSpPr/>
          <p:nvPr/>
        </p:nvSpPr>
        <p:spPr>
          <a:xfrm>
            <a:off x="777240" y="4875657"/>
            <a:ext cx="5486400" cy="145199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875657"/>
            <a:ext cx="91440" cy="145199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5003673"/>
            <a:ext cx="5120640" cy="274320"/>
          </a:xfrm>
          <a:prstGeom prst="rect">
            <a:avLst/>
          </a:prstGeom>
          <a:noFill/>
        </p:spPr>
        <p:txBody>
          <a:bodyPr wrap="square" anchor="t">
            <a:spAutoFit/>
          </a:bodyPr>
          <a:lstStyle/>
          <a:p>
            <a:pPr algn="l">
              <a:spcAft>
                <a:spcPts val="400"/>
              </a:spcAft>
            </a:pPr>
            <a:r>
              <a:rPr sz="1200" b="1">
                <a:solidFill>
                  <a:srgbClr val="10B981"/>
                </a:solidFill>
                <a:latin typeface="Arial"/>
              </a:rPr>
              <a:t>OUTCOME &amp; EVIDENCE</a:t>
            </a:r>
          </a:p>
        </p:txBody>
      </p:sp>
      <p:sp>
        <p:nvSpPr>
          <p:cNvPr id="19" name="TextBox 18"/>
          <p:cNvSpPr txBox="1"/>
          <p:nvPr/>
        </p:nvSpPr>
        <p:spPr>
          <a:xfrm>
            <a:off x="960120" y="5277993"/>
            <a:ext cx="5166360" cy="866775"/>
          </a:xfrm>
          <a:prstGeom prst="rect">
            <a:avLst/>
          </a:prstGeom>
          <a:noFill/>
        </p:spPr>
        <p:txBody>
          <a:bodyPr wrap="square" anchor="t">
            <a:spAutoFit/>
          </a:bodyPr>
          <a:lstStyle/>
          <a:p>
            <a:pPr algn="l">
              <a:spcAft>
                <a:spcPts val="300"/>
              </a:spcAft>
            </a:pPr>
            <a:r>
              <a:rPr sz="1050" b="0">
                <a:solidFill>
                  <a:srgbClr val="5B6372"/>
                </a:solidFill>
                <a:latin typeface="Arial"/>
              </a:rPr>
              <a:t>Outcome:  Synthesise Labs 1–24 into one secured, resilient, observable delivery system with a blueprint, an operational review and an evidence pack.</a:t>
            </a:r>
          </a:p>
          <a:p>
            <a:pPr algn="l">
              <a:spcAft>
                <a:spcPts val="300"/>
              </a:spcAft>
            </a:pPr>
            <a:r>
              <a:rPr sz="1050" b="0">
                <a:solidFill>
                  <a:srgbClr val="5B6372"/>
                </a:solidFill>
                <a:latin typeface="Arial"/>
              </a:rPr>
              <a:t>Evidence:  The completed blueprint.md with all six domain sections filled and cross-referenced to the labs.</a:t>
            </a:r>
          </a:p>
        </p:txBody>
      </p:sp>
      <p:sp>
        <p:nvSpPr>
          <p:cNvPr id="20" name="Rectangle 19"/>
          <p:cNvSpPr/>
          <p:nvPr/>
        </p:nvSpPr>
        <p:spPr>
          <a:xfrm>
            <a:off x="6446520" y="1783080"/>
            <a:ext cx="5029200" cy="290140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ab-25-capstone-blueprint-evidence-pack.jpg"/>
          <p:cNvPicPr>
            <a:picLocks noChangeAspect="1"/>
          </p:cNvPicPr>
          <p:nvPr/>
        </p:nvPicPr>
        <p:blipFill>
          <a:blip r:embed="rId2"/>
          <a:stretch>
            <a:fillRect/>
          </a:stretch>
        </p:blipFill>
        <p:spPr>
          <a:xfrm>
            <a:off x="6492240" y="1828800"/>
            <a:ext cx="4937760" cy="2809963"/>
          </a:xfrm>
          <a:prstGeom prst="rect">
            <a:avLst/>
          </a:prstGeom>
        </p:spPr>
      </p:pic>
      <p:sp>
        <p:nvSpPr>
          <p:cNvPr id="22" name="TextBox 21"/>
          <p:cNvSpPr txBox="1"/>
          <p:nvPr/>
        </p:nvSpPr>
        <p:spPr>
          <a:xfrm>
            <a:off x="6492240" y="4730203"/>
            <a:ext cx="4937760" cy="365760"/>
          </a:xfrm>
          <a:prstGeom prst="rect">
            <a:avLst/>
          </a:prstGeom>
          <a:noFill/>
        </p:spPr>
        <p:txBody>
          <a:bodyPr wrap="square" anchor="t">
            <a:spAutoFit/>
          </a:bodyPr>
          <a:lstStyle/>
          <a:p>
            <a:pPr algn="ctr">
              <a:spcAft>
                <a:spcPts val="400"/>
              </a:spcAft>
            </a:pPr>
            <a:r>
              <a:rPr sz="1100" b="1">
                <a:solidFill>
                  <a:srgbClr val="5B6372"/>
                </a:solidFill>
                <a:latin typeface="Arial"/>
              </a:rPr>
              <a:t>Reference architecture</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614</a:t>
            </a:r>
          </a:p>
        </p:txBody>
      </p:sp>
    </p:spTree>
  </p:cSld>
  <p:clrMapOvr>
    <a:masterClrMapping/>
  </p:clrMapOvr>
  <p:transition xmlns:p14="http://schemas.microsoft.com/office/powerpoint/2010/main" p14:dur="380">
    <p:fade/>
  </p:transition>
</p:sld>
</file>

<file path=ppt/slides/slide6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C0392B"/>
                </a:solidFill>
                <a:latin typeface="Arial"/>
              </a:rPr>
              <a:t>DOMAIN RECAP</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Recap — Security and Compliance</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10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6408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6408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127760"/>
          </a:xfrm>
          <a:prstGeom prst="rect">
            <a:avLst/>
          </a:prstGeom>
          <a:noFill/>
        </p:spPr>
        <p:txBody>
          <a:bodyPr wrap="square" anchor="ctr">
            <a:spAutoFit/>
          </a:bodyPr>
          <a:lstStyle/>
          <a:p>
            <a:pPr algn="l">
              <a:spcAft>
                <a:spcPts val="300"/>
              </a:spcAft>
            </a:pPr>
            <a:r>
              <a:rPr sz="1350" b="1">
                <a:solidFill>
                  <a:srgbClr val="161B26"/>
                </a:solidFill>
                <a:latin typeface="Arial"/>
              </a:rPr>
              <a:t>Lab 21</a:t>
            </a:r>
          </a:p>
          <a:p>
            <a:pPr algn="l">
              <a:spcAft>
                <a:spcPts val="300"/>
              </a:spcAft>
            </a:pPr>
            <a:r>
              <a:rPr sz="950" b="0">
                <a:solidFill>
                  <a:srgbClr val="5B6372"/>
                </a:solidFill>
                <a:latin typeface="Arial"/>
              </a:rPr>
              <a:t>Write a scoped IAM policy, cap it.</a:t>
            </a:r>
          </a:p>
        </p:txBody>
      </p:sp>
      <p:sp>
        <p:nvSpPr>
          <p:cNvPr id="12" name="Rectangle 11"/>
          <p:cNvSpPr/>
          <p:nvPr/>
        </p:nvSpPr>
        <p:spPr>
          <a:xfrm>
            <a:off x="6231636" y="1783080"/>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3106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6408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6408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127760"/>
          </a:xfrm>
          <a:prstGeom prst="rect">
            <a:avLst/>
          </a:prstGeom>
          <a:noFill/>
        </p:spPr>
        <p:txBody>
          <a:bodyPr wrap="square" anchor="ctr">
            <a:spAutoFit/>
          </a:bodyPr>
          <a:lstStyle/>
          <a:p>
            <a:pPr algn="l">
              <a:spcAft>
                <a:spcPts val="300"/>
              </a:spcAft>
            </a:pPr>
            <a:r>
              <a:rPr sz="1350" b="1">
                <a:solidFill>
                  <a:srgbClr val="161B26"/>
                </a:solidFill>
                <a:latin typeface="Arial"/>
              </a:rPr>
              <a:t>Lab 22</a:t>
            </a:r>
          </a:p>
          <a:p>
            <a:pPr algn="l">
              <a:spcAft>
                <a:spcPts val="300"/>
              </a:spcAft>
            </a:pPr>
            <a:r>
              <a:rPr sz="950" b="0">
                <a:solidFill>
                  <a:srgbClr val="5B6372"/>
                </a:solidFill>
                <a:latin typeface="Arial"/>
              </a:rPr>
              <a:t>Create a customer-managed KMS key with a key policy, store a secret with rotation.</a:t>
            </a:r>
          </a:p>
        </p:txBody>
      </p:sp>
      <p:sp>
        <p:nvSpPr>
          <p:cNvPr id="17" name="Rectangle 16"/>
          <p:cNvSpPr/>
          <p:nvPr/>
        </p:nvSpPr>
        <p:spPr>
          <a:xfrm>
            <a:off x="777240" y="3313176"/>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3176"/>
            <a:ext cx="91440" cy="13106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422904"/>
            <a:ext cx="3973068" cy="1127760"/>
          </a:xfrm>
          <a:prstGeom prst="rect">
            <a:avLst/>
          </a:prstGeom>
          <a:noFill/>
        </p:spPr>
        <p:txBody>
          <a:bodyPr wrap="square" anchor="ctr">
            <a:spAutoFit/>
          </a:bodyPr>
          <a:lstStyle/>
          <a:p>
            <a:pPr algn="l">
              <a:spcAft>
                <a:spcPts val="300"/>
              </a:spcAft>
            </a:pPr>
            <a:r>
              <a:rPr sz="1350" b="1">
                <a:solidFill>
                  <a:srgbClr val="161B26"/>
                </a:solidFill>
                <a:latin typeface="Arial"/>
              </a:rPr>
              <a:t>Lab 23</a:t>
            </a:r>
          </a:p>
          <a:p>
            <a:pPr algn="l">
              <a:spcAft>
                <a:spcPts val="300"/>
              </a:spcAft>
            </a:pPr>
            <a:r>
              <a:rPr sz="950" b="0">
                <a:solidFill>
                  <a:srgbClr val="5B6372"/>
                </a:solidFill>
                <a:latin typeface="Arial"/>
              </a:rPr>
              <a:t>Stand up a multi-Region CloudTrail with log-file validation and query it to export audit evidence.</a:t>
            </a:r>
          </a:p>
        </p:txBody>
      </p:sp>
      <p:sp>
        <p:nvSpPr>
          <p:cNvPr id="22" name="Rectangle 21"/>
          <p:cNvSpPr/>
          <p:nvPr/>
        </p:nvSpPr>
        <p:spPr>
          <a:xfrm>
            <a:off x="6231636" y="3313176"/>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3176"/>
            <a:ext cx="91440" cy="13106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422904"/>
            <a:ext cx="3973068" cy="1127760"/>
          </a:xfrm>
          <a:prstGeom prst="rect">
            <a:avLst/>
          </a:prstGeom>
          <a:noFill/>
        </p:spPr>
        <p:txBody>
          <a:bodyPr wrap="square" anchor="ctr">
            <a:spAutoFit/>
          </a:bodyPr>
          <a:lstStyle/>
          <a:p>
            <a:pPr algn="l">
              <a:spcAft>
                <a:spcPts val="300"/>
              </a:spcAft>
            </a:pPr>
            <a:r>
              <a:rPr sz="1350" b="1">
                <a:solidFill>
                  <a:srgbClr val="161B26"/>
                </a:solidFill>
                <a:latin typeface="Arial"/>
              </a:rPr>
              <a:t>Lab 24</a:t>
            </a:r>
          </a:p>
          <a:p>
            <a:pPr algn="l">
              <a:spcAft>
                <a:spcPts val="300"/>
              </a:spcAft>
            </a:pPr>
            <a:r>
              <a:rPr sz="950" b="0">
                <a:solidFill>
                  <a:srgbClr val="5B6372"/>
                </a:solidFill>
                <a:latin typeface="Arial"/>
              </a:rPr>
              <a:t>Enable AWS Config managed rules and Security Hub standards, inject a violation and remediate to COMPLIANT.</a:t>
            </a:r>
          </a:p>
        </p:txBody>
      </p:sp>
      <p:sp>
        <p:nvSpPr>
          <p:cNvPr id="27" name="Rectangle 26"/>
          <p:cNvSpPr/>
          <p:nvPr/>
        </p:nvSpPr>
        <p:spPr>
          <a:xfrm>
            <a:off x="777240" y="4843272"/>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43272"/>
            <a:ext cx="91440" cy="13106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24272"/>
            <a:ext cx="548640" cy="548640"/>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2427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953000"/>
            <a:ext cx="3973068" cy="1127760"/>
          </a:xfrm>
          <a:prstGeom prst="rect">
            <a:avLst/>
          </a:prstGeom>
          <a:noFill/>
        </p:spPr>
        <p:txBody>
          <a:bodyPr wrap="square" anchor="ctr">
            <a:spAutoFit/>
          </a:bodyPr>
          <a:lstStyle/>
          <a:p>
            <a:pPr algn="l">
              <a:spcAft>
                <a:spcPts val="300"/>
              </a:spcAft>
            </a:pPr>
            <a:r>
              <a:rPr sz="1350" b="1">
                <a:solidFill>
                  <a:srgbClr val="161B26"/>
                </a:solidFill>
                <a:latin typeface="Arial"/>
              </a:rPr>
              <a:t>Lab 25</a:t>
            </a:r>
          </a:p>
          <a:p>
            <a:pPr algn="l">
              <a:spcAft>
                <a:spcPts val="300"/>
              </a:spcAft>
            </a:pPr>
            <a:r>
              <a:rPr sz="950" b="0">
                <a:solidFill>
                  <a:srgbClr val="5B6372"/>
                </a:solidFill>
                <a:latin typeface="Arial"/>
              </a:rPr>
              <a:t>Synthesise Labs 1–24 into one secured, resilient, observable delivery system.</a:t>
            </a:r>
          </a:p>
        </p:txBody>
      </p:sp>
      <p:sp>
        <p:nvSpPr>
          <p:cNvPr id="32" name="Rectangle 31"/>
          <p:cNvSpPr/>
          <p:nvPr/>
        </p:nvSpPr>
        <p:spPr>
          <a:xfrm>
            <a:off x="6231636" y="4843272"/>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43272"/>
            <a:ext cx="91440" cy="1310640"/>
          </a:xfrm>
          <a:prstGeom prst="rect">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24272"/>
            <a:ext cx="548640" cy="548640"/>
          </a:xfrm>
          <a:prstGeom prst="ellipse">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2427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953000"/>
            <a:ext cx="3973068" cy="1127760"/>
          </a:xfrm>
          <a:prstGeom prst="rect">
            <a:avLst/>
          </a:prstGeom>
          <a:noFill/>
        </p:spPr>
        <p:txBody>
          <a:bodyPr wrap="square" anchor="ctr">
            <a:spAutoFit/>
          </a:bodyPr>
          <a:lstStyle/>
          <a:p>
            <a:pPr algn="l">
              <a:spcAft>
                <a:spcPts val="300"/>
              </a:spcAft>
            </a:pPr>
            <a:r>
              <a:rPr sz="1350" b="1">
                <a:solidFill>
                  <a:srgbClr val="161B26"/>
                </a:solidFill>
                <a:latin typeface="Arial"/>
              </a:rPr>
              <a:t>Key principle</a:t>
            </a:r>
          </a:p>
          <a:p>
            <a:pPr algn="l">
              <a:spcAft>
                <a:spcPts val="300"/>
              </a:spcAft>
            </a:pPr>
            <a:r>
              <a:rPr sz="950" b="0">
                <a:solidFill>
                  <a:srgbClr val="5B6372"/>
                </a:solidFill>
                <a:latin typeface="Arial"/>
              </a:rPr>
              <a:t>IAM users, roles, policies and permission boundaries enforce least privilege; roles beat long-lived keys.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615</a:t>
            </a:r>
          </a:p>
        </p:txBody>
      </p:sp>
    </p:spTree>
  </p:cSld>
  <p:clrMapOvr>
    <a:masterClrMapping/>
  </p:clrMapOvr>
  <p:transition xmlns:p14="http://schemas.microsoft.com/office/powerpoint/2010/main" p14:dur="380">
    <p:fade/>
  </p:transition>
</p:sld>
</file>

<file path=ppt/slides/slide6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PUTTING IT ALL TOGETHER</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Cross-Domain Integration</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The six domains are one system — a single sample application delivered, run and secured end to end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616</a:t>
            </a:r>
          </a:p>
        </p:txBody>
      </p:sp>
    </p:spTree>
  </p:cSld>
  <p:clrMapOvr>
    <a:masterClrMapping/>
  </p:clrMapOvr>
  <p:transition xmlns:p14="http://schemas.microsoft.com/office/powerpoint/2010/main" p14:dur="380">
    <p:fade/>
  </p:transition>
</p:sld>
</file>

<file path=ppt/slides/slide6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ALL SIX DOMAINS AS ONE SYSTEM</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The Sample Application, End to End</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965960"/>
            <a:ext cx="2377440" cy="1051560"/>
          </a:xfrm>
          <a:prstGeom prst="roundRect">
            <a:avLst/>
          </a:prstGeom>
          <a:solidFill>
            <a:srgbClr val="F5F8FC"/>
          </a:solidFill>
          <a:ln w="15875">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965960"/>
            <a:ext cx="2377440"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075688"/>
            <a:ext cx="2194560" cy="868680"/>
          </a:xfrm>
          <a:prstGeom prst="rect">
            <a:avLst/>
          </a:prstGeom>
          <a:noFill/>
        </p:spPr>
        <p:txBody>
          <a:bodyPr wrap="square" anchor="ctr">
            <a:spAutoFit/>
          </a:bodyPr>
          <a:lstStyle/>
          <a:p>
            <a:pPr algn="ctr">
              <a:spcAft>
                <a:spcPts val="400"/>
              </a:spcAft>
            </a:pPr>
            <a:r>
              <a:rPr sz="1300" b="1">
                <a:solidFill>
                  <a:srgbClr val="161B26"/>
                </a:solidFill>
                <a:latin typeface="Arial"/>
              </a:rPr>
              <a:t>Source
GitHub via CodeConnections</a:t>
            </a:r>
          </a:p>
        </p:txBody>
      </p:sp>
      <p:sp>
        <p:nvSpPr>
          <p:cNvPr id="10" name="Rounded Rectangle 9"/>
          <p:cNvSpPr/>
          <p:nvPr/>
        </p:nvSpPr>
        <p:spPr>
          <a:xfrm>
            <a:off x="3520440" y="1965960"/>
            <a:ext cx="2377440" cy="1051560"/>
          </a:xfrm>
          <a:prstGeom prst="roundRect">
            <a:avLst/>
          </a:prstGeom>
          <a:solidFill>
            <a:srgbClr val="F5F8FC"/>
          </a:solidFill>
          <a:ln w="15875">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520440" y="1965960"/>
            <a:ext cx="2377440"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11880" y="2075688"/>
            <a:ext cx="2194560" cy="868680"/>
          </a:xfrm>
          <a:prstGeom prst="rect">
            <a:avLst/>
          </a:prstGeom>
          <a:noFill/>
        </p:spPr>
        <p:txBody>
          <a:bodyPr wrap="square" anchor="ctr">
            <a:spAutoFit/>
          </a:bodyPr>
          <a:lstStyle/>
          <a:p>
            <a:pPr algn="ctr">
              <a:spcAft>
                <a:spcPts val="400"/>
              </a:spcAft>
            </a:pPr>
            <a:r>
              <a:rPr sz="1300" b="1">
                <a:solidFill>
                  <a:srgbClr val="161B26"/>
                </a:solidFill>
                <a:latin typeface="Arial"/>
              </a:rPr>
              <a:t>CI/CD
CodePipeline/Build/Deploy</a:t>
            </a:r>
          </a:p>
        </p:txBody>
      </p:sp>
      <p:sp>
        <p:nvSpPr>
          <p:cNvPr id="13" name="Rounded Rectangle 12"/>
          <p:cNvSpPr/>
          <p:nvPr/>
        </p:nvSpPr>
        <p:spPr>
          <a:xfrm>
            <a:off x="777240" y="3657600"/>
            <a:ext cx="2377440" cy="1051560"/>
          </a:xfrm>
          <a:prstGeom prst="roundRect">
            <a:avLst/>
          </a:prstGeom>
          <a:solidFill>
            <a:srgbClr val="F5F8FC"/>
          </a:solidFill>
          <a:ln w="15875">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3657600"/>
            <a:ext cx="237744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3767328"/>
            <a:ext cx="2194560" cy="868680"/>
          </a:xfrm>
          <a:prstGeom prst="rect">
            <a:avLst/>
          </a:prstGeom>
          <a:noFill/>
        </p:spPr>
        <p:txBody>
          <a:bodyPr wrap="square" anchor="ctr">
            <a:spAutoFit/>
          </a:bodyPr>
          <a:lstStyle/>
          <a:p>
            <a:pPr algn="ctr">
              <a:spcAft>
                <a:spcPts val="400"/>
              </a:spcAft>
            </a:pPr>
            <a:r>
              <a:rPr sz="1300" b="1">
                <a:solidFill>
                  <a:srgbClr val="161B26"/>
                </a:solidFill>
                <a:latin typeface="Arial"/>
              </a:rPr>
              <a:t>IaC
CloudFormation</a:t>
            </a:r>
          </a:p>
        </p:txBody>
      </p:sp>
      <p:sp>
        <p:nvSpPr>
          <p:cNvPr id="16" name="Rounded Rectangle 15"/>
          <p:cNvSpPr/>
          <p:nvPr/>
        </p:nvSpPr>
        <p:spPr>
          <a:xfrm>
            <a:off x="6263640" y="1965960"/>
            <a:ext cx="2377440" cy="1051560"/>
          </a:xfrm>
          <a:prstGeom prst="roundRect">
            <a:avLst/>
          </a:prstGeom>
          <a:solidFill>
            <a:srgbClr val="F5F8FC"/>
          </a:solidFill>
          <a:ln w="15875">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63640" y="1965960"/>
            <a:ext cx="237744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55080" y="2075688"/>
            <a:ext cx="2194560" cy="868680"/>
          </a:xfrm>
          <a:prstGeom prst="rect">
            <a:avLst/>
          </a:prstGeom>
          <a:noFill/>
        </p:spPr>
        <p:txBody>
          <a:bodyPr wrap="square" anchor="ctr">
            <a:spAutoFit/>
          </a:bodyPr>
          <a:lstStyle/>
          <a:p>
            <a:pPr algn="ctr">
              <a:spcAft>
                <a:spcPts val="400"/>
              </a:spcAft>
            </a:pPr>
            <a:r>
              <a:rPr sz="1300" b="1">
                <a:solidFill>
                  <a:srgbClr val="161B26"/>
                </a:solidFill>
                <a:latin typeface="Arial"/>
              </a:rPr>
              <a:t>Run (HA)
ALB + Multi-AZ ASG</a:t>
            </a:r>
          </a:p>
        </p:txBody>
      </p:sp>
      <p:sp>
        <p:nvSpPr>
          <p:cNvPr id="19" name="Rounded Rectangle 18"/>
          <p:cNvSpPr/>
          <p:nvPr/>
        </p:nvSpPr>
        <p:spPr>
          <a:xfrm>
            <a:off x="9006840" y="1965960"/>
            <a:ext cx="2377440" cy="1051560"/>
          </a:xfrm>
          <a:prstGeom prst="roundRect">
            <a:avLst/>
          </a:prstGeom>
          <a:solidFill>
            <a:srgbClr val="F5F8FC"/>
          </a:solidFill>
          <a:ln w="15875">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006840" y="1965960"/>
            <a:ext cx="2377440"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98280" y="2075688"/>
            <a:ext cx="2194560" cy="868680"/>
          </a:xfrm>
          <a:prstGeom prst="rect">
            <a:avLst/>
          </a:prstGeom>
          <a:noFill/>
        </p:spPr>
        <p:txBody>
          <a:bodyPr wrap="square" anchor="ctr">
            <a:spAutoFit/>
          </a:bodyPr>
          <a:lstStyle/>
          <a:p>
            <a:pPr algn="ctr">
              <a:spcAft>
                <a:spcPts val="400"/>
              </a:spcAft>
            </a:pPr>
            <a:r>
              <a:rPr sz="1300" b="1">
                <a:solidFill>
                  <a:srgbClr val="161B26"/>
                </a:solidFill>
                <a:latin typeface="Arial"/>
              </a:rPr>
              <a:t>Observe
CloudWatch + X-Ray</a:t>
            </a:r>
          </a:p>
        </p:txBody>
      </p:sp>
      <p:sp>
        <p:nvSpPr>
          <p:cNvPr id="22" name="Rounded Rectangle 21"/>
          <p:cNvSpPr/>
          <p:nvPr/>
        </p:nvSpPr>
        <p:spPr>
          <a:xfrm>
            <a:off x="9006840" y="3657600"/>
            <a:ext cx="2377440" cy="1051560"/>
          </a:xfrm>
          <a:prstGeom prst="roundRect">
            <a:avLst/>
          </a:prstGeom>
          <a:solidFill>
            <a:srgbClr val="F5F8FC"/>
          </a:solidFill>
          <a:ln w="15875">
            <a:solidFill>
              <a:srgbClr val="EC71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006840" y="3657600"/>
            <a:ext cx="2377440" cy="82296"/>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98280" y="3767328"/>
            <a:ext cx="2194560" cy="868680"/>
          </a:xfrm>
          <a:prstGeom prst="rect">
            <a:avLst/>
          </a:prstGeom>
          <a:noFill/>
        </p:spPr>
        <p:txBody>
          <a:bodyPr wrap="square" anchor="ctr">
            <a:spAutoFit/>
          </a:bodyPr>
          <a:lstStyle/>
          <a:p>
            <a:pPr algn="ctr">
              <a:spcAft>
                <a:spcPts val="400"/>
              </a:spcAft>
            </a:pPr>
            <a:r>
              <a:rPr sz="1300" b="1">
                <a:solidFill>
                  <a:srgbClr val="161B26"/>
                </a:solidFill>
                <a:latin typeface="Arial"/>
              </a:rPr>
              <a:t>Respond
EventBridge + Lambda</a:t>
            </a:r>
          </a:p>
        </p:txBody>
      </p:sp>
      <p:sp>
        <p:nvSpPr>
          <p:cNvPr id="25" name="Rounded Rectangle 24"/>
          <p:cNvSpPr/>
          <p:nvPr/>
        </p:nvSpPr>
        <p:spPr>
          <a:xfrm>
            <a:off x="6263640" y="3657600"/>
            <a:ext cx="2377440" cy="1051560"/>
          </a:xfrm>
          <a:prstGeom prst="roundRect">
            <a:avLst/>
          </a:prstGeom>
          <a:solidFill>
            <a:srgbClr val="F5F8FC"/>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63640" y="3657600"/>
            <a:ext cx="2377440" cy="82296"/>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55080" y="3767328"/>
            <a:ext cx="2194560" cy="868680"/>
          </a:xfrm>
          <a:prstGeom prst="rect">
            <a:avLst/>
          </a:prstGeom>
          <a:noFill/>
        </p:spPr>
        <p:txBody>
          <a:bodyPr wrap="square" anchor="ctr">
            <a:spAutoFit/>
          </a:bodyPr>
          <a:lstStyle/>
          <a:p>
            <a:pPr algn="ctr">
              <a:spcAft>
                <a:spcPts val="400"/>
              </a:spcAft>
            </a:pPr>
            <a:r>
              <a:rPr sz="1300" b="1">
                <a:solidFill>
                  <a:srgbClr val="161B26"/>
                </a:solidFill>
                <a:latin typeface="Arial"/>
              </a:rPr>
              <a:t>Secure &amp; Audit
IAM/Config/CloudTrail</a:t>
            </a:r>
          </a:p>
        </p:txBody>
      </p:sp>
      <p:cxnSp>
        <p:nvCxnSpPr>
          <p:cNvPr id="28" name="Connector 27"/>
          <p:cNvCxnSpPr/>
          <p:nvPr/>
        </p:nvCxnSpPr>
        <p:spPr>
          <a:xfrm flipV="1">
            <a:off x="1965960" y="3017520"/>
            <a:ext cx="0" cy="640080"/>
          </a:xfrm>
          <a:prstGeom prst="line">
            <a:avLst/>
          </a:prstGeom>
          <a:ln w="22225">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154680" y="2491740"/>
            <a:ext cx="365760" cy="0"/>
          </a:xfrm>
          <a:prstGeom prst="line">
            <a:avLst/>
          </a:prstGeom>
          <a:ln w="22225">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897880" y="2491740"/>
            <a:ext cx="365760" cy="0"/>
          </a:xfrm>
          <a:prstGeom prst="line">
            <a:avLst/>
          </a:prstGeom>
          <a:ln w="22225">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641080" y="2491740"/>
            <a:ext cx="365760" cy="0"/>
          </a:xfrm>
          <a:prstGeom prst="line">
            <a:avLst/>
          </a:prstGeom>
          <a:ln w="22225">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0195560" y="3017520"/>
            <a:ext cx="0" cy="640080"/>
          </a:xfrm>
          <a:prstGeom prst="line">
            <a:avLst/>
          </a:prstGeom>
          <a:ln w="22225">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flipV="1">
            <a:off x="8641080" y="2491740"/>
            <a:ext cx="365760" cy="1691640"/>
          </a:xfrm>
          <a:prstGeom prst="line">
            <a:avLst/>
          </a:prstGeom>
          <a:ln w="22225">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7452360" y="3017520"/>
            <a:ext cx="0" cy="640080"/>
          </a:xfrm>
          <a:prstGeom prst="line">
            <a:avLst/>
          </a:prstGeom>
          <a:ln w="22225">
            <a:solidFill>
              <a:srgbClr val="5B63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777240" y="5669280"/>
            <a:ext cx="10634472" cy="548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05840" y="5742432"/>
            <a:ext cx="10241280" cy="411480"/>
          </a:xfrm>
          <a:prstGeom prst="rect">
            <a:avLst/>
          </a:prstGeom>
          <a:noFill/>
        </p:spPr>
        <p:txBody>
          <a:bodyPr wrap="square" anchor="ctr">
            <a:spAutoFit/>
          </a:bodyPr>
          <a:lstStyle/>
          <a:p>
            <a:pPr algn="l">
              <a:spcAft>
                <a:spcPts val="400"/>
              </a:spcAft>
            </a:pPr>
            <a:r>
              <a:rPr sz="1300" b="1">
                <a:solidFill>
                  <a:srgbClr val="1F6FEB"/>
                </a:solidFill>
                <a:latin typeface="Arial"/>
              </a:rPr>
              <a:t>▶  </a:t>
            </a:r>
            <a:r>
              <a:rPr sz="1300" b="0">
                <a:solidFill>
                  <a:srgbClr val="161B26"/>
                </a:solidFill>
                <a:latin typeface="Arial"/>
              </a:rPr>
              <a:t>Domains 1–6 map onto one delivery-to-operations loop: build it (1), codify it (2), make it resilient (3), watch it (4), respond (5) and secure it (6).</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617</a:t>
            </a:r>
          </a:p>
        </p:txBody>
      </p:sp>
    </p:spTree>
  </p:cSld>
  <p:clrMapOvr>
    <a:masterClrMapping/>
  </p:clrMapOvr>
  <p:transition xmlns:p14="http://schemas.microsoft.com/office/powerpoint/2010/main" p14:dur="380">
    <p:fade/>
  </p:transition>
</p:sld>
</file>

<file path=ppt/slides/slide6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ONE CONNECTED SYSTEM · 5 LABS × 5 DAYS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How the 25 Labs Connect</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10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6408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6408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Day 1 → Day 2</a:t>
            </a:r>
          </a:p>
          <a:p>
            <a:pPr algn="l">
              <a:spcAft>
                <a:spcPts val="300"/>
              </a:spcAft>
            </a:pPr>
            <a:r>
              <a:rPr sz="1150" b="0">
                <a:solidFill>
                  <a:srgbClr val="5B6372"/>
                </a:solidFill>
                <a:latin typeface="Arial"/>
              </a:rPr>
              <a:t>The CI/CD pipeline built across Labs 1–5 deploys the Infrastructure as Code defined in Labs 6–10.</a:t>
            </a:r>
          </a:p>
        </p:txBody>
      </p:sp>
      <p:sp>
        <p:nvSpPr>
          <p:cNvPr id="12" name="Rectangle 11"/>
          <p:cNvSpPr/>
          <p:nvPr/>
        </p:nvSpPr>
        <p:spPr>
          <a:xfrm>
            <a:off x="6231636" y="1783080"/>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3106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6408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6408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Day 2 → Day 3</a:t>
            </a:r>
          </a:p>
          <a:p>
            <a:pPr algn="l">
              <a:spcAft>
                <a:spcPts val="300"/>
              </a:spcAft>
            </a:pPr>
            <a:r>
              <a:rPr sz="1150" b="0">
                <a:solidFill>
                  <a:srgbClr val="5B6372"/>
                </a:solidFill>
                <a:latin typeface="Arial"/>
              </a:rPr>
              <a:t>The network and app stacks become the highly available, auto-scaling, DR-ready foundation (Labs 11–15).</a:t>
            </a:r>
          </a:p>
        </p:txBody>
      </p:sp>
      <p:sp>
        <p:nvSpPr>
          <p:cNvPr id="17" name="Rectangle 16"/>
          <p:cNvSpPr/>
          <p:nvPr/>
        </p:nvSpPr>
        <p:spPr>
          <a:xfrm>
            <a:off x="777240" y="3313176"/>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3176"/>
            <a:ext cx="91440" cy="13106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422904"/>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Day 3 → Day 4</a:t>
            </a:r>
          </a:p>
          <a:p>
            <a:pPr algn="l">
              <a:spcAft>
                <a:spcPts val="300"/>
              </a:spcAft>
            </a:pPr>
            <a:r>
              <a:rPr sz="1150" b="0">
                <a:solidFill>
                  <a:srgbClr val="5B6372"/>
                </a:solidFill>
                <a:latin typeface="Arial"/>
              </a:rPr>
              <a:t>The running fleet emits the metrics, logs and events monitored and routed in Labs 16–20.</a:t>
            </a:r>
          </a:p>
        </p:txBody>
      </p:sp>
      <p:sp>
        <p:nvSpPr>
          <p:cNvPr id="22" name="Rectangle 21"/>
          <p:cNvSpPr/>
          <p:nvPr/>
        </p:nvSpPr>
        <p:spPr>
          <a:xfrm>
            <a:off x="6231636" y="3313176"/>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3176"/>
            <a:ext cx="91440" cy="13106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422904"/>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Day 4 → Day 5</a:t>
            </a:r>
          </a:p>
          <a:p>
            <a:pPr algn="l">
              <a:spcAft>
                <a:spcPts val="300"/>
              </a:spcAft>
            </a:pPr>
            <a:r>
              <a:rPr sz="1150" b="0">
                <a:solidFill>
                  <a:srgbClr val="5B6372"/>
                </a:solidFill>
                <a:latin typeface="Arial"/>
              </a:rPr>
              <a:t>Alarms and events drive automated response, then least-privilege, encryption and audit (Labs 21–24).</a:t>
            </a:r>
          </a:p>
        </p:txBody>
      </p:sp>
      <p:sp>
        <p:nvSpPr>
          <p:cNvPr id="27" name="Rectangle 26"/>
          <p:cNvSpPr/>
          <p:nvPr/>
        </p:nvSpPr>
        <p:spPr>
          <a:xfrm>
            <a:off x="777240" y="4843272"/>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43272"/>
            <a:ext cx="91440" cy="13106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24272"/>
            <a:ext cx="548640" cy="548640"/>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2427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953000"/>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Labs → Capstone</a:t>
            </a:r>
          </a:p>
          <a:p>
            <a:pPr algn="l">
              <a:spcAft>
                <a:spcPts val="300"/>
              </a:spcAft>
            </a:pPr>
            <a:r>
              <a:rPr sz="1150" b="0">
                <a:solidFill>
                  <a:srgbClr val="5B6372"/>
                </a:solidFill>
                <a:latin typeface="Arial"/>
              </a:rPr>
              <a:t>Lab 25 integrates all six domains into one secured, resilient, observable blueprint + evidence pack.</a:t>
            </a:r>
          </a:p>
        </p:txBody>
      </p:sp>
      <p:sp>
        <p:nvSpPr>
          <p:cNvPr id="32" name="Rectangle 31"/>
          <p:cNvSpPr/>
          <p:nvPr/>
        </p:nvSpPr>
        <p:spPr>
          <a:xfrm>
            <a:off x="6231636" y="4843272"/>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43272"/>
            <a:ext cx="91440" cy="1310640"/>
          </a:xfrm>
          <a:prstGeom prst="rect">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24272"/>
            <a:ext cx="548640" cy="548640"/>
          </a:xfrm>
          <a:prstGeom prst="ellipse">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2427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953000"/>
            <a:ext cx="3973068" cy="1127760"/>
          </a:xfrm>
          <a:prstGeom prst="rect">
            <a:avLst/>
          </a:prstGeom>
          <a:noFill/>
        </p:spPr>
        <p:txBody>
          <a:bodyPr wrap="square" anchor="ctr">
            <a:spAutoFit/>
          </a:bodyPr>
          <a:lstStyle/>
          <a:p>
            <a:pPr algn="l">
              <a:spcAft>
                <a:spcPts val="300"/>
              </a:spcAft>
            </a:pPr>
            <a:r>
              <a:rPr sz="1550" b="1">
                <a:solidFill>
                  <a:srgbClr val="161B26"/>
                </a:solidFill>
                <a:latin typeface="Arial"/>
              </a:rPr>
              <a:t>One system</a:t>
            </a:r>
          </a:p>
          <a:p>
            <a:pPr algn="l">
              <a:spcAft>
                <a:spcPts val="300"/>
              </a:spcAft>
            </a:pPr>
            <a:r>
              <a:rPr sz="1150" b="0">
                <a:solidFill>
                  <a:srgbClr val="5B6372"/>
                </a:solidFill>
                <a:latin typeface="Arial"/>
              </a:rPr>
              <a:t>Each lab produces an artifact the next builds on — 25 connected labs across 5 days, not isolated exercises.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618</a:t>
            </a:r>
          </a:p>
        </p:txBody>
      </p:sp>
    </p:spTree>
  </p:cSld>
  <p:clrMapOvr>
    <a:masterClrMapping/>
  </p:clrMapOvr>
  <p:transition xmlns:p14="http://schemas.microsoft.com/office/powerpoint/2010/main" p14:dur="380">
    <p:fade/>
  </p:transition>
</p:sld>
</file>

<file path=ppt/slides/slide6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TRACING ONE EVENT ACROSS ALL SIX DOMAINS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Capstone Scenario — A change, a failure, a recovery</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91440" cy="91440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1847088"/>
            <a:ext cx="2194560" cy="320040"/>
          </a:xfrm>
          <a:prstGeom prst="rect">
            <a:avLst/>
          </a:prstGeom>
          <a:noFill/>
        </p:spPr>
        <p:txBody>
          <a:bodyPr wrap="square" anchor="t">
            <a:spAutoFit/>
          </a:bodyPr>
          <a:lstStyle/>
          <a:p>
            <a:pPr algn="l">
              <a:spcAft>
                <a:spcPts val="400"/>
              </a:spcAft>
            </a:pPr>
            <a:r>
              <a:rPr sz="1150" b="1">
                <a:solidFill>
                  <a:srgbClr val="5B6372"/>
                </a:solidFill>
                <a:latin typeface="Arial"/>
              </a:rPr>
              <a:t>SITUATION</a:t>
            </a:r>
          </a:p>
        </p:txBody>
      </p:sp>
      <p:sp>
        <p:nvSpPr>
          <p:cNvPr id="10" name="TextBox 9"/>
          <p:cNvSpPr txBox="1"/>
          <p:nvPr/>
        </p:nvSpPr>
        <p:spPr>
          <a:xfrm>
            <a:off x="1033272" y="2157984"/>
            <a:ext cx="10085832" cy="457200"/>
          </a:xfrm>
          <a:prstGeom prst="rect">
            <a:avLst/>
          </a:prstGeom>
          <a:noFill/>
        </p:spPr>
        <p:txBody>
          <a:bodyPr wrap="square" anchor="t">
            <a:spAutoFit/>
          </a:bodyPr>
          <a:lstStyle/>
          <a:p>
            <a:pPr algn="l">
              <a:spcAft>
                <a:spcPts val="400"/>
              </a:spcAft>
            </a:pPr>
            <a:r>
              <a:rPr sz="1300" b="0">
                <a:solidFill>
                  <a:srgbClr val="161B26"/>
                </a:solidFill>
                <a:latin typeface="Arial"/>
              </a:rPr>
              <a:t>A developer merges a change that passes tests but degrades checkout latency once at production scale.</a:t>
            </a:r>
          </a:p>
        </p:txBody>
      </p:sp>
      <p:sp>
        <p:nvSpPr>
          <p:cNvPr id="11" name="Rectangle 10"/>
          <p:cNvSpPr/>
          <p:nvPr/>
        </p:nvSpPr>
        <p:spPr>
          <a:xfrm>
            <a:off x="777240" y="2788920"/>
            <a:ext cx="10634472" cy="21945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788920"/>
            <a:ext cx="91440" cy="2194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880360"/>
            <a:ext cx="2743200" cy="320040"/>
          </a:xfrm>
          <a:prstGeom prst="rect">
            <a:avLst/>
          </a:prstGeom>
          <a:noFill/>
        </p:spPr>
        <p:txBody>
          <a:bodyPr wrap="square" anchor="t">
            <a:spAutoFit/>
          </a:bodyPr>
          <a:lstStyle/>
          <a:p>
            <a:pPr algn="l">
              <a:spcAft>
                <a:spcPts val="400"/>
              </a:spcAft>
            </a:pPr>
            <a:r>
              <a:rPr sz="1150" b="1">
                <a:solidFill>
                  <a:srgbClr val="1F6FEB"/>
                </a:solidFill>
                <a:latin typeface="Arial"/>
              </a:rPr>
              <a:t>ANALYSIS</a:t>
            </a:r>
          </a:p>
        </p:txBody>
      </p:sp>
      <p:sp>
        <p:nvSpPr>
          <p:cNvPr id="14" name="TextBox 13"/>
          <p:cNvSpPr txBox="1"/>
          <p:nvPr/>
        </p:nvSpPr>
        <p:spPr>
          <a:xfrm>
            <a:off x="1033272" y="3246120"/>
            <a:ext cx="9994392" cy="1645920"/>
          </a:xfrm>
          <a:prstGeom prst="rect">
            <a:avLst/>
          </a:prstGeom>
          <a:noFill/>
        </p:spPr>
        <p:txBody>
          <a:bodyPr wrap="square">
            <a:spAutoFit/>
          </a:bodyPr>
          <a:lstStyle/>
          <a:p>
            <a:pPr>
              <a:spcAft>
                <a:spcPts val="700"/>
              </a:spcAft>
            </a:pPr>
            <a:r>
              <a:rPr sz="1300" b="0">
                <a:solidFill>
                  <a:srgbClr val="161B26"/>
                </a:solidFill>
                <a:latin typeface="Arial"/>
              </a:rPr>
              <a:t>•  Domain 1: the pipeline built and promoted an immutable artifact with a canary stage.</a:t>
            </a:r>
          </a:p>
          <a:p>
            <a:pPr>
              <a:spcAft>
                <a:spcPts val="700"/>
              </a:spcAft>
            </a:pPr>
            <a:r>
              <a:rPr sz="1300" b="0">
                <a:solidFill>
                  <a:srgbClr val="161B26"/>
                </a:solidFill>
                <a:latin typeface="Arial"/>
              </a:rPr>
              <a:t>•  Domain 3/4: canary p99 latency breaches the SLO; the CloudWatch alarm fires within minutes.</a:t>
            </a:r>
          </a:p>
          <a:p>
            <a:pPr>
              <a:spcAft>
                <a:spcPts val="700"/>
              </a:spcAft>
            </a:pPr>
            <a:r>
              <a:rPr sz="1300" b="0">
                <a:solidFill>
                  <a:srgbClr val="161B26"/>
                </a:solidFill>
                <a:latin typeface="Arial"/>
              </a:rPr>
              <a:t>•  Domain 5: the alarm triggers CodeDeploy auto-rollback and notifies the on-call via EventBridge/SNS.</a:t>
            </a:r>
          </a:p>
          <a:p>
            <a:pPr>
              <a:spcAft>
                <a:spcPts val="700"/>
              </a:spcAft>
            </a:pPr>
            <a:r>
              <a:rPr sz="1300" b="0">
                <a:solidFill>
                  <a:srgbClr val="161B26"/>
                </a:solidFill>
                <a:latin typeface="Arial"/>
              </a:rPr>
              <a:t>•  Domain 6: CloudTrail records exactly who changed what, feeding the blameless review.</a:t>
            </a:r>
          </a:p>
          <a:p>
            <a:pPr>
              <a:spcAft>
                <a:spcPts val="700"/>
              </a:spcAft>
            </a:pPr>
            <a:r>
              <a:rPr sz="1300" b="0">
                <a:solidFill>
                  <a:srgbClr val="161B26"/>
                </a:solidFill>
                <a:latin typeface="Arial"/>
              </a:rPr>
              <a:t>•  Domain 2: the durable fix is encoded in the template/config and re-applied, not hand-patched.</a:t>
            </a:r>
          </a:p>
        </p:txBody>
      </p:sp>
      <p:sp>
        <p:nvSpPr>
          <p:cNvPr id="15" name="Rectangle 14"/>
          <p:cNvSpPr/>
          <p:nvPr/>
        </p:nvSpPr>
        <p:spPr>
          <a:xfrm>
            <a:off x="777240" y="5102352"/>
            <a:ext cx="10634472"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5102352"/>
            <a:ext cx="91440" cy="9601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2" y="5193792"/>
            <a:ext cx="2743200" cy="320040"/>
          </a:xfrm>
          <a:prstGeom prst="rect">
            <a:avLst/>
          </a:prstGeom>
          <a:noFill/>
        </p:spPr>
        <p:txBody>
          <a:bodyPr wrap="square" anchor="t">
            <a:spAutoFit/>
          </a:bodyPr>
          <a:lstStyle/>
          <a:p>
            <a:pPr algn="l">
              <a:spcAft>
                <a:spcPts val="400"/>
              </a:spcAft>
            </a:pPr>
            <a:r>
              <a:rPr sz="1150" b="1">
                <a:solidFill>
                  <a:srgbClr val="10B981"/>
                </a:solidFill>
                <a:latin typeface="Arial"/>
              </a:rPr>
              <a:t>DECISION</a:t>
            </a:r>
          </a:p>
        </p:txBody>
      </p:sp>
      <p:sp>
        <p:nvSpPr>
          <p:cNvPr id="18" name="TextBox 17"/>
          <p:cNvSpPr txBox="1"/>
          <p:nvPr/>
        </p:nvSpPr>
        <p:spPr>
          <a:xfrm>
            <a:off x="1033272" y="5486400"/>
            <a:ext cx="10085832" cy="548640"/>
          </a:xfrm>
          <a:prstGeom prst="rect">
            <a:avLst/>
          </a:prstGeom>
          <a:noFill/>
        </p:spPr>
        <p:txBody>
          <a:bodyPr wrap="square" anchor="t">
            <a:spAutoFit/>
          </a:bodyPr>
          <a:lstStyle/>
          <a:p>
            <a:pPr algn="l">
              <a:spcAft>
                <a:spcPts val="400"/>
              </a:spcAft>
            </a:pPr>
            <a:r>
              <a:rPr sz="1300" b="1">
                <a:solidFill>
                  <a:srgbClr val="161B26"/>
                </a:solidFill>
                <a:latin typeface="Arial"/>
              </a:rPr>
              <a:t>No 2am heroics: the system detects, rolls back and records the event automatically. The follow-up hardens the canary threshold and adds a regression test.</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619</a:t>
            </a:r>
          </a:p>
        </p:txBody>
      </p:sp>
    </p:spTree>
  </p:cSld>
  <p:clrMapOvr>
    <a:masterClrMapping/>
  </p:clrMapOvr>
  <p:transition xmlns:p14="http://schemas.microsoft.com/office/powerpoint/2010/main" p14:dur="380">
    <p:fade/>
  </p:transition>
</p:sld>
</file>

<file path=ppt/slides/slide6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MAPPING A NEED ONTO THE DOMAINS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From Business Requirement to Six-Domain Design</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4253788" cy="76581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73152" cy="76581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31028" y="1783080"/>
            <a:ext cx="6380684" cy="76581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8408" y="1783080"/>
            <a:ext cx="3933748" cy="765810"/>
          </a:xfrm>
          <a:prstGeom prst="rect">
            <a:avLst/>
          </a:prstGeom>
          <a:noFill/>
        </p:spPr>
        <p:txBody>
          <a:bodyPr wrap="square" anchor="ctr">
            <a:spAutoFit/>
          </a:bodyPr>
          <a:lstStyle/>
          <a:p>
            <a:pPr algn="l">
              <a:spcAft>
                <a:spcPts val="400"/>
              </a:spcAft>
            </a:pPr>
            <a:r>
              <a:rPr sz="1250" b="1">
                <a:solidFill>
                  <a:srgbClr val="161B26"/>
                </a:solidFill>
                <a:latin typeface="Arial"/>
              </a:rPr>
              <a:t>'Ship weekly without downtime'</a:t>
            </a:r>
          </a:p>
        </p:txBody>
      </p:sp>
      <p:sp>
        <p:nvSpPr>
          <p:cNvPr id="11" name="TextBox 10"/>
          <p:cNvSpPr txBox="1"/>
          <p:nvPr/>
        </p:nvSpPr>
        <p:spPr>
          <a:xfrm>
            <a:off x="5213908" y="1783080"/>
            <a:ext cx="6060644" cy="765810"/>
          </a:xfrm>
          <a:prstGeom prst="rect">
            <a:avLst/>
          </a:prstGeom>
          <a:noFill/>
        </p:spPr>
        <p:txBody>
          <a:bodyPr wrap="square" anchor="ctr">
            <a:spAutoFit/>
          </a:bodyPr>
          <a:lstStyle/>
          <a:p>
            <a:pPr algn="l">
              <a:spcAft>
                <a:spcPts val="400"/>
              </a:spcAft>
            </a:pPr>
            <a:r>
              <a:rPr sz="1200" b="0">
                <a:solidFill>
                  <a:srgbClr val="5B6372"/>
                </a:solidFill>
                <a:latin typeface="Arial"/>
              </a:rPr>
              <a:t>Domain 1 CI/CD + blue/green; Domain 3 multi-AZ so releases don't drop traffic.</a:t>
            </a:r>
          </a:p>
        </p:txBody>
      </p:sp>
      <p:sp>
        <p:nvSpPr>
          <p:cNvPr id="12" name="Rectangle 11"/>
          <p:cNvSpPr/>
          <p:nvPr/>
        </p:nvSpPr>
        <p:spPr>
          <a:xfrm>
            <a:off x="777240" y="2548890"/>
            <a:ext cx="4253788" cy="76581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548890"/>
            <a:ext cx="73152" cy="76581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31028" y="2548890"/>
            <a:ext cx="6380684" cy="76581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78408" y="2548890"/>
            <a:ext cx="3933748" cy="765810"/>
          </a:xfrm>
          <a:prstGeom prst="rect">
            <a:avLst/>
          </a:prstGeom>
          <a:noFill/>
        </p:spPr>
        <p:txBody>
          <a:bodyPr wrap="square" anchor="ctr">
            <a:spAutoFit/>
          </a:bodyPr>
          <a:lstStyle/>
          <a:p>
            <a:pPr algn="l">
              <a:spcAft>
                <a:spcPts val="400"/>
              </a:spcAft>
            </a:pPr>
            <a:r>
              <a:rPr sz="1250" b="1">
                <a:solidFill>
                  <a:srgbClr val="161B26"/>
                </a:solidFill>
                <a:latin typeface="Arial"/>
              </a:rPr>
              <a:t>'Recover an AZ loss in minutes'</a:t>
            </a:r>
          </a:p>
        </p:txBody>
      </p:sp>
      <p:sp>
        <p:nvSpPr>
          <p:cNvPr id="16" name="TextBox 15"/>
          <p:cNvSpPr txBox="1"/>
          <p:nvPr/>
        </p:nvSpPr>
        <p:spPr>
          <a:xfrm>
            <a:off x="5213908" y="2548890"/>
            <a:ext cx="6060644" cy="765810"/>
          </a:xfrm>
          <a:prstGeom prst="rect">
            <a:avLst/>
          </a:prstGeom>
          <a:noFill/>
        </p:spPr>
        <p:txBody>
          <a:bodyPr wrap="square" anchor="ctr">
            <a:spAutoFit/>
          </a:bodyPr>
          <a:lstStyle/>
          <a:p>
            <a:pPr algn="l">
              <a:spcAft>
                <a:spcPts val="400"/>
              </a:spcAft>
            </a:pPr>
            <a:r>
              <a:rPr sz="1200" b="0">
                <a:solidFill>
                  <a:srgbClr val="5B6372"/>
                </a:solidFill>
                <a:latin typeface="Arial"/>
              </a:rPr>
              <a:t>Domain 3 Multi-AZ ASG + RDS failover; Domain 4 alarms to confirm health.</a:t>
            </a:r>
          </a:p>
        </p:txBody>
      </p:sp>
      <p:sp>
        <p:nvSpPr>
          <p:cNvPr id="17" name="Rectangle 16"/>
          <p:cNvSpPr/>
          <p:nvPr/>
        </p:nvSpPr>
        <p:spPr>
          <a:xfrm>
            <a:off x="777240" y="3314700"/>
            <a:ext cx="4253788" cy="76581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4700"/>
            <a:ext cx="73152" cy="76581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31028" y="3314700"/>
            <a:ext cx="6380684" cy="76581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3314700"/>
            <a:ext cx="3933748" cy="765810"/>
          </a:xfrm>
          <a:prstGeom prst="rect">
            <a:avLst/>
          </a:prstGeom>
          <a:noFill/>
        </p:spPr>
        <p:txBody>
          <a:bodyPr wrap="square" anchor="ctr">
            <a:spAutoFit/>
          </a:bodyPr>
          <a:lstStyle/>
          <a:p>
            <a:pPr algn="l">
              <a:spcAft>
                <a:spcPts val="400"/>
              </a:spcAft>
            </a:pPr>
            <a:r>
              <a:rPr sz="1250" b="1">
                <a:solidFill>
                  <a:srgbClr val="161B26"/>
                </a:solidFill>
                <a:latin typeface="Arial"/>
              </a:rPr>
              <a:t>'Know within a minute when it breaks'</a:t>
            </a:r>
          </a:p>
        </p:txBody>
      </p:sp>
      <p:sp>
        <p:nvSpPr>
          <p:cNvPr id="21" name="TextBox 20"/>
          <p:cNvSpPr txBox="1"/>
          <p:nvPr/>
        </p:nvSpPr>
        <p:spPr>
          <a:xfrm>
            <a:off x="5213908" y="3314700"/>
            <a:ext cx="6060644" cy="765810"/>
          </a:xfrm>
          <a:prstGeom prst="rect">
            <a:avLst/>
          </a:prstGeom>
          <a:noFill/>
        </p:spPr>
        <p:txBody>
          <a:bodyPr wrap="square" anchor="ctr">
            <a:spAutoFit/>
          </a:bodyPr>
          <a:lstStyle/>
          <a:p>
            <a:pPr algn="l">
              <a:spcAft>
                <a:spcPts val="400"/>
              </a:spcAft>
            </a:pPr>
            <a:r>
              <a:rPr sz="1200" b="0">
                <a:solidFill>
                  <a:srgbClr val="5B6372"/>
                </a:solidFill>
                <a:latin typeface="Arial"/>
              </a:rPr>
              <a:t>Domain 4 golden-signal alarms; Domain 5 event-driven notify + remediate.</a:t>
            </a:r>
          </a:p>
        </p:txBody>
      </p:sp>
      <p:sp>
        <p:nvSpPr>
          <p:cNvPr id="22" name="Rectangle 21"/>
          <p:cNvSpPr/>
          <p:nvPr/>
        </p:nvSpPr>
        <p:spPr>
          <a:xfrm>
            <a:off x="777240" y="4080510"/>
            <a:ext cx="4253788" cy="76581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080510"/>
            <a:ext cx="73152" cy="76581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031028" y="4080510"/>
            <a:ext cx="6380684" cy="76581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8408" y="4080510"/>
            <a:ext cx="3933748" cy="765810"/>
          </a:xfrm>
          <a:prstGeom prst="rect">
            <a:avLst/>
          </a:prstGeom>
          <a:noFill/>
        </p:spPr>
        <p:txBody>
          <a:bodyPr wrap="square" anchor="ctr">
            <a:spAutoFit/>
          </a:bodyPr>
          <a:lstStyle/>
          <a:p>
            <a:pPr algn="l">
              <a:spcAft>
                <a:spcPts val="400"/>
              </a:spcAft>
            </a:pPr>
            <a:r>
              <a:rPr sz="1250" b="1">
                <a:solidFill>
                  <a:srgbClr val="161B26"/>
                </a:solidFill>
                <a:latin typeface="Arial"/>
              </a:rPr>
              <a:t>'Prove we are compliant'</a:t>
            </a:r>
          </a:p>
        </p:txBody>
      </p:sp>
      <p:sp>
        <p:nvSpPr>
          <p:cNvPr id="26" name="TextBox 25"/>
          <p:cNvSpPr txBox="1"/>
          <p:nvPr/>
        </p:nvSpPr>
        <p:spPr>
          <a:xfrm>
            <a:off x="5213908" y="4080510"/>
            <a:ext cx="6060644" cy="765810"/>
          </a:xfrm>
          <a:prstGeom prst="rect">
            <a:avLst/>
          </a:prstGeom>
          <a:noFill/>
        </p:spPr>
        <p:txBody>
          <a:bodyPr wrap="square" anchor="ctr">
            <a:spAutoFit/>
          </a:bodyPr>
          <a:lstStyle/>
          <a:p>
            <a:pPr algn="l">
              <a:spcAft>
                <a:spcPts val="400"/>
              </a:spcAft>
            </a:pPr>
            <a:r>
              <a:rPr sz="1200" b="0">
                <a:solidFill>
                  <a:srgbClr val="5B6372"/>
                </a:solidFill>
                <a:latin typeface="Arial"/>
              </a:rPr>
              <a:t>Domain 6 Config + CloudTrail; Domain 2 guardrails as code in every account.</a:t>
            </a:r>
          </a:p>
        </p:txBody>
      </p:sp>
      <p:sp>
        <p:nvSpPr>
          <p:cNvPr id="27" name="Rectangle 26"/>
          <p:cNvSpPr/>
          <p:nvPr/>
        </p:nvSpPr>
        <p:spPr>
          <a:xfrm>
            <a:off x="777240" y="5010912"/>
            <a:ext cx="10634472" cy="868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010912"/>
            <a:ext cx="91440" cy="8686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33272" y="5102352"/>
            <a:ext cx="2743200" cy="320040"/>
          </a:xfrm>
          <a:prstGeom prst="rect">
            <a:avLst/>
          </a:prstGeom>
          <a:noFill/>
        </p:spPr>
        <p:txBody>
          <a:bodyPr wrap="square" anchor="t">
            <a:spAutoFit/>
          </a:bodyPr>
          <a:lstStyle/>
          <a:p>
            <a:pPr algn="l">
              <a:spcAft>
                <a:spcPts val="400"/>
              </a:spcAft>
            </a:pPr>
            <a:r>
              <a:rPr sz="1150" b="1">
                <a:solidFill>
                  <a:srgbClr val="10B981"/>
                </a:solidFill>
                <a:latin typeface="Arial"/>
              </a:rPr>
              <a:t>TAKEAWAY</a:t>
            </a:r>
          </a:p>
        </p:txBody>
      </p:sp>
      <p:sp>
        <p:nvSpPr>
          <p:cNvPr id="30" name="TextBox 29"/>
          <p:cNvSpPr txBox="1"/>
          <p:nvPr/>
        </p:nvSpPr>
        <p:spPr>
          <a:xfrm>
            <a:off x="1033272" y="5394960"/>
            <a:ext cx="10085832" cy="457200"/>
          </a:xfrm>
          <a:prstGeom prst="rect">
            <a:avLst/>
          </a:prstGeom>
          <a:noFill/>
        </p:spPr>
        <p:txBody>
          <a:bodyPr wrap="square" anchor="t">
            <a:spAutoFit/>
          </a:bodyPr>
          <a:lstStyle/>
          <a:p>
            <a:pPr algn="l">
              <a:spcAft>
                <a:spcPts val="400"/>
              </a:spcAft>
            </a:pPr>
            <a:r>
              <a:rPr sz="1300" b="1">
                <a:solidFill>
                  <a:srgbClr val="161B26"/>
                </a:solidFill>
                <a:latin typeface="Arial"/>
              </a:rPr>
              <a:t>Real requirements cut across domains — a competent DevOps engineer composes controls from all six into one coherent design.</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620</a:t>
            </a:r>
          </a:p>
        </p:txBody>
      </p:sp>
    </p:spTree>
  </p:cSld>
  <p:clrMapOvr>
    <a:masterClrMapping/>
  </p:clrMapOvr>
  <p:transition xmlns:p14="http://schemas.microsoft.com/office/powerpoint/2010/main" p14:dur="380">
    <p:fade/>
  </p:transition>
</p:sld>
</file>

<file path=ppt/slides/slide6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 RECURRING DEVOPS TRADE-OFF</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Decision — Build It Yourself or Use a Managed Service?</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057400"/>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057400"/>
            <a:ext cx="457200" cy="457200"/>
          </a:xfrm>
          <a:prstGeom prst="rect">
            <a:avLst/>
          </a:prstGeom>
          <a:noFill/>
        </p:spPr>
        <p:txBody>
          <a:bodyPr wrap="square" anchor="ctr">
            <a:spAutoFit/>
          </a:bodyPr>
          <a:lstStyle/>
          <a:p>
            <a:pPr algn="ctr">
              <a:spcAft>
                <a:spcPts val="400"/>
              </a:spcAft>
            </a:pPr>
            <a:r>
              <a:rPr sz="2000" b="1">
                <a:solidFill>
                  <a:srgbClr val="FFFFFF"/>
                </a:solidFill>
                <a:latin typeface="Arial"/>
              </a:rPr>
              <a:t>A</a:t>
            </a:r>
          </a:p>
        </p:txBody>
      </p:sp>
      <p:sp>
        <p:nvSpPr>
          <p:cNvPr id="11" name="TextBox 10"/>
          <p:cNvSpPr txBox="1"/>
          <p:nvPr/>
        </p:nvSpPr>
        <p:spPr>
          <a:xfrm>
            <a:off x="1645920" y="2084831"/>
            <a:ext cx="2286000" cy="640080"/>
          </a:xfrm>
          <a:prstGeom prst="rect">
            <a:avLst/>
          </a:prstGeom>
          <a:noFill/>
        </p:spPr>
        <p:txBody>
          <a:bodyPr wrap="square" anchor="ctr">
            <a:spAutoFit/>
          </a:bodyPr>
          <a:lstStyle/>
          <a:p>
            <a:pPr algn="l">
              <a:spcAft>
                <a:spcPts val="400"/>
              </a:spcAft>
            </a:pPr>
            <a:r>
              <a:rPr sz="1450" b="1">
                <a:solidFill>
                  <a:srgbClr val="1F6FEB"/>
                </a:solidFill>
                <a:latin typeface="Arial"/>
              </a:rPr>
              <a:t>Managed service</a:t>
            </a:r>
          </a:p>
        </p:txBody>
      </p:sp>
      <p:sp>
        <p:nvSpPr>
          <p:cNvPr id="12" name="TextBox 11"/>
          <p:cNvSpPr txBox="1"/>
          <p:nvPr/>
        </p:nvSpPr>
        <p:spPr>
          <a:xfrm>
            <a:off x="1033272" y="2788920"/>
            <a:ext cx="2880360" cy="3108960"/>
          </a:xfrm>
          <a:prstGeom prst="rect">
            <a:avLst/>
          </a:prstGeom>
          <a:noFill/>
        </p:spPr>
        <p:txBody>
          <a:bodyPr wrap="square" anchor="t">
            <a:spAutoFit/>
          </a:bodyPr>
          <a:lstStyle/>
          <a:p>
            <a:pPr algn="l">
              <a:spcAft>
                <a:spcPts val="400"/>
              </a:spcAft>
            </a:pPr>
            <a:r>
              <a:rPr sz="1250" b="0">
                <a:solidFill>
                  <a:srgbClr val="161B26"/>
                </a:solidFill>
                <a:latin typeface="Arial"/>
              </a:rPr>
              <a:t>Default choice. Less undifferentiated heavy lifting (e.g. RDS vs self-run DB) — at higher unit cost and less control.</a:t>
            </a:r>
          </a:p>
        </p:txBody>
      </p:sp>
      <p:sp>
        <p:nvSpPr>
          <p:cNvPr id="13" name="Rectangle 12"/>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828032" y="2057400"/>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28032" y="2057400"/>
            <a:ext cx="457200" cy="457200"/>
          </a:xfrm>
          <a:prstGeom prst="rect">
            <a:avLst/>
          </a:prstGeom>
          <a:noFill/>
        </p:spPr>
        <p:txBody>
          <a:bodyPr wrap="square" anchor="ctr">
            <a:spAutoFit/>
          </a:bodyPr>
          <a:lstStyle/>
          <a:p>
            <a:pPr algn="ctr">
              <a:spcAft>
                <a:spcPts val="400"/>
              </a:spcAft>
            </a:pPr>
            <a:r>
              <a:rPr sz="2000" b="1">
                <a:solidFill>
                  <a:srgbClr val="FFFFFF"/>
                </a:solidFill>
                <a:latin typeface="Arial"/>
              </a:rPr>
              <a:t>B</a:t>
            </a:r>
          </a:p>
        </p:txBody>
      </p:sp>
      <p:sp>
        <p:nvSpPr>
          <p:cNvPr id="17" name="TextBox 16"/>
          <p:cNvSpPr txBox="1"/>
          <p:nvPr/>
        </p:nvSpPr>
        <p:spPr>
          <a:xfrm>
            <a:off x="5440680" y="2084831"/>
            <a:ext cx="2286000" cy="640080"/>
          </a:xfrm>
          <a:prstGeom prst="rect">
            <a:avLst/>
          </a:prstGeom>
          <a:noFill/>
        </p:spPr>
        <p:txBody>
          <a:bodyPr wrap="square" anchor="ctr">
            <a:spAutoFit/>
          </a:bodyPr>
          <a:lstStyle/>
          <a:p>
            <a:pPr algn="l">
              <a:spcAft>
                <a:spcPts val="400"/>
              </a:spcAft>
            </a:pPr>
            <a:r>
              <a:rPr sz="1450" b="1">
                <a:solidFill>
                  <a:srgbClr val="7C3AED"/>
                </a:solidFill>
                <a:latin typeface="Arial"/>
              </a:rPr>
              <a:t>Self-managed on EC2</a:t>
            </a:r>
          </a:p>
        </p:txBody>
      </p:sp>
      <p:sp>
        <p:nvSpPr>
          <p:cNvPr id="18" name="TextBox 17"/>
          <p:cNvSpPr txBox="1"/>
          <p:nvPr/>
        </p:nvSpPr>
        <p:spPr>
          <a:xfrm>
            <a:off x="4828032" y="2788920"/>
            <a:ext cx="2880360" cy="3108960"/>
          </a:xfrm>
          <a:prstGeom prst="rect">
            <a:avLst/>
          </a:prstGeom>
          <a:noFill/>
        </p:spPr>
        <p:txBody>
          <a:bodyPr wrap="square" anchor="t">
            <a:spAutoFit/>
          </a:bodyPr>
          <a:lstStyle/>
          <a:p>
            <a:pPr algn="l">
              <a:spcAft>
                <a:spcPts val="400"/>
              </a:spcAft>
            </a:pPr>
            <a:r>
              <a:rPr sz="1250" b="0">
                <a:solidFill>
                  <a:srgbClr val="161B26"/>
                </a:solidFill>
                <a:latin typeface="Arial"/>
              </a:rPr>
              <a:t>Only when you need control the managed option can't give (custom kernel, licensing). More ops burden and patching you own.</a:t>
            </a:r>
          </a:p>
        </p:txBody>
      </p:sp>
      <p:sp>
        <p:nvSpPr>
          <p:cNvPr id="19" name="Rectangle 18"/>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36676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622792" y="205740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22792" y="2057400"/>
            <a:ext cx="457200" cy="457200"/>
          </a:xfrm>
          <a:prstGeom prst="rect">
            <a:avLst/>
          </a:prstGeom>
          <a:noFill/>
        </p:spPr>
        <p:txBody>
          <a:bodyPr wrap="square" anchor="ctr">
            <a:spAutoFit/>
          </a:bodyPr>
          <a:lstStyle/>
          <a:p>
            <a:pPr algn="ctr">
              <a:spcAft>
                <a:spcPts val="400"/>
              </a:spcAft>
            </a:pPr>
            <a:r>
              <a:rPr sz="2000" b="1">
                <a:solidFill>
                  <a:srgbClr val="FFFFFF"/>
                </a:solidFill>
                <a:latin typeface="Arial"/>
              </a:rPr>
              <a:t>C</a:t>
            </a:r>
          </a:p>
        </p:txBody>
      </p:sp>
      <p:sp>
        <p:nvSpPr>
          <p:cNvPr id="23" name="TextBox 22"/>
          <p:cNvSpPr txBox="1"/>
          <p:nvPr/>
        </p:nvSpPr>
        <p:spPr>
          <a:xfrm>
            <a:off x="9235440" y="2084831"/>
            <a:ext cx="2286000" cy="640080"/>
          </a:xfrm>
          <a:prstGeom prst="rect">
            <a:avLst/>
          </a:prstGeom>
          <a:noFill/>
        </p:spPr>
        <p:txBody>
          <a:bodyPr wrap="square" anchor="ctr">
            <a:spAutoFit/>
          </a:bodyPr>
          <a:lstStyle/>
          <a:p>
            <a:pPr algn="l">
              <a:spcAft>
                <a:spcPts val="400"/>
              </a:spcAft>
            </a:pPr>
            <a:r>
              <a:rPr sz="1450" b="1">
                <a:solidFill>
                  <a:srgbClr val="10B981"/>
                </a:solidFill>
                <a:latin typeface="Arial"/>
              </a:rPr>
              <a:t>Serverless-first</a:t>
            </a:r>
          </a:p>
        </p:txBody>
      </p:sp>
      <p:sp>
        <p:nvSpPr>
          <p:cNvPr id="24" name="TextBox 23"/>
          <p:cNvSpPr txBox="1"/>
          <p:nvPr/>
        </p:nvSpPr>
        <p:spPr>
          <a:xfrm>
            <a:off x="8622792" y="2788920"/>
            <a:ext cx="2880360" cy="3108960"/>
          </a:xfrm>
          <a:prstGeom prst="rect">
            <a:avLst/>
          </a:prstGeom>
          <a:noFill/>
        </p:spPr>
        <p:txBody>
          <a:bodyPr wrap="square" anchor="t">
            <a:spAutoFit/>
          </a:bodyPr>
          <a:lstStyle/>
          <a:p>
            <a:pPr algn="l">
              <a:spcAft>
                <a:spcPts val="400"/>
              </a:spcAft>
            </a:pPr>
            <a:r>
              <a:rPr sz="1250" b="0">
                <a:solidFill>
                  <a:srgbClr val="161B26"/>
                </a:solidFill>
                <a:latin typeface="Arial"/>
              </a:rPr>
              <a:t>For spiky, event-driven work. Pay-per-use and minimal ops — within the service's limits and cold-start profile.</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621</a:t>
            </a:r>
          </a:p>
        </p:txBody>
      </p:sp>
    </p:spTree>
  </p:cSld>
  <p:clrMapOvr>
    <a:masterClrMapping/>
  </p:clrMapOvr>
  <p:transition xmlns:p14="http://schemas.microsoft.com/office/powerpoint/2010/main" p14:dur="380">
    <p:fade/>
  </p:transition>
</p:sld>
</file>

<file path=ppt/slides/slide6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WRAP-UP</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Course Summary &amp; Next Steps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622</a:t>
            </a:r>
          </a:p>
        </p:txBody>
      </p:sp>
    </p:spTree>
  </p:cSld>
  <p:clrMapOvr>
    <a:masterClrMapping/>
  </p:clrMapOvr>
  <p:transition xmlns:p14="http://schemas.microsoft.com/office/powerpoint/2010/main" p14:dur="380">
    <p:fade/>
  </p:transition>
</p:sld>
</file>

<file path=ppt/slides/slide6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LEARNING OUTCOMES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What You Achieved</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10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6408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6408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127760"/>
          </a:xfrm>
          <a:prstGeom prst="rect">
            <a:avLst/>
          </a:prstGeom>
          <a:noFill/>
        </p:spPr>
        <p:txBody>
          <a:bodyPr wrap="square" anchor="ctr">
            <a:spAutoFit/>
          </a:bodyPr>
          <a:lstStyle/>
          <a:p>
            <a:pPr algn="l">
              <a:spcAft>
                <a:spcPts val="300"/>
              </a:spcAft>
            </a:pPr>
            <a:r>
              <a:rPr sz="1600" b="1">
                <a:solidFill>
                  <a:srgbClr val="161B26"/>
                </a:solidFill>
                <a:latin typeface="Arial"/>
              </a:rPr>
              <a:t>LO1</a:t>
            </a:r>
          </a:p>
          <a:p>
            <a:pPr algn="l">
              <a:spcAft>
                <a:spcPts val="300"/>
              </a:spcAft>
            </a:pPr>
            <a:r>
              <a:rPr sz="1200" b="0">
                <a:solidFill>
                  <a:srgbClr val="5B6372"/>
                </a:solidFill>
                <a:latin typeface="Arial"/>
              </a:rPr>
              <a:t>Develop an AWS CI/CD pipeline proof of concept.</a:t>
            </a:r>
          </a:p>
        </p:txBody>
      </p:sp>
      <p:sp>
        <p:nvSpPr>
          <p:cNvPr id="12" name="Rectangle 11"/>
          <p:cNvSpPr/>
          <p:nvPr/>
        </p:nvSpPr>
        <p:spPr>
          <a:xfrm>
            <a:off x="6231636" y="1783080"/>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3106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6408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6408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127760"/>
          </a:xfrm>
          <a:prstGeom prst="rect">
            <a:avLst/>
          </a:prstGeom>
          <a:noFill/>
        </p:spPr>
        <p:txBody>
          <a:bodyPr wrap="square" anchor="ctr">
            <a:spAutoFit/>
          </a:bodyPr>
          <a:lstStyle/>
          <a:p>
            <a:pPr algn="l">
              <a:spcAft>
                <a:spcPts val="300"/>
              </a:spcAft>
            </a:pPr>
            <a:r>
              <a:rPr sz="1600" b="1">
                <a:solidFill>
                  <a:srgbClr val="161B26"/>
                </a:solidFill>
                <a:latin typeface="Arial"/>
              </a:rPr>
              <a:t>LO2</a:t>
            </a:r>
          </a:p>
          <a:p>
            <a:pPr algn="l">
              <a:spcAft>
                <a:spcPts val="300"/>
              </a:spcAft>
            </a:pPr>
            <a:r>
              <a:rPr sz="1200" b="0">
                <a:solidFill>
                  <a:srgbClr val="5B6372"/>
                </a:solidFill>
                <a:latin typeface="Arial"/>
              </a:rPr>
              <a:t>Identify the technical and practical requirements in an AWS cloud infrastructure setup.</a:t>
            </a:r>
          </a:p>
        </p:txBody>
      </p:sp>
      <p:sp>
        <p:nvSpPr>
          <p:cNvPr id="17" name="Rectangle 16"/>
          <p:cNvSpPr/>
          <p:nvPr/>
        </p:nvSpPr>
        <p:spPr>
          <a:xfrm>
            <a:off x="777240" y="3313176"/>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3176"/>
            <a:ext cx="91440" cy="13106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422904"/>
            <a:ext cx="3973068" cy="1127760"/>
          </a:xfrm>
          <a:prstGeom prst="rect">
            <a:avLst/>
          </a:prstGeom>
          <a:noFill/>
        </p:spPr>
        <p:txBody>
          <a:bodyPr wrap="square" anchor="ctr">
            <a:spAutoFit/>
          </a:bodyPr>
          <a:lstStyle/>
          <a:p>
            <a:pPr algn="l">
              <a:spcAft>
                <a:spcPts val="300"/>
              </a:spcAft>
            </a:pPr>
            <a:r>
              <a:rPr sz="1600" b="1">
                <a:solidFill>
                  <a:srgbClr val="161B26"/>
                </a:solidFill>
                <a:latin typeface="Arial"/>
              </a:rPr>
              <a:t>LO3</a:t>
            </a:r>
          </a:p>
          <a:p>
            <a:pPr algn="l">
              <a:spcAft>
                <a:spcPts val="300"/>
              </a:spcAft>
            </a:pPr>
            <a:r>
              <a:rPr sz="1200" b="0">
                <a:solidFill>
                  <a:srgbClr val="5B6372"/>
                </a:solidFill>
                <a:latin typeface="Arial"/>
              </a:rPr>
              <a:t>Develop a resilient cloud solution based on AWS cloud components.</a:t>
            </a:r>
          </a:p>
        </p:txBody>
      </p:sp>
      <p:sp>
        <p:nvSpPr>
          <p:cNvPr id="22" name="Rectangle 21"/>
          <p:cNvSpPr/>
          <p:nvPr/>
        </p:nvSpPr>
        <p:spPr>
          <a:xfrm>
            <a:off x="6231636" y="3313176"/>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3176"/>
            <a:ext cx="91440" cy="13106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422904"/>
            <a:ext cx="3973068" cy="1127760"/>
          </a:xfrm>
          <a:prstGeom prst="rect">
            <a:avLst/>
          </a:prstGeom>
          <a:noFill/>
        </p:spPr>
        <p:txBody>
          <a:bodyPr wrap="square" anchor="ctr">
            <a:spAutoFit/>
          </a:bodyPr>
          <a:lstStyle/>
          <a:p>
            <a:pPr algn="l">
              <a:spcAft>
                <a:spcPts val="300"/>
              </a:spcAft>
            </a:pPr>
            <a:r>
              <a:rPr sz="1600" b="1">
                <a:solidFill>
                  <a:srgbClr val="161B26"/>
                </a:solidFill>
                <a:latin typeface="Arial"/>
              </a:rPr>
              <a:t>LO4</a:t>
            </a:r>
          </a:p>
          <a:p>
            <a:pPr algn="l">
              <a:spcAft>
                <a:spcPts val="300"/>
              </a:spcAft>
            </a:pPr>
            <a:r>
              <a:rPr sz="1200" b="0">
                <a:solidFill>
                  <a:srgbClr val="5B6372"/>
                </a:solidFill>
                <a:latin typeface="Arial"/>
              </a:rPr>
              <a:t>Implement regular AWS monitoring and perform necessary troubleshooting.</a:t>
            </a:r>
          </a:p>
        </p:txBody>
      </p:sp>
      <p:sp>
        <p:nvSpPr>
          <p:cNvPr id="27" name="Rectangle 26"/>
          <p:cNvSpPr/>
          <p:nvPr/>
        </p:nvSpPr>
        <p:spPr>
          <a:xfrm>
            <a:off x="777240" y="4843272"/>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43272"/>
            <a:ext cx="91440" cy="1310640"/>
          </a:xfrm>
          <a:prstGeom prst="rect">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24272"/>
            <a:ext cx="548640" cy="548640"/>
          </a:xfrm>
          <a:prstGeom prst="ellipse">
            <a:avLst/>
          </a:prstGeom>
          <a:solidFill>
            <a:srgbClr val="EC7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2427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953000"/>
            <a:ext cx="3973068" cy="1127760"/>
          </a:xfrm>
          <a:prstGeom prst="rect">
            <a:avLst/>
          </a:prstGeom>
          <a:noFill/>
        </p:spPr>
        <p:txBody>
          <a:bodyPr wrap="square" anchor="ctr">
            <a:spAutoFit/>
          </a:bodyPr>
          <a:lstStyle/>
          <a:p>
            <a:pPr algn="l">
              <a:spcAft>
                <a:spcPts val="300"/>
              </a:spcAft>
            </a:pPr>
            <a:r>
              <a:rPr sz="1600" b="1">
                <a:solidFill>
                  <a:srgbClr val="161B26"/>
                </a:solidFill>
                <a:latin typeface="Arial"/>
              </a:rPr>
              <a:t>LO5</a:t>
            </a:r>
          </a:p>
          <a:p>
            <a:pPr algn="l">
              <a:spcAft>
                <a:spcPts val="300"/>
              </a:spcAft>
            </a:pPr>
            <a:r>
              <a:rPr sz="1200" b="0">
                <a:solidFill>
                  <a:srgbClr val="5B6372"/>
                </a:solidFill>
                <a:latin typeface="Arial"/>
              </a:rPr>
              <a:t>Demonstrate solutions to incidents and business problems on the AWS cloud.</a:t>
            </a:r>
          </a:p>
        </p:txBody>
      </p:sp>
      <p:sp>
        <p:nvSpPr>
          <p:cNvPr id="32" name="Rectangle 31"/>
          <p:cNvSpPr/>
          <p:nvPr/>
        </p:nvSpPr>
        <p:spPr>
          <a:xfrm>
            <a:off x="6231636" y="4843272"/>
            <a:ext cx="5180076"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43272"/>
            <a:ext cx="91440" cy="1310640"/>
          </a:xfrm>
          <a:prstGeom prst="rect">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24272"/>
            <a:ext cx="548640" cy="548640"/>
          </a:xfrm>
          <a:prstGeom prst="ellipse">
            <a:avLst/>
          </a:prstGeom>
          <a:solidFill>
            <a:srgbClr val="0E9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2427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953000"/>
            <a:ext cx="3973068" cy="1127760"/>
          </a:xfrm>
          <a:prstGeom prst="rect">
            <a:avLst/>
          </a:prstGeom>
          <a:noFill/>
        </p:spPr>
        <p:txBody>
          <a:bodyPr wrap="square" anchor="ctr">
            <a:spAutoFit/>
          </a:bodyPr>
          <a:lstStyle/>
          <a:p>
            <a:pPr algn="l">
              <a:spcAft>
                <a:spcPts val="300"/>
              </a:spcAft>
            </a:pPr>
            <a:r>
              <a:rPr sz="1600" b="1">
                <a:solidFill>
                  <a:srgbClr val="161B26"/>
                </a:solidFill>
                <a:latin typeface="Arial"/>
              </a:rPr>
              <a:t>LO6</a:t>
            </a:r>
          </a:p>
          <a:p>
            <a:pPr algn="l">
              <a:spcAft>
                <a:spcPts val="300"/>
              </a:spcAft>
            </a:pPr>
            <a:r>
              <a:rPr sz="1200" b="0">
                <a:solidFill>
                  <a:srgbClr val="5B6372"/>
                </a:solidFill>
                <a:latin typeface="Arial"/>
              </a:rPr>
              <a:t>Prepare a technical blueprint to address security and compliance.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623</a:t>
            </a:r>
          </a:p>
        </p:txBody>
      </p:sp>
    </p:spTree>
  </p:cSld>
  <p:clrMapOvr>
    <a:masterClrMapping/>
  </p:clrMapOvr>
  <p:transition xmlns:p14="http://schemas.microsoft.com/office/powerpoint/2010/main" p14:dur="380">
    <p:fade/>
  </p:transition>
</p:sld>
</file>

<file path=ppt/slides/slide6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NEXT STEPS</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Continue Your AWS DevOps Journey</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75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66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892808"/>
          </a:xfrm>
          <a:prstGeom prst="rect">
            <a:avLst/>
          </a:prstGeom>
          <a:noFill/>
        </p:spPr>
        <p:txBody>
          <a:bodyPr wrap="square" anchor="ctr">
            <a:spAutoFit/>
          </a:bodyPr>
          <a:lstStyle/>
          <a:p>
            <a:pPr algn="l">
              <a:spcAft>
                <a:spcPts val="300"/>
              </a:spcAft>
            </a:pPr>
            <a:r>
              <a:rPr sz="1600" b="1">
                <a:solidFill>
                  <a:srgbClr val="161B26"/>
                </a:solidFill>
                <a:latin typeface="Arial"/>
              </a:rPr>
              <a:t>Rebuild the labs</a:t>
            </a:r>
          </a:p>
          <a:p>
            <a:pPr algn="l">
              <a:spcAft>
                <a:spcPts val="300"/>
              </a:spcAft>
            </a:pPr>
            <a:r>
              <a:rPr sz="1200" b="0">
                <a:solidFill>
                  <a:srgbClr val="5B6372"/>
                </a:solidFill>
                <a:latin typeface="Arial"/>
              </a:rPr>
              <a:t>Redo all six labs from memory until the AWS workflows are automatic.</a:t>
            </a:r>
          </a:p>
        </p:txBody>
      </p:sp>
      <p:sp>
        <p:nvSpPr>
          <p:cNvPr id="12" name="Rectangle 11"/>
          <p:cNvSpPr/>
          <p:nvPr/>
        </p:nvSpPr>
        <p:spPr>
          <a:xfrm>
            <a:off x="6231636" y="1783080"/>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75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66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66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892808"/>
          </a:xfrm>
          <a:prstGeom prst="rect">
            <a:avLst/>
          </a:prstGeom>
          <a:noFill/>
        </p:spPr>
        <p:txBody>
          <a:bodyPr wrap="square" anchor="ctr">
            <a:spAutoFit/>
          </a:bodyPr>
          <a:lstStyle/>
          <a:p>
            <a:pPr algn="l">
              <a:spcAft>
                <a:spcPts val="300"/>
              </a:spcAft>
            </a:pPr>
            <a:r>
              <a:rPr sz="1600" b="1">
                <a:solidFill>
                  <a:srgbClr val="161B26"/>
                </a:solidFill>
                <a:latin typeface="Arial"/>
              </a:rPr>
              <a:t>Automate more</a:t>
            </a:r>
          </a:p>
          <a:p>
            <a:pPr algn="l">
              <a:spcAft>
                <a:spcPts val="300"/>
              </a:spcAft>
            </a:pPr>
            <a:r>
              <a:rPr sz="1200" b="0">
                <a:solidFill>
                  <a:srgbClr val="5B6372"/>
                </a:solidFill>
                <a:latin typeface="Arial"/>
              </a:rPr>
              <a:t>Add tests, canary deploys and IaC to your own projects.</a:t>
            </a:r>
          </a:p>
        </p:txBody>
      </p:sp>
      <p:sp>
        <p:nvSpPr>
          <p:cNvPr id="17" name="Rectangle 16"/>
          <p:cNvSpPr/>
          <p:nvPr/>
        </p:nvSpPr>
        <p:spPr>
          <a:xfrm>
            <a:off x="777240"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78224"/>
            <a:ext cx="91440" cy="2075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17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4187952"/>
            <a:ext cx="3973068" cy="1892808"/>
          </a:xfrm>
          <a:prstGeom prst="rect">
            <a:avLst/>
          </a:prstGeom>
          <a:noFill/>
        </p:spPr>
        <p:txBody>
          <a:bodyPr wrap="square" anchor="ctr">
            <a:spAutoFit/>
          </a:bodyPr>
          <a:lstStyle/>
          <a:p>
            <a:pPr algn="l">
              <a:spcAft>
                <a:spcPts val="300"/>
              </a:spcAft>
            </a:pPr>
            <a:r>
              <a:rPr sz="1600" b="1">
                <a:solidFill>
                  <a:srgbClr val="161B26"/>
                </a:solidFill>
                <a:latin typeface="Arial"/>
              </a:rPr>
              <a:t>Well-Architected reviews</a:t>
            </a:r>
          </a:p>
          <a:p>
            <a:pPr algn="l">
              <a:spcAft>
                <a:spcPts val="300"/>
              </a:spcAft>
            </a:pPr>
            <a:r>
              <a:rPr sz="1200" b="0">
                <a:solidFill>
                  <a:srgbClr val="5B6372"/>
                </a:solidFill>
                <a:latin typeface="Arial"/>
              </a:rPr>
              <a:t>Run Well-Architected reviews on real workloads.</a:t>
            </a:r>
          </a:p>
        </p:txBody>
      </p:sp>
      <p:sp>
        <p:nvSpPr>
          <p:cNvPr id="22" name="Rectangle 21"/>
          <p:cNvSpPr/>
          <p:nvPr/>
        </p:nvSpPr>
        <p:spPr>
          <a:xfrm>
            <a:off x="6231636" y="4078224"/>
            <a:ext cx="5180076" cy="2075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78224"/>
            <a:ext cx="91440" cy="2075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17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17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4187952"/>
            <a:ext cx="3973068" cy="1892808"/>
          </a:xfrm>
          <a:prstGeom prst="rect">
            <a:avLst/>
          </a:prstGeom>
          <a:noFill/>
        </p:spPr>
        <p:txBody>
          <a:bodyPr wrap="square" anchor="ctr">
            <a:spAutoFit/>
          </a:bodyPr>
          <a:lstStyle/>
          <a:p>
            <a:pPr algn="l">
              <a:spcAft>
                <a:spcPts val="300"/>
              </a:spcAft>
            </a:pPr>
            <a:r>
              <a:rPr sz="1600" b="1">
                <a:solidFill>
                  <a:srgbClr val="161B26"/>
                </a:solidFill>
                <a:latin typeface="Arial"/>
              </a:rPr>
              <a:t>Keep learning</a:t>
            </a:r>
          </a:p>
          <a:p>
            <a:pPr algn="l">
              <a:spcAft>
                <a:spcPts val="300"/>
              </a:spcAft>
            </a:pPr>
            <a:r>
              <a:rPr sz="1200" b="0">
                <a:solidFill>
                  <a:srgbClr val="5B6372"/>
                </a:solidFill>
                <a:latin typeface="Arial"/>
              </a:rPr>
              <a:t>Explore ECS/EKS, Step Functions, and multi-account governance.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624</a:t>
            </a:r>
          </a:p>
        </p:txBody>
      </p:sp>
    </p:spTree>
  </p:cSld>
  <p:clrMapOvr>
    <a:masterClrMapping/>
  </p:clrMapOvr>
  <p:transition xmlns:p14="http://schemas.microsoft.com/office/powerpoint/2010/main" p14:dur="380">
    <p:fade/>
  </p:transition>
</p:sld>
</file>

<file path=ppt/slides/slide6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WRAP-UP</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Assessment</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Written Assessment (SAQ) — 1 hour.  Practical Performance (PP) — 2 hours.</a:t>
            </a:r>
          </a:p>
          <a:p>
            <a:pPr>
              <a:spcAft>
                <a:spcPts val="1000"/>
              </a:spcAft>
            </a:pPr>
            <a:r>
              <a:rPr sz="2000" b="0">
                <a:solidFill>
                  <a:srgbClr val="161B26"/>
                </a:solidFill>
                <a:latin typeface="Arial"/>
              </a:rPr>
              <a:t>•  Open book: slides, Learner Guide and approved materials only.</a:t>
            </a:r>
          </a:p>
          <a:p>
            <a:pPr>
              <a:spcAft>
                <a:spcPts val="1000"/>
              </a:spcAft>
            </a:pPr>
            <a:r>
              <a:rPr sz="2000" b="0">
                <a:solidFill>
                  <a:srgbClr val="161B26"/>
                </a:solidFill>
                <a:latin typeface="Arial"/>
              </a:rPr>
              <a:t>•  Remember to take the Assessment digital attendance (TRAQOM).</a:t>
            </a:r>
          </a:p>
          <a:p>
            <a:pPr>
              <a:spcAft>
                <a:spcPts val="1000"/>
              </a:spcAft>
            </a:pPr>
            <a:r>
              <a:rPr sz="2000" b="0">
                <a:solidFill>
                  <a:srgbClr val="161B26"/>
                </a:solidFill>
                <a:latin typeface="Arial"/>
              </a:rPr>
              <a:t>•  Submit your completed answers on the LMS at https://lms-tms.tertiaryinfotech.com/.</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625</a:t>
            </a:r>
          </a:p>
        </p:txBody>
      </p:sp>
    </p:spTree>
  </p:cSld>
  <p:clrMapOvr>
    <a:masterClrMapping/>
  </p:clrMapOvr>
  <p:transition xmlns:p14="http://schemas.microsoft.com/office/powerpoint/2010/main" p14:dur="380">
    <p:fade/>
  </p:transition>
</p:sld>
</file>

<file path=ppt/slides/slide6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TRAQOM survey — scan the QR code on the LMS</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Assessment digital attendance — scan the SSG QR</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Sit WA (SAQ) then PP — open book</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Submit your answers on the LMS</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Sign the Assessment Summary Record</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626</a:t>
            </a:r>
          </a:p>
        </p:txBody>
      </p:sp>
    </p:spTree>
  </p:cSld>
  <p:clrMapOvr>
    <a:masterClrMapping/>
  </p:clrMapOvr>
  <p:transition xmlns:p14="http://schemas.microsoft.com/office/powerpoint/2010/main" p14:dur="380">
    <p:fade/>
  </p:transition>
</p:sld>
</file>

<file path=ppt/slides/slide6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TRAQOM · SSG DIGITAL ATTENDANCE</a:t>
            </a:r>
          </a:p>
        </p:txBody>
      </p:sp>
      <p:sp>
        <p:nvSpPr>
          <p:cNvPr id="5" name="TextBox 4"/>
          <p:cNvSpPr txBox="1"/>
          <p:nvPr/>
        </p:nvSpPr>
        <p:spPr>
          <a:xfrm>
            <a:off x="777240" y="804672"/>
            <a:ext cx="10927080" cy="731520"/>
          </a:xfrm>
          <a:prstGeom prst="rect">
            <a:avLst/>
          </a:prstGeom>
          <a:noFill/>
        </p:spPr>
        <p:txBody>
          <a:bodyPr wrap="square" anchor="t">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72768"/>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6720840" cy="365760"/>
          </a:xfrm>
          <a:prstGeom prst="rect">
            <a:avLst/>
          </a:prstGeom>
          <a:noFill/>
        </p:spPr>
        <p:txBody>
          <a:bodyPr wrap="square" anchor="t">
            <a:spAutoFit/>
          </a:bodyPr>
          <a:lstStyle/>
          <a:p>
            <a:pPr algn="l">
              <a:spcAft>
                <a:spcPts val="400"/>
              </a:spcAft>
            </a:pPr>
            <a:r>
              <a:rPr sz="1350" b="1">
                <a:solidFill>
                  <a:srgbClr val="161B26"/>
                </a:solidFill>
                <a:latin typeface="Arial"/>
              </a:rPr>
              <a:t>Take the SSG digital attendance at three points on every funded day:</a:t>
            </a:r>
          </a:p>
        </p:txBody>
      </p:sp>
      <p:sp>
        <p:nvSpPr>
          <p:cNvPr id="8" name="Rectangle 7"/>
          <p:cNvSpPr/>
          <p:nvPr/>
        </p:nvSpPr>
        <p:spPr>
          <a:xfrm>
            <a:off x="777240" y="2194560"/>
            <a:ext cx="2057400" cy="1143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194560"/>
            <a:ext cx="205740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395728"/>
            <a:ext cx="2057400" cy="457200"/>
          </a:xfrm>
          <a:prstGeom prst="rect">
            <a:avLst/>
          </a:prstGeom>
          <a:noFill/>
        </p:spPr>
        <p:txBody>
          <a:bodyPr wrap="square" anchor="t">
            <a:spAutoFit/>
          </a:bodyPr>
          <a:lstStyle/>
          <a:p>
            <a:pPr algn="ctr">
              <a:spcAft>
                <a:spcPts val="400"/>
              </a:spcAft>
            </a:pPr>
            <a:r>
              <a:rPr sz="1800" b="1">
                <a:solidFill>
                  <a:srgbClr val="1F6FEB"/>
                </a:solidFill>
                <a:latin typeface="Arial"/>
              </a:rPr>
              <a:t>AM</a:t>
            </a:r>
          </a:p>
        </p:txBody>
      </p:sp>
      <p:sp>
        <p:nvSpPr>
          <p:cNvPr id="11" name="TextBox 10"/>
          <p:cNvSpPr txBox="1"/>
          <p:nvPr/>
        </p:nvSpPr>
        <p:spPr>
          <a:xfrm>
            <a:off x="905256" y="2852928"/>
            <a:ext cx="1801368" cy="457200"/>
          </a:xfrm>
          <a:prstGeom prst="rect">
            <a:avLst/>
          </a:prstGeom>
          <a:noFill/>
        </p:spPr>
        <p:txBody>
          <a:bodyPr wrap="square" anchor="t">
            <a:spAutoFit/>
          </a:bodyPr>
          <a:lstStyle/>
          <a:p>
            <a:pPr algn="ctr">
              <a:spcAft>
                <a:spcPts val="400"/>
              </a:spcAft>
            </a:pPr>
            <a:r>
              <a:rPr sz="1050" b="0">
                <a:solidFill>
                  <a:srgbClr val="5B6372"/>
                </a:solidFill>
                <a:latin typeface="Arial"/>
              </a:rPr>
              <a:t>Start of the morning session</a:t>
            </a:r>
          </a:p>
        </p:txBody>
      </p:sp>
      <p:sp>
        <p:nvSpPr>
          <p:cNvPr id="12" name="Rectangle 11"/>
          <p:cNvSpPr/>
          <p:nvPr/>
        </p:nvSpPr>
        <p:spPr>
          <a:xfrm>
            <a:off x="3108960" y="2194560"/>
            <a:ext cx="2057400" cy="1143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108960" y="2194560"/>
            <a:ext cx="205740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108960" y="2395728"/>
            <a:ext cx="2057400" cy="457200"/>
          </a:xfrm>
          <a:prstGeom prst="rect">
            <a:avLst/>
          </a:prstGeom>
          <a:noFill/>
        </p:spPr>
        <p:txBody>
          <a:bodyPr wrap="square" anchor="t">
            <a:spAutoFit/>
          </a:bodyPr>
          <a:lstStyle/>
          <a:p>
            <a:pPr algn="ctr">
              <a:spcAft>
                <a:spcPts val="400"/>
              </a:spcAft>
            </a:pPr>
            <a:r>
              <a:rPr sz="1800" b="1">
                <a:solidFill>
                  <a:srgbClr val="10B981"/>
                </a:solidFill>
                <a:latin typeface="Arial"/>
              </a:rPr>
              <a:t>PM</a:t>
            </a:r>
          </a:p>
        </p:txBody>
      </p:sp>
      <p:sp>
        <p:nvSpPr>
          <p:cNvPr id="15" name="TextBox 14"/>
          <p:cNvSpPr txBox="1"/>
          <p:nvPr/>
        </p:nvSpPr>
        <p:spPr>
          <a:xfrm>
            <a:off x="3236976" y="2852928"/>
            <a:ext cx="1801368" cy="457200"/>
          </a:xfrm>
          <a:prstGeom prst="rect">
            <a:avLst/>
          </a:prstGeom>
          <a:noFill/>
        </p:spPr>
        <p:txBody>
          <a:bodyPr wrap="square" anchor="t">
            <a:spAutoFit/>
          </a:bodyPr>
          <a:lstStyle/>
          <a:p>
            <a:pPr algn="ctr">
              <a:spcAft>
                <a:spcPts val="400"/>
              </a:spcAft>
            </a:pPr>
            <a:r>
              <a:rPr sz="1050" b="0">
                <a:solidFill>
                  <a:srgbClr val="5B6372"/>
                </a:solidFill>
                <a:latin typeface="Arial"/>
              </a:rPr>
              <a:t>Start of the afternoon session</a:t>
            </a:r>
          </a:p>
        </p:txBody>
      </p:sp>
      <p:sp>
        <p:nvSpPr>
          <p:cNvPr id="16" name="Rectangle 15"/>
          <p:cNvSpPr/>
          <p:nvPr/>
        </p:nvSpPr>
        <p:spPr>
          <a:xfrm>
            <a:off x="5440680" y="2194560"/>
            <a:ext cx="2057400" cy="1143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40680" y="2194560"/>
            <a:ext cx="205740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40680" y="2395728"/>
            <a:ext cx="2057400" cy="457200"/>
          </a:xfrm>
          <a:prstGeom prst="rect">
            <a:avLst/>
          </a:prstGeom>
          <a:noFill/>
        </p:spPr>
        <p:txBody>
          <a:bodyPr wrap="square" anchor="t">
            <a:spAutoFit/>
          </a:bodyPr>
          <a:lstStyle/>
          <a:p>
            <a:pPr algn="ctr">
              <a:spcAft>
                <a:spcPts val="400"/>
              </a:spcAft>
            </a:pPr>
            <a:r>
              <a:rPr sz="1800" b="1">
                <a:solidFill>
                  <a:srgbClr val="7C3AED"/>
                </a:solidFill>
                <a:latin typeface="Arial"/>
              </a:rPr>
              <a:t>ASSESSMENT</a:t>
            </a:r>
          </a:p>
        </p:txBody>
      </p:sp>
      <p:sp>
        <p:nvSpPr>
          <p:cNvPr id="19" name="TextBox 18"/>
          <p:cNvSpPr txBox="1"/>
          <p:nvPr/>
        </p:nvSpPr>
        <p:spPr>
          <a:xfrm>
            <a:off x="5568696" y="2852928"/>
            <a:ext cx="1801368" cy="457200"/>
          </a:xfrm>
          <a:prstGeom prst="rect">
            <a:avLst/>
          </a:prstGeom>
          <a:noFill/>
        </p:spPr>
        <p:txBody>
          <a:bodyPr wrap="square" anchor="t">
            <a:spAutoFit/>
          </a:bodyPr>
          <a:lstStyle/>
          <a:p>
            <a:pPr algn="ctr">
              <a:spcAft>
                <a:spcPts val="400"/>
              </a:spcAft>
            </a:pPr>
            <a:r>
              <a:rPr sz="1050" b="0">
                <a:solidFill>
                  <a:srgbClr val="5B6372"/>
                </a:solidFill>
                <a:latin typeface="Arial"/>
              </a:rPr>
              <a:t>Before the Day 5 assessment</a:t>
            </a:r>
          </a:p>
        </p:txBody>
      </p:sp>
      <p:sp>
        <p:nvSpPr>
          <p:cNvPr id="20" name="Rectangle 19"/>
          <p:cNvSpPr/>
          <p:nvPr/>
        </p:nvSpPr>
        <p:spPr>
          <a:xfrm>
            <a:off x="777240" y="3566160"/>
            <a:ext cx="6720840" cy="5486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41832" y="3639312"/>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41832" y="3639312"/>
            <a:ext cx="402336" cy="402336"/>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23" name="TextBox 22"/>
          <p:cNvSpPr txBox="1"/>
          <p:nvPr/>
        </p:nvSpPr>
        <p:spPr>
          <a:xfrm>
            <a:off x="1600200" y="3566160"/>
            <a:ext cx="5715000" cy="548640"/>
          </a:xfrm>
          <a:prstGeom prst="rect">
            <a:avLst/>
          </a:prstGeom>
          <a:noFill/>
        </p:spPr>
        <p:txBody>
          <a:bodyPr wrap="square" anchor="ctr">
            <a:spAutoFit/>
          </a:bodyPr>
          <a:lstStyle/>
          <a:p>
            <a:pPr algn="l">
              <a:spcAft>
                <a:spcPts val="400"/>
              </a:spcAft>
            </a:pPr>
            <a:r>
              <a:rPr sz="1200" b="0">
                <a:solidFill>
                  <a:srgbClr val="161B26"/>
                </a:solidFill>
                <a:latin typeface="Arial"/>
              </a:rPr>
              <a:t>The trainer/administrator displays the SSG digital-attendance QR code from the portal.</a:t>
            </a:r>
          </a:p>
        </p:txBody>
      </p:sp>
      <p:sp>
        <p:nvSpPr>
          <p:cNvPr id="24" name="Rectangle 23"/>
          <p:cNvSpPr/>
          <p:nvPr/>
        </p:nvSpPr>
        <p:spPr>
          <a:xfrm>
            <a:off x="777240" y="4224528"/>
            <a:ext cx="6720840" cy="5486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941832" y="4297680"/>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41832" y="4297680"/>
            <a:ext cx="402336" cy="402336"/>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7" name="TextBox 26"/>
          <p:cNvSpPr txBox="1"/>
          <p:nvPr/>
        </p:nvSpPr>
        <p:spPr>
          <a:xfrm>
            <a:off x="1600200" y="4224528"/>
            <a:ext cx="5715000" cy="548640"/>
          </a:xfrm>
          <a:prstGeom prst="rect">
            <a:avLst/>
          </a:prstGeom>
          <a:noFill/>
        </p:spPr>
        <p:txBody>
          <a:bodyPr wrap="square" anchor="ctr">
            <a:spAutoFit/>
          </a:bodyPr>
          <a:lstStyle/>
          <a:p>
            <a:pPr algn="l">
              <a:spcAft>
                <a:spcPts val="400"/>
              </a:spcAft>
            </a:pPr>
            <a:r>
              <a:rPr sz="1200" b="0">
                <a:solidFill>
                  <a:srgbClr val="161B26"/>
                </a:solidFill>
                <a:latin typeface="Arial"/>
              </a:rPr>
              <a:t>Scan the QR code with your mobile phone camera and submit your attendance.</a:t>
            </a:r>
          </a:p>
        </p:txBody>
      </p:sp>
      <p:sp>
        <p:nvSpPr>
          <p:cNvPr id="28" name="Rectangle 27"/>
          <p:cNvSpPr/>
          <p:nvPr/>
        </p:nvSpPr>
        <p:spPr>
          <a:xfrm>
            <a:off x="777240" y="4882896"/>
            <a:ext cx="6720840" cy="5486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41832" y="4956048"/>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41832" y="4956048"/>
            <a:ext cx="402336" cy="402336"/>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1" name="TextBox 30"/>
          <p:cNvSpPr txBox="1"/>
          <p:nvPr/>
        </p:nvSpPr>
        <p:spPr>
          <a:xfrm>
            <a:off x="1600200" y="4882896"/>
            <a:ext cx="5715000" cy="548640"/>
          </a:xfrm>
          <a:prstGeom prst="rect">
            <a:avLst/>
          </a:prstGeom>
          <a:noFill/>
        </p:spPr>
        <p:txBody>
          <a:bodyPr wrap="square" anchor="ctr">
            <a:spAutoFit/>
          </a:bodyPr>
          <a:lstStyle/>
          <a:p>
            <a:pPr algn="l">
              <a:spcAft>
                <a:spcPts val="400"/>
              </a:spcAft>
            </a:pPr>
            <a:r>
              <a:rPr sz="1200" b="0">
                <a:solidFill>
                  <a:srgbClr val="161B26"/>
                </a:solidFill>
                <a:latin typeface="Arial"/>
              </a:rPr>
              <a:t>It is mandatory for AM, PM and the Assessment sessions on WSQ-funded courses.</a:t>
            </a:r>
          </a:p>
        </p:txBody>
      </p:sp>
      <p:sp>
        <p:nvSpPr>
          <p:cNvPr id="32" name="Rectangle 31"/>
          <p:cNvSpPr/>
          <p:nvPr/>
        </p:nvSpPr>
        <p:spPr>
          <a:xfrm>
            <a:off x="7818120" y="1737360"/>
            <a:ext cx="3566160" cy="3703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818120" y="1737360"/>
            <a:ext cx="356616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818120" y="1938528"/>
            <a:ext cx="3566160" cy="365760"/>
          </a:xfrm>
          <a:prstGeom prst="rect">
            <a:avLst/>
          </a:prstGeom>
          <a:noFill/>
        </p:spPr>
        <p:txBody>
          <a:bodyPr wrap="square" anchor="t">
            <a:spAutoFit/>
          </a:bodyPr>
          <a:lstStyle/>
          <a:p>
            <a:pPr algn="ctr">
              <a:spcAft>
                <a:spcPts val="400"/>
              </a:spcAft>
            </a:pPr>
            <a:r>
              <a:rPr sz="1100" b="1">
                <a:solidFill>
                  <a:srgbClr val="10B981"/>
                </a:solidFill>
                <a:latin typeface="Arial"/>
              </a:rPr>
              <a:t>SCAN TO SUBMIT ATTENDANCE</a:t>
            </a:r>
          </a:p>
        </p:txBody>
      </p:sp>
      <p:sp>
        <p:nvSpPr>
          <p:cNvPr id="35" name="Rectangle 34"/>
          <p:cNvSpPr/>
          <p:nvPr/>
        </p:nvSpPr>
        <p:spPr>
          <a:xfrm>
            <a:off x="8435340" y="2377440"/>
            <a:ext cx="2331720" cy="2331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32620" y="278892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532620" y="320040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572500" y="347472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983980" y="347472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9395460" y="347472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806940" y="347472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0218420" y="347472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532620" y="361188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9669780" y="361188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806940" y="361188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9944100" y="361188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10081260" y="361188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0218420" y="361188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10355580" y="361188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10492740" y="361188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9806940" y="374904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0218420" y="374904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9806940" y="388620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10218420" y="388620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9532620" y="402336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9669780" y="402336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9806940" y="402336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9944100" y="402336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10081260" y="402336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10218420" y="402336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10355580" y="402336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10492740" y="402336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9806940" y="416052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0218420" y="416052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9806940" y="429768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10218420" y="429768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9532620" y="443484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9669780" y="443484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9806940" y="443484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9944100" y="443484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10081260" y="443484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10218420" y="443484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10355580" y="443484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10492740" y="443484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8572500" y="251460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8709660" y="251460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8846820" y="251460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8983980" y="251460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9121140" y="251460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9258300" y="251460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9395460" y="251460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8572500" y="265176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9395460" y="265176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8572500" y="278892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8846820" y="278892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8983980" y="278892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9121140" y="278892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9395460" y="278892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8572500" y="292608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8846820" y="292608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8983980" y="292608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9121140" y="292608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9395460" y="292608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8572500" y="306324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8846820" y="306324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8983980" y="306324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9121140" y="306324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9395460" y="306324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8572500" y="320040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9395460" y="320040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8572500" y="333756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8709660" y="333756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8846820" y="333756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8983980" y="333756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9121140" y="333756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9258300" y="333756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9395460" y="333756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9669780" y="251460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9806940" y="251460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9944100" y="251460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10081260" y="251460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10218420" y="251460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10355580" y="251460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0492740" y="251460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9669780" y="265176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10492740" y="265176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9669780" y="278892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9944100" y="278892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10081260" y="278892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10218420" y="278892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10492740" y="278892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9669780" y="292608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9944100" y="292608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10081260" y="292608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10218420" y="292608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ectangle 125"/>
          <p:cNvSpPr/>
          <p:nvPr/>
        </p:nvSpPr>
        <p:spPr>
          <a:xfrm>
            <a:off x="10492740" y="292608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9669780" y="306324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9944100" y="306324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10081260" y="306324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ectangle 129"/>
          <p:cNvSpPr/>
          <p:nvPr/>
        </p:nvSpPr>
        <p:spPr>
          <a:xfrm>
            <a:off x="10218420" y="306324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10492740" y="306324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9669780" y="320040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10492740" y="320040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9669780" y="333756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9806940" y="333756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9944100" y="333756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10081260" y="333756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10218420" y="333756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Rectangle 138"/>
          <p:cNvSpPr/>
          <p:nvPr/>
        </p:nvSpPr>
        <p:spPr>
          <a:xfrm>
            <a:off x="10355580" y="333756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ectangle 139"/>
          <p:cNvSpPr/>
          <p:nvPr/>
        </p:nvSpPr>
        <p:spPr>
          <a:xfrm>
            <a:off x="10492740" y="333756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8572500" y="361188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8709660" y="361188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p:cNvSpPr/>
          <p:nvPr/>
        </p:nvSpPr>
        <p:spPr>
          <a:xfrm>
            <a:off x="8846820" y="361188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Rectangle 143"/>
          <p:cNvSpPr/>
          <p:nvPr/>
        </p:nvSpPr>
        <p:spPr>
          <a:xfrm>
            <a:off x="8983980" y="361188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9121140" y="361188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9258300" y="361188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Rectangle 146"/>
          <p:cNvSpPr/>
          <p:nvPr/>
        </p:nvSpPr>
        <p:spPr>
          <a:xfrm>
            <a:off x="9395460" y="361188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ectangle 147"/>
          <p:cNvSpPr/>
          <p:nvPr/>
        </p:nvSpPr>
        <p:spPr>
          <a:xfrm>
            <a:off x="8572500" y="374904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Rectangle 148"/>
          <p:cNvSpPr/>
          <p:nvPr/>
        </p:nvSpPr>
        <p:spPr>
          <a:xfrm>
            <a:off x="9395460" y="374904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Rectangle 149"/>
          <p:cNvSpPr/>
          <p:nvPr/>
        </p:nvSpPr>
        <p:spPr>
          <a:xfrm>
            <a:off x="8572500" y="388620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ectangle 150"/>
          <p:cNvSpPr/>
          <p:nvPr/>
        </p:nvSpPr>
        <p:spPr>
          <a:xfrm>
            <a:off x="8846820" y="388620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Rectangle 151"/>
          <p:cNvSpPr/>
          <p:nvPr/>
        </p:nvSpPr>
        <p:spPr>
          <a:xfrm>
            <a:off x="8983980" y="388620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Rectangle 152"/>
          <p:cNvSpPr/>
          <p:nvPr/>
        </p:nvSpPr>
        <p:spPr>
          <a:xfrm>
            <a:off x="9121140" y="388620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Rectangle 153"/>
          <p:cNvSpPr/>
          <p:nvPr/>
        </p:nvSpPr>
        <p:spPr>
          <a:xfrm>
            <a:off x="9395460" y="388620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ectangle 154"/>
          <p:cNvSpPr/>
          <p:nvPr/>
        </p:nvSpPr>
        <p:spPr>
          <a:xfrm>
            <a:off x="8572500" y="402336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Rectangle 155"/>
          <p:cNvSpPr/>
          <p:nvPr/>
        </p:nvSpPr>
        <p:spPr>
          <a:xfrm>
            <a:off x="8846820" y="402336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Rectangle 156"/>
          <p:cNvSpPr/>
          <p:nvPr/>
        </p:nvSpPr>
        <p:spPr>
          <a:xfrm>
            <a:off x="8983980" y="402336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9121140" y="402336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Rectangle 158"/>
          <p:cNvSpPr/>
          <p:nvPr/>
        </p:nvSpPr>
        <p:spPr>
          <a:xfrm>
            <a:off x="9395460" y="402336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Rectangle 159"/>
          <p:cNvSpPr/>
          <p:nvPr/>
        </p:nvSpPr>
        <p:spPr>
          <a:xfrm>
            <a:off x="8572500" y="416052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Rectangle 160"/>
          <p:cNvSpPr/>
          <p:nvPr/>
        </p:nvSpPr>
        <p:spPr>
          <a:xfrm>
            <a:off x="8846820" y="416052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Rectangle 161"/>
          <p:cNvSpPr/>
          <p:nvPr/>
        </p:nvSpPr>
        <p:spPr>
          <a:xfrm>
            <a:off x="8983980" y="416052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Rectangle 162"/>
          <p:cNvSpPr/>
          <p:nvPr/>
        </p:nvSpPr>
        <p:spPr>
          <a:xfrm>
            <a:off x="9121140" y="416052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Rectangle 163"/>
          <p:cNvSpPr/>
          <p:nvPr/>
        </p:nvSpPr>
        <p:spPr>
          <a:xfrm>
            <a:off x="9395460" y="416052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Rectangle 164"/>
          <p:cNvSpPr/>
          <p:nvPr/>
        </p:nvSpPr>
        <p:spPr>
          <a:xfrm>
            <a:off x="8572500" y="429768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Rectangle 165"/>
          <p:cNvSpPr/>
          <p:nvPr/>
        </p:nvSpPr>
        <p:spPr>
          <a:xfrm>
            <a:off x="9395460" y="429768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Rectangle 166"/>
          <p:cNvSpPr/>
          <p:nvPr/>
        </p:nvSpPr>
        <p:spPr>
          <a:xfrm>
            <a:off x="8572500" y="443484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Rectangle 167"/>
          <p:cNvSpPr/>
          <p:nvPr/>
        </p:nvSpPr>
        <p:spPr>
          <a:xfrm>
            <a:off x="8709660" y="443484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Rectangle 168"/>
          <p:cNvSpPr/>
          <p:nvPr/>
        </p:nvSpPr>
        <p:spPr>
          <a:xfrm>
            <a:off x="8846820" y="443484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Rectangle 169"/>
          <p:cNvSpPr/>
          <p:nvPr/>
        </p:nvSpPr>
        <p:spPr>
          <a:xfrm>
            <a:off x="8983980" y="443484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Rectangle 170"/>
          <p:cNvSpPr/>
          <p:nvPr/>
        </p:nvSpPr>
        <p:spPr>
          <a:xfrm>
            <a:off x="9121140" y="443484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Rectangle 171"/>
          <p:cNvSpPr/>
          <p:nvPr/>
        </p:nvSpPr>
        <p:spPr>
          <a:xfrm>
            <a:off x="9258300" y="443484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Rectangle 172"/>
          <p:cNvSpPr/>
          <p:nvPr/>
        </p:nvSpPr>
        <p:spPr>
          <a:xfrm>
            <a:off x="9395460" y="4434840"/>
            <a:ext cx="137160" cy="13716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extBox 173"/>
          <p:cNvSpPr txBox="1"/>
          <p:nvPr/>
        </p:nvSpPr>
        <p:spPr>
          <a:xfrm>
            <a:off x="8001000" y="4846320"/>
            <a:ext cx="3200400" cy="548640"/>
          </a:xfrm>
          <a:prstGeom prst="rect">
            <a:avLst/>
          </a:prstGeom>
          <a:noFill/>
        </p:spPr>
        <p:txBody>
          <a:bodyPr wrap="square" anchor="t">
            <a:spAutoFit/>
          </a:bodyPr>
          <a:lstStyle/>
          <a:p>
            <a:pPr algn="ctr">
              <a:spcAft>
                <a:spcPts val="400"/>
              </a:spcAft>
            </a:pPr>
            <a:r>
              <a:rPr sz="1050" b="0">
                <a:solidFill>
                  <a:srgbClr val="5B6372"/>
                </a:solidFill>
                <a:latin typeface="Arial"/>
              </a:rPr>
              <a:t>SSG digital-attendance QR — displayed live from the portal by the trainer</a:t>
            </a:r>
          </a:p>
        </p:txBody>
      </p:sp>
      <p:sp>
        <p:nvSpPr>
          <p:cNvPr id="175" name="Rectangle 174"/>
          <p:cNvSpPr/>
          <p:nvPr/>
        </p:nvSpPr>
        <p:spPr>
          <a:xfrm>
            <a:off x="777240" y="5623560"/>
            <a:ext cx="10607040" cy="5669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TextBox 175"/>
          <p:cNvSpPr txBox="1"/>
          <p:nvPr/>
        </p:nvSpPr>
        <p:spPr>
          <a:xfrm>
            <a:off x="1005840" y="5623560"/>
            <a:ext cx="10149840" cy="566928"/>
          </a:xfrm>
          <a:prstGeom prst="rect">
            <a:avLst/>
          </a:prstGeom>
          <a:noFill/>
        </p:spPr>
        <p:txBody>
          <a:bodyPr wrap="square" anchor="ctr">
            <a:spAutoFit/>
          </a:bodyPr>
          <a:lstStyle/>
          <a:p>
            <a:pPr algn="l">
              <a:spcAft>
                <a:spcPts val="400"/>
              </a:spcAft>
            </a:pPr>
            <a:r>
              <a:rPr sz="1250" b="1">
                <a:solidFill>
                  <a:srgbClr val="FFFFFF"/>
                </a:solidFill>
                <a:latin typeface="Arial"/>
              </a:rPr>
              <a:t>Minimum 75% attendance on the SSG Digital Attendance record is required to be eligible for assessment and funding.</a:t>
            </a:r>
          </a:p>
        </p:txBody>
      </p:sp>
      <p:sp>
        <p:nvSpPr>
          <p:cNvPr id="177" name="TextBox 17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178" name="TextBox 17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9" name="TextBox 17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627</a:t>
            </a:r>
          </a:p>
        </p:txBody>
      </p:sp>
    </p:spTree>
  </p:cSld>
  <p:clrMapOvr>
    <a:masterClrMapping/>
  </p:clrMapOvr>
  <p:transition xmlns:p14="http://schemas.microsoft.com/office/powerpoint/2010/main" p14:dur="380">
    <p:fade/>
  </p:transition>
</p:sld>
</file>

<file path=ppt/slides/slide6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WELL DONE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Thank You!</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You can now plan, automate, operate and secure DevOps solutions on AWS across the full delivery lifecycle.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DevOps Engineering on AWS  ·  TGS-2023040474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628</a:t>
            </a:r>
          </a:p>
        </p:txBody>
      </p:sp>
    </p:spTree>
  </p:cSld>
  <p:clrMapOvr>
    <a:masterClrMapping/>
  </p:clrMapOvr>
  <p:transition xmlns:p14="http://schemas.microsoft.com/office/powerpoint/2010/main" p14:dur="380">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